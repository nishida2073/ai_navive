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7" autoAdjust="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outlineViewPr>
    <p:cViewPr>
      <p:scale>
        <a:sx n="33" d="100"/>
        <a:sy n="33" d="100"/>
      </p:scale>
      <p:origin x="0" y="-401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D2A4-1E47-1BD9-3B90-CDDDB58D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734380-090F-528A-0CF8-27E1CE1D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1E1096-5A95-DCE2-A0EA-2BE06A844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3A51A-51C8-6624-4D54-EE05750FF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529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4D45-836F-4C02-C12D-B909AF35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A0B078-CB48-7766-A529-A40AA99CB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E288ED5-6D3A-4E94-77FC-A6C1B0D0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E6FD42-49CC-9B82-E38A-4E6CD8A41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195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52EB-F3FF-422D-878C-6057A056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FEB990-078F-B707-0D3B-6F9930A9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B40505-B7E1-0EFF-6551-22A69696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8755EE-8458-C22E-976F-1758E3232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76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B0E450B-CE2B-C31B-FDFE-065FEE3F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9EBFBC76-F46F-4ADD-8228-9529630895E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01664F20-F7C0-E482-4CCD-A5087405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>
            <a:lvl1pPr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759E38C0-9660-9A49-7A90-097EDCC07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/>
          <a:lstStyle>
            <a:lvl2pPr marL="914400" indent="-457200">
              <a:buFont typeface="+mj-lt"/>
              <a:buAutoNum type="arabicPeriod"/>
              <a:defRPr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スライド番号プレースホルダー 8">
            <a:extLst>
              <a:ext uri="{FF2B5EF4-FFF2-40B4-BE49-F238E27FC236}">
                <a16:creationId xmlns:a16="http://schemas.microsoft.com/office/drawing/2014/main" id="{22D7A308-0628-F881-8567-86E4E953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9EBFBC76-F46F-4ADD-8228-9529630895E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01664F20-F7C0-E482-4CCD-A5087405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>
            <a:lvl1pPr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759E38C0-9660-9A49-7A90-097EDCC07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/>
          <a:lstStyle>
            <a:lvl2pPr marL="914400" indent="-4572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スライド番号プレースホルダー 8">
            <a:extLst>
              <a:ext uri="{FF2B5EF4-FFF2-40B4-BE49-F238E27FC236}">
                <a16:creationId xmlns:a16="http://schemas.microsoft.com/office/drawing/2014/main" id="{22D7A308-0628-F881-8567-86E4E953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9EBFBC76-F46F-4ADD-8228-9529630895E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498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8">
            <a:extLst>
              <a:ext uri="{FF2B5EF4-FFF2-40B4-BE49-F238E27FC236}">
                <a16:creationId xmlns:a16="http://schemas.microsoft.com/office/drawing/2014/main" id="{51D98275-5521-9186-79B1-A367B515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9EBFBC76-F46F-4ADD-8228-9529630895E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AD46-3E7E-4E8C-BA70-752182BEDFD1}" type="datetime1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\\YYY\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研修の概要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56E950-7634-F7E4-4F77-F9AD5D2D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423899"/>
              </p:ext>
            </p:extLst>
          </p:nvPr>
        </p:nvGraphicFramePr>
        <p:xfrm>
          <a:off x="111443" y="878037"/>
          <a:ext cx="11966713" cy="5908755"/>
        </p:xfrm>
        <a:graphic>
          <a:graphicData uri="http://schemas.openxmlformats.org/drawingml/2006/table">
            <a:tbl>
              <a:tblPr firstRow="1" bandRow="1"/>
              <a:tblGrid>
                <a:gridCol w="3903254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8063459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</a:tblGrid>
              <a:tr h="42289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１～２日目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３日目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548585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D28C7321-A0D6-FB16-7751-66D18883A0A9}"/>
              </a:ext>
            </a:extLst>
          </p:cNvPr>
          <p:cNvGrpSpPr/>
          <p:nvPr/>
        </p:nvGrpSpPr>
        <p:grpSpPr>
          <a:xfrm>
            <a:off x="8284135" y="1394089"/>
            <a:ext cx="3600000" cy="3194561"/>
            <a:chOff x="946296" y="1364275"/>
            <a:chExt cx="4359349" cy="3482870"/>
          </a:xfrm>
        </p:grpSpPr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2287D825-EFC0-7DC5-B49E-4F81F942FF3F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提案の改善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 algn="ctr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フィードバックを基に、更に良い提案に改善にする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BCF5A287-DDE7-5472-75E6-7BB4C6F71601}"/>
                </a:ext>
              </a:extLst>
            </p:cNvPr>
            <p:cNvSpPr/>
            <p:nvPr/>
          </p:nvSpPr>
          <p:spPr>
            <a:xfrm>
              <a:off x="946296" y="1957361"/>
              <a:ext cx="4359349" cy="2889784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230678" y="1394089"/>
            <a:ext cx="3600000" cy="4051324"/>
            <a:chOff x="946296" y="1364275"/>
            <a:chExt cx="4359349" cy="3689675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314608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提案資料の作成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 algn="ctr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提案テーマの検討～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の作成までを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72" name="矢印: 下 71">
            <a:extLst>
              <a:ext uri="{FF2B5EF4-FFF2-40B4-BE49-F238E27FC236}">
                <a16:creationId xmlns:a16="http://schemas.microsoft.com/office/drawing/2014/main" id="{6451ECB0-A123-0994-D64E-D3E3E4523E05}"/>
              </a:ext>
            </a:extLst>
          </p:cNvPr>
          <p:cNvSpPr/>
          <p:nvPr/>
        </p:nvSpPr>
        <p:spPr>
          <a:xfrm>
            <a:off x="1850678" y="5486762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93698C79-DEE6-0684-D1B7-7CA945B1F50A}"/>
              </a:ext>
            </a:extLst>
          </p:cNvPr>
          <p:cNvGrpSpPr/>
          <p:nvPr/>
        </p:nvGrpSpPr>
        <p:grpSpPr>
          <a:xfrm>
            <a:off x="230678" y="5708111"/>
            <a:ext cx="3600000" cy="936522"/>
            <a:chOff x="946296" y="5714099"/>
            <a:chExt cx="4359349" cy="936522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A362D9F-58A5-24DF-B107-D1B3A2FB9EAE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178F656-A521-20CF-B5EC-5D99B984D6E5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</a:t>
              </a:r>
            </a:p>
          </p:txBody>
        </p:sp>
      </p:grp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410678" y="2566653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提案テーマの検討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7E72642D-C26B-0C6A-6527-545C1D4D3DB1}"/>
              </a:ext>
            </a:extLst>
          </p:cNvPr>
          <p:cNvSpPr/>
          <p:nvPr/>
        </p:nvSpPr>
        <p:spPr>
          <a:xfrm>
            <a:off x="410678" y="3539211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の調査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410678" y="3052932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提案テーマの意見交換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254053" y="1394089"/>
            <a:ext cx="3600000" cy="2213815"/>
            <a:chOff x="946296" y="1364275"/>
            <a:chExt cx="4359349" cy="2360634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1"/>
              <a:ext cx="4359349" cy="1767548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提案の実施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algn="ctr"/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を持ち寄り、チーム内で提案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を実施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4434053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提案の実施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4434053" y="206254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発表順の決定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6D56B8AD-7F88-6816-05E5-0DDB85094C04}"/>
              </a:ext>
            </a:extLst>
          </p:cNvPr>
          <p:cNvGrpSpPr/>
          <p:nvPr/>
        </p:nvGrpSpPr>
        <p:grpSpPr>
          <a:xfrm>
            <a:off x="8284135" y="4982560"/>
            <a:ext cx="3600000" cy="936522"/>
            <a:chOff x="946296" y="5714099"/>
            <a:chExt cx="4359349" cy="936522"/>
          </a:xfrm>
        </p:grpSpPr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C38E7129-A067-580B-9C38-4DB2FB62F939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en-US" altLang="ja-JP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2F46152B-753C-270F-E0E7-8873998B2F83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・企画提案書（修正済み）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・プロトタイプ（修正済み）</a:t>
              </a:r>
            </a:p>
          </p:txBody>
        </p:sp>
      </p:grpSp>
      <p:sp>
        <p:nvSpPr>
          <p:cNvPr id="108" name="矢印: 下 107">
            <a:extLst>
              <a:ext uri="{FF2B5EF4-FFF2-40B4-BE49-F238E27FC236}">
                <a16:creationId xmlns:a16="http://schemas.microsoft.com/office/drawing/2014/main" id="{810F7EC0-229C-AC63-E677-FA86CEBD7E95}"/>
              </a:ext>
            </a:extLst>
          </p:cNvPr>
          <p:cNvSpPr/>
          <p:nvPr/>
        </p:nvSpPr>
        <p:spPr>
          <a:xfrm rot="16200000">
            <a:off x="3852087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9" name="矢印: 下 108">
            <a:extLst>
              <a:ext uri="{FF2B5EF4-FFF2-40B4-BE49-F238E27FC236}">
                <a16:creationId xmlns:a16="http://schemas.microsoft.com/office/drawing/2014/main" id="{108BCEB6-B31B-8BA9-BEEE-5FAA70A7C06B}"/>
              </a:ext>
            </a:extLst>
          </p:cNvPr>
          <p:cNvSpPr/>
          <p:nvPr/>
        </p:nvSpPr>
        <p:spPr>
          <a:xfrm rot="16200000">
            <a:off x="7917392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03FA5720-BD69-3E49-6338-BF91F41F1F4A}"/>
              </a:ext>
            </a:extLst>
          </p:cNvPr>
          <p:cNvSpPr/>
          <p:nvPr/>
        </p:nvSpPr>
        <p:spPr>
          <a:xfrm>
            <a:off x="8464135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提案資料の修正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BDADD26E-37BF-56C6-E45F-7595BB7593BC}"/>
              </a:ext>
            </a:extLst>
          </p:cNvPr>
          <p:cNvSpPr/>
          <p:nvPr/>
        </p:nvSpPr>
        <p:spPr>
          <a:xfrm>
            <a:off x="8464135" y="206254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フィードバック内容の整理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422D7EE9-C7CF-BE0D-80F4-E833086B6D92}"/>
              </a:ext>
            </a:extLst>
          </p:cNvPr>
          <p:cNvSpPr/>
          <p:nvPr/>
        </p:nvSpPr>
        <p:spPr>
          <a:xfrm>
            <a:off x="410678" y="451176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の作成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84476AC9-43A8-FCFC-6CDB-A9CED61CB27F}"/>
              </a:ext>
            </a:extLst>
          </p:cNvPr>
          <p:cNvSpPr/>
          <p:nvPr/>
        </p:nvSpPr>
        <p:spPr>
          <a:xfrm>
            <a:off x="410678" y="402549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提案内容の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具体化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523D37E1-C97B-2064-E1DF-A5D4B3075042}"/>
              </a:ext>
            </a:extLst>
          </p:cNvPr>
          <p:cNvSpPr/>
          <p:nvPr/>
        </p:nvSpPr>
        <p:spPr>
          <a:xfrm>
            <a:off x="4434053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提案のフィードバック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0AD6198E-F439-AA54-6EB0-238927C116DD}"/>
              </a:ext>
            </a:extLst>
          </p:cNvPr>
          <p:cNvSpPr/>
          <p:nvPr/>
        </p:nvSpPr>
        <p:spPr>
          <a:xfrm>
            <a:off x="8464135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提案資料の確認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18894D94-8D6D-9D61-CB26-FAC29FD3C6B3}"/>
              </a:ext>
            </a:extLst>
          </p:cNvPr>
          <p:cNvSpPr/>
          <p:nvPr/>
        </p:nvSpPr>
        <p:spPr>
          <a:xfrm>
            <a:off x="8464135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最終発表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の準備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41CB5A2C-102A-2C64-4685-3F9C9DE19D65}"/>
              </a:ext>
            </a:extLst>
          </p:cNvPr>
          <p:cNvSpPr/>
          <p:nvPr/>
        </p:nvSpPr>
        <p:spPr>
          <a:xfrm>
            <a:off x="8464135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3682C3A7-646A-4DEB-FEC3-49012CB4A2F3}"/>
              </a:ext>
            </a:extLst>
          </p:cNvPr>
          <p:cNvSpPr/>
          <p:nvPr/>
        </p:nvSpPr>
        <p:spPr>
          <a:xfrm>
            <a:off x="410678" y="499804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7" name="矢印: 下 126">
            <a:extLst>
              <a:ext uri="{FF2B5EF4-FFF2-40B4-BE49-F238E27FC236}">
                <a16:creationId xmlns:a16="http://schemas.microsoft.com/office/drawing/2014/main" id="{48B13817-8C68-6BEB-03CE-A62871A35D88}"/>
              </a:ext>
            </a:extLst>
          </p:cNvPr>
          <p:cNvSpPr/>
          <p:nvPr/>
        </p:nvSpPr>
        <p:spPr>
          <a:xfrm>
            <a:off x="9904135" y="4700765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FF7F5B0-B4A6-342F-7730-A5338F9B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 dirty="0"/>
              <a:t>研修の全体像について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439E25-54A6-F83A-3181-054B1AA4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A4F8B94-4C13-14C6-0F4D-6550D3AFA98C}"/>
              </a:ext>
            </a:extLst>
          </p:cNvPr>
          <p:cNvSpPr/>
          <p:nvPr/>
        </p:nvSpPr>
        <p:spPr>
          <a:xfrm>
            <a:off x="410678" y="2062547"/>
            <a:ext cx="3240000" cy="3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提案の講義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05A2-6C5B-95A9-6856-2972AD5F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4EC78105-EA3B-F9EC-6535-CCC9F644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 dirty="0"/>
              <a:t>提案資料について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BD6FF-AF95-1DA0-D775-8C3EB3A7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>
            <a:normAutofit/>
          </a:bodyPr>
          <a:lstStyle/>
          <a:p>
            <a:r>
              <a:rPr lang="ja-JP" altLang="en-US" dirty="0"/>
              <a:t>企画提案書</a:t>
            </a:r>
            <a:endParaRPr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lang="ja-JP" altLang="en-US" dirty="0"/>
              <a:t>本研修の目的や要件に沿って作成した企画提案書</a:t>
            </a:r>
            <a:endParaRPr lang="en-US" altLang="ja-JP" dirty="0"/>
          </a:p>
          <a:p>
            <a:pPr lvl="1"/>
            <a:r>
              <a:rPr lang="ja-JP" altLang="en-US" dirty="0"/>
              <a:t>形式</a:t>
            </a:r>
            <a:endParaRPr lang="en-US" altLang="ja-JP" dirty="0"/>
          </a:p>
          <a:p>
            <a:pPr lvl="2"/>
            <a:r>
              <a:rPr lang="en-US" altLang="ja-JP" dirty="0"/>
              <a:t>PowerPoint</a:t>
            </a:r>
            <a:r>
              <a:rPr lang="ja-JP" altLang="en-US" dirty="0"/>
              <a:t>（</a:t>
            </a:r>
            <a:r>
              <a:rPr lang="en-US" altLang="ja-JP" dirty="0"/>
              <a:t>.pptx</a:t>
            </a:r>
            <a:r>
              <a:rPr lang="ja-JP" altLang="en-US" dirty="0"/>
              <a:t>）</a:t>
            </a:r>
            <a:endParaRPr lang="en-US" altLang="ja-JP" dirty="0"/>
          </a:p>
          <a:p>
            <a:pPr lvl="2"/>
            <a:endParaRPr lang="en-US" altLang="ja-JP" dirty="0"/>
          </a:p>
          <a:p>
            <a:r>
              <a:rPr lang="ja-JP" altLang="en-US" dirty="0"/>
              <a:t>プロトタイプ</a:t>
            </a:r>
            <a:endParaRPr lang="en-US" altLang="ja-JP" dirty="0"/>
          </a:p>
          <a:p>
            <a:pPr lvl="1"/>
            <a:r>
              <a:rPr lang="ja-JP" altLang="en-US" dirty="0"/>
              <a:t>内容</a:t>
            </a:r>
            <a:endParaRPr lang="en-US" altLang="ja-JP" dirty="0"/>
          </a:p>
          <a:p>
            <a:pPr lvl="2"/>
            <a:r>
              <a:rPr lang="ja-JP" altLang="en-US" dirty="0"/>
              <a:t>企画提案書に基づいて作成した</a:t>
            </a:r>
            <a:r>
              <a:rPr lang="en-US" altLang="ja-JP" dirty="0"/>
              <a:t>Web</a:t>
            </a:r>
            <a:r>
              <a:rPr lang="ja-JP" altLang="en-US" dirty="0"/>
              <a:t>アプリケーションのソースコード一式</a:t>
            </a:r>
            <a:endParaRPr lang="en-US" altLang="ja-JP" dirty="0"/>
          </a:p>
          <a:p>
            <a:pPr lvl="1"/>
            <a:r>
              <a:rPr lang="ja-JP" altLang="en-US" dirty="0"/>
              <a:t>形式</a:t>
            </a:r>
            <a:endParaRPr lang="en-US" altLang="ja-JP" dirty="0"/>
          </a:p>
          <a:p>
            <a:pPr lvl="2"/>
            <a:r>
              <a:rPr lang="ja-JP" altLang="en-US" dirty="0"/>
              <a:t>ソースコード一式（</a:t>
            </a:r>
            <a:r>
              <a:rPr lang="en-US" altLang="ja-JP" dirty="0"/>
              <a:t>ZIP</a:t>
            </a:r>
            <a:r>
              <a:rPr lang="ja-JP" altLang="en-US" dirty="0"/>
              <a:t>形式）</a:t>
            </a:r>
            <a:endParaRPr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6E3DFF-FEDB-3CA8-6057-3C65F040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8E456B1-12C3-C1A6-92B0-30A1B2D6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193" y="630935"/>
            <a:ext cx="3664014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1E67-85B5-EC4D-9EFA-2964154C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EAEBD30-BD98-C34F-DFA1-BDA768EE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 dirty="0"/>
              <a:t>提案資料の</a:t>
            </a:r>
            <a:r>
              <a:rPr lang="ja-JP" altLang="en-US"/>
              <a:t>提出について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189349-C6C7-E3C8-18AD-16C30EBBC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>
            <a:normAutofit/>
          </a:bodyPr>
          <a:lstStyle/>
          <a:p>
            <a:r>
              <a:rPr lang="ja-JP" altLang="en-US" dirty="0"/>
              <a:t>ファイル名</a:t>
            </a:r>
            <a:endParaRPr lang="en-US" altLang="ja-JP" dirty="0"/>
          </a:p>
          <a:p>
            <a:pPr lvl="1"/>
            <a:r>
              <a:rPr lang="ja-JP" altLang="en-US" dirty="0"/>
              <a:t>企画提案書</a:t>
            </a:r>
            <a:endParaRPr lang="en-US" altLang="ja-JP" dirty="0"/>
          </a:p>
          <a:p>
            <a:pPr lvl="2"/>
            <a:r>
              <a:rPr lang="ja-JP" altLang="en-US" dirty="0"/>
              <a:t> </a:t>
            </a:r>
            <a:r>
              <a:rPr lang="ja-JP" altLang="en-US" dirty="0">
                <a:solidFill>
                  <a:srgbClr val="0070C0"/>
                </a:solidFill>
              </a:rPr>
              <a:t>受講者</a:t>
            </a:r>
            <a:r>
              <a:rPr lang="en-US" altLang="ja-JP" dirty="0">
                <a:solidFill>
                  <a:srgbClr val="0070C0"/>
                </a:solidFill>
              </a:rPr>
              <a:t>ID_</a:t>
            </a:r>
            <a:r>
              <a:rPr lang="ja-JP" altLang="en-US" dirty="0">
                <a:solidFill>
                  <a:srgbClr val="0070C0"/>
                </a:solidFill>
              </a:rPr>
              <a:t>氏名</a:t>
            </a:r>
            <a:r>
              <a:rPr lang="en-US" altLang="ja-JP" dirty="0">
                <a:solidFill>
                  <a:srgbClr val="0070C0"/>
                </a:solidFill>
              </a:rPr>
              <a:t>_</a:t>
            </a:r>
            <a:r>
              <a:rPr lang="ja-JP" altLang="en-US" dirty="0">
                <a:solidFill>
                  <a:srgbClr val="FF0000"/>
                </a:solidFill>
              </a:rPr>
              <a:t>企画提案書</a:t>
            </a:r>
            <a:r>
              <a:rPr lang="en-US" altLang="ja-JP" dirty="0"/>
              <a:t>.pptx</a:t>
            </a:r>
            <a:br>
              <a:rPr lang="en-US" altLang="ja-JP" dirty="0"/>
            </a:br>
            <a:endParaRPr lang="en-US" altLang="ja-JP" dirty="0"/>
          </a:p>
          <a:p>
            <a:pPr lvl="1"/>
            <a:r>
              <a:rPr lang="ja-JP" altLang="en-US" dirty="0"/>
              <a:t>プロトタイプ</a:t>
            </a:r>
            <a:endParaRPr lang="en-US" altLang="ja-JP" dirty="0"/>
          </a:p>
          <a:p>
            <a:pPr lvl="2"/>
            <a:r>
              <a:rPr lang="ja-JP" altLang="en-US" dirty="0"/>
              <a:t> </a:t>
            </a:r>
            <a:r>
              <a:rPr lang="ja-JP" altLang="en-US" dirty="0">
                <a:solidFill>
                  <a:srgbClr val="0070C0"/>
                </a:solidFill>
              </a:rPr>
              <a:t>受講者</a:t>
            </a:r>
            <a:r>
              <a:rPr lang="en-US" altLang="ja-JP" dirty="0">
                <a:solidFill>
                  <a:srgbClr val="0070C0"/>
                </a:solidFill>
              </a:rPr>
              <a:t>ID_</a:t>
            </a:r>
            <a:r>
              <a:rPr lang="ja-JP" altLang="en-US" dirty="0">
                <a:solidFill>
                  <a:srgbClr val="0070C0"/>
                </a:solidFill>
              </a:rPr>
              <a:t>氏名</a:t>
            </a:r>
            <a:r>
              <a:rPr lang="en-US" altLang="ja-JP" dirty="0">
                <a:solidFill>
                  <a:srgbClr val="0070C0"/>
                </a:solidFill>
              </a:rPr>
              <a:t>_</a:t>
            </a:r>
            <a:r>
              <a:rPr lang="ja-JP" altLang="en-US" dirty="0">
                <a:solidFill>
                  <a:srgbClr val="00B050"/>
                </a:solidFill>
              </a:rPr>
              <a:t>プロトタイプ</a:t>
            </a:r>
            <a:r>
              <a:rPr lang="en-US" altLang="ja-JP" dirty="0"/>
              <a:t>.zip</a:t>
            </a:r>
          </a:p>
          <a:p>
            <a:endParaRPr lang="en-US" altLang="ja-JP" dirty="0"/>
          </a:p>
          <a:p>
            <a:r>
              <a:rPr lang="ja-JP" altLang="en-US" dirty="0"/>
              <a:t>提出先</a:t>
            </a:r>
            <a:endParaRPr lang="en-US" altLang="ja-JP" dirty="0"/>
          </a:p>
          <a:p>
            <a:pPr lvl="1"/>
            <a:r>
              <a:rPr lang="ja-JP" altLang="en-US" dirty="0"/>
              <a:t>改善前の提案資料</a:t>
            </a:r>
            <a:endParaRPr lang="en-US" altLang="ja-JP" dirty="0">
              <a:hlinkClick r:id="rId3" action="ppaction://hlinkfile"/>
            </a:endParaRPr>
          </a:p>
          <a:p>
            <a:pPr lvl="2"/>
            <a:r>
              <a:rPr lang="en-US" altLang="ja-JP" dirty="0">
                <a:hlinkClick r:id="rId3" action="ppaction://hlinkfile"/>
              </a:rPr>
              <a:t>\\YYY\\</a:t>
            </a:r>
            <a:r>
              <a:rPr lang="ja-JP" altLang="en-US" dirty="0"/>
              <a:t>改善前</a:t>
            </a:r>
            <a:endParaRPr lang="en-US" altLang="ja-JP" dirty="0"/>
          </a:p>
          <a:p>
            <a:pPr lvl="1"/>
            <a:r>
              <a:rPr lang="ja-JP" altLang="en-US" dirty="0"/>
              <a:t>改善後の提案資料</a:t>
            </a:r>
            <a:endParaRPr lang="en-US" altLang="ja-JP" dirty="0"/>
          </a:p>
          <a:p>
            <a:pPr lvl="2"/>
            <a:r>
              <a:rPr lang="en-US" altLang="ja-JP" dirty="0">
                <a:hlinkClick r:id="rId3" action="ppaction://hlinkfile"/>
              </a:rPr>
              <a:t>\\YYY\\</a:t>
            </a:r>
            <a:r>
              <a:rPr lang="ja-JP" altLang="en-US" dirty="0"/>
              <a:t>改善後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416F18-D0D6-ED4C-325E-91BA9E75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7C1663D-7CF0-98D5-D56B-566170018C6A}"/>
              </a:ext>
            </a:extLst>
          </p:cNvPr>
          <p:cNvGrpSpPr/>
          <p:nvPr/>
        </p:nvGrpSpPr>
        <p:grpSpPr>
          <a:xfrm>
            <a:off x="7779855" y="1490040"/>
            <a:ext cx="2686050" cy="923609"/>
            <a:chOff x="7779855" y="1857484"/>
            <a:chExt cx="2686050" cy="92360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6A6D3C3-35C0-EDA0-AD62-5474B6053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2918" y="1857484"/>
              <a:ext cx="879925" cy="659944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3FAF8D5-91B7-FC91-09B7-A5DDAC1F5DF2}"/>
                </a:ext>
              </a:extLst>
            </p:cNvPr>
            <p:cNvSpPr txBox="1"/>
            <p:nvPr/>
          </p:nvSpPr>
          <p:spPr>
            <a:xfrm>
              <a:off x="7779855" y="2499135"/>
              <a:ext cx="2686050" cy="281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/>
                <a:t>XXX_</a:t>
              </a:r>
              <a:r>
                <a:rPr lang="ja-JP" altLang="en-US" sz="1200" b="1" dirty="0"/>
                <a:t>ユニバ花子</a:t>
              </a:r>
              <a:r>
                <a:rPr lang="en-US" altLang="ja-JP" sz="1200" b="1" dirty="0"/>
                <a:t>_</a:t>
              </a:r>
              <a:r>
                <a:rPr lang="ja-JP" altLang="en-US" sz="1200" b="1" dirty="0"/>
                <a:t>企画提案書</a:t>
              </a:r>
              <a:r>
                <a:rPr lang="en-US" altLang="ja-JP" sz="1200" b="1" dirty="0"/>
                <a:t>.pptx</a:t>
              </a:r>
              <a:endParaRPr lang="ja-JP" altLang="en-US" sz="1200" b="1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DE8311A-E7DE-B144-07F3-B58423119400}"/>
              </a:ext>
            </a:extLst>
          </p:cNvPr>
          <p:cNvGrpSpPr/>
          <p:nvPr/>
        </p:nvGrpSpPr>
        <p:grpSpPr>
          <a:xfrm>
            <a:off x="7730160" y="2718203"/>
            <a:ext cx="2686050" cy="773717"/>
            <a:chOff x="7296150" y="3691334"/>
            <a:chExt cx="2686050" cy="773717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D3BEE649-4593-1C2D-E4F8-125EC8121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0569" y="3691334"/>
              <a:ext cx="577213" cy="481011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DF7E828-6FB1-4D0C-CFDB-D0DC9FAA241D}"/>
                </a:ext>
              </a:extLst>
            </p:cNvPr>
            <p:cNvSpPr txBox="1"/>
            <p:nvPr/>
          </p:nvSpPr>
          <p:spPr>
            <a:xfrm>
              <a:off x="7296150" y="4183093"/>
              <a:ext cx="2686050" cy="2819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200" b="1" dirty="0"/>
                <a:t> </a:t>
              </a:r>
              <a:r>
                <a:rPr lang="en-US" altLang="ja-JP" sz="1200" b="1" dirty="0"/>
                <a:t>XXX _</a:t>
              </a:r>
              <a:r>
                <a:rPr lang="ja-JP" altLang="en-US" sz="1200" b="1" dirty="0"/>
                <a:t>ユニバ花子</a:t>
              </a:r>
              <a:r>
                <a:rPr lang="en-US" altLang="ja-JP" sz="1200" b="1" dirty="0"/>
                <a:t>_</a:t>
              </a:r>
              <a:r>
                <a:rPr lang="ja-JP" altLang="en-US" sz="1200" b="1" dirty="0"/>
                <a:t>プロトタイプ</a:t>
              </a:r>
              <a:r>
                <a:rPr lang="en-US" altLang="ja-JP" sz="1200" b="1" dirty="0"/>
                <a:t>.zip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312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C28216E-658E-69ED-8984-F49F548D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/>
              <a:t>提案資料の作成について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75" y="1073150"/>
            <a:ext cx="11877675" cy="5419725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提案資料の作成の流れ</a:t>
            </a:r>
            <a:endParaRPr lang="en-US" altLang="ja-JP" dirty="0"/>
          </a:p>
          <a:p>
            <a:pPr lvl="1"/>
            <a:r>
              <a:rPr lang="ja-JP" altLang="en-US" dirty="0"/>
              <a:t>提案の講義</a:t>
            </a:r>
            <a:endParaRPr lang="en-US" altLang="ja-JP" dirty="0"/>
          </a:p>
          <a:p>
            <a:pPr lvl="2"/>
            <a:r>
              <a:rPr lang="ja-JP" altLang="en-US" dirty="0"/>
              <a:t>企画提案のステップについて学習する。</a:t>
            </a:r>
            <a:endParaRPr lang="en-US" altLang="ja-JP" dirty="0"/>
          </a:p>
          <a:p>
            <a:pPr lvl="1"/>
            <a:r>
              <a:rPr lang="ja-JP" altLang="en-US" dirty="0"/>
              <a:t>提案テーマの検討</a:t>
            </a:r>
            <a:endParaRPr lang="en-US" altLang="ja-JP" dirty="0"/>
          </a:p>
          <a:p>
            <a:pPr lvl="2"/>
            <a:r>
              <a:rPr lang="ja-JP" altLang="en-US" dirty="0"/>
              <a:t>課題に沿った提案テーマを検討する。</a:t>
            </a:r>
            <a:endParaRPr lang="en-US" altLang="ja-JP" dirty="0"/>
          </a:p>
          <a:p>
            <a:pPr lvl="1"/>
            <a:r>
              <a:rPr lang="ja-JP" altLang="en-US" dirty="0"/>
              <a:t>提案テーマの意見交換</a:t>
            </a:r>
            <a:endParaRPr lang="en-US" altLang="ja-JP" dirty="0"/>
          </a:p>
          <a:p>
            <a:pPr lvl="2"/>
            <a:r>
              <a:rPr lang="ja-JP" altLang="en-US" dirty="0"/>
              <a:t>チームで提案テーマの妥当性について意見交換を行う。</a:t>
            </a:r>
            <a:endParaRPr lang="en-US" altLang="ja-JP" dirty="0"/>
          </a:p>
          <a:p>
            <a:pPr lvl="1"/>
            <a:r>
              <a:rPr lang="ja-JP" altLang="en-US" dirty="0"/>
              <a:t>提案内容の調査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を利用し、提案テーマに関する情報を整理する。</a:t>
            </a:r>
            <a:endParaRPr lang="en-US" altLang="ja-JP" dirty="0"/>
          </a:p>
          <a:p>
            <a:pPr lvl="1"/>
            <a:r>
              <a:rPr lang="ja-JP" altLang="en-US" dirty="0"/>
              <a:t>提案内容の具体化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を利用し、解決したい課題、サービスや機能、</a:t>
            </a:r>
            <a:br>
              <a:rPr lang="en-US" altLang="ja-JP" dirty="0"/>
            </a:br>
            <a:r>
              <a:rPr lang="ja-JP" altLang="en-US" dirty="0"/>
              <a:t>利用者を整理する。</a:t>
            </a:r>
            <a:endParaRPr lang="en-US" altLang="ja-JP" dirty="0"/>
          </a:p>
          <a:p>
            <a:pPr lvl="1"/>
            <a:r>
              <a:rPr lang="ja-JP" altLang="en-US" dirty="0"/>
              <a:t>提案資料の作成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を利用し、企画提案書、プロトタイプを作成する。</a:t>
            </a:r>
            <a:endParaRPr lang="en-US" altLang="ja-JP" dirty="0"/>
          </a:p>
          <a:p>
            <a:pPr lvl="1"/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指定の場所に提案資料を提出する。</a:t>
            </a:r>
            <a:endParaRPr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202C39-A360-1EF2-0B08-739B3CE8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F83EB2F-495A-8BBB-4018-FD112AFF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76" y="635124"/>
            <a:ext cx="3603048" cy="40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B2E075E-16F6-2B76-14BC-0CA6B099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/>
              <a:t>提案の実施について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>
            <a:normAutofit/>
          </a:bodyPr>
          <a:lstStyle/>
          <a:p>
            <a:r>
              <a:rPr lang="ja-JP" altLang="en-US"/>
              <a:t>提案の実施の流れ</a:t>
            </a:r>
            <a:endParaRPr lang="en-US" altLang="ja-JP"/>
          </a:p>
          <a:p>
            <a:pPr lvl="1"/>
            <a:r>
              <a:rPr lang="ja-JP" altLang="en-US"/>
              <a:t>発表順の決定</a:t>
            </a:r>
            <a:endParaRPr lang="en-US" altLang="ja-JP"/>
          </a:p>
          <a:p>
            <a:pPr lvl="2"/>
            <a:r>
              <a:rPr lang="ja-JP" altLang="en-US"/>
              <a:t>チーム内で発表順を決める。</a:t>
            </a:r>
            <a:endParaRPr lang="en-US" altLang="ja-JP"/>
          </a:p>
          <a:p>
            <a:pPr lvl="1"/>
            <a:r>
              <a:rPr lang="ja-JP" altLang="en-US"/>
              <a:t>提案の実施</a:t>
            </a:r>
            <a:endParaRPr lang="en-US" altLang="ja-JP"/>
          </a:p>
          <a:p>
            <a:pPr lvl="2"/>
            <a:r>
              <a:rPr lang="ja-JP" altLang="en-US"/>
              <a:t>提案資料を用いて提案を実施する。</a:t>
            </a:r>
            <a:endParaRPr lang="en-US" altLang="ja-JP"/>
          </a:p>
          <a:p>
            <a:pPr lvl="1"/>
            <a:r>
              <a:rPr lang="ja-JP" altLang="en-US"/>
              <a:t>提案のフィードバック</a:t>
            </a:r>
            <a:endParaRPr lang="en-US" altLang="ja-JP"/>
          </a:p>
          <a:p>
            <a:pPr lvl="2"/>
            <a:r>
              <a:rPr lang="ja-JP" altLang="en-US"/>
              <a:t>提案資料や提案方法についての</a:t>
            </a:r>
            <a:br>
              <a:rPr lang="en-US" altLang="ja-JP"/>
            </a:br>
            <a:r>
              <a:rPr lang="ja-JP" altLang="en-US"/>
              <a:t>フィードバック（改善点、アドバイス）を受ける。</a:t>
            </a:r>
            <a:endParaRPr lang="en-US" altLang="ja-JP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1794224-3427-C939-F83C-99865602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C3D4A7F-415E-0099-C26D-C303E0473D47}"/>
              </a:ext>
            </a:extLst>
          </p:cNvPr>
          <p:cNvSpPr txBox="1">
            <a:spLocks/>
          </p:cNvSpPr>
          <p:nvPr/>
        </p:nvSpPr>
        <p:spPr>
          <a:xfrm>
            <a:off x="167951" y="5062702"/>
            <a:ext cx="7920000" cy="1282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ja-JP" dirty="0">
                <a:solidFill>
                  <a:srgbClr val="FF0000"/>
                </a:solidFill>
              </a:rPr>
              <a:t>※</a:t>
            </a:r>
            <a:r>
              <a:rPr lang="ja-JP" altLang="en-US" dirty="0">
                <a:solidFill>
                  <a:srgbClr val="FF0000"/>
                </a:solidFill>
              </a:rPr>
              <a:t>手順</a:t>
            </a:r>
            <a:r>
              <a:rPr lang="en-US" altLang="ja-JP" dirty="0">
                <a:solidFill>
                  <a:srgbClr val="FF0000"/>
                </a:solidFill>
              </a:rPr>
              <a:t>2~</a:t>
            </a:r>
            <a:r>
              <a:rPr lang="ja-JP" altLang="en-US" dirty="0">
                <a:solidFill>
                  <a:srgbClr val="FF0000"/>
                </a:solidFill>
              </a:rPr>
              <a:t>手順</a:t>
            </a:r>
            <a:r>
              <a:rPr lang="en-US" altLang="ja-JP" dirty="0">
                <a:solidFill>
                  <a:srgbClr val="FF0000"/>
                </a:solidFill>
              </a:rPr>
              <a:t>3</a:t>
            </a:r>
            <a:r>
              <a:rPr lang="ja-JP" altLang="en-US" dirty="0">
                <a:solidFill>
                  <a:srgbClr val="FF0000"/>
                </a:solidFill>
              </a:rPr>
              <a:t>をチーム内で繰り返してください。</a:t>
            </a:r>
            <a:endParaRPr lang="en-US" altLang="ja-JP" dirty="0">
              <a:solidFill>
                <a:srgbClr val="FF0000"/>
              </a:solidFill>
            </a:endParaRPr>
          </a:p>
          <a:p>
            <a:pPr lvl="2"/>
            <a:r>
              <a:rPr lang="ja-JP" altLang="en-US" dirty="0">
                <a:solidFill>
                  <a:srgbClr val="FF0000"/>
                </a:solidFill>
              </a:rPr>
              <a:t>手順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  <a:r>
              <a:rPr lang="ja-JP" altLang="en-US" dirty="0">
                <a:solidFill>
                  <a:srgbClr val="FF0000"/>
                </a:solidFill>
              </a:rPr>
              <a:t>：</a:t>
            </a:r>
            <a:r>
              <a:rPr lang="en-US" altLang="ja-JP" dirty="0">
                <a:solidFill>
                  <a:srgbClr val="FF0000"/>
                </a:solidFill>
              </a:rPr>
              <a:t>15</a:t>
            </a:r>
            <a:r>
              <a:rPr lang="ja-JP" altLang="en-US" dirty="0">
                <a:solidFill>
                  <a:srgbClr val="FF0000"/>
                </a:solidFill>
              </a:rPr>
              <a:t>分</a:t>
            </a:r>
            <a:endParaRPr lang="en-US" altLang="ja-JP" dirty="0">
              <a:solidFill>
                <a:srgbClr val="FF0000"/>
              </a:solidFill>
            </a:endParaRPr>
          </a:p>
          <a:p>
            <a:pPr lvl="2"/>
            <a:r>
              <a:rPr lang="ja-JP" altLang="en-US" dirty="0">
                <a:solidFill>
                  <a:srgbClr val="FF0000"/>
                </a:solidFill>
              </a:rPr>
              <a:t>手順</a:t>
            </a:r>
            <a:r>
              <a:rPr lang="en-US" altLang="ja-JP" dirty="0">
                <a:solidFill>
                  <a:srgbClr val="FF0000"/>
                </a:solidFill>
              </a:rPr>
              <a:t>3</a:t>
            </a:r>
            <a:r>
              <a:rPr lang="ja-JP" altLang="en-US" dirty="0">
                <a:solidFill>
                  <a:srgbClr val="FF0000"/>
                </a:solidFill>
              </a:rPr>
              <a:t>：</a:t>
            </a:r>
            <a:r>
              <a:rPr lang="en-US" altLang="ja-JP" dirty="0">
                <a:solidFill>
                  <a:srgbClr val="FF0000"/>
                </a:solidFill>
              </a:rPr>
              <a:t>5</a:t>
            </a:r>
            <a:r>
              <a:rPr lang="ja-JP" altLang="en-US" dirty="0">
                <a:solidFill>
                  <a:srgbClr val="FF0000"/>
                </a:solidFill>
              </a:rPr>
              <a:t>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62107C3-E327-AFFB-C60E-9055CA3A1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76" y="635124"/>
            <a:ext cx="3603048" cy="22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904E-9897-423B-CC66-2D3A2F0F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BBD2D39-9BB3-A10F-9025-1AAA20A4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提案の改善について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4310D7-9F31-3C08-300C-9CDB11F6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提案の改善の流れ</a:t>
            </a:r>
            <a:endParaRPr lang="en-US" altLang="ja-JP" dirty="0"/>
          </a:p>
          <a:p>
            <a:pPr lvl="1"/>
            <a:r>
              <a:rPr lang="ja-JP" altLang="en-US" dirty="0"/>
              <a:t>フィードバック内容の整理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フィードバックの内容を整理し、</a:t>
            </a:r>
            <a:br>
              <a:rPr lang="en-US" altLang="ja-JP" dirty="0"/>
            </a:br>
            <a:r>
              <a:rPr lang="ja-JP" altLang="en-US" dirty="0"/>
              <a:t>どの内容を反映するかを決定する。</a:t>
            </a:r>
            <a:endParaRPr lang="en-US" altLang="ja-JP" dirty="0"/>
          </a:p>
          <a:p>
            <a:pPr lvl="1"/>
            <a:r>
              <a:rPr lang="ja-JP" altLang="en-US" dirty="0"/>
              <a:t>提案資料の修正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フィードバックの内容を提案資料に反映する。</a:t>
            </a:r>
            <a:endParaRPr lang="en-US" altLang="ja-JP" dirty="0"/>
          </a:p>
          <a:p>
            <a:pPr lvl="1"/>
            <a:r>
              <a:rPr lang="ja-JP" altLang="en-US" dirty="0"/>
              <a:t>提案資料の確認（任意）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</a:t>
            </a:r>
            <a:br>
              <a:rPr lang="en-US" altLang="ja-JP" dirty="0"/>
            </a:br>
            <a:r>
              <a:rPr lang="ja-JP" altLang="en-US" dirty="0"/>
              <a:t>フィードバック内容が適切に反映されているかを確認する。</a:t>
            </a:r>
            <a:endParaRPr lang="en-US" altLang="ja-JP" dirty="0"/>
          </a:p>
          <a:p>
            <a:pPr lvl="1"/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修正した提案資料を提出する。</a:t>
            </a:r>
            <a:endParaRPr lang="en-US" altLang="ja-JP" dirty="0"/>
          </a:p>
          <a:p>
            <a:pPr lvl="1"/>
            <a:r>
              <a:rPr lang="ja-JP" altLang="en-US" dirty="0"/>
              <a:t>最終発表の準備</a:t>
            </a:r>
            <a:endParaRPr lang="en-US" altLang="ja-JP" dirty="0"/>
          </a:p>
          <a:p>
            <a:pPr lvl="2"/>
            <a:r>
              <a:rPr lang="ja-JP" altLang="en-US" dirty="0"/>
              <a:t>最終発表（研修終了後に事業部で実施する成果発表）に向けた準備を行います。</a:t>
            </a:r>
            <a:endParaRPr lang="en-US" altLang="ja-JP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C925ADA-44A1-80C6-C5E6-B4095F27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1667"/>
            <a:ext cx="2743200" cy="365125"/>
          </a:xfrm>
        </p:spPr>
        <p:txBody>
          <a:bodyPr/>
          <a:lstStyle/>
          <a:p>
            <a:fld id="{9EBFBC76-F46F-4ADD-8228-9529630895ED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DACEAB6-4B33-8C68-8C72-D921E61E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76" y="635124"/>
            <a:ext cx="3603048" cy="32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3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572</Words>
  <Application>Microsoft Office PowerPoint</Application>
  <PresentationFormat>ワイド画面</PresentationFormat>
  <Paragraphs>109</Paragraphs>
  <Slides>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Meiryo UI</vt:lpstr>
      <vt:lpstr>游ゴシック</vt:lpstr>
      <vt:lpstr>游ゴシック Light</vt:lpstr>
      <vt:lpstr>Arial</vt:lpstr>
      <vt:lpstr>Office テーマ</vt:lpstr>
      <vt:lpstr>研修の概要</vt:lpstr>
      <vt:lpstr>研修の全体像について</vt:lpstr>
      <vt:lpstr>提案資料について</vt:lpstr>
      <vt:lpstr>提案資料の提出について</vt:lpstr>
      <vt:lpstr>提案資料の作成について</vt:lpstr>
      <vt:lpstr>提案の実施について</vt:lpstr>
      <vt:lpstr>提案の改善について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60</cp:revision>
  <dcterms:created xsi:type="dcterms:W3CDTF">2026-07-04T03:22:14Z</dcterms:created>
  <dcterms:modified xsi:type="dcterms:W3CDTF">2026-08-19T11:29:32Z</dcterms:modified>
</cp:coreProperties>
</file>