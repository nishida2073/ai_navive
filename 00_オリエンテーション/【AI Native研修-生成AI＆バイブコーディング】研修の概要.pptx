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2660-A910-48D6-9DD5-B02CDD5983C2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A0B64-6D67-42B8-83A5-133498884D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7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22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F549-E74F-41DE-B3AA-CC3A97BC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89D615-20E1-B4C6-FCD1-33F79BDE4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B256A36-25FD-6DCC-7EF2-113892246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BABE15-F492-D580-DC4E-6D4EDCE1D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156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3ED5-9666-7F1B-85EF-FF6C29A4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8210E33-0E73-8BD9-E454-D680F26D2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500E8A-0C82-2C41-6833-15C38F916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9CBFD0-1599-A012-F568-8DA9A537E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65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A04BB-79D1-9FEA-C26B-A00B81F5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BEB557E-2F80-BF43-DF09-F1A8AFE0B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311C7BE-F487-8226-4D83-C19731782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F91B8C-E6B2-9ED9-62B3-AF0099D9A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666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8EAE4-3517-7685-DBC1-D2EBBF11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249DA-269C-C238-1C0D-468019E3C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4C389-7303-F6E2-A905-B7D704D1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5D6D8-D495-753D-963F-D2031F54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B97719-44F6-07B6-2299-44CDBEF7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45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C75F2-6284-9EE3-07F1-8A8C6328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BB957D-55BF-E429-F24B-9AB0F2BC5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1DBD3B-56FD-917A-7F5A-3015D977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DC64E-F29E-D854-BEF0-3070C545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48F59C-A5D5-E9EE-6BFB-1E812ECD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6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C1473-4F82-D0F2-6E20-B3CE8154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119F7-CFE5-C244-5CBC-D07F56CF8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C23C55-8327-924C-2B72-D685D302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1B9B42-5325-6348-7A2E-823A20CC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0BB805-FA2B-03EC-E53A-E3CA5589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38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A8F03-F9A4-C9E1-8930-9B9AF0D3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9B11C5-849D-9104-8534-05B157123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1E799F-E1CC-CC44-0753-6D7D0C923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315350-56EC-072A-EE57-7D7FD671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CFC015-F252-9E7E-F23E-9859CCF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775C56-D7A0-4254-A2E6-4CA99D50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90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7F651-F4E6-22A7-969C-361E7EB8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D87F37-09C8-1C47-DA85-89348412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1EDEFF-D785-4B71-7114-49A611C89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CF3450-F545-1FFD-F875-8DE3CCB76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E611BD-461C-12F4-A3BC-6154F6BA1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F81492-847C-EE97-CE4E-E34C2A9E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8207F7-1FE0-73EF-D402-872A8833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6F3EF7-641F-90DB-332E-E52417E3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33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3C488-7001-3614-BBDB-52F57B05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F87A66-C96C-D4FF-9241-9CE679FE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3116E27-0034-7717-9FEE-82777DE2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1BDC13-BC57-56EC-7696-822A94E1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57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96747D-199C-DB70-796B-D7AD9498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5DF319-00BA-725F-BC6A-27C0CA6C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F24241-0D68-5DC6-E45A-B7BBC924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7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3C645-DBBF-EBC8-73A4-9590C9AA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1406B-DD2E-D5D3-AE10-E0AB4E15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1620FD-5FFA-4826-B001-35BBC49C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484110-46BB-014D-41FF-BB1422C9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568A18-5ED2-ABB4-0951-B33EF4C5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5EACC3-A6F9-B01D-47D1-98D36961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36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69773-B60F-F99E-7259-84C02592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92595E-8F9F-0A64-3DEB-8E74E0AC3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BCF0B5-1DAA-A506-3226-5F5AAE8E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D2088E-9319-A7DB-F799-C26F5508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7741E9-DB06-1561-7A20-0A626D9D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71377C-7AF9-AAE2-2C83-B36C5B20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77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948F8-A898-A22B-7EF3-84E85241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B9CE3F-DD4B-FBB0-0358-E359990CF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A1EFE8-83F8-C673-6466-09628A88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A29062-6AC9-DD4E-C20C-3568B001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21EC4-135A-AB14-091E-CA0A0AA3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06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A78528-6686-7717-9395-A6791781D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779115-C3F1-5580-1C82-172ACF121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7D618-FA30-2F16-A3BA-1C48127B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6D16EA-23E0-4DB0-E96D-371B623E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50307-06A9-2F31-4E2F-74756A58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63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91077D-F29B-3B1E-E99F-8D3095D2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7A7F88-23AA-2435-B8E5-5759D4CA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D7CD4-6630-EF19-7ADC-97B078E8C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24A99B-1354-38AF-B026-4F072B91B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BA381-04BE-303F-34F7-4680A43B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4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A5590-C478-ABA0-FEFE-579A11138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研修の概要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41C3CD-066C-9DBE-C54B-F884D6128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54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BF667119-273B-9AC2-20E0-A1A5279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31398"/>
              </p:ext>
            </p:extLst>
          </p:nvPr>
        </p:nvGraphicFramePr>
        <p:xfrm>
          <a:off x="111443" y="858160"/>
          <a:ext cx="11966713" cy="5075501"/>
        </p:xfrm>
        <a:graphic>
          <a:graphicData uri="http://schemas.openxmlformats.org/drawingml/2006/table">
            <a:tbl>
              <a:tblPr firstRow="1" bandRow="1"/>
              <a:tblGrid>
                <a:gridCol w="3973540">
                  <a:extLst>
                    <a:ext uri="{9D8B030D-6E8A-4147-A177-3AD203B41FA5}">
                      <a16:colId xmlns:a16="http://schemas.microsoft.com/office/drawing/2014/main" val="3573493280"/>
                    </a:ext>
                  </a:extLst>
                </a:gridCol>
                <a:gridCol w="3985591">
                  <a:extLst>
                    <a:ext uri="{9D8B030D-6E8A-4147-A177-3AD203B41FA5}">
                      <a16:colId xmlns:a16="http://schemas.microsoft.com/office/drawing/2014/main" val="2262346922"/>
                    </a:ext>
                  </a:extLst>
                </a:gridCol>
                <a:gridCol w="4007582">
                  <a:extLst>
                    <a:ext uri="{9D8B030D-6E8A-4147-A177-3AD203B41FA5}">
                      <a16:colId xmlns:a16="http://schemas.microsoft.com/office/drawing/2014/main" val="1726487043"/>
                    </a:ext>
                  </a:extLst>
                </a:gridCol>
              </a:tblGrid>
              <a:tr h="36902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１日目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２～３日目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ja-JP" altLang="en-US" sz="1600" b="1" kern="1200" dirty="0">
                          <a:solidFill>
                            <a:schemeClr val="lt1"/>
                          </a:solidFill>
                          <a:latin typeface="Arial"/>
                          <a:ea typeface="Meiryo UI"/>
                          <a:cs typeface="+mn-cs"/>
                        </a:rPr>
                        <a:t>３～４日目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313"/>
                  </a:ext>
                </a:extLst>
              </a:tr>
              <a:tr h="470647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78125"/>
                  </a:ext>
                </a:extLst>
              </a:tr>
            </a:tbl>
          </a:graphicData>
        </a:graphic>
      </p:graphicFrame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A1110377-FA4D-570F-ABCC-9F48E5F75B03}"/>
              </a:ext>
            </a:extLst>
          </p:cNvPr>
          <p:cNvGrpSpPr/>
          <p:nvPr/>
        </p:nvGrpSpPr>
        <p:grpSpPr>
          <a:xfrm>
            <a:off x="300251" y="1394089"/>
            <a:ext cx="3600000" cy="1648169"/>
            <a:chOff x="946296" y="1364275"/>
            <a:chExt cx="4359349" cy="1659133"/>
          </a:xfrm>
        </p:grpSpPr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C231246-5F05-B4AE-6830-C48FF2D63004}"/>
                </a:ext>
              </a:extLst>
            </p:cNvPr>
            <p:cNvSpPr/>
            <p:nvPr/>
          </p:nvSpPr>
          <p:spPr>
            <a:xfrm>
              <a:off x="946296" y="1907867"/>
              <a:ext cx="4359349" cy="1115541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87EC3108-0FE2-36EA-C3D2-DCD04D376D2E}"/>
                </a:ext>
              </a:extLst>
            </p:cNvPr>
            <p:cNvSpPr/>
            <p:nvPr/>
          </p:nvSpPr>
          <p:spPr>
            <a:xfrm>
              <a:off x="946296" y="1364275"/>
              <a:ext cx="4359349" cy="543592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生成</a:t>
              </a:r>
              <a:r>
                <a:rPr kumimoji="0" lang="en-US" altLang="ja-JP" kern="0" dirty="0">
                  <a:solidFill>
                    <a:srgbClr val="000000"/>
                  </a:solidFill>
                  <a:latin typeface="Arial"/>
                  <a:ea typeface="Meiryo UI"/>
                </a:rPr>
                <a:t>AI</a:t>
              </a: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の活用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生成</a:t>
              </a:r>
              <a:r>
                <a:rPr kumimoji="0" lang="en-US" altLang="ja-JP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AI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の概要や活用方法について学習する</a:t>
              </a:r>
              <a:endPara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endParaRPr>
            </a:p>
          </p:txBody>
        </p:sp>
      </p:grpSp>
      <p:sp>
        <p:nvSpPr>
          <p:cNvPr id="69" name="タイトル 1">
            <a:extLst>
              <a:ext uri="{FF2B5EF4-FFF2-40B4-BE49-F238E27FC236}">
                <a16:creationId xmlns:a16="http://schemas.microsoft.com/office/drawing/2014/main" id="{6CE14998-7D64-A6FD-4F75-ED0C41225FF2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研修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の全体像について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03E1DFD1-2580-E00D-A89E-87E795417DBF}"/>
              </a:ext>
            </a:extLst>
          </p:cNvPr>
          <p:cNvSpPr/>
          <p:nvPr/>
        </p:nvSpPr>
        <p:spPr>
          <a:xfrm>
            <a:off x="480251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生成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AI-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講義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&amp;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ハンズオン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A56AABD8-8B2F-99E7-B8BF-C14D8AD7E430}"/>
              </a:ext>
            </a:extLst>
          </p:cNvPr>
          <p:cNvSpPr/>
          <p:nvPr/>
        </p:nvSpPr>
        <p:spPr>
          <a:xfrm>
            <a:off x="480251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生成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AI-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演習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36F18F2F-F70A-EEAE-070C-74BD6D5F46A0}"/>
              </a:ext>
            </a:extLst>
          </p:cNvPr>
          <p:cNvGrpSpPr/>
          <p:nvPr/>
        </p:nvGrpSpPr>
        <p:grpSpPr>
          <a:xfrm>
            <a:off x="4254053" y="1394089"/>
            <a:ext cx="3600000" cy="2621059"/>
            <a:chOff x="946296" y="1364275"/>
            <a:chExt cx="4359349" cy="2794887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BBB41F4-58A4-8CF3-144C-76609B9A3DFA}"/>
                </a:ext>
              </a:extLst>
            </p:cNvPr>
            <p:cNvSpPr/>
            <p:nvPr/>
          </p:nvSpPr>
          <p:spPr>
            <a:xfrm>
              <a:off x="946296" y="1957360"/>
              <a:ext cx="4359349" cy="220180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753A1C69-FFC7-188D-528E-0D56CABEB2D9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バイブコーディング①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algn="ctr"/>
              <a:r>
                <a:rPr kumimoji="0" lang="ja-JP" altLang="en-US" sz="12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バイブコーディングを活用した製造を体験する</a:t>
              </a:r>
              <a:endParaRPr kumimoji="0" lang="en-US" altLang="ja-JP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888FCB7B-A5B0-7DF2-725F-FD3F7E2259AF}"/>
              </a:ext>
            </a:extLst>
          </p:cNvPr>
          <p:cNvSpPr/>
          <p:nvPr/>
        </p:nvSpPr>
        <p:spPr>
          <a:xfrm>
            <a:off x="4434053" y="304597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Git-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演習＆ハンズオン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D3128FEF-A1F2-26CA-043B-17D12CE5A032}"/>
              </a:ext>
            </a:extLst>
          </p:cNvPr>
          <p:cNvSpPr/>
          <p:nvPr/>
        </p:nvSpPr>
        <p:spPr>
          <a:xfrm>
            <a:off x="4434053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バイブコーディング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-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講義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＆ハンズオン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8" name="矢印: 下 107">
            <a:extLst>
              <a:ext uri="{FF2B5EF4-FFF2-40B4-BE49-F238E27FC236}">
                <a16:creationId xmlns:a16="http://schemas.microsoft.com/office/drawing/2014/main" id="{810F7EC0-229C-AC63-E677-FA86CEBD7E95}"/>
              </a:ext>
            </a:extLst>
          </p:cNvPr>
          <p:cNvSpPr/>
          <p:nvPr/>
        </p:nvSpPr>
        <p:spPr>
          <a:xfrm rot="16200000">
            <a:off x="3911721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矢印: 下 1">
            <a:extLst>
              <a:ext uri="{FF2B5EF4-FFF2-40B4-BE49-F238E27FC236}">
                <a16:creationId xmlns:a16="http://schemas.microsoft.com/office/drawing/2014/main" id="{198DDFF0-913B-1850-4497-45A5E995BAD3}"/>
              </a:ext>
            </a:extLst>
          </p:cNvPr>
          <p:cNvSpPr/>
          <p:nvPr/>
        </p:nvSpPr>
        <p:spPr>
          <a:xfrm rot="16200000">
            <a:off x="7900628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C1D9825-92B4-D203-8889-4C1D029E6CCB}"/>
              </a:ext>
            </a:extLst>
          </p:cNvPr>
          <p:cNvSpPr/>
          <p:nvPr/>
        </p:nvSpPr>
        <p:spPr>
          <a:xfrm>
            <a:off x="4434053" y="255783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Git-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講義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34FB9F9-9ED0-F2BC-4178-13C295A72808}"/>
              </a:ext>
            </a:extLst>
          </p:cNvPr>
          <p:cNvGrpSpPr/>
          <p:nvPr/>
        </p:nvGrpSpPr>
        <p:grpSpPr>
          <a:xfrm>
            <a:off x="8277428" y="1394089"/>
            <a:ext cx="3600000" cy="1648169"/>
            <a:chOff x="946296" y="1364275"/>
            <a:chExt cx="4359349" cy="1757475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DCD3BAF-030E-983B-0816-36705F0C2588}"/>
                </a:ext>
              </a:extLst>
            </p:cNvPr>
            <p:cNvSpPr/>
            <p:nvPr/>
          </p:nvSpPr>
          <p:spPr>
            <a:xfrm>
              <a:off x="946296" y="1957361"/>
              <a:ext cx="4359349" cy="1164389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D5DD22F-A1F7-9C97-C5D4-CE0E26A101F9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バイブコーディング②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algn="ctr"/>
              <a:r>
                <a:rPr kumimoji="0" lang="ja-JP" altLang="en-US" sz="12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バイブコーディングを活用した単体テストを体験する</a:t>
              </a:r>
              <a:endParaRPr kumimoji="0" lang="en-US" altLang="ja-JP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B248CF0-616E-3E59-E416-446C67A436F6}"/>
              </a:ext>
            </a:extLst>
          </p:cNvPr>
          <p:cNvSpPr/>
          <p:nvPr/>
        </p:nvSpPr>
        <p:spPr>
          <a:xfrm>
            <a:off x="8457428" y="2545305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バイブコーディング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演習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38ADACC-A1FC-5AEB-D61A-D6637C790DE0}"/>
              </a:ext>
            </a:extLst>
          </p:cNvPr>
          <p:cNvSpPr/>
          <p:nvPr/>
        </p:nvSpPr>
        <p:spPr>
          <a:xfrm>
            <a:off x="8457428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単体テスト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-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講義＆ハンズオン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A31108A4-895E-8CDC-2DB0-960DF401D9F3}"/>
              </a:ext>
            </a:extLst>
          </p:cNvPr>
          <p:cNvSpPr/>
          <p:nvPr/>
        </p:nvSpPr>
        <p:spPr>
          <a:xfrm>
            <a:off x="1920251" y="3280277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B1FB7FF-01FC-E1A7-ED5C-206BE6C4DB95}"/>
              </a:ext>
            </a:extLst>
          </p:cNvPr>
          <p:cNvGrpSpPr/>
          <p:nvPr/>
        </p:nvGrpSpPr>
        <p:grpSpPr>
          <a:xfrm>
            <a:off x="300251" y="3710349"/>
            <a:ext cx="3600000" cy="936522"/>
            <a:chOff x="946296" y="5714099"/>
            <a:chExt cx="4359349" cy="936522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A46742C-C89B-18DD-6746-1B592EB92845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アプリケーション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266BAC1-DD2E-1050-649C-4FBE5B13608B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任意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sp>
        <p:nvSpPr>
          <p:cNvPr id="26" name="矢印: 下 25">
            <a:extLst>
              <a:ext uri="{FF2B5EF4-FFF2-40B4-BE49-F238E27FC236}">
                <a16:creationId xmlns:a16="http://schemas.microsoft.com/office/drawing/2014/main" id="{8711F9CB-FF92-D6B5-AC2E-F05EA628FFE7}"/>
              </a:ext>
            </a:extLst>
          </p:cNvPr>
          <p:cNvSpPr/>
          <p:nvPr/>
        </p:nvSpPr>
        <p:spPr>
          <a:xfrm>
            <a:off x="5874053" y="4214560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29D5749-5BBC-A6A4-62D2-0320393CB40B}"/>
              </a:ext>
            </a:extLst>
          </p:cNvPr>
          <p:cNvGrpSpPr/>
          <p:nvPr/>
        </p:nvGrpSpPr>
        <p:grpSpPr>
          <a:xfrm>
            <a:off x="4254053" y="4664508"/>
            <a:ext cx="3600000" cy="936522"/>
            <a:chOff x="946296" y="5714099"/>
            <a:chExt cx="4359349" cy="936522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00F4D747-F34B-F9D1-C75D-14E8D4B3D917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アプリケーション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83F85E4A-F8DC-A3D1-3059-A4285EC6CEA4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</a:t>
              </a:r>
              <a:r>
                <a:rPr kumimoji="0" lang="en-US" altLang="ja-JP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EC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サイト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sp>
        <p:nvSpPr>
          <p:cNvPr id="38" name="矢印: 下 37">
            <a:extLst>
              <a:ext uri="{FF2B5EF4-FFF2-40B4-BE49-F238E27FC236}">
                <a16:creationId xmlns:a16="http://schemas.microsoft.com/office/drawing/2014/main" id="{B52DB875-F987-4F99-98EE-DB4588659661}"/>
              </a:ext>
            </a:extLst>
          </p:cNvPr>
          <p:cNvSpPr/>
          <p:nvPr/>
        </p:nvSpPr>
        <p:spPr>
          <a:xfrm>
            <a:off x="9897428" y="3280277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F062345-67E8-CC6F-F891-945B6D755238}"/>
              </a:ext>
            </a:extLst>
          </p:cNvPr>
          <p:cNvGrpSpPr/>
          <p:nvPr/>
        </p:nvGrpSpPr>
        <p:grpSpPr>
          <a:xfrm>
            <a:off x="8277428" y="3710349"/>
            <a:ext cx="3600000" cy="936522"/>
            <a:chOff x="946296" y="5714099"/>
            <a:chExt cx="4359349" cy="936522"/>
          </a:xfrm>
        </p:grpSpPr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CEFD224E-F1BB-41A8-1BF2-27CB8C739ADD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アプリケーション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5A015C34-55E3-6CE6-76A0-59B8C9C1EAD6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・</a:t>
              </a:r>
              <a:r>
                <a:rPr kumimoji="0" lang="en-US" altLang="ja-JP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EC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サイト</a:t>
              </a:r>
              <a:endPara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lvl="0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・テスト仕様書</a:t>
              </a:r>
              <a:endPara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lvl="0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・テストコード</a:t>
              </a:r>
              <a:endPara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endParaRPr>
            </a:p>
          </p:txBody>
        </p:sp>
      </p:grp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71B377D2-554A-B59D-5B39-059AF778655B}"/>
              </a:ext>
            </a:extLst>
          </p:cNvPr>
          <p:cNvSpPr/>
          <p:nvPr/>
        </p:nvSpPr>
        <p:spPr>
          <a:xfrm>
            <a:off x="4434053" y="353411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バイブコーディング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演習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1012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9F09-97AC-277C-B528-BACF0118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13691081-A195-E07D-931A-B6B77EFCA795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生成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の</a:t>
            </a: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活用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1E1B53-BA70-0D2F-2098-F90A9248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の活用の流れ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講義</a:t>
            </a:r>
            <a:r>
              <a:rPr lang="en-US" altLang="ja-JP" dirty="0"/>
              <a:t>&amp;</a:t>
            </a:r>
            <a:r>
              <a:rPr lang="ja-JP" altLang="en-US" dirty="0"/>
              <a:t>ハンズオン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の概要や生成</a:t>
            </a:r>
            <a:r>
              <a:rPr lang="en-US" altLang="ja-JP" dirty="0"/>
              <a:t>AI</a:t>
            </a:r>
            <a:r>
              <a:rPr lang="ja-JP" altLang="en-US" dirty="0"/>
              <a:t>の活用方法について学習する。</a:t>
            </a:r>
            <a:endParaRPr lang="en-US" altLang="ja-JP" dirty="0"/>
          </a:p>
          <a:p>
            <a:pPr lvl="2"/>
            <a:r>
              <a:rPr lang="ja-JP" altLang="en-US" dirty="0"/>
              <a:t>ハンズオン形式で、生成</a:t>
            </a:r>
            <a:r>
              <a:rPr lang="en-US" altLang="ja-JP" dirty="0"/>
              <a:t>AI</a:t>
            </a:r>
            <a:r>
              <a:rPr lang="ja-JP" altLang="en-US" dirty="0"/>
              <a:t>の活用方法を学習する。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演習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を用いて、アプリケーション（ゲーム）を作成する。</a:t>
            </a:r>
            <a:endParaRPr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0AEB964-9D17-8004-D796-3CAB0AFA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730800"/>
            <a:ext cx="2520000" cy="226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3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0C8F-A814-5143-E51E-E848FD6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A748C259-4E8E-05AF-3CA3-8E90D6D3B0FE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バイブコーディング①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310E2-8CE8-FEB7-E56A-093A01759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1600"/>
          </a:xfrm>
        </p:spPr>
        <p:txBody>
          <a:bodyPr>
            <a:normAutofit/>
          </a:bodyPr>
          <a:lstStyle/>
          <a:p>
            <a:r>
              <a:rPr lang="ja-JP" altLang="en-US" dirty="0"/>
              <a:t>バイブコーディング①の流れ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バイブコーディング</a:t>
            </a:r>
            <a:r>
              <a:rPr lang="en-US" altLang="ja-JP" dirty="0"/>
              <a:t>-</a:t>
            </a:r>
            <a:r>
              <a:rPr lang="ja-JP" altLang="en-US" dirty="0"/>
              <a:t>講義＆ハンズオン</a:t>
            </a:r>
            <a:endParaRPr lang="en-US" altLang="ja-JP" dirty="0"/>
          </a:p>
          <a:p>
            <a:pPr lvl="2"/>
            <a:r>
              <a:rPr lang="en-US" altLang="ja-JP" dirty="0"/>
              <a:t>Java</a:t>
            </a:r>
            <a:r>
              <a:rPr lang="ja-JP" altLang="en-US" dirty="0"/>
              <a:t>＆</a:t>
            </a:r>
            <a:r>
              <a:rPr lang="en-US" altLang="ja-JP" dirty="0"/>
              <a:t>Spring</a:t>
            </a:r>
            <a:r>
              <a:rPr lang="ja-JP" altLang="en-US" dirty="0"/>
              <a:t>＆</a:t>
            </a:r>
            <a:r>
              <a:rPr lang="en-US" altLang="ja-JP" dirty="0"/>
              <a:t>DB</a:t>
            </a:r>
            <a:r>
              <a:rPr lang="ja-JP" altLang="en-US" dirty="0"/>
              <a:t>を利用した</a:t>
            </a:r>
            <a:r>
              <a:rPr lang="en-US" altLang="ja-JP" dirty="0"/>
              <a:t>Web</a:t>
            </a:r>
            <a:r>
              <a:rPr lang="ja-JP" altLang="en-US" dirty="0"/>
              <a:t>アプリケーションについて学習する。</a:t>
            </a:r>
            <a:endParaRPr lang="en-US" altLang="ja-JP" dirty="0"/>
          </a:p>
          <a:p>
            <a:pPr lvl="2"/>
            <a:r>
              <a:rPr lang="ja-JP" altLang="en-US" dirty="0"/>
              <a:t>ハンズオン形式で、バイブコーディングを活用した</a:t>
            </a:r>
            <a:r>
              <a:rPr lang="en-US" altLang="ja-JP" dirty="0"/>
              <a:t>Web</a:t>
            </a:r>
            <a:r>
              <a:rPr lang="ja-JP" altLang="en-US" dirty="0"/>
              <a:t>アプリケーションの作成方法を学習する。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Git-</a:t>
            </a:r>
            <a:r>
              <a:rPr lang="ja-JP" altLang="en-US" dirty="0"/>
              <a:t>講義</a:t>
            </a:r>
            <a:endParaRPr lang="en-US" altLang="ja-JP" dirty="0"/>
          </a:p>
          <a:p>
            <a:pPr lvl="2"/>
            <a:r>
              <a:rPr lang="en-US" altLang="ja-JP" dirty="0"/>
              <a:t>Git</a:t>
            </a:r>
            <a:r>
              <a:rPr lang="ja-JP" altLang="en-US" dirty="0"/>
              <a:t>の概要と利用方法について学習する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Git-</a:t>
            </a:r>
            <a:r>
              <a:rPr lang="ja-JP" altLang="en-US" dirty="0"/>
              <a:t>演習</a:t>
            </a:r>
            <a:r>
              <a:rPr lang="en-US" altLang="ja-JP" dirty="0"/>
              <a:t>&amp;</a:t>
            </a:r>
            <a:r>
              <a:rPr lang="ja-JP" altLang="en-US" dirty="0"/>
              <a:t>ハンズオン</a:t>
            </a:r>
            <a:endParaRPr lang="en-US" altLang="ja-JP" dirty="0"/>
          </a:p>
          <a:p>
            <a:pPr lvl="2"/>
            <a:r>
              <a:rPr lang="ja-JP" altLang="en-US" dirty="0"/>
              <a:t>ハンズオン形式で、</a:t>
            </a:r>
            <a:r>
              <a:rPr lang="en-US" altLang="ja-JP" dirty="0"/>
              <a:t>VS Code</a:t>
            </a:r>
            <a:r>
              <a:rPr lang="ja-JP" altLang="en-US" dirty="0"/>
              <a:t>を利用した</a:t>
            </a:r>
            <a:r>
              <a:rPr lang="en-US" altLang="ja-JP" dirty="0"/>
              <a:t>Git</a:t>
            </a:r>
            <a:r>
              <a:rPr lang="ja-JP" altLang="en-US" dirty="0"/>
              <a:t>の操作方法を学習する。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バイブコーディング</a:t>
            </a:r>
            <a:r>
              <a:rPr lang="en-US" altLang="ja-JP" dirty="0"/>
              <a:t>-</a:t>
            </a:r>
            <a:r>
              <a:rPr lang="ja-JP" altLang="en-US" dirty="0"/>
              <a:t>演習</a:t>
            </a:r>
            <a:endParaRPr lang="en-US" altLang="ja-JP" dirty="0"/>
          </a:p>
          <a:p>
            <a:pPr lvl="2"/>
            <a:r>
              <a:rPr lang="ja-JP" altLang="en-US" dirty="0"/>
              <a:t>ハンズオンで学習した手順を基に、各自で残りの機能を作成する。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0234CF0-E1C7-467B-B3BD-DA674E8CE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730800"/>
            <a:ext cx="2520000" cy="292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7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9CB3-7696-D382-7EC7-AEABBA05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950DA96C-E905-74A5-F5A1-A78A050EBD70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バイブコーディング②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29CA2C-15E4-5804-5337-11FE97647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1600"/>
          </a:xfrm>
        </p:spPr>
        <p:txBody>
          <a:bodyPr>
            <a:normAutofit/>
          </a:bodyPr>
          <a:lstStyle/>
          <a:p>
            <a:r>
              <a:rPr lang="ja-JP" altLang="en-US" dirty="0"/>
              <a:t>バイブコーディング②の流れ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単体テスト</a:t>
            </a:r>
            <a:r>
              <a:rPr lang="en-US" altLang="ja-JP" dirty="0"/>
              <a:t>-</a:t>
            </a:r>
            <a:r>
              <a:rPr lang="ja-JP" altLang="en-US" dirty="0"/>
              <a:t>講義＆ハンズオン</a:t>
            </a:r>
            <a:endParaRPr lang="en-US" altLang="ja-JP" dirty="0"/>
          </a:p>
          <a:p>
            <a:pPr lvl="2"/>
            <a:r>
              <a:rPr lang="ja-JP" altLang="en-US" dirty="0"/>
              <a:t>単体テストについて学習する。</a:t>
            </a:r>
            <a:endParaRPr lang="en-US" altLang="ja-JP" dirty="0"/>
          </a:p>
          <a:p>
            <a:pPr lvl="2"/>
            <a:r>
              <a:rPr lang="ja-JP" altLang="en-US" dirty="0"/>
              <a:t>ハンズオン形式で、バイブコーディングを活用した単体テストの作成方法を学習する。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バイブコーディング</a:t>
            </a:r>
            <a:r>
              <a:rPr lang="en-US" altLang="ja-JP" dirty="0"/>
              <a:t>-</a:t>
            </a:r>
            <a:r>
              <a:rPr lang="ja-JP" altLang="en-US" dirty="0"/>
              <a:t>演習</a:t>
            </a:r>
            <a:endParaRPr lang="en-US" altLang="ja-JP" dirty="0"/>
          </a:p>
          <a:p>
            <a:pPr lvl="2"/>
            <a:r>
              <a:rPr lang="ja-JP" altLang="en-US" dirty="0"/>
              <a:t>ハンズオンで学習した手順を基に、各自で残りの単体テストを作成する。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06E452-AE76-3796-CC78-8A017D70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730800"/>
            <a:ext cx="2520000" cy="229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50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317</Words>
  <Application>Microsoft Office PowerPoint</Application>
  <PresentationFormat>ワイド画面</PresentationFormat>
  <Paragraphs>56</Paragraphs>
  <Slides>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Meiryo UI</vt:lpstr>
      <vt:lpstr>游ゴシック</vt:lpstr>
      <vt:lpstr>游ゴシック Light</vt:lpstr>
      <vt:lpstr>Arial</vt:lpstr>
      <vt:lpstr>Office テーマ</vt:lpstr>
      <vt:lpstr>研修の概要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41</cp:revision>
  <dcterms:created xsi:type="dcterms:W3CDTF">2026-07-04T03:22:14Z</dcterms:created>
  <dcterms:modified xsi:type="dcterms:W3CDTF">2026-07-04T23:52:47Z</dcterms:modified>
</cp:coreProperties>
</file>