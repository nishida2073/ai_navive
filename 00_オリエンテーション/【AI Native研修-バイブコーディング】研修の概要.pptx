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2660-A910-48D6-9DD5-B02CDD5983C2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A0B64-6D67-42B8-83A5-133498884D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77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223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93ED5-9666-7F1B-85EF-FF6C29A4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8210E33-0E73-8BD9-E454-D680F26D2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3500E8A-0C82-2C41-6833-15C38F916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9CBFD0-1599-A012-F568-8DA9A537E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265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A04BB-79D1-9FEA-C26B-A00B81F53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BEB557E-2F80-BF43-DF09-F1A8AFE0B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311C7BE-F487-8226-4D83-C19731782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F91B8C-E6B2-9ED9-62B3-AF0099D9A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1666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88EAE4-3517-7685-DBC1-D2EBBF114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CE249DA-269C-C238-1C0D-468019E3C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E4C389-7303-F6E2-A905-B7D704D1F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A5D6D8-D495-753D-963F-D2031F54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B97719-44F6-07B6-2299-44CDBEF7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545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9C75F2-6284-9EE3-07F1-8A8C63284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BB957D-55BF-E429-F24B-9AB0F2BC5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1DBD3B-56FD-917A-7F5A-3015D977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2DC64E-F29E-D854-BEF0-3070C545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48F59C-A5D5-E9EE-6BFB-1E812ECDB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460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C1473-4F82-D0F2-6E20-B3CE8154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3119F7-CFE5-C244-5CBC-D07F56CF8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C23C55-8327-924C-2B72-D685D3026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1B9B42-5325-6348-7A2E-823A20CC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0BB805-FA2B-03EC-E53A-E3CA5589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387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2A8F03-F9A4-C9E1-8930-9B9AF0D3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9B11C5-849D-9104-8534-05B157123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1E799F-E1CC-CC44-0753-6D7D0C923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315350-56EC-072A-EE57-7D7FD671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CFC015-F252-9E7E-F23E-9859CCF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775C56-D7A0-4254-A2E6-4CA99D50A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690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87F651-F4E6-22A7-969C-361E7EB8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D87F37-09C8-1C47-DA85-89348412F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1EDEFF-D785-4B71-7114-49A611C89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4CF3450-F545-1FFD-F875-8DE3CCB76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E611BD-461C-12F4-A3BC-6154F6BA1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4F81492-847C-EE97-CE4E-E34C2A9E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08207F7-1FE0-73EF-D402-872A8833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F6F3EF7-641F-90DB-332E-E52417E3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533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33C488-7001-3614-BBDB-52F57B051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F87A66-C96C-D4FF-9241-9CE679FE2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3116E27-0034-7717-9FEE-82777DE2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21BDC13-BC57-56EC-7696-822A94E1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57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C96747D-199C-DB70-796B-D7AD9498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95DF319-00BA-725F-BC6A-27C0CA6C6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F24241-0D68-5DC6-E45A-B7BBC924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275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83C645-DBBF-EBC8-73A4-9590C9AA4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81406B-DD2E-D5D3-AE10-E0AB4E154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1620FD-5FFA-4826-B001-35BBC49CA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484110-46BB-014D-41FF-BB1422C9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568A18-5ED2-ABB4-0951-B33EF4C5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5EACC3-A6F9-B01D-47D1-98D36961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36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E69773-B60F-F99E-7259-84C025920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492595E-8F9F-0A64-3DEB-8E74E0AC3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BCF0B5-1DAA-A506-3226-5F5AAE8E2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D2088E-9319-A7DB-F799-C26F5508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7741E9-DB06-1561-7A20-0A626D9D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71377C-7AF9-AAE2-2C83-B36C5B20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9773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D948F8-A898-A22B-7EF3-84E85241D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B9CE3F-DD4B-FBB0-0358-E359990CF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A1EFE8-83F8-C673-6466-09628A88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A29062-6AC9-DD4E-C20C-3568B001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C21EC4-135A-AB14-091E-CA0A0AA3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06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8A78528-6686-7717-9395-A6791781DC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779115-C3F1-5580-1C82-172ACF121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27D618-FA30-2F16-A3BA-1C48127B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6D16EA-23E0-4DB0-E96D-371B623E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350307-06A9-2F31-4E2F-74756A58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363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91077D-F29B-3B1E-E99F-8D3095D21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7A7F88-23AA-2435-B8E5-5759D4CA2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5D7CD4-6630-EF19-7ADC-97B078E8C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24A99B-1354-38AF-B026-4F072B91B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8BA381-04BE-303F-34F7-4680A43BB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94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DA5590-C478-ABA0-FEFE-579A11138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バイブコーディング</a:t>
            </a:r>
            <a:r>
              <a:rPr kumimoji="1" lang="ja-JP" altLang="en-US" dirty="0"/>
              <a:t>の概要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41C3CD-066C-9DBE-C54B-F884D6128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54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表 66">
            <a:extLst>
              <a:ext uri="{FF2B5EF4-FFF2-40B4-BE49-F238E27FC236}">
                <a16:creationId xmlns:a16="http://schemas.microsoft.com/office/drawing/2014/main" id="{BF667119-273B-9AC2-20E0-A1A52796A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482374"/>
              </p:ext>
            </p:extLst>
          </p:nvPr>
        </p:nvGraphicFramePr>
        <p:xfrm>
          <a:off x="370800" y="858160"/>
          <a:ext cx="7878678" cy="5075501"/>
        </p:xfrm>
        <a:graphic>
          <a:graphicData uri="http://schemas.openxmlformats.org/drawingml/2006/table">
            <a:tbl>
              <a:tblPr firstRow="1" bandRow="1"/>
              <a:tblGrid>
                <a:gridCol w="3922904">
                  <a:extLst>
                    <a:ext uri="{9D8B030D-6E8A-4147-A177-3AD203B41FA5}">
                      <a16:colId xmlns:a16="http://schemas.microsoft.com/office/drawing/2014/main" val="3573493280"/>
                    </a:ext>
                  </a:extLst>
                </a:gridCol>
                <a:gridCol w="3955774">
                  <a:extLst>
                    <a:ext uri="{9D8B030D-6E8A-4147-A177-3AD203B41FA5}">
                      <a16:colId xmlns:a16="http://schemas.microsoft.com/office/drawing/2014/main" val="2262346922"/>
                    </a:ext>
                  </a:extLst>
                </a:gridCol>
              </a:tblGrid>
              <a:tr h="36902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600" dirty="0"/>
                        <a:t>１～２日目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600" dirty="0"/>
                        <a:t>２～３日目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54313"/>
                  </a:ext>
                </a:extLst>
              </a:tr>
              <a:tr h="4706477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endParaRPr kumimoji="1" lang="ja-JP" alt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78125"/>
                  </a:ext>
                </a:extLst>
              </a:tr>
            </a:tbl>
          </a:graphicData>
        </a:graphic>
      </p:graphicFrame>
      <p:sp>
        <p:nvSpPr>
          <p:cNvPr id="69" name="タイトル 1">
            <a:extLst>
              <a:ext uri="{FF2B5EF4-FFF2-40B4-BE49-F238E27FC236}">
                <a16:creationId xmlns:a16="http://schemas.microsoft.com/office/drawing/2014/main" id="{6CE14998-7D64-A6FD-4F75-ED0C41225FF2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070F26"/>
                </a:solidFill>
                <a:latin typeface="Meiryo UI"/>
                <a:ea typeface="Meiryo UI"/>
              </a:rPr>
              <a:t>研修</a:t>
            </a: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の全体像について</a:t>
            </a:r>
          </a:p>
        </p:txBody>
      </p: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36F18F2F-F70A-EEAE-070C-74BD6D5F46A0}"/>
              </a:ext>
            </a:extLst>
          </p:cNvPr>
          <p:cNvGrpSpPr/>
          <p:nvPr/>
        </p:nvGrpSpPr>
        <p:grpSpPr>
          <a:xfrm>
            <a:off x="480129" y="1423907"/>
            <a:ext cx="3600000" cy="2621059"/>
            <a:chOff x="946296" y="1364275"/>
            <a:chExt cx="4359349" cy="2794887"/>
          </a:xfrm>
        </p:grpSpPr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FBBB41F4-58A4-8CF3-144C-76609B9A3DFA}"/>
                </a:ext>
              </a:extLst>
            </p:cNvPr>
            <p:cNvSpPr/>
            <p:nvPr/>
          </p:nvSpPr>
          <p:spPr>
            <a:xfrm>
              <a:off x="946296" y="1957360"/>
              <a:ext cx="4359349" cy="220180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753A1C69-FFC7-188D-528E-0D56CABEB2D9}"/>
                </a:ext>
              </a:extLst>
            </p:cNvPr>
            <p:cNvSpPr/>
            <p:nvPr/>
          </p:nvSpPr>
          <p:spPr>
            <a:xfrm>
              <a:off x="946296" y="1364275"/>
              <a:ext cx="4359349" cy="588735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バイブコーディング①</a:t>
              </a:r>
              <a:endParaRPr kumimoji="0" lang="en-US" altLang="ja-JP" kern="0" dirty="0">
                <a:solidFill>
                  <a:srgbClr val="000000"/>
                </a:solidFill>
                <a:latin typeface="Arial"/>
                <a:ea typeface="Meiryo UI"/>
              </a:endParaRPr>
            </a:p>
            <a:p>
              <a:pPr algn="ctr"/>
              <a:r>
                <a:rPr kumimoji="0" lang="ja-JP" altLang="en-US" sz="12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バイブコーディングを活用した製造を体験する</a:t>
              </a:r>
              <a:endParaRPr kumimoji="0" lang="en-US" altLang="ja-JP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</p:grpSp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888FCB7B-A5B0-7DF2-725F-FD3F7E2259AF}"/>
              </a:ext>
            </a:extLst>
          </p:cNvPr>
          <p:cNvSpPr/>
          <p:nvPr/>
        </p:nvSpPr>
        <p:spPr>
          <a:xfrm>
            <a:off x="660129" y="3075796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rPr>
              <a:t>Git-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演習＆ハンズオン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103" name="四角形: 角を丸くする 102">
            <a:extLst>
              <a:ext uri="{FF2B5EF4-FFF2-40B4-BE49-F238E27FC236}">
                <a16:creationId xmlns:a16="http://schemas.microsoft.com/office/drawing/2014/main" id="{D3128FEF-A1F2-26CA-043B-17D12CE5A032}"/>
              </a:ext>
            </a:extLst>
          </p:cNvPr>
          <p:cNvSpPr/>
          <p:nvPr/>
        </p:nvSpPr>
        <p:spPr>
          <a:xfrm>
            <a:off x="660129" y="2099518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バイブコーディング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-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講義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＆ハンズオン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2" name="矢印: 下 1">
            <a:extLst>
              <a:ext uri="{FF2B5EF4-FFF2-40B4-BE49-F238E27FC236}">
                <a16:creationId xmlns:a16="http://schemas.microsoft.com/office/drawing/2014/main" id="{198DDFF0-913B-1850-4497-45A5E995BAD3}"/>
              </a:ext>
            </a:extLst>
          </p:cNvPr>
          <p:cNvSpPr/>
          <p:nvPr/>
        </p:nvSpPr>
        <p:spPr>
          <a:xfrm rot="16200000">
            <a:off x="4126704" y="2189518"/>
            <a:ext cx="360000" cy="180000"/>
          </a:xfrm>
          <a:prstGeom prst="downArrow">
            <a:avLst/>
          </a:prstGeom>
          <a:solidFill>
            <a:schemeClr val="tx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BC1D9825-92B4-D203-8889-4C1D029E6CCB}"/>
              </a:ext>
            </a:extLst>
          </p:cNvPr>
          <p:cNvSpPr/>
          <p:nvPr/>
        </p:nvSpPr>
        <p:spPr>
          <a:xfrm>
            <a:off x="660129" y="2587657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Git-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講義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534FB9F9-9ED0-F2BC-4178-13C295A72808}"/>
              </a:ext>
            </a:extLst>
          </p:cNvPr>
          <p:cNvGrpSpPr/>
          <p:nvPr/>
        </p:nvGrpSpPr>
        <p:grpSpPr>
          <a:xfrm>
            <a:off x="4503504" y="1423907"/>
            <a:ext cx="3600000" cy="1648169"/>
            <a:chOff x="946296" y="1364275"/>
            <a:chExt cx="4359349" cy="1757475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CDCD3BAF-030E-983B-0816-36705F0C2588}"/>
                </a:ext>
              </a:extLst>
            </p:cNvPr>
            <p:cNvSpPr/>
            <p:nvPr/>
          </p:nvSpPr>
          <p:spPr>
            <a:xfrm>
              <a:off x="946296" y="1957361"/>
              <a:ext cx="4359349" cy="1164389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3D5DD22F-A1F7-9C97-C5D4-CE0E26A101F9}"/>
                </a:ext>
              </a:extLst>
            </p:cNvPr>
            <p:cNvSpPr/>
            <p:nvPr/>
          </p:nvSpPr>
          <p:spPr>
            <a:xfrm>
              <a:off x="946296" y="1364275"/>
              <a:ext cx="4359349" cy="588735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バイブコーディング②</a:t>
              </a:r>
              <a:endParaRPr kumimoji="0" lang="en-US" altLang="ja-JP" kern="0" dirty="0">
                <a:solidFill>
                  <a:srgbClr val="000000"/>
                </a:solidFill>
                <a:latin typeface="Arial"/>
                <a:ea typeface="Meiryo UI"/>
              </a:endParaRPr>
            </a:p>
            <a:p>
              <a:pPr algn="ctr"/>
              <a:r>
                <a:rPr kumimoji="0" lang="ja-JP" altLang="en-US" sz="12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バイブコーディングを活用した単体テストを体験する</a:t>
              </a:r>
              <a:endParaRPr kumimoji="0" lang="en-US" altLang="ja-JP" sz="1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</p:grp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B248CF0-616E-3E59-E416-446C67A436F6}"/>
              </a:ext>
            </a:extLst>
          </p:cNvPr>
          <p:cNvSpPr/>
          <p:nvPr/>
        </p:nvSpPr>
        <p:spPr>
          <a:xfrm>
            <a:off x="4683504" y="2575123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バイブコーディング</a:t>
            </a:r>
            <a:r>
              <a: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rPr>
              <a:t>-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演習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38ADACC-A1FC-5AEB-D61A-D6637C790DE0}"/>
              </a:ext>
            </a:extLst>
          </p:cNvPr>
          <p:cNvSpPr/>
          <p:nvPr/>
        </p:nvSpPr>
        <p:spPr>
          <a:xfrm>
            <a:off x="4683504" y="2099518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単体テスト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-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講義＆ハンズオン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26" name="矢印: 下 25">
            <a:extLst>
              <a:ext uri="{FF2B5EF4-FFF2-40B4-BE49-F238E27FC236}">
                <a16:creationId xmlns:a16="http://schemas.microsoft.com/office/drawing/2014/main" id="{8711F9CB-FF92-D6B5-AC2E-F05EA628FFE7}"/>
              </a:ext>
            </a:extLst>
          </p:cNvPr>
          <p:cNvSpPr/>
          <p:nvPr/>
        </p:nvSpPr>
        <p:spPr>
          <a:xfrm>
            <a:off x="2100129" y="4244378"/>
            <a:ext cx="360000" cy="180000"/>
          </a:xfrm>
          <a:prstGeom prst="downArrow">
            <a:avLst/>
          </a:prstGeom>
          <a:solidFill>
            <a:schemeClr val="bg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429D5749-5BBC-A6A4-62D2-0320393CB40B}"/>
              </a:ext>
            </a:extLst>
          </p:cNvPr>
          <p:cNvGrpSpPr/>
          <p:nvPr/>
        </p:nvGrpSpPr>
        <p:grpSpPr>
          <a:xfrm>
            <a:off x="480129" y="4694326"/>
            <a:ext cx="3600000" cy="936522"/>
            <a:chOff x="946296" y="5714099"/>
            <a:chExt cx="4359349" cy="936522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00F4D747-F34B-F9D1-C75D-14E8D4B3D917}"/>
                </a:ext>
              </a:extLst>
            </p:cNvPr>
            <p:cNvSpPr/>
            <p:nvPr/>
          </p:nvSpPr>
          <p:spPr>
            <a:xfrm>
              <a:off x="946296" y="5714099"/>
              <a:ext cx="4359349" cy="3048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アプリケーション</a:t>
              </a:r>
              <a:endParaRPr kumimoji="0" lang="ja-JP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83F85E4A-F8DC-A3D1-3059-A4285EC6CEA4}"/>
                </a:ext>
              </a:extLst>
            </p:cNvPr>
            <p:cNvSpPr/>
            <p:nvPr/>
          </p:nvSpPr>
          <p:spPr>
            <a:xfrm>
              <a:off x="946296" y="6018899"/>
              <a:ext cx="4359349" cy="63172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</a:t>
              </a:r>
              <a:r>
                <a:rPr kumimoji="0" lang="en-US" altLang="ja-JP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EC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サイト</a:t>
              </a:r>
              <a:endPara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</p:grpSp>
      <p:sp>
        <p:nvSpPr>
          <p:cNvPr id="38" name="矢印: 下 37">
            <a:extLst>
              <a:ext uri="{FF2B5EF4-FFF2-40B4-BE49-F238E27FC236}">
                <a16:creationId xmlns:a16="http://schemas.microsoft.com/office/drawing/2014/main" id="{B52DB875-F987-4F99-98EE-DB4588659661}"/>
              </a:ext>
            </a:extLst>
          </p:cNvPr>
          <p:cNvSpPr/>
          <p:nvPr/>
        </p:nvSpPr>
        <p:spPr>
          <a:xfrm>
            <a:off x="6123504" y="3310095"/>
            <a:ext cx="360000" cy="180000"/>
          </a:xfrm>
          <a:prstGeom prst="downArrow">
            <a:avLst/>
          </a:prstGeom>
          <a:solidFill>
            <a:schemeClr val="bg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FF062345-67E8-CC6F-F891-945B6D755238}"/>
              </a:ext>
            </a:extLst>
          </p:cNvPr>
          <p:cNvGrpSpPr/>
          <p:nvPr/>
        </p:nvGrpSpPr>
        <p:grpSpPr>
          <a:xfrm>
            <a:off x="4503504" y="3740167"/>
            <a:ext cx="3600000" cy="936522"/>
            <a:chOff x="946296" y="5714099"/>
            <a:chExt cx="4359349" cy="936522"/>
          </a:xfrm>
        </p:grpSpPr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CEFD224E-F1BB-41A8-1BF2-27CB8C739ADD}"/>
                </a:ext>
              </a:extLst>
            </p:cNvPr>
            <p:cNvSpPr/>
            <p:nvPr/>
          </p:nvSpPr>
          <p:spPr>
            <a:xfrm>
              <a:off x="946296" y="5714099"/>
              <a:ext cx="4359349" cy="3048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アプリケーション</a:t>
              </a:r>
              <a:endParaRPr kumimoji="0" lang="ja-JP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5A015C34-55E3-6CE6-76A0-59B8C9C1EAD6}"/>
                </a:ext>
              </a:extLst>
            </p:cNvPr>
            <p:cNvSpPr/>
            <p:nvPr/>
          </p:nvSpPr>
          <p:spPr>
            <a:xfrm>
              <a:off x="946296" y="6018899"/>
              <a:ext cx="4359349" cy="63172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defRPr/>
              </a:pP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・</a:t>
              </a:r>
              <a:r>
                <a:rPr kumimoji="0" lang="en-US" altLang="ja-JP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EC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サイト</a:t>
              </a:r>
              <a:endPara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endParaRPr>
            </a:p>
            <a:p>
              <a:pPr lvl="0">
                <a:defRPr/>
              </a:pP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・テスト仕様書</a:t>
              </a:r>
              <a:endPara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endParaRPr>
            </a:p>
            <a:p>
              <a:pPr lvl="0">
                <a:defRPr/>
              </a:pP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・テストコード</a:t>
              </a:r>
              <a:endPara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endParaRPr>
            </a:p>
          </p:txBody>
        </p:sp>
      </p:grp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71B377D2-554A-B59D-5B39-059AF778655B}"/>
              </a:ext>
            </a:extLst>
          </p:cNvPr>
          <p:cNvSpPr/>
          <p:nvPr/>
        </p:nvSpPr>
        <p:spPr>
          <a:xfrm>
            <a:off x="660129" y="3563934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バイブコーディング</a:t>
            </a:r>
            <a:r>
              <a: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rPr>
              <a:t>-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演習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1012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90C8F-A814-5143-E51E-E848FD662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A748C259-4E8E-05AF-3CA3-8E90D6D3B0FE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070F26"/>
                </a:solidFill>
                <a:latin typeface="Meiryo UI"/>
                <a:ea typeface="Meiryo UI"/>
              </a:rPr>
              <a:t>バイブコーディング①</a:t>
            </a: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D310E2-8CE8-FEB7-E56A-093A01759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7920000" cy="5241600"/>
          </a:xfrm>
        </p:spPr>
        <p:txBody>
          <a:bodyPr>
            <a:normAutofit/>
          </a:bodyPr>
          <a:lstStyle/>
          <a:p>
            <a:r>
              <a:rPr lang="ja-JP" altLang="en-US" dirty="0"/>
              <a:t>バイブコーディング①の流れ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バイブコーディング</a:t>
            </a:r>
            <a:r>
              <a:rPr lang="en-US" altLang="ja-JP" dirty="0"/>
              <a:t>-</a:t>
            </a:r>
            <a:r>
              <a:rPr lang="ja-JP" altLang="en-US" dirty="0"/>
              <a:t>講義＆ハンズオン</a:t>
            </a:r>
            <a:endParaRPr lang="en-US" altLang="ja-JP" dirty="0"/>
          </a:p>
          <a:p>
            <a:pPr lvl="2"/>
            <a:r>
              <a:rPr lang="en-US" altLang="ja-JP" dirty="0"/>
              <a:t>Java</a:t>
            </a:r>
            <a:r>
              <a:rPr lang="ja-JP" altLang="en-US" dirty="0"/>
              <a:t>＆</a:t>
            </a:r>
            <a:r>
              <a:rPr lang="en-US" altLang="ja-JP" dirty="0"/>
              <a:t>Spring</a:t>
            </a:r>
            <a:r>
              <a:rPr lang="ja-JP" altLang="en-US" dirty="0"/>
              <a:t>＆</a:t>
            </a:r>
            <a:r>
              <a:rPr lang="en-US" altLang="ja-JP" dirty="0"/>
              <a:t>DB</a:t>
            </a:r>
            <a:r>
              <a:rPr lang="ja-JP" altLang="en-US" dirty="0"/>
              <a:t>を利用した</a:t>
            </a:r>
            <a:r>
              <a:rPr lang="en-US" altLang="ja-JP" dirty="0"/>
              <a:t>Web</a:t>
            </a:r>
            <a:r>
              <a:rPr lang="ja-JP" altLang="en-US" dirty="0"/>
              <a:t>アプリケーションについて学習する。</a:t>
            </a:r>
            <a:endParaRPr lang="en-US" altLang="ja-JP" dirty="0"/>
          </a:p>
          <a:p>
            <a:pPr lvl="2"/>
            <a:r>
              <a:rPr lang="ja-JP" altLang="en-US" dirty="0"/>
              <a:t>ハンズオン形式で、バイブコーディングを活用した</a:t>
            </a:r>
            <a:r>
              <a:rPr lang="en-US" altLang="ja-JP" dirty="0"/>
              <a:t>Web</a:t>
            </a:r>
            <a:r>
              <a:rPr lang="ja-JP" altLang="en-US" dirty="0"/>
              <a:t>アプリケーションの作成方法を学習する。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Git-</a:t>
            </a:r>
            <a:r>
              <a:rPr lang="ja-JP" altLang="en-US" dirty="0"/>
              <a:t>講義</a:t>
            </a:r>
            <a:endParaRPr lang="en-US" altLang="ja-JP" dirty="0"/>
          </a:p>
          <a:p>
            <a:pPr lvl="2"/>
            <a:r>
              <a:rPr lang="en-US" altLang="ja-JP" dirty="0"/>
              <a:t>Git</a:t>
            </a:r>
            <a:r>
              <a:rPr lang="ja-JP" altLang="en-US" dirty="0"/>
              <a:t>の概要と利用方法について学習する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Git-</a:t>
            </a:r>
            <a:r>
              <a:rPr lang="ja-JP" altLang="en-US" dirty="0"/>
              <a:t>演習</a:t>
            </a:r>
            <a:r>
              <a:rPr lang="en-US" altLang="ja-JP" dirty="0"/>
              <a:t>&amp;</a:t>
            </a:r>
            <a:r>
              <a:rPr lang="ja-JP" altLang="en-US" dirty="0"/>
              <a:t>ハンズオン</a:t>
            </a:r>
            <a:endParaRPr lang="en-US" altLang="ja-JP" dirty="0"/>
          </a:p>
          <a:p>
            <a:pPr lvl="2"/>
            <a:r>
              <a:rPr lang="ja-JP" altLang="en-US" dirty="0"/>
              <a:t>ハンズオン形式で、</a:t>
            </a:r>
            <a:r>
              <a:rPr lang="en-US" altLang="ja-JP" dirty="0"/>
              <a:t>VS Code</a:t>
            </a:r>
            <a:r>
              <a:rPr lang="ja-JP" altLang="en-US" dirty="0"/>
              <a:t>を利用した</a:t>
            </a:r>
            <a:r>
              <a:rPr lang="en-US" altLang="ja-JP" dirty="0"/>
              <a:t>Git</a:t>
            </a:r>
            <a:r>
              <a:rPr lang="ja-JP" altLang="en-US" dirty="0"/>
              <a:t>の操作方法を学習する。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バイブコーディング</a:t>
            </a:r>
            <a:r>
              <a:rPr lang="en-US" altLang="ja-JP" dirty="0"/>
              <a:t>-</a:t>
            </a:r>
            <a:r>
              <a:rPr lang="ja-JP" altLang="en-US" dirty="0"/>
              <a:t>演習</a:t>
            </a:r>
            <a:endParaRPr lang="en-US" altLang="ja-JP" dirty="0"/>
          </a:p>
          <a:p>
            <a:pPr lvl="2"/>
            <a:r>
              <a:rPr lang="ja-JP" altLang="en-US" dirty="0"/>
              <a:t>ハンズオンで学習した手順を基に、各自で残りの機能を作成する。</a:t>
            </a:r>
            <a:endParaRPr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0234CF0-E1C7-467B-B3BD-DA674E8CE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800" y="730800"/>
            <a:ext cx="2520000" cy="292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37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89CB3-7696-D382-7EC7-AEABBA05A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950DA96C-E905-74A5-F5A1-A78A050EBD70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070F26"/>
                </a:solidFill>
                <a:latin typeface="Meiryo UI"/>
                <a:ea typeface="Meiryo UI"/>
              </a:rPr>
              <a:t>バイブコーディング②</a:t>
            </a: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29CA2C-15E4-5804-5337-11FE97647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7920000" cy="5241600"/>
          </a:xfrm>
        </p:spPr>
        <p:txBody>
          <a:bodyPr>
            <a:normAutofit/>
          </a:bodyPr>
          <a:lstStyle/>
          <a:p>
            <a:r>
              <a:rPr lang="ja-JP" altLang="en-US" dirty="0"/>
              <a:t>バイブコーディング②の流れ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単体テスト</a:t>
            </a:r>
            <a:r>
              <a:rPr lang="en-US" altLang="ja-JP" dirty="0"/>
              <a:t>-</a:t>
            </a:r>
            <a:r>
              <a:rPr lang="ja-JP" altLang="en-US" dirty="0"/>
              <a:t>講義＆ハンズオン</a:t>
            </a:r>
            <a:endParaRPr lang="en-US" altLang="ja-JP" dirty="0"/>
          </a:p>
          <a:p>
            <a:pPr lvl="2"/>
            <a:r>
              <a:rPr lang="ja-JP" altLang="en-US" dirty="0"/>
              <a:t>単体テストについて学習する。</a:t>
            </a:r>
            <a:endParaRPr lang="en-US" altLang="ja-JP" dirty="0"/>
          </a:p>
          <a:p>
            <a:pPr lvl="2"/>
            <a:r>
              <a:rPr lang="ja-JP" altLang="en-US" dirty="0"/>
              <a:t>ハンズオン形式で、バイブコーディングを活用した単体テストの作成方法を学習する。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バイブコーディング</a:t>
            </a:r>
            <a:r>
              <a:rPr lang="en-US" altLang="ja-JP" dirty="0"/>
              <a:t>-</a:t>
            </a:r>
            <a:r>
              <a:rPr lang="ja-JP" altLang="en-US" dirty="0"/>
              <a:t>演習</a:t>
            </a:r>
            <a:endParaRPr lang="en-US" altLang="ja-JP" dirty="0"/>
          </a:p>
          <a:p>
            <a:pPr lvl="2"/>
            <a:r>
              <a:rPr lang="ja-JP" altLang="en-US" dirty="0"/>
              <a:t>ハンズオンで学習した手順を基に、各自で残りの単体テストを作成する。</a:t>
            </a: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C06E452-AE76-3796-CC78-8A017D70A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800" y="730800"/>
            <a:ext cx="2520000" cy="229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50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233</Words>
  <Application>Microsoft Office PowerPoint</Application>
  <PresentationFormat>ワイド画面</PresentationFormat>
  <Paragraphs>41</Paragraphs>
  <Slides>4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Meiryo UI</vt:lpstr>
      <vt:lpstr>游ゴシック</vt:lpstr>
      <vt:lpstr>游ゴシック Light</vt:lpstr>
      <vt:lpstr>Arial</vt:lpstr>
      <vt:lpstr>Office テーマ</vt:lpstr>
      <vt:lpstr>バイブコーディングの概要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直樹 石田</dc:creator>
  <cp:lastModifiedBy>直樹 石田</cp:lastModifiedBy>
  <cp:revision>36</cp:revision>
  <dcterms:created xsi:type="dcterms:W3CDTF">2026-07-04T03:22:14Z</dcterms:created>
  <dcterms:modified xsi:type="dcterms:W3CDTF">2026-07-04T23:47:50Z</dcterms:modified>
</cp:coreProperties>
</file>