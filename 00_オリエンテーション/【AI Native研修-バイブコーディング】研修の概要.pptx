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2" r:id="rId2"/>
    <p:sldId id="263" r:id="rId3"/>
    <p:sldId id="264" r:id="rId4"/>
    <p:sldId id="265" r:id="rId5"/>
    <p:sldId id="266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77" autoAdjust="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outlineViewPr>
    <p:cViewPr>
      <p:scale>
        <a:sx n="33" d="100"/>
        <a:sy n="33" d="100"/>
      </p:scale>
      <p:origin x="0" y="-401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2026/8/7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D93ED5-9666-7F1B-85EF-FF6C29A43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8210E33-0E73-8BD9-E454-D680F26D2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83500E8A-0C82-2C41-6833-15C38F916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89CBFD0-1599-A012-F568-8DA9A537E8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1265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A04BB-79D1-9FEA-C26B-A00B81F53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BEB557E-2F80-BF43-DF09-F1A8AFE0B0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311C7BE-F487-8226-4D83-C19731782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F91B8C-E6B2-9ED9-62B3-AF0099D9A8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16665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9A43B-B2AA-C757-2339-23FF2FE2C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C7C2043-8C99-A0F3-2830-A8AD8E8183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7BAAAA5-52A2-CED6-91FD-680F0141BD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A22108E-8464-887B-95A6-4CB6FF7573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05066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B0E450B-CE2B-C31B-FDFE-065FEE3F0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+mj-lt"/>
              <a:buAutoNum type="arabicPeriod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1">
            <a:extLst>
              <a:ext uri="{FF2B5EF4-FFF2-40B4-BE49-F238E27FC236}">
                <a16:creationId xmlns:a16="http://schemas.microsoft.com/office/drawing/2014/main" id="{01664F20-F7C0-E482-4CCD-A50874056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>
            <a:lvl1pPr>
              <a:defRPr sz="24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759E38C0-9660-9A49-7A90-097EDCC07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/>
          <a:lstStyle>
            <a:lvl2pPr marL="914400" indent="-457200"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0" name="スライド番号プレースホルダー 8">
            <a:extLst>
              <a:ext uri="{FF2B5EF4-FFF2-40B4-BE49-F238E27FC236}">
                <a16:creationId xmlns:a16="http://schemas.microsoft.com/office/drawing/2014/main" id="{22D7A308-0628-F881-8567-86E4E9532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3849878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7" name="スライド番号プレースホルダー 8">
            <a:extLst>
              <a:ext uri="{FF2B5EF4-FFF2-40B4-BE49-F238E27FC236}">
                <a16:creationId xmlns:a16="http://schemas.microsoft.com/office/drawing/2014/main" id="{51D98275-5521-9186-79B1-A367B515D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>
            <a:lvl1pPr>
              <a:defRPr sz="800"/>
            </a:lvl1pPr>
          </a:lstStyle>
          <a:p>
            <a:fld id="{9EBFBC76-F46F-4ADD-8228-9529630895ED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研修の概要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817A806-4370-A024-ED16-596D9EAB5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1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223500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/>
        </p:nvGraphicFramePr>
        <p:xfrm>
          <a:off x="172278" y="1076821"/>
          <a:ext cx="11873541" cy="5075501"/>
        </p:xfrm>
        <a:graphic>
          <a:graphicData uri="http://schemas.openxmlformats.org/drawingml/2006/table">
            <a:tbl>
              <a:tblPr firstRow="1" bandRow="1"/>
              <a:tblGrid>
                <a:gridCol w="3935861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  <a:gridCol w="3968840">
                  <a:extLst>
                    <a:ext uri="{9D8B030D-6E8A-4147-A177-3AD203B41FA5}">
                      <a16:colId xmlns:a16="http://schemas.microsoft.com/office/drawing/2014/main" val="2262346922"/>
                    </a:ext>
                  </a:extLst>
                </a:gridCol>
                <a:gridCol w="3968840">
                  <a:extLst>
                    <a:ext uri="{9D8B030D-6E8A-4147-A177-3AD203B41FA5}">
                      <a16:colId xmlns:a16="http://schemas.microsoft.com/office/drawing/2014/main" val="2951467705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１～２日目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２～３日目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b="1" kern="1200" dirty="0">
                          <a:solidFill>
                            <a:schemeClr val="lt1"/>
                          </a:solidFill>
                          <a:latin typeface="Arial"/>
                          <a:ea typeface="Meiryo UI"/>
                          <a:cs typeface="+mn-cs"/>
                        </a:rPr>
                        <a:t>３日目</a:t>
                      </a:r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solidFill>
                        <a:srgbClr val="FFFFFF"/>
                      </a:solidFill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grpSp>
        <p:nvGrpSpPr>
          <p:cNvPr id="97" name="グループ化 96">
            <a:extLst>
              <a:ext uri="{FF2B5EF4-FFF2-40B4-BE49-F238E27FC236}">
                <a16:creationId xmlns:a16="http://schemas.microsoft.com/office/drawing/2014/main" id="{36F18F2F-F70A-EEAE-070C-74BD6D5F46A0}"/>
              </a:ext>
            </a:extLst>
          </p:cNvPr>
          <p:cNvGrpSpPr/>
          <p:nvPr/>
        </p:nvGrpSpPr>
        <p:grpSpPr>
          <a:xfrm>
            <a:off x="281607" y="1642568"/>
            <a:ext cx="3600000" cy="2621059"/>
            <a:chOff x="946296" y="1364275"/>
            <a:chExt cx="4359349" cy="2794887"/>
          </a:xfrm>
        </p:grpSpPr>
        <p:sp>
          <p:nvSpPr>
            <p:cNvPr id="98" name="正方形/長方形 97">
              <a:extLst>
                <a:ext uri="{FF2B5EF4-FFF2-40B4-BE49-F238E27FC236}">
                  <a16:creationId xmlns:a16="http://schemas.microsoft.com/office/drawing/2014/main" id="{FBBB41F4-58A4-8CF3-144C-76609B9A3DFA}"/>
                </a:ext>
              </a:extLst>
            </p:cNvPr>
            <p:cNvSpPr/>
            <p:nvPr/>
          </p:nvSpPr>
          <p:spPr>
            <a:xfrm>
              <a:off x="946296" y="1957360"/>
              <a:ext cx="4359349" cy="220180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99" name="正方形/長方形 98">
              <a:extLst>
                <a:ext uri="{FF2B5EF4-FFF2-40B4-BE49-F238E27FC236}">
                  <a16:creationId xmlns:a16="http://schemas.microsoft.com/office/drawing/2014/main" id="{753A1C69-FFC7-188D-528E-0D56CABEB2D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バイブコーディング①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バイブコーディングを活用した製造を体験する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02" name="四角形: 角を丸くする 101">
            <a:extLst>
              <a:ext uri="{FF2B5EF4-FFF2-40B4-BE49-F238E27FC236}">
                <a16:creationId xmlns:a16="http://schemas.microsoft.com/office/drawing/2014/main" id="{888FCB7B-A5B0-7DF2-725F-FD3F7E2259AF}"/>
              </a:ext>
            </a:extLst>
          </p:cNvPr>
          <p:cNvSpPr/>
          <p:nvPr/>
        </p:nvSpPr>
        <p:spPr>
          <a:xfrm>
            <a:off x="461607" y="3294457"/>
            <a:ext cx="3240000" cy="36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Git-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演習＆ハンズオン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03" name="四角形: 角を丸くする 102">
            <a:extLst>
              <a:ext uri="{FF2B5EF4-FFF2-40B4-BE49-F238E27FC236}">
                <a16:creationId xmlns:a16="http://schemas.microsoft.com/office/drawing/2014/main" id="{D3128FEF-A1F2-26CA-043B-17D12CE5A032}"/>
              </a:ext>
            </a:extLst>
          </p:cNvPr>
          <p:cNvSpPr/>
          <p:nvPr/>
        </p:nvSpPr>
        <p:spPr>
          <a:xfrm>
            <a:off x="461607" y="2318179"/>
            <a:ext cx="3240000" cy="36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バイブコーディング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" name="矢印: 下 1">
            <a:extLst>
              <a:ext uri="{FF2B5EF4-FFF2-40B4-BE49-F238E27FC236}">
                <a16:creationId xmlns:a16="http://schemas.microsoft.com/office/drawing/2014/main" id="{198DDFF0-913B-1850-4497-45A5E995BAD3}"/>
              </a:ext>
            </a:extLst>
          </p:cNvPr>
          <p:cNvSpPr/>
          <p:nvPr/>
        </p:nvSpPr>
        <p:spPr>
          <a:xfrm rot="16200000">
            <a:off x="3928182" y="2408179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BC1D9825-92B4-D203-8889-4C1D029E6CCB}"/>
              </a:ext>
            </a:extLst>
          </p:cNvPr>
          <p:cNvSpPr/>
          <p:nvPr/>
        </p:nvSpPr>
        <p:spPr>
          <a:xfrm>
            <a:off x="461607" y="2806318"/>
            <a:ext cx="3240000" cy="36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Git-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34FB9F9-9ED0-F2BC-4178-13C295A72808}"/>
              </a:ext>
            </a:extLst>
          </p:cNvPr>
          <p:cNvGrpSpPr/>
          <p:nvPr/>
        </p:nvGrpSpPr>
        <p:grpSpPr>
          <a:xfrm>
            <a:off x="4304982" y="1642568"/>
            <a:ext cx="3600000" cy="1648169"/>
            <a:chOff x="946296" y="1364275"/>
            <a:chExt cx="4359349" cy="1757475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CDCD3BAF-030E-983B-0816-36705F0C2588}"/>
                </a:ext>
              </a:extLst>
            </p:cNvPr>
            <p:cNvSpPr/>
            <p:nvPr/>
          </p:nvSpPr>
          <p:spPr>
            <a:xfrm>
              <a:off x="946296" y="1957361"/>
              <a:ext cx="4359349" cy="1164389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D5DD22F-A1F7-9C97-C5D4-CE0E26A101F9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バイブコーディング②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バイブコーディングを活用した単体テストを体験する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BB248CF0-616E-3E59-E416-446C67A436F6}"/>
              </a:ext>
            </a:extLst>
          </p:cNvPr>
          <p:cNvSpPr/>
          <p:nvPr/>
        </p:nvSpPr>
        <p:spPr>
          <a:xfrm>
            <a:off x="4484982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538ADACC-A1FC-5AEB-D61A-D6637C790DE0}"/>
              </a:ext>
            </a:extLst>
          </p:cNvPr>
          <p:cNvSpPr/>
          <p:nvPr/>
        </p:nvSpPr>
        <p:spPr>
          <a:xfrm>
            <a:off x="4484982" y="2318179"/>
            <a:ext cx="3240000" cy="36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単体テスト</a:t>
            </a:r>
            <a:r>
              <a: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-</a:t>
            </a: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講義＆ハンズオン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6" name="矢印: 下 25">
            <a:extLst>
              <a:ext uri="{FF2B5EF4-FFF2-40B4-BE49-F238E27FC236}">
                <a16:creationId xmlns:a16="http://schemas.microsoft.com/office/drawing/2014/main" id="{8711F9CB-FF92-D6B5-AC2E-F05EA628FFE7}"/>
              </a:ext>
            </a:extLst>
          </p:cNvPr>
          <p:cNvSpPr/>
          <p:nvPr/>
        </p:nvSpPr>
        <p:spPr>
          <a:xfrm>
            <a:off x="1901607" y="4463039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429D5749-5BBC-A6A4-62D2-0320393CB40B}"/>
              </a:ext>
            </a:extLst>
          </p:cNvPr>
          <p:cNvGrpSpPr/>
          <p:nvPr/>
        </p:nvGrpSpPr>
        <p:grpSpPr>
          <a:xfrm>
            <a:off x="281607" y="4912987"/>
            <a:ext cx="3600000" cy="936522"/>
            <a:chOff x="946296" y="5714099"/>
            <a:chExt cx="4359349" cy="936522"/>
          </a:xfrm>
        </p:grpSpPr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00F4D747-F34B-F9D1-C75D-14E8D4B3D917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成果物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29" name="正方形/長方形 28">
              <a:extLst>
                <a:ext uri="{FF2B5EF4-FFF2-40B4-BE49-F238E27FC236}">
                  <a16:creationId xmlns:a16="http://schemas.microsoft.com/office/drawing/2014/main" id="{83F85E4A-F8DC-A3D1-3059-A4285EC6CEA4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en-US" altLang="ja-JP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Web</a:t>
              </a: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アプリケーション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38" name="矢印: 下 37">
            <a:extLst>
              <a:ext uri="{FF2B5EF4-FFF2-40B4-BE49-F238E27FC236}">
                <a16:creationId xmlns:a16="http://schemas.microsoft.com/office/drawing/2014/main" id="{B52DB875-F987-4F99-98EE-DB4588659661}"/>
              </a:ext>
            </a:extLst>
          </p:cNvPr>
          <p:cNvSpPr/>
          <p:nvPr/>
        </p:nvSpPr>
        <p:spPr>
          <a:xfrm>
            <a:off x="5924982" y="3528756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FF062345-67E8-CC6F-F891-945B6D755238}"/>
              </a:ext>
            </a:extLst>
          </p:cNvPr>
          <p:cNvGrpSpPr/>
          <p:nvPr/>
        </p:nvGrpSpPr>
        <p:grpSpPr>
          <a:xfrm>
            <a:off x="4304982" y="3958828"/>
            <a:ext cx="3600000" cy="936522"/>
            <a:chOff x="946296" y="5714099"/>
            <a:chExt cx="4359349" cy="936522"/>
          </a:xfrm>
        </p:grpSpPr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CEFD224E-F1BB-41A8-1BF2-27CB8C739ADD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成果物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5A015C34-55E3-6CE6-76A0-59B8C9C1EAD6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Web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アプリケーション（修正後）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・テスト仕様書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lvl="0"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・テストコード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71B377D2-554A-B59D-5B39-059AF778655B}"/>
              </a:ext>
            </a:extLst>
          </p:cNvPr>
          <p:cNvSpPr/>
          <p:nvPr/>
        </p:nvSpPr>
        <p:spPr>
          <a:xfrm>
            <a:off x="461607" y="3782595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バイブコーディング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51DBEF25-129E-B6F5-A529-739CDDD78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研修の全体像について</a:t>
            </a:r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D0A5E10E-2B1B-7E37-ADAA-30E7F23CAF1A}"/>
              </a:ext>
            </a:extLst>
          </p:cNvPr>
          <p:cNvGrpSpPr/>
          <p:nvPr/>
        </p:nvGrpSpPr>
        <p:grpSpPr>
          <a:xfrm>
            <a:off x="8310393" y="1642568"/>
            <a:ext cx="3600000" cy="2140027"/>
            <a:chOff x="946296" y="1364275"/>
            <a:chExt cx="4359349" cy="2281953"/>
          </a:xfrm>
        </p:grpSpPr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A7914848-08A3-620C-9358-3FE1B817412B}"/>
                </a:ext>
              </a:extLst>
            </p:cNvPr>
            <p:cNvSpPr/>
            <p:nvPr/>
          </p:nvSpPr>
          <p:spPr>
            <a:xfrm>
              <a:off x="946296" y="1957361"/>
              <a:ext cx="4359349" cy="1688867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AA8746D2-1726-FE19-FBB1-CB638ADC58FD}"/>
                </a:ext>
              </a:extLst>
            </p:cNvPr>
            <p:cNvSpPr/>
            <p:nvPr/>
          </p:nvSpPr>
          <p:spPr>
            <a:xfrm>
              <a:off x="946296" y="1364275"/>
              <a:ext cx="4359349" cy="588735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振り返り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algn="ctr"/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アプリケーションを比較し、分析結果を共有</a:t>
              </a:r>
              <a:r>
                <a:rPr kumimoji="0" lang="ja-JP" altLang="en-US" sz="120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する</a:t>
              </a:r>
              <a:endParaRPr kumimoji="0" lang="en-US" altLang="ja-JP" sz="120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CCF2AB2C-69AF-584E-836B-7A8FB75E4012}"/>
              </a:ext>
            </a:extLst>
          </p:cNvPr>
          <p:cNvSpPr/>
          <p:nvPr/>
        </p:nvSpPr>
        <p:spPr>
          <a:xfrm>
            <a:off x="8490393" y="2793784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改善点の整理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D424CA0C-8E12-5E3A-65CE-5B55702DC99B}"/>
              </a:ext>
            </a:extLst>
          </p:cNvPr>
          <p:cNvSpPr/>
          <p:nvPr/>
        </p:nvSpPr>
        <p:spPr>
          <a:xfrm>
            <a:off x="8490393" y="23181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rPr>
              <a:t>アプリケーションの比較・分析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2" name="矢印: 下 21">
            <a:extLst>
              <a:ext uri="{FF2B5EF4-FFF2-40B4-BE49-F238E27FC236}">
                <a16:creationId xmlns:a16="http://schemas.microsoft.com/office/drawing/2014/main" id="{C5B630DE-28DD-3C94-B623-1E29B13C72A3}"/>
              </a:ext>
            </a:extLst>
          </p:cNvPr>
          <p:cNvSpPr/>
          <p:nvPr/>
        </p:nvSpPr>
        <p:spPr>
          <a:xfrm rot="16200000">
            <a:off x="7917161" y="2408178"/>
            <a:ext cx="360000" cy="180000"/>
          </a:xfrm>
          <a:prstGeom prst="downArrow">
            <a:avLst/>
          </a:prstGeom>
          <a:solidFill>
            <a:schemeClr val="tx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A9D2BD9A-D5F2-7589-1842-299F161CEE95}"/>
              </a:ext>
            </a:extLst>
          </p:cNvPr>
          <p:cNvSpPr/>
          <p:nvPr/>
        </p:nvSpPr>
        <p:spPr>
          <a:xfrm>
            <a:off x="8491653" y="3288793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 algn="ctr"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比較・分析結果の共有</a:t>
            </a:r>
            <a:endParaRPr kumimoji="0" lang="en-US" altLang="ja-JP" sz="1200" kern="0" dirty="0">
              <a:solidFill>
                <a:srgbClr val="000000"/>
              </a:solidFill>
              <a:latin typeface="Arial"/>
              <a:ea typeface="Meiryo UI"/>
            </a:endParaRP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C166B6DB-393A-A9BE-DCFC-673AB51E3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lang="ja-JP" altLang="en-US" smtClean="0"/>
              <a:pPr/>
              <a:t>2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54728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90C8F-A814-5143-E51E-E848FD662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A748C259-4E8E-05AF-3CA3-8E90D6D3B0FE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070F26"/>
              </a:solidFill>
              <a:effectLst/>
              <a:uLnTx/>
              <a:uFillTx/>
              <a:latin typeface="Meiryo UI"/>
              <a:ea typeface="Meiryo UI"/>
            </a:endParaRPr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42AD97C9-BA36-19C3-717F-1EDC599C4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AD310E2-8CE8-FEB7-E56A-093A017594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バイブコーディング①の流れ</a:t>
            </a:r>
            <a:endParaRPr lang="en-US" altLang="ja-JP" dirty="0"/>
          </a:p>
          <a:p>
            <a:pPr lvl="1"/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en-US" altLang="ja-JP" dirty="0"/>
              <a:t>Java</a:t>
            </a:r>
            <a:r>
              <a:rPr lang="ja-JP" altLang="en-US" dirty="0"/>
              <a:t>＆</a:t>
            </a:r>
            <a:r>
              <a:rPr lang="en-US" altLang="ja-JP" dirty="0"/>
              <a:t>Spring</a:t>
            </a:r>
            <a:r>
              <a:rPr lang="ja-JP" altLang="en-US" dirty="0"/>
              <a:t>フレームワーク＆</a:t>
            </a:r>
            <a:r>
              <a:rPr lang="en-US" altLang="ja-JP" dirty="0"/>
              <a:t>DB</a:t>
            </a:r>
            <a:r>
              <a:rPr lang="ja-JP" altLang="en-US" dirty="0"/>
              <a:t>を用いた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アプリケーションの作成方法を学習し、</a:t>
            </a:r>
            <a:br>
              <a:rPr lang="en-US" altLang="ja-JP" dirty="0"/>
            </a:br>
            <a:r>
              <a:rPr lang="ja-JP" altLang="en-US" dirty="0"/>
              <a:t>その後の課題作成に必要な操作や開発手順を習得する。</a:t>
            </a:r>
            <a:endParaRPr lang="en-US" altLang="ja-JP" dirty="0"/>
          </a:p>
          <a:p>
            <a:pPr lvl="1"/>
            <a:r>
              <a:rPr lang="en-US" altLang="ja-JP" dirty="0"/>
              <a:t>Git-</a:t>
            </a:r>
            <a:r>
              <a:rPr lang="ja-JP" altLang="en-US" dirty="0"/>
              <a:t>講義</a:t>
            </a:r>
            <a:endParaRPr lang="en-US" altLang="ja-JP" dirty="0"/>
          </a:p>
          <a:p>
            <a:pPr lvl="2"/>
            <a:r>
              <a:rPr lang="en-US" altLang="ja-JP" dirty="0"/>
              <a:t>Git</a:t>
            </a:r>
            <a:r>
              <a:rPr lang="ja-JP" altLang="en-US" dirty="0"/>
              <a:t>の概要と利用方法について学習する</a:t>
            </a:r>
            <a:endParaRPr lang="en-US" altLang="ja-JP" dirty="0"/>
          </a:p>
          <a:p>
            <a:pPr lvl="1"/>
            <a:r>
              <a:rPr lang="en-US" altLang="ja-JP" dirty="0"/>
              <a:t>Git-</a:t>
            </a:r>
            <a:r>
              <a:rPr lang="ja-JP" altLang="en-US" dirty="0"/>
              <a:t>演習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</a:t>
            </a:r>
            <a:r>
              <a:rPr lang="en-US" altLang="ja-JP" dirty="0"/>
              <a:t>VS Code</a:t>
            </a:r>
            <a:r>
              <a:rPr lang="ja-JP" altLang="en-US" dirty="0"/>
              <a:t>を利用した</a:t>
            </a:r>
            <a:br>
              <a:rPr lang="en-US" altLang="ja-JP" dirty="0"/>
            </a:br>
            <a:r>
              <a:rPr lang="en-US" altLang="ja-JP" dirty="0"/>
              <a:t>Git</a:t>
            </a:r>
            <a:r>
              <a:rPr lang="ja-JP" altLang="en-US" dirty="0"/>
              <a:t>の操作方法を学習する。</a:t>
            </a:r>
            <a:endParaRPr lang="en-US" altLang="ja-JP" dirty="0"/>
          </a:p>
          <a:p>
            <a:pPr lvl="1"/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ハンズオンで学習した手順を基に、各自で残りの機能を作成する。</a:t>
            </a:r>
            <a:endParaRPr lang="en-US" altLang="ja-JP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58FEECBF-FBA5-F87A-A077-29AB5B6DA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3C4A913-BAE1-A5E4-B7EE-D883315A47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93" y="635124"/>
            <a:ext cx="3664014" cy="4249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53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89CB3-7696-D382-7EC7-AEABBA05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CCD1628-6540-C81B-7F57-A4349115A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429CA2C-15E4-5804-5337-11FE97647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バイブコーディング②の流れ</a:t>
            </a:r>
            <a:endParaRPr lang="en-US" altLang="ja-JP" dirty="0"/>
          </a:p>
          <a:p>
            <a:pPr lvl="1"/>
            <a:r>
              <a:rPr lang="ja-JP" altLang="en-US" dirty="0"/>
              <a:t>単体テスト</a:t>
            </a:r>
            <a:r>
              <a:rPr lang="en-US" altLang="ja-JP" dirty="0"/>
              <a:t>-</a:t>
            </a:r>
            <a:r>
              <a:rPr lang="ja-JP" altLang="en-US" dirty="0"/>
              <a:t>講義＆ハンズオン</a:t>
            </a:r>
            <a:endParaRPr lang="en-US" altLang="ja-JP" dirty="0"/>
          </a:p>
          <a:p>
            <a:pPr lvl="2"/>
            <a:r>
              <a:rPr lang="ja-JP" altLang="en-US" dirty="0"/>
              <a:t>単体テストについて学習する。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ハンズオン形式で、バイブコーディングを活用した</a:t>
            </a:r>
            <a:br>
              <a:rPr lang="en-US" altLang="ja-JP" dirty="0"/>
            </a:br>
            <a:r>
              <a:rPr lang="ja-JP" altLang="en-US" dirty="0"/>
              <a:t>単体テストの実施方法を学習し、</a:t>
            </a:r>
            <a:br>
              <a:rPr lang="en-US" altLang="ja-JP" dirty="0"/>
            </a:br>
            <a:r>
              <a:rPr lang="ja-JP" altLang="en-US" dirty="0"/>
              <a:t>その後の課題に必要な操作や実施手順を習得する。</a:t>
            </a:r>
            <a:endParaRPr lang="en-US" altLang="ja-JP" dirty="0"/>
          </a:p>
          <a:p>
            <a:pPr lvl="1"/>
            <a:r>
              <a:rPr lang="ja-JP" altLang="en-US" dirty="0"/>
              <a:t>バイブコーディング</a:t>
            </a:r>
            <a:r>
              <a:rPr lang="en-US" altLang="ja-JP" dirty="0"/>
              <a:t>-</a:t>
            </a: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ハンズオンで学習した手順を基に、</a:t>
            </a:r>
            <a:br>
              <a:rPr lang="en-US" altLang="ja-JP" dirty="0"/>
            </a:br>
            <a:r>
              <a:rPr lang="ja-JP" altLang="en-US" dirty="0"/>
              <a:t>各自で残りの単体テストを実施する。</a:t>
            </a:r>
            <a:endParaRPr lang="en-US" altLang="ja-JP" dirty="0"/>
          </a:p>
          <a:p>
            <a:pPr lvl="2"/>
            <a:r>
              <a:rPr lang="ja-JP" altLang="en-US" dirty="0"/>
              <a:t>不具合が発生した場合、</a:t>
            </a:r>
            <a:br>
              <a:rPr lang="en-US" altLang="ja-JP" dirty="0"/>
            </a:br>
            <a:r>
              <a:rPr lang="en-US" altLang="ja-JP" dirty="0"/>
              <a:t>Web</a:t>
            </a:r>
            <a:r>
              <a:rPr lang="ja-JP" altLang="en-US" dirty="0"/>
              <a:t>アプリケーションを修正する。</a:t>
            </a:r>
            <a:endParaRPr lang="en-US" altLang="ja-JP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D76DEE03-ED6A-071F-B38A-2086FEB3D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4</a:t>
            </a:fld>
            <a:endParaRPr lang="ja-JP" altLang="en-US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6755B71-26EF-7626-6DDF-4C4672EDC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193" y="635124"/>
            <a:ext cx="3664014" cy="333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3250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4E6F9-BB03-9858-6DA4-2D8EB9A78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>
            <a:extLst>
              <a:ext uri="{FF2B5EF4-FFF2-40B4-BE49-F238E27FC236}">
                <a16:creationId xmlns:a16="http://schemas.microsoft.com/office/drawing/2014/main" id="{9129C64F-BDE7-3CDF-E6DB-E1532E4ED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951" y="365124"/>
            <a:ext cx="11877869" cy="540000"/>
          </a:xfrm>
        </p:spPr>
        <p:txBody>
          <a:bodyPr>
            <a:normAutofit/>
          </a:bodyPr>
          <a:lstStyle/>
          <a:p>
            <a:r>
              <a:rPr lang="ja-JP" altLang="en-US" dirty="0"/>
              <a:t>振り返りについて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7A5F1C-30DC-5005-CE6C-CF9813BA7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951" y="1073020"/>
            <a:ext cx="11877869" cy="5103943"/>
          </a:xfrm>
        </p:spPr>
        <p:txBody>
          <a:bodyPr>
            <a:normAutofit/>
          </a:bodyPr>
          <a:lstStyle/>
          <a:p>
            <a:r>
              <a:rPr lang="ja-JP" altLang="en-US" dirty="0"/>
              <a:t>振り返りの流れ</a:t>
            </a:r>
            <a:endParaRPr lang="en-US" altLang="ja-JP" dirty="0"/>
          </a:p>
          <a:p>
            <a:pPr lvl="1"/>
            <a:r>
              <a:rPr lang="ja-JP" altLang="en-US" dirty="0"/>
              <a:t>アプリケーションの比較・分析</a:t>
            </a:r>
            <a:endParaRPr lang="en-US" altLang="ja-JP" dirty="0"/>
          </a:p>
          <a:p>
            <a:pPr lvl="2"/>
            <a:r>
              <a:rPr lang="ja-JP" altLang="en-US" dirty="0"/>
              <a:t>自身が作成したアプリケーションと</a:t>
            </a:r>
            <a:br>
              <a:rPr lang="en-US" altLang="ja-JP" dirty="0"/>
            </a:br>
            <a:r>
              <a:rPr lang="ja-JP" altLang="en-US" dirty="0"/>
              <a:t>講師配布のアプリケーションを比較する。</a:t>
            </a:r>
            <a:endParaRPr lang="en-US" altLang="ja-JP" dirty="0"/>
          </a:p>
          <a:p>
            <a:pPr lvl="3"/>
            <a:r>
              <a:rPr lang="ja-JP" altLang="en-US" dirty="0"/>
              <a:t>実装方法</a:t>
            </a:r>
            <a:endParaRPr lang="en-US" altLang="ja-JP" dirty="0"/>
          </a:p>
          <a:p>
            <a:pPr lvl="3"/>
            <a:r>
              <a:rPr lang="ja-JP" altLang="en-US" dirty="0"/>
              <a:t>画面構成</a:t>
            </a:r>
            <a:endParaRPr lang="en-US" altLang="ja-JP" dirty="0"/>
          </a:p>
          <a:p>
            <a:pPr lvl="3"/>
            <a:r>
              <a:rPr lang="ja-JP" altLang="en-US" dirty="0"/>
              <a:t>コードの記述方法など</a:t>
            </a:r>
            <a:endParaRPr lang="en-US" altLang="ja-JP" dirty="0"/>
          </a:p>
          <a:p>
            <a:pPr lvl="1"/>
            <a:r>
              <a:rPr lang="ja-JP" altLang="en-US" dirty="0"/>
              <a:t>改善点の整理</a:t>
            </a:r>
            <a:endParaRPr lang="en-US" altLang="ja-JP" dirty="0"/>
          </a:p>
          <a:p>
            <a:pPr lvl="2"/>
            <a:r>
              <a:rPr lang="ja-JP" altLang="en-US" dirty="0"/>
              <a:t>比較・分析した結果をもとに、自身のアプリケーションの改善点を整理する。</a:t>
            </a:r>
            <a:endParaRPr lang="en-US" altLang="ja-JP" dirty="0"/>
          </a:p>
          <a:p>
            <a:pPr lvl="3"/>
            <a:r>
              <a:rPr lang="ja-JP" altLang="en-US" dirty="0"/>
              <a:t>実装方法</a:t>
            </a:r>
            <a:endParaRPr lang="en-US" altLang="ja-JP" dirty="0"/>
          </a:p>
          <a:p>
            <a:pPr lvl="3"/>
            <a:r>
              <a:rPr lang="ja-JP" altLang="en-US" dirty="0"/>
              <a:t>可読性</a:t>
            </a:r>
            <a:endParaRPr lang="en-US" altLang="ja-JP" dirty="0"/>
          </a:p>
          <a:p>
            <a:pPr lvl="3"/>
            <a:r>
              <a:rPr lang="ja-JP" altLang="en-US" dirty="0"/>
              <a:t>保守性など</a:t>
            </a:r>
            <a:endParaRPr lang="en-US" altLang="ja-JP" dirty="0"/>
          </a:p>
          <a:p>
            <a:pPr lvl="1"/>
            <a:r>
              <a:rPr lang="ja-JP" altLang="en-US" dirty="0"/>
              <a:t>比較・分析結果の共有</a:t>
            </a:r>
            <a:endParaRPr lang="en-US" altLang="ja-JP" dirty="0"/>
          </a:p>
          <a:p>
            <a:pPr lvl="2"/>
            <a:r>
              <a:rPr lang="ja-JP" altLang="en-US" dirty="0"/>
              <a:t>比較・分析した結果や改善点をチーム内で共有する。</a:t>
            </a:r>
            <a:endParaRPr lang="en-US" altLang="ja-JP" dirty="0"/>
          </a:p>
        </p:txBody>
      </p:sp>
      <p:sp>
        <p:nvSpPr>
          <p:cNvPr id="2" name="スライド番号プレースホルダー 1">
            <a:extLst>
              <a:ext uri="{FF2B5EF4-FFF2-40B4-BE49-F238E27FC236}">
                <a16:creationId xmlns:a16="http://schemas.microsoft.com/office/drawing/2014/main" id="{ACE6D655-79AC-CDCF-F5F6-3BD563E0D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21667"/>
            <a:ext cx="2743200" cy="365125"/>
          </a:xfrm>
        </p:spPr>
        <p:txBody>
          <a:bodyPr/>
          <a:lstStyle/>
          <a:p>
            <a:fld id="{9EBFBC76-F46F-4ADD-8228-9529630895ED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31F82C19-9715-86C3-B176-26FD8A961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7627" y="635124"/>
            <a:ext cx="3609145" cy="2182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014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442</TotalTime>
  <Words>398</Words>
  <Application>Microsoft Office PowerPoint</Application>
  <PresentationFormat>ワイド画面</PresentationFormat>
  <Paragraphs>68</Paragraphs>
  <Slides>5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0" baseType="lpstr">
      <vt:lpstr>Meiryo UI</vt:lpstr>
      <vt:lpstr>游ゴシック</vt:lpstr>
      <vt:lpstr>游ゴシック Light</vt:lpstr>
      <vt:lpstr>Arial</vt:lpstr>
      <vt:lpstr>Office テーマ</vt:lpstr>
      <vt:lpstr>研修の概要</vt:lpstr>
      <vt:lpstr>研修の全体像について</vt:lpstr>
      <vt:lpstr>バイブコーディング①について</vt:lpstr>
      <vt:lpstr>バイブコーディング②について</vt:lpstr>
      <vt:lpstr>振り返りについて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47</cp:revision>
  <dcterms:created xsi:type="dcterms:W3CDTF">2026-07-04T03:22:14Z</dcterms:created>
  <dcterms:modified xsi:type="dcterms:W3CDTF">2026-08-07T08:26:48Z</dcterms:modified>
</cp:coreProperties>
</file>