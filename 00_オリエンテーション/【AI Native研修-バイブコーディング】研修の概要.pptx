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2" r:id="rId4"/>
    <p:sldId id="259" r:id="rId5"/>
    <p:sldId id="260" r:id="rId6"/>
    <p:sldId id="263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77" autoAdjust="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AA336-75C3-CD9B-DD81-FDF8321B7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F3BBA8C-384A-3178-FDF8-B082A5EF44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EA09C0A-0869-4E79-1C96-C64810BA6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1E7B48C-5AB3-9943-9970-20FAF701AE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92697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93ED5-9666-7F1B-85EF-FF6C29A43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8210E33-0E73-8BD9-E454-D680F26D2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3500E8A-0C82-2C41-6833-15C38F916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89CBFD0-1599-A012-F568-8DA9A537E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12650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A04BB-79D1-9FEA-C26B-A00B81F53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BEB557E-2F80-BF43-DF09-F1A8AFE0B0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311C7BE-F487-8226-4D83-C197317821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7F91B8C-E6B2-9ED9-62B3-AF0099D9A8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16665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9A43B-B2AA-C757-2339-23FF2FE2C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C7C2043-8C99-A0F3-2830-A8AD8E818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7BAAAA5-52A2-CED6-91FD-680F0141B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A22108E-8464-887B-95A6-4CB6FF757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05066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E4C389-7303-F6E2-A905-B7D704D1F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A5D6D8-D495-753D-963F-D2031F549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B97719-44F6-07B6-2299-44CDBEF7F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1DBD3B-56FD-917A-7F5A-3015D9774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F2DC64E-F29E-D854-BEF0-3070C545D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48F59C-A5D5-E9EE-6BFB-1E812ECDB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3268BB7D-DBD7-1713-CFE8-36DAC54A4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FB81DDD8-40FD-B704-081F-F14E6F0889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C23C55-8327-924C-2B72-D685D3026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1B9B42-5325-6348-7A2E-823A20CCF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0BB805-FA2B-03EC-E53A-E3CA55892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A8F03-F9A4-C9E1-8930-9B9AF0D34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9B11C5-849D-9104-8534-05B157123D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E1E799F-E1CC-CC44-0753-6D7D0C9238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4315350-56EC-072A-EE57-7D7FD671B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9CFC015-F252-9E7E-F23E-9859CCF4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775C56-D7A0-4254-A2E6-4CA99D50A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6901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87F651-F4E6-22A7-969C-361E7EB82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1D87F37-09C8-1C47-DA85-89348412F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1EDEFF-D785-4B71-7114-49A611C895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4CF3450-F545-1FFD-F875-8DE3CCB76B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5E611BD-461C-12F4-A3BC-6154F6BA1E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4F81492-847C-EE97-CE4E-E34C2A9E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08207F7-1FE0-73EF-D402-872A8833C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F6F3EF7-641F-90DB-332E-E52417E39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533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3C488-7001-3614-BBDB-52F57B051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7F87A66-C96C-D4FF-9241-9CE679FE2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3116E27-0034-7717-9FEE-82777DE20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21BDC13-BC57-56EC-7696-822A94E13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5570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C96747D-199C-DB70-796B-D7AD9498D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95DF319-00BA-725F-BC6A-27C0CA6C6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F24241-0D68-5DC6-E45A-B7BBC9246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4275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83C645-DBBF-EBC8-73A4-9590C9AA4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81406B-DD2E-D5D3-AE10-E0AB4E154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11620FD-5FFA-4826-B001-35BBC49CA6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484110-46BB-014D-41FF-BB1422C97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568A18-5ED2-ABB4-0951-B33EF4C5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85EACC3-A6F9-B01D-47D1-98D369617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369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E69773-B60F-F99E-7259-84C025920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492595E-8F9F-0A64-3DEB-8E74E0AC3E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BCF0B5-1DAA-A506-3226-5F5AAE8E2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D2088E-9319-A7DB-F799-C26F55084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7741E9-DB06-1561-7A20-0A626D9DD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71377C-7AF9-AAE2-2C83-B36C5B200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9773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D948F8-A898-A22B-7EF3-84E85241D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B9CE3F-DD4B-FBB0-0358-E359990CFA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A1EFE8-83F8-C673-6466-09628A88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A29062-6AC9-DD4E-C20C-3568B001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FC21EC4-135A-AB14-091E-CA0A0AA38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1069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8A78528-6686-7717-9395-A6791781DC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8779115-C3F1-5580-1C82-172ACF121E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27D618-FA30-2F16-A3BA-1C48127BF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6D16EA-23E0-4DB0-E96D-371B623EE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350307-06A9-2F31-4E2F-74756A586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3637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研修の概要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054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2422498"/>
              </p:ext>
            </p:extLst>
          </p:nvPr>
        </p:nvGraphicFramePr>
        <p:xfrm>
          <a:off x="172278" y="1076821"/>
          <a:ext cx="11873541" cy="5075501"/>
        </p:xfrm>
        <a:graphic>
          <a:graphicData uri="http://schemas.openxmlformats.org/drawingml/2006/table">
            <a:tbl>
              <a:tblPr firstRow="1" bandRow="1"/>
              <a:tblGrid>
                <a:gridCol w="3935861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  <a:gridCol w="3968840">
                  <a:extLst>
                    <a:ext uri="{9D8B030D-6E8A-4147-A177-3AD203B41FA5}">
                      <a16:colId xmlns:a16="http://schemas.microsoft.com/office/drawing/2014/main" val="2262346922"/>
                    </a:ext>
                  </a:extLst>
                </a:gridCol>
                <a:gridCol w="3968840">
                  <a:extLst>
                    <a:ext uri="{9D8B030D-6E8A-4147-A177-3AD203B41FA5}">
                      <a16:colId xmlns:a16="http://schemas.microsoft.com/office/drawing/2014/main" val="2951467705"/>
                    </a:ext>
                  </a:extLst>
                </a:gridCol>
              </a:tblGrid>
              <a:tr h="36902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１～２日目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２～３日目</a:t>
                      </a: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1" kern="1200" dirty="0">
                          <a:solidFill>
                            <a:schemeClr val="lt1"/>
                          </a:solidFill>
                          <a:latin typeface="Arial"/>
                          <a:ea typeface="Meiryo UI"/>
                          <a:cs typeface="+mn-cs"/>
                        </a:rPr>
                        <a:t>３日目</a:t>
                      </a: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4706477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sp>
        <p:nvSpPr>
          <p:cNvPr id="69" name="タイトル 1">
            <a:extLst>
              <a:ext uri="{FF2B5EF4-FFF2-40B4-BE49-F238E27FC236}">
                <a16:creationId xmlns:a16="http://schemas.microsoft.com/office/drawing/2014/main" id="{6CE14998-7D64-A6FD-4F75-ED0C41225FF2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070F26"/>
              </a:solidFill>
              <a:effectLst/>
              <a:uLnTx/>
              <a:uFillTx/>
              <a:latin typeface="Meiryo UI"/>
              <a:ea typeface="Meiryo UI"/>
            </a:endParaRPr>
          </a:p>
        </p:txBody>
      </p:sp>
      <p:grpSp>
        <p:nvGrpSpPr>
          <p:cNvPr id="97" name="グループ化 96">
            <a:extLst>
              <a:ext uri="{FF2B5EF4-FFF2-40B4-BE49-F238E27FC236}">
                <a16:creationId xmlns:a16="http://schemas.microsoft.com/office/drawing/2014/main" id="{36F18F2F-F70A-EEAE-070C-74BD6D5F46A0}"/>
              </a:ext>
            </a:extLst>
          </p:cNvPr>
          <p:cNvGrpSpPr/>
          <p:nvPr/>
        </p:nvGrpSpPr>
        <p:grpSpPr>
          <a:xfrm>
            <a:off x="281607" y="1642568"/>
            <a:ext cx="3600000" cy="2621059"/>
            <a:chOff x="946296" y="1364275"/>
            <a:chExt cx="4359349" cy="2794887"/>
          </a:xfrm>
        </p:grpSpPr>
        <p:sp>
          <p:nvSpPr>
            <p:cNvPr id="98" name="正方形/長方形 97">
              <a:extLst>
                <a:ext uri="{FF2B5EF4-FFF2-40B4-BE49-F238E27FC236}">
                  <a16:creationId xmlns:a16="http://schemas.microsoft.com/office/drawing/2014/main" id="{FBBB41F4-58A4-8CF3-144C-76609B9A3DFA}"/>
                </a:ext>
              </a:extLst>
            </p:cNvPr>
            <p:cNvSpPr/>
            <p:nvPr/>
          </p:nvSpPr>
          <p:spPr>
            <a:xfrm>
              <a:off x="946296" y="1957360"/>
              <a:ext cx="4359349" cy="220180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753A1C69-FFC7-188D-528E-0D56CABEB2D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バイブコーディング①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algn="ctr"/>
              <a:r>
                <a:rPr kumimoji="0" lang="ja-JP" altLang="en-US" sz="12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バイブコーディングを活用した製造を体験する</a:t>
              </a:r>
              <a:endParaRPr kumimoji="0" lang="en-US" altLang="ja-JP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102" name="四角形: 角を丸くする 101">
            <a:extLst>
              <a:ext uri="{FF2B5EF4-FFF2-40B4-BE49-F238E27FC236}">
                <a16:creationId xmlns:a16="http://schemas.microsoft.com/office/drawing/2014/main" id="{888FCB7B-A5B0-7DF2-725F-FD3F7E2259AF}"/>
              </a:ext>
            </a:extLst>
          </p:cNvPr>
          <p:cNvSpPr/>
          <p:nvPr/>
        </p:nvSpPr>
        <p:spPr>
          <a:xfrm>
            <a:off x="461607" y="329445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Git-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演習＆ハンズオン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03" name="四角形: 角を丸くする 102">
            <a:extLst>
              <a:ext uri="{FF2B5EF4-FFF2-40B4-BE49-F238E27FC236}">
                <a16:creationId xmlns:a16="http://schemas.microsoft.com/office/drawing/2014/main" id="{D3128FEF-A1F2-26CA-043B-17D12CE5A032}"/>
              </a:ext>
            </a:extLst>
          </p:cNvPr>
          <p:cNvSpPr/>
          <p:nvPr/>
        </p:nvSpPr>
        <p:spPr>
          <a:xfrm>
            <a:off x="461607" y="23181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バイブコーディング</a:t>
            </a: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＆ハンズオン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" name="矢印: 下 1">
            <a:extLst>
              <a:ext uri="{FF2B5EF4-FFF2-40B4-BE49-F238E27FC236}">
                <a16:creationId xmlns:a16="http://schemas.microsoft.com/office/drawing/2014/main" id="{198DDFF0-913B-1850-4497-45A5E995BAD3}"/>
              </a:ext>
            </a:extLst>
          </p:cNvPr>
          <p:cNvSpPr/>
          <p:nvPr/>
        </p:nvSpPr>
        <p:spPr>
          <a:xfrm rot="16200000">
            <a:off x="3928182" y="2408179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BC1D9825-92B4-D203-8889-4C1D029E6CCB}"/>
              </a:ext>
            </a:extLst>
          </p:cNvPr>
          <p:cNvSpPr/>
          <p:nvPr/>
        </p:nvSpPr>
        <p:spPr>
          <a:xfrm>
            <a:off x="461607" y="280631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Git-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534FB9F9-9ED0-F2BC-4178-13C295A72808}"/>
              </a:ext>
            </a:extLst>
          </p:cNvPr>
          <p:cNvGrpSpPr/>
          <p:nvPr/>
        </p:nvGrpSpPr>
        <p:grpSpPr>
          <a:xfrm>
            <a:off x="4304982" y="1642568"/>
            <a:ext cx="3600000" cy="1648169"/>
            <a:chOff x="946296" y="1364275"/>
            <a:chExt cx="4359349" cy="1757475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CDCD3BAF-030E-983B-0816-36705F0C2588}"/>
                </a:ext>
              </a:extLst>
            </p:cNvPr>
            <p:cNvSpPr/>
            <p:nvPr/>
          </p:nvSpPr>
          <p:spPr>
            <a:xfrm>
              <a:off x="946296" y="1957361"/>
              <a:ext cx="4359349" cy="1164389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3D5DD22F-A1F7-9C97-C5D4-CE0E26A101F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バイブコーディング②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algn="ctr"/>
              <a:r>
                <a:rPr kumimoji="0" lang="ja-JP" altLang="en-US" sz="12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バイブコーディングを活用した単体テストを体験する</a:t>
              </a:r>
              <a:endParaRPr kumimoji="0" lang="en-US" altLang="ja-JP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B248CF0-616E-3E59-E416-446C67A436F6}"/>
              </a:ext>
            </a:extLst>
          </p:cNvPr>
          <p:cNvSpPr/>
          <p:nvPr/>
        </p:nvSpPr>
        <p:spPr>
          <a:xfrm>
            <a:off x="4484982" y="2793784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バイブコーディング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538ADACC-A1FC-5AEB-D61A-D6637C790DE0}"/>
              </a:ext>
            </a:extLst>
          </p:cNvPr>
          <p:cNvSpPr/>
          <p:nvPr/>
        </p:nvSpPr>
        <p:spPr>
          <a:xfrm>
            <a:off x="4484982" y="23181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単体テスト</a:t>
            </a: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講義＆ハンズオン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6" name="矢印: 下 25">
            <a:extLst>
              <a:ext uri="{FF2B5EF4-FFF2-40B4-BE49-F238E27FC236}">
                <a16:creationId xmlns:a16="http://schemas.microsoft.com/office/drawing/2014/main" id="{8711F9CB-FF92-D6B5-AC2E-F05EA628FFE7}"/>
              </a:ext>
            </a:extLst>
          </p:cNvPr>
          <p:cNvSpPr/>
          <p:nvPr/>
        </p:nvSpPr>
        <p:spPr>
          <a:xfrm>
            <a:off x="1901607" y="4463039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429D5749-5BBC-A6A4-62D2-0320393CB40B}"/>
              </a:ext>
            </a:extLst>
          </p:cNvPr>
          <p:cNvGrpSpPr/>
          <p:nvPr/>
        </p:nvGrpSpPr>
        <p:grpSpPr>
          <a:xfrm>
            <a:off x="281607" y="4912987"/>
            <a:ext cx="3600000" cy="936522"/>
            <a:chOff x="946296" y="5714099"/>
            <a:chExt cx="4359349" cy="936522"/>
          </a:xfrm>
        </p:grpSpPr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00F4D747-F34B-F9D1-C75D-14E8D4B3D917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成果物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83F85E4A-F8DC-A3D1-3059-A4285EC6CEA4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</a:t>
              </a:r>
              <a:r>
                <a:rPr kumimoji="0" lang="en-US" altLang="ja-JP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Web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アプリケーション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38" name="矢印: 下 37">
            <a:extLst>
              <a:ext uri="{FF2B5EF4-FFF2-40B4-BE49-F238E27FC236}">
                <a16:creationId xmlns:a16="http://schemas.microsoft.com/office/drawing/2014/main" id="{B52DB875-F987-4F99-98EE-DB4588659661}"/>
              </a:ext>
            </a:extLst>
          </p:cNvPr>
          <p:cNvSpPr/>
          <p:nvPr/>
        </p:nvSpPr>
        <p:spPr>
          <a:xfrm>
            <a:off x="5924982" y="3528756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FF062345-67E8-CC6F-F891-945B6D755238}"/>
              </a:ext>
            </a:extLst>
          </p:cNvPr>
          <p:cNvGrpSpPr/>
          <p:nvPr/>
        </p:nvGrpSpPr>
        <p:grpSpPr>
          <a:xfrm>
            <a:off x="4304982" y="3958828"/>
            <a:ext cx="3600000" cy="936522"/>
            <a:chOff x="946296" y="5714099"/>
            <a:chExt cx="4359349" cy="936522"/>
          </a:xfrm>
        </p:grpSpPr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CEFD224E-F1BB-41A8-1BF2-27CB8C739ADD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成果物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5A015C34-55E3-6CE6-76A0-59B8C9C1EAD6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</a:t>
              </a:r>
              <a:r>
                <a:rPr kumimoji="0" lang="en-US" altLang="ja-JP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Web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アプリケーション（修正後）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・テスト仕様書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・テストコード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</p:txBody>
        </p:sp>
      </p:grp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71B377D2-554A-B59D-5B39-059AF778655B}"/>
              </a:ext>
            </a:extLst>
          </p:cNvPr>
          <p:cNvSpPr/>
          <p:nvPr/>
        </p:nvSpPr>
        <p:spPr>
          <a:xfrm>
            <a:off x="461607" y="3782595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バイブコーディング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51DBEF25-129E-B6F5-A529-739CDDD78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研修の全体像について</a:t>
            </a:r>
          </a:p>
        </p:txBody>
      </p: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D0A5E10E-2B1B-7E37-ADAA-30E7F23CAF1A}"/>
              </a:ext>
            </a:extLst>
          </p:cNvPr>
          <p:cNvGrpSpPr/>
          <p:nvPr/>
        </p:nvGrpSpPr>
        <p:grpSpPr>
          <a:xfrm>
            <a:off x="8310393" y="1642568"/>
            <a:ext cx="3600000" cy="2140027"/>
            <a:chOff x="946296" y="1364275"/>
            <a:chExt cx="4359349" cy="2281953"/>
          </a:xfrm>
        </p:grpSpPr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A7914848-08A3-620C-9358-3FE1B817412B}"/>
                </a:ext>
              </a:extLst>
            </p:cNvPr>
            <p:cNvSpPr/>
            <p:nvPr/>
          </p:nvSpPr>
          <p:spPr>
            <a:xfrm>
              <a:off x="946296" y="1957361"/>
              <a:ext cx="4359349" cy="1688867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AA8746D2-1726-FE19-FBB1-CB638ADC58FD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振り返り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algn="ctr"/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アプリケーションを比較し、分析結果を共有</a:t>
              </a:r>
              <a:r>
                <a:rPr kumimoji="0" lang="ja-JP" altLang="en-US" sz="12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  <a:endParaRPr kumimoji="0" lang="en-US" altLang="ja-JP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CCF2AB2C-69AF-584E-836B-7A8FB75E4012}"/>
              </a:ext>
            </a:extLst>
          </p:cNvPr>
          <p:cNvSpPr/>
          <p:nvPr/>
        </p:nvSpPr>
        <p:spPr>
          <a:xfrm>
            <a:off x="8490393" y="2793784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改善点の整理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D424CA0C-8E12-5E3A-65CE-5B55702DC99B}"/>
              </a:ext>
            </a:extLst>
          </p:cNvPr>
          <p:cNvSpPr/>
          <p:nvPr/>
        </p:nvSpPr>
        <p:spPr>
          <a:xfrm>
            <a:off x="8490393" y="23181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アプリケーションの比較・分析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2" name="矢印: 下 21">
            <a:extLst>
              <a:ext uri="{FF2B5EF4-FFF2-40B4-BE49-F238E27FC236}">
                <a16:creationId xmlns:a16="http://schemas.microsoft.com/office/drawing/2014/main" id="{C5B630DE-28DD-3C94-B623-1E29B13C72A3}"/>
              </a:ext>
            </a:extLst>
          </p:cNvPr>
          <p:cNvSpPr/>
          <p:nvPr/>
        </p:nvSpPr>
        <p:spPr>
          <a:xfrm rot="16200000">
            <a:off x="7917161" y="2408178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A9D2BD9A-D5F2-7589-1842-299F161CEE95}"/>
              </a:ext>
            </a:extLst>
          </p:cNvPr>
          <p:cNvSpPr/>
          <p:nvPr/>
        </p:nvSpPr>
        <p:spPr>
          <a:xfrm>
            <a:off x="8491653" y="3288793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比較・分析結果の共有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</p:spTree>
    <p:extLst>
      <p:ext uri="{BB962C8B-B14F-4D97-AF65-F5344CB8AC3E}">
        <p14:creationId xmlns:p14="http://schemas.microsoft.com/office/powerpoint/2010/main" val="10127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37E58-8B60-786B-44B9-0C5D84871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8" descr="ウェブブラウザーのアイコン | フリーのアイコンイラスト素材 icon-pit">
            <a:extLst>
              <a:ext uri="{FF2B5EF4-FFF2-40B4-BE49-F238E27FC236}">
                <a16:creationId xmlns:a16="http://schemas.microsoft.com/office/drawing/2014/main" id="{FE5E833F-75B4-D73C-6039-DACC4C583E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9196" y="4611453"/>
            <a:ext cx="1531777" cy="1531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ウェブブラウザーのアイコン | フリーのアイコンイラスト素材 icon-pit">
            <a:extLst>
              <a:ext uri="{FF2B5EF4-FFF2-40B4-BE49-F238E27FC236}">
                <a16:creationId xmlns:a16="http://schemas.microsoft.com/office/drawing/2014/main" id="{E6A23D2A-D3FB-5249-04D3-BB137F42E6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434" y="5564312"/>
            <a:ext cx="991427" cy="991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タイトル 12">
            <a:extLst>
              <a:ext uri="{FF2B5EF4-FFF2-40B4-BE49-F238E27FC236}">
                <a16:creationId xmlns:a16="http://schemas.microsoft.com/office/drawing/2014/main" id="{0289634B-65D7-3B24-C52F-C76CB8E19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演習について</a:t>
            </a:r>
          </a:p>
        </p:txBody>
      </p:sp>
      <p:sp>
        <p:nvSpPr>
          <p:cNvPr id="14" name="コンテンツ プレースホルダー 13">
            <a:extLst>
              <a:ext uri="{FF2B5EF4-FFF2-40B4-BE49-F238E27FC236}">
                <a16:creationId xmlns:a16="http://schemas.microsoft.com/office/drawing/2014/main" id="{A6119A6B-0C81-0313-4CFC-EDD3139BA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課題①</a:t>
            </a:r>
            <a:endParaRPr lang="en-US" altLang="ja-JP" dirty="0"/>
          </a:p>
          <a:p>
            <a:pPr lvl="1"/>
            <a:r>
              <a:rPr lang="en-US" altLang="ja-JP" dirty="0"/>
              <a:t>Java</a:t>
            </a:r>
            <a:r>
              <a:rPr lang="ja-JP" altLang="en-US" dirty="0"/>
              <a:t>、</a:t>
            </a:r>
            <a:r>
              <a:rPr lang="en-US" altLang="ja-JP" dirty="0"/>
              <a:t>Spring</a:t>
            </a:r>
            <a:r>
              <a:rPr lang="ja-JP" altLang="en-US" dirty="0"/>
              <a:t>、</a:t>
            </a:r>
            <a:r>
              <a:rPr lang="en-US" altLang="ja-JP" dirty="0"/>
              <a:t>DB</a:t>
            </a:r>
            <a:r>
              <a:rPr lang="ja-JP" altLang="en-US" dirty="0"/>
              <a:t>を用いて、</a:t>
            </a:r>
            <a:r>
              <a:rPr lang="en-US" altLang="ja-JP" dirty="0"/>
              <a:t>Web</a:t>
            </a:r>
            <a:r>
              <a:rPr lang="ja-JP" altLang="en-US" dirty="0"/>
              <a:t>アプリケーションを作成する。</a:t>
            </a:r>
            <a:endParaRPr lang="en-US" altLang="ja-JP" dirty="0"/>
          </a:p>
          <a:p>
            <a:r>
              <a:rPr lang="ja-JP" altLang="en-US" dirty="0"/>
              <a:t>課題②</a:t>
            </a:r>
            <a:endParaRPr lang="en-US" altLang="ja-JP" dirty="0"/>
          </a:p>
          <a:p>
            <a:pPr lvl="1"/>
            <a:r>
              <a:rPr lang="ja-JP" altLang="en-US" dirty="0"/>
              <a:t>課題①で作成した</a:t>
            </a:r>
            <a:r>
              <a:rPr lang="en-US" altLang="ja-JP" dirty="0"/>
              <a:t>Web</a:t>
            </a:r>
            <a:r>
              <a:rPr lang="ja-JP" altLang="en-US" dirty="0"/>
              <a:t>アプリケーションを対象に、テスト仕様書を作成し、その内容に基づいて単体テストを実施する。</a:t>
            </a:r>
            <a:endParaRPr lang="en-US" altLang="ja-JP" dirty="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4B6AE76-DE29-4093-B356-B2FA8EBAB3EA}"/>
              </a:ext>
            </a:extLst>
          </p:cNvPr>
          <p:cNvSpPr/>
          <p:nvPr/>
        </p:nvSpPr>
        <p:spPr>
          <a:xfrm>
            <a:off x="654644" y="4114799"/>
            <a:ext cx="5364373" cy="2525086"/>
          </a:xfrm>
          <a:prstGeom prst="rect">
            <a:avLst/>
          </a:prstGeom>
          <a:noFill/>
          <a:ln w="381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ja-JP" altLang="en-US" b="1" dirty="0">
                <a:solidFill>
                  <a:schemeClr val="tx1"/>
                </a:solidFill>
              </a:rPr>
              <a:t>課題①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7AB07655-88F8-4026-B433-91F9105203F0}"/>
              </a:ext>
            </a:extLst>
          </p:cNvPr>
          <p:cNvSpPr/>
          <p:nvPr/>
        </p:nvSpPr>
        <p:spPr>
          <a:xfrm>
            <a:off x="6781410" y="4114799"/>
            <a:ext cx="4795702" cy="2525086"/>
          </a:xfrm>
          <a:prstGeom prst="rect">
            <a:avLst/>
          </a:prstGeom>
          <a:noFill/>
          <a:ln w="381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ja-JP" altLang="en-US" b="1" dirty="0">
                <a:solidFill>
                  <a:schemeClr val="tx1"/>
                </a:solidFill>
              </a:rPr>
              <a:t>課題</a:t>
            </a:r>
            <a:r>
              <a:rPr lang="ja-JP" altLang="en-US" b="1" dirty="0">
                <a:solidFill>
                  <a:schemeClr val="tx1"/>
                </a:solidFill>
              </a:rPr>
              <a:t>②</a:t>
            </a:r>
            <a:endParaRPr kumimoji="1" lang="ja-JP" altLang="en-US" b="1" dirty="0">
              <a:solidFill>
                <a:schemeClr val="tx1"/>
              </a:solidFill>
            </a:endParaRPr>
          </a:p>
        </p:txBody>
      </p:sp>
      <p:pic>
        <p:nvPicPr>
          <p:cNvPr id="20" name="グラフィックス 18" descr="拡大鏡 単色塗りつぶし">
            <a:extLst>
              <a:ext uri="{FF2B5EF4-FFF2-40B4-BE49-F238E27FC236}">
                <a16:creationId xmlns:a16="http://schemas.microsoft.com/office/drawing/2014/main" id="{382C8686-E55F-1B52-FD04-5E0EFF6CE1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20279" y="4256234"/>
            <a:ext cx="914400" cy="914400"/>
          </a:xfrm>
          <a:prstGeom prst="rect">
            <a:avLst/>
          </a:prstGeom>
        </p:spPr>
      </p:pic>
      <p:sp>
        <p:nvSpPr>
          <p:cNvPr id="22" name="フローチャート: 結合子 21">
            <a:extLst>
              <a:ext uri="{FF2B5EF4-FFF2-40B4-BE49-F238E27FC236}">
                <a16:creationId xmlns:a16="http://schemas.microsoft.com/office/drawing/2014/main" id="{39945E82-EB28-A483-6CB0-0D38E9357B7C}"/>
              </a:ext>
            </a:extLst>
          </p:cNvPr>
          <p:cNvSpPr/>
          <p:nvPr/>
        </p:nvSpPr>
        <p:spPr>
          <a:xfrm>
            <a:off x="8595085" y="4477342"/>
            <a:ext cx="1800000" cy="1800000"/>
          </a:xfrm>
          <a:prstGeom prst="flowChartConnector">
            <a:avLst/>
          </a:prstGeom>
          <a:noFill/>
          <a:ln w="19050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 sz="1400" err="1">
              <a:solidFill>
                <a:schemeClr val="tx1"/>
              </a:solidFill>
            </a:endParaRPr>
          </a:p>
        </p:txBody>
      </p:sp>
      <p:pic>
        <p:nvPicPr>
          <p:cNvPr id="23" name="グラフィックス 23" descr="クリップボード: 混合 単色塗りつぶし">
            <a:extLst>
              <a:ext uri="{FF2B5EF4-FFF2-40B4-BE49-F238E27FC236}">
                <a16:creationId xmlns:a16="http://schemas.microsoft.com/office/drawing/2014/main" id="{D8657E05-43F4-54E6-20EB-989CC3C24F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7756" y="4690233"/>
            <a:ext cx="1374218" cy="1374218"/>
          </a:xfrm>
          <a:prstGeom prst="rect">
            <a:avLst/>
          </a:prstGeom>
        </p:spPr>
      </p:pic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5DC46E5B-CFA9-A41B-91A1-F732C30D3B31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9495085" y="4427151"/>
            <a:ext cx="1191197" cy="50191"/>
          </a:xfrm>
          <a:prstGeom prst="line">
            <a:avLst/>
          </a:prstGeom>
          <a:ln w="19050">
            <a:solidFill>
              <a:schemeClr val="accent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E49AA7CD-8C90-471C-6F68-5D0CF44C7743}"/>
              </a:ext>
            </a:extLst>
          </p:cNvPr>
          <p:cNvCxnSpPr>
            <a:cxnSpLocks/>
          </p:cNvCxnSpPr>
          <p:nvPr/>
        </p:nvCxnSpPr>
        <p:spPr>
          <a:xfrm flipV="1">
            <a:off x="10229082" y="4956450"/>
            <a:ext cx="715913" cy="965038"/>
          </a:xfrm>
          <a:prstGeom prst="line">
            <a:avLst/>
          </a:prstGeom>
          <a:ln w="19050">
            <a:solidFill>
              <a:schemeClr val="accent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矢印: 下 33">
            <a:extLst>
              <a:ext uri="{FF2B5EF4-FFF2-40B4-BE49-F238E27FC236}">
                <a16:creationId xmlns:a16="http://schemas.microsoft.com/office/drawing/2014/main" id="{83C7652C-8730-6792-1408-7B30375B9687}"/>
              </a:ext>
            </a:extLst>
          </p:cNvPr>
          <p:cNvSpPr/>
          <p:nvPr/>
        </p:nvSpPr>
        <p:spPr>
          <a:xfrm rot="16200000">
            <a:off x="6220213" y="5287343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pic>
        <p:nvPicPr>
          <p:cNvPr id="50" name="図 49">
            <a:extLst>
              <a:ext uri="{FF2B5EF4-FFF2-40B4-BE49-F238E27FC236}">
                <a16:creationId xmlns:a16="http://schemas.microsoft.com/office/drawing/2014/main" id="{23121F06-DDC4-9336-E9FB-C7AAAE9B452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7233" y="4529486"/>
            <a:ext cx="523364" cy="523364"/>
          </a:xfrm>
          <a:prstGeom prst="rect">
            <a:avLst/>
          </a:prstGeom>
        </p:spPr>
      </p:pic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95D4BC6D-C730-9ECD-0C06-666951057564}"/>
              </a:ext>
            </a:extLst>
          </p:cNvPr>
          <p:cNvSpPr txBox="1"/>
          <p:nvPr/>
        </p:nvSpPr>
        <p:spPr>
          <a:xfrm>
            <a:off x="4430289" y="5109519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H2</a:t>
            </a:r>
            <a:endParaRPr kumimoji="1" lang="ja-JP" altLang="en-US" b="1" dirty="0"/>
          </a:p>
        </p:txBody>
      </p:sp>
      <p:pic>
        <p:nvPicPr>
          <p:cNvPr id="1028" name="Picture 4" descr="Spring プロジェクト一覧 - リファレンスドキュメント">
            <a:extLst>
              <a:ext uri="{FF2B5EF4-FFF2-40B4-BE49-F238E27FC236}">
                <a16:creationId xmlns:a16="http://schemas.microsoft.com/office/drawing/2014/main" id="{7347444A-97CA-BE25-FCC7-E175DC3ECF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4476" y="4554816"/>
            <a:ext cx="562384" cy="49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ava アイコン、ロゴ、シンボル – 無料ダウンロード PNG、SVG">
            <a:extLst>
              <a:ext uri="{FF2B5EF4-FFF2-40B4-BE49-F238E27FC236}">
                <a16:creationId xmlns:a16="http://schemas.microsoft.com/office/drawing/2014/main" id="{1F1A5D85-4453-9F62-8DFF-6EFF2049D2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8753" y="4485168"/>
            <a:ext cx="612000" cy="61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6C03C138-170D-1597-7660-E30141051223}"/>
              </a:ext>
            </a:extLst>
          </p:cNvPr>
          <p:cNvSpPr txBox="1"/>
          <p:nvPr/>
        </p:nvSpPr>
        <p:spPr>
          <a:xfrm>
            <a:off x="2167161" y="5109519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Java</a:t>
            </a:r>
            <a:endParaRPr kumimoji="1" lang="ja-JP" altLang="en-US" b="1" dirty="0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2F5F44CC-DAE5-07AC-6607-F3CA9BAFB7CE}"/>
              </a:ext>
            </a:extLst>
          </p:cNvPr>
          <p:cNvSpPr txBox="1"/>
          <p:nvPr/>
        </p:nvSpPr>
        <p:spPr>
          <a:xfrm>
            <a:off x="3170255" y="5076118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Spring</a:t>
            </a:r>
            <a:endParaRPr kumimoji="1" lang="ja-JP" altLang="en-US" b="1" dirty="0"/>
          </a:p>
        </p:txBody>
      </p:sp>
      <p:sp>
        <p:nvSpPr>
          <p:cNvPr id="57" name="吹き出し: 四角形 56">
            <a:extLst>
              <a:ext uri="{FF2B5EF4-FFF2-40B4-BE49-F238E27FC236}">
                <a16:creationId xmlns:a16="http://schemas.microsoft.com/office/drawing/2014/main" id="{828805BD-8C23-AA91-2832-4223D636C516}"/>
              </a:ext>
            </a:extLst>
          </p:cNvPr>
          <p:cNvSpPr/>
          <p:nvPr/>
        </p:nvSpPr>
        <p:spPr>
          <a:xfrm>
            <a:off x="1831903" y="4374415"/>
            <a:ext cx="3508513" cy="1104436"/>
          </a:xfrm>
          <a:prstGeom prst="wedgeRectCallout">
            <a:avLst>
              <a:gd name="adj1" fmla="val -43534"/>
              <a:gd name="adj2" fmla="val 79599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3863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90C8F-A814-5143-E51E-E848FD662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タイトル 1">
            <a:extLst>
              <a:ext uri="{FF2B5EF4-FFF2-40B4-BE49-F238E27FC236}">
                <a16:creationId xmlns:a16="http://schemas.microsoft.com/office/drawing/2014/main" id="{A748C259-4E8E-05AF-3CA3-8E90D6D3B0FE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070F26"/>
              </a:solidFill>
              <a:effectLst/>
              <a:uLnTx/>
              <a:uFillTx/>
              <a:latin typeface="Meiryo UI"/>
              <a:ea typeface="Meiryo UI"/>
            </a:endParaRP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42AD97C9-BA36-19C3-717F-1EDC599C4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バイブコーディング①について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D310E2-8CE8-FEB7-E56A-093A01759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バイブコーディング①の流れ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講義＆ハンズオン</a:t>
            </a:r>
            <a:endParaRPr lang="en-US" altLang="ja-JP" dirty="0"/>
          </a:p>
          <a:p>
            <a:pPr lvl="2"/>
            <a:r>
              <a:rPr lang="en-US" altLang="ja-JP" dirty="0"/>
              <a:t>Java</a:t>
            </a:r>
            <a:r>
              <a:rPr lang="ja-JP" altLang="en-US" dirty="0"/>
              <a:t>＆</a:t>
            </a:r>
            <a:r>
              <a:rPr lang="en-US" altLang="ja-JP" dirty="0"/>
              <a:t>Spring</a:t>
            </a:r>
            <a:r>
              <a:rPr lang="ja-JP" altLang="en-US" dirty="0"/>
              <a:t>フレームワーク＆</a:t>
            </a:r>
            <a:r>
              <a:rPr lang="en-US" altLang="ja-JP" dirty="0"/>
              <a:t>DB</a:t>
            </a:r>
            <a:r>
              <a:rPr lang="ja-JP" altLang="en-US" dirty="0"/>
              <a:t>を用いた</a:t>
            </a:r>
            <a:br>
              <a:rPr lang="en-US" altLang="ja-JP" dirty="0"/>
            </a:br>
            <a:r>
              <a:rPr lang="en-US" altLang="ja-JP" dirty="0"/>
              <a:t>Web</a:t>
            </a:r>
            <a:r>
              <a:rPr lang="ja-JP" altLang="en-US" dirty="0"/>
              <a:t>アプリケーションについて学習する。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ハンズオン形式で、バイブコーディングを活用した</a:t>
            </a:r>
            <a:br>
              <a:rPr lang="en-US" altLang="ja-JP" dirty="0"/>
            </a:br>
            <a:r>
              <a:rPr lang="en-US" altLang="ja-JP" dirty="0"/>
              <a:t>Web</a:t>
            </a:r>
            <a:r>
              <a:rPr lang="ja-JP" altLang="en-US" dirty="0"/>
              <a:t>アプリケーションの作成方法を学習し、</a:t>
            </a:r>
            <a:br>
              <a:rPr lang="en-US" altLang="ja-JP" dirty="0"/>
            </a:br>
            <a:r>
              <a:rPr lang="ja-JP" altLang="en-US" dirty="0"/>
              <a:t>その後の課題作成に必要な操作や開発手順を習得する。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en-US" altLang="ja-JP" dirty="0"/>
              <a:t>Git-</a:t>
            </a:r>
            <a:r>
              <a:rPr lang="ja-JP" altLang="en-US" dirty="0"/>
              <a:t>講義</a:t>
            </a:r>
            <a:endParaRPr lang="en-US" altLang="ja-JP" dirty="0"/>
          </a:p>
          <a:p>
            <a:pPr lvl="2"/>
            <a:r>
              <a:rPr lang="en-US" altLang="ja-JP" dirty="0"/>
              <a:t>Git</a:t>
            </a:r>
            <a:r>
              <a:rPr lang="ja-JP" altLang="en-US" dirty="0"/>
              <a:t>の概要と利用方法について学習する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en-US" altLang="ja-JP" dirty="0"/>
              <a:t>Git-</a:t>
            </a:r>
            <a:r>
              <a:rPr lang="ja-JP" altLang="en-US" dirty="0"/>
              <a:t>演習</a:t>
            </a:r>
            <a:r>
              <a:rPr lang="en-US" altLang="ja-JP" dirty="0"/>
              <a:t>&amp;</a:t>
            </a:r>
            <a:r>
              <a:rPr lang="ja-JP" altLang="en-US" dirty="0"/>
              <a:t>ハンズオン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</a:t>
            </a:r>
            <a:r>
              <a:rPr lang="en-US" altLang="ja-JP" dirty="0"/>
              <a:t>VS Code</a:t>
            </a:r>
            <a:r>
              <a:rPr lang="ja-JP" altLang="en-US" dirty="0"/>
              <a:t>を利用した</a:t>
            </a:r>
            <a:br>
              <a:rPr lang="en-US" altLang="ja-JP" dirty="0"/>
            </a:br>
            <a:r>
              <a:rPr lang="en-US" altLang="ja-JP" dirty="0"/>
              <a:t>Git</a:t>
            </a:r>
            <a:r>
              <a:rPr lang="ja-JP" altLang="en-US" dirty="0"/>
              <a:t>の操作方法を学習する。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演習</a:t>
            </a:r>
            <a:endParaRPr lang="en-US" altLang="ja-JP" dirty="0"/>
          </a:p>
          <a:p>
            <a:pPr lvl="2"/>
            <a:r>
              <a:rPr lang="ja-JP" altLang="en-US" dirty="0"/>
              <a:t>ハンズオンで学習した手順を基に、各自で残りの機能を作成する。</a:t>
            </a:r>
            <a:endParaRPr lang="en-US" altLang="ja-JP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EE1383F-6BB1-6426-18A2-5BBA545C89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0035" y="1073020"/>
            <a:ext cx="3664014" cy="4249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378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89CB3-7696-D382-7EC7-AEABBA05A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9CCD1628-6540-C81B-7F57-A4349115A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バイブコーディング②について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429CA2C-15E4-5804-5337-11FE97647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バイブコーディング②の流れ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単体テスト</a:t>
            </a:r>
            <a:r>
              <a:rPr lang="en-US" altLang="ja-JP" dirty="0"/>
              <a:t>-</a:t>
            </a:r>
            <a:r>
              <a:rPr lang="ja-JP" altLang="en-US" dirty="0"/>
              <a:t>講義＆ハンズオン</a:t>
            </a:r>
            <a:endParaRPr lang="en-US" altLang="ja-JP" dirty="0"/>
          </a:p>
          <a:p>
            <a:pPr lvl="2"/>
            <a:r>
              <a:rPr lang="ja-JP" altLang="en-US" dirty="0"/>
              <a:t>単体テストについて学習する。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ハンズオン形式で、バイブコーディングを活用した</a:t>
            </a:r>
            <a:br>
              <a:rPr lang="en-US" altLang="ja-JP" dirty="0"/>
            </a:br>
            <a:r>
              <a:rPr lang="ja-JP" altLang="en-US" dirty="0"/>
              <a:t>単体テストの実施方法を学習し、</a:t>
            </a:r>
            <a:br>
              <a:rPr lang="en-US" altLang="ja-JP" dirty="0"/>
            </a:br>
            <a:r>
              <a:rPr lang="ja-JP" altLang="en-US" dirty="0"/>
              <a:t>その後の課題に必要な操作や実施手順を習得する。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演習</a:t>
            </a:r>
            <a:endParaRPr lang="en-US" altLang="ja-JP" dirty="0"/>
          </a:p>
          <a:p>
            <a:pPr lvl="2"/>
            <a:r>
              <a:rPr lang="ja-JP" altLang="en-US" dirty="0"/>
              <a:t>ハンズオンで学習した手順を基に、</a:t>
            </a:r>
            <a:br>
              <a:rPr lang="en-US" altLang="ja-JP" dirty="0"/>
            </a:br>
            <a:r>
              <a:rPr lang="ja-JP" altLang="en-US" dirty="0"/>
              <a:t>各自で残りの単体テストを実施する。</a:t>
            </a:r>
            <a:endParaRPr lang="en-US" altLang="ja-JP" dirty="0"/>
          </a:p>
          <a:p>
            <a:pPr lvl="2"/>
            <a:r>
              <a:rPr lang="ja-JP" altLang="en-US" dirty="0"/>
              <a:t>不具合が発生した場合、</a:t>
            </a:r>
            <a:br>
              <a:rPr lang="en-US" altLang="ja-JP" dirty="0"/>
            </a:br>
            <a:r>
              <a:rPr lang="en-US" altLang="ja-JP" dirty="0"/>
              <a:t>Web</a:t>
            </a:r>
            <a:r>
              <a:rPr lang="ja-JP" altLang="en-US" dirty="0"/>
              <a:t>アプリケーションを修正する。</a:t>
            </a:r>
            <a:endParaRPr lang="en-US" altLang="ja-JP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73090A3-582E-448D-E6B4-C72FD3F1EA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9711" y="1073150"/>
            <a:ext cx="3664014" cy="3334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250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4E6F9-BB03-9858-6DA4-2D8EB9A78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9129C64F-BDE7-3CDF-E6DB-E1532E4ED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振り返りについて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F7A5F1C-30DC-5005-CE6C-CF9813BA7F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振り返りの流れ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アプリケーションの比較・分析</a:t>
            </a:r>
            <a:endParaRPr lang="en-US" altLang="ja-JP" dirty="0"/>
          </a:p>
          <a:p>
            <a:pPr lvl="2"/>
            <a:r>
              <a:rPr lang="ja-JP" altLang="en-US" dirty="0"/>
              <a:t>自身が作成したアプリケーションと</a:t>
            </a:r>
            <a:br>
              <a:rPr lang="en-US" altLang="ja-JP" dirty="0"/>
            </a:br>
            <a:r>
              <a:rPr lang="ja-JP" altLang="en-US" dirty="0"/>
              <a:t>講師配布のアプリケーションを比較する。</a:t>
            </a:r>
            <a:endParaRPr lang="en-US" altLang="ja-JP" dirty="0"/>
          </a:p>
          <a:p>
            <a:pPr lvl="3"/>
            <a:r>
              <a:rPr lang="ja-JP" altLang="en-US" dirty="0"/>
              <a:t>実装方法</a:t>
            </a:r>
            <a:endParaRPr lang="en-US" altLang="ja-JP" dirty="0"/>
          </a:p>
          <a:p>
            <a:pPr lvl="3"/>
            <a:r>
              <a:rPr lang="ja-JP" altLang="en-US" dirty="0"/>
              <a:t>画面構成</a:t>
            </a:r>
            <a:endParaRPr lang="en-US" altLang="ja-JP" dirty="0"/>
          </a:p>
          <a:p>
            <a:pPr lvl="3"/>
            <a:r>
              <a:rPr lang="ja-JP" altLang="en-US" dirty="0"/>
              <a:t>コードの記述方法など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改善点の整理</a:t>
            </a:r>
            <a:endParaRPr lang="en-US" altLang="ja-JP" dirty="0"/>
          </a:p>
          <a:p>
            <a:pPr lvl="2"/>
            <a:r>
              <a:rPr lang="ja-JP" altLang="en-US" dirty="0"/>
              <a:t>比較・分析した結果をもとに、自身のアプリケーションの改善点を整理する。</a:t>
            </a:r>
            <a:endParaRPr lang="en-US" altLang="ja-JP" dirty="0"/>
          </a:p>
          <a:p>
            <a:pPr lvl="3"/>
            <a:r>
              <a:rPr lang="ja-JP" altLang="en-US" dirty="0"/>
              <a:t>実装方法</a:t>
            </a:r>
            <a:endParaRPr lang="en-US" altLang="ja-JP" dirty="0"/>
          </a:p>
          <a:p>
            <a:pPr lvl="3"/>
            <a:r>
              <a:rPr lang="ja-JP" altLang="en-US" dirty="0"/>
              <a:t>可読性</a:t>
            </a:r>
            <a:endParaRPr lang="en-US" altLang="ja-JP" dirty="0"/>
          </a:p>
          <a:p>
            <a:pPr lvl="3"/>
            <a:r>
              <a:rPr lang="ja-JP" altLang="en-US" dirty="0"/>
              <a:t>保守性など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比較・分析結果の共有</a:t>
            </a:r>
            <a:endParaRPr lang="en-US" altLang="ja-JP" dirty="0"/>
          </a:p>
          <a:p>
            <a:pPr lvl="2"/>
            <a:r>
              <a:rPr lang="ja-JP" altLang="en-US" dirty="0"/>
              <a:t>比較・分析した結果や改善点をチーム内で共有する。</a:t>
            </a:r>
            <a:endParaRPr lang="en-US" altLang="ja-JP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00A0A1D1-3352-6216-4793-0D5317F013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580" y="1073150"/>
            <a:ext cx="3609145" cy="2182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014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528</TotalTime>
  <Words>449</Words>
  <Application>Microsoft Office PowerPoint</Application>
  <PresentationFormat>ワイド画面</PresentationFormat>
  <Paragraphs>74</Paragraphs>
  <Slides>6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Meiryo UI</vt:lpstr>
      <vt:lpstr>游ゴシック</vt:lpstr>
      <vt:lpstr>游ゴシック Light</vt:lpstr>
      <vt:lpstr>Arial</vt:lpstr>
      <vt:lpstr>Office テーマ</vt:lpstr>
      <vt:lpstr>研修の概要</vt:lpstr>
      <vt:lpstr>研修の全体像について</vt:lpstr>
      <vt:lpstr>演習について</vt:lpstr>
      <vt:lpstr>バイブコーディング①について</vt:lpstr>
      <vt:lpstr>バイブコーディング②について</vt:lpstr>
      <vt:lpstr>振り返りについて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56</cp:revision>
  <dcterms:created xsi:type="dcterms:W3CDTF">2026-07-04T03:22:14Z</dcterms:created>
  <dcterms:modified xsi:type="dcterms:W3CDTF">2026-07-05T05:32:37Z</dcterms:modified>
</cp:coreProperties>
</file>