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1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3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092660-A910-48D6-9DD5-B02CDD5983C2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8A0B64-6D67-42B8-83A5-133498884D5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4775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8A0B64-6D67-42B8-83A5-133498884D56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02232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9D2A4-1E47-1BD9-3B90-CDDDB58D1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76734380-090F-528A-0CF8-27E1CE1D0F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91E1096-5A95-DCE2-A0EA-2BE06A8449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2A3A51A-51C8-6624-4D54-EE05750FF8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8A0B64-6D67-42B8-83A5-133498884D56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85292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3F549-E74F-41DE-B3AA-CC3A97BC7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289D615-20E1-B4C6-FCD1-33F79BDE42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B256A36-25FD-6DCC-7EF2-113892246A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CBABE15-F492-D580-DC4E-6D4EDCE1DC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8A0B64-6D67-42B8-83A5-133498884D56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41567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93ED5-9666-7F1B-85EF-FF6C29A43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8210E33-0E73-8BD9-E454-D680F26D24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3500E8A-0C82-2C41-6833-15C38F9165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89CBFD0-1599-A012-F568-8DA9A537E8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8A0B64-6D67-42B8-83A5-133498884D56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12650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152EB-F3FF-422D-878C-6057A0560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1AFEB990-078F-B707-0D3B-6F9930A93B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6B40505-B7E1-0EFF-6551-22A6969657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38755EE-8458-C22E-976F-1758E32324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8A0B64-6D67-42B8-83A5-133498884D56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57675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E88EAE4-3517-7685-DBC1-D2EBBF1143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CE249DA-269C-C238-1C0D-468019E3CA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FE4C389-7303-F6E2-A905-B7D704D1F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FBC31-9ECA-48C0-910F-E09377915FB8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CA5D6D8-D495-753D-963F-D2031F549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6B97719-44F6-07B6-2299-44CDBEF7F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FBC76-F46F-4ADD-8228-9529630895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5453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9C75F2-6284-9EE3-07F1-8A8C63284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3BB957D-55BF-E429-F24B-9AB0F2BC57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1DBD3B-56FD-917A-7F5A-3015D9774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FBC31-9ECA-48C0-910F-E09377915FB8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F2DC64E-F29E-D854-BEF0-3070C545D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548F59C-A5D5-E9EE-6BFB-1E812ECDB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FBC76-F46F-4ADD-8228-9529630895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54604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5C1473-4F82-D0F2-6E20-B3CE8154A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23119F7-CFE5-C244-5CBC-D07F56CF80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AC23C55-8327-924C-2B72-D685D3026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FBC31-9ECA-48C0-910F-E09377915FB8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B1B9B42-5325-6348-7A2E-823A20CCF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B0BB805-FA2B-03EC-E53A-E3CA55892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FBC76-F46F-4ADD-8228-9529630895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1387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82A8F03-F9A4-C9E1-8930-9B9AF0D34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E9B11C5-849D-9104-8534-05B157123D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E1E799F-E1CC-CC44-0753-6D7D0C9238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4315350-56EC-072A-EE57-7D7FD671B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FBC31-9ECA-48C0-910F-E09377915FB8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9CFC015-F252-9E7E-F23E-9859CCF42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F775C56-D7A0-4254-A2E6-4CA99D50A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FBC76-F46F-4ADD-8228-9529630895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6901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87F651-F4E6-22A7-969C-361E7EB82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1D87F37-09C8-1C47-DA85-89348412F3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41EDEFF-D785-4B71-7114-49A611C895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4CF3450-F545-1FFD-F875-8DE3CCB76B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5E611BD-461C-12F4-A3BC-6154F6BA1E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4F81492-847C-EE97-CE4E-E34C2A9E0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FBC31-9ECA-48C0-910F-E09377915FB8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08207F7-1FE0-73EF-D402-872A8833C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F6F3EF7-641F-90DB-332E-E52417E39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FBC76-F46F-4ADD-8228-9529630895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65333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33C488-7001-3614-BBDB-52F57B051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7F87A66-C96C-D4FF-9241-9CE679FE2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FBC31-9ECA-48C0-910F-E09377915FB8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3116E27-0034-7717-9FEE-82777DE20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21BDC13-BC57-56EC-7696-822A94E13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FBC76-F46F-4ADD-8228-9529630895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85570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C96747D-199C-DB70-796B-D7AD9498D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FBC31-9ECA-48C0-910F-E09377915FB8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95DF319-00BA-725F-BC6A-27C0CA6C6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3F24241-0D68-5DC6-E45A-B7BBC9246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FBC76-F46F-4ADD-8228-9529630895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4275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583C645-DBBF-EBC8-73A4-9590C9AA4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981406B-DD2E-D5D3-AE10-E0AB4E154E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11620FD-5FFA-4826-B001-35BBC49CA6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0484110-46BB-014D-41FF-BB1422C97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FBC31-9ECA-48C0-910F-E09377915FB8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0568A18-5ED2-ABB4-0951-B33EF4C59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85EACC3-A6F9-B01D-47D1-98D369617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FBC76-F46F-4ADD-8228-9529630895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83369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E69773-B60F-F99E-7259-84C025920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492595E-8F9F-0A64-3DEB-8E74E0AC3E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0BCF0B5-1DAA-A506-3226-5F5AAE8E22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7D2088E-9319-A7DB-F799-C26F55084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FBC31-9ECA-48C0-910F-E09377915FB8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07741E9-DB06-1561-7A20-0A626D9DD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A71377C-7AF9-AAE2-2C83-B36C5B200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FBC76-F46F-4ADD-8228-9529630895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49773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D948F8-A898-A22B-7EF3-84E85241D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DB9CE3F-DD4B-FBB0-0358-E359990CFA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8A1EFE8-83F8-C673-6466-09628A880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FBC31-9ECA-48C0-910F-E09377915FB8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8A29062-6AC9-DD4E-C20C-3568B001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FC21EC4-135A-AB14-091E-CA0A0AA38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FBC76-F46F-4ADD-8228-9529630895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1069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8A78528-6686-7717-9395-A6791781DC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8779115-C3F1-5580-1C82-172ACF121E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227D618-FA30-2F16-A3BA-1C48127BF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FBC31-9ECA-48C0-910F-E09377915FB8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C6D16EA-23E0-4DB0-E96D-371B623EE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F350307-06A9-2F31-4E2F-74756A586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FBC76-F46F-4ADD-8228-9529630895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93637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291077D-F29B-3B1E-E99F-8D3095D21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77A7F88-23AA-2435-B8E5-5759D4CA28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75D7CD4-6630-EF19-7ADC-97B078E8CA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EFBC31-9ECA-48C0-910F-E09377915FB8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824A99B-1354-38AF-B026-4F072B91BE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48BA381-04BE-303F-34F7-4680A43BB6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BFBC76-F46F-4ADD-8228-9529630895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9948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DA5590-C478-ABA0-FEFE-579A111389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altLang="en-US" dirty="0"/>
              <a:t>研修の概要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341C3CD-066C-9DBE-C54B-F884D6128F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80549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7" name="表 66">
            <a:extLst>
              <a:ext uri="{FF2B5EF4-FFF2-40B4-BE49-F238E27FC236}">
                <a16:creationId xmlns:a16="http://schemas.microsoft.com/office/drawing/2014/main" id="{BF667119-273B-9AC2-20E0-A1A52796AF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9702255"/>
              </p:ext>
            </p:extLst>
          </p:nvPr>
        </p:nvGraphicFramePr>
        <p:xfrm>
          <a:off x="111443" y="858159"/>
          <a:ext cx="11966713" cy="5546035"/>
        </p:xfrm>
        <a:graphic>
          <a:graphicData uri="http://schemas.openxmlformats.org/drawingml/2006/table">
            <a:tbl>
              <a:tblPr firstRow="1" bandRow="1"/>
              <a:tblGrid>
                <a:gridCol w="3903254">
                  <a:extLst>
                    <a:ext uri="{9D8B030D-6E8A-4147-A177-3AD203B41FA5}">
                      <a16:colId xmlns:a16="http://schemas.microsoft.com/office/drawing/2014/main" val="3573493280"/>
                    </a:ext>
                  </a:extLst>
                </a:gridCol>
                <a:gridCol w="8063459">
                  <a:extLst>
                    <a:ext uri="{9D8B030D-6E8A-4147-A177-3AD203B41FA5}">
                      <a16:colId xmlns:a16="http://schemas.microsoft.com/office/drawing/2014/main" val="2262346922"/>
                    </a:ext>
                  </a:extLst>
                </a:gridCol>
              </a:tblGrid>
              <a:tr h="396936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1pPr>
                      <a:lvl2pPr marL="457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2pPr>
                      <a:lvl3pPr marL="914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3pPr>
                      <a:lvl4pPr marL="1371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4pPr>
                      <a:lvl5pPr marL="18288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5pPr>
                      <a:lvl6pPr marL="22860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6pPr>
                      <a:lvl7pPr marL="2743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7pPr>
                      <a:lvl8pPr marL="3200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8pPr>
                      <a:lvl9pPr marL="3657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ctr"/>
                      <a:r>
                        <a:rPr kumimoji="1" lang="ja-JP" altLang="en-US" sz="1600" dirty="0"/>
                        <a:t>１～２日目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70F2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1pPr>
                      <a:lvl2pPr marL="457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2pPr>
                      <a:lvl3pPr marL="914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3pPr>
                      <a:lvl4pPr marL="1371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4pPr>
                      <a:lvl5pPr marL="18288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5pPr>
                      <a:lvl6pPr marL="22860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6pPr>
                      <a:lvl7pPr marL="2743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7pPr>
                      <a:lvl8pPr marL="3200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8pPr>
                      <a:lvl9pPr marL="3657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ctr"/>
                      <a:r>
                        <a:rPr kumimoji="1" lang="ja-JP" altLang="en-US" sz="1600" dirty="0"/>
                        <a:t>３日目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70F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8554313"/>
                  </a:ext>
                </a:extLst>
              </a:tr>
              <a:tr h="5149099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endParaRPr kumimoji="1" lang="ja-JP" altLang="en-US" dirty="0"/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70F26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endParaRPr kumimoji="1" lang="ja-JP" altLang="en-US" dirty="0"/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70F26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178125"/>
                  </a:ext>
                </a:extLst>
              </a:tr>
            </a:tbl>
          </a:graphicData>
        </a:graphic>
      </p:graphicFrame>
      <p:grpSp>
        <p:nvGrpSpPr>
          <p:cNvPr id="117" name="グループ化 116">
            <a:extLst>
              <a:ext uri="{FF2B5EF4-FFF2-40B4-BE49-F238E27FC236}">
                <a16:creationId xmlns:a16="http://schemas.microsoft.com/office/drawing/2014/main" id="{D28C7321-A0D6-FB16-7751-66D18883A0A9}"/>
              </a:ext>
            </a:extLst>
          </p:cNvPr>
          <p:cNvGrpSpPr/>
          <p:nvPr/>
        </p:nvGrpSpPr>
        <p:grpSpPr>
          <a:xfrm>
            <a:off x="8284135" y="1394089"/>
            <a:ext cx="3600000" cy="3194561"/>
            <a:chOff x="946296" y="1364275"/>
            <a:chExt cx="4359349" cy="3482870"/>
          </a:xfrm>
        </p:grpSpPr>
        <p:sp>
          <p:nvSpPr>
            <p:cNvPr id="119" name="正方形/長方形 118">
              <a:extLst>
                <a:ext uri="{FF2B5EF4-FFF2-40B4-BE49-F238E27FC236}">
                  <a16:creationId xmlns:a16="http://schemas.microsoft.com/office/drawing/2014/main" id="{2287D825-EFC0-7DC5-B49E-4F81F942FF3F}"/>
                </a:ext>
              </a:extLst>
            </p:cNvPr>
            <p:cNvSpPr/>
            <p:nvPr/>
          </p:nvSpPr>
          <p:spPr>
            <a:xfrm>
              <a:off x="946296" y="1364275"/>
              <a:ext cx="4359349" cy="588735"/>
            </a:xfrm>
            <a:prstGeom prst="rect">
              <a:avLst/>
            </a:prstGeom>
            <a:solidFill>
              <a:srgbClr val="0072BC">
                <a:lumMod val="10000"/>
                <a:lumOff val="90000"/>
              </a:srgbClr>
            </a:solidFill>
            <a:ln w="317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>
                <a:defRPr/>
              </a:pPr>
              <a:r>
                <a:rPr kumimoji="0" lang="ja-JP" altLang="en-US" kern="0" dirty="0">
                  <a:solidFill>
                    <a:srgbClr val="000000"/>
                  </a:solidFill>
                  <a:latin typeface="Arial"/>
                  <a:ea typeface="Meiryo UI"/>
                </a:rPr>
                <a:t>提案の改善</a:t>
              </a:r>
              <a:endParaRPr kumimoji="0" lang="en-US" altLang="ja-JP" kern="0" dirty="0">
                <a:solidFill>
                  <a:srgbClr val="000000"/>
                </a:solidFill>
                <a:latin typeface="Arial"/>
                <a:ea typeface="Meiryo UI"/>
              </a:endParaRPr>
            </a:p>
            <a:p>
              <a:pPr lvl="0" algn="ctr">
                <a:defRPr/>
              </a:pPr>
              <a:r>
                <a:rPr kumimoji="0" lang="ja-JP" altLang="en-US" sz="1200" kern="0" dirty="0">
                  <a:solidFill>
                    <a:srgbClr val="000000"/>
                  </a:solidFill>
                  <a:latin typeface="Arial"/>
                  <a:ea typeface="Meiryo UI"/>
                </a:rPr>
                <a:t>フィードバックを基に、更に良い提案に改善にする</a:t>
              </a:r>
            </a:p>
          </p:txBody>
        </p:sp>
        <p:sp>
          <p:nvSpPr>
            <p:cNvPr id="118" name="正方形/長方形 117">
              <a:extLst>
                <a:ext uri="{FF2B5EF4-FFF2-40B4-BE49-F238E27FC236}">
                  <a16:creationId xmlns:a16="http://schemas.microsoft.com/office/drawing/2014/main" id="{BCF5A287-DDE7-5472-75E6-7BB4C6F71601}"/>
                </a:ext>
              </a:extLst>
            </p:cNvPr>
            <p:cNvSpPr/>
            <p:nvPr/>
          </p:nvSpPr>
          <p:spPr>
            <a:xfrm>
              <a:off x="946296" y="1957361"/>
              <a:ext cx="4359349" cy="2889784"/>
            </a:xfrm>
            <a:prstGeom prst="rect">
              <a:avLst/>
            </a:prstGeom>
            <a:solidFill>
              <a:srgbClr val="FFFFFF"/>
            </a:solidFill>
            <a:ln w="317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endParaRPr>
            </a:p>
          </p:txBody>
        </p:sp>
      </p:grpSp>
      <p:grpSp>
        <p:nvGrpSpPr>
          <p:cNvPr id="94" name="グループ化 93">
            <a:extLst>
              <a:ext uri="{FF2B5EF4-FFF2-40B4-BE49-F238E27FC236}">
                <a16:creationId xmlns:a16="http://schemas.microsoft.com/office/drawing/2014/main" id="{A1110377-FA4D-570F-ABCC-9F48E5F75B03}"/>
              </a:ext>
            </a:extLst>
          </p:cNvPr>
          <p:cNvGrpSpPr/>
          <p:nvPr/>
        </p:nvGrpSpPr>
        <p:grpSpPr>
          <a:xfrm>
            <a:off x="230678" y="1394089"/>
            <a:ext cx="3600000" cy="3665292"/>
            <a:chOff x="946296" y="1364275"/>
            <a:chExt cx="4359349" cy="3689675"/>
          </a:xfrm>
        </p:grpSpPr>
        <p:sp>
          <p:nvSpPr>
            <p:cNvPr id="70" name="正方形/長方形 69">
              <a:extLst>
                <a:ext uri="{FF2B5EF4-FFF2-40B4-BE49-F238E27FC236}">
                  <a16:creationId xmlns:a16="http://schemas.microsoft.com/office/drawing/2014/main" id="{8C231246-5F05-B4AE-6830-C48FF2D63004}"/>
                </a:ext>
              </a:extLst>
            </p:cNvPr>
            <p:cNvSpPr/>
            <p:nvPr/>
          </p:nvSpPr>
          <p:spPr>
            <a:xfrm>
              <a:off x="946296" y="1907867"/>
              <a:ext cx="4359349" cy="3146083"/>
            </a:xfrm>
            <a:prstGeom prst="rect">
              <a:avLst/>
            </a:prstGeom>
            <a:solidFill>
              <a:srgbClr val="FFFFFF"/>
            </a:solidFill>
            <a:ln w="317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endParaRPr>
            </a:p>
          </p:txBody>
        </p:sp>
        <p:sp>
          <p:nvSpPr>
            <p:cNvPr id="80" name="正方形/長方形 79">
              <a:extLst>
                <a:ext uri="{FF2B5EF4-FFF2-40B4-BE49-F238E27FC236}">
                  <a16:creationId xmlns:a16="http://schemas.microsoft.com/office/drawing/2014/main" id="{87EC3108-0FE2-36EA-C3D2-DCD04D376D2E}"/>
                </a:ext>
              </a:extLst>
            </p:cNvPr>
            <p:cNvSpPr/>
            <p:nvPr/>
          </p:nvSpPr>
          <p:spPr>
            <a:xfrm>
              <a:off x="946296" y="1364275"/>
              <a:ext cx="4359349" cy="543592"/>
            </a:xfrm>
            <a:prstGeom prst="rect">
              <a:avLst/>
            </a:prstGeom>
            <a:solidFill>
              <a:srgbClr val="0072BC">
                <a:lumMod val="10000"/>
                <a:lumOff val="90000"/>
              </a:srgbClr>
            </a:solidFill>
            <a:ln w="317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kern="0" dirty="0">
                  <a:solidFill>
                    <a:srgbClr val="000000"/>
                  </a:solidFill>
                  <a:latin typeface="Arial"/>
                  <a:ea typeface="Meiryo UI"/>
                </a:rPr>
                <a:t>提案資料の作成</a:t>
              </a:r>
              <a:endParaRPr kumimoji="0" lang="en-US" altLang="ja-JP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endParaRPr>
            </a:p>
            <a:p>
              <a:pPr lvl="0" algn="ctr"/>
              <a:r>
                <a:rPr kumimoji="0" lang="ja-JP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eiryo UI"/>
                  <a:cs typeface="+mn-cs"/>
                </a:rPr>
                <a:t>提案テーマの検討～</a:t>
              </a:r>
              <a:r>
                <a:rPr kumimoji="0" lang="ja-JP" altLang="en-US" sz="1200" kern="0" dirty="0">
                  <a:solidFill>
                    <a:srgbClr val="000000"/>
                  </a:solidFill>
                  <a:latin typeface="Arial"/>
                  <a:ea typeface="Meiryo UI"/>
                </a:rPr>
                <a:t>提案資料</a:t>
              </a:r>
              <a:r>
                <a:rPr kumimoji="0" lang="ja-JP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eiryo UI"/>
                  <a:cs typeface="+mn-cs"/>
                </a:rPr>
                <a:t>の作成までを</a:t>
              </a:r>
              <a:r>
                <a:rPr kumimoji="0" lang="ja-JP" altLang="en-US" sz="1200" kern="0" dirty="0">
                  <a:solidFill>
                    <a:srgbClr val="000000"/>
                  </a:solidFill>
                  <a:latin typeface="Arial"/>
                  <a:ea typeface="Meiryo UI"/>
                </a:rPr>
                <a:t>実施</a:t>
              </a:r>
              <a:r>
                <a:rPr kumimoji="0" lang="ja-JP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eiryo UI"/>
                  <a:cs typeface="+mn-cs"/>
                </a:rPr>
                <a:t>する</a:t>
              </a:r>
            </a:p>
          </p:txBody>
        </p:sp>
      </p:grpSp>
      <p:sp>
        <p:nvSpPr>
          <p:cNvPr id="69" name="タイトル 1">
            <a:extLst>
              <a:ext uri="{FF2B5EF4-FFF2-40B4-BE49-F238E27FC236}">
                <a16:creationId xmlns:a16="http://schemas.microsoft.com/office/drawing/2014/main" id="{6CE14998-7D64-A6FD-4F75-ED0C41225FF2}"/>
              </a:ext>
            </a:extLst>
          </p:cNvPr>
          <p:cNvSpPr txBox="1">
            <a:spLocks/>
          </p:cNvSpPr>
          <p:nvPr/>
        </p:nvSpPr>
        <p:spPr>
          <a:xfrm>
            <a:off x="370800" y="334800"/>
            <a:ext cx="11448000" cy="39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00" b="1" i="0" kern="1200" spc="0" baseline="0">
                <a:solidFill>
                  <a:schemeClr val="accent1"/>
                </a:solidFill>
                <a:latin typeface="+mj-ea"/>
                <a:ea typeface="+mj-ea"/>
                <a:cs typeface="HGPGothicE" charset="-128"/>
              </a:defRPr>
            </a:lvl1pPr>
            <a:lvl2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2pPr>
            <a:lvl3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3pPr>
            <a:lvl4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4pPr>
            <a:lvl5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5pPr>
            <a:lvl6pPr marL="609555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6pPr>
            <a:lvl7pPr marL="1219110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7pPr>
            <a:lvl8pPr marL="1828664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8pPr>
            <a:lvl9pPr marL="2438218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9pPr>
          </a:lstStyle>
          <a:p>
            <a:pPr marL="0" marR="0" lvl="0" indent="0" algn="l" defTabSz="60955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dirty="0">
                <a:solidFill>
                  <a:srgbClr val="070F26"/>
                </a:solidFill>
                <a:latin typeface="Meiryo UI"/>
                <a:ea typeface="Meiryo UI"/>
              </a:rPr>
              <a:t>研修</a:t>
            </a:r>
            <a:r>
              <a:rPr kumimoji="1" lang="ja-JP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70F26"/>
                </a:solidFill>
                <a:effectLst/>
                <a:uLnTx/>
                <a:uFillTx/>
                <a:latin typeface="Meiryo UI"/>
                <a:ea typeface="Meiryo UI"/>
              </a:rPr>
              <a:t>の全体像について</a:t>
            </a:r>
          </a:p>
        </p:txBody>
      </p:sp>
      <p:sp>
        <p:nvSpPr>
          <p:cNvPr id="72" name="矢印: 下 71">
            <a:extLst>
              <a:ext uri="{FF2B5EF4-FFF2-40B4-BE49-F238E27FC236}">
                <a16:creationId xmlns:a16="http://schemas.microsoft.com/office/drawing/2014/main" id="{6451ECB0-A123-0994-D64E-D3E3E4523E05}"/>
              </a:ext>
            </a:extLst>
          </p:cNvPr>
          <p:cNvSpPr/>
          <p:nvPr/>
        </p:nvSpPr>
        <p:spPr>
          <a:xfrm>
            <a:off x="1850678" y="5128954"/>
            <a:ext cx="360000" cy="180000"/>
          </a:xfrm>
          <a:prstGeom prst="downArrow">
            <a:avLst/>
          </a:prstGeom>
          <a:solidFill>
            <a:schemeClr val="bg1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400" b="0" i="0" u="none" strike="noStrike" kern="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eiryo UI"/>
              <a:cs typeface="+mn-cs"/>
            </a:endParaRPr>
          </a:p>
        </p:txBody>
      </p:sp>
      <p:grpSp>
        <p:nvGrpSpPr>
          <p:cNvPr id="88" name="グループ化 87">
            <a:extLst>
              <a:ext uri="{FF2B5EF4-FFF2-40B4-BE49-F238E27FC236}">
                <a16:creationId xmlns:a16="http://schemas.microsoft.com/office/drawing/2014/main" id="{93698C79-DEE6-0684-D1B7-7CA945B1F50A}"/>
              </a:ext>
            </a:extLst>
          </p:cNvPr>
          <p:cNvGrpSpPr/>
          <p:nvPr/>
        </p:nvGrpSpPr>
        <p:grpSpPr>
          <a:xfrm>
            <a:off x="230678" y="5350303"/>
            <a:ext cx="3600000" cy="936522"/>
            <a:chOff x="946296" y="5714099"/>
            <a:chExt cx="4359349" cy="936522"/>
          </a:xfrm>
        </p:grpSpPr>
        <p:sp>
          <p:nvSpPr>
            <p:cNvPr id="73" name="正方形/長方形 72">
              <a:extLst>
                <a:ext uri="{FF2B5EF4-FFF2-40B4-BE49-F238E27FC236}">
                  <a16:creationId xmlns:a16="http://schemas.microsoft.com/office/drawing/2014/main" id="{4A362D9F-58A5-24DF-B107-D1B3A2FB9EAE}"/>
                </a:ext>
              </a:extLst>
            </p:cNvPr>
            <p:cNvSpPr/>
            <p:nvPr/>
          </p:nvSpPr>
          <p:spPr>
            <a:xfrm>
              <a:off x="946296" y="5714099"/>
              <a:ext cx="4359349" cy="304800"/>
            </a:xfrm>
            <a:prstGeom prst="rect">
              <a:avLst/>
            </a:prstGeom>
            <a:solidFill>
              <a:srgbClr val="FFFF00"/>
            </a:solidFill>
            <a:ln w="317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r>
                <a:rPr kumimoji="0" lang="ja-JP" altLang="en-US" kern="0" dirty="0">
                  <a:solidFill>
                    <a:srgbClr val="000000"/>
                  </a:solidFill>
                  <a:latin typeface="Arial"/>
                  <a:ea typeface="Meiryo UI"/>
                </a:rPr>
                <a:t>提案資料</a:t>
              </a:r>
              <a:endParaRPr kumimoji="0" lang="ja-JP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endParaRPr>
            </a:p>
          </p:txBody>
        </p:sp>
        <p:sp>
          <p:nvSpPr>
            <p:cNvPr id="74" name="正方形/長方形 73">
              <a:extLst>
                <a:ext uri="{FF2B5EF4-FFF2-40B4-BE49-F238E27FC236}">
                  <a16:creationId xmlns:a16="http://schemas.microsoft.com/office/drawing/2014/main" id="{E178F656-A521-20CF-B5EC-5D99B984D6E5}"/>
                </a:ext>
              </a:extLst>
            </p:cNvPr>
            <p:cNvSpPr/>
            <p:nvPr/>
          </p:nvSpPr>
          <p:spPr>
            <a:xfrm>
              <a:off x="946296" y="6018899"/>
              <a:ext cx="4359349" cy="631722"/>
            </a:xfrm>
            <a:prstGeom prst="rect">
              <a:avLst/>
            </a:prstGeom>
            <a:solidFill>
              <a:srgbClr val="FFFFFF"/>
            </a:solidFill>
            <a:ln w="317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eiryo UI"/>
                  <a:cs typeface="+mn-cs"/>
                </a:rPr>
                <a:t>・企画提案書</a:t>
              </a:r>
              <a:endParaRPr kumimoji="0" lang="en-US" altLang="ja-JP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eiryo UI"/>
                  <a:cs typeface="+mn-cs"/>
                </a:rPr>
                <a:t>・プロトタイプ</a:t>
              </a:r>
            </a:p>
          </p:txBody>
        </p:sp>
      </p:grpSp>
      <p:sp>
        <p:nvSpPr>
          <p:cNvPr id="76" name="四角形: 角を丸くする 75">
            <a:extLst>
              <a:ext uri="{FF2B5EF4-FFF2-40B4-BE49-F238E27FC236}">
                <a16:creationId xmlns:a16="http://schemas.microsoft.com/office/drawing/2014/main" id="{03E1DFD1-2580-E00D-A89E-87E795417DBF}"/>
              </a:ext>
            </a:extLst>
          </p:cNvPr>
          <p:cNvSpPr/>
          <p:nvPr/>
        </p:nvSpPr>
        <p:spPr>
          <a:xfrm>
            <a:off x="410678" y="2069700"/>
            <a:ext cx="3240000" cy="360000"/>
          </a:xfrm>
          <a:prstGeom prst="roundRect">
            <a:avLst/>
          </a:prstGeom>
          <a:solidFill>
            <a:srgbClr val="FFFFFF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rPr>
              <a:t>提案テーマの検討</a:t>
            </a:r>
            <a:endParaRPr kumimoji="0" lang="en-US" altLang="ja-JP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eiryo UI"/>
              <a:cs typeface="+mn-cs"/>
            </a:endParaRPr>
          </a:p>
        </p:txBody>
      </p:sp>
      <p:sp>
        <p:nvSpPr>
          <p:cNvPr id="77" name="四角形: 角を丸くする 76">
            <a:extLst>
              <a:ext uri="{FF2B5EF4-FFF2-40B4-BE49-F238E27FC236}">
                <a16:creationId xmlns:a16="http://schemas.microsoft.com/office/drawing/2014/main" id="{7E72642D-C26B-0C6A-6527-545C1D4D3DB1}"/>
              </a:ext>
            </a:extLst>
          </p:cNvPr>
          <p:cNvSpPr/>
          <p:nvPr/>
        </p:nvSpPr>
        <p:spPr>
          <a:xfrm>
            <a:off x="410678" y="3042258"/>
            <a:ext cx="3240000" cy="360000"/>
          </a:xfrm>
          <a:prstGeom prst="roundRect">
            <a:avLst/>
          </a:prstGeom>
          <a:solidFill>
            <a:srgbClr val="FFFFFF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kern="0" dirty="0">
                <a:solidFill>
                  <a:srgbClr val="000000"/>
                </a:solidFill>
                <a:latin typeface="Arial"/>
                <a:ea typeface="Meiryo UI"/>
              </a:rPr>
              <a:t>提案内容</a:t>
            </a:r>
            <a:r>
              <a:rPr kumimoji="0" lang="ja-JP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rPr>
              <a:t>の調査</a:t>
            </a:r>
            <a:endParaRPr kumimoji="0" lang="en-US" altLang="ja-JP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eiryo UI"/>
              <a:cs typeface="+mn-cs"/>
            </a:endParaRPr>
          </a:p>
        </p:txBody>
      </p:sp>
      <p:sp>
        <p:nvSpPr>
          <p:cNvPr id="79" name="四角形: 角を丸くする 78">
            <a:extLst>
              <a:ext uri="{FF2B5EF4-FFF2-40B4-BE49-F238E27FC236}">
                <a16:creationId xmlns:a16="http://schemas.microsoft.com/office/drawing/2014/main" id="{A56AABD8-8B2F-99E7-B8BF-C14D8AD7E430}"/>
              </a:ext>
            </a:extLst>
          </p:cNvPr>
          <p:cNvSpPr/>
          <p:nvPr/>
        </p:nvSpPr>
        <p:spPr>
          <a:xfrm>
            <a:off x="410678" y="2555979"/>
            <a:ext cx="3240000" cy="360000"/>
          </a:xfrm>
          <a:prstGeom prst="roundRect">
            <a:avLst/>
          </a:prstGeom>
          <a:solidFill>
            <a:srgbClr val="FFFFFF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kern="0" dirty="0">
                <a:solidFill>
                  <a:srgbClr val="000000"/>
                </a:solidFill>
                <a:latin typeface="Arial"/>
                <a:ea typeface="Meiryo UI"/>
              </a:rPr>
              <a:t>提案テーマの意見交換</a:t>
            </a:r>
            <a:endParaRPr kumimoji="0" lang="en-US" altLang="ja-JP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eiryo UI"/>
              <a:cs typeface="+mn-cs"/>
            </a:endParaRPr>
          </a:p>
        </p:txBody>
      </p:sp>
      <p:grpSp>
        <p:nvGrpSpPr>
          <p:cNvPr id="97" name="グループ化 96">
            <a:extLst>
              <a:ext uri="{FF2B5EF4-FFF2-40B4-BE49-F238E27FC236}">
                <a16:creationId xmlns:a16="http://schemas.microsoft.com/office/drawing/2014/main" id="{36F18F2F-F70A-EEAE-070C-74BD6D5F46A0}"/>
              </a:ext>
            </a:extLst>
          </p:cNvPr>
          <p:cNvGrpSpPr/>
          <p:nvPr/>
        </p:nvGrpSpPr>
        <p:grpSpPr>
          <a:xfrm>
            <a:off x="4254053" y="1394089"/>
            <a:ext cx="3600000" cy="2213815"/>
            <a:chOff x="946296" y="1364275"/>
            <a:chExt cx="4359349" cy="2360634"/>
          </a:xfrm>
        </p:grpSpPr>
        <p:sp>
          <p:nvSpPr>
            <p:cNvPr id="98" name="正方形/長方形 97">
              <a:extLst>
                <a:ext uri="{FF2B5EF4-FFF2-40B4-BE49-F238E27FC236}">
                  <a16:creationId xmlns:a16="http://schemas.microsoft.com/office/drawing/2014/main" id="{FBBB41F4-58A4-8CF3-144C-76609B9A3DFA}"/>
                </a:ext>
              </a:extLst>
            </p:cNvPr>
            <p:cNvSpPr/>
            <p:nvPr/>
          </p:nvSpPr>
          <p:spPr>
            <a:xfrm>
              <a:off x="946296" y="1957361"/>
              <a:ext cx="4359349" cy="1767548"/>
            </a:xfrm>
            <a:prstGeom prst="rect">
              <a:avLst/>
            </a:prstGeom>
            <a:solidFill>
              <a:srgbClr val="FFFFFF"/>
            </a:solidFill>
            <a:ln w="317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endParaRPr>
            </a:p>
          </p:txBody>
        </p:sp>
        <p:sp>
          <p:nvSpPr>
            <p:cNvPr id="99" name="正方形/長方形 98">
              <a:extLst>
                <a:ext uri="{FF2B5EF4-FFF2-40B4-BE49-F238E27FC236}">
                  <a16:creationId xmlns:a16="http://schemas.microsoft.com/office/drawing/2014/main" id="{753A1C69-FFC7-188D-528E-0D56CABEB2D9}"/>
                </a:ext>
              </a:extLst>
            </p:cNvPr>
            <p:cNvSpPr/>
            <p:nvPr/>
          </p:nvSpPr>
          <p:spPr>
            <a:xfrm>
              <a:off x="946296" y="1364275"/>
              <a:ext cx="4359349" cy="588735"/>
            </a:xfrm>
            <a:prstGeom prst="rect">
              <a:avLst/>
            </a:prstGeom>
            <a:solidFill>
              <a:srgbClr val="0072BC">
                <a:lumMod val="10000"/>
                <a:lumOff val="90000"/>
              </a:srgbClr>
            </a:solidFill>
            <a:ln w="317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kumimoji="0" lang="ja-JP" altLang="en-US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eiryo UI"/>
                  <a:cs typeface="+mn-cs"/>
                </a:rPr>
                <a:t>提案の実施</a:t>
              </a:r>
              <a:endParaRPr kumimoji="0" lang="en-US" altLang="ja-JP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endParaRPr>
            </a:p>
            <a:p>
              <a:pPr algn="ctr"/>
              <a:r>
                <a:rPr kumimoji="0" lang="ja-JP" altLang="en-US" sz="1200" kern="0" dirty="0">
                  <a:solidFill>
                    <a:srgbClr val="000000"/>
                  </a:solidFill>
                  <a:latin typeface="Arial"/>
                  <a:ea typeface="Meiryo UI"/>
                </a:rPr>
                <a:t>提案資料</a:t>
              </a:r>
              <a:r>
                <a:rPr kumimoji="0" lang="ja-JP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eiryo UI"/>
                  <a:cs typeface="+mn-cs"/>
                </a:rPr>
                <a:t>を持ち寄り、チーム内で提案</a:t>
              </a:r>
              <a:r>
                <a:rPr kumimoji="0" lang="ja-JP" altLang="en-US" sz="1200" kern="0" dirty="0">
                  <a:solidFill>
                    <a:srgbClr val="000000"/>
                  </a:solidFill>
                  <a:latin typeface="Arial"/>
                  <a:ea typeface="Meiryo UI"/>
                </a:rPr>
                <a:t>を実施</a:t>
              </a:r>
              <a:r>
                <a:rPr kumimoji="0" lang="ja-JP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eiryo UI"/>
                  <a:cs typeface="+mn-cs"/>
                </a:rPr>
                <a:t>する</a:t>
              </a:r>
            </a:p>
          </p:txBody>
        </p:sp>
      </p:grpSp>
      <p:sp>
        <p:nvSpPr>
          <p:cNvPr id="102" name="四角形: 角を丸くする 101">
            <a:extLst>
              <a:ext uri="{FF2B5EF4-FFF2-40B4-BE49-F238E27FC236}">
                <a16:creationId xmlns:a16="http://schemas.microsoft.com/office/drawing/2014/main" id="{888FCB7B-A5B0-7DF2-725F-FD3F7E2259AF}"/>
              </a:ext>
            </a:extLst>
          </p:cNvPr>
          <p:cNvSpPr/>
          <p:nvPr/>
        </p:nvSpPr>
        <p:spPr>
          <a:xfrm>
            <a:off x="4434053" y="2555979"/>
            <a:ext cx="3240000" cy="360000"/>
          </a:xfrm>
          <a:prstGeom prst="roundRect">
            <a:avLst/>
          </a:prstGeom>
          <a:solidFill>
            <a:srgbClr val="FFFFFF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rPr>
              <a:t>提案の実施</a:t>
            </a:r>
            <a:endParaRPr kumimoji="0" lang="en-US" altLang="ja-JP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eiryo UI"/>
              <a:cs typeface="+mn-cs"/>
            </a:endParaRPr>
          </a:p>
        </p:txBody>
      </p:sp>
      <p:sp>
        <p:nvSpPr>
          <p:cNvPr id="103" name="四角形: 角を丸くする 102">
            <a:extLst>
              <a:ext uri="{FF2B5EF4-FFF2-40B4-BE49-F238E27FC236}">
                <a16:creationId xmlns:a16="http://schemas.microsoft.com/office/drawing/2014/main" id="{D3128FEF-A1F2-26CA-043B-17D12CE5A032}"/>
              </a:ext>
            </a:extLst>
          </p:cNvPr>
          <p:cNvSpPr/>
          <p:nvPr/>
        </p:nvSpPr>
        <p:spPr>
          <a:xfrm>
            <a:off x="4434053" y="2069700"/>
            <a:ext cx="3240000" cy="360000"/>
          </a:xfrm>
          <a:prstGeom prst="roundRect">
            <a:avLst/>
          </a:prstGeom>
          <a:solidFill>
            <a:srgbClr val="FFFFFF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rPr>
              <a:t>発表順の決定</a:t>
            </a:r>
            <a:endParaRPr kumimoji="0" lang="en-US" altLang="ja-JP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eiryo UI"/>
              <a:cs typeface="+mn-cs"/>
            </a:endParaRPr>
          </a:p>
        </p:txBody>
      </p:sp>
      <p:grpSp>
        <p:nvGrpSpPr>
          <p:cNvPr id="104" name="グループ化 103">
            <a:extLst>
              <a:ext uri="{FF2B5EF4-FFF2-40B4-BE49-F238E27FC236}">
                <a16:creationId xmlns:a16="http://schemas.microsoft.com/office/drawing/2014/main" id="{6D56B8AD-7F88-6816-05E5-0DDB85094C04}"/>
              </a:ext>
            </a:extLst>
          </p:cNvPr>
          <p:cNvGrpSpPr/>
          <p:nvPr/>
        </p:nvGrpSpPr>
        <p:grpSpPr>
          <a:xfrm>
            <a:off x="8284135" y="4982560"/>
            <a:ext cx="3600000" cy="936522"/>
            <a:chOff x="946296" y="5714099"/>
            <a:chExt cx="4359349" cy="936522"/>
          </a:xfrm>
        </p:grpSpPr>
        <p:sp>
          <p:nvSpPr>
            <p:cNvPr id="105" name="正方形/長方形 104">
              <a:extLst>
                <a:ext uri="{FF2B5EF4-FFF2-40B4-BE49-F238E27FC236}">
                  <a16:creationId xmlns:a16="http://schemas.microsoft.com/office/drawing/2014/main" id="{C38E7129-A067-580B-9C38-4DB2FB62F939}"/>
                </a:ext>
              </a:extLst>
            </p:cNvPr>
            <p:cNvSpPr/>
            <p:nvPr/>
          </p:nvSpPr>
          <p:spPr>
            <a:xfrm>
              <a:off x="946296" y="5714099"/>
              <a:ext cx="4359349" cy="304800"/>
            </a:xfrm>
            <a:prstGeom prst="rect">
              <a:avLst/>
            </a:prstGeom>
            <a:solidFill>
              <a:srgbClr val="FFFF00"/>
            </a:solidFill>
            <a:ln w="317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r>
                <a:rPr kumimoji="0" lang="ja-JP" altLang="en-US" kern="0" dirty="0">
                  <a:solidFill>
                    <a:srgbClr val="000000"/>
                  </a:solidFill>
                  <a:latin typeface="Arial"/>
                  <a:ea typeface="Meiryo UI"/>
                </a:rPr>
                <a:t>提案資料</a:t>
              </a:r>
              <a:endParaRPr kumimoji="0" lang="en-US" altLang="ja-JP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endParaRPr>
            </a:p>
          </p:txBody>
        </p:sp>
        <p:sp>
          <p:nvSpPr>
            <p:cNvPr id="106" name="正方形/長方形 105">
              <a:extLst>
                <a:ext uri="{FF2B5EF4-FFF2-40B4-BE49-F238E27FC236}">
                  <a16:creationId xmlns:a16="http://schemas.microsoft.com/office/drawing/2014/main" id="{2F46152B-753C-270F-E0E7-8873998B2F83}"/>
                </a:ext>
              </a:extLst>
            </p:cNvPr>
            <p:cNvSpPr/>
            <p:nvPr/>
          </p:nvSpPr>
          <p:spPr>
            <a:xfrm>
              <a:off x="946296" y="6018899"/>
              <a:ext cx="4359349" cy="631722"/>
            </a:xfrm>
            <a:prstGeom prst="rect">
              <a:avLst/>
            </a:prstGeom>
            <a:solidFill>
              <a:srgbClr val="FFFFFF"/>
            </a:solidFill>
            <a:ln w="317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eiryo UI"/>
                  <a:cs typeface="+mn-cs"/>
                </a:rPr>
                <a:t>・企画提案書（修正済み）</a:t>
              </a:r>
              <a:endParaRPr kumimoji="0" lang="en-US" altLang="ja-JP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endParaRPr>
            </a:p>
            <a:p>
              <a:pPr lvl="0"/>
              <a:r>
                <a:rPr kumimoji="0" lang="ja-JP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eiryo UI"/>
                  <a:cs typeface="+mn-cs"/>
                </a:rPr>
                <a:t>・プロトタイプ（修正済み）</a:t>
              </a:r>
            </a:p>
          </p:txBody>
        </p:sp>
      </p:grpSp>
      <p:sp>
        <p:nvSpPr>
          <p:cNvPr id="108" name="矢印: 下 107">
            <a:extLst>
              <a:ext uri="{FF2B5EF4-FFF2-40B4-BE49-F238E27FC236}">
                <a16:creationId xmlns:a16="http://schemas.microsoft.com/office/drawing/2014/main" id="{810F7EC0-229C-AC63-E677-FA86CEBD7E95}"/>
              </a:ext>
            </a:extLst>
          </p:cNvPr>
          <p:cNvSpPr/>
          <p:nvPr/>
        </p:nvSpPr>
        <p:spPr>
          <a:xfrm rot="16200000">
            <a:off x="3852087" y="2159700"/>
            <a:ext cx="360000" cy="180000"/>
          </a:xfrm>
          <a:prstGeom prst="downArrow">
            <a:avLst/>
          </a:prstGeom>
          <a:solidFill>
            <a:schemeClr val="tx1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400" b="0" i="0" u="none" strike="noStrike" kern="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eiryo UI"/>
              <a:cs typeface="+mn-cs"/>
            </a:endParaRPr>
          </a:p>
        </p:txBody>
      </p:sp>
      <p:sp>
        <p:nvSpPr>
          <p:cNvPr id="109" name="矢印: 下 108">
            <a:extLst>
              <a:ext uri="{FF2B5EF4-FFF2-40B4-BE49-F238E27FC236}">
                <a16:creationId xmlns:a16="http://schemas.microsoft.com/office/drawing/2014/main" id="{108BCEB6-B31B-8BA9-BEEE-5FAA70A7C06B}"/>
              </a:ext>
            </a:extLst>
          </p:cNvPr>
          <p:cNvSpPr/>
          <p:nvPr/>
        </p:nvSpPr>
        <p:spPr>
          <a:xfrm rot="16200000">
            <a:off x="7917392" y="2159700"/>
            <a:ext cx="360000" cy="180000"/>
          </a:xfrm>
          <a:prstGeom prst="downArrow">
            <a:avLst/>
          </a:prstGeom>
          <a:solidFill>
            <a:schemeClr val="tx1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400" b="0" i="0" u="none" strike="noStrike" kern="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eiryo UI"/>
              <a:cs typeface="+mn-cs"/>
            </a:endParaRPr>
          </a:p>
        </p:txBody>
      </p:sp>
      <p:sp>
        <p:nvSpPr>
          <p:cNvPr id="115" name="四角形: 角を丸くする 114">
            <a:extLst>
              <a:ext uri="{FF2B5EF4-FFF2-40B4-BE49-F238E27FC236}">
                <a16:creationId xmlns:a16="http://schemas.microsoft.com/office/drawing/2014/main" id="{03FA5720-BD69-3E49-6338-BF91F41F1F4A}"/>
              </a:ext>
            </a:extLst>
          </p:cNvPr>
          <p:cNvSpPr/>
          <p:nvPr/>
        </p:nvSpPr>
        <p:spPr>
          <a:xfrm>
            <a:off x="8464135" y="2555979"/>
            <a:ext cx="3240000" cy="360000"/>
          </a:xfrm>
          <a:prstGeom prst="roundRect">
            <a:avLst/>
          </a:prstGeom>
          <a:solidFill>
            <a:srgbClr val="FFFFFF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defRPr/>
            </a:pPr>
            <a:r>
              <a:rPr kumimoji="0" lang="ja-JP" altLang="en-US" sz="1200" kern="0" dirty="0">
                <a:solidFill>
                  <a:srgbClr val="000000"/>
                </a:solidFill>
                <a:latin typeface="Arial"/>
                <a:ea typeface="Meiryo UI"/>
              </a:rPr>
              <a:t>提案資料の修正</a:t>
            </a:r>
            <a:endParaRPr kumimoji="0" lang="en-US" altLang="ja-JP" sz="1200" kern="0" dirty="0">
              <a:solidFill>
                <a:srgbClr val="000000"/>
              </a:solidFill>
              <a:latin typeface="Arial"/>
              <a:ea typeface="Meiryo UI"/>
            </a:endParaRPr>
          </a:p>
        </p:txBody>
      </p:sp>
      <p:sp>
        <p:nvSpPr>
          <p:cNvPr id="116" name="四角形: 角を丸くする 115">
            <a:extLst>
              <a:ext uri="{FF2B5EF4-FFF2-40B4-BE49-F238E27FC236}">
                <a16:creationId xmlns:a16="http://schemas.microsoft.com/office/drawing/2014/main" id="{BDADD26E-37BF-56C6-E45F-7595BB7593BC}"/>
              </a:ext>
            </a:extLst>
          </p:cNvPr>
          <p:cNvSpPr/>
          <p:nvPr/>
        </p:nvSpPr>
        <p:spPr>
          <a:xfrm>
            <a:off x="8464135" y="2069700"/>
            <a:ext cx="3240000" cy="360000"/>
          </a:xfrm>
          <a:prstGeom prst="roundRect">
            <a:avLst/>
          </a:prstGeom>
          <a:solidFill>
            <a:srgbClr val="FFFFFF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defRPr/>
            </a:pPr>
            <a:r>
              <a:rPr kumimoji="0" lang="ja-JP" altLang="en-US" sz="1200" kern="0" dirty="0">
                <a:solidFill>
                  <a:srgbClr val="000000"/>
                </a:solidFill>
                <a:latin typeface="Arial"/>
                <a:ea typeface="Meiryo UI"/>
              </a:rPr>
              <a:t>フィードバック内容の整理</a:t>
            </a:r>
            <a:endParaRPr kumimoji="0" lang="en-US" altLang="ja-JP" sz="1200" kern="0" dirty="0">
              <a:solidFill>
                <a:srgbClr val="000000"/>
              </a:solidFill>
              <a:latin typeface="Arial"/>
              <a:ea typeface="Meiryo UI"/>
            </a:endParaRPr>
          </a:p>
        </p:txBody>
      </p:sp>
      <p:sp>
        <p:nvSpPr>
          <p:cNvPr id="120" name="四角形: 角を丸くする 119">
            <a:extLst>
              <a:ext uri="{FF2B5EF4-FFF2-40B4-BE49-F238E27FC236}">
                <a16:creationId xmlns:a16="http://schemas.microsoft.com/office/drawing/2014/main" id="{422D7EE9-C7CF-BE0D-80F4-E833086B6D92}"/>
              </a:ext>
            </a:extLst>
          </p:cNvPr>
          <p:cNvSpPr/>
          <p:nvPr/>
        </p:nvSpPr>
        <p:spPr>
          <a:xfrm>
            <a:off x="410678" y="4014816"/>
            <a:ext cx="3240000" cy="360000"/>
          </a:xfrm>
          <a:prstGeom prst="roundRect">
            <a:avLst/>
          </a:prstGeom>
          <a:solidFill>
            <a:srgbClr val="FFFFFF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kern="0" dirty="0">
                <a:solidFill>
                  <a:srgbClr val="000000"/>
                </a:solidFill>
                <a:latin typeface="Arial"/>
                <a:ea typeface="Meiryo UI"/>
              </a:rPr>
              <a:t>提案資料</a:t>
            </a:r>
            <a:r>
              <a:rPr kumimoji="0" lang="ja-JP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rPr>
              <a:t>の作成</a:t>
            </a:r>
            <a:endParaRPr kumimoji="0" lang="en-US" altLang="ja-JP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eiryo UI"/>
              <a:cs typeface="+mn-cs"/>
            </a:endParaRPr>
          </a:p>
        </p:txBody>
      </p:sp>
      <p:sp>
        <p:nvSpPr>
          <p:cNvPr id="121" name="四角形: 角を丸くする 120">
            <a:extLst>
              <a:ext uri="{FF2B5EF4-FFF2-40B4-BE49-F238E27FC236}">
                <a16:creationId xmlns:a16="http://schemas.microsoft.com/office/drawing/2014/main" id="{84476AC9-43A8-FCFC-6CDB-A9CED61CB27F}"/>
              </a:ext>
            </a:extLst>
          </p:cNvPr>
          <p:cNvSpPr/>
          <p:nvPr/>
        </p:nvSpPr>
        <p:spPr>
          <a:xfrm>
            <a:off x="410678" y="3528537"/>
            <a:ext cx="3240000" cy="360000"/>
          </a:xfrm>
          <a:prstGeom prst="roundRect">
            <a:avLst/>
          </a:prstGeom>
          <a:solidFill>
            <a:srgbClr val="FFFFFF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kern="0" dirty="0">
                <a:solidFill>
                  <a:srgbClr val="000000"/>
                </a:solidFill>
                <a:latin typeface="Arial"/>
                <a:ea typeface="Meiryo UI"/>
              </a:rPr>
              <a:t>提案内容の</a:t>
            </a:r>
            <a:r>
              <a:rPr kumimoji="0" lang="ja-JP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rPr>
              <a:t>具体化</a:t>
            </a:r>
            <a:endParaRPr kumimoji="0" lang="en-US" altLang="ja-JP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eiryo UI"/>
              <a:cs typeface="+mn-cs"/>
            </a:endParaRPr>
          </a:p>
        </p:txBody>
      </p:sp>
      <p:sp>
        <p:nvSpPr>
          <p:cNvPr id="122" name="四角形: 角を丸くする 121">
            <a:extLst>
              <a:ext uri="{FF2B5EF4-FFF2-40B4-BE49-F238E27FC236}">
                <a16:creationId xmlns:a16="http://schemas.microsoft.com/office/drawing/2014/main" id="{523D37E1-C97B-2064-E1DF-A5D4B3075042}"/>
              </a:ext>
            </a:extLst>
          </p:cNvPr>
          <p:cNvSpPr/>
          <p:nvPr/>
        </p:nvSpPr>
        <p:spPr>
          <a:xfrm>
            <a:off x="4434053" y="3042258"/>
            <a:ext cx="3240000" cy="360000"/>
          </a:xfrm>
          <a:prstGeom prst="roundRect">
            <a:avLst/>
          </a:prstGeom>
          <a:solidFill>
            <a:srgbClr val="FFFFFF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defRPr/>
            </a:pPr>
            <a:r>
              <a:rPr kumimoji="0" lang="ja-JP" altLang="en-US" sz="1200" kern="0" dirty="0">
                <a:solidFill>
                  <a:srgbClr val="000000"/>
                </a:solidFill>
                <a:latin typeface="Arial"/>
                <a:ea typeface="Meiryo UI"/>
              </a:rPr>
              <a:t>提案のフィードバック</a:t>
            </a:r>
            <a:endParaRPr kumimoji="0" lang="en-US" altLang="ja-JP" sz="1200" kern="0" dirty="0">
              <a:solidFill>
                <a:srgbClr val="000000"/>
              </a:solidFill>
              <a:latin typeface="Arial"/>
              <a:ea typeface="Meiryo UI"/>
            </a:endParaRPr>
          </a:p>
        </p:txBody>
      </p:sp>
      <p:sp>
        <p:nvSpPr>
          <p:cNvPr id="123" name="四角形: 角を丸くする 122">
            <a:extLst>
              <a:ext uri="{FF2B5EF4-FFF2-40B4-BE49-F238E27FC236}">
                <a16:creationId xmlns:a16="http://schemas.microsoft.com/office/drawing/2014/main" id="{0AD6198E-F439-AA54-6EB0-238927C116DD}"/>
              </a:ext>
            </a:extLst>
          </p:cNvPr>
          <p:cNvSpPr/>
          <p:nvPr/>
        </p:nvSpPr>
        <p:spPr>
          <a:xfrm>
            <a:off x="8464135" y="3042258"/>
            <a:ext cx="3240000" cy="360000"/>
          </a:xfrm>
          <a:prstGeom prst="roundRect">
            <a:avLst/>
          </a:prstGeom>
          <a:solidFill>
            <a:srgbClr val="FFFFFF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Arial"/>
                <a:ea typeface="Meiryo UI"/>
                <a:cs typeface="+mn-cs"/>
              </a:rPr>
              <a:t>提案資料の確認</a:t>
            </a:r>
            <a:endParaRPr kumimoji="0" lang="en-US" altLang="ja-JP" sz="1200" b="0" i="0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Arial"/>
              <a:ea typeface="Meiryo UI"/>
              <a:cs typeface="+mn-cs"/>
            </a:endParaRPr>
          </a:p>
        </p:txBody>
      </p:sp>
      <p:sp>
        <p:nvSpPr>
          <p:cNvPr id="124" name="四角形: 角を丸くする 123">
            <a:extLst>
              <a:ext uri="{FF2B5EF4-FFF2-40B4-BE49-F238E27FC236}">
                <a16:creationId xmlns:a16="http://schemas.microsoft.com/office/drawing/2014/main" id="{18894D94-8D6D-9D61-CB26-FAC29FD3C6B3}"/>
              </a:ext>
            </a:extLst>
          </p:cNvPr>
          <p:cNvSpPr/>
          <p:nvPr/>
        </p:nvSpPr>
        <p:spPr>
          <a:xfrm>
            <a:off x="8464135" y="4014816"/>
            <a:ext cx="3240000" cy="360000"/>
          </a:xfrm>
          <a:prstGeom prst="roundRect">
            <a:avLst/>
          </a:prstGeom>
          <a:solidFill>
            <a:srgbClr val="FFFFFF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kern="0" dirty="0">
                <a:solidFill>
                  <a:srgbClr val="000000"/>
                </a:solidFill>
                <a:latin typeface="Arial"/>
                <a:ea typeface="Meiryo UI"/>
              </a:rPr>
              <a:t>最終発表</a:t>
            </a:r>
            <a:r>
              <a:rPr kumimoji="0" lang="ja-JP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rPr>
              <a:t>の準備</a:t>
            </a:r>
            <a:endParaRPr kumimoji="0" lang="en-US" altLang="ja-JP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eiryo UI"/>
              <a:cs typeface="+mn-cs"/>
            </a:endParaRPr>
          </a:p>
        </p:txBody>
      </p:sp>
      <p:sp>
        <p:nvSpPr>
          <p:cNvPr id="125" name="四角形: 角を丸くする 124">
            <a:extLst>
              <a:ext uri="{FF2B5EF4-FFF2-40B4-BE49-F238E27FC236}">
                <a16:creationId xmlns:a16="http://schemas.microsoft.com/office/drawing/2014/main" id="{41CB5A2C-102A-2C64-4685-3F9C9DE19D65}"/>
              </a:ext>
            </a:extLst>
          </p:cNvPr>
          <p:cNvSpPr/>
          <p:nvPr/>
        </p:nvSpPr>
        <p:spPr>
          <a:xfrm>
            <a:off x="8464135" y="3528537"/>
            <a:ext cx="3240000" cy="360000"/>
          </a:xfrm>
          <a:prstGeom prst="roundRect">
            <a:avLst/>
          </a:prstGeom>
          <a:solidFill>
            <a:srgbClr val="FFFFFF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defRPr/>
            </a:pPr>
            <a:r>
              <a:rPr kumimoji="0" lang="ja-JP" altLang="en-US" sz="1200" kern="0" dirty="0">
                <a:solidFill>
                  <a:srgbClr val="000000"/>
                </a:solidFill>
                <a:latin typeface="Arial"/>
                <a:ea typeface="Meiryo UI"/>
              </a:rPr>
              <a:t>提案資料の提出</a:t>
            </a:r>
            <a:endParaRPr kumimoji="0" lang="en-US" altLang="ja-JP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eiryo UI"/>
              <a:cs typeface="+mn-cs"/>
            </a:endParaRPr>
          </a:p>
        </p:txBody>
      </p:sp>
      <p:sp>
        <p:nvSpPr>
          <p:cNvPr id="126" name="四角形: 角を丸くする 125">
            <a:extLst>
              <a:ext uri="{FF2B5EF4-FFF2-40B4-BE49-F238E27FC236}">
                <a16:creationId xmlns:a16="http://schemas.microsoft.com/office/drawing/2014/main" id="{3682C3A7-646A-4DEB-FEC3-49012CB4A2F3}"/>
              </a:ext>
            </a:extLst>
          </p:cNvPr>
          <p:cNvSpPr/>
          <p:nvPr/>
        </p:nvSpPr>
        <p:spPr>
          <a:xfrm>
            <a:off x="410678" y="4501094"/>
            <a:ext cx="3240000" cy="360000"/>
          </a:xfrm>
          <a:prstGeom prst="roundRect">
            <a:avLst/>
          </a:prstGeom>
          <a:solidFill>
            <a:srgbClr val="FFFFFF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defRPr/>
            </a:pPr>
            <a:r>
              <a:rPr kumimoji="0" lang="ja-JP" altLang="en-US" sz="1200" kern="0" dirty="0">
                <a:solidFill>
                  <a:srgbClr val="000000"/>
                </a:solidFill>
                <a:latin typeface="Arial"/>
                <a:ea typeface="Meiryo UI"/>
              </a:rPr>
              <a:t>提案資料</a:t>
            </a:r>
            <a:r>
              <a:rPr kumimoji="0" lang="ja-JP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rPr>
              <a:t>の</a:t>
            </a:r>
            <a:r>
              <a:rPr kumimoji="0" lang="ja-JP" altLang="en-US" sz="1200" kern="0" dirty="0">
                <a:solidFill>
                  <a:srgbClr val="000000"/>
                </a:solidFill>
                <a:latin typeface="Arial"/>
                <a:ea typeface="Meiryo UI"/>
              </a:rPr>
              <a:t>提出</a:t>
            </a:r>
            <a:endParaRPr kumimoji="0" lang="en-US" altLang="ja-JP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eiryo UI"/>
              <a:cs typeface="+mn-cs"/>
            </a:endParaRPr>
          </a:p>
        </p:txBody>
      </p:sp>
      <p:sp>
        <p:nvSpPr>
          <p:cNvPr id="127" name="矢印: 下 126">
            <a:extLst>
              <a:ext uri="{FF2B5EF4-FFF2-40B4-BE49-F238E27FC236}">
                <a16:creationId xmlns:a16="http://schemas.microsoft.com/office/drawing/2014/main" id="{48B13817-8C68-6BEB-03CE-A62871A35D88}"/>
              </a:ext>
            </a:extLst>
          </p:cNvPr>
          <p:cNvSpPr/>
          <p:nvPr/>
        </p:nvSpPr>
        <p:spPr>
          <a:xfrm>
            <a:off x="9904135" y="4700765"/>
            <a:ext cx="360000" cy="180000"/>
          </a:xfrm>
          <a:prstGeom prst="downArrow">
            <a:avLst/>
          </a:prstGeom>
          <a:solidFill>
            <a:schemeClr val="bg1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400" b="0" i="0" u="none" strike="noStrike" kern="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eiryo UI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27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D05A2-6C5B-95A9-6856-2972AD5FE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タイトル 1">
            <a:extLst>
              <a:ext uri="{FF2B5EF4-FFF2-40B4-BE49-F238E27FC236}">
                <a16:creationId xmlns:a16="http://schemas.microsoft.com/office/drawing/2014/main" id="{144B32AA-85C2-BD46-C735-DB9104F39391}"/>
              </a:ext>
            </a:extLst>
          </p:cNvPr>
          <p:cNvSpPr txBox="1">
            <a:spLocks/>
          </p:cNvSpPr>
          <p:nvPr/>
        </p:nvSpPr>
        <p:spPr>
          <a:xfrm>
            <a:off x="370800" y="334800"/>
            <a:ext cx="11448000" cy="39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00" b="1" i="0" kern="1200" spc="0" baseline="0">
                <a:solidFill>
                  <a:schemeClr val="accent1"/>
                </a:solidFill>
                <a:latin typeface="+mj-ea"/>
                <a:ea typeface="+mj-ea"/>
                <a:cs typeface="HGPGothicE" charset="-128"/>
              </a:defRPr>
            </a:lvl1pPr>
            <a:lvl2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2pPr>
            <a:lvl3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3pPr>
            <a:lvl4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4pPr>
            <a:lvl5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5pPr>
            <a:lvl6pPr marL="609555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6pPr>
            <a:lvl7pPr marL="1219110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7pPr>
            <a:lvl8pPr marL="1828664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8pPr>
            <a:lvl9pPr marL="2438218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9pPr>
          </a:lstStyle>
          <a:p>
            <a:pPr marL="0" marR="0" lvl="0" indent="0" algn="l" defTabSz="60955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dirty="0">
                <a:solidFill>
                  <a:srgbClr val="070F26"/>
                </a:solidFill>
                <a:latin typeface="Meiryo UI"/>
                <a:ea typeface="Meiryo UI"/>
              </a:rPr>
              <a:t>提案資料</a:t>
            </a:r>
            <a:r>
              <a:rPr kumimoji="1" lang="ja-JP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70F26"/>
                </a:solidFill>
                <a:effectLst/>
                <a:uLnTx/>
                <a:uFillTx/>
                <a:latin typeface="Meiryo UI"/>
                <a:ea typeface="Meiryo UI"/>
              </a:rPr>
              <a:t>について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5DBD6FF-AF95-1DA0-D775-8C3EB3A787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14400"/>
            <a:ext cx="7920000" cy="5242685"/>
          </a:xfrm>
        </p:spPr>
        <p:txBody>
          <a:bodyPr>
            <a:normAutofit/>
          </a:bodyPr>
          <a:lstStyle/>
          <a:p>
            <a:r>
              <a:rPr lang="ja-JP" altLang="en-US" dirty="0"/>
              <a:t>企画提案書</a:t>
            </a:r>
            <a:endParaRPr lang="en-US" altLang="ja-JP" dirty="0"/>
          </a:p>
          <a:p>
            <a:pPr lvl="1"/>
            <a:r>
              <a:rPr lang="ja-JP" altLang="en-US" dirty="0"/>
              <a:t>形式：</a:t>
            </a:r>
            <a:r>
              <a:rPr lang="en-US" altLang="ja-JP" dirty="0"/>
              <a:t>PowerPoint</a:t>
            </a:r>
            <a:r>
              <a:rPr lang="ja-JP" altLang="en-US" dirty="0"/>
              <a:t>（</a:t>
            </a:r>
            <a:r>
              <a:rPr lang="en-US" altLang="ja-JP" dirty="0"/>
              <a:t>.pptx</a:t>
            </a:r>
            <a:r>
              <a:rPr lang="ja-JP" altLang="en-US" dirty="0"/>
              <a:t>）</a:t>
            </a:r>
            <a:endParaRPr lang="en-US" altLang="ja-JP" dirty="0"/>
          </a:p>
          <a:p>
            <a:pPr lvl="1"/>
            <a:r>
              <a:rPr lang="ja-JP" altLang="en-US" dirty="0"/>
              <a:t>命名規則：受講者</a:t>
            </a:r>
            <a:r>
              <a:rPr lang="en-US" altLang="ja-JP" dirty="0"/>
              <a:t>ID_</a:t>
            </a:r>
            <a:r>
              <a:rPr lang="ja-JP" altLang="en-US" dirty="0"/>
              <a:t>氏名</a:t>
            </a:r>
            <a:r>
              <a:rPr lang="en-US" altLang="ja-JP" dirty="0"/>
              <a:t>_</a:t>
            </a:r>
            <a:r>
              <a:rPr lang="ja-JP" altLang="en-US" dirty="0"/>
              <a:t>企画提案書</a:t>
            </a:r>
            <a:r>
              <a:rPr lang="en-US" altLang="ja-JP" dirty="0"/>
              <a:t>.pptx</a:t>
            </a:r>
          </a:p>
          <a:p>
            <a:pPr lvl="2"/>
            <a:r>
              <a:rPr lang="ja-JP" altLang="en-US" dirty="0"/>
              <a:t>例：</a:t>
            </a:r>
            <a:r>
              <a:rPr lang="en-US" altLang="ja-JP" dirty="0"/>
              <a:t>S-00_</a:t>
            </a:r>
            <a:r>
              <a:rPr lang="ja-JP" altLang="en-US" dirty="0"/>
              <a:t>佐藤</a:t>
            </a:r>
            <a:r>
              <a:rPr lang="en-US" altLang="ja-JP" dirty="0"/>
              <a:t>A</a:t>
            </a:r>
            <a:r>
              <a:rPr lang="ja-JP" altLang="en-US" dirty="0"/>
              <a:t>子</a:t>
            </a:r>
            <a:r>
              <a:rPr lang="en-US" altLang="ja-JP" dirty="0"/>
              <a:t>_</a:t>
            </a:r>
            <a:r>
              <a:rPr lang="ja-JP" altLang="en-US" dirty="0"/>
              <a:t>企画提案書</a:t>
            </a:r>
            <a:r>
              <a:rPr lang="en-US" altLang="ja-JP" dirty="0"/>
              <a:t>.pptx</a:t>
            </a:r>
          </a:p>
          <a:p>
            <a:r>
              <a:rPr lang="ja-JP" altLang="en-US" dirty="0"/>
              <a:t>プロトタイプ</a:t>
            </a:r>
            <a:endParaRPr lang="en-US" altLang="ja-JP" dirty="0"/>
          </a:p>
          <a:p>
            <a:pPr lvl="1"/>
            <a:r>
              <a:rPr lang="ja-JP" altLang="en-US" dirty="0"/>
              <a:t>形式：ソースコード一式（</a:t>
            </a:r>
            <a:r>
              <a:rPr lang="en-US" altLang="ja-JP" dirty="0"/>
              <a:t>ZIP</a:t>
            </a:r>
            <a:r>
              <a:rPr lang="ja-JP" altLang="en-US" dirty="0"/>
              <a:t>形式）</a:t>
            </a:r>
            <a:endParaRPr lang="en-US" altLang="ja-JP" dirty="0"/>
          </a:p>
          <a:p>
            <a:pPr lvl="2"/>
            <a:r>
              <a:rPr lang="ja-JP" altLang="en-US" dirty="0"/>
              <a:t>ルートディレクトリをそのまま</a:t>
            </a:r>
            <a:r>
              <a:rPr lang="en-US" altLang="ja-JP" dirty="0"/>
              <a:t>ZIP</a:t>
            </a:r>
            <a:r>
              <a:rPr lang="ja-JP" altLang="en-US" dirty="0"/>
              <a:t>形式で圧縮する。</a:t>
            </a:r>
            <a:endParaRPr lang="en-US" altLang="ja-JP" dirty="0"/>
          </a:p>
          <a:p>
            <a:pPr lvl="1"/>
            <a:r>
              <a:rPr lang="ja-JP" altLang="en-US" dirty="0"/>
              <a:t>命名規則：受講者</a:t>
            </a:r>
            <a:r>
              <a:rPr lang="en-US" altLang="ja-JP" dirty="0"/>
              <a:t>ID_</a:t>
            </a:r>
            <a:r>
              <a:rPr lang="ja-JP" altLang="en-US" dirty="0"/>
              <a:t>氏名</a:t>
            </a:r>
            <a:r>
              <a:rPr lang="en-US" altLang="ja-JP" dirty="0"/>
              <a:t>_</a:t>
            </a:r>
            <a:r>
              <a:rPr lang="ja-JP" altLang="en-US" dirty="0"/>
              <a:t>プロトタイプ</a:t>
            </a:r>
            <a:r>
              <a:rPr lang="en-US" altLang="ja-JP" dirty="0"/>
              <a:t>.zip</a:t>
            </a:r>
          </a:p>
          <a:p>
            <a:pPr lvl="2"/>
            <a:r>
              <a:rPr lang="ja-JP" altLang="en-US" dirty="0"/>
              <a:t>例：</a:t>
            </a:r>
            <a:r>
              <a:rPr lang="en-US" altLang="ja-JP" dirty="0"/>
              <a:t>S-00_</a:t>
            </a:r>
            <a:r>
              <a:rPr lang="ja-JP" altLang="en-US" dirty="0"/>
              <a:t>佐藤</a:t>
            </a:r>
            <a:r>
              <a:rPr lang="en-US" altLang="ja-JP" dirty="0"/>
              <a:t>A</a:t>
            </a:r>
            <a:r>
              <a:rPr lang="ja-JP" altLang="en-US" dirty="0"/>
              <a:t>子</a:t>
            </a:r>
            <a:r>
              <a:rPr lang="en-US" altLang="ja-JP" dirty="0"/>
              <a:t>_</a:t>
            </a:r>
            <a:r>
              <a:rPr lang="ja-JP" altLang="en-US" dirty="0"/>
              <a:t>プロトタイプ</a:t>
            </a:r>
            <a:r>
              <a:rPr lang="en-US" altLang="ja-JP" dirty="0"/>
              <a:t>.zip</a:t>
            </a:r>
          </a:p>
          <a:p>
            <a:pPr marL="0" indent="0">
              <a:buNone/>
            </a:pPr>
            <a:endParaRPr lang="en-US" altLang="ja-JP" dirty="0"/>
          </a:p>
          <a:p>
            <a:r>
              <a:rPr lang="ja-JP" altLang="en-US" dirty="0"/>
              <a:t>提出先</a:t>
            </a:r>
            <a:endParaRPr lang="en-US" altLang="ja-JP" dirty="0"/>
          </a:p>
          <a:p>
            <a:pPr lvl="1"/>
            <a:r>
              <a:rPr lang="en-US" altLang="ja-JP" dirty="0"/>
              <a:t>XXX</a:t>
            </a: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18E456B1-12C3-C1A6-92B0-30A1B2D6FC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0619" y="1027662"/>
            <a:ext cx="3664014" cy="1005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3709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09F09-97AC-277C-B528-BACF01188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タイトル 1">
            <a:extLst>
              <a:ext uri="{FF2B5EF4-FFF2-40B4-BE49-F238E27FC236}">
                <a16:creationId xmlns:a16="http://schemas.microsoft.com/office/drawing/2014/main" id="{13691081-A195-E07D-931A-B6B77EFCA795}"/>
              </a:ext>
            </a:extLst>
          </p:cNvPr>
          <p:cNvSpPr txBox="1">
            <a:spLocks/>
          </p:cNvSpPr>
          <p:nvPr/>
        </p:nvSpPr>
        <p:spPr>
          <a:xfrm>
            <a:off x="370800" y="334800"/>
            <a:ext cx="11448000" cy="39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00" b="1" i="0" kern="1200" spc="0" baseline="0">
                <a:solidFill>
                  <a:schemeClr val="accent1"/>
                </a:solidFill>
                <a:latin typeface="+mj-ea"/>
                <a:ea typeface="+mj-ea"/>
                <a:cs typeface="HGPGothicE" charset="-128"/>
              </a:defRPr>
            </a:lvl1pPr>
            <a:lvl2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2pPr>
            <a:lvl3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3pPr>
            <a:lvl4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4pPr>
            <a:lvl5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5pPr>
            <a:lvl6pPr marL="609555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6pPr>
            <a:lvl7pPr marL="1219110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7pPr>
            <a:lvl8pPr marL="1828664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8pPr>
            <a:lvl9pPr marL="2438218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9pPr>
          </a:lstStyle>
          <a:p>
            <a:pPr marL="0" marR="0" lvl="0" indent="0" algn="l" defTabSz="60955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70F26"/>
                </a:solidFill>
                <a:effectLst/>
                <a:uLnTx/>
                <a:uFillTx/>
                <a:latin typeface="Meiryo UI"/>
                <a:ea typeface="Meiryo UI"/>
              </a:rPr>
              <a:t>提案資料の作成について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81E1B53-BA70-0D2F-2098-F90A924827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14400"/>
            <a:ext cx="7920000" cy="5242685"/>
          </a:xfrm>
        </p:spPr>
        <p:txBody>
          <a:bodyPr>
            <a:normAutofit/>
          </a:bodyPr>
          <a:lstStyle/>
          <a:p>
            <a:r>
              <a:rPr lang="ja-JP" altLang="en-US" dirty="0"/>
              <a:t>提案資料の作成の流れ</a:t>
            </a:r>
            <a:endParaRPr lang="en-US" altLang="ja-JP" dirty="0"/>
          </a:p>
          <a:p>
            <a:pPr marL="914400" lvl="1" indent="-457200">
              <a:buFont typeface="+mj-lt"/>
              <a:buAutoNum type="arabicPeriod"/>
            </a:pPr>
            <a:r>
              <a:rPr lang="ja-JP" altLang="en-US" dirty="0"/>
              <a:t>提案テーマの検討</a:t>
            </a:r>
            <a:endParaRPr lang="en-US" altLang="ja-JP" dirty="0"/>
          </a:p>
          <a:p>
            <a:pPr lvl="2"/>
            <a:r>
              <a:rPr lang="ja-JP" altLang="en-US" dirty="0"/>
              <a:t>課題に沿った提案テーマを検討する。</a:t>
            </a:r>
            <a:endParaRPr lang="en-US" altLang="ja-JP" dirty="0"/>
          </a:p>
          <a:p>
            <a:pPr marL="914400" lvl="1" indent="-457200">
              <a:buFont typeface="+mj-lt"/>
              <a:buAutoNum type="arabicPeriod"/>
            </a:pPr>
            <a:r>
              <a:rPr lang="ja-JP" altLang="en-US" dirty="0"/>
              <a:t>提案テーマの意見交換</a:t>
            </a:r>
            <a:endParaRPr lang="en-US" altLang="ja-JP" dirty="0"/>
          </a:p>
          <a:p>
            <a:pPr lvl="2"/>
            <a:r>
              <a:rPr lang="ja-JP" altLang="en-US" dirty="0"/>
              <a:t>チームで提案テーマの妥当性について意見交換を行う。</a:t>
            </a:r>
            <a:endParaRPr lang="en-US" altLang="ja-JP" dirty="0"/>
          </a:p>
          <a:p>
            <a:pPr marL="914400" lvl="1" indent="-457200">
              <a:buFont typeface="+mj-lt"/>
              <a:buAutoNum type="arabicPeriod"/>
            </a:pPr>
            <a:r>
              <a:rPr lang="ja-JP" altLang="en-US" dirty="0"/>
              <a:t>提案内容の調査</a:t>
            </a:r>
            <a:endParaRPr lang="en-US" altLang="ja-JP" dirty="0"/>
          </a:p>
          <a:p>
            <a:pPr lvl="2"/>
            <a:r>
              <a:rPr lang="ja-JP" altLang="en-US" dirty="0"/>
              <a:t>生成</a:t>
            </a:r>
            <a:r>
              <a:rPr lang="en-US" altLang="ja-JP" dirty="0"/>
              <a:t>AI</a:t>
            </a:r>
            <a:r>
              <a:rPr lang="ja-JP" altLang="en-US" dirty="0"/>
              <a:t>を利用し、提案テーマに関する情報を整理する。</a:t>
            </a:r>
            <a:endParaRPr lang="en-US" altLang="ja-JP" dirty="0"/>
          </a:p>
          <a:p>
            <a:pPr marL="914400" lvl="1" indent="-457200">
              <a:buFont typeface="+mj-lt"/>
              <a:buAutoNum type="arabicPeriod"/>
            </a:pPr>
            <a:r>
              <a:rPr lang="ja-JP" altLang="en-US" dirty="0"/>
              <a:t>提案内容の具体化</a:t>
            </a:r>
            <a:endParaRPr lang="en-US" altLang="ja-JP" dirty="0"/>
          </a:p>
          <a:p>
            <a:pPr lvl="2"/>
            <a:r>
              <a:rPr lang="ja-JP" altLang="en-US" dirty="0"/>
              <a:t>生成</a:t>
            </a:r>
            <a:r>
              <a:rPr lang="en-US" altLang="ja-JP" dirty="0"/>
              <a:t>AI</a:t>
            </a:r>
            <a:r>
              <a:rPr lang="ja-JP" altLang="en-US" dirty="0"/>
              <a:t>を利用し、解決したい課題、サービスや機能、利用者を整理する。</a:t>
            </a:r>
            <a:endParaRPr lang="en-US" altLang="ja-JP" dirty="0"/>
          </a:p>
          <a:p>
            <a:pPr marL="914400" lvl="1" indent="-457200">
              <a:buFont typeface="+mj-lt"/>
              <a:buAutoNum type="arabicPeriod"/>
            </a:pPr>
            <a:r>
              <a:rPr lang="ja-JP" altLang="en-US" dirty="0"/>
              <a:t>提案資料の作成</a:t>
            </a:r>
            <a:endParaRPr lang="en-US" altLang="ja-JP" dirty="0"/>
          </a:p>
          <a:p>
            <a:pPr lvl="2"/>
            <a:r>
              <a:rPr lang="ja-JP" altLang="en-US" dirty="0"/>
              <a:t>生成</a:t>
            </a:r>
            <a:r>
              <a:rPr lang="en-US" altLang="ja-JP" dirty="0"/>
              <a:t>AI</a:t>
            </a:r>
            <a:r>
              <a:rPr lang="ja-JP" altLang="en-US" dirty="0"/>
              <a:t>を利用し、企画提案書、プロトタイプを作成する。</a:t>
            </a:r>
            <a:endParaRPr lang="en-US" altLang="ja-JP" dirty="0"/>
          </a:p>
          <a:p>
            <a:pPr marL="914400" lvl="1" indent="-457200">
              <a:buFont typeface="+mj-lt"/>
              <a:buAutoNum type="arabicPeriod"/>
            </a:pPr>
            <a:r>
              <a:rPr lang="ja-JP" altLang="en-US" dirty="0"/>
              <a:t>提案資料の提出</a:t>
            </a:r>
            <a:endParaRPr lang="en-US" altLang="ja-JP" dirty="0"/>
          </a:p>
          <a:p>
            <a:pPr lvl="2"/>
            <a:r>
              <a:rPr lang="ja-JP" altLang="en-US" dirty="0"/>
              <a:t>指定の場所に提案資料を提出する。</a:t>
            </a:r>
            <a:endParaRPr lang="en-US" altLang="ja-JP" dirty="0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A62C77E1-33C1-DA68-B4D9-15F12D65EC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8800" y="532800"/>
            <a:ext cx="2520000" cy="2596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634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90C8F-A814-5143-E51E-E848FD662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タイトル 1">
            <a:extLst>
              <a:ext uri="{FF2B5EF4-FFF2-40B4-BE49-F238E27FC236}">
                <a16:creationId xmlns:a16="http://schemas.microsoft.com/office/drawing/2014/main" id="{A748C259-4E8E-05AF-3CA3-8E90D6D3B0FE}"/>
              </a:ext>
            </a:extLst>
          </p:cNvPr>
          <p:cNvSpPr txBox="1">
            <a:spLocks/>
          </p:cNvSpPr>
          <p:nvPr/>
        </p:nvSpPr>
        <p:spPr>
          <a:xfrm>
            <a:off x="370800" y="334800"/>
            <a:ext cx="11448000" cy="39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00" b="1" i="0" kern="1200" spc="0" baseline="0">
                <a:solidFill>
                  <a:schemeClr val="accent1"/>
                </a:solidFill>
                <a:latin typeface="+mj-ea"/>
                <a:ea typeface="+mj-ea"/>
                <a:cs typeface="HGPGothicE" charset="-128"/>
              </a:defRPr>
            </a:lvl1pPr>
            <a:lvl2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2pPr>
            <a:lvl3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3pPr>
            <a:lvl4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4pPr>
            <a:lvl5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5pPr>
            <a:lvl6pPr marL="609555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6pPr>
            <a:lvl7pPr marL="1219110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7pPr>
            <a:lvl8pPr marL="1828664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8pPr>
            <a:lvl9pPr marL="2438218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9pPr>
          </a:lstStyle>
          <a:p>
            <a:pPr marL="0" marR="0" lvl="0" indent="0" algn="l" defTabSz="60955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70F26"/>
                </a:solidFill>
                <a:effectLst/>
                <a:uLnTx/>
                <a:uFillTx/>
                <a:latin typeface="Meiryo UI"/>
                <a:ea typeface="Meiryo UI"/>
              </a:rPr>
              <a:t>提案の実施について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AD310E2-8CE8-FEB7-E56A-093A017594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14400"/>
            <a:ext cx="7920000" cy="3240157"/>
          </a:xfrm>
        </p:spPr>
        <p:txBody>
          <a:bodyPr>
            <a:normAutofit/>
          </a:bodyPr>
          <a:lstStyle/>
          <a:p>
            <a:r>
              <a:rPr lang="ja-JP" altLang="en-US" dirty="0"/>
              <a:t>提案の実施の流れ</a:t>
            </a:r>
            <a:endParaRPr lang="en-US" altLang="ja-JP" dirty="0"/>
          </a:p>
          <a:p>
            <a:pPr marL="914400" lvl="1" indent="-457200">
              <a:buFont typeface="+mj-lt"/>
              <a:buAutoNum type="arabicPeriod"/>
            </a:pPr>
            <a:r>
              <a:rPr lang="ja-JP" altLang="en-US" dirty="0"/>
              <a:t>発表順の決定</a:t>
            </a:r>
            <a:endParaRPr lang="en-US" altLang="ja-JP" dirty="0"/>
          </a:p>
          <a:p>
            <a:pPr lvl="2"/>
            <a:r>
              <a:rPr lang="ja-JP" altLang="en-US" dirty="0"/>
              <a:t>チーム内で発表順を決める。</a:t>
            </a:r>
            <a:endParaRPr lang="en-US" altLang="ja-JP" dirty="0"/>
          </a:p>
          <a:p>
            <a:pPr marL="914400" lvl="1" indent="-457200">
              <a:buFont typeface="+mj-lt"/>
              <a:buAutoNum type="arabicPeriod"/>
            </a:pPr>
            <a:r>
              <a:rPr lang="ja-JP" altLang="en-US" dirty="0"/>
              <a:t>提案の実施</a:t>
            </a:r>
            <a:endParaRPr lang="en-US" altLang="ja-JP" dirty="0"/>
          </a:p>
          <a:p>
            <a:pPr lvl="2"/>
            <a:r>
              <a:rPr lang="ja-JP" altLang="en-US" dirty="0"/>
              <a:t>提案資料を用いて提案を実施する。</a:t>
            </a:r>
            <a:endParaRPr lang="en-US" altLang="ja-JP" dirty="0"/>
          </a:p>
          <a:p>
            <a:pPr marL="914400" lvl="1" indent="-457200">
              <a:buFont typeface="+mj-lt"/>
              <a:buAutoNum type="arabicPeriod"/>
            </a:pPr>
            <a:r>
              <a:rPr lang="ja-JP" altLang="en-US" dirty="0"/>
              <a:t>提案のフィードバック</a:t>
            </a:r>
            <a:endParaRPr lang="en-US" altLang="ja-JP" dirty="0"/>
          </a:p>
          <a:p>
            <a:pPr lvl="2"/>
            <a:r>
              <a:rPr lang="ja-JP" altLang="en-US" dirty="0"/>
              <a:t>提案資料や提案方法についてのフィードバック（改善点、アドバイス）を受ける。</a:t>
            </a:r>
            <a:endParaRPr lang="en-US" altLang="ja-JP" dirty="0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A3BCB6E3-F5DE-E9A6-75CB-968843BAB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8800" y="532800"/>
            <a:ext cx="2520000" cy="1577665"/>
          </a:xfrm>
          <a:prstGeom prst="rect">
            <a:avLst/>
          </a:prstGeom>
        </p:spPr>
      </p:pic>
      <p:sp>
        <p:nvSpPr>
          <p:cNvPr id="6" name="コンテンツ プレースホルダー 2">
            <a:extLst>
              <a:ext uri="{FF2B5EF4-FFF2-40B4-BE49-F238E27FC236}">
                <a16:creationId xmlns:a16="http://schemas.microsoft.com/office/drawing/2014/main" id="{6C3D4A7F-415E-0099-C26D-C303E0473D47}"/>
              </a:ext>
            </a:extLst>
          </p:cNvPr>
          <p:cNvSpPr txBox="1">
            <a:spLocks/>
          </p:cNvSpPr>
          <p:nvPr/>
        </p:nvSpPr>
        <p:spPr>
          <a:xfrm>
            <a:off x="838200" y="4571861"/>
            <a:ext cx="7920000" cy="12822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ja-JP" altLang="en-US" dirty="0"/>
              <a:t>手順</a:t>
            </a:r>
            <a:r>
              <a:rPr lang="en-US" altLang="ja-JP" dirty="0"/>
              <a:t>2~</a:t>
            </a:r>
            <a:r>
              <a:rPr lang="ja-JP" altLang="en-US" dirty="0"/>
              <a:t>手順</a:t>
            </a:r>
            <a:r>
              <a:rPr lang="en-US" altLang="ja-JP" dirty="0"/>
              <a:t>3</a:t>
            </a:r>
            <a:r>
              <a:rPr lang="ja-JP" altLang="en-US" dirty="0"/>
              <a:t>をチーム内で繰り返してください。</a:t>
            </a:r>
            <a:endParaRPr lang="en-US" altLang="ja-JP" dirty="0"/>
          </a:p>
          <a:p>
            <a:pPr lvl="2"/>
            <a:r>
              <a:rPr lang="ja-JP" altLang="en-US" dirty="0"/>
              <a:t>手順</a:t>
            </a:r>
            <a:r>
              <a:rPr lang="en-US" altLang="ja-JP" dirty="0"/>
              <a:t>2</a:t>
            </a:r>
            <a:r>
              <a:rPr lang="ja-JP" altLang="en-US" dirty="0"/>
              <a:t>：</a:t>
            </a:r>
            <a:r>
              <a:rPr lang="en-US" altLang="ja-JP" dirty="0"/>
              <a:t>15</a:t>
            </a:r>
            <a:r>
              <a:rPr lang="ja-JP" altLang="en-US" dirty="0"/>
              <a:t>分</a:t>
            </a:r>
            <a:endParaRPr lang="en-US" altLang="ja-JP" dirty="0"/>
          </a:p>
          <a:p>
            <a:pPr lvl="2"/>
            <a:r>
              <a:rPr lang="ja-JP" altLang="en-US" dirty="0"/>
              <a:t>手順</a:t>
            </a:r>
            <a:r>
              <a:rPr lang="en-US" altLang="ja-JP" dirty="0"/>
              <a:t>3</a:t>
            </a:r>
            <a:r>
              <a:rPr lang="ja-JP" altLang="en-US" dirty="0"/>
              <a:t>：</a:t>
            </a:r>
            <a:r>
              <a:rPr lang="en-US" altLang="ja-JP" dirty="0"/>
              <a:t>5</a:t>
            </a:r>
            <a:r>
              <a:rPr lang="ja-JP" altLang="en-US" dirty="0"/>
              <a:t>分</a:t>
            </a:r>
          </a:p>
        </p:txBody>
      </p:sp>
    </p:spTree>
    <p:extLst>
      <p:ext uri="{BB962C8B-B14F-4D97-AF65-F5344CB8AC3E}">
        <p14:creationId xmlns:p14="http://schemas.microsoft.com/office/powerpoint/2010/main" val="1361378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A904E-9897-423B-CC66-2D3A2F0FB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タイトル 1">
            <a:extLst>
              <a:ext uri="{FF2B5EF4-FFF2-40B4-BE49-F238E27FC236}">
                <a16:creationId xmlns:a16="http://schemas.microsoft.com/office/drawing/2014/main" id="{7BE631AC-0FCF-57F9-F8EF-89A8D55B3070}"/>
              </a:ext>
            </a:extLst>
          </p:cNvPr>
          <p:cNvSpPr txBox="1">
            <a:spLocks/>
          </p:cNvSpPr>
          <p:nvPr/>
        </p:nvSpPr>
        <p:spPr>
          <a:xfrm>
            <a:off x="370800" y="334800"/>
            <a:ext cx="11448000" cy="39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00" b="1" i="0" kern="1200" spc="0" baseline="0">
                <a:solidFill>
                  <a:schemeClr val="accent1"/>
                </a:solidFill>
                <a:latin typeface="+mj-ea"/>
                <a:ea typeface="+mj-ea"/>
                <a:cs typeface="HGPGothicE" charset="-128"/>
              </a:defRPr>
            </a:lvl1pPr>
            <a:lvl2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2pPr>
            <a:lvl3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3pPr>
            <a:lvl4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4pPr>
            <a:lvl5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5pPr>
            <a:lvl6pPr marL="609555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6pPr>
            <a:lvl7pPr marL="1219110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7pPr>
            <a:lvl8pPr marL="1828664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8pPr>
            <a:lvl9pPr marL="2438218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9pPr>
          </a:lstStyle>
          <a:p>
            <a:pPr marL="0" marR="0" lvl="0" indent="0" algn="l" defTabSz="60955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70F26"/>
                </a:solidFill>
                <a:effectLst/>
                <a:uLnTx/>
                <a:uFillTx/>
                <a:latin typeface="Meiryo UI"/>
                <a:ea typeface="Meiryo UI"/>
              </a:rPr>
              <a:t>提案の改善について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24310D7-9F31-3C08-300C-9CDB11F61D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14400"/>
            <a:ext cx="8116957" cy="5242685"/>
          </a:xfrm>
        </p:spPr>
        <p:txBody>
          <a:bodyPr>
            <a:normAutofit/>
          </a:bodyPr>
          <a:lstStyle/>
          <a:p>
            <a:r>
              <a:rPr lang="ja-JP" altLang="en-US" dirty="0"/>
              <a:t>提案の改善の流れ</a:t>
            </a:r>
            <a:endParaRPr lang="en-US" altLang="ja-JP" dirty="0"/>
          </a:p>
          <a:p>
            <a:pPr marL="914400" lvl="1" indent="-457200">
              <a:buFont typeface="+mj-lt"/>
              <a:buAutoNum type="arabicPeriod"/>
            </a:pPr>
            <a:r>
              <a:rPr lang="ja-JP" altLang="en-US" dirty="0"/>
              <a:t>フィードバック内容の整理</a:t>
            </a:r>
            <a:endParaRPr lang="en-US" altLang="ja-JP" dirty="0"/>
          </a:p>
          <a:p>
            <a:pPr lvl="2"/>
            <a:r>
              <a:rPr lang="ja-JP" altLang="en-US" dirty="0"/>
              <a:t>フィードバックの内容を整理し、どの内容を反映するかを決定する。</a:t>
            </a:r>
            <a:endParaRPr lang="en-US" altLang="ja-JP" dirty="0"/>
          </a:p>
          <a:p>
            <a:pPr marL="914400" lvl="1" indent="-457200">
              <a:buFont typeface="+mj-lt"/>
              <a:buAutoNum type="arabicPeriod"/>
            </a:pPr>
            <a:r>
              <a:rPr lang="ja-JP" altLang="en-US" dirty="0"/>
              <a:t>提案資料の修正</a:t>
            </a:r>
            <a:endParaRPr lang="en-US" altLang="ja-JP" dirty="0"/>
          </a:p>
          <a:p>
            <a:pPr lvl="2"/>
            <a:r>
              <a:rPr lang="ja-JP" altLang="en-US" dirty="0"/>
              <a:t>フィードバックの内容を提案資料に反映する。</a:t>
            </a:r>
            <a:endParaRPr lang="en-US" altLang="ja-JP" dirty="0"/>
          </a:p>
          <a:p>
            <a:pPr marL="914400" lvl="1" indent="-457200">
              <a:buFont typeface="+mj-lt"/>
              <a:buAutoNum type="arabicPeriod"/>
            </a:pPr>
            <a:r>
              <a:rPr lang="ja-JP" altLang="en-US" dirty="0"/>
              <a:t>提案資料の確認</a:t>
            </a:r>
            <a:endParaRPr lang="en-US" altLang="ja-JP" dirty="0"/>
          </a:p>
          <a:p>
            <a:pPr lvl="2"/>
            <a:r>
              <a:rPr lang="ja-JP" altLang="en-US" dirty="0"/>
              <a:t>生成</a:t>
            </a:r>
            <a:r>
              <a:rPr lang="en-US" altLang="ja-JP" dirty="0"/>
              <a:t>AI</a:t>
            </a:r>
            <a:r>
              <a:rPr lang="ja-JP" altLang="en-US" dirty="0"/>
              <a:t>を利用し、修正内容がフィードバック内容を適切に反映しているかを確認する。</a:t>
            </a:r>
            <a:endParaRPr lang="en-US" altLang="ja-JP" dirty="0"/>
          </a:p>
          <a:p>
            <a:pPr marL="914400" lvl="1" indent="-457200">
              <a:buFont typeface="+mj-lt"/>
              <a:buAutoNum type="arabicPeriod"/>
            </a:pPr>
            <a:r>
              <a:rPr lang="ja-JP" altLang="en-US" dirty="0"/>
              <a:t>提案資料の提出</a:t>
            </a:r>
            <a:endParaRPr lang="en-US" altLang="ja-JP" dirty="0"/>
          </a:p>
          <a:p>
            <a:pPr lvl="2"/>
            <a:r>
              <a:rPr lang="ja-JP" altLang="en-US" dirty="0"/>
              <a:t>修正した提案資料を提出する。</a:t>
            </a:r>
            <a:endParaRPr lang="en-US" altLang="ja-JP" dirty="0"/>
          </a:p>
          <a:p>
            <a:pPr marL="1371600" lvl="3" indent="0">
              <a:buNone/>
            </a:pPr>
            <a:r>
              <a:rPr lang="en-US" altLang="ja-JP" dirty="0"/>
              <a:t>※</a:t>
            </a:r>
            <a:r>
              <a:rPr lang="ja-JP" altLang="en-US" dirty="0"/>
              <a:t>修正前の提案資料は不要です。</a:t>
            </a:r>
            <a:endParaRPr lang="en-US" altLang="ja-JP" dirty="0"/>
          </a:p>
          <a:p>
            <a:pPr marL="914400" lvl="1" indent="-457200">
              <a:buFont typeface="+mj-lt"/>
              <a:buAutoNum type="arabicPeriod"/>
            </a:pPr>
            <a:r>
              <a:rPr lang="ja-JP" altLang="en-US" dirty="0"/>
              <a:t>最終発表の準備</a:t>
            </a:r>
            <a:endParaRPr lang="en-US" altLang="ja-JP" dirty="0"/>
          </a:p>
          <a:p>
            <a:pPr lvl="2"/>
            <a:r>
              <a:rPr lang="ja-JP" altLang="en-US" dirty="0"/>
              <a:t>最終発表に向けた準備を行う。</a:t>
            </a:r>
            <a:endParaRPr lang="en-US" altLang="ja-JP" dirty="0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33A09ACE-EF3F-A953-7559-395D06BDD8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8800" y="532800"/>
            <a:ext cx="2520000" cy="2268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2385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417</TotalTime>
  <Words>513</Words>
  <Application>Microsoft Office PowerPoint</Application>
  <PresentationFormat>ワイド画面</PresentationFormat>
  <Paragraphs>86</Paragraphs>
  <Slides>6</Slides>
  <Notes>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1" baseType="lpstr">
      <vt:lpstr>Meiryo UI</vt:lpstr>
      <vt:lpstr>游ゴシック</vt:lpstr>
      <vt:lpstr>游ゴシック Light</vt:lpstr>
      <vt:lpstr>Arial</vt:lpstr>
      <vt:lpstr>Office テーマ</vt:lpstr>
      <vt:lpstr>研修の概要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直樹 石田</dc:creator>
  <cp:lastModifiedBy>直樹 石田</cp:lastModifiedBy>
  <cp:revision>32</cp:revision>
  <dcterms:created xsi:type="dcterms:W3CDTF">2026-07-04T03:22:14Z</dcterms:created>
  <dcterms:modified xsi:type="dcterms:W3CDTF">2026-07-04T23:52:58Z</dcterms:modified>
</cp:coreProperties>
</file>