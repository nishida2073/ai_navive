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9D2A4-1E47-1BD9-3B90-CDDDB58D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734380-090F-528A-0CF8-27E1CE1D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1E1096-5A95-DCE2-A0EA-2BE06A844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A3A51A-51C8-6624-4D54-EE05750FF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29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152EB-F3FF-422D-878C-6057A05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FEB990-078F-B707-0D3B-6F9930A93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B40505-B7E1-0EFF-6551-22A696965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8755EE-8458-C22E-976F-1758E3232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767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9C75F2-6284-9EE3-07F1-8A8C63284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BB957D-55BF-E429-F24B-9AB0F2BC5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提案演習の概要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702255"/>
              </p:ext>
            </p:extLst>
          </p:nvPr>
        </p:nvGraphicFramePr>
        <p:xfrm>
          <a:off x="111443" y="858159"/>
          <a:ext cx="11966713" cy="5546035"/>
        </p:xfrm>
        <a:graphic>
          <a:graphicData uri="http://schemas.openxmlformats.org/drawingml/2006/table">
            <a:tbl>
              <a:tblPr firstRow="1" bandRow="1"/>
              <a:tblGrid>
                <a:gridCol w="390325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8063459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96936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３日目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5149099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D28C7321-A0D6-FB16-7751-66D18883A0A9}"/>
              </a:ext>
            </a:extLst>
          </p:cNvPr>
          <p:cNvGrpSpPr/>
          <p:nvPr/>
        </p:nvGrpSpPr>
        <p:grpSpPr>
          <a:xfrm>
            <a:off x="8284135" y="1394089"/>
            <a:ext cx="3600000" cy="3194561"/>
            <a:chOff x="946296" y="1364275"/>
            <a:chExt cx="4359349" cy="3482870"/>
          </a:xfrm>
        </p:grpSpPr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2287D825-EFC0-7DC5-B49E-4F81F942FF3F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提案の改善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 algn="ctr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フィードバックを基に、更に良い提案に改善にする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BCF5A287-DDE7-5472-75E6-7BB4C6F71601}"/>
                </a:ext>
              </a:extLst>
            </p:cNvPr>
            <p:cNvSpPr/>
            <p:nvPr/>
          </p:nvSpPr>
          <p:spPr>
            <a:xfrm>
              <a:off x="946296" y="1957361"/>
              <a:ext cx="4359349" cy="2889784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230678" y="1394089"/>
            <a:ext cx="3600000" cy="3665292"/>
            <a:chOff x="946296" y="1364275"/>
            <a:chExt cx="4359349" cy="3689675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3146083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提案資料の作成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 algn="ctr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提案テーマの検討～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の作成までを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研修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の全体像について</a:t>
            </a:r>
          </a:p>
        </p:txBody>
      </p:sp>
      <p:sp>
        <p:nvSpPr>
          <p:cNvPr id="72" name="矢印: 下 71">
            <a:extLst>
              <a:ext uri="{FF2B5EF4-FFF2-40B4-BE49-F238E27FC236}">
                <a16:creationId xmlns:a16="http://schemas.microsoft.com/office/drawing/2014/main" id="{6451ECB0-A123-0994-D64E-D3E3E4523E05}"/>
              </a:ext>
            </a:extLst>
          </p:cNvPr>
          <p:cNvSpPr/>
          <p:nvPr/>
        </p:nvSpPr>
        <p:spPr>
          <a:xfrm>
            <a:off x="1850678" y="5128954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93698C79-DEE6-0684-D1B7-7CA945B1F50A}"/>
              </a:ext>
            </a:extLst>
          </p:cNvPr>
          <p:cNvGrpSpPr/>
          <p:nvPr/>
        </p:nvGrpSpPr>
        <p:grpSpPr>
          <a:xfrm>
            <a:off x="230678" y="5350303"/>
            <a:ext cx="3600000" cy="936522"/>
            <a:chOff x="946296" y="5714099"/>
            <a:chExt cx="4359349" cy="936522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A362D9F-58A5-24DF-B107-D1B3A2FB9EAE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E178F656-A521-20CF-B5EC-5D99B984D6E5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</a:t>
              </a:r>
            </a:p>
          </p:txBody>
        </p:sp>
      </p:grp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410678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提案テーマの検討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7E72642D-C26B-0C6A-6527-545C1D4D3DB1}"/>
              </a:ext>
            </a:extLst>
          </p:cNvPr>
          <p:cNvSpPr/>
          <p:nvPr/>
        </p:nvSpPr>
        <p:spPr>
          <a:xfrm>
            <a:off x="410678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の調査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410678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提案テーマの意見交換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254053" y="1394089"/>
            <a:ext cx="3600000" cy="2213815"/>
            <a:chOff x="946296" y="1364275"/>
            <a:chExt cx="4359349" cy="2360634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1"/>
              <a:ext cx="4359349" cy="1767548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提案の実施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を持ち寄り、チーム内で提案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を実施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434053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提案の実施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434053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発表順の決定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6D56B8AD-7F88-6816-05E5-0DDB85094C04}"/>
              </a:ext>
            </a:extLst>
          </p:cNvPr>
          <p:cNvGrpSpPr/>
          <p:nvPr/>
        </p:nvGrpSpPr>
        <p:grpSpPr>
          <a:xfrm>
            <a:off x="8284135" y="4982560"/>
            <a:ext cx="3600000" cy="936522"/>
            <a:chOff x="946296" y="5714099"/>
            <a:chExt cx="4359349" cy="936522"/>
          </a:xfrm>
        </p:grpSpPr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C38E7129-A067-580B-9C38-4DB2FB62F939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en-US" altLang="ja-JP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2F46152B-753C-270F-E0E7-8873998B2F83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・企画提案書（修正済み）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・プロトタイプ（修正済み）</a:t>
              </a:r>
            </a:p>
          </p:txBody>
        </p:sp>
      </p:grpSp>
      <p:sp>
        <p:nvSpPr>
          <p:cNvPr id="108" name="矢印: 下 107">
            <a:extLst>
              <a:ext uri="{FF2B5EF4-FFF2-40B4-BE49-F238E27FC236}">
                <a16:creationId xmlns:a16="http://schemas.microsoft.com/office/drawing/2014/main" id="{810F7EC0-229C-AC63-E677-FA86CEBD7E95}"/>
              </a:ext>
            </a:extLst>
          </p:cNvPr>
          <p:cNvSpPr/>
          <p:nvPr/>
        </p:nvSpPr>
        <p:spPr>
          <a:xfrm rot="16200000">
            <a:off x="3852087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9" name="矢印: 下 108">
            <a:extLst>
              <a:ext uri="{FF2B5EF4-FFF2-40B4-BE49-F238E27FC236}">
                <a16:creationId xmlns:a16="http://schemas.microsoft.com/office/drawing/2014/main" id="{108BCEB6-B31B-8BA9-BEEE-5FAA70A7C06B}"/>
              </a:ext>
            </a:extLst>
          </p:cNvPr>
          <p:cNvSpPr/>
          <p:nvPr/>
        </p:nvSpPr>
        <p:spPr>
          <a:xfrm rot="16200000">
            <a:off x="7917392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15" name="四角形: 角を丸くする 114">
            <a:extLst>
              <a:ext uri="{FF2B5EF4-FFF2-40B4-BE49-F238E27FC236}">
                <a16:creationId xmlns:a16="http://schemas.microsoft.com/office/drawing/2014/main" id="{03FA5720-BD69-3E49-6338-BF91F41F1F4A}"/>
              </a:ext>
            </a:extLst>
          </p:cNvPr>
          <p:cNvSpPr/>
          <p:nvPr/>
        </p:nvSpPr>
        <p:spPr>
          <a:xfrm>
            <a:off x="8464135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提案資料の修正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16" name="四角形: 角を丸くする 115">
            <a:extLst>
              <a:ext uri="{FF2B5EF4-FFF2-40B4-BE49-F238E27FC236}">
                <a16:creationId xmlns:a16="http://schemas.microsoft.com/office/drawing/2014/main" id="{BDADD26E-37BF-56C6-E45F-7595BB7593BC}"/>
              </a:ext>
            </a:extLst>
          </p:cNvPr>
          <p:cNvSpPr/>
          <p:nvPr/>
        </p:nvSpPr>
        <p:spPr>
          <a:xfrm>
            <a:off x="8464135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フィードバック内容の整理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0" name="四角形: 角を丸くする 119">
            <a:extLst>
              <a:ext uri="{FF2B5EF4-FFF2-40B4-BE49-F238E27FC236}">
                <a16:creationId xmlns:a16="http://schemas.microsoft.com/office/drawing/2014/main" id="{422D7EE9-C7CF-BE0D-80F4-E833086B6D92}"/>
              </a:ext>
            </a:extLst>
          </p:cNvPr>
          <p:cNvSpPr/>
          <p:nvPr/>
        </p:nvSpPr>
        <p:spPr>
          <a:xfrm>
            <a:off x="410678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の作成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1" name="四角形: 角を丸くする 120">
            <a:extLst>
              <a:ext uri="{FF2B5EF4-FFF2-40B4-BE49-F238E27FC236}">
                <a16:creationId xmlns:a16="http://schemas.microsoft.com/office/drawing/2014/main" id="{84476AC9-43A8-FCFC-6CDB-A9CED61CB27F}"/>
              </a:ext>
            </a:extLst>
          </p:cNvPr>
          <p:cNvSpPr/>
          <p:nvPr/>
        </p:nvSpPr>
        <p:spPr>
          <a:xfrm>
            <a:off x="410678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提案内容の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具体化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2" name="四角形: 角を丸くする 121">
            <a:extLst>
              <a:ext uri="{FF2B5EF4-FFF2-40B4-BE49-F238E27FC236}">
                <a16:creationId xmlns:a16="http://schemas.microsoft.com/office/drawing/2014/main" id="{523D37E1-C97B-2064-E1DF-A5D4B3075042}"/>
              </a:ext>
            </a:extLst>
          </p:cNvPr>
          <p:cNvSpPr/>
          <p:nvPr/>
        </p:nvSpPr>
        <p:spPr>
          <a:xfrm>
            <a:off x="4434053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提案のフィードバック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3" name="四角形: 角を丸くする 122">
            <a:extLst>
              <a:ext uri="{FF2B5EF4-FFF2-40B4-BE49-F238E27FC236}">
                <a16:creationId xmlns:a16="http://schemas.microsoft.com/office/drawing/2014/main" id="{0AD6198E-F439-AA54-6EB0-238927C116DD}"/>
              </a:ext>
            </a:extLst>
          </p:cNvPr>
          <p:cNvSpPr/>
          <p:nvPr/>
        </p:nvSpPr>
        <p:spPr>
          <a:xfrm>
            <a:off x="8464135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提案資料の確認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4" name="四角形: 角を丸くする 123">
            <a:extLst>
              <a:ext uri="{FF2B5EF4-FFF2-40B4-BE49-F238E27FC236}">
                <a16:creationId xmlns:a16="http://schemas.microsoft.com/office/drawing/2014/main" id="{18894D94-8D6D-9D61-CB26-FAC29FD3C6B3}"/>
              </a:ext>
            </a:extLst>
          </p:cNvPr>
          <p:cNvSpPr/>
          <p:nvPr/>
        </p:nvSpPr>
        <p:spPr>
          <a:xfrm>
            <a:off x="8464135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最終発表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の準備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5" name="四角形: 角を丸くする 124">
            <a:extLst>
              <a:ext uri="{FF2B5EF4-FFF2-40B4-BE49-F238E27FC236}">
                <a16:creationId xmlns:a16="http://schemas.microsoft.com/office/drawing/2014/main" id="{41CB5A2C-102A-2C64-4685-3F9C9DE19D65}"/>
              </a:ext>
            </a:extLst>
          </p:cNvPr>
          <p:cNvSpPr/>
          <p:nvPr/>
        </p:nvSpPr>
        <p:spPr>
          <a:xfrm>
            <a:off x="8464135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6" name="四角形: 角を丸くする 125">
            <a:extLst>
              <a:ext uri="{FF2B5EF4-FFF2-40B4-BE49-F238E27FC236}">
                <a16:creationId xmlns:a16="http://schemas.microsoft.com/office/drawing/2014/main" id="{3682C3A7-646A-4DEB-FEC3-49012CB4A2F3}"/>
              </a:ext>
            </a:extLst>
          </p:cNvPr>
          <p:cNvSpPr/>
          <p:nvPr/>
        </p:nvSpPr>
        <p:spPr>
          <a:xfrm>
            <a:off x="410678" y="450109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7" name="矢印: 下 126">
            <a:extLst>
              <a:ext uri="{FF2B5EF4-FFF2-40B4-BE49-F238E27FC236}">
                <a16:creationId xmlns:a16="http://schemas.microsoft.com/office/drawing/2014/main" id="{48B13817-8C68-6BEB-03CE-A62871A35D88}"/>
              </a:ext>
            </a:extLst>
          </p:cNvPr>
          <p:cNvSpPr/>
          <p:nvPr/>
        </p:nvSpPr>
        <p:spPr>
          <a:xfrm>
            <a:off x="9904135" y="4700765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D05A2-6C5B-95A9-6856-2972AD5F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144B32AA-85C2-BD46-C735-DB9104F39391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提案資料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DBD6FF-AF95-1DA0-D775-8C3EB3A78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7920000" cy="5242685"/>
          </a:xfrm>
        </p:spPr>
        <p:txBody>
          <a:bodyPr>
            <a:normAutofit/>
          </a:bodyPr>
          <a:lstStyle/>
          <a:p>
            <a:r>
              <a:rPr lang="ja-JP" altLang="en-US" dirty="0"/>
              <a:t>企画提案書</a:t>
            </a:r>
            <a:endParaRPr lang="en-US" altLang="ja-JP" dirty="0"/>
          </a:p>
          <a:p>
            <a:pPr lvl="1"/>
            <a:r>
              <a:rPr lang="ja-JP" altLang="en-US" dirty="0"/>
              <a:t>形式：</a:t>
            </a:r>
            <a:r>
              <a:rPr lang="en-US" altLang="ja-JP" dirty="0"/>
              <a:t>PowerPoint</a:t>
            </a:r>
            <a:r>
              <a:rPr lang="ja-JP" altLang="en-US" dirty="0"/>
              <a:t>（</a:t>
            </a:r>
            <a:r>
              <a:rPr lang="en-US" altLang="ja-JP" dirty="0"/>
              <a:t>.pptx</a:t>
            </a:r>
            <a:r>
              <a:rPr lang="ja-JP" altLang="en-US" dirty="0"/>
              <a:t>）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r>
              <a:rPr lang="ja-JP" altLang="en-US" dirty="0"/>
              <a:t>プロトタイプ</a:t>
            </a:r>
            <a:endParaRPr lang="en-US" altLang="ja-JP" dirty="0"/>
          </a:p>
          <a:p>
            <a:pPr lvl="1"/>
            <a:r>
              <a:rPr lang="ja-JP" altLang="en-US" dirty="0"/>
              <a:t>形式：ソースコード一式（</a:t>
            </a:r>
            <a:r>
              <a:rPr lang="en-US" altLang="ja-JP" dirty="0"/>
              <a:t>ZIP</a:t>
            </a:r>
            <a:r>
              <a:rPr lang="ja-JP" altLang="en-US" dirty="0"/>
              <a:t>形式）</a:t>
            </a:r>
            <a:endParaRPr lang="en-US" altLang="ja-JP" dirty="0"/>
          </a:p>
          <a:p>
            <a:pPr lvl="2"/>
            <a:r>
              <a:rPr lang="ja-JP" altLang="en-US" dirty="0"/>
              <a:t>ルートディレクトリをそのまま</a:t>
            </a:r>
            <a:r>
              <a:rPr lang="en-US" altLang="ja-JP" dirty="0"/>
              <a:t>ZIP</a:t>
            </a:r>
            <a:r>
              <a:rPr lang="ja-JP" altLang="en-US" dirty="0"/>
              <a:t>形式で圧縮する。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pPr marL="0" indent="0">
              <a:buNone/>
            </a:pPr>
            <a:endParaRPr lang="en-US" altLang="ja-JP" dirty="0"/>
          </a:p>
          <a:p>
            <a:r>
              <a:rPr lang="ja-JP" altLang="en-US" dirty="0"/>
              <a:t>提出先</a:t>
            </a:r>
            <a:endParaRPr lang="en-US" altLang="ja-JP" dirty="0"/>
          </a:p>
          <a:p>
            <a:pPr lvl="1"/>
            <a:r>
              <a:rPr lang="en-US" altLang="ja-JP" dirty="0"/>
              <a:t>XXX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8E456B1-12C3-C1A6-92B0-30A1B2D6F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19" y="1027662"/>
            <a:ext cx="3664014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70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13691081-A195-E07D-931A-B6B77EFCA795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提案資料の作成について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7920000" cy="5242685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提案資料の作成の流れ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提案テーマの検討</a:t>
            </a:r>
            <a:endParaRPr lang="en-US" altLang="ja-JP" dirty="0"/>
          </a:p>
          <a:p>
            <a:pPr lvl="2"/>
            <a:r>
              <a:rPr lang="ja-JP" altLang="en-US" dirty="0"/>
              <a:t>課題に沿った提案テーマを検討する。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提案テーマの意見交換</a:t>
            </a:r>
            <a:endParaRPr lang="en-US" altLang="ja-JP" dirty="0"/>
          </a:p>
          <a:p>
            <a:pPr lvl="2"/>
            <a:r>
              <a:rPr lang="ja-JP" altLang="en-US" dirty="0"/>
              <a:t>チームで提案テーマの妥当性について意見交換を行う。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提案内容の調査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を利用し、提案テーマに関する情報を整理する。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提案内容の具体化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を利用し、解決したい課題、サービスや機能、利用者を整理する。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提案資料の作成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を利用し、企画提案書、プロトタイプを作成する。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指定の場所に提案資料を提出する。</a:t>
            </a:r>
            <a:endParaRPr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A62C77E1-33C1-DA68-B4D9-15F12D65EC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532800"/>
            <a:ext cx="2520000" cy="259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A748C259-4E8E-05AF-3CA3-8E90D6D3B0FE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提案の実施について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7920000" cy="3240157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提案の実施の流れ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発表順の決定</a:t>
            </a:r>
            <a:endParaRPr lang="en-US" altLang="ja-JP" dirty="0"/>
          </a:p>
          <a:p>
            <a:pPr lvl="2"/>
            <a:r>
              <a:rPr lang="ja-JP" altLang="en-US" dirty="0"/>
              <a:t>チーム内で発表順を決める。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提案の実施</a:t>
            </a:r>
            <a:endParaRPr lang="en-US" altLang="ja-JP" dirty="0"/>
          </a:p>
          <a:p>
            <a:pPr lvl="2"/>
            <a:r>
              <a:rPr lang="ja-JP" altLang="en-US" dirty="0"/>
              <a:t>提案資料を用いて提案を実施する。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提案のフィードバック</a:t>
            </a:r>
            <a:endParaRPr lang="en-US" altLang="ja-JP" dirty="0"/>
          </a:p>
          <a:p>
            <a:pPr lvl="2"/>
            <a:r>
              <a:rPr lang="ja-JP" altLang="en-US" dirty="0"/>
              <a:t>提案資料や提案方法についてのフィードバック（改善点、アドバイス）を受ける。</a:t>
            </a:r>
            <a:endParaRPr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A3BCB6E3-F5DE-E9A6-75CB-968843BAB0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532800"/>
            <a:ext cx="2520000" cy="1577665"/>
          </a:xfrm>
          <a:prstGeom prst="rect">
            <a:avLst/>
          </a:prstGeom>
        </p:spPr>
      </p:pic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C3D4A7F-415E-0099-C26D-C303E0473D47}"/>
              </a:ext>
            </a:extLst>
          </p:cNvPr>
          <p:cNvSpPr txBox="1">
            <a:spLocks/>
          </p:cNvSpPr>
          <p:nvPr/>
        </p:nvSpPr>
        <p:spPr>
          <a:xfrm>
            <a:off x="838200" y="4571861"/>
            <a:ext cx="7920000" cy="128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ja-JP" altLang="en-US" dirty="0"/>
              <a:t>手順</a:t>
            </a:r>
            <a:r>
              <a:rPr lang="en-US" altLang="ja-JP" dirty="0"/>
              <a:t>2~</a:t>
            </a:r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をチーム内で繰り返してください。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2</a:t>
            </a:r>
            <a:r>
              <a:rPr lang="ja-JP" altLang="en-US" dirty="0"/>
              <a:t>：</a:t>
            </a:r>
            <a:r>
              <a:rPr lang="en-US" altLang="ja-JP" dirty="0"/>
              <a:t>15</a:t>
            </a:r>
            <a:r>
              <a:rPr lang="ja-JP" altLang="en-US" dirty="0"/>
              <a:t>分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：</a:t>
            </a:r>
            <a:r>
              <a:rPr lang="en-US" altLang="ja-JP" dirty="0"/>
              <a:t>5</a:t>
            </a:r>
            <a:r>
              <a:rPr lang="ja-JP" altLang="en-US" dirty="0"/>
              <a:t>分</a:t>
            </a:r>
          </a:p>
        </p:txBody>
      </p:sp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A904E-9897-423B-CC66-2D3A2F0F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7BE631AC-0FCF-57F9-F8EF-89A8D55B3070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提案の改善について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4310D7-9F31-3C08-300C-9CDB11F61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8116957" cy="5242685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フィードバック内容の整理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フィードバックの内容を整理し、どの内容を反映するかを決定する。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提案資料の修正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フィードバックの内容を提案資料に反映する。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提案資料の確認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を利用し、修正内容がフィードバック内容を適切に反映しているかを確認する。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修正した提案資料を提出する。</a:t>
            </a:r>
            <a:endParaRPr lang="en-US" altLang="ja-JP" dirty="0"/>
          </a:p>
          <a:p>
            <a:pPr marL="1371600" lvl="3" indent="0">
              <a:buNone/>
            </a:pPr>
            <a:r>
              <a:rPr lang="en-US" altLang="ja-JP" dirty="0"/>
              <a:t>※</a:t>
            </a:r>
            <a:r>
              <a:rPr lang="ja-JP" altLang="en-US" dirty="0"/>
              <a:t>修正前の提案資料は不要です。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最終発表の準備</a:t>
            </a:r>
            <a:endParaRPr lang="en-US" altLang="ja-JP" dirty="0"/>
          </a:p>
          <a:p>
            <a:pPr lvl="2"/>
            <a:r>
              <a:rPr lang="ja-JP" altLang="en-US" dirty="0"/>
              <a:t>最終発表に向けた準備を行う。</a:t>
            </a:r>
            <a:endParaRPr lang="en-US" altLang="ja-JP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33A09ACE-EF3F-A953-7559-395D06BDD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532800"/>
            <a:ext cx="2520000" cy="2268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238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</TotalTime>
  <Words>514</Words>
  <Application>Microsoft Office PowerPoint</Application>
  <PresentationFormat>ワイド画面</PresentationFormat>
  <Paragraphs>86</Paragraphs>
  <Slides>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Meiryo UI</vt:lpstr>
      <vt:lpstr>游ゴシック</vt:lpstr>
      <vt:lpstr>游ゴシック Light</vt:lpstr>
      <vt:lpstr>Arial</vt:lpstr>
      <vt:lpstr>Office テーマ</vt:lpstr>
      <vt:lpstr>提案演習の概要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30</cp:revision>
  <dcterms:created xsi:type="dcterms:W3CDTF">2026-07-04T03:22:14Z</dcterms:created>
  <dcterms:modified xsi:type="dcterms:W3CDTF">2026-07-04T23:15:18Z</dcterms:modified>
</cp:coreProperties>
</file>