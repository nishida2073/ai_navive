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77" autoAdjust="0"/>
  </p:normalViewPr>
  <p:slideViewPr>
    <p:cSldViewPr snapToGrid="0">
      <p:cViewPr varScale="1">
        <p:scale>
          <a:sx n="77" d="100"/>
          <a:sy n="77" d="100"/>
        </p:scale>
        <p:origin x="835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92660-A910-48D6-9DD5-B02CDD5983C2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A0B64-6D67-42B8-83A5-133498884D5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4775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2232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F549-E74F-41DE-B3AA-CC3A97BC7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89D615-20E1-B4C6-FCD1-33F79BDE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B256A36-25FD-6DCC-7EF2-113892246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BABE15-F492-D580-DC4E-6D4EDCE1D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A0B64-6D67-42B8-83A5-133498884D5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4156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88EAE4-3517-7685-DBC1-D2EBBF114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CE249DA-269C-C238-1C0D-468019E3C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E4C389-7303-F6E2-A905-B7D704D1F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A5D6D8-D495-753D-963F-D2031F549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6B97719-44F6-07B6-2299-44CDBEF7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545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1DBD3B-56FD-917A-7F5A-3015D9774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F2DC64E-F29E-D854-BEF0-3070C545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48F59C-A5D5-E9EE-6BFB-1E812EC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A8302D35-8D17-DF03-C1F5-73D20A84F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>
            <a:lvl1pPr>
              <a:defRPr sz="2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630B5AC0-4267-B83C-555E-E08AE0C09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951" y="1073020"/>
            <a:ext cx="11877869" cy="5103943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65460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C1473-4F82-D0F2-6E20-B3CE8154A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3119F7-CFE5-C244-5CBC-D07F56CF8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23C55-8327-924C-2B72-D685D302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1B9B42-5325-6348-7A2E-823A20CC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0BB805-FA2B-03EC-E53A-E3CA5589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387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2A8F03-F9A4-C9E1-8930-9B9AF0D34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E9B11C5-849D-9104-8534-05B157123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E1E799F-E1CC-CC44-0753-6D7D0C923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315350-56EC-072A-EE57-7D7FD67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9CFC015-F252-9E7E-F23E-9859CCF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775C56-D7A0-4254-A2E6-4CA99D50A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6901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7F651-F4E6-22A7-969C-361E7EB8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1D87F37-09C8-1C47-DA85-89348412F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41EDEFF-D785-4B71-7114-49A611C89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CF3450-F545-1FFD-F875-8DE3CCB76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5E611BD-461C-12F4-A3BC-6154F6BA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4F81492-847C-EE97-CE4E-E34C2A9E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8207F7-1FE0-73EF-D402-872A8833C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6F3EF7-641F-90DB-332E-E52417E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533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488-7001-3614-BBDB-52F57B05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F87A66-C96C-D4FF-9241-9CE679FE2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3116E27-0034-7717-9FEE-82777DE20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21BDC13-BC57-56EC-7696-822A94E13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5570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C96747D-199C-DB70-796B-D7AD9498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95DF319-00BA-725F-BC6A-27C0CA6C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3F24241-0D68-5DC6-E45A-B7BBC9246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27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83C645-DBBF-EBC8-73A4-9590C9AA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81406B-DD2E-D5D3-AE10-E0AB4E154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620FD-5FFA-4826-B001-35BBC49CA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0484110-46BB-014D-41FF-BB1422C9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568A18-5ED2-ABB4-0951-B33EF4C5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EACC3-A6F9-B01D-47D1-98D36961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3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69773-B60F-F99E-7259-84C025920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492595E-8F9F-0A64-3DEB-8E74E0AC3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0BCF0B5-1DAA-A506-3226-5F5AAE8E2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D2088E-9319-A7DB-F799-C26F5508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7741E9-DB06-1561-7A20-0A626D9DD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71377C-7AF9-AAE2-2C83-B36C5B20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9773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D948F8-A898-A22B-7EF3-84E85241D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DB9CE3F-DD4B-FBB0-0358-E359990CF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A1EFE8-83F8-C673-6466-09628A88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A29062-6AC9-DD4E-C20C-3568B001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C21EC4-135A-AB14-091E-CA0A0AA3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106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8A78528-6686-7717-9395-A6791781D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779115-C3F1-5580-1C82-172ACF121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27D618-FA30-2F16-A3BA-1C48127BF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6D16EA-23E0-4DB0-E96D-371B623EE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50307-06A9-2F31-4E2F-74756A58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363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291077D-F29B-3B1E-E99F-8D3095D21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7A7F88-23AA-2435-B8E5-5759D4CA2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5D7CD4-6630-EF19-7ADC-97B078E8C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FBC31-9ECA-48C0-910F-E09377915FB8}" type="datetimeFigureOut">
              <a:rPr kumimoji="1" lang="ja-JP" altLang="en-US" smtClean="0"/>
              <a:t>2026/7/5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24A99B-1354-38AF-B026-4F072B91B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BA381-04BE-303F-34F7-4680A43BB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FBC76-F46F-4ADD-8228-9529630895E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994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A5590-C478-ABA0-FEFE-579A111389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研修の概要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41C3CD-066C-9DBE-C54B-F884D6128F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0549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表 66">
            <a:extLst>
              <a:ext uri="{FF2B5EF4-FFF2-40B4-BE49-F238E27FC236}">
                <a16:creationId xmlns:a16="http://schemas.microsoft.com/office/drawing/2014/main" id="{BF667119-273B-9AC2-20E0-A1A52796A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711896"/>
              </p:ext>
            </p:extLst>
          </p:nvPr>
        </p:nvGraphicFramePr>
        <p:xfrm>
          <a:off x="162341" y="1073020"/>
          <a:ext cx="3943722" cy="5075501"/>
        </p:xfrm>
        <a:graphic>
          <a:graphicData uri="http://schemas.openxmlformats.org/drawingml/2006/table">
            <a:tbl>
              <a:tblPr firstRow="1" bandRow="1"/>
              <a:tblGrid>
                <a:gridCol w="3943722">
                  <a:extLst>
                    <a:ext uri="{9D8B030D-6E8A-4147-A177-3AD203B41FA5}">
                      <a16:colId xmlns:a16="http://schemas.microsoft.com/office/drawing/2014/main" val="3573493280"/>
                    </a:ext>
                  </a:extLst>
                </a:gridCol>
              </a:tblGrid>
              <a:tr h="36902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pPr algn="ctr"/>
                      <a:r>
                        <a:rPr kumimoji="1" lang="ja-JP" altLang="en-US" sz="1600" dirty="0"/>
                        <a:t>１日目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8554313"/>
                  </a:ext>
                </a:extLst>
              </a:tr>
              <a:tr h="470647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  <a:ea typeface="Meiryo UI"/>
                        </a:defRPr>
                      </a:lvl9pPr>
                    </a:lstStyle>
                    <a:p>
                      <a:endParaRPr kumimoji="1" lang="ja-JP" altLang="en-US" dirty="0"/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70F26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178125"/>
                  </a:ext>
                </a:extLst>
              </a:tr>
            </a:tbl>
          </a:graphicData>
        </a:graphic>
      </p:graphicFrame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A1110377-FA4D-570F-ABCC-9F48E5F75B03}"/>
              </a:ext>
            </a:extLst>
          </p:cNvPr>
          <p:cNvGrpSpPr/>
          <p:nvPr/>
        </p:nvGrpSpPr>
        <p:grpSpPr>
          <a:xfrm>
            <a:off x="334202" y="1608949"/>
            <a:ext cx="3600000" cy="1648169"/>
            <a:chOff x="946296" y="1364275"/>
            <a:chExt cx="4359349" cy="1659133"/>
          </a:xfrm>
        </p:grpSpPr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C231246-5F05-B4AE-6830-C48FF2D63004}"/>
                </a:ext>
              </a:extLst>
            </p:cNvPr>
            <p:cNvSpPr/>
            <p:nvPr/>
          </p:nvSpPr>
          <p:spPr>
            <a:xfrm>
              <a:off x="946296" y="1907867"/>
              <a:ext cx="4359349" cy="1115541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87EC3108-0FE2-36EA-C3D2-DCD04D376D2E}"/>
                </a:ext>
              </a:extLst>
            </p:cNvPr>
            <p:cNvSpPr/>
            <p:nvPr/>
          </p:nvSpPr>
          <p:spPr>
            <a:xfrm>
              <a:off x="946296" y="1364275"/>
              <a:ext cx="4359349" cy="543592"/>
            </a:xfrm>
            <a:prstGeom prst="rect">
              <a:avLst/>
            </a:prstGeom>
            <a:solidFill>
              <a:srgbClr val="0072BC">
                <a:lumMod val="10000"/>
                <a:lumOff val="90000"/>
              </a:srgbClr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生成</a:t>
              </a:r>
              <a:r>
                <a:rPr kumimoji="0" lang="en-US" altLang="ja-JP" kern="0" dirty="0">
                  <a:solidFill>
                    <a:srgbClr val="000000"/>
                  </a:solidFill>
                  <a:latin typeface="Arial"/>
                  <a:ea typeface="Meiryo UI"/>
                </a:rPr>
                <a:t>AI</a:t>
              </a:r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の活用</a:t>
              </a:r>
              <a:endParaRPr kumimoji="0" lang="en-US" altLang="ja-JP" kern="0" dirty="0">
                <a:solidFill>
                  <a:srgbClr val="000000"/>
                </a:solidFill>
                <a:latin typeface="Arial"/>
                <a:ea typeface="Meiryo UI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生成</a:t>
              </a:r>
              <a:r>
                <a:rPr kumimoji="0" lang="en-US" altLang="ja-JP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AI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の概要や活用方法について学習する</a:t>
              </a:r>
              <a:endPara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endParaRPr>
            </a:p>
          </p:txBody>
        </p:sp>
      </p:grpSp>
      <p:sp>
        <p:nvSpPr>
          <p:cNvPr id="69" name="タイトル 1">
            <a:extLst>
              <a:ext uri="{FF2B5EF4-FFF2-40B4-BE49-F238E27FC236}">
                <a16:creationId xmlns:a16="http://schemas.microsoft.com/office/drawing/2014/main" id="{6CE14998-7D64-A6FD-4F75-ED0C41225FF2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03E1DFD1-2580-E00D-A89E-87E795417DBF}"/>
              </a:ext>
            </a:extLst>
          </p:cNvPr>
          <p:cNvSpPr/>
          <p:nvPr/>
        </p:nvSpPr>
        <p:spPr>
          <a:xfrm>
            <a:off x="514202" y="2284560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生成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AI-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講義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&amp;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ハンズオン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79" name="四角形: 角を丸くする 78">
            <a:extLst>
              <a:ext uri="{FF2B5EF4-FFF2-40B4-BE49-F238E27FC236}">
                <a16:creationId xmlns:a16="http://schemas.microsoft.com/office/drawing/2014/main" id="{A56AABD8-8B2F-99E7-B8BF-C14D8AD7E430}"/>
              </a:ext>
            </a:extLst>
          </p:cNvPr>
          <p:cNvSpPr/>
          <p:nvPr/>
        </p:nvSpPr>
        <p:spPr>
          <a:xfrm>
            <a:off x="514202" y="2770839"/>
            <a:ext cx="3240000" cy="360000"/>
          </a:xfrm>
          <a:prstGeom prst="roundRect">
            <a:avLst/>
          </a:prstGeom>
          <a:solidFill>
            <a:srgbClr val="FFFFFF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生成</a:t>
            </a:r>
            <a:r>
              <a:rPr kumimoji="0" lang="en-US" altLang="ja-JP" sz="1200" kern="0" dirty="0">
                <a:solidFill>
                  <a:srgbClr val="000000"/>
                </a:solidFill>
                <a:latin typeface="Arial"/>
                <a:ea typeface="Meiryo UI"/>
              </a:rPr>
              <a:t>AI-</a:t>
            </a:r>
            <a:r>
              <a:rPr kumimoji="0" lang="ja-JP" altLang="en-US" sz="1200" kern="0" dirty="0">
                <a:solidFill>
                  <a:srgbClr val="000000"/>
                </a:solidFill>
                <a:latin typeface="Arial"/>
                <a:ea typeface="Meiryo UI"/>
              </a:rPr>
              <a:t>演習</a:t>
            </a:r>
            <a:endParaRPr kumimoji="0" lang="en-US" altLang="ja-JP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10" name="矢印: 下 9">
            <a:extLst>
              <a:ext uri="{FF2B5EF4-FFF2-40B4-BE49-F238E27FC236}">
                <a16:creationId xmlns:a16="http://schemas.microsoft.com/office/drawing/2014/main" id="{A31108A4-895E-8CDC-2DB0-960DF401D9F3}"/>
              </a:ext>
            </a:extLst>
          </p:cNvPr>
          <p:cNvSpPr/>
          <p:nvPr/>
        </p:nvSpPr>
        <p:spPr>
          <a:xfrm>
            <a:off x="1954202" y="3495137"/>
            <a:ext cx="360000" cy="180000"/>
          </a:xfrm>
          <a:prstGeom prst="downArrow">
            <a:avLst/>
          </a:prstGeom>
          <a:solidFill>
            <a:schemeClr val="bg1"/>
          </a:solidFill>
          <a:ln w="3175" cap="flat" cmpd="sng" algn="ctr">
            <a:solidFill>
              <a:srgbClr val="000000"/>
            </a:solidFill>
            <a:prstDash val="soli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B1FB7FF-01FC-E1A7-ED5C-206BE6C4DB95}"/>
              </a:ext>
            </a:extLst>
          </p:cNvPr>
          <p:cNvGrpSpPr/>
          <p:nvPr/>
        </p:nvGrpSpPr>
        <p:grpSpPr>
          <a:xfrm>
            <a:off x="334202" y="3925209"/>
            <a:ext cx="3600000" cy="936522"/>
            <a:chOff x="946296" y="5714099"/>
            <a:chExt cx="4359349" cy="936522"/>
          </a:xfrm>
        </p:grpSpPr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DA46742C-C89B-18DD-6746-1B592EB92845}"/>
                </a:ext>
              </a:extLst>
            </p:cNvPr>
            <p:cNvSpPr/>
            <p:nvPr/>
          </p:nvSpPr>
          <p:spPr>
            <a:xfrm>
              <a:off x="946296" y="5714099"/>
              <a:ext cx="4359349" cy="304800"/>
            </a:xfrm>
            <a:prstGeom prst="rect">
              <a:avLst/>
            </a:prstGeom>
            <a:solidFill>
              <a:srgbClr val="FFFF00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kumimoji="0" lang="ja-JP" altLang="en-US" kern="0" dirty="0">
                  <a:solidFill>
                    <a:srgbClr val="000000"/>
                  </a:solidFill>
                  <a:latin typeface="Arial"/>
                  <a:ea typeface="Meiryo UI"/>
                </a:rPr>
                <a:t>アプリケーション</a:t>
              </a:r>
              <a:endParaRPr kumimoji="0" lang="ja-JP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D266BAC1-DD2E-1050-649C-4FBE5B13608B}"/>
                </a:ext>
              </a:extLst>
            </p:cNvPr>
            <p:cNvSpPr/>
            <p:nvPr/>
          </p:nvSpPr>
          <p:spPr>
            <a:xfrm>
              <a:off x="946296" y="6018899"/>
              <a:ext cx="4359349" cy="631722"/>
            </a:xfrm>
            <a:prstGeom prst="rect">
              <a:avLst/>
            </a:prstGeom>
            <a:solidFill>
              <a:srgbClr val="FFFFFF"/>
            </a:solidFill>
            <a:ln w="3175" cap="flat" cmpd="sng" algn="ctr">
              <a:solidFill>
                <a:srgbClr val="000000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Meiryo UI"/>
                  <a:cs typeface="+mn-cs"/>
                </a:rPr>
                <a:t>・</a:t>
              </a:r>
              <a:r>
                <a:rPr kumimoji="0" lang="ja-JP" altLang="en-US" sz="1200" kern="0" dirty="0">
                  <a:solidFill>
                    <a:srgbClr val="000000"/>
                  </a:solidFill>
                  <a:latin typeface="Arial"/>
                  <a:ea typeface="Meiryo UI"/>
                </a:rPr>
                <a:t>任意</a:t>
              </a:r>
              <a:endParaRPr kumimoji="0" lang="en-US" altLang="ja-JP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Meiryo UI"/>
                <a:cs typeface="+mn-cs"/>
              </a:endParaRP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FBEBD4-5866-3A4E-3DFC-BF37FEEB6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>
            <a:normAutofit/>
          </a:bodyPr>
          <a:lstStyle/>
          <a:p>
            <a:r>
              <a:rPr lang="ja-JP" altLang="en-US" dirty="0"/>
              <a:t>研修の全体像について</a:t>
            </a:r>
          </a:p>
        </p:txBody>
      </p:sp>
    </p:spTree>
    <p:extLst>
      <p:ext uri="{BB962C8B-B14F-4D97-AF65-F5344CB8AC3E}">
        <p14:creationId xmlns:p14="http://schemas.microsoft.com/office/powerpoint/2010/main" val="1012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09F09-97AC-277C-B528-BACF01188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タイトル 1">
            <a:extLst>
              <a:ext uri="{FF2B5EF4-FFF2-40B4-BE49-F238E27FC236}">
                <a16:creationId xmlns:a16="http://schemas.microsoft.com/office/drawing/2014/main" id="{13691081-A195-E07D-931A-B6B77EFCA795}"/>
              </a:ext>
            </a:extLst>
          </p:cNvPr>
          <p:cNvSpPr txBox="1">
            <a:spLocks/>
          </p:cNvSpPr>
          <p:nvPr/>
        </p:nvSpPr>
        <p:spPr>
          <a:xfrm>
            <a:off x="370800" y="334800"/>
            <a:ext cx="11448000" cy="3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00" b="1" i="0" kern="1200" spc="0" baseline="0">
                <a:solidFill>
                  <a:schemeClr val="accent1"/>
                </a:solidFill>
                <a:latin typeface="+mj-ea"/>
                <a:ea typeface="+mj-ea"/>
                <a:cs typeface="HGPGothicE" charset="-128"/>
              </a:defRPr>
            </a:lvl1pPr>
            <a:lvl2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609555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219110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828664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438218" algn="l" defTabSz="609555" rtl="0" eaLnBrk="1" fontAlgn="base" hangingPunct="1">
              <a:spcBef>
                <a:spcPct val="0"/>
              </a:spcBef>
              <a:spcAft>
                <a:spcPct val="0"/>
              </a:spcAft>
              <a:defRPr kumimoji="1" sz="2667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marL="0" marR="0" lvl="0" indent="0" algn="l" defTabSz="6095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2600" b="1" i="0" u="none" strike="noStrike" kern="1200" cap="none" spc="0" normalizeH="0" baseline="0" noProof="0" dirty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C04943A-BD09-50E6-7BF0-434A645F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1" y="365124"/>
            <a:ext cx="11877869" cy="540000"/>
          </a:xfrm>
        </p:spPr>
        <p:txBody>
          <a:bodyPr/>
          <a:lstStyle/>
          <a:p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の活用について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1E1B53-BA70-0D2F-2098-F90A92482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275" y="1073150"/>
            <a:ext cx="11877675" cy="5103813"/>
          </a:xfrm>
        </p:spPr>
        <p:txBody>
          <a:bodyPr>
            <a:normAutofit/>
          </a:bodyPr>
          <a:lstStyle/>
          <a:p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の活用の流れ</a:t>
            </a:r>
            <a:endParaRPr lang="en-US" altLang="ja-JP" dirty="0"/>
          </a:p>
          <a:p>
            <a:pPr lvl="1"/>
            <a:r>
              <a:rPr lang="ja-JP" altLang="en-US" dirty="0"/>
              <a:t>講義</a:t>
            </a:r>
            <a:r>
              <a:rPr lang="en-US" altLang="ja-JP" dirty="0"/>
              <a:t>&amp;</a:t>
            </a:r>
            <a:r>
              <a:rPr lang="ja-JP" altLang="en-US" dirty="0"/>
              <a:t>ハンズオン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の概要や生成</a:t>
            </a:r>
            <a:r>
              <a:rPr lang="en-US" altLang="ja-JP" dirty="0"/>
              <a:t>AI</a:t>
            </a:r>
            <a:r>
              <a:rPr lang="ja-JP" altLang="en-US" dirty="0"/>
              <a:t>の活用方法について学習する。</a:t>
            </a:r>
            <a:endParaRPr lang="en-US" altLang="ja-JP" dirty="0"/>
          </a:p>
          <a:p>
            <a:pPr lvl="2"/>
            <a:r>
              <a:rPr lang="ja-JP" altLang="en-US" dirty="0"/>
              <a:t>ハンズオン形式で、生成</a:t>
            </a:r>
            <a:r>
              <a:rPr lang="en-US" altLang="ja-JP" dirty="0"/>
              <a:t>AI</a:t>
            </a:r>
            <a:r>
              <a:rPr lang="ja-JP" altLang="en-US" dirty="0"/>
              <a:t>の活用方法を学習する。</a:t>
            </a:r>
            <a:endParaRPr lang="en-US" altLang="ja-JP" dirty="0"/>
          </a:p>
          <a:p>
            <a:pPr lvl="1"/>
            <a:r>
              <a:rPr lang="ja-JP" altLang="en-US" dirty="0"/>
              <a:t>演習</a:t>
            </a:r>
            <a:endParaRPr lang="en-US" altLang="ja-JP" dirty="0"/>
          </a:p>
          <a:p>
            <a:pPr lvl="2"/>
            <a:r>
              <a:rPr lang="ja-JP" altLang="en-US" dirty="0"/>
              <a:t>生成</a:t>
            </a:r>
            <a:r>
              <a:rPr lang="en-US" altLang="ja-JP" dirty="0"/>
              <a:t>AI</a:t>
            </a:r>
            <a:r>
              <a:rPr lang="ja-JP" altLang="en-US" dirty="0"/>
              <a:t>を用いて、アプリケーション（ゲーム）を作成する。</a:t>
            </a:r>
            <a:endParaRPr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F6E940B-03B0-E0EC-8269-0AA35D5E5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800" y="730800"/>
            <a:ext cx="2520000" cy="226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3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94</Words>
  <Application>Microsoft Office PowerPoint</Application>
  <PresentationFormat>ワイド画面</PresentationFormat>
  <Paragraphs>18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Meiryo UI</vt:lpstr>
      <vt:lpstr>游ゴシック</vt:lpstr>
      <vt:lpstr>游ゴシック Light</vt:lpstr>
      <vt:lpstr>Arial</vt:lpstr>
      <vt:lpstr>Office テーマ</vt:lpstr>
      <vt:lpstr>研修の概要</vt:lpstr>
      <vt:lpstr>研修の全体像について</vt:lpstr>
      <vt:lpstr>生成AIの活用について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直樹 石田</dc:creator>
  <cp:lastModifiedBy>直樹 石田</cp:lastModifiedBy>
  <cp:revision>48</cp:revision>
  <dcterms:created xsi:type="dcterms:W3CDTF">2026-07-04T03:22:14Z</dcterms:created>
  <dcterms:modified xsi:type="dcterms:W3CDTF">2026-07-05T04:50:09Z</dcterms:modified>
</cp:coreProperties>
</file>