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7.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9" r:id="rId4"/>
    <p:sldMasterId id="2147483971" r:id="rId5"/>
    <p:sldMasterId id="2147483975" r:id="rId6"/>
    <p:sldMasterId id="2147483989" r:id="rId7"/>
    <p:sldMasterId id="2147484001" r:id="rId8"/>
    <p:sldMasterId id="2147483962" r:id="rId9"/>
    <p:sldMasterId id="2147483908" r:id="rId10"/>
    <p:sldMasterId id="2147483852" r:id="rId11"/>
  </p:sldMasterIdLst>
  <p:notesMasterIdLst>
    <p:notesMasterId r:id="rId52"/>
  </p:notesMasterIdLst>
  <p:handoutMasterIdLst>
    <p:handoutMasterId r:id="rId53"/>
  </p:handoutMasterIdLst>
  <p:sldIdLst>
    <p:sldId id="288" r:id="rId12"/>
    <p:sldId id="470" r:id="rId13"/>
    <p:sldId id="449" r:id="rId14"/>
    <p:sldId id="561" r:id="rId15"/>
    <p:sldId id="375" r:id="rId16"/>
    <p:sldId id="382" r:id="rId17"/>
    <p:sldId id="562" r:id="rId18"/>
    <p:sldId id="412" r:id="rId19"/>
    <p:sldId id="557" r:id="rId20"/>
    <p:sldId id="563" r:id="rId21"/>
    <p:sldId id="463" r:id="rId22"/>
    <p:sldId id="366" r:id="rId23"/>
    <p:sldId id="349" r:id="rId24"/>
    <p:sldId id="383" r:id="rId25"/>
    <p:sldId id="350" r:id="rId26"/>
    <p:sldId id="405" r:id="rId27"/>
    <p:sldId id="464" r:id="rId28"/>
    <p:sldId id="403" r:id="rId29"/>
    <p:sldId id="409" r:id="rId30"/>
    <p:sldId id="410" r:id="rId31"/>
    <p:sldId id="411" r:id="rId32"/>
    <p:sldId id="460" r:id="rId33"/>
    <p:sldId id="401" r:id="rId34"/>
    <p:sldId id="406" r:id="rId35"/>
    <p:sldId id="407" r:id="rId36"/>
    <p:sldId id="408" r:id="rId37"/>
    <p:sldId id="356" r:id="rId38"/>
    <p:sldId id="402" r:id="rId39"/>
    <p:sldId id="555" r:id="rId40"/>
    <p:sldId id="556" r:id="rId41"/>
    <p:sldId id="560" r:id="rId42"/>
    <p:sldId id="400" r:id="rId43"/>
    <p:sldId id="395" r:id="rId44"/>
    <p:sldId id="421" r:id="rId45"/>
    <p:sldId id="396" r:id="rId46"/>
    <p:sldId id="397" r:id="rId47"/>
    <p:sldId id="398" r:id="rId48"/>
    <p:sldId id="559" r:id="rId49"/>
    <p:sldId id="462" r:id="rId50"/>
    <p:sldId id="413" r:id="rId5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2E404D"/>
    <a:srgbClr val="FFE1C5"/>
    <a:srgbClr val="FEF4C0"/>
    <a:srgbClr val="FFF1E5"/>
    <a:srgbClr val="E0E7EC"/>
    <a:srgbClr val="FFD85B"/>
    <a:srgbClr val="F0F3F6"/>
    <a:srgbClr val="FFFFFF"/>
    <a:srgbClr val="D9D9D9"/>
    <a:srgbClr val="6B6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33" autoAdjust="0"/>
    <p:restoredTop sz="86395" autoAdjust="0"/>
  </p:normalViewPr>
  <p:slideViewPr>
    <p:cSldViewPr snapToGrid="0" snapToObjects="1">
      <p:cViewPr varScale="1">
        <p:scale>
          <a:sx n="77" d="100"/>
          <a:sy n="77" d="100"/>
        </p:scale>
        <p:origin x="1008" y="72"/>
      </p:cViewPr>
      <p:guideLst/>
    </p:cSldViewPr>
  </p:slideViewPr>
  <p:outlineViewPr>
    <p:cViewPr>
      <p:scale>
        <a:sx n="33" d="100"/>
        <a:sy n="33" d="100"/>
      </p:scale>
      <p:origin x="0" y="0"/>
    </p:cViewPr>
  </p:outlineViewPr>
  <p:notesTextViewPr>
    <p:cViewPr>
      <p:scale>
        <a:sx n="160" d="100"/>
        <a:sy n="160" d="100"/>
      </p:scale>
      <p:origin x="0" y="0"/>
    </p:cViewPr>
  </p:notesTextViewPr>
  <p:sorterViewPr>
    <p:cViewPr>
      <p:scale>
        <a:sx n="80" d="100"/>
        <a:sy n="80" d="100"/>
      </p:scale>
      <p:origin x="0" y="0"/>
    </p:cViewPr>
  </p:sorterViewPr>
  <p:notesViewPr>
    <p:cSldViewPr snapToGrid="0" snapToObjects="1">
      <p:cViewPr varScale="1">
        <p:scale>
          <a:sx n="86" d="100"/>
          <a:sy n="86" d="100"/>
        </p:scale>
        <p:origin x="386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0.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microsoft.com/office/2016/11/relationships/changesInfo" Target="changesInfos/changesInfo1.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S3 天野 学/Amano, Gaku (NTT DATA)" userId="cb64374a-b8ae-459f-8218-8fe0a6ba244e" providerId="ADAL" clId="{D11B0B6E-B536-465D-989F-9C53E44D9774}"/>
    <pc:docChg chg="custSel modSld">
      <pc:chgData name="PS3 天野 学/Amano, Gaku (NTT DATA)" userId="cb64374a-b8ae-459f-8218-8fe0a6ba244e" providerId="ADAL" clId="{D11B0B6E-B536-465D-989F-9C53E44D9774}" dt="2026-05-26T10:28:01.702" v="1"/>
      <pc:docMkLst>
        <pc:docMk/>
      </pc:docMkLst>
      <pc:sldChg chg="addSp delSp modSp mod">
        <pc:chgData name="PS3 天野 学/Amano, Gaku (NTT DATA)" userId="cb64374a-b8ae-459f-8218-8fe0a6ba244e" providerId="ADAL" clId="{D11B0B6E-B536-465D-989F-9C53E44D9774}" dt="2026-05-26T10:28:01.702" v="1"/>
        <pc:sldMkLst>
          <pc:docMk/>
          <pc:sldMk cId="1121628382" sldId="288"/>
        </pc:sldMkLst>
        <pc:spChg chg="add mod">
          <ac:chgData name="PS3 天野 学/Amano, Gaku (NTT DATA)" userId="cb64374a-b8ae-459f-8218-8fe0a6ba244e" providerId="ADAL" clId="{D11B0B6E-B536-465D-989F-9C53E44D9774}" dt="2026-05-26T10:28:01.702" v="1"/>
          <ac:spMkLst>
            <pc:docMk/>
            <pc:sldMk cId="1121628382" sldId="288"/>
            <ac:spMk id="5" creationId="{28CE8CA6-FFBB-A84E-9A13-4002D48B9F6E}"/>
          </ac:spMkLst>
        </pc:spChg>
      </pc:sldChg>
    </pc:docChg>
  </pc:docChgLst>
  <pc:docChgLst>
    <pc:chgData name="PS3 石川 星/Ishikawa, Sho (NTT DATA)" userId="02c132a7-2049-4e7b-a292-e2101025765b" providerId="ADAL" clId="{5963EF00-8023-431A-B5E3-7791A55D19A7}"/>
    <pc:docChg chg="modSld">
      <pc:chgData name="PS3 石川 星/Ishikawa, Sho (NTT DATA)" userId="02c132a7-2049-4e7b-a292-e2101025765b" providerId="ADAL" clId="{5963EF00-8023-431A-B5E3-7791A55D19A7}" dt="2026-05-29T09:47:08.778" v="6" actId="20577"/>
      <pc:docMkLst>
        <pc:docMk/>
      </pc:docMkLst>
      <pc:sldChg chg="modSp mod">
        <pc:chgData name="PS3 石川 星/Ishikawa, Sho (NTT DATA)" userId="02c132a7-2049-4e7b-a292-e2101025765b" providerId="ADAL" clId="{5963EF00-8023-431A-B5E3-7791A55D19A7}" dt="2026-05-29T09:47:08.778" v="6" actId="20577"/>
        <pc:sldMkLst>
          <pc:docMk/>
          <pc:sldMk cId="1121628382" sldId="288"/>
        </pc:sldMkLst>
        <pc:spChg chg="mod">
          <ac:chgData name="PS3 石川 星/Ishikawa, Sho (NTT DATA)" userId="02c132a7-2049-4e7b-a292-e2101025765b" providerId="ADAL" clId="{5963EF00-8023-431A-B5E3-7791A55D19A7}" dt="2026-05-29T09:47:08.778" v="6" actId="20577"/>
          <ac:spMkLst>
            <pc:docMk/>
            <pc:sldMk cId="1121628382" sldId="288"/>
            <ac:spMk id="3" creationId="{364265A2-61B5-45D8-6463-6418F44F076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latin typeface="+mn-ea"/>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BDCB57-7B26-864A-85AB-1FE6E8A71097}" type="datetimeFigureOut">
              <a:rPr kumimoji="1" lang="ja-JP" altLang="en-US" smtClean="0">
                <a:latin typeface="+mn-ea"/>
              </a:rPr>
              <a:t>2026/6/15</a:t>
            </a:fld>
            <a:endParaRPr kumimoji="1" lang="ja-JP" altLang="en-US">
              <a:latin typeface="+mn-ea"/>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n-ea"/>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41B73B-8F91-6845-8B45-1448A7A46D6E}" type="slidenum">
              <a:rPr kumimoji="1" lang="ja-JP" altLang="en-US" smtClean="0">
                <a:latin typeface="+mn-ea"/>
              </a:rPr>
              <a:t>‹#›</a:t>
            </a:fld>
            <a:endParaRPr kumimoji="1" lang="ja-JP" altLang="en-US">
              <a:latin typeface="+mn-ea"/>
            </a:endParaRPr>
          </a:p>
        </p:txBody>
      </p:sp>
    </p:spTree>
    <p:extLst>
      <p:ext uri="{BB962C8B-B14F-4D97-AF65-F5344CB8AC3E}">
        <p14:creationId xmlns:p14="http://schemas.microsoft.com/office/powerpoint/2010/main" val="17740855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B8588-1665-0A4A-AD47-68FFFFC620D1}" type="datetimeFigureOut">
              <a:rPr kumimoji="1" lang="ja-JP" altLang="en-US" smtClean="0"/>
              <a:t>2026/6/15</a:t>
            </a:fld>
            <a:endParaRPr kumimoji="1" lang="ja-JP" altLang="en-US"/>
          </a:p>
        </p:txBody>
      </p:sp>
      <p:sp>
        <p:nvSpPr>
          <p:cNvPr id="4" name="スライド イメージ プレースホルダー 3"/>
          <p:cNvSpPr>
            <a:spLocks noGrp="1" noRot="1" noChangeAspect="1"/>
          </p:cNvSpPr>
          <p:nvPr>
            <p:ph type="sldImg" idx="2"/>
          </p:nvPr>
        </p:nvSpPr>
        <p:spPr>
          <a:xfrm>
            <a:off x="685800" y="630237"/>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3887785"/>
            <a:ext cx="5486400" cy="4625977"/>
          </a:xfrm>
          <a:prstGeom prst="rect">
            <a:avLst/>
          </a:prstGeom>
        </p:spPr>
        <p:txBody>
          <a:bodyPr vert="horz" lIns="91440" tIns="45720" rIns="91440" bIns="45720" rtlCol="0"/>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AAED7-EB68-B44B-A29A-E9CFE7A1147D}" type="slidenum">
              <a:rPr kumimoji="1" lang="ja-JP" altLang="en-US" smtClean="0"/>
              <a:t>‹#›</a:t>
            </a:fld>
            <a:endParaRPr kumimoji="1"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ea"/>
        <a:ea typeface="+mn-ea"/>
        <a:cs typeface="+mn-cs"/>
      </a:defRPr>
    </a:lvl1pPr>
    <a:lvl2pPr marL="457200" algn="l" defTabSz="914400" rtl="0" eaLnBrk="1" latinLnBrk="0" hangingPunct="1">
      <a:defRPr kumimoji="1" sz="1200" kern="1200">
        <a:solidFill>
          <a:schemeClr val="tx1"/>
        </a:solidFill>
        <a:latin typeface="+mn-ea"/>
        <a:ea typeface="+mn-ea"/>
        <a:cs typeface="+mn-cs"/>
      </a:defRPr>
    </a:lvl2pPr>
    <a:lvl3pPr marL="914400" algn="l" defTabSz="914400" rtl="0" eaLnBrk="1" latinLnBrk="0" hangingPunct="1">
      <a:defRPr kumimoji="1" sz="1200" kern="1200">
        <a:solidFill>
          <a:schemeClr val="tx1"/>
        </a:solidFill>
        <a:latin typeface="+mn-ea"/>
        <a:ea typeface="+mn-ea"/>
        <a:cs typeface="+mn-cs"/>
      </a:defRPr>
    </a:lvl3pPr>
    <a:lvl4pPr marL="1371600" algn="l" defTabSz="914400" rtl="0" eaLnBrk="1" latinLnBrk="0" hangingPunct="1">
      <a:defRPr kumimoji="1" sz="1200" kern="1200">
        <a:solidFill>
          <a:schemeClr val="tx1"/>
        </a:solidFill>
        <a:latin typeface="+mn-ea"/>
        <a:ea typeface="+mn-ea"/>
        <a:cs typeface="+mn-cs"/>
      </a:defRPr>
    </a:lvl4pPr>
    <a:lvl5pPr marL="1828800" algn="l" defTabSz="914400" rtl="0" eaLnBrk="1" latinLnBrk="0" hangingPunct="1">
      <a:defRPr kumimoji="1" sz="1200" kern="1200">
        <a:solidFill>
          <a:schemeClr val="tx1"/>
        </a:solidFill>
        <a:latin typeface="+mn-ea"/>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Master" Target="../slideMasters/slideMaster5.xml"/><Relationship Id="rId4" Type="http://schemas.openxmlformats.org/officeDocument/2006/relationships/image" Target="../media/image9.gi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g"/><Relationship Id="rId1" Type="http://schemas.openxmlformats.org/officeDocument/2006/relationships/slideMaster" Target="../slideMasters/slideMaster5.xml"/><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g"/><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9" name="Innovation Curve">
            <a:extLst>
              <a:ext uri="{FF2B5EF4-FFF2-40B4-BE49-F238E27FC236}">
                <a16:creationId xmlns:a16="http://schemas.microsoft.com/office/drawing/2014/main" id="{C7D758E2-2981-8964-2DBD-5E4C29B7658D}"/>
              </a:ext>
              <a:ext uri="{C183D7F6-B498-43B3-948B-1728B52AA6E4}">
                <adec:decorative xmlns:adec="http://schemas.microsoft.com/office/drawing/2017/decorative" val="1"/>
              </a:ext>
            </a:extLst>
          </p:cNvPr>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5316000" y="0"/>
            <a:ext cx="6876000" cy="6876000"/>
          </a:xfrm>
          <a:prstGeom prst="rect">
            <a:avLst/>
          </a:prstGeom>
        </p:spPr>
      </p:pic>
      <p:sp>
        <p:nvSpPr>
          <p:cNvPr id="3" name="タイトル 2">
            <a:extLst>
              <a:ext uri="{FF2B5EF4-FFF2-40B4-BE49-F238E27FC236}">
                <a16:creationId xmlns:a16="http://schemas.microsoft.com/office/drawing/2014/main" id="{28E88A40-63CF-7644-EB56-0F82D8E1B9A2}"/>
              </a:ext>
            </a:extLst>
          </p:cNvPr>
          <p:cNvSpPr>
            <a:spLocks noGrp="1"/>
          </p:cNvSpPr>
          <p:nvPr>
            <p:ph type="title" hasCustomPrompt="1"/>
          </p:nvPr>
        </p:nvSpPr>
        <p:spPr>
          <a:xfrm>
            <a:off x="381600" y="864000"/>
            <a:ext cx="4842000" cy="795600"/>
          </a:xfrm>
          <a:prstGeom prst="rect">
            <a:avLst/>
          </a:prstGeom>
        </p:spPr>
        <p:txBody>
          <a:bodyPr lIns="0" rIns="0" anchor="b" anchorCtr="0"/>
          <a:lstStyle/>
          <a:p>
            <a:pPr lvl="0"/>
            <a:r>
              <a:rPr kumimoji="1" lang="ja-JP" altLang="en-US" dirty="0"/>
              <a:t>○○○○御中</a:t>
            </a:r>
          </a:p>
        </p:txBody>
      </p:sp>
      <p:sp>
        <p:nvSpPr>
          <p:cNvPr id="6" name="テキスト プレースホルダー 6">
            <a:extLst>
              <a:ext uri="{FF2B5EF4-FFF2-40B4-BE49-F238E27FC236}">
                <a16:creationId xmlns:a16="http://schemas.microsoft.com/office/drawing/2014/main" id="{F1A176CE-1C9E-473C-DA2D-5CF9AA7285F5}"/>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dirty="0"/>
              <a:t>［タイトル］</a:t>
            </a:r>
          </a:p>
        </p:txBody>
      </p:sp>
      <p:sp>
        <p:nvSpPr>
          <p:cNvPr id="8" name="テキスト プレースホルダー 10">
            <a:extLst>
              <a:ext uri="{FF2B5EF4-FFF2-40B4-BE49-F238E27FC236}">
                <a16:creationId xmlns:a16="http://schemas.microsoft.com/office/drawing/2014/main" id="{93FE156B-F772-D01E-4372-4120E52784D7}"/>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167654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sp>
        <p:nvSpPr>
          <p:cNvPr id="9" name="タイトル 2">
            <a:extLst>
              <a:ext uri="{FF2B5EF4-FFF2-40B4-BE49-F238E27FC236}">
                <a16:creationId xmlns:a16="http://schemas.microsoft.com/office/drawing/2014/main" id="{27DE0808-0ED8-A79F-3641-F6EE9429DF97}"/>
              </a:ext>
            </a:extLst>
          </p:cNvPr>
          <p:cNvSpPr>
            <a:spLocks noGrp="1"/>
          </p:cNvSpPr>
          <p:nvPr>
            <p:ph type="title" hasCustomPrompt="1"/>
          </p:nvPr>
        </p:nvSpPr>
        <p:spPr>
          <a:xfrm>
            <a:off x="381600" y="1450800"/>
            <a:ext cx="7185600" cy="795600"/>
          </a:xfrm>
          <a:prstGeom prst="rect">
            <a:avLst/>
          </a:prstGeom>
        </p:spPr>
        <p:txBody>
          <a:bodyPr lIns="0" rIns="0" anchor="b" anchorCtr="0"/>
          <a:lstStyle/>
          <a:p>
            <a:pPr lvl="0"/>
            <a:r>
              <a:rPr kumimoji="1" lang="ja-JP" altLang="en-US" dirty="0"/>
              <a:t>○○○○御中</a:t>
            </a:r>
          </a:p>
        </p:txBody>
      </p:sp>
      <p:sp>
        <p:nvSpPr>
          <p:cNvPr id="5" name="テキスト プレースホルダー 6">
            <a:extLst>
              <a:ext uri="{FF2B5EF4-FFF2-40B4-BE49-F238E27FC236}">
                <a16:creationId xmlns:a16="http://schemas.microsoft.com/office/drawing/2014/main" id="{C2C070B2-9499-0BB6-29F4-690002F8C381}"/>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dirty="0"/>
              <a:t>［タイトル］</a:t>
            </a:r>
          </a:p>
        </p:txBody>
      </p:sp>
      <p:sp>
        <p:nvSpPr>
          <p:cNvPr id="7" name="テキスト プレースホルダー 10">
            <a:extLst>
              <a:ext uri="{FF2B5EF4-FFF2-40B4-BE49-F238E27FC236}">
                <a16:creationId xmlns:a16="http://schemas.microsoft.com/office/drawing/2014/main" id="{009BF352-2699-13FB-9385-B1041D550802}"/>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pic>
        <p:nvPicPr>
          <p:cNvPr id="3" name="Innovation Curve">
            <a:extLst>
              <a:ext uri="{FF2B5EF4-FFF2-40B4-BE49-F238E27FC236}">
                <a16:creationId xmlns:a16="http://schemas.microsoft.com/office/drawing/2014/main" id="{EAAB32FC-8847-D6EB-B4CF-97DB854F7966}"/>
              </a:ext>
              <a:ext uri="{C183D7F6-B498-43B3-948B-1728B52AA6E4}">
                <adec:decorative xmlns:adec="http://schemas.microsoft.com/office/drawing/2017/decorative" val="1"/>
              </a:ext>
            </a:extLst>
          </p:cNvPr>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616952" y="0"/>
            <a:ext cx="4602549" cy="6876288"/>
          </a:xfrm>
          <a:prstGeom prst="rect">
            <a:avLst/>
          </a:prstGeom>
        </p:spPr>
      </p:pic>
    </p:spTree>
    <p:extLst>
      <p:ext uri="{BB962C8B-B14F-4D97-AF65-F5344CB8AC3E}">
        <p14:creationId xmlns:p14="http://schemas.microsoft.com/office/powerpoint/2010/main" val="668788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8" name="タイトル 2">
            <a:extLst>
              <a:ext uri="{FF2B5EF4-FFF2-40B4-BE49-F238E27FC236}">
                <a16:creationId xmlns:a16="http://schemas.microsoft.com/office/drawing/2014/main" id="{A3D5047C-C1BE-4A97-3D30-4818BC0783BA}"/>
              </a:ext>
            </a:extLst>
          </p:cNvPr>
          <p:cNvSpPr>
            <a:spLocks noGrp="1"/>
          </p:cNvSpPr>
          <p:nvPr>
            <p:ph type="title" hasCustomPrompt="1"/>
          </p:nvPr>
        </p:nvSpPr>
        <p:spPr>
          <a:xfrm>
            <a:off x="381600" y="1450800"/>
            <a:ext cx="11440800" cy="795600"/>
          </a:xfrm>
          <a:prstGeom prst="rect">
            <a:avLst/>
          </a:prstGeom>
        </p:spPr>
        <p:txBody>
          <a:bodyPr lIns="0" rIns="0" anchor="b" anchorCtr="0"/>
          <a:lstStyle/>
          <a:p>
            <a:pPr lvl="0"/>
            <a:r>
              <a:rPr kumimoji="1" lang="ja-JP" altLang="en-US" dirty="0"/>
              <a:t>○○○○御中</a:t>
            </a:r>
          </a:p>
        </p:txBody>
      </p:sp>
      <p:sp>
        <p:nvSpPr>
          <p:cNvPr id="4" name="テキスト プレースホルダー 6">
            <a:extLst>
              <a:ext uri="{FF2B5EF4-FFF2-40B4-BE49-F238E27FC236}">
                <a16:creationId xmlns:a16="http://schemas.microsoft.com/office/drawing/2014/main" id="{180CAA48-C9FC-9FB9-00D4-FB6ED53D8DB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68E6879D-7AAE-B9F3-790D-BB85BE746EB6}"/>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665905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FB7B2A75-74AE-F062-439F-A95954EBE583}"/>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sp>
        <p:nvSpPr>
          <p:cNvPr id="8" name="タイトル 2">
            <a:extLst>
              <a:ext uri="{FF2B5EF4-FFF2-40B4-BE49-F238E27FC236}">
                <a16:creationId xmlns:a16="http://schemas.microsoft.com/office/drawing/2014/main" id="{D5207BED-C451-AA8A-BEC8-1DBBC55EB27E}"/>
              </a:ext>
            </a:extLst>
          </p:cNvPr>
          <p:cNvSpPr>
            <a:spLocks noGrp="1"/>
          </p:cNvSpPr>
          <p:nvPr>
            <p:ph type="title" hasCustomPrompt="1"/>
          </p:nvPr>
        </p:nvSpPr>
        <p:spPr>
          <a:xfrm>
            <a:off x="370800" y="752400"/>
            <a:ext cx="11440800" cy="396000"/>
          </a:xfrm>
          <a:prstGeom prst="rect">
            <a:avLst/>
          </a:prstGeom>
        </p:spPr>
        <p:txBody>
          <a:bodyPr lIns="0" rIns="0" anchor="b" anchorCtr="0"/>
          <a:lstStyle/>
          <a:p>
            <a:pPr lvl="0"/>
            <a:r>
              <a:rPr kumimoji="1" lang="ja-JP" altLang="en-US" dirty="0"/>
              <a:t>○○○○御中</a:t>
            </a:r>
          </a:p>
        </p:txBody>
      </p:sp>
      <p:sp>
        <p:nvSpPr>
          <p:cNvPr id="4" name="テキスト プレースホルダー 6">
            <a:extLst>
              <a:ext uri="{FF2B5EF4-FFF2-40B4-BE49-F238E27FC236}">
                <a16:creationId xmlns:a16="http://schemas.microsoft.com/office/drawing/2014/main" id="{6D1013E2-8F90-20CA-6004-C9D6A65332FD}"/>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5B0EF5B0-BD1D-106F-C4E1-D30AB815AAC8}"/>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accent1"/>
                </a:solidFill>
              </a:defRPr>
            </a:lvl1pPr>
            <a:lvl5pPr marL="2438216" indent="0">
              <a:buNone/>
              <a:defRPr/>
            </a:lvl5pPr>
          </a:lstStyle>
          <a:p>
            <a:pPr lvl="0"/>
            <a:r>
              <a:rPr kumimoji="1" lang="en-US" altLang="ja-JP" dirty="0"/>
              <a:t>2024</a:t>
            </a:r>
            <a:r>
              <a:rPr kumimoji="1" lang="ja-JP" altLang="en-US" dirty="0"/>
              <a:t>年〇月〇日　株式会社</a:t>
            </a:r>
            <a:r>
              <a:rPr kumimoji="1" lang="en-US" altLang="ja-JP" dirty="0"/>
              <a:t>NTT</a:t>
            </a:r>
            <a:r>
              <a:rPr kumimoji="1" lang="ja-JP" altLang="en-US" dirty="0"/>
              <a:t>データ ○○○○○○</a:t>
            </a:r>
          </a:p>
        </p:txBody>
      </p:sp>
      <p:pic>
        <p:nvPicPr>
          <p:cNvPr id="9" name="図 8">
            <a:extLst>
              <a:ext uri="{FF2B5EF4-FFF2-40B4-BE49-F238E27FC236}">
                <a16:creationId xmlns:a16="http://schemas.microsoft.com/office/drawing/2014/main" id="{57B54130-C13B-014A-F9F3-0C8FCD6D243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0" name="テキスト ボックス 9">
            <a:extLst>
              <a:ext uri="{FF2B5EF4-FFF2-40B4-BE49-F238E27FC236}">
                <a16:creationId xmlns:a16="http://schemas.microsoft.com/office/drawing/2014/main" id="{8D0D95E3-21F4-A71F-7D73-FE15E156422C}"/>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
        <p:nvSpPr>
          <p:cNvPr id="11" name="テキスト ボックス 10">
            <a:extLst>
              <a:ext uri="{FF2B5EF4-FFF2-40B4-BE49-F238E27FC236}">
                <a16:creationId xmlns:a16="http://schemas.microsoft.com/office/drawing/2014/main" id="{4D9542F4-2785-BB77-7E12-1225021C408C}"/>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Tree>
    <p:extLst>
      <p:ext uri="{BB962C8B-B14F-4D97-AF65-F5344CB8AC3E}">
        <p14:creationId xmlns:p14="http://schemas.microsoft.com/office/powerpoint/2010/main" val="132063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279E55B6-184B-9445-3C84-3C51FFA63D1B}"/>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dirty="0"/>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4496400" y="2286000"/>
            <a:ext cx="7315200" cy="3952800"/>
          </a:xfrm>
          <a:prstGeom prst="rect">
            <a:avLst/>
          </a:prstGeom>
        </p:spPr>
        <p:txBody>
          <a:bodyPr lIns="0" tIns="0" rIns="0" bIns="0"/>
          <a:lstStyle>
            <a:lvl1pPr>
              <a:defRPr sz="4800" b="1">
                <a:solidFill>
                  <a:schemeClr val="accent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4E856B16-CC7F-D18A-5F95-82F6F68027FD}"/>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7" name="正方形/長方形 6">
            <a:extLst>
              <a:ext uri="{FF2B5EF4-FFF2-40B4-BE49-F238E27FC236}">
                <a16:creationId xmlns:a16="http://schemas.microsoft.com/office/drawing/2014/main" id="{B78BC61F-DFF6-D0AA-091E-65340A8F721F}"/>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0" name="テキスト ボックス 9">
            <a:extLst>
              <a:ext uri="{FF2B5EF4-FFF2-40B4-BE49-F238E27FC236}">
                <a16:creationId xmlns:a16="http://schemas.microsoft.com/office/drawing/2014/main" id="{D5163610-4754-0AB2-758B-6FFD6261400E}"/>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
        <p:nvSpPr>
          <p:cNvPr id="3" name="テキスト ボックス 2">
            <a:extLst>
              <a:ext uri="{FF2B5EF4-FFF2-40B4-BE49-F238E27FC236}">
                <a16:creationId xmlns:a16="http://schemas.microsoft.com/office/drawing/2014/main" id="{A743C299-B1D8-32E7-0665-7030EF319DF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1845279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dirty="0"/>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accent1"/>
                </a:solidFill>
              </a:defRPr>
            </a:lvl1pPr>
          </a:lstStyle>
          <a:p>
            <a:pPr lvl="0"/>
            <a:r>
              <a:rPr kumimoji="1" lang="ja-JP" altLang="en-US"/>
              <a:t>中扉タイトル</a:t>
            </a:r>
          </a:p>
        </p:txBody>
      </p:sp>
      <p:pic>
        <p:nvPicPr>
          <p:cNvPr id="4" name="Picture 6">
            <a:extLst>
              <a:ext uri="{FF2B5EF4-FFF2-40B4-BE49-F238E27FC236}">
                <a16:creationId xmlns:a16="http://schemas.microsoft.com/office/drawing/2014/main" id="{EB864475-214E-676F-1057-8A4E44927EF7}"/>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a:xfrm>
            <a:off x="8070773" y="2431973"/>
            <a:ext cx="3740227" cy="3740227"/>
          </a:xfrm>
          <a:prstGeom prst="rect">
            <a:avLst/>
          </a:prstGeom>
        </p:spPr>
      </p:pic>
      <p:sp>
        <p:nvSpPr>
          <p:cNvPr id="5" name="テキスト ボックス 4">
            <a:extLst>
              <a:ext uri="{FF2B5EF4-FFF2-40B4-BE49-F238E27FC236}">
                <a16:creationId xmlns:a16="http://schemas.microsoft.com/office/drawing/2014/main" id="{442CEE08-CDC8-97A0-0539-B8FAF99A176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1412629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dirty="0"/>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496400" y="2433600"/>
            <a:ext cx="7315200" cy="3740400"/>
          </a:xfrm>
          <a:prstGeom prst="rect">
            <a:avLst/>
          </a:prstGeom>
        </p:spPr>
        <p:txBody>
          <a:bodyPr lIns="0" tIns="0" rIns="0" bIns="0"/>
          <a:lstStyle>
            <a:lvl1pPr>
              <a:defRPr sz="4000" b="1">
                <a:solidFill>
                  <a:schemeClr val="accent1"/>
                </a:solidFill>
              </a:defRPr>
            </a:lvl1pPr>
          </a:lstStyle>
          <a:p>
            <a:pPr lvl="0"/>
            <a:r>
              <a:rPr kumimoji="1" lang="ja-JP" altLang="en-US" dirty="0"/>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4" name="テキスト ボックス 3">
            <a:extLst>
              <a:ext uri="{FF2B5EF4-FFF2-40B4-BE49-F238E27FC236}">
                <a16:creationId xmlns:a16="http://schemas.microsoft.com/office/drawing/2014/main" id="{5AFADF36-0739-4336-5F19-36F99723999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pic>
        <p:nvPicPr>
          <p:cNvPr id="8" name="図プレースホルダー 15">
            <a:extLst>
              <a:ext uri="{FF2B5EF4-FFF2-40B4-BE49-F238E27FC236}">
                <a16:creationId xmlns:a16="http://schemas.microsoft.com/office/drawing/2014/main" id="{7A73D8A7-ECC3-BBC6-EF06-B230921C7B4E}"/>
              </a:ext>
            </a:extLst>
          </p:cNvPr>
          <p:cNvPicPr>
            <a:picLocks noChangeAspect="1"/>
          </p:cNvPicPr>
          <p:nvPr userDrawn="1"/>
        </p:nvPicPr>
        <p:blipFill rotWithShape="1">
          <a:blip r:embed="rId3"/>
          <a:srcRect l="40504" r="3246"/>
          <a:stretch/>
        </p:blipFill>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1310426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08251914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1302DF2-0499-A7F0-F9C3-E5E071AA87A1}"/>
              </a:ext>
            </a:extLst>
          </p:cNvPr>
          <p:cNvSpPr/>
          <p:nvPr userDrawn="1"/>
        </p:nvSpPr>
        <p:spPr>
          <a:xfrm>
            <a:off x="0" y="0"/>
            <a:ext cx="12192000" cy="7308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bg1"/>
              </a:solidFill>
            </a:endParaRPr>
          </a:p>
        </p:txBody>
      </p:sp>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0"/>
            <a:ext cx="11448000" cy="730800"/>
          </a:xfrm>
        </p:spPr>
        <p:txBody>
          <a:bodyPr tIns="0" bIns="0" anchor="ctr">
            <a:noAutofit/>
          </a:bodyPr>
          <a:lstStyle>
            <a:lvl1pPr>
              <a:defRPr sz="2600">
                <a:solidFill>
                  <a:schemeClr val="bg1"/>
                </a:solidFill>
              </a:defRPr>
            </a:lvl1pPr>
          </a:lstStyle>
          <a:p>
            <a:r>
              <a:rPr kumimoji="1" lang="ja-JP" altLang="en-US" dirty="0"/>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99290230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08336317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217967863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350789134"/>
      </p:ext>
    </p:extLst>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6618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561363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8C3FB7A8-16FC-BD93-A0B4-62A3FCF37C5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3400063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81534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4C55398C-909F-71D0-49CD-60754A59BD4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4072169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
        <p:nvSpPr>
          <p:cNvPr id="5" name="テキスト ボックス 4">
            <a:extLst>
              <a:ext uri="{FF2B5EF4-FFF2-40B4-BE49-F238E27FC236}">
                <a16:creationId xmlns:a16="http://schemas.microsoft.com/office/drawing/2014/main" id="{C722009A-DED3-7073-83CB-04DBCF9C572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4935579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18655178-DE12-7246-7FDA-793D4F72C04F}"/>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4168147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Tree>
    <p:extLst>
      <p:ext uri="{BB962C8B-B14F-4D97-AF65-F5344CB8AC3E}">
        <p14:creationId xmlns:p14="http://schemas.microsoft.com/office/powerpoint/2010/main" val="5360333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273833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877768" y="2865911"/>
            <a:ext cx="4436464" cy="1126177"/>
          </a:xfrm>
          <a:prstGeom prst="rect">
            <a:avLst/>
          </a:prstGeom>
        </p:spPr>
      </p:pic>
    </p:spTree>
    <p:extLst>
      <p:ext uri="{BB962C8B-B14F-4D97-AF65-F5344CB8AC3E}">
        <p14:creationId xmlns:p14="http://schemas.microsoft.com/office/powerpoint/2010/main" val="11673992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2"/>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Tree>
    <p:extLst>
      <p:ext uri="{BB962C8B-B14F-4D97-AF65-F5344CB8AC3E}">
        <p14:creationId xmlns:p14="http://schemas.microsoft.com/office/powerpoint/2010/main" val="3348986222"/>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914A62E0-557E-B957-9899-5EBF45E3EA8C}"/>
              </a:ext>
            </a:extLst>
          </p:cNvPr>
          <p:cNvPicPr>
            <a:picLocks noChangeAspect="1"/>
          </p:cNvPicPr>
          <p:nvPr userDrawn="1"/>
        </p:nvPicPr>
        <p:blipFill>
          <a:blip r:embed="rId2"/>
          <a:srcRect/>
          <a:stretch/>
        </p:blipFill>
        <p:spPr>
          <a:xfrm>
            <a:off x="1" y="-1"/>
            <a:ext cx="12191998" cy="6857999"/>
          </a:xfrm>
          <a:prstGeom prst="rect">
            <a:avLst/>
          </a:prstGeom>
        </p:spPr>
      </p:pic>
      <p:sp>
        <p:nvSpPr>
          <p:cNvPr id="15" name="正方形/長方形 14">
            <a:extLst>
              <a:ext uri="{FF2B5EF4-FFF2-40B4-BE49-F238E27FC236}">
                <a16:creationId xmlns:a16="http://schemas.microsoft.com/office/drawing/2014/main" id="{B21D845A-6F22-B3AA-CB2B-CE570ECB54DA}"/>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4" name="図 13">
            <a:extLst>
              <a:ext uri="{FF2B5EF4-FFF2-40B4-BE49-F238E27FC236}">
                <a16:creationId xmlns:a16="http://schemas.microsoft.com/office/drawing/2014/main" id="{293D96B2-6F5E-EE7E-9F24-93B0B654C8F0}"/>
              </a:ext>
            </a:extLst>
          </p:cNvPr>
          <p:cNvPicPr>
            <a:picLocks noChangeAspect="1"/>
          </p:cNvPicPr>
          <p:nvPr userDrawn="1"/>
        </p:nvPicPr>
        <p:blipFill>
          <a:blip r:embed="rId3"/>
          <a:stretch>
            <a:fillRect/>
          </a:stretch>
        </p:blipFill>
        <p:spPr>
          <a:xfrm>
            <a:off x="5354200" y="0"/>
            <a:ext cx="6837800" cy="6876000"/>
          </a:xfrm>
          <a:prstGeom prst="rect">
            <a:avLst/>
          </a:prstGeom>
        </p:spPr>
      </p:pic>
      <p:pic>
        <p:nvPicPr>
          <p:cNvPr id="7" name="図 6">
            <a:extLst>
              <a:ext uri="{FF2B5EF4-FFF2-40B4-BE49-F238E27FC236}">
                <a16:creationId xmlns:a16="http://schemas.microsoft.com/office/drawing/2014/main" id="{306268F2-28E0-79B7-DA6F-57A7B640AE86}"/>
              </a:ext>
            </a:extLst>
          </p:cNvPr>
          <p:cNvPicPr>
            <a:picLocks noChangeAspect="1"/>
          </p:cNvPicPr>
          <p:nvPr userDrawn="1"/>
        </p:nvPicPr>
        <p:blipFill>
          <a:blip r:embed="rId4"/>
          <a:srcRect/>
          <a:stretch/>
        </p:blipFill>
        <p:spPr>
          <a:xfrm>
            <a:off x="231864" y="191534"/>
            <a:ext cx="2237123" cy="569864"/>
          </a:xfrm>
          <a:prstGeom prst="rect">
            <a:avLst/>
          </a:prstGeom>
        </p:spPr>
      </p:pic>
      <p:sp>
        <p:nvSpPr>
          <p:cNvPr id="17" name="テキスト ボックス 16">
            <a:extLst>
              <a:ext uri="{FF2B5EF4-FFF2-40B4-BE49-F238E27FC236}">
                <a16:creationId xmlns:a16="http://schemas.microsoft.com/office/drawing/2014/main" id="{638584A2-F12B-7FC9-C3A1-97D2EFB00B4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2" name="タイトル 2">
            <a:extLst>
              <a:ext uri="{FF2B5EF4-FFF2-40B4-BE49-F238E27FC236}">
                <a16:creationId xmlns:a16="http://schemas.microsoft.com/office/drawing/2014/main" id="{9FFE2739-2E04-47EE-56DD-BB294EDAFE24}"/>
              </a:ext>
            </a:extLst>
          </p:cNvPr>
          <p:cNvSpPr>
            <a:spLocks noGrp="1"/>
          </p:cNvSpPr>
          <p:nvPr>
            <p:ph type="title" hasCustomPrompt="1"/>
          </p:nvPr>
        </p:nvSpPr>
        <p:spPr>
          <a:xfrm>
            <a:off x="381600" y="864000"/>
            <a:ext cx="484200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9" name="テキスト プレースホルダー 6">
            <a:extLst>
              <a:ext uri="{FF2B5EF4-FFF2-40B4-BE49-F238E27FC236}">
                <a16:creationId xmlns:a16="http://schemas.microsoft.com/office/drawing/2014/main" id="{F837CDFA-F63F-E633-A624-CDB5B06CAF47}"/>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dirty="0"/>
              <a:t>［タイトル］</a:t>
            </a:r>
          </a:p>
        </p:txBody>
      </p:sp>
      <p:sp>
        <p:nvSpPr>
          <p:cNvPr id="10" name="テキスト プレースホルダー 10">
            <a:extLst>
              <a:ext uri="{FF2B5EF4-FFF2-40B4-BE49-F238E27FC236}">
                <a16:creationId xmlns:a16="http://schemas.microsoft.com/office/drawing/2014/main" id="{C902823D-1000-9AD4-A5D1-BC7E7F7ABDBA}"/>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3461023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pic>
        <p:nvPicPr>
          <p:cNvPr id="3" name="Picture Placeholder 8">
            <a:extLst>
              <a:ext uri="{FF2B5EF4-FFF2-40B4-BE49-F238E27FC236}">
                <a16:creationId xmlns:a16="http://schemas.microsoft.com/office/drawing/2014/main" id="{135D64F4-1CA0-56CF-8C07-767DED8AAB1A}"/>
              </a:ext>
            </a:extLst>
          </p:cNvPr>
          <p:cNvPicPr>
            <a:picLocks noChangeAspect="1"/>
          </p:cNvPicPr>
          <p:nvPr userDrawn="1"/>
        </p:nvPicPr>
        <p:blipFill>
          <a:blip r:embed="rId2"/>
          <a:srcRect/>
          <a:stretch/>
        </p:blipFill>
        <p:spPr>
          <a:xfrm>
            <a:off x="1" y="-1"/>
            <a:ext cx="12191998" cy="6857999"/>
          </a:xfrm>
          <a:prstGeom prst="rect">
            <a:avLst/>
          </a:prstGeom>
        </p:spPr>
      </p:pic>
      <p:sp>
        <p:nvSpPr>
          <p:cNvPr id="8" name="正方形/長方形 7">
            <a:extLst>
              <a:ext uri="{FF2B5EF4-FFF2-40B4-BE49-F238E27FC236}">
                <a16:creationId xmlns:a16="http://schemas.microsoft.com/office/drawing/2014/main" id="{297923DD-A187-436F-BFDF-933B5E40DE59}"/>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5" name="図 4">
            <a:extLst>
              <a:ext uri="{FF2B5EF4-FFF2-40B4-BE49-F238E27FC236}">
                <a16:creationId xmlns:a16="http://schemas.microsoft.com/office/drawing/2014/main" id="{1F0B3FE2-7046-025F-1030-28927CDF7940}"/>
              </a:ext>
            </a:extLst>
          </p:cNvPr>
          <p:cNvPicPr>
            <a:picLocks noChangeAspect="1"/>
          </p:cNvPicPr>
          <p:nvPr userDrawn="1"/>
        </p:nvPicPr>
        <p:blipFill>
          <a:blip r:embed="rId3"/>
          <a:srcRect/>
          <a:stretch/>
        </p:blipFill>
        <p:spPr>
          <a:xfrm>
            <a:off x="231864" y="191534"/>
            <a:ext cx="2237123" cy="569864"/>
          </a:xfrm>
          <a:prstGeom prst="rect">
            <a:avLst/>
          </a:prstGeom>
        </p:spPr>
      </p:pic>
      <p:pic>
        <p:nvPicPr>
          <p:cNvPr id="7" name="図 6">
            <a:extLst>
              <a:ext uri="{FF2B5EF4-FFF2-40B4-BE49-F238E27FC236}">
                <a16:creationId xmlns:a16="http://schemas.microsoft.com/office/drawing/2014/main" id="{C26356CC-4A55-00B4-4C29-4C4FF9AC3E50}"/>
              </a:ext>
            </a:extLst>
          </p:cNvPr>
          <p:cNvPicPr>
            <a:picLocks noChangeAspect="1"/>
          </p:cNvPicPr>
          <p:nvPr userDrawn="1"/>
        </p:nvPicPr>
        <p:blipFill>
          <a:blip r:embed="rId4"/>
          <a:stretch>
            <a:fillRect/>
          </a:stretch>
        </p:blipFill>
        <p:spPr>
          <a:xfrm>
            <a:off x="7628966" y="0"/>
            <a:ext cx="4558534" cy="6876000"/>
          </a:xfrm>
          <a:prstGeom prst="rect">
            <a:avLst/>
          </a:prstGeom>
        </p:spPr>
      </p:pic>
      <p:sp>
        <p:nvSpPr>
          <p:cNvPr id="10" name="テキスト ボックス 9">
            <a:extLst>
              <a:ext uri="{FF2B5EF4-FFF2-40B4-BE49-F238E27FC236}">
                <a16:creationId xmlns:a16="http://schemas.microsoft.com/office/drawing/2014/main" id="{253D2BDA-26EA-370D-2084-F7F1C3809C6A}"/>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4" name="テキスト ボックス 3">
            <a:extLst>
              <a:ext uri="{FF2B5EF4-FFF2-40B4-BE49-F238E27FC236}">
                <a16:creationId xmlns:a16="http://schemas.microsoft.com/office/drawing/2014/main" id="{0C97F027-0343-7668-5879-F7126DF1758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
        <p:nvSpPr>
          <p:cNvPr id="2" name="タイトル 2">
            <a:extLst>
              <a:ext uri="{FF2B5EF4-FFF2-40B4-BE49-F238E27FC236}">
                <a16:creationId xmlns:a16="http://schemas.microsoft.com/office/drawing/2014/main" id="{FDC3CA59-45BD-B018-FE26-B50D0990128D}"/>
              </a:ext>
            </a:extLst>
          </p:cNvPr>
          <p:cNvSpPr>
            <a:spLocks noGrp="1"/>
          </p:cNvSpPr>
          <p:nvPr>
            <p:ph type="title" hasCustomPrompt="1"/>
          </p:nvPr>
        </p:nvSpPr>
        <p:spPr>
          <a:xfrm>
            <a:off x="381600" y="1450800"/>
            <a:ext cx="718560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12" name="テキスト プレースホルダー 6">
            <a:extLst>
              <a:ext uri="{FF2B5EF4-FFF2-40B4-BE49-F238E27FC236}">
                <a16:creationId xmlns:a16="http://schemas.microsoft.com/office/drawing/2014/main" id="{2704D472-D7F1-5C17-D2C9-89CA9C7E6E83}"/>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dirty="0"/>
              <a:t>［タイトル］</a:t>
            </a:r>
          </a:p>
        </p:txBody>
      </p:sp>
      <p:sp>
        <p:nvSpPr>
          <p:cNvPr id="13" name="テキスト プレースホルダー 10">
            <a:extLst>
              <a:ext uri="{FF2B5EF4-FFF2-40B4-BE49-F238E27FC236}">
                <a16:creationId xmlns:a16="http://schemas.microsoft.com/office/drawing/2014/main" id="{FF2F9E31-F480-6E30-B7CC-0D2A360E0E4D}"/>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35058765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10AAF6A0-9426-1792-5BF0-ADD639497155}"/>
              </a:ext>
            </a:extLst>
          </p:cNvPr>
          <p:cNvPicPr>
            <a:picLocks noChangeAspect="1"/>
          </p:cNvPicPr>
          <p:nvPr userDrawn="1"/>
        </p:nvPicPr>
        <p:blipFill>
          <a:blip r:embed="rId2"/>
          <a:srcRect/>
          <a:stretch/>
        </p:blipFill>
        <p:spPr>
          <a:xfrm>
            <a:off x="1" y="-1"/>
            <a:ext cx="12191998" cy="6857999"/>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3" name="図 2">
            <a:extLst>
              <a:ext uri="{FF2B5EF4-FFF2-40B4-BE49-F238E27FC236}">
                <a16:creationId xmlns:a16="http://schemas.microsoft.com/office/drawing/2014/main" id="{14FF15F3-493A-8C15-9F64-F0766961604A}"/>
              </a:ext>
            </a:extLst>
          </p:cNvPr>
          <p:cNvPicPr>
            <a:picLocks noChangeAspect="1"/>
          </p:cNvPicPr>
          <p:nvPr userDrawn="1"/>
        </p:nvPicPr>
        <p:blipFill>
          <a:blip r:embed="rId3"/>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81600" y="1450800"/>
            <a:ext cx="1144080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dirty="0"/>
              <a:t>2024</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10336534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5" name="図プレースホルダー 11">
            <a:extLst>
              <a:ext uri="{FF2B5EF4-FFF2-40B4-BE49-F238E27FC236}">
                <a16:creationId xmlns:a16="http://schemas.microsoft.com/office/drawing/2014/main" id="{A3393BEA-233F-245F-0129-ADDB8158110C}"/>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pic>
        <p:nvPicPr>
          <p:cNvPr id="10" name="図 9">
            <a:extLst>
              <a:ext uri="{FF2B5EF4-FFF2-40B4-BE49-F238E27FC236}">
                <a16:creationId xmlns:a16="http://schemas.microsoft.com/office/drawing/2014/main" id="{4E76937A-BEA1-17BD-51FF-75828A89464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2" name="テキスト ボックス 11">
            <a:extLst>
              <a:ext uri="{FF2B5EF4-FFF2-40B4-BE49-F238E27FC236}">
                <a16:creationId xmlns:a16="http://schemas.microsoft.com/office/drawing/2014/main" id="{CC6F50BD-6D4E-93A3-94F5-CD0A6C075F68}"/>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7" name="テキスト ボックス 6">
            <a:extLst>
              <a:ext uri="{FF2B5EF4-FFF2-40B4-BE49-F238E27FC236}">
                <a16:creationId xmlns:a16="http://schemas.microsoft.com/office/drawing/2014/main" id="{5FFAB0DC-12F1-0A0D-5E05-98EABE352010}"/>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
        <p:nvSpPr>
          <p:cNvPr id="2" name="タイトル 2">
            <a:extLst>
              <a:ext uri="{FF2B5EF4-FFF2-40B4-BE49-F238E27FC236}">
                <a16:creationId xmlns:a16="http://schemas.microsoft.com/office/drawing/2014/main" id="{F5B93878-EB0F-DF28-452A-99587B3CF9AF}"/>
              </a:ext>
            </a:extLst>
          </p:cNvPr>
          <p:cNvSpPr>
            <a:spLocks noGrp="1"/>
          </p:cNvSpPr>
          <p:nvPr>
            <p:ph type="title" hasCustomPrompt="1"/>
          </p:nvPr>
        </p:nvSpPr>
        <p:spPr>
          <a:xfrm>
            <a:off x="370800" y="752400"/>
            <a:ext cx="11440800" cy="3960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3" name="テキスト プレースホルダー 6">
            <a:extLst>
              <a:ext uri="{FF2B5EF4-FFF2-40B4-BE49-F238E27FC236}">
                <a16:creationId xmlns:a16="http://schemas.microsoft.com/office/drawing/2014/main" id="{5893501C-E04B-3D7E-860E-2A66FEF8D7C9}"/>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4" name="テキスト プレースホルダー 10">
            <a:extLst>
              <a:ext uri="{FF2B5EF4-FFF2-40B4-BE49-F238E27FC236}">
                <a16:creationId xmlns:a16="http://schemas.microsoft.com/office/drawing/2014/main" id="{8ADA0CC1-B34F-2866-9154-43C9EABF8BF5}"/>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bg1"/>
                </a:solidFill>
              </a:defRPr>
            </a:lvl1pPr>
            <a:lvl5pPr marL="2438216" indent="0">
              <a:buNone/>
              <a:defRPr/>
            </a:lvl5pPr>
          </a:lstStyle>
          <a:p>
            <a:pPr lvl="0"/>
            <a:r>
              <a:rPr kumimoji="1" lang="en-US" altLang="ja-JP" dirty="0"/>
              <a:t>2024</a:t>
            </a:r>
            <a:r>
              <a:rPr kumimoji="1" lang="ja-JP" altLang="en-US" dirty="0"/>
              <a:t>年〇月〇日　株式会社</a:t>
            </a:r>
            <a:r>
              <a:rPr kumimoji="1" lang="en-US" altLang="ja-JP" dirty="0"/>
              <a:t>NTT</a:t>
            </a:r>
            <a:r>
              <a:rPr kumimoji="1" lang="ja-JP" altLang="en-US" dirty="0"/>
              <a:t>データ ○○○○○○</a:t>
            </a:r>
          </a:p>
        </p:txBody>
      </p:sp>
    </p:spTree>
    <p:extLst>
      <p:ext uri="{BB962C8B-B14F-4D97-AF65-F5344CB8AC3E}">
        <p14:creationId xmlns:p14="http://schemas.microsoft.com/office/powerpoint/2010/main" val="8006712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4" name="Picture Placeholder 8">
            <a:extLst>
              <a:ext uri="{FF2B5EF4-FFF2-40B4-BE49-F238E27FC236}">
                <a16:creationId xmlns:a16="http://schemas.microsoft.com/office/drawing/2014/main" id="{4CF74755-19E7-052E-D6BE-AE04C9B65B9E}"/>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dirty="0"/>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4496400" y="2286000"/>
            <a:ext cx="7315200" cy="3952800"/>
          </a:xfrm>
          <a:prstGeom prst="rect">
            <a:avLst/>
          </a:prstGeom>
        </p:spPr>
        <p:txBody>
          <a:bodyPr lIns="0" tIns="0" rIns="0" bIns="0"/>
          <a:lstStyle>
            <a:lvl1pPr>
              <a:defRPr sz="4800" b="1">
                <a:solidFill>
                  <a:schemeClr val="bg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CBB76971-86FF-83F8-9E8E-FF04E7792ABB}"/>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7" name="正方形/長方形 6">
            <a:extLst>
              <a:ext uri="{FF2B5EF4-FFF2-40B4-BE49-F238E27FC236}">
                <a16:creationId xmlns:a16="http://schemas.microsoft.com/office/drawing/2014/main" id="{9CFA8725-4E9D-1A8D-75CB-0BBF9E663993}"/>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0" name="テキスト ボックス 9">
            <a:extLst>
              <a:ext uri="{FF2B5EF4-FFF2-40B4-BE49-F238E27FC236}">
                <a16:creationId xmlns:a16="http://schemas.microsoft.com/office/drawing/2014/main" id="{CA9355A0-2A70-15E3-7B93-39F5C7005529}"/>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3" name="テキスト ボックス 2">
            <a:extLst>
              <a:ext uri="{FF2B5EF4-FFF2-40B4-BE49-F238E27FC236}">
                <a16:creationId xmlns:a16="http://schemas.microsoft.com/office/drawing/2014/main" id="{DD2ECDF7-C73E-11AF-9E8E-8C6D93EE20FD}"/>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753095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dirty="0"/>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bg1"/>
                </a:solidFill>
              </a:defRPr>
            </a:lvl1pPr>
          </a:lstStyle>
          <a:p>
            <a:pPr lvl="0"/>
            <a:r>
              <a:rPr kumimoji="1" lang="ja-JP" altLang="en-US"/>
              <a:t>中扉タイトル</a:t>
            </a:r>
          </a:p>
        </p:txBody>
      </p:sp>
      <p:pic>
        <p:nvPicPr>
          <p:cNvPr id="6" name="Innovationcurve">
            <a:extLst>
              <a:ext uri="{FF2B5EF4-FFF2-40B4-BE49-F238E27FC236}">
                <a16:creationId xmlns:a16="http://schemas.microsoft.com/office/drawing/2014/main" id="{7CF64CB9-660F-8471-3C6F-4FD9FD6E3B9E}"/>
              </a:ext>
            </a:extLst>
          </p:cNvPr>
          <p:cNvPicPr>
            <a:picLocks noChangeAspect="1"/>
          </p:cNvPicPr>
          <p:nvPr userDrawn="1"/>
        </p:nvPicPr>
        <p:blipFill>
          <a:blip r:embed="rId2"/>
          <a:stretch>
            <a:fillRect/>
          </a:stretch>
        </p:blipFill>
        <p:spPr>
          <a:xfrm>
            <a:off x="8091600" y="2433600"/>
            <a:ext cx="3729600" cy="3739975"/>
          </a:xfrm>
          <a:prstGeom prst="rect">
            <a:avLst/>
          </a:prstGeom>
        </p:spPr>
      </p:pic>
      <p:sp>
        <p:nvSpPr>
          <p:cNvPr id="8" name="テキスト ボックス 7">
            <a:extLst>
              <a:ext uri="{FF2B5EF4-FFF2-40B4-BE49-F238E27FC236}">
                <a16:creationId xmlns:a16="http://schemas.microsoft.com/office/drawing/2014/main" id="{943F721B-F20E-EF98-7C7E-D4DD73191926}"/>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26173633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dirty="0"/>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496400" y="2433600"/>
            <a:ext cx="7315200" cy="3740400"/>
          </a:xfrm>
          <a:prstGeom prst="rect">
            <a:avLst/>
          </a:prstGeom>
        </p:spPr>
        <p:txBody>
          <a:bodyPr lIns="0" tIns="0" rIns="0" bIns="0"/>
          <a:lstStyle>
            <a:lvl1pPr>
              <a:defRPr sz="4000" b="1">
                <a:solidFill>
                  <a:schemeClr val="bg1"/>
                </a:solidFill>
              </a:defRPr>
            </a:lvl1pPr>
          </a:lstStyle>
          <a:p>
            <a:pPr lvl="0"/>
            <a:r>
              <a:rPr kumimoji="1" lang="ja-JP" altLang="en-US"/>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63EDD009-B7C6-2FAB-6C6C-D361E024042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pic>
        <p:nvPicPr>
          <p:cNvPr id="7" name="図プレースホルダー 15">
            <a:extLst>
              <a:ext uri="{FF2B5EF4-FFF2-40B4-BE49-F238E27FC236}">
                <a16:creationId xmlns:a16="http://schemas.microsoft.com/office/drawing/2014/main" id="{B62A01C9-0B30-0082-9D00-73A4244F836E}"/>
              </a:ext>
            </a:extLst>
          </p:cNvPr>
          <p:cNvPicPr>
            <a:picLocks noChangeAspect="1"/>
          </p:cNvPicPr>
          <p:nvPr userDrawn="1"/>
        </p:nvPicPr>
        <p:blipFill rotWithShape="1">
          <a:blip r:embed="rId3"/>
          <a:srcRect l="40504" r="3246"/>
          <a:stretch/>
        </p:blipFill>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28711666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275175858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4055790626"/>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76973317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10419515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noAutofit/>
          </a:bodyPr>
          <a:lstStyle>
            <a:lvl1pPr>
              <a:defRPr sz="2600">
                <a:solidFill>
                  <a:schemeClr val="bg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bg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4119084297"/>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1753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21335728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284A47DF-598D-4484-FC4C-BB3F7796E5E5}"/>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17BFC142-EE3C-1097-DFF9-406290BF82E8}"/>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53006D64-E6DC-EC14-0869-CFFA4F407720}"/>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0" name="テキスト ボックス 9">
            <a:extLst>
              <a:ext uri="{FF2B5EF4-FFF2-40B4-BE49-F238E27FC236}">
                <a16:creationId xmlns:a16="http://schemas.microsoft.com/office/drawing/2014/main" id="{982FFD09-936A-AF7C-CD3D-13DA700D6B3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11" name="テキスト ボックス 10">
            <a:extLst>
              <a:ext uri="{FF2B5EF4-FFF2-40B4-BE49-F238E27FC236}">
                <a16:creationId xmlns:a16="http://schemas.microsoft.com/office/drawing/2014/main" id="{F630E21C-D3DA-C1C9-6335-53E0F302CA3F}"/>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1ED76DD1-6CF3-67A2-ABEE-C68044278951}"/>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36142673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364C7304-EA79-3047-AAB3-5F36CE9C49DE}"/>
              </a:ext>
            </a:extLst>
          </p:cNvPr>
          <p:cNvPicPr>
            <a:picLocks noChangeAspect="1"/>
          </p:cNvPicPr>
          <p:nvPr userDrawn="1"/>
        </p:nvPicPr>
        <p:blipFill rotWithShape="1">
          <a:blip r:embed="rId2"/>
          <a:srcRect l="58440" r="8440"/>
          <a:stretch/>
        </p:blipFill>
        <p:spPr>
          <a:xfrm>
            <a:off x="81528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9" name="正方形/長方形 8">
            <a:extLst>
              <a:ext uri="{FF2B5EF4-FFF2-40B4-BE49-F238E27FC236}">
                <a16:creationId xmlns:a16="http://schemas.microsoft.com/office/drawing/2014/main" id="{7B12F8C5-0E88-DAD9-ABAF-0068EAED006A}"/>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0" name="図 9">
            <a:extLst>
              <a:ext uri="{FF2B5EF4-FFF2-40B4-BE49-F238E27FC236}">
                <a16:creationId xmlns:a16="http://schemas.microsoft.com/office/drawing/2014/main" id="{1511AB2B-344F-4945-B779-70D998A016D8}"/>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E362071F-A70C-04A3-5591-E26AA3F70795}"/>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6531070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A5C280F5-C8A3-ED0C-C7A4-8D18EBF140D0}"/>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9" name="テキスト ボックス 8">
            <a:extLst>
              <a:ext uri="{FF2B5EF4-FFF2-40B4-BE49-F238E27FC236}">
                <a16:creationId xmlns:a16="http://schemas.microsoft.com/office/drawing/2014/main" id="{7B9BBD56-FDC8-781A-F41D-9973F313B29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4" name="正方形/長方形 3">
            <a:extLst>
              <a:ext uri="{FF2B5EF4-FFF2-40B4-BE49-F238E27FC236}">
                <a16:creationId xmlns:a16="http://schemas.microsoft.com/office/drawing/2014/main" id="{D3B0CE17-A075-1981-B937-98723C53A715}"/>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 name="テキスト ボックス 7">
            <a:extLst>
              <a:ext uri="{FF2B5EF4-FFF2-40B4-BE49-F238E27FC236}">
                <a16:creationId xmlns:a16="http://schemas.microsoft.com/office/drawing/2014/main" id="{7CCDB277-94A0-134B-3BE0-C7631A608D43}"/>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5" name="テキスト ボックス 4">
            <a:extLst>
              <a:ext uri="{FF2B5EF4-FFF2-40B4-BE49-F238E27FC236}">
                <a16:creationId xmlns:a16="http://schemas.microsoft.com/office/drawing/2014/main" id="{FE3BD25D-ABBB-6D2D-8F6B-16DB936E7872}"/>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36514606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2" name="図プレースホルダー 11">
            <a:extLst>
              <a:ext uri="{FF2B5EF4-FFF2-40B4-BE49-F238E27FC236}">
                <a16:creationId xmlns:a16="http://schemas.microsoft.com/office/drawing/2014/main" id="{9A370874-D6E7-8236-0AEC-2B707CC0DA41}"/>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7" name="正方形/長方形 6">
            <a:extLst>
              <a:ext uri="{FF2B5EF4-FFF2-40B4-BE49-F238E27FC236}">
                <a16:creationId xmlns:a16="http://schemas.microsoft.com/office/drawing/2014/main" id="{C3712D3F-0A14-B965-583E-18E6FCE4A735}"/>
              </a:ext>
            </a:extLst>
          </p:cNvPr>
          <p:cNvSpPr/>
          <p:nvPr userDrawn="1"/>
        </p:nvSpPr>
        <p:spPr>
          <a:xfrm>
            <a:off x="1200" y="5205601"/>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8" name="図 7">
            <a:extLst>
              <a:ext uri="{FF2B5EF4-FFF2-40B4-BE49-F238E27FC236}">
                <a16:creationId xmlns:a16="http://schemas.microsoft.com/office/drawing/2014/main" id="{84D7E9EC-CF46-317F-6A0E-F6BDEEB785B0}"/>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EFD602CA-4EF9-5AA1-3EE4-33973263E2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
        <p:nvSpPr>
          <p:cNvPr id="13" name="テキスト ボックス 12">
            <a:extLst>
              <a:ext uri="{FF2B5EF4-FFF2-40B4-BE49-F238E27FC236}">
                <a16:creationId xmlns:a16="http://schemas.microsoft.com/office/drawing/2014/main" id="{AE93AE18-67FE-0AB9-197B-5A29BB657E46}"/>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8A8B6262-DDC9-FD06-5613-CDCB22E48DDD}"/>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10117659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dirty="0" err="1"/>
              <a:t>クリックして画像を追加してください</a:t>
            </a:r>
            <a:r>
              <a:rPr lang="en-US" dirty="0"/>
              <a:t>。</a:t>
            </a:r>
          </a:p>
        </p:txBody>
      </p:sp>
    </p:spTree>
    <p:extLst>
      <p:ext uri="{BB962C8B-B14F-4D97-AF65-F5344CB8AC3E}">
        <p14:creationId xmlns:p14="http://schemas.microsoft.com/office/powerpoint/2010/main" val="15742990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6" name="テキスト ボックス 5">
            <a:extLst>
              <a:ext uri="{FF2B5EF4-FFF2-40B4-BE49-F238E27FC236}">
                <a16:creationId xmlns:a16="http://schemas.microsoft.com/office/drawing/2014/main" id="{9BE84247-9F18-8E6D-E1A4-05326A6BB13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36639927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885475" y="2865911"/>
            <a:ext cx="4421049" cy="1126177"/>
          </a:xfrm>
          <a:prstGeom prst="rect">
            <a:avLst/>
          </a:prstGeom>
        </p:spPr>
      </p:pic>
    </p:spTree>
    <p:extLst>
      <p:ext uri="{BB962C8B-B14F-4D97-AF65-F5344CB8AC3E}">
        <p14:creationId xmlns:p14="http://schemas.microsoft.com/office/powerpoint/2010/main" val="14759751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1"/>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
        <p:nvSpPr>
          <p:cNvPr id="3" name="テキスト ボックス 2">
            <a:extLst>
              <a:ext uri="{FF2B5EF4-FFF2-40B4-BE49-F238E27FC236}">
                <a16:creationId xmlns:a16="http://schemas.microsoft.com/office/drawing/2014/main" id="{81BDF2C6-C064-BC40-82E9-4D1BAEA155C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spTree>
    <p:extLst>
      <p:ext uri="{BB962C8B-B14F-4D97-AF65-F5344CB8AC3E}">
        <p14:creationId xmlns:p14="http://schemas.microsoft.com/office/powerpoint/2010/main" val="146985945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image" Target="../media/image1.png"/><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9.gif"/><Relationship Id="rId5" Type="http://schemas.openxmlformats.org/officeDocument/2006/relationships/theme" Target="../theme/theme5.xml"/><Relationship Id="rId4"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image" Target="../media/image9.gif"/><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image" Target="../media/image9.gif"/><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44.xml"/><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tretch>
            <a:fillRect/>
          </a:stretch>
        </p:blipFill>
        <p:spPr>
          <a:xfrm>
            <a:off x="227967" y="191534"/>
            <a:ext cx="2244917" cy="569864"/>
          </a:xfrm>
          <a:prstGeom prst="rect">
            <a:avLst/>
          </a:prstGeom>
        </p:spPr>
      </p:pic>
      <p:sp>
        <p:nvSpPr>
          <p:cNvPr id="2" name="テキスト ボックス 1">
            <a:extLst>
              <a:ext uri="{FF2B5EF4-FFF2-40B4-BE49-F238E27FC236}">
                <a16:creationId xmlns:a16="http://schemas.microsoft.com/office/drawing/2014/main" id="{99FFB214-AC1C-6625-D288-FF1B7FC90CA1}"/>
              </a:ext>
            </a:extLst>
          </p:cNvPr>
          <p:cNvSpPr txBox="1"/>
          <p:nvPr userDrawn="1"/>
        </p:nvSpPr>
        <p:spPr>
          <a:xfrm>
            <a:off x="690926" y="7065341"/>
            <a:ext cx="10810147" cy="329192"/>
          </a:xfrm>
          <a:prstGeom prst="rect">
            <a:avLst/>
          </a:prstGeom>
          <a:noFill/>
        </p:spPr>
        <p:txBody>
          <a:bodyPr wrap="none" lIns="0" rIns="0" rtlCol="0">
            <a:noAutofit/>
          </a:bodyPr>
          <a:lstStyle/>
          <a:p>
            <a:pPr algn="ctr" defTabSz="288000"/>
            <a:r>
              <a:rPr kumimoji="1" lang="ja-JP" altLang="en-US">
                <a:solidFill>
                  <a:srgbClr val="C00000"/>
                </a:solidFill>
                <a:latin typeface="+mn-ea"/>
              </a:rPr>
              <a:t>コピーライトを修正するときは、ホームタブの「置換」から、文字列を</a:t>
            </a:r>
            <a:r>
              <a:rPr kumimoji="1" lang="ja-JP" altLang="en-US" b="1">
                <a:solidFill>
                  <a:srgbClr val="C00000"/>
                </a:solidFill>
                <a:latin typeface="+mn-ea"/>
              </a:rPr>
              <a:t>すべて置換</a:t>
            </a:r>
            <a:r>
              <a:rPr kumimoji="1" lang="ja-JP" altLang="en-US">
                <a:solidFill>
                  <a:srgbClr val="C00000"/>
                </a:solidFill>
                <a:latin typeface="+mn-ea"/>
              </a:rPr>
              <a:t>してください。</a:t>
            </a:r>
          </a:p>
        </p:txBody>
      </p:sp>
      <p:sp>
        <p:nvSpPr>
          <p:cNvPr id="12" name="テキスト ボックス 11">
            <a:extLst>
              <a:ext uri="{FF2B5EF4-FFF2-40B4-BE49-F238E27FC236}">
                <a16:creationId xmlns:a16="http://schemas.microsoft.com/office/drawing/2014/main" id="{8E0B27DF-CFBE-A4A8-9EB1-3609B2C2EB7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Tree>
    <p:extLst>
      <p:ext uri="{BB962C8B-B14F-4D97-AF65-F5344CB8AC3E}">
        <p14:creationId xmlns:p14="http://schemas.microsoft.com/office/powerpoint/2010/main" val="2903117392"/>
      </p:ext>
    </p:extLst>
  </p:cSld>
  <p:clrMap bg1="lt1" tx1="dk1" bg2="lt2" tx2="dk2" accent1="accent1" accent2="accent2" accent3="accent3" accent4="accent4" accent5="accent5" accent6="accent6" hlink="hlink" folHlink="folHlink"/>
  <p:sldLayoutIdLst>
    <p:sldLayoutId id="2147484009" r:id="rId1"/>
    <p:sldLayoutId id="2147483931" r:id="rId2"/>
    <p:sldLayoutId id="2147483932" r:id="rId3"/>
    <p:sldLayoutId id="2147483934" r:id="rId4"/>
  </p:sldLayoutIdLst>
  <p:hf hdr="0" dt="0"/>
  <p:txStyles>
    <p:titleStyle>
      <a:lvl1pPr algn="l" defTabSz="609555" rtl="0" eaLnBrk="1" fontAlgn="base" hangingPunct="1">
        <a:spcBef>
          <a:spcPct val="0"/>
        </a:spcBef>
        <a:spcAft>
          <a:spcPct val="0"/>
        </a:spcAft>
        <a:defRPr kumimoji="1" sz="2000" b="0" i="0" kern="1200" spc="0" baseline="0">
          <a:solidFill>
            <a:schemeClr val="accent1"/>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10741025" y="6425921"/>
            <a:ext cx="1152894" cy="292657"/>
          </a:xfrm>
          <a:prstGeom prst="rect">
            <a:avLst/>
          </a:prstGeom>
        </p:spPr>
      </p:pic>
      <p:sp>
        <p:nvSpPr>
          <p:cNvPr id="4" name="テキスト ボックス 3">
            <a:extLst>
              <a:ext uri="{FF2B5EF4-FFF2-40B4-BE49-F238E27FC236}">
                <a16:creationId xmlns:a16="http://schemas.microsoft.com/office/drawing/2014/main" id="{32A0D56C-E1F5-E3B7-AD07-B9E1E5DD0E1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Tree>
    <p:extLst>
      <p:ext uri="{BB962C8B-B14F-4D97-AF65-F5344CB8AC3E}">
        <p14:creationId xmlns:p14="http://schemas.microsoft.com/office/powerpoint/2010/main" val="2428608009"/>
      </p:ext>
    </p:extLst>
  </p:cSld>
  <p:clrMap bg1="lt1" tx1="dk1" bg2="lt2" tx2="dk2" accent1="accent1" accent2="accent2" accent3="accent3" accent4="accent4" accent5="accent5" accent6="accent6" hlink="hlink" folHlink="folHlink"/>
  <p:sldLayoutIdLst>
    <p:sldLayoutId id="2147483994" r:id="rId1"/>
    <p:sldLayoutId id="2147483973" r:id="rId2"/>
    <p:sldLayoutId id="2147483974" r:id="rId3"/>
  </p:sldLayoutIdLst>
  <p:hf hdr="0" dt="0"/>
  <p:txStyles>
    <p:titleStyle>
      <a:lvl1pPr algn="l" defTabSz="609555" rtl="0" eaLnBrk="1" fontAlgn="base" hangingPunct="1">
        <a:spcBef>
          <a:spcPct val="0"/>
        </a:spcBef>
        <a:spcAft>
          <a:spcPct val="0"/>
        </a:spcAft>
        <a:defRPr kumimoji="1" sz="9600" b="1" i="0" kern="1200" spc="200" baseline="0">
          <a:solidFill>
            <a:schemeClr val="accent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420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10741025" y="6451799"/>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2026 NTT DATA Japan Corporation</a:t>
            </a:r>
          </a:p>
        </p:txBody>
      </p:sp>
    </p:spTree>
    <p:extLst>
      <p:ext uri="{BB962C8B-B14F-4D97-AF65-F5344CB8AC3E}">
        <p14:creationId xmlns:p14="http://schemas.microsoft.com/office/powerpoint/2010/main" val="697237"/>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 id="2147484010" r:id="rId13"/>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40" userDrawn="1">
          <p15:clr>
            <a:srgbClr val="F26B43"/>
          </p15:clr>
        </p15:guide>
        <p15:guide id="7" pos="3840">
          <p15:clr>
            <a:srgbClr val="F26B43"/>
          </p15:clr>
        </p15:guide>
        <p15:guide id="8" pos="7446" userDrawn="1">
          <p15:clr>
            <a:srgbClr val="F26B43"/>
          </p15:clr>
        </p15:guide>
        <p15:guide id="10" orient="horz" pos="459" userDrawn="1">
          <p15:clr>
            <a:srgbClr val="F26B43"/>
          </p15:clr>
        </p15:guide>
        <p15:guide id="12" orient="horz" pos="408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2970830"/>
      </p:ext>
    </p:extLst>
  </p:cSld>
  <p:clrMap bg1="lt1" tx1="dk1" bg2="lt2" tx2="dk2" accent1="accent1" accent2="accent2" accent3="accent3" accent4="accent4" accent5="accent5" accent6="accent6" hlink="hlink" folHlink="folHlink"/>
  <p:sldLayoutIdLst>
    <p:sldLayoutId id="2147483990" r:id="rId1"/>
    <p:sldLayoutId id="2147483991" r:id="rId2"/>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B01BF0E7-CA3F-2C26-0703-F0CB01EA9A9E}"/>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Tree>
    <p:extLst>
      <p:ext uri="{BB962C8B-B14F-4D97-AF65-F5344CB8AC3E}">
        <p14:creationId xmlns:p14="http://schemas.microsoft.com/office/powerpoint/2010/main" val="3635597696"/>
      </p:ext>
    </p:extLst>
  </p:cSld>
  <p:clrMap bg1="lt1" tx1="dk1" bg2="lt2" tx2="dk2" accent1="accent1" accent2="accent2" accent3="accent3" accent4="accent4" accent5="accent5" accent6="accent6" hlink="hlink" folHlink="folHlink"/>
  <p:sldLayoutIdLst>
    <p:sldLayoutId id="2147484002" r:id="rId1"/>
    <p:sldLayoutId id="2147484017" r:id="rId2"/>
    <p:sldLayoutId id="2147484016" r:id="rId3"/>
    <p:sldLayoutId id="2147484008" r:id="rId4"/>
  </p:sldLayoutIdLst>
  <p:hf hdr="0" dt="0"/>
  <p:txStyles>
    <p:titleStyle>
      <a:lvl1pPr algn="l" defTabSz="609555" rtl="0" eaLnBrk="1" fontAlgn="base" hangingPunct="1">
        <a:spcBef>
          <a:spcPct val="0"/>
        </a:spcBef>
        <a:spcAft>
          <a:spcPct val="0"/>
        </a:spcAft>
        <a:defRPr kumimoji="1" sz="2000" b="0" i="0" kern="1200" spc="0" baseline="0">
          <a:solidFill>
            <a:srgbClr val="F8F8F8"/>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10743028" y="6425921"/>
            <a:ext cx="1148887" cy="292657"/>
          </a:xfrm>
          <a:prstGeom prst="rect">
            <a:avLst/>
          </a:prstGeom>
        </p:spPr>
      </p:pic>
      <p:sp>
        <p:nvSpPr>
          <p:cNvPr id="3" name="テキスト ボックス 2">
            <a:extLst>
              <a:ext uri="{FF2B5EF4-FFF2-40B4-BE49-F238E27FC236}">
                <a16:creationId xmlns:a16="http://schemas.microsoft.com/office/drawing/2014/main" id="{C8C1424A-EE89-C720-553C-1637224A6A99}"/>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Tree>
    <p:extLst>
      <p:ext uri="{BB962C8B-B14F-4D97-AF65-F5344CB8AC3E}">
        <p14:creationId xmlns:p14="http://schemas.microsoft.com/office/powerpoint/2010/main" val="827340354"/>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Lst>
  <p:hf hdr="0" dt="0"/>
  <p:txStyles>
    <p:titleStyle>
      <a:lvl1pPr algn="l" defTabSz="609555" rtl="0" eaLnBrk="1" fontAlgn="base" hangingPunct="1">
        <a:spcBef>
          <a:spcPct val="0"/>
        </a:spcBef>
        <a:spcAft>
          <a:spcPct val="0"/>
        </a:spcAft>
        <a:defRPr kumimoji="1" sz="9600" b="1" i="0" kern="1200" spc="200" baseline="0">
          <a:solidFill>
            <a:schemeClr val="bg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420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10743026" y="6425921"/>
            <a:ext cx="1148891" cy="292658"/>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テキスト ボックス 3">
            <a:extLst>
              <a:ext uri="{FF2B5EF4-FFF2-40B4-BE49-F238E27FC236}">
                <a16:creationId xmlns:a16="http://schemas.microsoft.com/office/drawing/2014/main" id="{CD1C27BE-E0A7-BBB4-DB0E-D4D404FF82A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2026 NTT DATA Japan Corporation</a:t>
            </a:r>
          </a:p>
        </p:txBody>
      </p:sp>
    </p:spTree>
    <p:extLst>
      <p:ext uri="{BB962C8B-B14F-4D97-AF65-F5344CB8AC3E}">
        <p14:creationId xmlns:p14="http://schemas.microsoft.com/office/powerpoint/2010/main" val="3713879408"/>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4" r:id="rId8"/>
    <p:sldLayoutId id="2147483947" r:id="rId9"/>
    <p:sldLayoutId id="2147483948" r:id="rId10"/>
    <p:sldLayoutId id="2147484018" r:id="rId11"/>
    <p:sldLayoutId id="2147483951" r:id="rId12"/>
    <p:sldLayoutId id="2147484011" r:id="rId13"/>
  </p:sldLayoutIdLst>
  <p:hf hdr="0" dt="0"/>
  <p:txStyles>
    <p:titleStyle>
      <a:lvl1pPr algn="l" defTabSz="609555" rtl="0" eaLnBrk="1" fontAlgn="base" hangingPunct="1">
        <a:spcBef>
          <a:spcPct val="0"/>
        </a:spcBef>
        <a:spcAft>
          <a:spcPct val="0"/>
        </a:spcAft>
        <a:defRPr kumimoji="1" sz="2400" b="1" i="0" kern="1200" spc="0" baseline="0">
          <a:solidFill>
            <a:schemeClr val="bg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bg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63" userDrawn="1">
          <p15:clr>
            <a:srgbClr val="F26B43"/>
          </p15:clr>
        </p15:guide>
        <p15:guide id="7" pos="3840">
          <p15:clr>
            <a:srgbClr val="F26B43"/>
          </p15:clr>
        </p15:guide>
        <p15:guide id="8" pos="7446" userDrawn="1">
          <p15:clr>
            <a:srgbClr val="F26B43"/>
          </p15:clr>
        </p15:guide>
        <p15:guide id="9" orient="horz" pos="3929" userDrawn="1">
          <p15:clr>
            <a:srgbClr val="F26B43"/>
          </p15:clr>
        </p15:guide>
        <p15:guide id="10" orient="horz" pos="210" userDrawn="1">
          <p15:clr>
            <a:srgbClr val="F26B43"/>
          </p15:clr>
        </p15:guide>
        <p15:guide id="12" orient="horz" pos="4201"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014743"/>
      </p:ext>
    </p:extLst>
  </p:cSld>
  <p:clrMap bg1="lt1" tx1="dk1" bg2="lt2" tx2="dk2" accent1="accent1" accent2="accent2" accent3="accent3" accent4="accent4" accent5="accent5" accent6="accent6" hlink="hlink" folHlink="folHlink"/>
  <p:sldLayoutIdLst>
    <p:sldLayoutId id="2147483648" r:id="rId1"/>
    <p:sldLayoutId id="2147483649" r:id="rId2"/>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hyperlink" Target="https://home.groupwide.net/nttdata/gsd/terasoluna/about/index.asp" TargetMode="External"/><Relationship Id="rId2" Type="http://schemas.openxmlformats.org/officeDocument/2006/relationships/image" Target="../media/image17.png"/><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hyperlink" Target="https://home.groupwide.net/nttdata/gsd/terasoluna/about/index.asp" TargetMode="External"/><Relationship Id="rId2" Type="http://schemas.openxmlformats.org/officeDocument/2006/relationships/image" Target="../media/image17.png"/><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1.png"/><Relationship Id="rId7"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14.sv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0.png"/><Relationship Id="rId1" Type="http://schemas.openxmlformats.org/officeDocument/2006/relationships/slideLayout" Target="../slideLayouts/slideLayout9.xml"/><Relationship Id="rId5" Type="http://schemas.openxmlformats.org/officeDocument/2006/relationships/image" Target="../media/image43.png"/><Relationship Id="rId4" Type="http://schemas.openxmlformats.org/officeDocument/2006/relationships/image" Target="../media/image42.svg"/></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8.sv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24.svg"/></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9.xml"/><Relationship Id="rId4" Type="http://schemas.openxmlformats.org/officeDocument/2006/relationships/image" Target="../media/image24.svg"/></Relationships>
</file>

<file path=ppt/slides/_rels/slide3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9.xml"/><Relationship Id="rId4" Type="http://schemas.openxmlformats.org/officeDocument/2006/relationships/image" Target="../media/image24.svg"/></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hyperlink" Target="https://home.groupwide.net/nttdata/gsd/terasoluna/about/index.asp" TargetMode="External"/><Relationship Id="rId2" Type="http://schemas.openxmlformats.org/officeDocument/2006/relationships/image" Target="../media/image17.png"/><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hyperlink" Target="https://tera-ped-repo.x-network.jp/quwf/ndcm_for_japan/02_%E9%96%8B%E7%99%BA%E6%89%8B%E9%A0%86/01_%E6%9C%AC%E7%B7%A8/01_%E6%A6%82%E8%A6%81%E7%B7%A8/2-3_%E3%82%BF%E3%82%B9%E3%82%AF%E3%81%AE%E4%BD%93%E7%B3%BB.html" TargetMode="External"/><Relationship Id="rId2" Type="http://schemas.openxmlformats.org/officeDocument/2006/relationships/image" Target="../media/image50.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364265A2-61B5-45D8-6463-6418F44F076D}"/>
              </a:ext>
            </a:extLst>
          </p:cNvPr>
          <p:cNvSpPr>
            <a:spLocks noGrp="1"/>
          </p:cNvSpPr>
          <p:nvPr>
            <p:ph type="body" sz="quarter" idx="12"/>
          </p:nvPr>
        </p:nvSpPr>
        <p:spPr>
          <a:xfrm>
            <a:off x="381599" y="2188800"/>
            <a:ext cx="11438926" cy="2412000"/>
          </a:xfrm>
        </p:spPr>
        <p:txBody>
          <a:bodyPr/>
          <a:lstStyle/>
          <a:p>
            <a:r>
              <a:rPr lang="en-US" altLang="ja-JP" dirty="0"/>
              <a:t>【AI</a:t>
            </a:r>
            <a:r>
              <a:rPr lang="ja-JP" altLang="en-US" dirty="0"/>
              <a:t> </a:t>
            </a:r>
            <a:r>
              <a:rPr lang="en-US" altLang="ja-JP" dirty="0"/>
              <a:t>Native</a:t>
            </a:r>
            <a:r>
              <a:rPr lang="ja-JP" altLang="en-US" dirty="0"/>
              <a:t>研修 </a:t>
            </a:r>
            <a:r>
              <a:rPr lang="en-US" altLang="ja-JP" dirty="0"/>
              <a:t>– </a:t>
            </a:r>
            <a:r>
              <a:rPr lang="ja-JP" altLang="en-US" dirty="0"/>
              <a:t>バイブコーディング</a:t>
            </a:r>
            <a:r>
              <a:rPr lang="en-US" altLang="ja-JP" dirty="0"/>
              <a:t>】</a:t>
            </a:r>
          </a:p>
          <a:p>
            <a:r>
              <a:rPr lang="ja-JP" altLang="en-US" dirty="0"/>
              <a:t>システム開発プロセス</a:t>
            </a:r>
            <a:endParaRPr lang="en-US" altLang="ja-JP" dirty="0"/>
          </a:p>
          <a:p>
            <a:endParaRPr lang="ja-JP" altLang="en-US" dirty="0"/>
          </a:p>
        </p:txBody>
      </p:sp>
      <p:sp>
        <p:nvSpPr>
          <p:cNvPr id="4" name="テキスト プレースホルダー 3">
            <a:extLst>
              <a:ext uri="{FF2B5EF4-FFF2-40B4-BE49-F238E27FC236}">
                <a16:creationId xmlns:a16="http://schemas.microsoft.com/office/drawing/2014/main" id="{DCF65AA0-1FFF-132D-52B8-6DB3C5784AF4}"/>
              </a:ext>
            </a:extLst>
          </p:cNvPr>
          <p:cNvSpPr>
            <a:spLocks noGrp="1"/>
          </p:cNvSpPr>
          <p:nvPr>
            <p:ph type="body" sz="quarter" idx="14"/>
          </p:nvPr>
        </p:nvSpPr>
        <p:spPr/>
        <p:txBody>
          <a:bodyPr/>
          <a:lstStyle/>
          <a:p>
            <a:r>
              <a:rPr lang="en-US" altLang="ja-JP" dirty="0"/>
              <a:t>2026</a:t>
            </a:r>
            <a:r>
              <a:rPr lang="ja-JP" altLang="en-US" dirty="0"/>
              <a:t>年</a:t>
            </a:r>
            <a:r>
              <a:rPr lang="en-US" altLang="ja-JP" dirty="0"/>
              <a:t>6</a:t>
            </a:r>
            <a:r>
              <a:rPr lang="ja-JP" altLang="en-US" dirty="0"/>
              <a:t>月</a:t>
            </a:r>
          </a:p>
        </p:txBody>
      </p:sp>
      <p:sp>
        <p:nvSpPr>
          <p:cNvPr id="5" name="テキスト ボックス 4">
            <a:extLst>
              <a:ext uri="{FF2B5EF4-FFF2-40B4-BE49-F238E27FC236}">
                <a16:creationId xmlns:a16="http://schemas.microsoft.com/office/drawing/2014/main" id="{28CE8CA6-FFBB-A84E-9A13-4002D48B9F6E}"/>
              </a:ext>
            </a:extLst>
          </p:cNvPr>
          <p:cNvSpPr txBox="1"/>
          <p:nvPr/>
        </p:nvSpPr>
        <p:spPr>
          <a:xfrm>
            <a:off x="9649098" y="85135"/>
            <a:ext cx="2360022" cy="483211"/>
          </a:xfrm>
          <a:prstGeom prst="rect">
            <a:avLst/>
          </a:prstGeom>
          <a:noFill/>
          <a:ln>
            <a:solidFill>
              <a:schemeClr val="accent6">
                <a:lumMod val="40000"/>
                <a:lumOff val="60000"/>
              </a:schemeClr>
            </a:solidFill>
          </a:ln>
        </p:spPr>
        <p:txBody>
          <a:bodyPr wrap="square" lIns="90000" rIns="90000" rtlCol="0" anchor="ctr" anchorCtr="0">
            <a:noAutofit/>
          </a:bodyPr>
          <a:lstStyle/>
          <a:p>
            <a:r>
              <a:rPr lang="ja-JP" altLang="en-US" sz="700" dirty="0">
                <a:solidFill>
                  <a:schemeClr val="accent6">
                    <a:lumMod val="40000"/>
                    <a:lumOff val="60000"/>
                  </a:schemeClr>
                </a:solidFill>
              </a:rPr>
              <a:t>情 報 種 別 ： </a:t>
            </a:r>
            <a:r>
              <a:rPr lang="en-US" altLang="ja-JP" sz="700" dirty="0">
                <a:solidFill>
                  <a:schemeClr val="accent6">
                    <a:lumMod val="40000"/>
                    <a:lumOff val="60000"/>
                  </a:schemeClr>
                </a:solidFill>
              </a:rPr>
              <a:t>G</a:t>
            </a:r>
            <a:r>
              <a:rPr lang="ja-JP" altLang="en-US" sz="700" dirty="0">
                <a:solidFill>
                  <a:schemeClr val="accent6">
                    <a:lumMod val="40000"/>
                    <a:lumOff val="60000"/>
                  </a:schemeClr>
                </a:solidFill>
              </a:rPr>
              <a:t>外秘</a:t>
            </a:r>
            <a:r>
              <a:rPr lang="en-US" altLang="ja-JP" sz="700" dirty="0">
                <a:solidFill>
                  <a:schemeClr val="accent6">
                    <a:lumMod val="40000"/>
                    <a:lumOff val="60000"/>
                  </a:schemeClr>
                </a:solidFill>
              </a:rPr>
              <a:t>(</a:t>
            </a:r>
            <a:r>
              <a:rPr lang="ja-JP" altLang="en-US" sz="700" dirty="0">
                <a:solidFill>
                  <a:schemeClr val="accent6">
                    <a:lumMod val="40000"/>
                    <a:lumOff val="60000"/>
                  </a:schemeClr>
                </a:solidFill>
              </a:rPr>
              <a:t>社員限り</a:t>
            </a:r>
            <a:r>
              <a:rPr lang="en-US" altLang="ja-JP" sz="700" dirty="0">
                <a:solidFill>
                  <a:schemeClr val="accent6">
                    <a:lumMod val="40000"/>
                    <a:lumOff val="60000"/>
                  </a:schemeClr>
                </a:solidFill>
              </a:rPr>
              <a:t>)</a:t>
            </a:r>
            <a:br>
              <a:rPr lang="ja-JP" altLang="en-US" sz="700" dirty="0">
                <a:solidFill>
                  <a:schemeClr val="accent6">
                    <a:lumMod val="40000"/>
                    <a:lumOff val="60000"/>
                  </a:schemeClr>
                </a:solidFill>
              </a:rPr>
            </a:br>
            <a:r>
              <a:rPr lang="ja-JP" altLang="en-US" sz="700" dirty="0">
                <a:solidFill>
                  <a:schemeClr val="accent6">
                    <a:lumMod val="40000"/>
                    <a:lumOff val="60000"/>
                  </a:schemeClr>
                </a:solidFill>
              </a:rPr>
              <a:t>会　 社　 名 ： </a:t>
            </a:r>
            <a:r>
              <a:rPr lang="en-US" altLang="ja-JP" sz="700" dirty="0">
                <a:solidFill>
                  <a:schemeClr val="accent6">
                    <a:lumMod val="40000"/>
                    <a:lumOff val="60000"/>
                  </a:schemeClr>
                </a:solidFill>
              </a:rPr>
              <a:t>NTT DATA JAPAN CORP.</a:t>
            </a:r>
            <a:br>
              <a:rPr lang="ja-JP" altLang="en-US" sz="700" dirty="0">
                <a:solidFill>
                  <a:schemeClr val="accent6">
                    <a:lumMod val="40000"/>
                    <a:lumOff val="60000"/>
                  </a:schemeClr>
                </a:solidFill>
              </a:rPr>
            </a:br>
            <a:r>
              <a:rPr lang="ja-JP" altLang="en-US" sz="700" dirty="0">
                <a:solidFill>
                  <a:schemeClr val="accent6">
                    <a:lumMod val="40000"/>
                    <a:lumOff val="60000"/>
                  </a:schemeClr>
                </a:solidFill>
              </a:rPr>
              <a:t>情報所有者 ：第三公共事業本部 デジタルソサエティ事業部</a:t>
            </a:r>
            <a:endParaRPr lang="en-US" altLang="ja-JP" sz="700" dirty="0">
              <a:solidFill>
                <a:schemeClr val="accent6">
                  <a:lumMod val="40000"/>
                  <a:lumOff val="60000"/>
                </a:schemeClr>
              </a:solidFill>
            </a:endParaRPr>
          </a:p>
        </p:txBody>
      </p:sp>
    </p:spTree>
    <p:extLst>
      <p:ext uri="{BB962C8B-B14F-4D97-AF65-F5344CB8AC3E}">
        <p14:creationId xmlns:p14="http://schemas.microsoft.com/office/powerpoint/2010/main" val="112162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99BBD7-A6ED-52CC-A350-A2C0243C0203}"/>
              </a:ext>
            </a:extLst>
          </p:cNvPr>
          <p:cNvSpPr>
            <a:spLocks noGrp="1"/>
          </p:cNvSpPr>
          <p:nvPr>
            <p:ph type="title"/>
          </p:nvPr>
        </p:nvSpPr>
        <p:spPr/>
        <p:txBody>
          <a:bodyPr/>
          <a:lstStyle/>
          <a:p>
            <a:r>
              <a:rPr lang="ja-JP" altLang="en-US" dirty="0"/>
              <a:t>講義の目的</a:t>
            </a:r>
            <a:endParaRPr kumimoji="1" lang="ja-JP" altLang="en-US" dirty="0"/>
          </a:p>
        </p:txBody>
      </p:sp>
      <p:sp>
        <p:nvSpPr>
          <p:cNvPr id="3" name="コンテンツ プレースホルダー 2">
            <a:extLst>
              <a:ext uri="{FF2B5EF4-FFF2-40B4-BE49-F238E27FC236}">
                <a16:creationId xmlns:a16="http://schemas.microsoft.com/office/drawing/2014/main" id="{FAE86DCD-505D-9C04-D1AF-AEF50C61D393}"/>
              </a:ext>
            </a:extLst>
          </p:cNvPr>
          <p:cNvSpPr>
            <a:spLocks noGrp="1"/>
          </p:cNvSpPr>
          <p:nvPr>
            <p:ph sz="quarter" idx="10"/>
          </p:nvPr>
        </p:nvSpPr>
        <p:spPr/>
        <p:txBody>
          <a:bodyPr/>
          <a:lstStyle/>
          <a:p>
            <a:pPr marL="285750" indent="-285750">
              <a:buFont typeface="Arial" panose="020B0604020202020204" pitchFamily="34" charset="0"/>
              <a:buChar char="•"/>
            </a:pPr>
            <a:r>
              <a:rPr kumimoji="1" lang="ja-JP" altLang="en-US" sz="2400" b="1" u="sng" dirty="0"/>
              <a:t>システム開発プロセスを理解する</a:t>
            </a:r>
            <a:endParaRPr kumimoji="1" lang="en-US" altLang="ja-JP" sz="2400" b="1" u="sng" dirty="0"/>
          </a:p>
          <a:p>
            <a:pPr marL="645750" lvl="1" indent="-285750"/>
            <a:r>
              <a:rPr lang="ja-JP" altLang="en-US" sz="2400" dirty="0"/>
              <a:t>システム開発プロセスの全体像</a:t>
            </a:r>
            <a:endParaRPr lang="en-US" altLang="ja-JP" sz="2400" dirty="0"/>
          </a:p>
          <a:p>
            <a:pPr marL="645750" lvl="1" indent="-285750"/>
            <a:r>
              <a:rPr kumimoji="1" lang="en-US" altLang="ja-JP" sz="2400" dirty="0"/>
              <a:t>TERASOLUNA</a:t>
            </a:r>
            <a:r>
              <a:rPr kumimoji="1" lang="ja-JP" altLang="en-US" sz="2400" dirty="0"/>
              <a:t>開発手順</a:t>
            </a:r>
            <a:endParaRPr kumimoji="1" lang="en-US" altLang="ja-JP" sz="2400" dirty="0"/>
          </a:p>
          <a:p>
            <a:pPr marL="645750" lvl="1" indent="-285750"/>
            <a:r>
              <a:rPr lang="ja-JP" altLang="en-US" sz="2400" dirty="0"/>
              <a:t>プロジェクトでのテーラリング</a:t>
            </a:r>
            <a:endParaRPr kumimoji="1" lang="en-US" altLang="ja-JP" sz="2400" dirty="0"/>
          </a:p>
          <a:p>
            <a:pPr marL="645750" lvl="1" indent="-285750"/>
            <a:r>
              <a:rPr lang="en-US" altLang="ja-JP" sz="2400" dirty="0"/>
              <a:t>V</a:t>
            </a:r>
            <a:r>
              <a:rPr lang="ja-JP" altLang="en-US" sz="2400" dirty="0"/>
              <a:t>字モデル</a:t>
            </a:r>
            <a:endParaRPr lang="en-US" altLang="ja-JP" sz="2400" dirty="0"/>
          </a:p>
          <a:p>
            <a:pPr marL="645750" lvl="1" indent="-285750"/>
            <a:r>
              <a:rPr lang="en-US" altLang="ja-JP" sz="2400" dirty="0"/>
              <a:t>V</a:t>
            </a:r>
            <a:r>
              <a:rPr lang="ja-JP" altLang="en-US" sz="2400" dirty="0"/>
              <a:t>字モデルに沿った工程の意味</a:t>
            </a:r>
            <a:endParaRPr lang="en-US" altLang="ja-JP" sz="2400" dirty="0"/>
          </a:p>
          <a:p>
            <a:pPr marL="645750" lvl="1" indent="-285750"/>
            <a:endParaRPr lang="en-US" altLang="ja-JP" sz="2400" dirty="0"/>
          </a:p>
          <a:p>
            <a:pPr marL="285750" indent="-285750">
              <a:buFont typeface="Arial" panose="020B0604020202020204" pitchFamily="34" charset="0"/>
              <a:buChar char="•"/>
            </a:pPr>
            <a:r>
              <a:rPr lang="ja-JP" altLang="en-US" sz="2400" b="1" u="sng" dirty="0"/>
              <a:t>本カリキュラムで中心的に扱う下記の工程の位置づけを理解する</a:t>
            </a:r>
            <a:endParaRPr lang="en-US" altLang="ja-JP" sz="2400" b="1" u="sng" dirty="0"/>
          </a:p>
          <a:p>
            <a:pPr marL="645750" lvl="1" indent="-285750"/>
            <a:r>
              <a:rPr lang="ja-JP" altLang="en-US" sz="2400" dirty="0"/>
              <a:t>製造工程</a:t>
            </a:r>
            <a:r>
              <a:rPr lang="ja-JP" altLang="en-US" sz="2000" dirty="0"/>
              <a:t>（前半「</a:t>
            </a:r>
            <a:r>
              <a:rPr lang="en-US" altLang="ja-JP" sz="2000" dirty="0"/>
              <a:t>Web</a:t>
            </a:r>
            <a:r>
              <a:rPr lang="ja-JP" altLang="en-US" sz="2000" dirty="0"/>
              <a:t>アプリケーション開発</a:t>
            </a:r>
            <a:r>
              <a:rPr lang="en-US" altLang="ja-JP" sz="2000" dirty="0"/>
              <a:t>-</a:t>
            </a:r>
            <a:r>
              <a:rPr lang="en-US" altLang="ja-JP" sz="2000" dirty="0" err="1"/>
              <a:t>Java&amp;Spring&amp;DB</a:t>
            </a:r>
            <a:r>
              <a:rPr lang="ja-JP" altLang="en-US" sz="2000" dirty="0"/>
              <a:t>」）</a:t>
            </a:r>
            <a:endParaRPr lang="en-US" altLang="ja-JP" sz="2000" dirty="0"/>
          </a:p>
          <a:p>
            <a:pPr marL="645750" lvl="1" indent="-285750"/>
            <a:r>
              <a:rPr lang="ja-JP" altLang="en-US" sz="2400" dirty="0"/>
              <a:t>単体テスト工程</a:t>
            </a:r>
            <a:r>
              <a:rPr lang="ja-JP" altLang="en-US" sz="2000" dirty="0"/>
              <a:t>（後半「単体テストと</a:t>
            </a:r>
            <a:r>
              <a:rPr lang="en-US" altLang="ja-JP" sz="2000" dirty="0"/>
              <a:t>JUnit</a:t>
            </a:r>
            <a:r>
              <a:rPr lang="ja-JP" altLang="en-US" sz="2000" dirty="0"/>
              <a:t>」）</a:t>
            </a:r>
            <a:endParaRPr lang="en-US" altLang="ja-JP" sz="2000" dirty="0"/>
          </a:p>
          <a:p>
            <a:pPr marL="645750" lvl="1" indent="-285750"/>
            <a:endParaRPr lang="en-US" altLang="ja-JP" sz="2400" dirty="0"/>
          </a:p>
        </p:txBody>
      </p:sp>
    </p:spTree>
    <p:extLst>
      <p:ext uri="{BB962C8B-B14F-4D97-AF65-F5344CB8AC3E}">
        <p14:creationId xmlns:p14="http://schemas.microsoft.com/office/powerpoint/2010/main" val="1323623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5F46D-11F3-53A2-119F-D5ABC7EB458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84F74A3-DB68-BC0F-4605-47BDD3766F67}"/>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BE0AEC8F-2A3A-F400-4433-FFFE61699EB6}"/>
              </a:ext>
            </a:extLst>
          </p:cNvPr>
          <p:cNvSpPr>
            <a:spLocks noGrp="1"/>
          </p:cNvSpPr>
          <p:nvPr>
            <p:ph type="title"/>
          </p:nvPr>
        </p:nvSpPr>
        <p:spPr/>
        <p:txBody>
          <a:bodyPr/>
          <a:lstStyle/>
          <a:p>
            <a:r>
              <a:rPr kumimoji="1" lang="ja-JP" altLang="en-US" dirty="0"/>
              <a:t>目次</a:t>
            </a:r>
          </a:p>
        </p:txBody>
      </p:sp>
      <p:sp>
        <p:nvSpPr>
          <p:cNvPr id="10" name="テキスト ボックス 9">
            <a:extLst>
              <a:ext uri="{FF2B5EF4-FFF2-40B4-BE49-F238E27FC236}">
                <a16:creationId xmlns:a16="http://schemas.microsoft.com/office/drawing/2014/main" id="{17976133-6702-2E8F-C1F6-B15B68FC5616}"/>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1</a:t>
            </a:r>
            <a:endParaRPr kumimoji="1" lang="ja-JP" altLang="en-US" sz="3600" b="1" dirty="0">
              <a:solidFill>
                <a:schemeClr val="bg1"/>
              </a:solidFill>
              <a:latin typeface="+mn-ea"/>
            </a:endParaRPr>
          </a:p>
        </p:txBody>
      </p:sp>
      <p:sp>
        <p:nvSpPr>
          <p:cNvPr id="12" name="コンテンツ プレースホルダー 2">
            <a:extLst>
              <a:ext uri="{FF2B5EF4-FFF2-40B4-BE49-F238E27FC236}">
                <a16:creationId xmlns:a16="http://schemas.microsoft.com/office/drawing/2014/main" id="{F133F92E-A15B-E77C-1760-46370191C0B0}"/>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システム開発プロセス</a:t>
            </a:r>
            <a:endParaRPr lang="en-US" altLang="ja-JP" sz="2800" b="1" dirty="0">
              <a:solidFill>
                <a:schemeClr val="tx1"/>
              </a:solidFill>
            </a:endParaRPr>
          </a:p>
        </p:txBody>
      </p:sp>
      <p:sp>
        <p:nvSpPr>
          <p:cNvPr id="4" name="テキスト ボックス 3">
            <a:extLst>
              <a:ext uri="{FF2B5EF4-FFF2-40B4-BE49-F238E27FC236}">
                <a16:creationId xmlns:a16="http://schemas.microsoft.com/office/drawing/2014/main" id="{AFA376A8-1728-FA8E-9FB5-3473BC393CD6}"/>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1-1</a:t>
            </a:r>
            <a:endParaRPr kumimoji="1" lang="ja-JP" altLang="en-US" sz="2400" b="1" dirty="0">
              <a:solidFill>
                <a:schemeClr val="accent2"/>
              </a:solidFill>
              <a:latin typeface="+mn-ea"/>
            </a:endParaRPr>
          </a:p>
        </p:txBody>
      </p:sp>
      <p:sp>
        <p:nvSpPr>
          <p:cNvPr id="5" name="コンテンツ プレースホルダー 2">
            <a:extLst>
              <a:ext uri="{FF2B5EF4-FFF2-40B4-BE49-F238E27FC236}">
                <a16:creationId xmlns:a16="http://schemas.microsoft.com/office/drawing/2014/main" id="{28863F16-59FE-38EE-B55E-32440A6CD610}"/>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システム開発におけるソフトウェア開発ライフサイクル</a:t>
            </a:r>
            <a:endParaRPr lang="en-US" altLang="ja-JP" sz="2000" b="1" dirty="0">
              <a:solidFill>
                <a:schemeClr val="tx1"/>
              </a:solidFill>
            </a:endParaRPr>
          </a:p>
        </p:txBody>
      </p:sp>
      <p:sp>
        <p:nvSpPr>
          <p:cNvPr id="21" name="テキスト ボックス 20">
            <a:extLst>
              <a:ext uri="{FF2B5EF4-FFF2-40B4-BE49-F238E27FC236}">
                <a16:creationId xmlns:a16="http://schemas.microsoft.com/office/drawing/2014/main" id="{514F435E-5E20-0BE8-5CFF-4405934200D9}"/>
              </a:ext>
            </a:extLst>
          </p:cNvPr>
          <p:cNvSpPr txBox="1"/>
          <p:nvPr/>
        </p:nvSpPr>
        <p:spPr>
          <a:xfrm>
            <a:off x="1581151" y="2521087"/>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1-2</a:t>
            </a:r>
            <a:endParaRPr kumimoji="1" lang="ja-JP" altLang="en-US" sz="2400" b="1" dirty="0">
              <a:solidFill>
                <a:schemeClr val="accent2"/>
              </a:solidFill>
              <a:latin typeface="+mn-ea"/>
            </a:endParaRPr>
          </a:p>
        </p:txBody>
      </p:sp>
      <p:sp>
        <p:nvSpPr>
          <p:cNvPr id="22" name="コンテンツ プレースホルダー 2">
            <a:extLst>
              <a:ext uri="{FF2B5EF4-FFF2-40B4-BE49-F238E27FC236}">
                <a16:creationId xmlns:a16="http://schemas.microsoft.com/office/drawing/2014/main" id="{A80A579B-6BF8-AC4C-405D-D8CDE5CB579D}"/>
              </a:ext>
            </a:extLst>
          </p:cNvPr>
          <p:cNvSpPr txBox="1">
            <a:spLocks/>
          </p:cNvSpPr>
          <p:nvPr/>
        </p:nvSpPr>
        <p:spPr>
          <a:xfrm>
            <a:off x="2607573" y="2468261"/>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TERASOLUNA</a:t>
            </a:r>
            <a:r>
              <a:rPr lang="ja-JP" altLang="en-US" sz="2000" b="1" dirty="0">
                <a:solidFill>
                  <a:schemeClr val="tx1"/>
                </a:solidFill>
              </a:rPr>
              <a:t>とは</a:t>
            </a:r>
            <a:endParaRPr lang="en-US" altLang="ja-JP" sz="2000" b="1" dirty="0">
              <a:solidFill>
                <a:schemeClr val="tx1"/>
              </a:solidFill>
            </a:endParaRPr>
          </a:p>
        </p:txBody>
      </p:sp>
      <p:sp>
        <p:nvSpPr>
          <p:cNvPr id="3" name="テキスト ボックス 2">
            <a:extLst>
              <a:ext uri="{FF2B5EF4-FFF2-40B4-BE49-F238E27FC236}">
                <a16:creationId xmlns:a16="http://schemas.microsoft.com/office/drawing/2014/main" id="{6C0326A3-C0DD-2513-8686-3FE5550DC15B}"/>
              </a:ext>
            </a:extLst>
          </p:cNvPr>
          <p:cNvSpPr txBox="1"/>
          <p:nvPr/>
        </p:nvSpPr>
        <p:spPr>
          <a:xfrm>
            <a:off x="1581151" y="3003155"/>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1-3</a:t>
            </a:r>
            <a:endParaRPr kumimoji="1" lang="ja-JP" altLang="en-US" sz="2400" b="1" dirty="0">
              <a:solidFill>
                <a:schemeClr val="accent2"/>
              </a:solidFill>
              <a:latin typeface="+mn-ea"/>
            </a:endParaRPr>
          </a:p>
        </p:txBody>
      </p:sp>
      <p:sp>
        <p:nvSpPr>
          <p:cNvPr id="6" name="コンテンツ プレースホルダー 2">
            <a:extLst>
              <a:ext uri="{FF2B5EF4-FFF2-40B4-BE49-F238E27FC236}">
                <a16:creationId xmlns:a16="http://schemas.microsoft.com/office/drawing/2014/main" id="{D3F5874B-2295-34DF-34EB-E83000AEF398}"/>
              </a:ext>
            </a:extLst>
          </p:cNvPr>
          <p:cNvSpPr txBox="1">
            <a:spLocks/>
          </p:cNvSpPr>
          <p:nvPr/>
        </p:nvSpPr>
        <p:spPr>
          <a:xfrm>
            <a:off x="2607573" y="2950329"/>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V</a:t>
            </a:r>
            <a:r>
              <a:rPr lang="ja-JP" altLang="en-US" sz="2000" b="1" dirty="0">
                <a:solidFill>
                  <a:schemeClr val="tx1"/>
                </a:solidFill>
              </a:rPr>
              <a:t>字モデルとは</a:t>
            </a:r>
            <a:endParaRPr lang="en-US" altLang="ja-JP" sz="2000" b="1" dirty="0">
              <a:solidFill>
                <a:schemeClr val="tx1"/>
              </a:solidFill>
            </a:endParaRPr>
          </a:p>
        </p:txBody>
      </p:sp>
      <p:sp>
        <p:nvSpPr>
          <p:cNvPr id="15" name="コンテンツ プレースホルダー 2">
            <a:extLst>
              <a:ext uri="{FF2B5EF4-FFF2-40B4-BE49-F238E27FC236}">
                <a16:creationId xmlns:a16="http://schemas.microsoft.com/office/drawing/2014/main" id="{124A4C76-C3E9-82B4-43FD-0558530113D9}"/>
              </a:ext>
            </a:extLst>
          </p:cNvPr>
          <p:cNvSpPr txBox="1">
            <a:spLocks/>
          </p:cNvSpPr>
          <p:nvPr/>
        </p:nvSpPr>
        <p:spPr>
          <a:xfrm>
            <a:off x="2977687" y="3516116"/>
            <a:ext cx="5660572" cy="2973583"/>
          </a:xfrm>
          <a:prstGeom prst="rect">
            <a:avLst/>
          </a:prstGeom>
        </p:spPr>
        <p:txBody>
          <a:bodyPr vert="horz" lIns="0" tIns="0" rIns="0" bIns="0" rtlCol="0" anchor="t">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要求定義</a:t>
            </a:r>
            <a:endParaRPr lang="en-US" altLang="ja-JP" sz="2000" b="1" dirty="0">
              <a:solidFill>
                <a:schemeClr val="tx1"/>
              </a:solidFill>
            </a:endParaRPr>
          </a:p>
          <a:p>
            <a:r>
              <a:rPr lang="ja-JP" altLang="en-US" sz="2000" b="1" dirty="0">
                <a:solidFill>
                  <a:schemeClr val="tx1"/>
                </a:solidFill>
              </a:rPr>
              <a:t>要求分析</a:t>
            </a:r>
            <a:endParaRPr lang="en-US" altLang="ja-JP" sz="2000" b="1" dirty="0">
              <a:solidFill>
                <a:schemeClr val="tx1"/>
              </a:solidFill>
            </a:endParaRPr>
          </a:p>
          <a:p>
            <a:r>
              <a:rPr lang="ja-JP" altLang="en-US" sz="2000" b="1" dirty="0">
                <a:solidFill>
                  <a:schemeClr val="tx1"/>
                </a:solidFill>
              </a:rPr>
              <a:t>アーキテクチャ設計</a:t>
            </a:r>
            <a:endParaRPr lang="en-US" altLang="ja-JP" sz="2000" b="1" dirty="0">
              <a:solidFill>
                <a:schemeClr val="tx1"/>
              </a:solidFill>
            </a:endParaRPr>
          </a:p>
          <a:p>
            <a:r>
              <a:rPr lang="ja-JP" altLang="en-US" sz="2000" b="1" dirty="0">
                <a:solidFill>
                  <a:schemeClr val="tx1"/>
                </a:solidFill>
              </a:rPr>
              <a:t>詳細設計</a:t>
            </a:r>
            <a:endParaRPr lang="en-US" altLang="ja-JP" sz="2000" b="1" dirty="0">
              <a:solidFill>
                <a:schemeClr val="tx1"/>
              </a:solidFill>
            </a:endParaRPr>
          </a:p>
          <a:p>
            <a:r>
              <a:rPr lang="ja-JP" altLang="en-US" sz="2000" b="1" dirty="0">
                <a:solidFill>
                  <a:schemeClr val="tx1"/>
                </a:solidFill>
              </a:rPr>
              <a:t>製造</a:t>
            </a:r>
            <a:r>
              <a:rPr lang="en-US" altLang="ja-JP" sz="2000" b="1" dirty="0">
                <a:solidFill>
                  <a:schemeClr val="tx1"/>
                </a:solidFill>
              </a:rPr>
              <a:t> / </a:t>
            </a:r>
            <a:r>
              <a:rPr lang="ja-JP" altLang="en-US" sz="2000" b="1" dirty="0">
                <a:solidFill>
                  <a:schemeClr val="tx1"/>
                </a:solidFill>
              </a:rPr>
              <a:t>単体テスト</a:t>
            </a:r>
            <a:endParaRPr lang="en-US" altLang="ja-JP" sz="2000" b="1" dirty="0">
              <a:solidFill>
                <a:schemeClr val="tx1"/>
              </a:solidFill>
            </a:endParaRPr>
          </a:p>
          <a:p>
            <a:r>
              <a:rPr lang="ja-JP" altLang="en-US" sz="2000" b="1" dirty="0">
                <a:solidFill>
                  <a:schemeClr val="tx1"/>
                </a:solidFill>
              </a:rPr>
              <a:t>結合テスト</a:t>
            </a:r>
            <a:endParaRPr lang="en-US" altLang="ja-JP" sz="2000" b="1" dirty="0">
              <a:solidFill>
                <a:schemeClr val="tx1"/>
              </a:solidFill>
            </a:endParaRPr>
          </a:p>
          <a:p>
            <a:r>
              <a:rPr lang="ja-JP" altLang="en-US" sz="2000" b="1" dirty="0">
                <a:solidFill>
                  <a:schemeClr val="tx1"/>
                </a:solidFill>
              </a:rPr>
              <a:t>システムテスト</a:t>
            </a:r>
            <a:endParaRPr lang="en-US" altLang="ja-JP" sz="2000" b="1" dirty="0">
              <a:solidFill>
                <a:schemeClr val="tx1"/>
              </a:solidFill>
            </a:endParaRPr>
          </a:p>
          <a:p>
            <a:r>
              <a:rPr lang="ja-JP" altLang="en-US" sz="2000" b="1" dirty="0">
                <a:solidFill>
                  <a:schemeClr val="tx1"/>
                </a:solidFill>
              </a:rPr>
              <a:t>受入テスト</a:t>
            </a:r>
            <a:endParaRPr lang="en-US" altLang="ja-JP" sz="2000" b="1" dirty="0">
              <a:solidFill>
                <a:schemeClr val="tx1"/>
              </a:solidFill>
            </a:endParaRPr>
          </a:p>
        </p:txBody>
      </p:sp>
    </p:spTree>
    <p:extLst>
      <p:ext uri="{BB962C8B-B14F-4D97-AF65-F5344CB8AC3E}">
        <p14:creationId xmlns:p14="http://schemas.microsoft.com/office/powerpoint/2010/main" val="1565203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B6485-5119-BE5A-BE5F-041EB9780B5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C8CF09A-3052-93FF-F368-9832D03C9BC9}"/>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4B3F400F-3EE4-BD7B-A018-6256784F35C1}"/>
              </a:ext>
            </a:extLst>
          </p:cNvPr>
          <p:cNvSpPr>
            <a:spLocks noGrp="1"/>
          </p:cNvSpPr>
          <p:nvPr>
            <p:ph type="title"/>
          </p:nvPr>
        </p:nvSpPr>
        <p:spPr/>
        <p:txBody>
          <a:bodyPr/>
          <a:lstStyle/>
          <a:p>
            <a:r>
              <a:rPr kumimoji="1" lang="ja-JP" altLang="en-US" dirty="0"/>
              <a:t>目次</a:t>
            </a:r>
          </a:p>
        </p:txBody>
      </p:sp>
      <p:sp>
        <p:nvSpPr>
          <p:cNvPr id="10" name="テキスト ボックス 9">
            <a:extLst>
              <a:ext uri="{FF2B5EF4-FFF2-40B4-BE49-F238E27FC236}">
                <a16:creationId xmlns:a16="http://schemas.microsoft.com/office/drawing/2014/main" id="{C3536732-123D-5C1D-2635-8D85B834E327}"/>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1</a:t>
            </a:r>
            <a:endParaRPr kumimoji="1" lang="ja-JP" altLang="en-US" sz="3600" b="1" dirty="0">
              <a:solidFill>
                <a:schemeClr val="bg1"/>
              </a:solidFill>
              <a:latin typeface="+mn-ea"/>
            </a:endParaRPr>
          </a:p>
        </p:txBody>
      </p:sp>
      <p:sp>
        <p:nvSpPr>
          <p:cNvPr id="12" name="コンテンツ プレースホルダー 2">
            <a:extLst>
              <a:ext uri="{FF2B5EF4-FFF2-40B4-BE49-F238E27FC236}">
                <a16:creationId xmlns:a16="http://schemas.microsoft.com/office/drawing/2014/main" id="{2B92A079-1DAB-E59F-ECD0-8B1960B3EC95}"/>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システム開発プロセス</a:t>
            </a:r>
            <a:endParaRPr lang="en-US" altLang="ja-JP" sz="2800" b="1" dirty="0">
              <a:solidFill>
                <a:schemeClr val="tx1"/>
              </a:solidFill>
            </a:endParaRPr>
          </a:p>
        </p:txBody>
      </p:sp>
      <p:sp>
        <p:nvSpPr>
          <p:cNvPr id="4" name="テキスト ボックス 3">
            <a:extLst>
              <a:ext uri="{FF2B5EF4-FFF2-40B4-BE49-F238E27FC236}">
                <a16:creationId xmlns:a16="http://schemas.microsoft.com/office/drawing/2014/main" id="{CF5BFA9E-64BB-B01F-3B1F-771AF32CF436}"/>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1-1</a:t>
            </a:r>
            <a:endParaRPr kumimoji="1" lang="ja-JP" altLang="en-US" sz="2400" b="1" dirty="0">
              <a:solidFill>
                <a:schemeClr val="accent2"/>
              </a:solidFill>
              <a:latin typeface="+mn-ea"/>
            </a:endParaRPr>
          </a:p>
        </p:txBody>
      </p:sp>
      <p:sp>
        <p:nvSpPr>
          <p:cNvPr id="5" name="コンテンツ プレースホルダー 2">
            <a:extLst>
              <a:ext uri="{FF2B5EF4-FFF2-40B4-BE49-F238E27FC236}">
                <a16:creationId xmlns:a16="http://schemas.microsoft.com/office/drawing/2014/main" id="{B1E6D486-269B-4414-A0F3-6A229896FC87}"/>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システム開発におけるソフトウェア開発ライフサイクル</a:t>
            </a:r>
            <a:endParaRPr lang="en-US" altLang="ja-JP" sz="2000" b="1" dirty="0">
              <a:solidFill>
                <a:schemeClr val="tx1"/>
              </a:solidFill>
            </a:endParaRPr>
          </a:p>
        </p:txBody>
      </p:sp>
      <p:sp>
        <p:nvSpPr>
          <p:cNvPr id="21" name="テキスト ボックス 20">
            <a:extLst>
              <a:ext uri="{FF2B5EF4-FFF2-40B4-BE49-F238E27FC236}">
                <a16:creationId xmlns:a16="http://schemas.microsoft.com/office/drawing/2014/main" id="{79563D10-2AD9-3127-6709-098CE2BAEC3B}"/>
              </a:ext>
            </a:extLst>
          </p:cNvPr>
          <p:cNvSpPr txBox="1"/>
          <p:nvPr/>
        </p:nvSpPr>
        <p:spPr>
          <a:xfrm>
            <a:off x="1581151" y="2521087"/>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1-2</a:t>
            </a:r>
            <a:endParaRPr kumimoji="1" lang="ja-JP" altLang="en-US" sz="2400" b="1" dirty="0">
              <a:solidFill>
                <a:schemeClr val="accent2"/>
              </a:solidFill>
              <a:latin typeface="+mn-ea"/>
            </a:endParaRPr>
          </a:p>
        </p:txBody>
      </p:sp>
      <p:sp>
        <p:nvSpPr>
          <p:cNvPr id="22" name="コンテンツ プレースホルダー 2">
            <a:extLst>
              <a:ext uri="{FF2B5EF4-FFF2-40B4-BE49-F238E27FC236}">
                <a16:creationId xmlns:a16="http://schemas.microsoft.com/office/drawing/2014/main" id="{1B778CDB-31B9-BA66-B393-1821A7000090}"/>
              </a:ext>
            </a:extLst>
          </p:cNvPr>
          <p:cNvSpPr txBox="1">
            <a:spLocks/>
          </p:cNvSpPr>
          <p:nvPr/>
        </p:nvSpPr>
        <p:spPr>
          <a:xfrm>
            <a:off x="2607573" y="2468261"/>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TERASOLUNA</a:t>
            </a:r>
            <a:r>
              <a:rPr lang="ja-JP" altLang="en-US" sz="2000" b="1" dirty="0">
                <a:solidFill>
                  <a:schemeClr val="tx1"/>
                </a:solidFill>
              </a:rPr>
              <a:t>とは</a:t>
            </a:r>
            <a:endParaRPr lang="en-US" altLang="ja-JP" sz="2000" b="1" dirty="0">
              <a:solidFill>
                <a:schemeClr val="tx1"/>
              </a:solidFill>
            </a:endParaRPr>
          </a:p>
        </p:txBody>
      </p:sp>
      <p:sp>
        <p:nvSpPr>
          <p:cNvPr id="3" name="テキスト ボックス 2">
            <a:extLst>
              <a:ext uri="{FF2B5EF4-FFF2-40B4-BE49-F238E27FC236}">
                <a16:creationId xmlns:a16="http://schemas.microsoft.com/office/drawing/2014/main" id="{C3B46643-5E9F-F5D6-9A26-B1354A526975}"/>
              </a:ext>
            </a:extLst>
          </p:cNvPr>
          <p:cNvSpPr txBox="1"/>
          <p:nvPr/>
        </p:nvSpPr>
        <p:spPr>
          <a:xfrm>
            <a:off x="1581151" y="3003155"/>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1-3</a:t>
            </a:r>
            <a:endParaRPr kumimoji="1" lang="ja-JP" altLang="en-US" sz="2400" b="1" dirty="0">
              <a:solidFill>
                <a:schemeClr val="accent2"/>
              </a:solidFill>
              <a:latin typeface="+mn-ea"/>
            </a:endParaRPr>
          </a:p>
        </p:txBody>
      </p:sp>
      <p:sp>
        <p:nvSpPr>
          <p:cNvPr id="6" name="コンテンツ プレースホルダー 2">
            <a:extLst>
              <a:ext uri="{FF2B5EF4-FFF2-40B4-BE49-F238E27FC236}">
                <a16:creationId xmlns:a16="http://schemas.microsoft.com/office/drawing/2014/main" id="{87DC613E-DCA7-3568-5C3E-05C15B0730C7}"/>
              </a:ext>
            </a:extLst>
          </p:cNvPr>
          <p:cNvSpPr txBox="1">
            <a:spLocks/>
          </p:cNvSpPr>
          <p:nvPr/>
        </p:nvSpPr>
        <p:spPr>
          <a:xfrm>
            <a:off x="2607573" y="2950329"/>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V</a:t>
            </a:r>
            <a:r>
              <a:rPr lang="ja-JP" altLang="en-US" sz="2000" b="1" dirty="0">
                <a:solidFill>
                  <a:schemeClr val="tx1"/>
                </a:solidFill>
              </a:rPr>
              <a:t>字モデルとは</a:t>
            </a:r>
            <a:endParaRPr lang="en-US" altLang="ja-JP" sz="2000" b="1" dirty="0">
              <a:solidFill>
                <a:schemeClr val="tx1"/>
              </a:solidFill>
            </a:endParaRPr>
          </a:p>
        </p:txBody>
      </p:sp>
      <p:sp>
        <p:nvSpPr>
          <p:cNvPr id="15" name="コンテンツ プレースホルダー 2">
            <a:extLst>
              <a:ext uri="{FF2B5EF4-FFF2-40B4-BE49-F238E27FC236}">
                <a16:creationId xmlns:a16="http://schemas.microsoft.com/office/drawing/2014/main" id="{DA739DA9-BB39-6957-9667-43BB67E3229F}"/>
              </a:ext>
            </a:extLst>
          </p:cNvPr>
          <p:cNvSpPr txBox="1">
            <a:spLocks/>
          </p:cNvSpPr>
          <p:nvPr/>
        </p:nvSpPr>
        <p:spPr>
          <a:xfrm>
            <a:off x="2977687" y="3516116"/>
            <a:ext cx="5660572" cy="2973583"/>
          </a:xfrm>
          <a:prstGeom prst="rect">
            <a:avLst/>
          </a:prstGeom>
        </p:spPr>
        <p:txBody>
          <a:bodyPr vert="horz" lIns="0" tIns="0" rIns="0" bIns="0" rtlCol="0" anchor="t">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要求定義</a:t>
            </a:r>
            <a:endParaRPr lang="en-US" altLang="ja-JP" sz="2000" b="1" dirty="0">
              <a:solidFill>
                <a:schemeClr val="tx1"/>
              </a:solidFill>
            </a:endParaRPr>
          </a:p>
          <a:p>
            <a:r>
              <a:rPr lang="ja-JP" altLang="en-US" sz="2000" b="1" dirty="0">
                <a:solidFill>
                  <a:schemeClr val="tx1"/>
                </a:solidFill>
              </a:rPr>
              <a:t>要求分析</a:t>
            </a:r>
            <a:endParaRPr lang="en-US" altLang="ja-JP" sz="2000" b="1" dirty="0">
              <a:solidFill>
                <a:schemeClr val="tx1"/>
              </a:solidFill>
            </a:endParaRPr>
          </a:p>
          <a:p>
            <a:r>
              <a:rPr lang="ja-JP" altLang="en-US" sz="2000" b="1" dirty="0">
                <a:solidFill>
                  <a:schemeClr val="tx1"/>
                </a:solidFill>
              </a:rPr>
              <a:t>アーキテクチャ設計</a:t>
            </a:r>
            <a:endParaRPr lang="en-US" altLang="ja-JP" sz="2000" b="1" dirty="0">
              <a:solidFill>
                <a:schemeClr val="tx1"/>
              </a:solidFill>
            </a:endParaRPr>
          </a:p>
          <a:p>
            <a:r>
              <a:rPr lang="ja-JP" altLang="en-US" sz="2000" b="1" dirty="0">
                <a:solidFill>
                  <a:schemeClr val="tx1"/>
                </a:solidFill>
              </a:rPr>
              <a:t>詳細設計</a:t>
            </a:r>
            <a:endParaRPr lang="en-US" altLang="ja-JP" sz="2000" b="1" dirty="0">
              <a:solidFill>
                <a:schemeClr val="tx1"/>
              </a:solidFill>
            </a:endParaRPr>
          </a:p>
          <a:p>
            <a:r>
              <a:rPr lang="ja-JP" altLang="en-US" sz="2000" b="1" dirty="0">
                <a:solidFill>
                  <a:schemeClr val="tx1"/>
                </a:solidFill>
              </a:rPr>
              <a:t>製造</a:t>
            </a:r>
            <a:r>
              <a:rPr lang="en-US" altLang="ja-JP" sz="2000" b="1" dirty="0">
                <a:solidFill>
                  <a:schemeClr val="tx1"/>
                </a:solidFill>
              </a:rPr>
              <a:t> / </a:t>
            </a:r>
            <a:r>
              <a:rPr lang="ja-JP" altLang="en-US" sz="2000" b="1" dirty="0">
                <a:solidFill>
                  <a:schemeClr val="tx1"/>
                </a:solidFill>
              </a:rPr>
              <a:t>単体テスト</a:t>
            </a:r>
            <a:endParaRPr lang="en-US" altLang="ja-JP" sz="2000" b="1" dirty="0">
              <a:solidFill>
                <a:schemeClr val="tx1"/>
              </a:solidFill>
            </a:endParaRPr>
          </a:p>
          <a:p>
            <a:r>
              <a:rPr lang="ja-JP" altLang="en-US" sz="2000" b="1" dirty="0">
                <a:solidFill>
                  <a:schemeClr val="tx1"/>
                </a:solidFill>
              </a:rPr>
              <a:t>結合テスト</a:t>
            </a:r>
            <a:endParaRPr lang="en-US" altLang="ja-JP" sz="2000" b="1" dirty="0">
              <a:solidFill>
                <a:schemeClr val="tx1"/>
              </a:solidFill>
            </a:endParaRPr>
          </a:p>
          <a:p>
            <a:r>
              <a:rPr lang="ja-JP" altLang="en-US" sz="2000" b="1" dirty="0">
                <a:solidFill>
                  <a:schemeClr val="tx1"/>
                </a:solidFill>
              </a:rPr>
              <a:t>システムテスト</a:t>
            </a:r>
            <a:endParaRPr lang="en-US" altLang="ja-JP" sz="2000" b="1" dirty="0">
              <a:solidFill>
                <a:schemeClr val="tx1"/>
              </a:solidFill>
            </a:endParaRPr>
          </a:p>
          <a:p>
            <a:r>
              <a:rPr lang="ja-JP" altLang="en-US" sz="2000" b="1" dirty="0">
                <a:solidFill>
                  <a:schemeClr val="tx1"/>
                </a:solidFill>
              </a:rPr>
              <a:t>受入テスト</a:t>
            </a:r>
            <a:endParaRPr lang="en-US" altLang="ja-JP" sz="2000" b="1" dirty="0">
              <a:solidFill>
                <a:schemeClr val="tx1"/>
              </a:solidFill>
            </a:endParaRPr>
          </a:p>
        </p:txBody>
      </p:sp>
      <p:sp>
        <p:nvSpPr>
          <p:cNvPr id="7" name="正方形/長方形 6">
            <a:extLst>
              <a:ext uri="{FF2B5EF4-FFF2-40B4-BE49-F238E27FC236}">
                <a16:creationId xmlns:a16="http://schemas.microsoft.com/office/drawing/2014/main" id="{C6CAA714-8673-CCD1-F468-98B9501037DB}"/>
              </a:ext>
            </a:extLst>
          </p:cNvPr>
          <p:cNvSpPr/>
          <p:nvPr/>
        </p:nvSpPr>
        <p:spPr>
          <a:xfrm flipV="1">
            <a:off x="1546834" y="2076818"/>
            <a:ext cx="8256669" cy="439512"/>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3203683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EFF21-36A9-C77A-2CE9-079B5603F33A}"/>
            </a:ext>
          </a:extLst>
        </p:cNvPr>
        <p:cNvGrpSpPr/>
        <p:nvPr/>
      </p:nvGrpSpPr>
      <p:grpSpPr>
        <a:xfrm>
          <a:off x="0" y="0"/>
          <a:ext cx="0" cy="0"/>
          <a:chOff x="0" y="0"/>
          <a:chExt cx="0" cy="0"/>
        </a:xfrm>
      </p:grpSpPr>
      <p:sp>
        <p:nvSpPr>
          <p:cNvPr id="15" name="四角形: 角を丸くする 14">
            <a:extLst>
              <a:ext uri="{FF2B5EF4-FFF2-40B4-BE49-F238E27FC236}">
                <a16:creationId xmlns:a16="http://schemas.microsoft.com/office/drawing/2014/main" id="{01848626-A9A8-0121-2962-65A7E7641586}"/>
              </a:ext>
            </a:extLst>
          </p:cNvPr>
          <p:cNvSpPr/>
          <p:nvPr/>
        </p:nvSpPr>
        <p:spPr>
          <a:xfrm>
            <a:off x="861963" y="2268998"/>
            <a:ext cx="10158966" cy="3016164"/>
          </a:xfrm>
          <a:prstGeom prst="roundRect">
            <a:avLst/>
          </a:prstGeom>
          <a:solidFill>
            <a:srgbClr val="F0F3F6"/>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2B9DC947-3711-1FC7-C461-DAC1B737E488}"/>
              </a:ext>
            </a:extLst>
          </p:cNvPr>
          <p:cNvSpPr>
            <a:spLocks noGrp="1"/>
          </p:cNvSpPr>
          <p:nvPr>
            <p:ph type="title"/>
          </p:nvPr>
        </p:nvSpPr>
        <p:spPr/>
        <p:txBody>
          <a:bodyPr anchor="ctr"/>
          <a:lstStyle/>
          <a:p>
            <a:r>
              <a:rPr lang="ja-JP" altLang="en-US" dirty="0"/>
              <a:t>ソフトウェア開発ライフサイクル</a:t>
            </a:r>
            <a:endParaRPr kumimoji="1" lang="ja-JP" altLang="en-US" dirty="0"/>
          </a:p>
        </p:txBody>
      </p:sp>
      <p:sp>
        <p:nvSpPr>
          <p:cNvPr id="43" name="コンテンツ プレースホルダー 42">
            <a:extLst>
              <a:ext uri="{FF2B5EF4-FFF2-40B4-BE49-F238E27FC236}">
                <a16:creationId xmlns:a16="http://schemas.microsoft.com/office/drawing/2014/main" id="{DFBB37F3-4559-4656-2781-FA3C86B38CA3}"/>
              </a:ext>
            </a:extLst>
          </p:cNvPr>
          <p:cNvSpPr>
            <a:spLocks noGrp="1"/>
          </p:cNvSpPr>
          <p:nvPr>
            <p:ph sz="quarter" idx="10"/>
          </p:nvPr>
        </p:nvSpPr>
        <p:spPr>
          <a:xfrm>
            <a:off x="371474" y="1058466"/>
            <a:ext cx="11820526" cy="718822"/>
          </a:xfrm>
        </p:spPr>
        <p:txBody>
          <a:bodyPr/>
          <a:lstStyle/>
          <a:p>
            <a:r>
              <a:rPr lang="ja-JP" altLang="en-US" dirty="0">
                <a:solidFill>
                  <a:schemeClr val="tx1"/>
                </a:solidFill>
              </a:rPr>
              <a:t>ソフトウェア開発ライフサイクル（</a:t>
            </a:r>
            <a:r>
              <a:rPr lang="en-US" altLang="ja-JP" dirty="0">
                <a:solidFill>
                  <a:schemeClr val="tx1"/>
                </a:solidFill>
              </a:rPr>
              <a:t>SDLC</a:t>
            </a:r>
            <a:r>
              <a:rPr lang="ja-JP" altLang="en-US" dirty="0">
                <a:solidFill>
                  <a:schemeClr val="tx1"/>
                </a:solidFill>
              </a:rPr>
              <a:t>）とは</a:t>
            </a:r>
            <a:endParaRPr lang="en-US" altLang="ja-JP" dirty="0">
              <a:solidFill>
                <a:schemeClr val="tx1"/>
              </a:solidFill>
            </a:endParaRPr>
          </a:p>
          <a:p>
            <a:r>
              <a:rPr lang="en-US" altLang="ja-JP" dirty="0">
                <a:solidFill>
                  <a:schemeClr val="tx1"/>
                </a:solidFill>
              </a:rPr>
              <a:t>	</a:t>
            </a:r>
            <a:r>
              <a:rPr lang="ja-JP" altLang="en-US" dirty="0">
                <a:solidFill>
                  <a:schemeClr val="tx1"/>
                </a:solidFill>
              </a:rPr>
              <a:t>ソフトウェア開発プロジェクトの</a:t>
            </a:r>
            <a:r>
              <a:rPr lang="ja-JP" altLang="en-US" sz="2000" b="1" dirty="0">
                <a:solidFill>
                  <a:schemeClr val="tx1"/>
                </a:solidFill>
              </a:rPr>
              <a:t>各段階で実施する活動の種類</a:t>
            </a:r>
            <a:r>
              <a:rPr lang="ja-JP" altLang="en-US" dirty="0">
                <a:solidFill>
                  <a:schemeClr val="tx1"/>
                </a:solidFill>
              </a:rPr>
              <a:t>と、各活動間の</a:t>
            </a:r>
            <a:r>
              <a:rPr lang="ja-JP" altLang="en-US" sz="2000" b="1" dirty="0">
                <a:solidFill>
                  <a:schemeClr val="tx1"/>
                </a:solidFill>
              </a:rPr>
              <a:t>論理的および時系列的な関連</a:t>
            </a:r>
            <a:r>
              <a:rPr lang="ja-JP" altLang="en-US" dirty="0">
                <a:solidFill>
                  <a:schemeClr val="tx1"/>
                </a:solidFill>
              </a:rPr>
              <a:t>を表すもの</a:t>
            </a:r>
            <a:endParaRPr lang="en-US" altLang="ja-JP" dirty="0">
              <a:solidFill>
                <a:schemeClr val="tx1"/>
              </a:solidFill>
            </a:endParaRPr>
          </a:p>
          <a:p>
            <a:endParaRPr lang="en-US" altLang="ja-JP" dirty="0">
              <a:solidFill>
                <a:schemeClr val="tx1"/>
              </a:solidFill>
            </a:endParaRPr>
          </a:p>
        </p:txBody>
      </p:sp>
      <p:sp>
        <p:nvSpPr>
          <p:cNvPr id="17" name="テキスト ボックス 16">
            <a:extLst>
              <a:ext uri="{FF2B5EF4-FFF2-40B4-BE49-F238E27FC236}">
                <a16:creationId xmlns:a16="http://schemas.microsoft.com/office/drawing/2014/main" id="{8A9D74F2-6CF6-9FF9-B7DF-84827C277691}"/>
              </a:ext>
            </a:extLst>
          </p:cNvPr>
          <p:cNvSpPr txBox="1"/>
          <p:nvPr/>
        </p:nvSpPr>
        <p:spPr>
          <a:xfrm>
            <a:off x="1163371" y="2393479"/>
            <a:ext cx="3781673" cy="367852"/>
          </a:xfrm>
          <a:prstGeom prst="rect">
            <a:avLst/>
          </a:prstGeom>
          <a:noFill/>
        </p:spPr>
        <p:txBody>
          <a:bodyPr wrap="square" lIns="0" rIns="0" rtlCol="0">
            <a:noAutofit/>
          </a:bodyPr>
          <a:lstStyle/>
          <a:p>
            <a:pPr algn="l" defTabSz="288000"/>
            <a:r>
              <a:rPr lang="ja-JP" altLang="en-US" sz="1600" u="sng" dirty="0">
                <a:latin typeface="+mn-ea"/>
              </a:rPr>
              <a:t>一般的なソフトウェア開発ライフサイクル</a:t>
            </a:r>
            <a:endParaRPr kumimoji="1" lang="ja-JP" altLang="en-US" sz="1600" u="sng" dirty="0">
              <a:latin typeface="+mn-ea"/>
            </a:endParaRPr>
          </a:p>
        </p:txBody>
      </p:sp>
      <p:sp>
        <p:nvSpPr>
          <p:cNvPr id="18" name="矢印: 右 17">
            <a:extLst>
              <a:ext uri="{FF2B5EF4-FFF2-40B4-BE49-F238E27FC236}">
                <a16:creationId xmlns:a16="http://schemas.microsoft.com/office/drawing/2014/main" id="{74B1AE0A-10ED-B11F-554C-7F85537071AF}"/>
              </a:ext>
            </a:extLst>
          </p:cNvPr>
          <p:cNvSpPr/>
          <p:nvPr/>
        </p:nvSpPr>
        <p:spPr>
          <a:xfrm>
            <a:off x="1343530" y="3444769"/>
            <a:ext cx="9023229" cy="691790"/>
          </a:xfrm>
          <a:prstGeom prst="rightArrow">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四角形: 角を丸くする 3">
            <a:extLst>
              <a:ext uri="{FF2B5EF4-FFF2-40B4-BE49-F238E27FC236}">
                <a16:creationId xmlns:a16="http://schemas.microsoft.com/office/drawing/2014/main" id="{BD80E50C-8F0B-08F1-0110-D9A90C8563C4}"/>
              </a:ext>
            </a:extLst>
          </p:cNvPr>
          <p:cNvSpPr/>
          <p:nvPr/>
        </p:nvSpPr>
        <p:spPr>
          <a:xfrm>
            <a:off x="3644658" y="3101059"/>
            <a:ext cx="1080000" cy="132527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設計</a:t>
            </a:r>
          </a:p>
        </p:txBody>
      </p:sp>
      <p:sp>
        <p:nvSpPr>
          <p:cNvPr id="6" name="四角形: 角を丸くする 5">
            <a:extLst>
              <a:ext uri="{FF2B5EF4-FFF2-40B4-BE49-F238E27FC236}">
                <a16:creationId xmlns:a16="http://schemas.microsoft.com/office/drawing/2014/main" id="{4A8CE500-7222-D404-C7F4-8DB1D5320085}"/>
              </a:ext>
            </a:extLst>
          </p:cNvPr>
          <p:cNvSpPr/>
          <p:nvPr/>
        </p:nvSpPr>
        <p:spPr>
          <a:xfrm>
            <a:off x="5318060" y="3107114"/>
            <a:ext cx="1080000" cy="132527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製造</a:t>
            </a:r>
          </a:p>
        </p:txBody>
      </p:sp>
      <p:sp>
        <p:nvSpPr>
          <p:cNvPr id="10" name="四角形: 角を丸くする 9">
            <a:extLst>
              <a:ext uri="{FF2B5EF4-FFF2-40B4-BE49-F238E27FC236}">
                <a16:creationId xmlns:a16="http://schemas.microsoft.com/office/drawing/2014/main" id="{0547650A-7AC4-DD3A-0BF9-95DBB192457B}"/>
              </a:ext>
            </a:extLst>
          </p:cNvPr>
          <p:cNvSpPr/>
          <p:nvPr/>
        </p:nvSpPr>
        <p:spPr>
          <a:xfrm>
            <a:off x="1910069" y="3107114"/>
            <a:ext cx="1141187" cy="132527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要件定義</a:t>
            </a:r>
          </a:p>
        </p:txBody>
      </p:sp>
      <p:sp>
        <p:nvSpPr>
          <p:cNvPr id="11" name="四角形: 角を丸くする 10">
            <a:extLst>
              <a:ext uri="{FF2B5EF4-FFF2-40B4-BE49-F238E27FC236}">
                <a16:creationId xmlns:a16="http://schemas.microsoft.com/office/drawing/2014/main" id="{EF04592E-C8D0-F0B0-C814-DB18219F6A5E}"/>
              </a:ext>
            </a:extLst>
          </p:cNvPr>
          <p:cNvSpPr/>
          <p:nvPr/>
        </p:nvSpPr>
        <p:spPr>
          <a:xfrm>
            <a:off x="6991462" y="3107114"/>
            <a:ext cx="1080000" cy="132527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テスト</a:t>
            </a:r>
          </a:p>
        </p:txBody>
      </p:sp>
      <p:sp>
        <p:nvSpPr>
          <p:cNvPr id="12" name="四角形: 角を丸くする 11">
            <a:extLst>
              <a:ext uri="{FF2B5EF4-FFF2-40B4-BE49-F238E27FC236}">
                <a16:creationId xmlns:a16="http://schemas.microsoft.com/office/drawing/2014/main" id="{57CE414A-12C1-3183-53E5-DC5C435D08BD}"/>
              </a:ext>
            </a:extLst>
          </p:cNvPr>
          <p:cNvSpPr/>
          <p:nvPr/>
        </p:nvSpPr>
        <p:spPr>
          <a:xfrm>
            <a:off x="8664864" y="3107114"/>
            <a:ext cx="1080000" cy="132527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bg1"/>
                </a:solidFill>
              </a:rPr>
              <a:t>リリース</a:t>
            </a:r>
          </a:p>
        </p:txBody>
      </p:sp>
    </p:spTree>
    <p:extLst>
      <p:ext uri="{BB962C8B-B14F-4D97-AF65-F5344CB8AC3E}">
        <p14:creationId xmlns:p14="http://schemas.microsoft.com/office/powerpoint/2010/main" val="2788641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87877-3673-B544-6F09-E8ABADB5F825}"/>
            </a:ext>
          </a:extLst>
        </p:cNvPr>
        <p:cNvGrpSpPr/>
        <p:nvPr/>
      </p:nvGrpSpPr>
      <p:grpSpPr>
        <a:xfrm>
          <a:off x="0" y="0"/>
          <a:ext cx="0" cy="0"/>
          <a:chOff x="0" y="0"/>
          <a:chExt cx="0" cy="0"/>
        </a:xfrm>
      </p:grpSpPr>
      <p:sp>
        <p:nvSpPr>
          <p:cNvPr id="19" name="四角形: 角を丸くする 18">
            <a:extLst>
              <a:ext uri="{FF2B5EF4-FFF2-40B4-BE49-F238E27FC236}">
                <a16:creationId xmlns:a16="http://schemas.microsoft.com/office/drawing/2014/main" id="{8DBECBCA-D6D3-E7B8-FF58-8F8F119AC102}"/>
              </a:ext>
            </a:extLst>
          </p:cNvPr>
          <p:cNvSpPr/>
          <p:nvPr/>
        </p:nvSpPr>
        <p:spPr>
          <a:xfrm>
            <a:off x="783821" y="2968671"/>
            <a:ext cx="4633423" cy="2548988"/>
          </a:xfrm>
          <a:prstGeom prst="roundRect">
            <a:avLst>
              <a:gd name="adj" fmla="val 9250"/>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en-US" altLang="ja-JP" sz="1400" b="1" dirty="0">
              <a:solidFill>
                <a:schemeClr val="tx1"/>
              </a:solidFill>
            </a:endParaRPr>
          </a:p>
        </p:txBody>
      </p:sp>
      <p:sp>
        <p:nvSpPr>
          <p:cNvPr id="20" name="四角形: 角を丸くする 19">
            <a:extLst>
              <a:ext uri="{FF2B5EF4-FFF2-40B4-BE49-F238E27FC236}">
                <a16:creationId xmlns:a16="http://schemas.microsoft.com/office/drawing/2014/main" id="{F032846A-A440-000D-A8A6-313DFDDD197C}"/>
              </a:ext>
            </a:extLst>
          </p:cNvPr>
          <p:cNvSpPr/>
          <p:nvPr/>
        </p:nvSpPr>
        <p:spPr>
          <a:xfrm>
            <a:off x="6392494" y="3836551"/>
            <a:ext cx="5175529" cy="2383094"/>
          </a:xfrm>
          <a:prstGeom prst="roundRect">
            <a:avLst>
              <a:gd name="adj" fmla="val 9250"/>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b="1" dirty="0">
                <a:solidFill>
                  <a:schemeClr val="tx1"/>
                </a:solidFill>
              </a:rPr>
              <a:t>スクラム</a:t>
            </a:r>
            <a:endParaRPr kumimoji="1" lang="en-US" altLang="ja-JP" sz="1400" b="1" dirty="0">
              <a:solidFill>
                <a:schemeClr val="tx1"/>
              </a:solidFill>
            </a:endParaRPr>
          </a:p>
        </p:txBody>
      </p:sp>
      <p:sp>
        <p:nvSpPr>
          <p:cNvPr id="2" name="タイトル 1">
            <a:extLst>
              <a:ext uri="{FF2B5EF4-FFF2-40B4-BE49-F238E27FC236}">
                <a16:creationId xmlns:a16="http://schemas.microsoft.com/office/drawing/2014/main" id="{237082BD-2F0C-A8BC-7AB8-78ACC722A574}"/>
              </a:ext>
            </a:extLst>
          </p:cNvPr>
          <p:cNvSpPr>
            <a:spLocks noGrp="1"/>
          </p:cNvSpPr>
          <p:nvPr>
            <p:ph type="title"/>
          </p:nvPr>
        </p:nvSpPr>
        <p:spPr/>
        <p:txBody>
          <a:bodyPr anchor="ctr"/>
          <a:lstStyle/>
          <a:p>
            <a:r>
              <a:rPr lang="ja-JP" altLang="en-US" dirty="0"/>
              <a:t>ソフトウェア開発ライフサイクルの種類</a:t>
            </a:r>
            <a:endParaRPr kumimoji="1" lang="ja-JP" altLang="en-US" dirty="0"/>
          </a:p>
        </p:txBody>
      </p:sp>
      <p:sp>
        <p:nvSpPr>
          <p:cNvPr id="16" name="テキスト ボックス 15">
            <a:extLst>
              <a:ext uri="{FF2B5EF4-FFF2-40B4-BE49-F238E27FC236}">
                <a16:creationId xmlns:a16="http://schemas.microsoft.com/office/drawing/2014/main" id="{D64DE3EA-15E5-32B5-66AB-9DD91E9A1098}"/>
              </a:ext>
            </a:extLst>
          </p:cNvPr>
          <p:cNvSpPr txBox="1"/>
          <p:nvPr/>
        </p:nvSpPr>
        <p:spPr>
          <a:xfrm>
            <a:off x="6257801" y="1454635"/>
            <a:ext cx="6062154" cy="585993"/>
          </a:xfrm>
          <a:prstGeom prst="rect">
            <a:avLst/>
          </a:prstGeom>
          <a:noFill/>
        </p:spPr>
        <p:txBody>
          <a:bodyPr wrap="square" lIns="0" rIns="0" rtlCol="0">
            <a:noAutofit/>
          </a:bodyPr>
          <a:lstStyle/>
          <a:p>
            <a:r>
              <a:rPr lang="ja-JP" altLang="en-US" sz="1600" dirty="0">
                <a:solidFill>
                  <a:schemeClr val="tx1"/>
                </a:solidFill>
                <a:latin typeface="+mn-ea"/>
              </a:rPr>
              <a:t>「アジャイルソフトウェア開発宣言」（</a:t>
            </a:r>
            <a:r>
              <a:rPr lang="en-US" altLang="ja-JP" sz="1600" dirty="0">
                <a:solidFill>
                  <a:schemeClr val="tx1"/>
                </a:solidFill>
                <a:latin typeface="+mn-ea"/>
              </a:rPr>
              <a:t>2001</a:t>
            </a:r>
            <a:r>
              <a:rPr lang="ja-JP" altLang="en-US" sz="1600" dirty="0">
                <a:solidFill>
                  <a:schemeClr val="tx1"/>
                </a:solidFill>
                <a:latin typeface="+mn-ea"/>
              </a:rPr>
              <a:t>年）を元にした開発モデル</a:t>
            </a:r>
            <a:endParaRPr lang="en-US" altLang="ja-JP" sz="1600" dirty="0">
              <a:solidFill>
                <a:schemeClr val="tx1"/>
              </a:solidFill>
              <a:latin typeface="+mn-ea"/>
            </a:endParaRPr>
          </a:p>
          <a:p>
            <a:endParaRPr lang="en-US" altLang="ja-JP" sz="1600" dirty="0">
              <a:solidFill>
                <a:schemeClr val="tx1"/>
              </a:solidFill>
              <a:latin typeface="+mn-ea"/>
            </a:endParaRPr>
          </a:p>
          <a:p>
            <a:r>
              <a:rPr lang="ja-JP" altLang="en-US" sz="1600" u="sng" dirty="0">
                <a:solidFill>
                  <a:srgbClr val="000000"/>
                </a:solidFill>
                <a:latin typeface="+mn-ea"/>
              </a:rPr>
              <a:t>重視する４つの価値</a:t>
            </a:r>
            <a:endParaRPr lang="en-US" altLang="ja-JP" sz="1600" u="sng" dirty="0">
              <a:solidFill>
                <a:srgbClr val="000000"/>
              </a:solidFill>
              <a:latin typeface="+mn-ea"/>
            </a:endParaRPr>
          </a:p>
          <a:p>
            <a:r>
              <a:rPr lang="ja-JP" altLang="en-US" sz="1600" b="0" i="0" dirty="0">
                <a:solidFill>
                  <a:srgbClr val="000000"/>
                </a:solidFill>
                <a:effectLst/>
                <a:latin typeface="+mn-ea"/>
              </a:rPr>
              <a:t>　・プロセスやツールよりも</a:t>
            </a:r>
            <a:r>
              <a:rPr lang="ja-JP" altLang="en-US" b="1" i="0" dirty="0">
                <a:solidFill>
                  <a:srgbClr val="000000"/>
                </a:solidFill>
                <a:effectLst/>
                <a:latin typeface="+mn-ea"/>
              </a:rPr>
              <a:t>個人と対話</a:t>
            </a:r>
            <a:r>
              <a:rPr lang="ja-JP" altLang="en-US" sz="1600" b="0" i="0" dirty="0">
                <a:solidFill>
                  <a:srgbClr val="000000"/>
                </a:solidFill>
                <a:effectLst/>
                <a:latin typeface="+mn-ea"/>
              </a:rPr>
              <a:t>を</a:t>
            </a:r>
            <a:br>
              <a:rPr lang="ja-JP" altLang="en-US" sz="1600" b="0" i="0" dirty="0">
                <a:solidFill>
                  <a:srgbClr val="000000"/>
                </a:solidFill>
                <a:effectLst/>
                <a:latin typeface="+mn-ea"/>
              </a:rPr>
            </a:br>
            <a:r>
              <a:rPr lang="ja-JP" altLang="en-US" sz="1600" dirty="0">
                <a:solidFill>
                  <a:srgbClr val="000000"/>
                </a:solidFill>
                <a:latin typeface="+mn-ea"/>
              </a:rPr>
              <a:t>　</a:t>
            </a:r>
            <a:r>
              <a:rPr lang="ja-JP" altLang="en-US" sz="1600" b="0" i="0" dirty="0">
                <a:solidFill>
                  <a:srgbClr val="000000"/>
                </a:solidFill>
                <a:effectLst/>
                <a:latin typeface="+mn-ea"/>
              </a:rPr>
              <a:t>・包括的なドキュメントよりも</a:t>
            </a:r>
            <a:r>
              <a:rPr lang="ja-JP" altLang="en-US" b="1" i="0" dirty="0">
                <a:solidFill>
                  <a:srgbClr val="000000"/>
                </a:solidFill>
                <a:effectLst/>
                <a:latin typeface="+mn-ea"/>
              </a:rPr>
              <a:t>動くソフトウェア</a:t>
            </a:r>
            <a:r>
              <a:rPr lang="ja-JP" altLang="en-US" sz="1600" b="0" i="0" dirty="0">
                <a:solidFill>
                  <a:srgbClr val="000000"/>
                </a:solidFill>
                <a:effectLst/>
                <a:latin typeface="+mn-ea"/>
              </a:rPr>
              <a:t>を</a:t>
            </a:r>
            <a:br>
              <a:rPr lang="ja-JP" altLang="en-US" sz="1600" b="0" i="0" dirty="0">
                <a:solidFill>
                  <a:srgbClr val="000000"/>
                </a:solidFill>
                <a:effectLst/>
                <a:latin typeface="+mn-ea"/>
              </a:rPr>
            </a:br>
            <a:r>
              <a:rPr lang="ja-JP" altLang="en-US" sz="1600" dirty="0">
                <a:solidFill>
                  <a:srgbClr val="000000"/>
                </a:solidFill>
                <a:latin typeface="+mn-ea"/>
              </a:rPr>
              <a:t>　</a:t>
            </a:r>
            <a:r>
              <a:rPr lang="ja-JP" altLang="en-US" sz="1600" b="0" i="0" dirty="0">
                <a:solidFill>
                  <a:srgbClr val="000000"/>
                </a:solidFill>
                <a:effectLst/>
                <a:latin typeface="+mn-ea"/>
              </a:rPr>
              <a:t>・契約交渉よりも</a:t>
            </a:r>
            <a:r>
              <a:rPr lang="ja-JP" altLang="en-US" b="1" i="0" dirty="0">
                <a:solidFill>
                  <a:srgbClr val="000000"/>
                </a:solidFill>
                <a:effectLst/>
                <a:latin typeface="+mn-ea"/>
              </a:rPr>
              <a:t>顧客との協調</a:t>
            </a:r>
            <a:r>
              <a:rPr lang="ja-JP" altLang="en-US" sz="1600" b="0" i="0" dirty="0">
                <a:solidFill>
                  <a:srgbClr val="000000"/>
                </a:solidFill>
                <a:effectLst/>
                <a:latin typeface="+mn-ea"/>
              </a:rPr>
              <a:t>を</a:t>
            </a:r>
            <a:br>
              <a:rPr lang="ja-JP" altLang="en-US" sz="1600" b="0" i="0" dirty="0">
                <a:solidFill>
                  <a:srgbClr val="000000"/>
                </a:solidFill>
                <a:effectLst/>
                <a:latin typeface="+mn-ea"/>
              </a:rPr>
            </a:br>
            <a:r>
              <a:rPr lang="ja-JP" altLang="en-US" sz="1600" dirty="0">
                <a:solidFill>
                  <a:srgbClr val="000000"/>
                </a:solidFill>
                <a:latin typeface="+mn-ea"/>
              </a:rPr>
              <a:t>　</a:t>
            </a:r>
            <a:r>
              <a:rPr lang="ja-JP" altLang="en-US" sz="1600" b="0" i="0" dirty="0">
                <a:solidFill>
                  <a:srgbClr val="000000"/>
                </a:solidFill>
                <a:effectLst/>
                <a:latin typeface="+mn-ea"/>
              </a:rPr>
              <a:t>・計画に従うことよりも</a:t>
            </a:r>
            <a:r>
              <a:rPr lang="ja-JP" altLang="en-US" b="1" i="0" dirty="0">
                <a:solidFill>
                  <a:srgbClr val="000000"/>
                </a:solidFill>
                <a:effectLst/>
                <a:latin typeface="+mn-ea"/>
              </a:rPr>
              <a:t>変化への対応</a:t>
            </a:r>
            <a:r>
              <a:rPr lang="ja-JP" altLang="en-US" sz="1600" b="0" i="0" dirty="0">
                <a:solidFill>
                  <a:srgbClr val="000000"/>
                </a:solidFill>
                <a:effectLst/>
                <a:latin typeface="+mn-ea"/>
              </a:rPr>
              <a:t>を</a:t>
            </a:r>
            <a:endParaRPr kumimoji="1" lang="ja-JP" altLang="en-US" sz="1600" dirty="0">
              <a:solidFill>
                <a:schemeClr val="tx1"/>
              </a:solidFill>
              <a:latin typeface="+mn-ea"/>
            </a:endParaRPr>
          </a:p>
        </p:txBody>
      </p:sp>
      <p:sp>
        <p:nvSpPr>
          <p:cNvPr id="17" name="テキスト ボックス 16">
            <a:extLst>
              <a:ext uri="{FF2B5EF4-FFF2-40B4-BE49-F238E27FC236}">
                <a16:creationId xmlns:a16="http://schemas.microsoft.com/office/drawing/2014/main" id="{21F70685-C28B-E15F-B0B8-35C926F5C293}"/>
              </a:ext>
            </a:extLst>
          </p:cNvPr>
          <p:cNvSpPr txBox="1"/>
          <p:nvPr/>
        </p:nvSpPr>
        <p:spPr>
          <a:xfrm>
            <a:off x="529058" y="1454635"/>
            <a:ext cx="5441133" cy="585993"/>
          </a:xfrm>
          <a:prstGeom prst="rect">
            <a:avLst/>
          </a:prstGeom>
          <a:noFill/>
        </p:spPr>
        <p:txBody>
          <a:bodyPr wrap="square" lIns="0" rIns="0" rtlCol="0">
            <a:noAutofit/>
          </a:bodyPr>
          <a:lstStyle/>
          <a:p>
            <a:r>
              <a:rPr lang="ja-JP" altLang="en-US" sz="1600" b="0" i="0" dirty="0">
                <a:solidFill>
                  <a:srgbClr val="000000"/>
                </a:solidFill>
                <a:effectLst/>
                <a:latin typeface="GilroyRegular"/>
              </a:rPr>
              <a:t>ソフトウェア開発の工程を前から順番に進めていく直線的なモデル</a:t>
            </a:r>
            <a:endParaRPr lang="en-US" altLang="ja-JP" sz="1600" b="0" i="0" dirty="0">
              <a:solidFill>
                <a:srgbClr val="000000"/>
              </a:solidFill>
              <a:effectLst/>
              <a:latin typeface="GilroyRegular"/>
            </a:endParaRPr>
          </a:p>
        </p:txBody>
      </p:sp>
      <p:sp>
        <p:nvSpPr>
          <p:cNvPr id="18" name="テキスト ボックス 17">
            <a:extLst>
              <a:ext uri="{FF2B5EF4-FFF2-40B4-BE49-F238E27FC236}">
                <a16:creationId xmlns:a16="http://schemas.microsoft.com/office/drawing/2014/main" id="{A1D71317-C5E4-4BF9-CF64-1E82848452BD}"/>
              </a:ext>
            </a:extLst>
          </p:cNvPr>
          <p:cNvSpPr txBox="1"/>
          <p:nvPr/>
        </p:nvSpPr>
        <p:spPr>
          <a:xfrm>
            <a:off x="6257801" y="3486298"/>
            <a:ext cx="1255807" cy="350253"/>
          </a:xfrm>
          <a:prstGeom prst="rect">
            <a:avLst/>
          </a:prstGeom>
          <a:noFill/>
        </p:spPr>
        <p:txBody>
          <a:bodyPr wrap="square" lIns="0" rIns="0" rtlCol="0">
            <a:noAutofit/>
          </a:bodyPr>
          <a:lstStyle/>
          <a:p>
            <a:r>
              <a:rPr lang="ja-JP" altLang="en-US" sz="1600" u="sng" dirty="0">
                <a:solidFill>
                  <a:schemeClr val="tx1"/>
                </a:solidFill>
              </a:rPr>
              <a:t>代表例</a:t>
            </a:r>
            <a:endParaRPr lang="en-US" altLang="ja-JP" sz="1600" u="sng" dirty="0">
              <a:solidFill>
                <a:schemeClr val="tx1"/>
              </a:solidFill>
            </a:endParaRPr>
          </a:p>
        </p:txBody>
      </p:sp>
      <p:grpSp>
        <p:nvGrpSpPr>
          <p:cNvPr id="3" name="グループ化 2">
            <a:extLst>
              <a:ext uri="{FF2B5EF4-FFF2-40B4-BE49-F238E27FC236}">
                <a16:creationId xmlns:a16="http://schemas.microsoft.com/office/drawing/2014/main" id="{32016BFB-78FC-BFE1-3EC7-ACC9448232D2}"/>
              </a:ext>
            </a:extLst>
          </p:cNvPr>
          <p:cNvGrpSpPr/>
          <p:nvPr/>
        </p:nvGrpSpPr>
        <p:grpSpPr>
          <a:xfrm>
            <a:off x="1573174" y="3154278"/>
            <a:ext cx="3171271" cy="2088767"/>
            <a:chOff x="1145548" y="3219430"/>
            <a:chExt cx="2974360" cy="1951357"/>
          </a:xfrm>
          <a:solidFill>
            <a:schemeClr val="tx2"/>
          </a:solidFill>
        </p:grpSpPr>
        <p:sp>
          <p:nvSpPr>
            <p:cNvPr id="5" name="四角形: 角を丸くする 4">
              <a:extLst>
                <a:ext uri="{FF2B5EF4-FFF2-40B4-BE49-F238E27FC236}">
                  <a16:creationId xmlns:a16="http://schemas.microsoft.com/office/drawing/2014/main" id="{933D55DE-571A-5400-AF26-B3F69EEDBBF2}"/>
                </a:ext>
              </a:extLst>
            </p:cNvPr>
            <p:cNvSpPr/>
            <p:nvPr/>
          </p:nvSpPr>
          <p:spPr>
            <a:xfrm>
              <a:off x="1664138" y="3623190"/>
              <a:ext cx="900000" cy="336317"/>
            </a:xfrm>
            <a:prstGeom prst="roundRect">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bg1"/>
                  </a:solidFill>
                </a:rPr>
                <a:t>設計</a:t>
              </a:r>
            </a:p>
          </p:txBody>
        </p:sp>
        <p:sp>
          <p:nvSpPr>
            <p:cNvPr id="6" name="四角形: 角を丸くする 5">
              <a:extLst>
                <a:ext uri="{FF2B5EF4-FFF2-40B4-BE49-F238E27FC236}">
                  <a16:creationId xmlns:a16="http://schemas.microsoft.com/office/drawing/2014/main" id="{78520E4F-F151-AF69-245C-A00DA638C758}"/>
                </a:ext>
              </a:extLst>
            </p:cNvPr>
            <p:cNvSpPr/>
            <p:nvPr/>
          </p:nvSpPr>
          <p:spPr>
            <a:xfrm>
              <a:off x="2182728" y="4026950"/>
              <a:ext cx="900000" cy="336317"/>
            </a:xfrm>
            <a:prstGeom prst="roundRect">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bg1"/>
                  </a:solidFill>
                </a:rPr>
                <a:t>製造</a:t>
              </a:r>
            </a:p>
          </p:txBody>
        </p:sp>
        <p:sp>
          <p:nvSpPr>
            <p:cNvPr id="7" name="四角形: 角を丸くする 6">
              <a:extLst>
                <a:ext uri="{FF2B5EF4-FFF2-40B4-BE49-F238E27FC236}">
                  <a16:creationId xmlns:a16="http://schemas.microsoft.com/office/drawing/2014/main" id="{1340E271-E6B6-FA40-847E-517ABAE532A9}"/>
                </a:ext>
              </a:extLst>
            </p:cNvPr>
            <p:cNvSpPr/>
            <p:nvPr/>
          </p:nvSpPr>
          <p:spPr>
            <a:xfrm>
              <a:off x="1145548" y="3219430"/>
              <a:ext cx="900000" cy="336317"/>
            </a:xfrm>
            <a:prstGeom prst="roundRect">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bg1"/>
                  </a:solidFill>
                </a:rPr>
                <a:t>要件定義</a:t>
              </a:r>
            </a:p>
          </p:txBody>
        </p:sp>
        <p:sp>
          <p:nvSpPr>
            <p:cNvPr id="8" name="四角形: 角を丸くする 7">
              <a:extLst>
                <a:ext uri="{FF2B5EF4-FFF2-40B4-BE49-F238E27FC236}">
                  <a16:creationId xmlns:a16="http://schemas.microsoft.com/office/drawing/2014/main" id="{9D2781F8-4B44-FD8D-39A1-6A7CEC7BF24D}"/>
                </a:ext>
              </a:extLst>
            </p:cNvPr>
            <p:cNvSpPr/>
            <p:nvPr/>
          </p:nvSpPr>
          <p:spPr>
            <a:xfrm>
              <a:off x="2701318" y="4430710"/>
              <a:ext cx="900000" cy="336317"/>
            </a:xfrm>
            <a:prstGeom prst="roundRect">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bg1"/>
                  </a:solidFill>
                </a:rPr>
                <a:t>テスト</a:t>
              </a:r>
            </a:p>
          </p:txBody>
        </p:sp>
        <p:sp>
          <p:nvSpPr>
            <p:cNvPr id="10" name="四角形: 角を丸くする 9">
              <a:extLst>
                <a:ext uri="{FF2B5EF4-FFF2-40B4-BE49-F238E27FC236}">
                  <a16:creationId xmlns:a16="http://schemas.microsoft.com/office/drawing/2014/main" id="{21708FDA-0320-78FB-ABDA-E8E1355FEBA6}"/>
                </a:ext>
              </a:extLst>
            </p:cNvPr>
            <p:cNvSpPr/>
            <p:nvPr/>
          </p:nvSpPr>
          <p:spPr>
            <a:xfrm>
              <a:off x="3219908" y="4834470"/>
              <a:ext cx="900000" cy="336317"/>
            </a:xfrm>
            <a:prstGeom prst="roundRect">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bg1"/>
                  </a:solidFill>
                </a:rPr>
                <a:t>リリース</a:t>
              </a:r>
            </a:p>
          </p:txBody>
        </p:sp>
      </p:grpSp>
      <p:grpSp>
        <p:nvGrpSpPr>
          <p:cNvPr id="14" name="グループ化 13">
            <a:extLst>
              <a:ext uri="{FF2B5EF4-FFF2-40B4-BE49-F238E27FC236}">
                <a16:creationId xmlns:a16="http://schemas.microsoft.com/office/drawing/2014/main" id="{15B14C6B-D2FC-93F0-6868-DCB9D4971DEF}"/>
              </a:ext>
            </a:extLst>
          </p:cNvPr>
          <p:cNvGrpSpPr/>
          <p:nvPr/>
        </p:nvGrpSpPr>
        <p:grpSpPr>
          <a:xfrm>
            <a:off x="2350912" y="3125328"/>
            <a:ext cx="2366343" cy="2063215"/>
            <a:chOff x="1731648" y="3212376"/>
            <a:chExt cx="2366343" cy="1916384"/>
          </a:xfrm>
        </p:grpSpPr>
        <p:sp>
          <p:nvSpPr>
            <p:cNvPr id="15" name="矢印: 環状 14">
              <a:extLst>
                <a:ext uri="{FF2B5EF4-FFF2-40B4-BE49-F238E27FC236}">
                  <a16:creationId xmlns:a16="http://schemas.microsoft.com/office/drawing/2014/main" id="{340F0EB8-179B-4460-C89A-B81578700498}"/>
                </a:ext>
              </a:extLst>
            </p:cNvPr>
            <p:cNvSpPr/>
            <p:nvPr/>
          </p:nvSpPr>
          <p:spPr>
            <a:xfrm>
              <a:off x="1731648" y="3212376"/>
              <a:ext cx="792000" cy="734816"/>
            </a:xfrm>
            <a:prstGeom prst="circularArrow">
              <a:avLst>
                <a:gd name="adj1" fmla="val 12500"/>
                <a:gd name="adj2" fmla="val 1142319"/>
                <a:gd name="adj3" fmla="val 20457681"/>
                <a:gd name="adj4" fmla="val 15880912"/>
                <a:gd name="adj5" fmla="val 15897"/>
              </a:avLst>
            </a:prstGeom>
            <a:solidFill>
              <a:schemeClr val="tx2">
                <a:lumMod val="40000"/>
                <a:lumOff val="6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8" name="矢印: 環状 27">
              <a:extLst>
                <a:ext uri="{FF2B5EF4-FFF2-40B4-BE49-F238E27FC236}">
                  <a16:creationId xmlns:a16="http://schemas.microsoft.com/office/drawing/2014/main" id="{C09D4C1C-9EFF-8F6A-EE4D-20676D0F33E9}"/>
                </a:ext>
              </a:extLst>
            </p:cNvPr>
            <p:cNvSpPr/>
            <p:nvPr/>
          </p:nvSpPr>
          <p:spPr>
            <a:xfrm>
              <a:off x="2256429" y="3606232"/>
              <a:ext cx="792000" cy="734816"/>
            </a:xfrm>
            <a:prstGeom prst="circularArrow">
              <a:avLst>
                <a:gd name="adj1" fmla="val 12500"/>
                <a:gd name="adj2" fmla="val 1142319"/>
                <a:gd name="adj3" fmla="val 20457681"/>
                <a:gd name="adj4" fmla="val 15880912"/>
                <a:gd name="adj5" fmla="val 15897"/>
              </a:avLst>
            </a:prstGeom>
            <a:solidFill>
              <a:schemeClr val="tx2">
                <a:lumMod val="40000"/>
                <a:lumOff val="6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0" name="矢印: 環状 29">
              <a:extLst>
                <a:ext uri="{FF2B5EF4-FFF2-40B4-BE49-F238E27FC236}">
                  <a16:creationId xmlns:a16="http://schemas.microsoft.com/office/drawing/2014/main" id="{74BB2495-4ED1-2E28-88EB-1A62E13507A4}"/>
                </a:ext>
              </a:extLst>
            </p:cNvPr>
            <p:cNvSpPr/>
            <p:nvPr/>
          </p:nvSpPr>
          <p:spPr>
            <a:xfrm>
              <a:off x="2781210" y="4000088"/>
              <a:ext cx="792000" cy="734816"/>
            </a:xfrm>
            <a:prstGeom prst="circularArrow">
              <a:avLst>
                <a:gd name="adj1" fmla="val 12500"/>
                <a:gd name="adj2" fmla="val 1142319"/>
                <a:gd name="adj3" fmla="val 20457681"/>
                <a:gd name="adj4" fmla="val 15880912"/>
                <a:gd name="adj5" fmla="val 15897"/>
              </a:avLst>
            </a:prstGeom>
            <a:solidFill>
              <a:schemeClr val="tx2">
                <a:lumMod val="40000"/>
                <a:lumOff val="6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1" name="矢印: 環状 30">
              <a:extLst>
                <a:ext uri="{FF2B5EF4-FFF2-40B4-BE49-F238E27FC236}">
                  <a16:creationId xmlns:a16="http://schemas.microsoft.com/office/drawing/2014/main" id="{83DD29E7-ABDB-0172-96C2-86ABD0481B58}"/>
                </a:ext>
              </a:extLst>
            </p:cNvPr>
            <p:cNvSpPr/>
            <p:nvPr/>
          </p:nvSpPr>
          <p:spPr>
            <a:xfrm>
              <a:off x="3305991" y="4393944"/>
              <a:ext cx="792000" cy="734816"/>
            </a:xfrm>
            <a:prstGeom prst="circularArrow">
              <a:avLst>
                <a:gd name="adj1" fmla="val 12500"/>
                <a:gd name="adj2" fmla="val 1142319"/>
                <a:gd name="adj3" fmla="val 20457681"/>
                <a:gd name="adj4" fmla="val 15880912"/>
                <a:gd name="adj5" fmla="val 15897"/>
              </a:avLst>
            </a:prstGeom>
            <a:solidFill>
              <a:schemeClr val="tx2">
                <a:lumMod val="40000"/>
                <a:lumOff val="6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33" name="テキスト ボックス 32">
            <a:extLst>
              <a:ext uri="{FF2B5EF4-FFF2-40B4-BE49-F238E27FC236}">
                <a16:creationId xmlns:a16="http://schemas.microsoft.com/office/drawing/2014/main" id="{12556D5A-1C29-A7B0-2D57-3AA80DA0DB24}"/>
              </a:ext>
            </a:extLst>
          </p:cNvPr>
          <p:cNvSpPr txBox="1"/>
          <p:nvPr/>
        </p:nvSpPr>
        <p:spPr>
          <a:xfrm>
            <a:off x="529058" y="5595541"/>
            <a:ext cx="5140856" cy="551041"/>
          </a:xfrm>
          <a:prstGeom prst="rect">
            <a:avLst/>
          </a:prstGeom>
          <a:noFill/>
        </p:spPr>
        <p:txBody>
          <a:bodyPr wrap="square" lIns="0" rIns="0" rtlCol="0">
            <a:noAutofit/>
          </a:bodyPr>
          <a:lstStyle/>
          <a:p>
            <a:r>
              <a:rPr lang="ja-JP" altLang="en-US" sz="1600" dirty="0"/>
              <a:t>大規模開発ではウォーターフォール開発が採用されることが多い。</a:t>
            </a:r>
            <a:endParaRPr lang="en-US" altLang="ja-JP" sz="1600" dirty="0"/>
          </a:p>
          <a:p>
            <a:r>
              <a:rPr lang="ja-JP" altLang="en-US" sz="1600" dirty="0"/>
              <a:t>社内では、</a:t>
            </a:r>
            <a:r>
              <a:rPr lang="ja-JP" altLang="en-US" b="1" dirty="0"/>
              <a:t>「</a:t>
            </a:r>
            <a:r>
              <a:rPr lang="en-US" altLang="ja-JP" b="1" dirty="0"/>
              <a:t>TERASOLUNA </a:t>
            </a:r>
            <a:r>
              <a:rPr lang="ja-JP" altLang="en-US" b="1" dirty="0"/>
              <a:t>開発手順」</a:t>
            </a:r>
            <a:r>
              <a:rPr lang="ja-JP" altLang="en-US" sz="1600" dirty="0"/>
              <a:t>が該当する。</a:t>
            </a:r>
            <a:endParaRPr lang="en-US" altLang="ja-JP" sz="1600" dirty="0"/>
          </a:p>
        </p:txBody>
      </p:sp>
      <p:sp>
        <p:nvSpPr>
          <p:cNvPr id="34" name="正方形/長方形 33">
            <a:extLst>
              <a:ext uri="{FF2B5EF4-FFF2-40B4-BE49-F238E27FC236}">
                <a16:creationId xmlns:a16="http://schemas.microsoft.com/office/drawing/2014/main" id="{79365CD0-E248-BD16-7B2D-095E7A7D5776}"/>
              </a:ext>
            </a:extLst>
          </p:cNvPr>
          <p:cNvSpPr/>
          <p:nvPr/>
        </p:nvSpPr>
        <p:spPr>
          <a:xfrm>
            <a:off x="373460" y="1228341"/>
            <a:ext cx="5596732" cy="5112000"/>
          </a:xfrm>
          <a:prstGeom prst="rect">
            <a:avLst/>
          </a:prstGeom>
          <a:no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noFill/>
            </a:endParaRPr>
          </a:p>
        </p:txBody>
      </p:sp>
      <p:sp>
        <p:nvSpPr>
          <p:cNvPr id="35" name="正方形/長方形 34">
            <a:extLst>
              <a:ext uri="{FF2B5EF4-FFF2-40B4-BE49-F238E27FC236}">
                <a16:creationId xmlns:a16="http://schemas.microsoft.com/office/drawing/2014/main" id="{18C49B66-815C-D02E-04E4-1EEF45A9F491}"/>
              </a:ext>
            </a:extLst>
          </p:cNvPr>
          <p:cNvSpPr/>
          <p:nvPr/>
        </p:nvSpPr>
        <p:spPr>
          <a:xfrm>
            <a:off x="6134708" y="1228341"/>
            <a:ext cx="5770069" cy="5112000"/>
          </a:xfrm>
          <a:prstGeom prst="rect">
            <a:avLst/>
          </a:prstGeom>
          <a:noFill/>
          <a:ln w="3175">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noFill/>
            </a:endParaRPr>
          </a:p>
        </p:txBody>
      </p:sp>
      <p:sp>
        <p:nvSpPr>
          <p:cNvPr id="11" name="四角形: 角を丸くする 10">
            <a:extLst>
              <a:ext uri="{FF2B5EF4-FFF2-40B4-BE49-F238E27FC236}">
                <a16:creationId xmlns:a16="http://schemas.microsoft.com/office/drawing/2014/main" id="{B6DDBDA7-CBAA-795E-24A9-CB8D51A2E997}"/>
              </a:ext>
            </a:extLst>
          </p:cNvPr>
          <p:cNvSpPr/>
          <p:nvPr/>
        </p:nvSpPr>
        <p:spPr>
          <a:xfrm>
            <a:off x="370800" y="1017513"/>
            <a:ext cx="5596732" cy="39600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ウォーターフォール開発</a:t>
            </a:r>
          </a:p>
        </p:txBody>
      </p:sp>
      <p:sp>
        <p:nvSpPr>
          <p:cNvPr id="13" name="四角形: 角を丸くする 12">
            <a:extLst>
              <a:ext uri="{FF2B5EF4-FFF2-40B4-BE49-F238E27FC236}">
                <a16:creationId xmlns:a16="http://schemas.microsoft.com/office/drawing/2014/main" id="{593DDA26-A344-7F6B-473C-AB5746FB82FE}"/>
              </a:ext>
            </a:extLst>
          </p:cNvPr>
          <p:cNvSpPr/>
          <p:nvPr/>
        </p:nvSpPr>
        <p:spPr>
          <a:xfrm>
            <a:off x="6134707" y="1017513"/>
            <a:ext cx="5770069" cy="39600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1" algn="ctr"/>
            <a:r>
              <a:rPr kumimoji="1" lang="ja-JP" altLang="en-US" sz="1400" dirty="0">
                <a:solidFill>
                  <a:schemeClr val="bg1"/>
                </a:solidFill>
              </a:rPr>
              <a:t>アジャイルソフトウェア開発</a:t>
            </a:r>
          </a:p>
        </p:txBody>
      </p:sp>
      <p:sp>
        <p:nvSpPr>
          <p:cNvPr id="38" name="テキスト ボックス 37">
            <a:extLst>
              <a:ext uri="{FF2B5EF4-FFF2-40B4-BE49-F238E27FC236}">
                <a16:creationId xmlns:a16="http://schemas.microsoft.com/office/drawing/2014/main" id="{53BD218D-4CD4-9317-B5A3-D210D1760BAD}"/>
              </a:ext>
            </a:extLst>
          </p:cNvPr>
          <p:cNvSpPr txBox="1"/>
          <p:nvPr/>
        </p:nvSpPr>
        <p:spPr>
          <a:xfrm>
            <a:off x="6392495" y="4208048"/>
            <a:ext cx="5426306" cy="585993"/>
          </a:xfrm>
          <a:prstGeom prst="rect">
            <a:avLst/>
          </a:prstGeom>
          <a:noFill/>
        </p:spPr>
        <p:txBody>
          <a:bodyPr wrap="square" lIns="0" rIns="0" rtlCol="0">
            <a:noAutofit/>
          </a:bodyPr>
          <a:lstStyle/>
          <a:p>
            <a:r>
              <a:rPr lang="ja-JP" altLang="en-US" sz="1400" dirty="0">
                <a:latin typeface="+mn-ea"/>
              </a:rPr>
              <a:t>　</a:t>
            </a:r>
            <a:r>
              <a:rPr lang="en-US" altLang="ja-JP" sz="1400" dirty="0">
                <a:latin typeface="+mn-ea"/>
              </a:rPr>
              <a:t>10</a:t>
            </a:r>
            <a:r>
              <a:rPr lang="ja-JP" altLang="en-US" sz="1400" dirty="0">
                <a:latin typeface="+mn-ea"/>
              </a:rPr>
              <a:t>人以下の小さなチーム（スクラム）を組んで、</a:t>
            </a:r>
            <a:endParaRPr lang="en-US" altLang="ja-JP" sz="1400" dirty="0">
              <a:latin typeface="+mn-ea"/>
            </a:endParaRPr>
          </a:p>
          <a:p>
            <a:r>
              <a:rPr lang="ja-JP" altLang="en-US" sz="1400" b="0" i="0" dirty="0">
                <a:effectLst/>
                <a:latin typeface="+mn-ea"/>
              </a:rPr>
              <a:t>　</a:t>
            </a:r>
            <a:r>
              <a:rPr lang="en-US" altLang="ja-JP" sz="1400" b="0" i="0" dirty="0">
                <a:effectLst/>
                <a:latin typeface="+mn-ea"/>
              </a:rPr>
              <a:t>1</a:t>
            </a:r>
            <a:r>
              <a:rPr lang="ja-JP" altLang="en-US" sz="1400" b="0" i="0" dirty="0">
                <a:effectLst/>
                <a:latin typeface="+mn-ea"/>
              </a:rPr>
              <a:t>か月以内の短い期間（スプリント）に区切って繰り返し開発を行う</a:t>
            </a:r>
            <a:endParaRPr kumimoji="1" lang="ja-JP" altLang="en-US" sz="1400" dirty="0">
              <a:latin typeface="+mn-ea"/>
            </a:endParaRPr>
          </a:p>
        </p:txBody>
      </p:sp>
      <p:grpSp>
        <p:nvGrpSpPr>
          <p:cNvPr id="42" name="グループ化 41">
            <a:extLst>
              <a:ext uri="{FF2B5EF4-FFF2-40B4-BE49-F238E27FC236}">
                <a16:creationId xmlns:a16="http://schemas.microsoft.com/office/drawing/2014/main" id="{2D3CBC45-E964-BA9F-91C3-12AAE303A9CA}"/>
              </a:ext>
            </a:extLst>
          </p:cNvPr>
          <p:cNvGrpSpPr/>
          <p:nvPr/>
        </p:nvGrpSpPr>
        <p:grpSpPr>
          <a:xfrm>
            <a:off x="7334455" y="4808210"/>
            <a:ext cx="3215303" cy="684574"/>
            <a:chOff x="6937988" y="4689741"/>
            <a:chExt cx="3215303" cy="684574"/>
          </a:xfrm>
        </p:grpSpPr>
        <p:sp>
          <p:nvSpPr>
            <p:cNvPr id="40" name="四角形: 角を丸くする 39">
              <a:extLst>
                <a:ext uri="{FF2B5EF4-FFF2-40B4-BE49-F238E27FC236}">
                  <a16:creationId xmlns:a16="http://schemas.microsoft.com/office/drawing/2014/main" id="{B868B33B-7174-F9D6-94A5-979584F58075}"/>
                </a:ext>
              </a:extLst>
            </p:cNvPr>
            <p:cNvSpPr/>
            <p:nvPr/>
          </p:nvSpPr>
          <p:spPr>
            <a:xfrm>
              <a:off x="6937988" y="4689742"/>
              <a:ext cx="3215303" cy="677837"/>
            </a:xfrm>
            <a:prstGeom prst="roundRect">
              <a:avLst/>
            </a:prstGeom>
            <a:solidFill>
              <a:schemeClr val="accent2">
                <a:lumMod val="10000"/>
                <a:lumOff val="9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37" name="グラフィックス 36" descr="ユーザー 単色塗りつぶし">
              <a:extLst>
                <a:ext uri="{FF2B5EF4-FFF2-40B4-BE49-F238E27FC236}">
                  <a16:creationId xmlns:a16="http://schemas.microsoft.com/office/drawing/2014/main" id="{6311A78E-4BFD-F412-3C64-5FBE5FE719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6015" y="4696479"/>
              <a:ext cx="677836" cy="677836"/>
            </a:xfrm>
            <a:prstGeom prst="rect">
              <a:avLst/>
            </a:prstGeom>
          </p:spPr>
        </p:pic>
        <p:sp>
          <p:nvSpPr>
            <p:cNvPr id="39" name="テキスト ボックス 38">
              <a:extLst>
                <a:ext uri="{FF2B5EF4-FFF2-40B4-BE49-F238E27FC236}">
                  <a16:creationId xmlns:a16="http://schemas.microsoft.com/office/drawing/2014/main" id="{32DE73D9-2EC1-9BEF-79DC-8DE4106FBE80}"/>
                </a:ext>
              </a:extLst>
            </p:cNvPr>
            <p:cNvSpPr txBox="1"/>
            <p:nvPr/>
          </p:nvSpPr>
          <p:spPr>
            <a:xfrm>
              <a:off x="8677571" y="4689741"/>
              <a:ext cx="1475720" cy="677839"/>
            </a:xfrm>
            <a:prstGeom prst="rect">
              <a:avLst/>
            </a:prstGeom>
            <a:noFill/>
          </p:spPr>
          <p:txBody>
            <a:bodyPr wrap="square" lIns="0" rIns="0" rtlCol="0" anchor="ctr">
              <a:noAutofit/>
            </a:bodyPr>
            <a:lstStyle/>
            <a:p>
              <a:r>
                <a:rPr lang="ja-JP" altLang="en-US" sz="1200" dirty="0">
                  <a:solidFill>
                    <a:schemeClr val="tx1"/>
                  </a:solidFill>
                  <a:latin typeface="+mn-ea"/>
                </a:rPr>
                <a:t>・スクラムマスター</a:t>
              </a:r>
              <a:endParaRPr lang="en-US" altLang="ja-JP" sz="1200" dirty="0">
                <a:solidFill>
                  <a:schemeClr val="tx1"/>
                </a:solidFill>
                <a:latin typeface="+mn-ea"/>
              </a:endParaRPr>
            </a:p>
            <a:p>
              <a:r>
                <a:rPr lang="ja-JP" altLang="en-US" sz="1200" dirty="0">
                  <a:latin typeface="+mn-ea"/>
                </a:rPr>
                <a:t>・プロダクトオーナー</a:t>
              </a:r>
              <a:endParaRPr lang="en-US" altLang="ja-JP" sz="1200" dirty="0">
                <a:solidFill>
                  <a:schemeClr val="tx1"/>
                </a:solidFill>
                <a:latin typeface="+mn-ea"/>
              </a:endParaRPr>
            </a:p>
            <a:p>
              <a:r>
                <a:rPr lang="ja-JP" altLang="en-US" sz="1200" dirty="0">
                  <a:solidFill>
                    <a:schemeClr val="tx1"/>
                  </a:solidFill>
                  <a:latin typeface="+mn-ea"/>
                </a:rPr>
                <a:t>・開発者</a:t>
              </a:r>
              <a:endParaRPr kumimoji="1" lang="ja-JP" altLang="en-US" sz="1200" dirty="0">
                <a:solidFill>
                  <a:schemeClr val="tx1"/>
                </a:solidFill>
                <a:latin typeface="+mn-ea"/>
              </a:endParaRPr>
            </a:p>
          </p:txBody>
        </p:sp>
        <p:sp>
          <p:nvSpPr>
            <p:cNvPr id="41" name="四角形: 角を丸くする 40">
              <a:extLst>
                <a:ext uri="{FF2B5EF4-FFF2-40B4-BE49-F238E27FC236}">
                  <a16:creationId xmlns:a16="http://schemas.microsoft.com/office/drawing/2014/main" id="{463DD112-F85F-A8AD-ED1D-A55765515466}"/>
                </a:ext>
              </a:extLst>
            </p:cNvPr>
            <p:cNvSpPr/>
            <p:nvPr/>
          </p:nvSpPr>
          <p:spPr>
            <a:xfrm>
              <a:off x="6938249" y="4689745"/>
              <a:ext cx="677033" cy="677835"/>
            </a:xfrm>
            <a:prstGeom prst="roundRect">
              <a:avLst/>
            </a:prstGeom>
            <a:solidFill>
              <a:schemeClr val="accent3">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スクラム</a:t>
              </a:r>
            </a:p>
          </p:txBody>
        </p:sp>
      </p:grpSp>
      <p:grpSp>
        <p:nvGrpSpPr>
          <p:cNvPr id="58" name="グループ化 57">
            <a:extLst>
              <a:ext uri="{FF2B5EF4-FFF2-40B4-BE49-F238E27FC236}">
                <a16:creationId xmlns:a16="http://schemas.microsoft.com/office/drawing/2014/main" id="{2F501B58-32A9-8F6C-DEA6-827949BD9C1A}"/>
              </a:ext>
            </a:extLst>
          </p:cNvPr>
          <p:cNvGrpSpPr/>
          <p:nvPr/>
        </p:nvGrpSpPr>
        <p:grpSpPr>
          <a:xfrm>
            <a:off x="6887243" y="5657499"/>
            <a:ext cx="4449588" cy="348724"/>
            <a:chOff x="6844113" y="5657499"/>
            <a:chExt cx="4449588" cy="348724"/>
          </a:xfrm>
        </p:grpSpPr>
        <p:cxnSp>
          <p:nvCxnSpPr>
            <p:cNvPr id="49" name="直線矢印コネクタ 48">
              <a:extLst>
                <a:ext uri="{FF2B5EF4-FFF2-40B4-BE49-F238E27FC236}">
                  <a16:creationId xmlns:a16="http://schemas.microsoft.com/office/drawing/2014/main" id="{D89F7D0A-A1A7-150C-7CFA-BD00C5F06FFA}"/>
                </a:ext>
              </a:extLst>
            </p:cNvPr>
            <p:cNvCxnSpPr/>
            <p:nvPr/>
          </p:nvCxnSpPr>
          <p:spPr>
            <a:xfrm>
              <a:off x="6844113" y="5831861"/>
              <a:ext cx="4032000"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0" name="四角形: 角を丸くする 49">
              <a:extLst>
                <a:ext uri="{FF2B5EF4-FFF2-40B4-BE49-F238E27FC236}">
                  <a16:creationId xmlns:a16="http://schemas.microsoft.com/office/drawing/2014/main" id="{149A33F8-64F7-BAF1-B9DD-90469D40B4F8}"/>
                </a:ext>
              </a:extLst>
            </p:cNvPr>
            <p:cNvSpPr/>
            <p:nvPr/>
          </p:nvSpPr>
          <p:spPr>
            <a:xfrm>
              <a:off x="7019716" y="5692003"/>
              <a:ext cx="905773" cy="288000"/>
            </a:xfrm>
            <a:prstGeom prst="roundRect">
              <a:avLst>
                <a:gd name="adj" fmla="val 50000"/>
              </a:avLst>
            </a:prstGeom>
            <a:solidFill>
              <a:schemeClr val="tx2">
                <a:lumMod val="40000"/>
                <a:lumOff val="6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rPr>
                <a:t>スプリント</a:t>
              </a:r>
            </a:p>
          </p:txBody>
        </p:sp>
        <p:sp>
          <p:nvSpPr>
            <p:cNvPr id="54" name="テキスト ボックス 53">
              <a:extLst>
                <a:ext uri="{FF2B5EF4-FFF2-40B4-BE49-F238E27FC236}">
                  <a16:creationId xmlns:a16="http://schemas.microsoft.com/office/drawing/2014/main" id="{3AB918DC-EBC4-71C4-93A8-A7CAD7839159}"/>
                </a:ext>
              </a:extLst>
            </p:cNvPr>
            <p:cNvSpPr txBox="1"/>
            <p:nvPr/>
          </p:nvSpPr>
          <p:spPr>
            <a:xfrm>
              <a:off x="10837765" y="5657499"/>
              <a:ext cx="455936" cy="348724"/>
            </a:xfrm>
            <a:prstGeom prst="rect">
              <a:avLst/>
            </a:prstGeom>
            <a:noFill/>
          </p:spPr>
          <p:txBody>
            <a:bodyPr wrap="square" lIns="0" rIns="0" rtlCol="0" anchor="ctr">
              <a:noAutofit/>
            </a:bodyPr>
            <a:lstStyle/>
            <a:p>
              <a:pPr algn="ctr" defTabSz="288000"/>
              <a:r>
                <a:rPr lang="ja-JP" altLang="en-US" sz="1050" dirty="0">
                  <a:latin typeface="+mn-ea"/>
                </a:rPr>
                <a:t>時間</a:t>
              </a:r>
              <a:endParaRPr kumimoji="1" lang="ja-JP" altLang="en-US" sz="1050" dirty="0">
                <a:latin typeface="+mn-ea"/>
              </a:endParaRPr>
            </a:p>
          </p:txBody>
        </p:sp>
        <p:sp>
          <p:nvSpPr>
            <p:cNvPr id="55" name="四角形: 角を丸くする 54">
              <a:extLst>
                <a:ext uri="{FF2B5EF4-FFF2-40B4-BE49-F238E27FC236}">
                  <a16:creationId xmlns:a16="http://schemas.microsoft.com/office/drawing/2014/main" id="{E59539E9-6FA6-8653-19F6-F96FA471FA68}"/>
                </a:ext>
              </a:extLst>
            </p:cNvPr>
            <p:cNvSpPr/>
            <p:nvPr/>
          </p:nvSpPr>
          <p:spPr>
            <a:xfrm>
              <a:off x="7925489" y="5687904"/>
              <a:ext cx="905773" cy="288000"/>
            </a:xfrm>
            <a:prstGeom prst="roundRect">
              <a:avLst>
                <a:gd name="adj" fmla="val 50000"/>
              </a:avLst>
            </a:prstGeom>
            <a:solidFill>
              <a:schemeClr val="tx2">
                <a:lumMod val="40000"/>
                <a:lumOff val="6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rPr>
                <a:t>スプリント</a:t>
              </a:r>
            </a:p>
          </p:txBody>
        </p:sp>
        <p:sp>
          <p:nvSpPr>
            <p:cNvPr id="56" name="四角形: 角を丸くする 55">
              <a:extLst>
                <a:ext uri="{FF2B5EF4-FFF2-40B4-BE49-F238E27FC236}">
                  <a16:creationId xmlns:a16="http://schemas.microsoft.com/office/drawing/2014/main" id="{2CA67626-2673-0EE0-D168-424D9E56B1BB}"/>
                </a:ext>
              </a:extLst>
            </p:cNvPr>
            <p:cNvSpPr/>
            <p:nvPr/>
          </p:nvSpPr>
          <p:spPr>
            <a:xfrm>
              <a:off x="8819865" y="5679704"/>
              <a:ext cx="905773" cy="288000"/>
            </a:xfrm>
            <a:prstGeom prst="roundRect">
              <a:avLst>
                <a:gd name="adj" fmla="val 50000"/>
              </a:avLst>
            </a:prstGeom>
            <a:solidFill>
              <a:schemeClr val="tx2">
                <a:lumMod val="40000"/>
                <a:lumOff val="6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rPr>
                <a:t>スプリント</a:t>
              </a:r>
            </a:p>
          </p:txBody>
        </p:sp>
        <p:sp>
          <p:nvSpPr>
            <p:cNvPr id="57" name="四角形: 角を丸くする 56">
              <a:extLst>
                <a:ext uri="{FF2B5EF4-FFF2-40B4-BE49-F238E27FC236}">
                  <a16:creationId xmlns:a16="http://schemas.microsoft.com/office/drawing/2014/main" id="{0C0A0656-0C27-A132-D956-EAB6AAD74F34}"/>
                </a:ext>
              </a:extLst>
            </p:cNvPr>
            <p:cNvSpPr/>
            <p:nvPr/>
          </p:nvSpPr>
          <p:spPr>
            <a:xfrm>
              <a:off x="9714241" y="5683804"/>
              <a:ext cx="905773" cy="288000"/>
            </a:xfrm>
            <a:prstGeom prst="roundRect">
              <a:avLst>
                <a:gd name="adj" fmla="val 50000"/>
              </a:avLst>
            </a:prstGeom>
            <a:solidFill>
              <a:schemeClr val="tx2">
                <a:lumMod val="40000"/>
                <a:lumOff val="6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rPr>
                <a:t>スプリント</a:t>
              </a:r>
            </a:p>
          </p:txBody>
        </p:sp>
      </p:grpSp>
      <p:sp>
        <p:nvSpPr>
          <p:cNvPr id="21" name="矢印: 環状 20">
            <a:extLst>
              <a:ext uri="{FF2B5EF4-FFF2-40B4-BE49-F238E27FC236}">
                <a16:creationId xmlns:a16="http://schemas.microsoft.com/office/drawing/2014/main" id="{1EB5D01C-B7B9-F2C5-D736-3BEF93F4299F}"/>
              </a:ext>
            </a:extLst>
          </p:cNvPr>
          <p:cNvSpPr/>
          <p:nvPr/>
        </p:nvSpPr>
        <p:spPr>
          <a:xfrm flipH="1" flipV="1">
            <a:off x="2124123" y="3608113"/>
            <a:ext cx="852005" cy="847283"/>
          </a:xfrm>
          <a:prstGeom prst="circularArrow">
            <a:avLst>
              <a:gd name="adj1" fmla="val 12500"/>
              <a:gd name="adj2" fmla="val 1142319"/>
              <a:gd name="adj3" fmla="val 20457681"/>
              <a:gd name="adj4" fmla="val 15880912"/>
              <a:gd name="adj5" fmla="val 15897"/>
            </a:avLst>
          </a:prstGeom>
          <a:solidFill>
            <a:schemeClr val="tx2">
              <a:lumMod val="40000"/>
              <a:lumOff val="6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2" name="十字形 21">
            <a:extLst>
              <a:ext uri="{FF2B5EF4-FFF2-40B4-BE49-F238E27FC236}">
                <a16:creationId xmlns:a16="http://schemas.microsoft.com/office/drawing/2014/main" id="{42B61DEF-4F50-AD9A-105B-2D895BBC953E}"/>
              </a:ext>
            </a:extLst>
          </p:cNvPr>
          <p:cNvSpPr/>
          <p:nvPr/>
        </p:nvSpPr>
        <p:spPr>
          <a:xfrm rot="2647068">
            <a:off x="2120128" y="4123460"/>
            <a:ext cx="396000" cy="396000"/>
          </a:xfrm>
          <a:prstGeom prst="plus">
            <a:avLst>
              <a:gd name="adj" fmla="val 43221"/>
            </a:avLst>
          </a:prstGeom>
          <a:solidFill>
            <a:schemeClr val="accent1">
              <a:lumMod val="50000"/>
              <a:lumOff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3" name="テキスト ボックス 22">
            <a:extLst>
              <a:ext uri="{FF2B5EF4-FFF2-40B4-BE49-F238E27FC236}">
                <a16:creationId xmlns:a16="http://schemas.microsoft.com/office/drawing/2014/main" id="{D66FD7BE-18DE-21B1-E2A2-403AE36D48CF}"/>
              </a:ext>
            </a:extLst>
          </p:cNvPr>
          <p:cNvSpPr txBox="1"/>
          <p:nvPr/>
        </p:nvSpPr>
        <p:spPr>
          <a:xfrm>
            <a:off x="1108315" y="4511197"/>
            <a:ext cx="1911452" cy="396000"/>
          </a:xfrm>
          <a:prstGeom prst="rect">
            <a:avLst/>
          </a:prstGeom>
          <a:noFill/>
        </p:spPr>
        <p:txBody>
          <a:bodyPr wrap="square" lIns="0" rIns="0" rtlCol="0">
            <a:noAutofit/>
          </a:bodyPr>
          <a:lstStyle/>
          <a:p>
            <a:r>
              <a:rPr lang="ja-JP" altLang="en-US" sz="1400" dirty="0">
                <a:solidFill>
                  <a:schemeClr val="accent1">
                    <a:lumMod val="50000"/>
                    <a:lumOff val="50000"/>
                  </a:schemeClr>
                </a:solidFill>
              </a:rPr>
              <a:t>前工程には戻らない</a:t>
            </a:r>
            <a:endParaRPr lang="en-US" altLang="ja-JP" sz="1400" dirty="0">
              <a:solidFill>
                <a:schemeClr val="accent1">
                  <a:lumMod val="50000"/>
                  <a:lumOff val="50000"/>
                </a:schemeClr>
              </a:solidFill>
            </a:endParaRPr>
          </a:p>
        </p:txBody>
      </p:sp>
      <p:sp>
        <p:nvSpPr>
          <p:cNvPr id="12" name="テキスト ボックス 11">
            <a:extLst>
              <a:ext uri="{FF2B5EF4-FFF2-40B4-BE49-F238E27FC236}">
                <a16:creationId xmlns:a16="http://schemas.microsoft.com/office/drawing/2014/main" id="{F011F91B-B7B7-3B51-AA28-D88439768EE2}"/>
              </a:ext>
            </a:extLst>
          </p:cNvPr>
          <p:cNvSpPr txBox="1"/>
          <p:nvPr/>
        </p:nvSpPr>
        <p:spPr>
          <a:xfrm>
            <a:off x="526399" y="2045229"/>
            <a:ext cx="5441133" cy="585993"/>
          </a:xfrm>
          <a:prstGeom prst="rect">
            <a:avLst/>
          </a:prstGeom>
          <a:noFill/>
        </p:spPr>
        <p:txBody>
          <a:bodyPr wrap="square" lIns="0" rIns="0" rtlCol="0">
            <a:noAutofit/>
          </a:bodyPr>
          <a:lstStyle/>
          <a:p>
            <a:r>
              <a:rPr lang="ja-JP" altLang="en-US" sz="1600" b="0" i="0" dirty="0">
                <a:solidFill>
                  <a:srgbClr val="000000"/>
                </a:solidFill>
                <a:effectLst/>
                <a:latin typeface="GilroyRegular"/>
              </a:rPr>
              <a:t>前工程に戻ることなく順に進んでいく様子が、</a:t>
            </a:r>
            <a:endParaRPr lang="en-US" altLang="ja-JP" sz="1600" b="0" i="0" dirty="0">
              <a:solidFill>
                <a:srgbClr val="000000"/>
              </a:solidFill>
              <a:effectLst/>
              <a:latin typeface="GilroyRegular"/>
            </a:endParaRPr>
          </a:p>
          <a:p>
            <a:r>
              <a:rPr lang="ja-JP" altLang="en-US" sz="1600" b="0" i="0" dirty="0">
                <a:solidFill>
                  <a:srgbClr val="000000"/>
                </a:solidFill>
                <a:effectLst/>
                <a:latin typeface="GilroyRegular"/>
              </a:rPr>
              <a:t>滝が高いところから低いところに流れていくことに似ているため、</a:t>
            </a:r>
            <a:endParaRPr lang="en-US" altLang="ja-JP" sz="1600" b="0" i="0" dirty="0">
              <a:solidFill>
                <a:srgbClr val="000000"/>
              </a:solidFill>
              <a:effectLst/>
              <a:latin typeface="GilroyRegular"/>
            </a:endParaRPr>
          </a:p>
          <a:p>
            <a:r>
              <a:rPr lang="ja-JP" altLang="en-US" sz="1600" dirty="0">
                <a:solidFill>
                  <a:srgbClr val="000000"/>
                </a:solidFill>
                <a:latin typeface="GilroyRegular"/>
              </a:rPr>
              <a:t>「ウォーターフォール開発」と呼ばれる</a:t>
            </a:r>
            <a:endParaRPr lang="en-US" altLang="ja-JP" sz="1600" b="0" i="0" dirty="0">
              <a:solidFill>
                <a:srgbClr val="000000"/>
              </a:solidFill>
              <a:effectLst/>
              <a:latin typeface="GilroyRegular"/>
            </a:endParaRPr>
          </a:p>
          <a:p>
            <a:endParaRPr kumimoji="1" lang="en-US" altLang="ja-JP" sz="1600" dirty="0">
              <a:solidFill>
                <a:srgbClr val="000000"/>
              </a:solidFill>
              <a:latin typeface="GilroyRegular"/>
            </a:endParaRPr>
          </a:p>
        </p:txBody>
      </p:sp>
    </p:spTree>
    <p:extLst>
      <p:ext uri="{BB962C8B-B14F-4D97-AF65-F5344CB8AC3E}">
        <p14:creationId xmlns:p14="http://schemas.microsoft.com/office/powerpoint/2010/main" val="952509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FD693-97B9-50AD-657A-DB6B1141CFD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467FF1B-4806-28F9-AAF8-48FE0A43CD98}"/>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737CD7F1-84DD-7102-6604-A266DFACEF94}"/>
              </a:ext>
            </a:extLst>
          </p:cNvPr>
          <p:cNvSpPr>
            <a:spLocks noGrp="1"/>
          </p:cNvSpPr>
          <p:nvPr>
            <p:ph type="title"/>
          </p:nvPr>
        </p:nvSpPr>
        <p:spPr/>
        <p:txBody>
          <a:bodyPr/>
          <a:lstStyle/>
          <a:p>
            <a:r>
              <a:rPr kumimoji="1" lang="ja-JP" altLang="en-US" dirty="0"/>
              <a:t>目次</a:t>
            </a:r>
          </a:p>
        </p:txBody>
      </p:sp>
      <p:sp>
        <p:nvSpPr>
          <p:cNvPr id="10" name="テキスト ボックス 9">
            <a:extLst>
              <a:ext uri="{FF2B5EF4-FFF2-40B4-BE49-F238E27FC236}">
                <a16:creationId xmlns:a16="http://schemas.microsoft.com/office/drawing/2014/main" id="{AFCAF82B-480C-53B3-6A07-924998EB81C2}"/>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1</a:t>
            </a:r>
            <a:endParaRPr kumimoji="1" lang="ja-JP" altLang="en-US" sz="3600" b="1" dirty="0">
              <a:solidFill>
                <a:schemeClr val="bg1"/>
              </a:solidFill>
              <a:latin typeface="+mn-ea"/>
            </a:endParaRPr>
          </a:p>
        </p:txBody>
      </p:sp>
      <p:sp>
        <p:nvSpPr>
          <p:cNvPr id="12" name="コンテンツ プレースホルダー 2">
            <a:extLst>
              <a:ext uri="{FF2B5EF4-FFF2-40B4-BE49-F238E27FC236}">
                <a16:creationId xmlns:a16="http://schemas.microsoft.com/office/drawing/2014/main" id="{D80933ED-9C17-9173-238B-EDA79BDEFA4D}"/>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システム開発プロセス</a:t>
            </a:r>
            <a:endParaRPr lang="en-US" altLang="ja-JP" sz="2800" b="1" dirty="0">
              <a:solidFill>
                <a:schemeClr val="tx1"/>
              </a:solidFill>
            </a:endParaRPr>
          </a:p>
        </p:txBody>
      </p:sp>
      <p:sp>
        <p:nvSpPr>
          <p:cNvPr id="4" name="テキスト ボックス 3">
            <a:extLst>
              <a:ext uri="{FF2B5EF4-FFF2-40B4-BE49-F238E27FC236}">
                <a16:creationId xmlns:a16="http://schemas.microsoft.com/office/drawing/2014/main" id="{301799F3-7383-5F14-1EC0-7B8EF5A7490C}"/>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dirty="0">
                <a:solidFill>
                  <a:schemeClr val="bg1">
                    <a:lumMod val="75000"/>
                  </a:schemeClr>
                </a:solidFill>
                <a:latin typeface="+mn-ea"/>
              </a:rPr>
              <a:t>1-1</a:t>
            </a:r>
            <a:endParaRPr kumimoji="1" lang="ja-JP" altLang="en-US" sz="2400" b="1" dirty="0">
              <a:solidFill>
                <a:schemeClr val="bg1">
                  <a:lumMod val="75000"/>
                </a:schemeClr>
              </a:solidFill>
              <a:latin typeface="+mn-ea"/>
            </a:endParaRPr>
          </a:p>
        </p:txBody>
      </p:sp>
      <p:sp>
        <p:nvSpPr>
          <p:cNvPr id="5" name="コンテンツ プレースホルダー 2">
            <a:extLst>
              <a:ext uri="{FF2B5EF4-FFF2-40B4-BE49-F238E27FC236}">
                <a16:creationId xmlns:a16="http://schemas.microsoft.com/office/drawing/2014/main" id="{2DD9BFB2-2F13-1ADF-AF2E-21A52967DA41}"/>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bg1">
                    <a:lumMod val="75000"/>
                  </a:schemeClr>
                </a:solidFill>
              </a:rPr>
              <a:t>システム開発におけるソフトウェア開発ライフサイクル</a:t>
            </a:r>
            <a:endParaRPr lang="en-US" altLang="ja-JP" sz="2000" b="1" dirty="0">
              <a:solidFill>
                <a:schemeClr val="bg1">
                  <a:lumMod val="75000"/>
                </a:schemeClr>
              </a:solidFill>
            </a:endParaRPr>
          </a:p>
        </p:txBody>
      </p:sp>
      <p:sp>
        <p:nvSpPr>
          <p:cNvPr id="21" name="テキスト ボックス 20">
            <a:extLst>
              <a:ext uri="{FF2B5EF4-FFF2-40B4-BE49-F238E27FC236}">
                <a16:creationId xmlns:a16="http://schemas.microsoft.com/office/drawing/2014/main" id="{2C31F48E-966A-3091-3FA1-82EABA9EF88D}"/>
              </a:ext>
            </a:extLst>
          </p:cNvPr>
          <p:cNvSpPr txBox="1"/>
          <p:nvPr/>
        </p:nvSpPr>
        <p:spPr>
          <a:xfrm>
            <a:off x="1581151" y="2521087"/>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1-2</a:t>
            </a:r>
            <a:endParaRPr kumimoji="1" lang="ja-JP" altLang="en-US" sz="2400" b="1" dirty="0">
              <a:solidFill>
                <a:schemeClr val="accent2"/>
              </a:solidFill>
              <a:latin typeface="+mn-ea"/>
            </a:endParaRPr>
          </a:p>
        </p:txBody>
      </p:sp>
      <p:sp>
        <p:nvSpPr>
          <p:cNvPr id="22" name="コンテンツ プレースホルダー 2">
            <a:extLst>
              <a:ext uri="{FF2B5EF4-FFF2-40B4-BE49-F238E27FC236}">
                <a16:creationId xmlns:a16="http://schemas.microsoft.com/office/drawing/2014/main" id="{BA022CE8-9252-3DDC-4009-816F86155C99}"/>
              </a:ext>
            </a:extLst>
          </p:cNvPr>
          <p:cNvSpPr txBox="1">
            <a:spLocks/>
          </p:cNvSpPr>
          <p:nvPr/>
        </p:nvSpPr>
        <p:spPr>
          <a:xfrm>
            <a:off x="2607573" y="2468261"/>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TERASOLUNA</a:t>
            </a:r>
            <a:r>
              <a:rPr lang="ja-JP" altLang="en-US" sz="2000" b="1" dirty="0">
                <a:solidFill>
                  <a:schemeClr val="tx1"/>
                </a:solidFill>
              </a:rPr>
              <a:t>とは</a:t>
            </a:r>
            <a:endParaRPr lang="en-US" altLang="ja-JP" sz="2000" b="1" dirty="0">
              <a:solidFill>
                <a:schemeClr val="tx1"/>
              </a:solidFill>
            </a:endParaRPr>
          </a:p>
        </p:txBody>
      </p:sp>
      <p:sp>
        <p:nvSpPr>
          <p:cNvPr id="3" name="テキスト ボックス 2">
            <a:extLst>
              <a:ext uri="{FF2B5EF4-FFF2-40B4-BE49-F238E27FC236}">
                <a16:creationId xmlns:a16="http://schemas.microsoft.com/office/drawing/2014/main" id="{D31183C5-9F8A-8B2B-A03B-CB75736B1D06}"/>
              </a:ext>
            </a:extLst>
          </p:cNvPr>
          <p:cNvSpPr txBox="1"/>
          <p:nvPr/>
        </p:nvSpPr>
        <p:spPr>
          <a:xfrm>
            <a:off x="1581151" y="3003155"/>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1-3</a:t>
            </a:r>
            <a:endParaRPr kumimoji="1" lang="ja-JP" altLang="en-US" sz="2400" b="1" dirty="0">
              <a:solidFill>
                <a:schemeClr val="accent2"/>
              </a:solidFill>
              <a:latin typeface="+mn-ea"/>
            </a:endParaRPr>
          </a:p>
        </p:txBody>
      </p:sp>
      <p:sp>
        <p:nvSpPr>
          <p:cNvPr id="6" name="コンテンツ プレースホルダー 2">
            <a:extLst>
              <a:ext uri="{FF2B5EF4-FFF2-40B4-BE49-F238E27FC236}">
                <a16:creationId xmlns:a16="http://schemas.microsoft.com/office/drawing/2014/main" id="{B8B209A0-DA3F-C529-F58C-26E1EA772C61}"/>
              </a:ext>
            </a:extLst>
          </p:cNvPr>
          <p:cNvSpPr txBox="1">
            <a:spLocks/>
          </p:cNvSpPr>
          <p:nvPr/>
        </p:nvSpPr>
        <p:spPr>
          <a:xfrm>
            <a:off x="2607573" y="2950329"/>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V</a:t>
            </a:r>
            <a:r>
              <a:rPr lang="ja-JP" altLang="en-US" sz="2000" b="1" dirty="0">
                <a:solidFill>
                  <a:schemeClr val="tx1"/>
                </a:solidFill>
              </a:rPr>
              <a:t>字モデルとは</a:t>
            </a:r>
            <a:endParaRPr lang="en-US" altLang="ja-JP" sz="2000" b="1" dirty="0">
              <a:solidFill>
                <a:schemeClr val="tx1"/>
              </a:solidFill>
            </a:endParaRPr>
          </a:p>
        </p:txBody>
      </p:sp>
      <p:sp>
        <p:nvSpPr>
          <p:cNvPr id="15" name="コンテンツ プレースホルダー 2">
            <a:extLst>
              <a:ext uri="{FF2B5EF4-FFF2-40B4-BE49-F238E27FC236}">
                <a16:creationId xmlns:a16="http://schemas.microsoft.com/office/drawing/2014/main" id="{5F898628-BD88-4CE4-0494-8137FD1CDF99}"/>
              </a:ext>
            </a:extLst>
          </p:cNvPr>
          <p:cNvSpPr txBox="1">
            <a:spLocks/>
          </p:cNvSpPr>
          <p:nvPr/>
        </p:nvSpPr>
        <p:spPr>
          <a:xfrm>
            <a:off x="2977687" y="3516116"/>
            <a:ext cx="5660572" cy="2973583"/>
          </a:xfrm>
          <a:prstGeom prst="rect">
            <a:avLst/>
          </a:prstGeom>
        </p:spPr>
        <p:txBody>
          <a:bodyPr vert="horz" lIns="0" tIns="0" rIns="0" bIns="0" rtlCol="0" anchor="t">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要求定義</a:t>
            </a:r>
            <a:endParaRPr lang="en-US" altLang="ja-JP" sz="2000" b="1" dirty="0">
              <a:solidFill>
                <a:schemeClr val="tx1"/>
              </a:solidFill>
            </a:endParaRPr>
          </a:p>
          <a:p>
            <a:r>
              <a:rPr lang="ja-JP" altLang="en-US" sz="2000" b="1" dirty="0">
                <a:solidFill>
                  <a:schemeClr val="tx1"/>
                </a:solidFill>
              </a:rPr>
              <a:t>要求分析</a:t>
            </a:r>
            <a:endParaRPr lang="en-US" altLang="ja-JP" sz="2000" b="1" dirty="0">
              <a:solidFill>
                <a:schemeClr val="tx1"/>
              </a:solidFill>
            </a:endParaRPr>
          </a:p>
          <a:p>
            <a:r>
              <a:rPr lang="ja-JP" altLang="en-US" sz="2000" b="1" dirty="0">
                <a:solidFill>
                  <a:schemeClr val="tx1"/>
                </a:solidFill>
              </a:rPr>
              <a:t>アーキテクチャ設計</a:t>
            </a:r>
            <a:endParaRPr lang="en-US" altLang="ja-JP" sz="2000" b="1" dirty="0">
              <a:solidFill>
                <a:schemeClr val="tx1"/>
              </a:solidFill>
            </a:endParaRPr>
          </a:p>
          <a:p>
            <a:r>
              <a:rPr lang="ja-JP" altLang="en-US" sz="2000" b="1" dirty="0">
                <a:solidFill>
                  <a:schemeClr val="tx1"/>
                </a:solidFill>
              </a:rPr>
              <a:t>詳細設計</a:t>
            </a:r>
            <a:endParaRPr lang="en-US" altLang="ja-JP" sz="2000" b="1" dirty="0">
              <a:solidFill>
                <a:schemeClr val="tx1"/>
              </a:solidFill>
            </a:endParaRPr>
          </a:p>
          <a:p>
            <a:r>
              <a:rPr lang="ja-JP" altLang="en-US" sz="2000" b="1" dirty="0">
                <a:solidFill>
                  <a:schemeClr val="tx1"/>
                </a:solidFill>
              </a:rPr>
              <a:t>製造</a:t>
            </a:r>
            <a:r>
              <a:rPr lang="en-US" altLang="ja-JP" sz="2000" b="1" dirty="0">
                <a:solidFill>
                  <a:schemeClr val="tx1"/>
                </a:solidFill>
              </a:rPr>
              <a:t> / </a:t>
            </a:r>
            <a:r>
              <a:rPr lang="ja-JP" altLang="en-US" sz="2000" b="1" dirty="0">
                <a:solidFill>
                  <a:schemeClr val="tx1"/>
                </a:solidFill>
              </a:rPr>
              <a:t>単体テスト</a:t>
            </a:r>
            <a:endParaRPr lang="en-US" altLang="ja-JP" sz="2000" b="1" dirty="0">
              <a:solidFill>
                <a:schemeClr val="tx1"/>
              </a:solidFill>
            </a:endParaRPr>
          </a:p>
          <a:p>
            <a:r>
              <a:rPr lang="ja-JP" altLang="en-US" sz="2000" b="1" dirty="0">
                <a:solidFill>
                  <a:schemeClr val="tx1"/>
                </a:solidFill>
              </a:rPr>
              <a:t>結合テスト</a:t>
            </a:r>
            <a:endParaRPr lang="en-US" altLang="ja-JP" sz="2000" b="1" dirty="0">
              <a:solidFill>
                <a:schemeClr val="tx1"/>
              </a:solidFill>
            </a:endParaRPr>
          </a:p>
          <a:p>
            <a:r>
              <a:rPr lang="ja-JP" altLang="en-US" sz="2000" b="1" dirty="0">
                <a:solidFill>
                  <a:schemeClr val="tx1"/>
                </a:solidFill>
              </a:rPr>
              <a:t>システムテスト</a:t>
            </a:r>
            <a:endParaRPr lang="en-US" altLang="ja-JP" sz="2000" b="1" dirty="0">
              <a:solidFill>
                <a:schemeClr val="tx1"/>
              </a:solidFill>
            </a:endParaRPr>
          </a:p>
          <a:p>
            <a:r>
              <a:rPr lang="ja-JP" altLang="en-US" sz="2000" b="1" dirty="0">
                <a:solidFill>
                  <a:schemeClr val="tx1"/>
                </a:solidFill>
              </a:rPr>
              <a:t>受入テスト</a:t>
            </a:r>
            <a:endParaRPr lang="en-US" altLang="ja-JP" sz="2000" b="1" dirty="0">
              <a:solidFill>
                <a:schemeClr val="tx1"/>
              </a:solidFill>
            </a:endParaRPr>
          </a:p>
        </p:txBody>
      </p:sp>
      <p:sp>
        <p:nvSpPr>
          <p:cNvPr id="7" name="正方形/長方形 6">
            <a:extLst>
              <a:ext uri="{FF2B5EF4-FFF2-40B4-BE49-F238E27FC236}">
                <a16:creationId xmlns:a16="http://schemas.microsoft.com/office/drawing/2014/main" id="{2DEE569B-D753-5A8F-5D97-51AA80F5273C}"/>
              </a:ext>
            </a:extLst>
          </p:cNvPr>
          <p:cNvSpPr/>
          <p:nvPr/>
        </p:nvSpPr>
        <p:spPr>
          <a:xfrm flipV="1">
            <a:off x="1546834" y="2513515"/>
            <a:ext cx="8256669" cy="439512"/>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8" name="グラフィックス 7" descr="バッジ: チェックマーク 1 単色塗りつぶし">
            <a:extLst>
              <a:ext uri="{FF2B5EF4-FFF2-40B4-BE49-F238E27FC236}">
                <a16:creationId xmlns:a16="http://schemas.microsoft.com/office/drawing/2014/main" id="{0B685265-7D3A-79DB-AD90-BEC02E7B21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30978" y="2057036"/>
            <a:ext cx="468000" cy="468000"/>
          </a:xfrm>
          <a:prstGeom prst="rect">
            <a:avLst/>
          </a:prstGeom>
        </p:spPr>
      </p:pic>
    </p:spTree>
    <p:extLst>
      <p:ext uri="{BB962C8B-B14F-4D97-AF65-F5344CB8AC3E}">
        <p14:creationId xmlns:p14="http://schemas.microsoft.com/office/powerpoint/2010/main" val="480043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9EBF3B-CBDE-43DC-51BD-DCBF55AAE97C}"/>
              </a:ext>
            </a:extLst>
          </p:cNvPr>
          <p:cNvSpPr>
            <a:spLocks noGrp="1"/>
          </p:cNvSpPr>
          <p:nvPr>
            <p:ph type="title"/>
          </p:nvPr>
        </p:nvSpPr>
        <p:spPr/>
        <p:txBody>
          <a:bodyPr anchor="ctr"/>
          <a:lstStyle/>
          <a:p>
            <a:r>
              <a:rPr lang="en-US" altLang="ja-JP" dirty="0"/>
              <a:t>TERASOLUNA </a:t>
            </a:r>
            <a:r>
              <a:rPr lang="ja-JP" altLang="en-US" dirty="0"/>
              <a:t>開発手順</a:t>
            </a:r>
            <a:endParaRPr kumimoji="1" lang="ja-JP" altLang="en-US" dirty="0"/>
          </a:p>
        </p:txBody>
      </p:sp>
      <p:sp>
        <p:nvSpPr>
          <p:cNvPr id="4" name="四角形: 角を丸くする 3">
            <a:extLst>
              <a:ext uri="{FF2B5EF4-FFF2-40B4-BE49-F238E27FC236}">
                <a16:creationId xmlns:a16="http://schemas.microsoft.com/office/drawing/2014/main" id="{3540B571-050E-EB62-D0E7-D25D79CDF54E}"/>
              </a:ext>
            </a:extLst>
          </p:cNvPr>
          <p:cNvSpPr/>
          <p:nvPr/>
        </p:nvSpPr>
        <p:spPr>
          <a:xfrm>
            <a:off x="371475" y="2058855"/>
            <a:ext cx="11128076" cy="3893371"/>
          </a:xfrm>
          <a:prstGeom prst="roundRect">
            <a:avLst>
              <a:gd name="adj" fmla="val 8922"/>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 name="コンテンツ プレースホルダー 2">
            <a:extLst>
              <a:ext uri="{FF2B5EF4-FFF2-40B4-BE49-F238E27FC236}">
                <a16:creationId xmlns:a16="http://schemas.microsoft.com/office/drawing/2014/main" id="{E4E3DA68-240F-4D8A-DE76-E12A07572A61}"/>
              </a:ext>
            </a:extLst>
          </p:cNvPr>
          <p:cNvSpPr txBox="1">
            <a:spLocks/>
          </p:cNvSpPr>
          <p:nvPr/>
        </p:nvSpPr>
        <p:spPr>
          <a:xfrm>
            <a:off x="372000" y="1038386"/>
            <a:ext cx="11448000" cy="8262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dirty="0"/>
              <a:t>当社が提供するオープン系システム開発のための総合ソリューション</a:t>
            </a:r>
            <a:r>
              <a:rPr lang="ja-JP" altLang="en-US" sz="2400" b="1" dirty="0"/>
              <a:t>「</a:t>
            </a:r>
            <a:r>
              <a:rPr lang="en-US" altLang="ja-JP" sz="2400" b="1" dirty="0"/>
              <a:t>TERASOLUNA</a:t>
            </a:r>
            <a:r>
              <a:rPr lang="ja-JP" altLang="en-US" sz="2400" b="1" dirty="0"/>
              <a:t>」</a:t>
            </a:r>
            <a:r>
              <a:rPr lang="ja-JP" altLang="en-US" dirty="0"/>
              <a:t>の１つ。</a:t>
            </a:r>
            <a:endParaRPr lang="en-US" altLang="ja-JP" dirty="0"/>
          </a:p>
          <a:p>
            <a:r>
              <a:rPr lang="ja-JP" altLang="en-US" dirty="0"/>
              <a:t>要求定義フェーズから受入テストフェーズまでを対象とした開発手順で、品質確保のために</a:t>
            </a:r>
            <a:r>
              <a:rPr lang="en-US" altLang="ja-JP" sz="2400" b="1" dirty="0"/>
              <a:t>V</a:t>
            </a:r>
            <a:r>
              <a:rPr lang="ja-JP" altLang="en-US" sz="2400" b="1" dirty="0"/>
              <a:t>字モデル</a:t>
            </a:r>
            <a:r>
              <a:rPr lang="ja-JP" altLang="en-US" dirty="0"/>
              <a:t>を採用している。</a:t>
            </a:r>
          </a:p>
        </p:txBody>
      </p:sp>
      <p:grpSp>
        <p:nvGrpSpPr>
          <p:cNvPr id="6" name="グループ化 5">
            <a:extLst>
              <a:ext uri="{FF2B5EF4-FFF2-40B4-BE49-F238E27FC236}">
                <a16:creationId xmlns:a16="http://schemas.microsoft.com/office/drawing/2014/main" id="{3EAAE7DF-AC68-62CF-628A-AA5C50424201}"/>
              </a:ext>
            </a:extLst>
          </p:cNvPr>
          <p:cNvGrpSpPr/>
          <p:nvPr/>
        </p:nvGrpSpPr>
        <p:grpSpPr>
          <a:xfrm>
            <a:off x="1086537" y="2756795"/>
            <a:ext cx="10194212" cy="3397153"/>
            <a:chOff x="2495660" y="2548687"/>
            <a:chExt cx="10194212" cy="3397153"/>
          </a:xfrm>
        </p:grpSpPr>
        <p:pic>
          <p:nvPicPr>
            <p:cNvPr id="7" name="図 6" descr="ダイアグラム&#10;&#10;AI によって生成されたコンテンツは間違っている可能性があります。">
              <a:extLst>
                <a:ext uri="{FF2B5EF4-FFF2-40B4-BE49-F238E27FC236}">
                  <a16:creationId xmlns:a16="http://schemas.microsoft.com/office/drawing/2014/main" id="{48FABC72-3903-BD37-5BB9-DDC52A6A6BE3}"/>
                </a:ext>
              </a:extLst>
            </p:cNvPr>
            <p:cNvPicPr>
              <a:picLocks noChangeAspect="1"/>
            </p:cNvPicPr>
            <p:nvPr/>
          </p:nvPicPr>
          <p:blipFill>
            <a:blip r:embed="rId2"/>
            <a:srcRect l="982" r="982"/>
            <a:stretch/>
          </p:blipFill>
          <p:spPr>
            <a:xfrm>
              <a:off x="2495660" y="2548687"/>
              <a:ext cx="5739365" cy="2248801"/>
            </a:xfrm>
            <a:prstGeom prst="rect">
              <a:avLst/>
            </a:prstGeom>
          </p:spPr>
        </p:pic>
        <p:sp>
          <p:nvSpPr>
            <p:cNvPr id="8" name="コンテンツ プレースホルダー 2">
              <a:extLst>
                <a:ext uri="{FF2B5EF4-FFF2-40B4-BE49-F238E27FC236}">
                  <a16:creationId xmlns:a16="http://schemas.microsoft.com/office/drawing/2014/main" id="{5D9814B2-C4EB-6EE4-CC6A-721071B5D98A}"/>
                </a:ext>
              </a:extLst>
            </p:cNvPr>
            <p:cNvSpPr txBox="1">
              <a:spLocks/>
            </p:cNvSpPr>
            <p:nvPr/>
          </p:nvSpPr>
          <p:spPr>
            <a:xfrm>
              <a:off x="8936739" y="5738003"/>
              <a:ext cx="3753133" cy="207837"/>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pPr algn="r"/>
              <a:r>
                <a:rPr lang="ja-JP" altLang="en-US" sz="1200" dirty="0"/>
                <a:t>引用：</a:t>
              </a:r>
              <a:r>
                <a:rPr lang="en-US" altLang="ja-JP" sz="1200" dirty="0">
                  <a:hlinkClick r:id="rId3"/>
                </a:rPr>
                <a:t>TERASOLUNA FAÇADE TERASOLUNA</a:t>
              </a:r>
              <a:r>
                <a:rPr lang="ja-JP" altLang="en-US" sz="1200" dirty="0">
                  <a:hlinkClick r:id="rId3"/>
                </a:rPr>
                <a:t>について</a:t>
              </a:r>
              <a:endParaRPr lang="ja-JP" altLang="en-US" sz="1200" dirty="0"/>
            </a:p>
          </p:txBody>
        </p:sp>
      </p:grpSp>
      <p:sp>
        <p:nvSpPr>
          <p:cNvPr id="9" name="四角形: 角を丸くする 8">
            <a:extLst>
              <a:ext uri="{FF2B5EF4-FFF2-40B4-BE49-F238E27FC236}">
                <a16:creationId xmlns:a16="http://schemas.microsoft.com/office/drawing/2014/main" id="{113F4B5A-6D06-FA9C-6631-2C2C146D16E7}"/>
              </a:ext>
            </a:extLst>
          </p:cNvPr>
          <p:cNvSpPr/>
          <p:nvPr/>
        </p:nvSpPr>
        <p:spPr>
          <a:xfrm>
            <a:off x="2003294" y="5054850"/>
            <a:ext cx="2991990" cy="786271"/>
          </a:xfrm>
          <a:prstGeom prst="round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前半の講義で紹介された</a:t>
            </a:r>
            <a:endParaRPr lang="en-US" altLang="ja-JP" sz="1400" dirty="0">
              <a:solidFill>
                <a:schemeClr val="tx1"/>
              </a:solidFill>
            </a:endParaRPr>
          </a:p>
          <a:p>
            <a:pPr algn="ctr"/>
            <a:r>
              <a:rPr lang="en-US" altLang="ja-JP" sz="1400" dirty="0">
                <a:solidFill>
                  <a:schemeClr val="tx1"/>
                </a:solidFill>
              </a:rPr>
              <a:t>TERASOLUNA</a:t>
            </a:r>
            <a:r>
              <a:rPr lang="ja-JP" altLang="en-US" sz="1400" dirty="0">
                <a:solidFill>
                  <a:schemeClr val="tx1"/>
                </a:solidFill>
              </a:rPr>
              <a:t>フレームワークはここ</a:t>
            </a:r>
            <a:endParaRPr kumimoji="1" lang="ja-JP" altLang="en-US" sz="1400" dirty="0">
              <a:solidFill>
                <a:schemeClr val="tx1"/>
              </a:solidFill>
            </a:endParaRPr>
          </a:p>
        </p:txBody>
      </p:sp>
      <p:sp>
        <p:nvSpPr>
          <p:cNvPr id="10" name="正方形/長方形 9">
            <a:extLst>
              <a:ext uri="{FF2B5EF4-FFF2-40B4-BE49-F238E27FC236}">
                <a16:creationId xmlns:a16="http://schemas.microsoft.com/office/drawing/2014/main" id="{C9AB5B2E-74E4-2923-986F-7D0AF76E047D}"/>
              </a:ext>
            </a:extLst>
          </p:cNvPr>
          <p:cNvSpPr/>
          <p:nvPr/>
        </p:nvSpPr>
        <p:spPr>
          <a:xfrm>
            <a:off x="623785" y="2240502"/>
            <a:ext cx="2770606" cy="57888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本資料で紹介する</a:t>
            </a:r>
            <a:r>
              <a:rPr lang="ja-JP" altLang="en-US" sz="1600" b="1" u="sng" dirty="0">
                <a:solidFill>
                  <a:schemeClr val="tx1"/>
                </a:solidFill>
              </a:rPr>
              <a:t>開発手順</a:t>
            </a:r>
            <a:r>
              <a:rPr lang="ja-JP" altLang="en-US" sz="1400" dirty="0">
                <a:solidFill>
                  <a:schemeClr val="tx1"/>
                </a:solidFill>
              </a:rPr>
              <a:t>はここ</a:t>
            </a:r>
            <a:endParaRPr kumimoji="1" lang="ja-JP" altLang="en-US" sz="1400" dirty="0">
              <a:solidFill>
                <a:schemeClr val="tx1"/>
              </a:solidFill>
            </a:endParaRPr>
          </a:p>
        </p:txBody>
      </p:sp>
      <p:grpSp>
        <p:nvGrpSpPr>
          <p:cNvPr id="11" name="グループ化 10">
            <a:extLst>
              <a:ext uri="{FF2B5EF4-FFF2-40B4-BE49-F238E27FC236}">
                <a16:creationId xmlns:a16="http://schemas.microsoft.com/office/drawing/2014/main" id="{803D05C3-E5FE-B54F-7056-DCB47213A125}"/>
              </a:ext>
            </a:extLst>
          </p:cNvPr>
          <p:cNvGrpSpPr/>
          <p:nvPr/>
        </p:nvGrpSpPr>
        <p:grpSpPr>
          <a:xfrm>
            <a:off x="6637926" y="3736099"/>
            <a:ext cx="4526048" cy="1999173"/>
            <a:chOff x="6686249" y="3996412"/>
            <a:chExt cx="4526048" cy="1999173"/>
          </a:xfrm>
        </p:grpSpPr>
        <p:pic>
          <p:nvPicPr>
            <p:cNvPr id="12" name="図 11" descr="カレンダー が含まれている画像&#10;&#10;AI によって生成されたコンテンツは間違っている可能性があります。">
              <a:extLst>
                <a:ext uri="{FF2B5EF4-FFF2-40B4-BE49-F238E27FC236}">
                  <a16:creationId xmlns:a16="http://schemas.microsoft.com/office/drawing/2014/main" id="{6272BC26-4901-C985-771B-CF64ADAA2448}"/>
                </a:ext>
              </a:extLst>
            </p:cNvPr>
            <p:cNvPicPr>
              <a:picLocks noChangeAspect="1"/>
            </p:cNvPicPr>
            <p:nvPr/>
          </p:nvPicPr>
          <p:blipFill>
            <a:blip r:embed="rId4"/>
            <a:stretch>
              <a:fillRect/>
            </a:stretch>
          </p:blipFill>
          <p:spPr>
            <a:xfrm>
              <a:off x="7336977" y="3996412"/>
              <a:ext cx="3875320" cy="1999173"/>
            </a:xfrm>
            <a:prstGeom prst="rect">
              <a:avLst/>
            </a:prstGeom>
            <a:ln>
              <a:noFill/>
            </a:ln>
          </p:spPr>
        </p:pic>
        <p:cxnSp>
          <p:nvCxnSpPr>
            <p:cNvPr id="13" name="直線コネクタ 12">
              <a:extLst>
                <a:ext uri="{FF2B5EF4-FFF2-40B4-BE49-F238E27FC236}">
                  <a16:creationId xmlns:a16="http://schemas.microsoft.com/office/drawing/2014/main" id="{EDF342C5-C5B9-90C4-2F7A-96E008B9C7F6}"/>
                </a:ext>
              </a:extLst>
            </p:cNvPr>
            <p:cNvCxnSpPr>
              <a:cxnSpLocks/>
              <a:endCxn id="12" idx="1"/>
            </p:cNvCxnSpPr>
            <p:nvPr/>
          </p:nvCxnSpPr>
          <p:spPr>
            <a:xfrm>
              <a:off x="6686249" y="4877367"/>
              <a:ext cx="650728" cy="118632"/>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14" name="正方形/長方形 13">
            <a:extLst>
              <a:ext uri="{FF2B5EF4-FFF2-40B4-BE49-F238E27FC236}">
                <a16:creationId xmlns:a16="http://schemas.microsoft.com/office/drawing/2014/main" id="{2698FA40-FACE-C447-DEA5-5DB194D93179}"/>
              </a:ext>
            </a:extLst>
          </p:cNvPr>
          <p:cNvSpPr/>
          <p:nvPr/>
        </p:nvSpPr>
        <p:spPr>
          <a:xfrm>
            <a:off x="925781" y="2725838"/>
            <a:ext cx="2141840" cy="1081821"/>
          </a:xfrm>
          <a:prstGeom prst="rect">
            <a:avLst/>
          </a:prstGeom>
          <a:noFill/>
          <a:ln w="28575">
            <a:solidFill>
              <a:schemeClr val="tx1"/>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15" name="直線矢印コネクタ 14">
            <a:extLst>
              <a:ext uri="{FF2B5EF4-FFF2-40B4-BE49-F238E27FC236}">
                <a16:creationId xmlns:a16="http://schemas.microsoft.com/office/drawing/2014/main" id="{8FC77DBF-D9A8-BBAA-3FF1-CD6E528B6EF6}"/>
              </a:ext>
            </a:extLst>
          </p:cNvPr>
          <p:cNvCxnSpPr>
            <a:cxnSpLocks/>
          </p:cNvCxnSpPr>
          <p:nvPr/>
        </p:nvCxnSpPr>
        <p:spPr>
          <a:xfrm flipH="1" flipV="1">
            <a:off x="2255703" y="4942002"/>
            <a:ext cx="115084" cy="257856"/>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0812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1EDAF-9ABD-6D96-C40E-33B872AB12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E0DCF0-A040-B878-0E7D-80C46E48AC5B}"/>
              </a:ext>
            </a:extLst>
          </p:cNvPr>
          <p:cNvSpPr>
            <a:spLocks noGrp="1"/>
          </p:cNvSpPr>
          <p:nvPr>
            <p:ph type="title"/>
          </p:nvPr>
        </p:nvSpPr>
        <p:spPr/>
        <p:txBody>
          <a:bodyPr anchor="ctr"/>
          <a:lstStyle/>
          <a:p>
            <a:r>
              <a:rPr lang="ja-JP" altLang="en-US" dirty="0"/>
              <a:t>プロジェクトごとのテーラリング</a:t>
            </a:r>
            <a:endParaRPr kumimoji="1" lang="ja-JP" altLang="en-US" dirty="0"/>
          </a:p>
        </p:txBody>
      </p:sp>
      <p:sp>
        <p:nvSpPr>
          <p:cNvPr id="5" name="コンテンツ プレースホルダー 2">
            <a:extLst>
              <a:ext uri="{FF2B5EF4-FFF2-40B4-BE49-F238E27FC236}">
                <a16:creationId xmlns:a16="http://schemas.microsoft.com/office/drawing/2014/main" id="{064C4748-FCE7-FE69-1CBF-F984735E761F}"/>
              </a:ext>
            </a:extLst>
          </p:cNvPr>
          <p:cNvSpPr txBox="1">
            <a:spLocks/>
          </p:cNvSpPr>
          <p:nvPr/>
        </p:nvSpPr>
        <p:spPr>
          <a:xfrm>
            <a:off x="372000" y="1038386"/>
            <a:ext cx="11448000" cy="8262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dirty="0"/>
              <a:t>前述のとおり、当社では</a:t>
            </a:r>
            <a:r>
              <a:rPr lang="ja-JP" altLang="en-US" b="1" dirty="0"/>
              <a:t>「</a:t>
            </a:r>
            <a:r>
              <a:rPr lang="en-US" altLang="ja-JP" b="1" dirty="0"/>
              <a:t>TERASOLUNA</a:t>
            </a:r>
            <a:r>
              <a:rPr lang="ja-JP" altLang="en-US" b="1" dirty="0"/>
              <a:t>」</a:t>
            </a:r>
            <a:r>
              <a:rPr lang="ja-JP" altLang="en-US" dirty="0"/>
              <a:t>にて開発手順、環境、成果物などを定めてはいるが、特定の条件を要するプロジェクトに無理やり当てはめると、プロジェクト進行を阻害してしまう恐れがある。</a:t>
            </a:r>
            <a:endParaRPr lang="en-US" altLang="ja-JP" dirty="0"/>
          </a:p>
          <a:p>
            <a:r>
              <a:rPr lang="ja-JP" altLang="en-US" dirty="0"/>
              <a:t>そこで、プロジェクト特性に合わせたカスタマイズ＝</a:t>
            </a:r>
            <a:r>
              <a:rPr lang="ja-JP" altLang="en-US" b="1" dirty="0"/>
              <a:t>テーラリングが許容</a:t>
            </a:r>
            <a:r>
              <a:rPr lang="ja-JP" altLang="en-US" dirty="0"/>
              <a:t>されている。</a:t>
            </a:r>
            <a:endParaRPr lang="en-US" altLang="ja-JP" dirty="0"/>
          </a:p>
          <a:p>
            <a:endParaRPr lang="en-US" altLang="ja-JP" dirty="0"/>
          </a:p>
          <a:p>
            <a:r>
              <a:rPr lang="ja-JP" altLang="en-US" dirty="0"/>
              <a:t>また、生成</a:t>
            </a:r>
            <a:r>
              <a:rPr lang="en-US" altLang="ja-JP" dirty="0"/>
              <a:t>AI</a:t>
            </a:r>
            <a:r>
              <a:rPr lang="ja-JP" altLang="en-US" dirty="0"/>
              <a:t>の能力を活かす</a:t>
            </a:r>
            <a:r>
              <a:rPr lang="ja-JP" altLang="en-US" b="1" dirty="0"/>
              <a:t>「</a:t>
            </a:r>
            <a:r>
              <a:rPr lang="en-US" altLang="ja-JP" b="1" dirty="0"/>
              <a:t>AI</a:t>
            </a:r>
            <a:r>
              <a:rPr lang="ja-JP" altLang="en-US" b="1" dirty="0"/>
              <a:t>ネイティブ開発」</a:t>
            </a:r>
            <a:r>
              <a:rPr lang="ja-JP" altLang="en-US" dirty="0"/>
              <a:t>では、</a:t>
            </a:r>
            <a:r>
              <a:rPr lang="en-US" altLang="ja-JP" sz="2400" b="1" dirty="0"/>
              <a:t>AI</a:t>
            </a:r>
            <a:r>
              <a:rPr lang="ja-JP" altLang="en-US" sz="2400" b="1" dirty="0"/>
              <a:t>の特性やプロジェクトの特性</a:t>
            </a:r>
            <a:r>
              <a:rPr lang="ja-JP" altLang="en-US" dirty="0"/>
              <a:t>に応じてテーラリングが必要になる。</a:t>
            </a:r>
          </a:p>
        </p:txBody>
      </p:sp>
      <p:pic>
        <p:nvPicPr>
          <p:cNvPr id="7" name="図 6" descr="ダイアグラム&#10;&#10;AI によって生成されたコンテンツは間違っている可能性があります。">
            <a:extLst>
              <a:ext uri="{FF2B5EF4-FFF2-40B4-BE49-F238E27FC236}">
                <a16:creationId xmlns:a16="http://schemas.microsoft.com/office/drawing/2014/main" id="{CE9A2A7E-F2A1-6177-30C4-F6CC7B977FED}"/>
              </a:ext>
            </a:extLst>
          </p:cNvPr>
          <p:cNvPicPr>
            <a:picLocks noChangeAspect="1"/>
          </p:cNvPicPr>
          <p:nvPr/>
        </p:nvPicPr>
        <p:blipFill>
          <a:blip r:embed="rId2"/>
          <a:srcRect l="982" r="982"/>
          <a:stretch/>
        </p:blipFill>
        <p:spPr>
          <a:xfrm>
            <a:off x="730536" y="3145203"/>
            <a:ext cx="4205450" cy="1647782"/>
          </a:xfrm>
          <a:prstGeom prst="rect">
            <a:avLst/>
          </a:prstGeom>
        </p:spPr>
      </p:pic>
      <p:sp>
        <p:nvSpPr>
          <p:cNvPr id="8" name="コンテンツ プレースホルダー 2">
            <a:extLst>
              <a:ext uri="{FF2B5EF4-FFF2-40B4-BE49-F238E27FC236}">
                <a16:creationId xmlns:a16="http://schemas.microsoft.com/office/drawing/2014/main" id="{C490AB30-9ABE-60AB-3E83-C002A8C05F52}"/>
              </a:ext>
            </a:extLst>
          </p:cNvPr>
          <p:cNvSpPr txBox="1">
            <a:spLocks/>
          </p:cNvSpPr>
          <p:nvPr/>
        </p:nvSpPr>
        <p:spPr>
          <a:xfrm>
            <a:off x="7814442" y="6152024"/>
            <a:ext cx="3753133" cy="207837"/>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pPr algn="r"/>
            <a:r>
              <a:rPr lang="ja-JP" altLang="en-US" sz="1200" dirty="0"/>
              <a:t>引用：</a:t>
            </a:r>
            <a:r>
              <a:rPr lang="en-US" altLang="ja-JP" sz="1200" dirty="0">
                <a:hlinkClick r:id="rId3"/>
              </a:rPr>
              <a:t>TERASOLUNA FAÇADE TERASOLUNA</a:t>
            </a:r>
            <a:r>
              <a:rPr lang="ja-JP" altLang="en-US" sz="1200" dirty="0">
                <a:hlinkClick r:id="rId3"/>
              </a:rPr>
              <a:t>について</a:t>
            </a:r>
            <a:endParaRPr lang="ja-JP" altLang="en-US" sz="1200" dirty="0"/>
          </a:p>
        </p:txBody>
      </p:sp>
      <p:pic>
        <p:nvPicPr>
          <p:cNvPr id="16" name="図 15">
            <a:extLst>
              <a:ext uri="{FF2B5EF4-FFF2-40B4-BE49-F238E27FC236}">
                <a16:creationId xmlns:a16="http://schemas.microsoft.com/office/drawing/2014/main" id="{374C586D-68B3-CFC9-20EA-4AAAC4C2BB9B}"/>
              </a:ext>
            </a:extLst>
          </p:cNvPr>
          <p:cNvPicPr>
            <a:picLocks noChangeAspect="1"/>
          </p:cNvPicPr>
          <p:nvPr/>
        </p:nvPicPr>
        <p:blipFill>
          <a:blip r:embed="rId4"/>
          <a:stretch>
            <a:fillRect/>
          </a:stretch>
        </p:blipFill>
        <p:spPr>
          <a:xfrm>
            <a:off x="6368804" y="4190260"/>
            <a:ext cx="5451721" cy="1824663"/>
          </a:xfrm>
          <a:prstGeom prst="rect">
            <a:avLst/>
          </a:prstGeom>
        </p:spPr>
      </p:pic>
      <p:sp>
        <p:nvSpPr>
          <p:cNvPr id="17" name="矢印: 右 16">
            <a:extLst>
              <a:ext uri="{FF2B5EF4-FFF2-40B4-BE49-F238E27FC236}">
                <a16:creationId xmlns:a16="http://schemas.microsoft.com/office/drawing/2014/main" id="{7EEB6F1F-E50D-69DB-C157-B2FE9D7ACCC0}"/>
              </a:ext>
            </a:extLst>
          </p:cNvPr>
          <p:cNvSpPr/>
          <p:nvPr/>
        </p:nvSpPr>
        <p:spPr>
          <a:xfrm>
            <a:off x="5378498" y="3942453"/>
            <a:ext cx="444699" cy="1156803"/>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テキスト ボックス 17">
            <a:extLst>
              <a:ext uri="{FF2B5EF4-FFF2-40B4-BE49-F238E27FC236}">
                <a16:creationId xmlns:a16="http://schemas.microsoft.com/office/drawing/2014/main" id="{96D41FAA-48F9-A6AB-87C0-49D21CF28DE7}"/>
              </a:ext>
            </a:extLst>
          </p:cNvPr>
          <p:cNvSpPr txBox="1"/>
          <p:nvPr/>
        </p:nvSpPr>
        <p:spPr>
          <a:xfrm>
            <a:off x="2885852" y="5324053"/>
            <a:ext cx="3482952" cy="387943"/>
          </a:xfrm>
          <a:prstGeom prst="rect">
            <a:avLst/>
          </a:prstGeom>
          <a:solidFill>
            <a:srgbClr val="FFE1C5"/>
          </a:solidFill>
          <a:ln>
            <a:noFill/>
          </a:ln>
        </p:spPr>
        <p:txBody>
          <a:bodyPr wrap="square" lIns="0" rIns="0" rtlCol="0" anchor="ctr">
            <a:noAutofit/>
          </a:bodyPr>
          <a:lstStyle/>
          <a:p>
            <a:pPr algn="ctr" defTabSz="288000"/>
            <a:r>
              <a:rPr lang="en-US" altLang="ja-JP" sz="1600" b="1" i="0" u="sng" dirty="0">
                <a:effectLst/>
                <a:latin typeface="Helvetica Neue"/>
              </a:rPr>
              <a:t>AI</a:t>
            </a:r>
            <a:r>
              <a:rPr lang="ja-JP" altLang="en-US" sz="1600" b="1" i="0" u="sng" dirty="0">
                <a:effectLst/>
                <a:latin typeface="Helvetica Neue"/>
              </a:rPr>
              <a:t>ネイティブ開発に合わせるテーラリング</a:t>
            </a:r>
            <a:endParaRPr kumimoji="1" lang="ja-JP" altLang="en-US" sz="1600" b="1" u="sng" dirty="0">
              <a:latin typeface="+mn-ea"/>
            </a:endParaRPr>
          </a:p>
        </p:txBody>
      </p:sp>
    </p:spTree>
    <p:extLst>
      <p:ext uri="{BB962C8B-B14F-4D97-AF65-F5344CB8AC3E}">
        <p14:creationId xmlns:p14="http://schemas.microsoft.com/office/powerpoint/2010/main" val="1774765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134A-9614-4D21-280B-2AEDDC507E3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0A95864-9F0E-95E5-F38E-96BE7E53E546}"/>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73972F30-6585-86A9-D6CE-F0ED8260661B}"/>
              </a:ext>
            </a:extLst>
          </p:cNvPr>
          <p:cNvSpPr>
            <a:spLocks noGrp="1"/>
          </p:cNvSpPr>
          <p:nvPr>
            <p:ph type="title"/>
          </p:nvPr>
        </p:nvSpPr>
        <p:spPr/>
        <p:txBody>
          <a:bodyPr/>
          <a:lstStyle/>
          <a:p>
            <a:r>
              <a:rPr kumimoji="1" lang="ja-JP" altLang="en-US" dirty="0"/>
              <a:t>目次</a:t>
            </a:r>
          </a:p>
        </p:txBody>
      </p:sp>
      <p:sp>
        <p:nvSpPr>
          <p:cNvPr id="10" name="テキスト ボックス 9">
            <a:extLst>
              <a:ext uri="{FF2B5EF4-FFF2-40B4-BE49-F238E27FC236}">
                <a16:creationId xmlns:a16="http://schemas.microsoft.com/office/drawing/2014/main" id="{B7BC8515-998A-CEEC-C6E8-962169DB6623}"/>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dirty="0">
                <a:solidFill>
                  <a:schemeClr val="bg1"/>
                </a:solidFill>
                <a:latin typeface="+mn-ea"/>
              </a:rPr>
              <a:t>1</a:t>
            </a:r>
            <a:endParaRPr kumimoji="1" lang="ja-JP" altLang="en-US" sz="3600" b="1" dirty="0">
              <a:solidFill>
                <a:schemeClr val="bg1"/>
              </a:solidFill>
              <a:latin typeface="+mn-ea"/>
            </a:endParaRPr>
          </a:p>
        </p:txBody>
      </p:sp>
      <p:sp>
        <p:nvSpPr>
          <p:cNvPr id="12" name="コンテンツ プレースホルダー 2">
            <a:extLst>
              <a:ext uri="{FF2B5EF4-FFF2-40B4-BE49-F238E27FC236}">
                <a16:creationId xmlns:a16="http://schemas.microsoft.com/office/drawing/2014/main" id="{BD14662E-E3D1-6449-A733-E184CEA18B8F}"/>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800" b="1" dirty="0">
                <a:solidFill>
                  <a:schemeClr val="tx1"/>
                </a:solidFill>
              </a:rPr>
              <a:t>システム開発プロセス</a:t>
            </a:r>
            <a:endParaRPr lang="en-US" altLang="ja-JP" sz="2800" b="1" dirty="0">
              <a:solidFill>
                <a:schemeClr val="tx1"/>
              </a:solidFill>
            </a:endParaRPr>
          </a:p>
        </p:txBody>
      </p:sp>
      <p:sp>
        <p:nvSpPr>
          <p:cNvPr id="4" name="テキスト ボックス 3">
            <a:extLst>
              <a:ext uri="{FF2B5EF4-FFF2-40B4-BE49-F238E27FC236}">
                <a16:creationId xmlns:a16="http://schemas.microsoft.com/office/drawing/2014/main" id="{6B6A757A-F94C-30CA-0EB4-4A233FA6F582}"/>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dirty="0">
                <a:solidFill>
                  <a:schemeClr val="bg1">
                    <a:lumMod val="75000"/>
                  </a:schemeClr>
                </a:solidFill>
                <a:latin typeface="+mn-ea"/>
              </a:rPr>
              <a:t>1-1</a:t>
            </a:r>
            <a:endParaRPr kumimoji="1" lang="ja-JP" altLang="en-US" sz="2400" b="1" dirty="0">
              <a:solidFill>
                <a:schemeClr val="bg1">
                  <a:lumMod val="75000"/>
                </a:schemeClr>
              </a:solidFill>
              <a:latin typeface="+mn-ea"/>
            </a:endParaRPr>
          </a:p>
        </p:txBody>
      </p:sp>
      <p:sp>
        <p:nvSpPr>
          <p:cNvPr id="5" name="コンテンツ プレースホルダー 2">
            <a:extLst>
              <a:ext uri="{FF2B5EF4-FFF2-40B4-BE49-F238E27FC236}">
                <a16:creationId xmlns:a16="http://schemas.microsoft.com/office/drawing/2014/main" id="{14C2D3BE-3828-C014-86A9-D2874CE37B9F}"/>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bg1">
                    <a:lumMod val="75000"/>
                  </a:schemeClr>
                </a:solidFill>
              </a:rPr>
              <a:t>システム開発におけるソフトウェア開発ライフサイクル</a:t>
            </a:r>
            <a:endParaRPr lang="en-US" altLang="ja-JP" sz="2000" b="1" dirty="0">
              <a:solidFill>
                <a:schemeClr val="bg1">
                  <a:lumMod val="75000"/>
                </a:schemeClr>
              </a:solidFill>
            </a:endParaRPr>
          </a:p>
        </p:txBody>
      </p:sp>
      <p:sp>
        <p:nvSpPr>
          <p:cNvPr id="21" name="テキスト ボックス 20">
            <a:extLst>
              <a:ext uri="{FF2B5EF4-FFF2-40B4-BE49-F238E27FC236}">
                <a16:creationId xmlns:a16="http://schemas.microsoft.com/office/drawing/2014/main" id="{33466813-9DE9-A398-0532-92CC761FFB31}"/>
              </a:ext>
            </a:extLst>
          </p:cNvPr>
          <p:cNvSpPr txBox="1"/>
          <p:nvPr/>
        </p:nvSpPr>
        <p:spPr>
          <a:xfrm>
            <a:off x="1581151" y="2521087"/>
            <a:ext cx="1026422" cy="439512"/>
          </a:xfrm>
          <a:prstGeom prst="rect">
            <a:avLst/>
          </a:prstGeom>
          <a:noFill/>
        </p:spPr>
        <p:txBody>
          <a:bodyPr wrap="square" lIns="0" rIns="0" rtlCol="0" anchor="ctr">
            <a:noAutofit/>
          </a:bodyPr>
          <a:lstStyle/>
          <a:p>
            <a:pPr algn="ctr" defTabSz="288000"/>
            <a:r>
              <a:rPr lang="en-US" altLang="ja-JP" sz="2400" b="1" dirty="0">
                <a:solidFill>
                  <a:schemeClr val="bg1">
                    <a:lumMod val="75000"/>
                  </a:schemeClr>
                </a:solidFill>
                <a:latin typeface="+mn-ea"/>
              </a:rPr>
              <a:t>1-2</a:t>
            </a:r>
            <a:endParaRPr kumimoji="1" lang="ja-JP" altLang="en-US" sz="2400" b="1" dirty="0">
              <a:solidFill>
                <a:schemeClr val="bg1">
                  <a:lumMod val="75000"/>
                </a:schemeClr>
              </a:solidFill>
              <a:latin typeface="+mn-ea"/>
            </a:endParaRPr>
          </a:p>
        </p:txBody>
      </p:sp>
      <p:sp>
        <p:nvSpPr>
          <p:cNvPr id="22" name="コンテンツ プレースホルダー 2">
            <a:extLst>
              <a:ext uri="{FF2B5EF4-FFF2-40B4-BE49-F238E27FC236}">
                <a16:creationId xmlns:a16="http://schemas.microsoft.com/office/drawing/2014/main" id="{7F9A2029-7EA0-88AA-91BD-BBEC46F2D3B5}"/>
              </a:ext>
            </a:extLst>
          </p:cNvPr>
          <p:cNvSpPr txBox="1">
            <a:spLocks/>
          </p:cNvSpPr>
          <p:nvPr/>
        </p:nvSpPr>
        <p:spPr>
          <a:xfrm>
            <a:off x="2607573" y="2468261"/>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bg1">
                    <a:lumMod val="75000"/>
                  </a:schemeClr>
                </a:solidFill>
              </a:rPr>
              <a:t>TERASOLUNA</a:t>
            </a:r>
            <a:r>
              <a:rPr lang="ja-JP" altLang="en-US" sz="2000" b="1" dirty="0">
                <a:solidFill>
                  <a:schemeClr val="bg1">
                    <a:lumMod val="75000"/>
                  </a:schemeClr>
                </a:solidFill>
              </a:rPr>
              <a:t>とは</a:t>
            </a:r>
            <a:endParaRPr lang="en-US" altLang="ja-JP" sz="2000" b="1" dirty="0">
              <a:solidFill>
                <a:schemeClr val="bg1">
                  <a:lumMod val="75000"/>
                </a:schemeClr>
              </a:solidFill>
            </a:endParaRPr>
          </a:p>
        </p:txBody>
      </p:sp>
      <p:sp>
        <p:nvSpPr>
          <p:cNvPr id="3" name="テキスト ボックス 2">
            <a:extLst>
              <a:ext uri="{FF2B5EF4-FFF2-40B4-BE49-F238E27FC236}">
                <a16:creationId xmlns:a16="http://schemas.microsoft.com/office/drawing/2014/main" id="{EE683D63-A784-5236-2468-454435195537}"/>
              </a:ext>
            </a:extLst>
          </p:cNvPr>
          <p:cNvSpPr txBox="1"/>
          <p:nvPr/>
        </p:nvSpPr>
        <p:spPr>
          <a:xfrm>
            <a:off x="1581151" y="3003155"/>
            <a:ext cx="1026422" cy="439512"/>
          </a:xfrm>
          <a:prstGeom prst="rect">
            <a:avLst/>
          </a:prstGeom>
          <a:noFill/>
        </p:spPr>
        <p:txBody>
          <a:bodyPr wrap="square" lIns="0" rIns="0" rtlCol="0" anchor="ctr">
            <a:noAutofit/>
          </a:bodyPr>
          <a:lstStyle/>
          <a:p>
            <a:pPr algn="ctr" defTabSz="288000"/>
            <a:r>
              <a:rPr lang="en-US" altLang="ja-JP" sz="2400" b="1" dirty="0">
                <a:solidFill>
                  <a:schemeClr val="accent2"/>
                </a:solidFill>
                <a:latin typeface="+mn-ea"/>
              </a:rPr>
              <a:t>1-3</a:t>
            </a:r>
            <a:endParaRPr kumimoji="1" lang="ja-JP" altLang="en-US" sz="2400" b="1" dirty="0">
              <a:solidFill>
                <a:schemeClr val="accent2"/>
              </a:solidFill>
              <a:latin typeface="+mn-ea"/>
            </a:endParaRPr>
          </a:p>
        </p:txBody>
      </p:sp>
      <p:sp>
        <p:nvSpPr>
          <p:cNvPr id="6" name="コンテンツ プレースホルダー 2">
            <a:extLst>
              <a:ext uri="{FF2B5EF4-FFF2-40B4-BE49-F238E27FC236}">
                <a16:creationId xmlns:a16="http://schemas.microsoft.com/office/drawing/2014/main" id="{9C3477FC-B874-91F5-1DBA-72C0C4C8F4EF}"/>
              </a:ext>
            </a:extLst>
          </p:cNvPr>
          <p:cNvSpPr txBox="1">
            <a:spLocks/>
          </p:cNvSpPr>
          <p:nvPr/>
        </p:nvSpPr>
        <p:spPr>
          <a:xfrm>
            <a:off x="2607573" y="2950329"/>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dirty="0">
                <a:solidFill>
                  <a:schemeClr val="tx1"/>
                </a:solidFill>
              </a:rPr>
              <a:t>V</a:t>
            </a:r>
            <a:r>
              <a:rPr lang="ja-JP" altLang="en-US" sz="2000" b="1" dirty="0">
                <a:solidFill>
                  <a:schemeClr val="tx1"/>
                </a:solidFill>
              </a:rPr>
              <a:t>字モデルとは</a:t>
            </a:r>
            <a:endParaRPr lang="en-US" altLang="ja-JP" sz="2000" b="1" dirty="0">
              <a:solidFill>
                <a:schemeClr val="tx1"/>
              </a:solidFill>
            </a:endParaRPr>
          </a:p>
        </p:txBody>
      </p:sp>
      <p:sp>
        <p:nvSpPr>
          <p:cNvPr id="15" name="コンテンツ プレースホルダー 2">
            <a:extLst>
              <a:ext uri="{FF2B5EF4-FFF2-40B4-BE49-F238E27FC236}">
                <a16:creationId xmlns:a16="http://schemas.microsoft.com/office/drawing/2014/main" id="{082CFB30-6635-43C1-48DD-4C5CEA5AEDB5}"/>
              </a:ext>
            </a:extLst>
          </p:cNvPr>
          <p:cNvSpPr txBox="1">
            <a:spLocks/>
          </p:cNvSpPr>
          <p:nvPr/>
        </p:nvSpPr>
        <p:spPr>
          <a:xfrm>
            <a:off x="2977687" y="3516116"/>
            <a:ext cx="5660572" cy="2973583"/>
          </a:xfrm>
          <a:prstGeom prst="rect">
            <a:avLst/>
          </a:prstGeom>
        </p:spPr>
        <p:txBody>
          <a:bodyPr vert="horz" lIns="0" tIns="0" rIns="0" bIns="0" rtlCol="0" anchor="t">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dirty="0">
                <a:solidFill>
                  <a:schemeClr val="tx1"/>
                </a:solidFill>
              </a:rPr>
              <a:t>要求定義</a:t>
            </a:r>
            <a:endParaRPr lang="en-US" altLang="ja-JP" sz="2000" b="1" dirty="0">
              <a:solidFill>
                <a:schemeClr val="tx1"/>
              </a:solidFill>
            </a:endParaRPr>
          </a:p>
          <a:p>
            <a:r>
              <a:rPr lang="ja-JP" altLang="en-US" sz="2000" b="1" dirty="0">
                <a:solidFill>
                  <a:schemeClr val="tx1"/>
                </a:solidFill>
              </a:rPr>
              <a:t>要求分析</a:t>
            </a:r>
            <a:endParaRPr lang="en-US" altLang="ja-JP" sz="2000" b="1" dirty="0">
              <a:solidFill>
                <a:schemeClr val="tx1"/>
              </a:solidFill>
            </a:endParaRPr>
          </a:p>
          <a:p>
            <a:r>
              <a:rPr lang="ja-JP" altLang="en-US" sz="2000" b="1" dirty="0">
                <a:solidFill>
                  <a:schemeClr val="tx1"/>
                </a:solidFill>
              </a:rPr>
              <a:t>アーキテクチャ設計</a:t>
            </a:r>
            <a:endParaRPr lang="en-US" altLang="ja-JP" sz="2000" b="1" dirty="0">
              <a:solidFill>
                <a:schemeClr val="tx1"/>
              </a:solidFill>
            </a:endParaRPr>
          </a:p>
          <a:p>
            <a:r>
              <a:rPr lang="ja-JP" altLang="en-US" sz="2000" b="1" dirty="0">
                <a:solidFill>
                  <a:schemeClr val="tx1"/>
                </a:solidFill>
              </a:rPr>
              <a:t>詳細設計</a:t>
            </a:r>
            <a:endParaRPr lang="en-US" altLang="ja-JP" sz="2000" b="1" dirty="0">
              <a:solidFill>
                <a:schemeClr val="tx1"/>
              </a:solidFill>
            </a:endParaRPr>
          </a:p>
          <a:p>
            <a:r>
              <a:rPr lang="ja-JP" altLang="en-US" sz="2000" b="1" dirty="0">
                <a:solidFill>
                  <a:schemeClr val="tx1"/>
                </a:solidFill>
              </a:rPr>
              <a:t>製造</a:t>
            </a:r>
            <a:r>
              <a:rPr lang="en-US" altLang="ja-JP" sz="2000" b="1" dirty="0">
                <a:solidFill>
                  <a:schemeClr val="tx1"/>
                </a:solidFill>
              </a:rPr>
              <a:t> / </a:t>
            </a:r>
            <a:r>
              <a:rPr lang="ja-JP" altLang="en-US" sz="2000" b="1" dirty="0">
                <a:solidFill>
                  <a:schemeClr val="tx1"/>
                </a:solidFill>
              </a:rPr>
              <a:t>単体テスト</a:t>
            </a:r>
            <a:endParaRPr lang="en-US" altLang="ja-JP" sz="2000" b="1" dirty="0">
              <a:solidFill>
                <a:schemeClr val="tx1"/>
              </a:solidFill>
            </a:endParaRPr>
          </a:p>
          <a:p>
            <a:r>
              <a:rPr lang="ja-JP" altLang="en-US" sz="2000" b="1" dirty="0">
                <a:solidFill>
                  <a:schemeClr val="tx1"/>
                </a:solidFill>
              </a:rPr>
              <a:t>結合テスト</a:t>
            </a:r>
            <a:endParaRPr lang="en-US" altLang="ja-JP" sz="2000" b="1" dirty="0">
              <a:solidFill>
                <a:schemeClr val="tx1"/>
              </a:solidFill>
            </a:endParaRPr>
          </a:p>
          <a:p>
            <a:r>
              <a:rPr lang="ja-JP" altLang="en-US" sz="2000" b="1" dirty="0">
                <a:solidFill>
                  <a:schemeClr val="tx1"/>
                </a:solidFill>
              </a:rPr>
              <a:t>システムテスト</a:t>
            </a:r>
            <a:endParaRPr lang="en-US" altLang="ja-JP" sz="2000" b="1" dirty="0">
              <a:solidFill>
                <a:schemeClr val="tx1"/>
              </a:solidFill>
            </a:endParaRPr>
          </a:p>
          <a:p>
            <a:r>
              <a:rPr lang="ja-JP" altLang="en-US" sz="2000" b="1" dirty="0">
                <a:solidFill>
                  <a:schemeClr val="tx1"/>
                </a:solidFill>
              </a:rPr>
              <a:t>受入テスト</a:t>
            </a:r>
            <a:endParaRPr lang="en-US" altLang="ja-JP" sz="2000" b="1" dirty="0">
              <a:solidFill>
                <a:schemeClr val="tx1"/>
              </a:solidFill>
            </a:endParaRPr>
          </a:p>
        </p:txBody>
      </p:sp>
      <p:sp>
        <p:nvSpPr>
          <p:cNvPr id="7" name="正方形/長方形 6">
            <a:extLst>
              <a:ext uri="{FF2B5EF4-FFF2-40B4-BE49-F238E27FC236}">
                <a16:creationId xmlns:a16="http://schemas.microsoft.com/office/drawing/2014/main" id="{B7F99880-CD09-F6DB-EAEE-3D9F62C634A5}"/>
              </a:ext>
            </a:extLst>
          </p:cNvPr>
          <p:cNvSpPr/>
          <p:nvPr/>
        </p:nvSpPr>
        <p:spPr>
          <a:xfrm flipV="1">
            <a:off x="1546834" y="2992809"/>
            <a:ext cx="8256669" cy="3496889"/>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pic>
        <p:nvPicPr>
          <p:cNvPr id="8" name="グラフィックス 7" descr="バッジ: チェックマーク 1 単色塗りつぶし">
            <a:extLst>
              <a:ext uri="{FF2B5EF4-FFF2-40B4-BE49-F238E27FC236}">
                <a16:creationId xmlns:a16="http://schemas.microsoft.com/office/drawing/2014/main" id="{1305E2C7-C49F-3728-03CD-40899FBC4F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30978" y="2057036"/>
            <a:ext cx="468000" cy="468000"/>
          </a:xfrm>
          <a:prstGeom prst="rect">
            <a:avLst/>
          </a:prstGeom>
        </p:spPr>
      </p:pic>
      <p:pic>
        <p:nvPicPr>
          <p:cNvPr id="11" name="グラフィックス 10" descr="バッジ: チェックマーク 1 単色塗りつぶし">
            <a:extLst>
              <a:ext uri="{FF2B5EF4-FFF2-40B4-BE49-F238E27FC236}">
                <a16:creationId xmlns:a16="http://schemas.microsoft.com/office/drawing/2014/main" id="{5BD8134E-E077-A165-B54C-4EF62244F6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5108" y="2504490"/>
            <a:ext cx="468000" cy="468000"/>
          </a:xfrm>
          <a:prstGeom prst="rect">
            <a:avLst/>
          </a:prstGeom>
        </p:spPr>
      </p:pic>
    </p:spTree>
    <p:extLst>
      <p:ext uri="{BB962C8B-B14F-4D97-AF65-F5344CB8AC3E}">
        <p14:creationId xmlns:p14="http://schemas.microsoft.com/office/powerpoint/2010/main" val="1578629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D1860-6076-EEB9-7C64-FFF3B2D118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F8F1AC-D00A-CEE1-DE7D-7B1D91C7BAB7}"/>
              </a:ext>
            </a:extLst>
          </p:cNvPr>
          <p:cNvSpPr>
            <a:spLocks noGrp="1"/>
          </p:cNvSpPr>
          <p:nvPr>
            <p:ph type="title"/>
          </p:nvPr>
        </p:nvSpPr>
        <p:spPr/>
        <p:txBody>
          <a:bodyPr anchor="ctr"/>
          <a:lstStyle/>
          <a:p>
            <a:r>
              <a:rPr lang="en-US" altLang="ja-JP" dirty="0"/>
              <a:t>V</a:t>
            </a:r>
            <a:r>
              <a:rPr lang="ja-JP" altLang="en-US" dirty="0"/>
              <a:t>字モデル</a:t>
            </a:r>
            <a:endParaRPr kumimoji="1" lang="ja-JP" altLang="en-US" dirty="0"/>
          </a:p>
        </p:txBody>
      </p:sp>
      <p:pic>
        <p:nvPicPr>
          <p:cNvPr id="6" name="図 5" descr="ダイアグラム&#10;&#10;AI によって生成されたコンテンツは間違っている可能性があります。">
            <a:extLst>
              <a:ext uri="{FF2B5EF4-FFF2-40B4-BE49-F238E27FC236}">
                <a16:creationId xmlns:a16="http://schemas.microsoft.com/office/drawing/2014/main" id="{5C74C705-A7B8-3501-1539-BA723E71E49C}"/>
              </a:ext>
            </a:extLst>
          </p:cNvPr>
          <p:cNvPicPr>
            <a:picLocks noChangeAspect="1"/>
          </p:cNvPicPr>
          <p:nvPr/>
        </p:nvPicPr>
        <p:blipFill>
          <a:blip r:embed="rId2"/>
          <a:srcRect b="4453"/>
          <a:stretch/>
        </p:blipFill>
        <p:spPr>
          <a:xfrm>
            <a:off x="2954634" y="1606036"/>
            <a:ext cx="5768381" cy="3162300"/>
          </a:xfrm>
          <a:prstGeom prst="rect">
            <a:avLst/>
          </a:prstGeom>
          <a:ln>
            <a:noFill/>
          </a:ln>
        </p:spPr>
      </p:pic>
      <p:sp>
        <p:nvSpPr>
          <p:cNvPr id="13" name="四角形: 角を丸くする 12">
            <a:extLst>
              <a:ext uri="{FF2B5EF4-FFF2-40B4-BE49-F238E27FC236}">
                <a16:creationId xmlns:a16="http://schemas.microsoft.com/office/drawing/2014/main" id="{A0A74C84-17BD-7D2B-549D-DCEA792D9A4A}"/>
              </a:ext>
            </a:extLst>
          </p:cNvPr>
          <p:cNvSpPr/>
          <p:nvPr/>
        </p:nvSpPr>
        <p:spPr>
          <a:xfrm>
            <a:off x="372000" y="4933510"/>
            <a:ext cx="5400000" cy="1512000"/>
          </a:xfrm>
          <a:prstGeom prst="roundRect">
            <a:avLst>
              <a:gd name="adj" fmla="val 8028"/>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u="sng" dirty="0">
                <a:solidFill>
                  <a:schemeClr val="tx1"/>
                </a:solidFill>
              </a:rPr>
              <a:t>メリット</a:t>
            </a:r>
            <a:endParaRPr kumimoji="1" lang="en-US" altLang="ja-JP" sz="1400" u="sng" dirty="0">
              <a:solidFill>
                <a:schemeClr val="tx1"/>
              </a:solidFill>
            </a:endParaRPr>
          </a:p>
          <a:p>
            <a:pPr algn="ctr"/>
            <a:endParaRPr kumimoji="1" lang="ja-JP" altLang="en-US" sz="1400" u="sng" dirty="0">
              <a:solidFill>
                <a:schemeClr val="tx1"/>
              </a:solidFill>
            </a:endParaRPr>
          </a:p>
        </p:txBody>
      </p:sp>
      <p:sp>
        <p:nvSpPr>
          <p:cNvPr id="15" name="四角形: 角を丸くする 14">
            <a:extLst>
              <a:ext uri="{FF2B5EF4-FFF2-40B4-BE49-F238E27FC236}">
                <a16:creationId xmlns:a16="http://schemas.microsoft.com/office/drawing/2014/main" id="{CC9ED5C2-25E6-C116-FF87-CF746D23FBFE}"/>
              </a:ext>
            </a:extLst>
          </p:cNvPr>
          <p:cNvSpPr/>
          <p:nvPr/>
        </p:nvSpPr>
        <p:spPr>
          <a:xfrm>
            <a:off x="5838825" y="4933509"/>
            <a:ext cx="6076134" cy="1512000"/>
          </a:xfrm>
          <a:prstGeom prst="roundRect">
            <a:avLst>
              <a:gd name="adj" fmla="val 6876"/>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u="sng" dirty="0">
                <a:solidFill>
                  <a:schemeClr val="tx1"/>
                </a:solidFill>
              </a:rPr>
              <a:t>デメリット</a:t>
            </a:r>
            <a:endParaRPr lang="en-US" altLang="ja-JP" sz="1400" u="sng" dirty="0">
              <a:solidFill>
                <a:schemeClr val="tx1"/>
              </a:solidFill>
            </a:endParaRPr>
          </a:p>
        </p:txBody>
      </p:sp>
      <p:sp>
        <p:nvSpPr>
          <p:cNvPr id="8" name="テキスト ボックス 7">
            <a:extLst>
              <a:ext uri="{FF2B5EF4-FFF2-40B4-BE49-F238E27FC236}">
                <a16:creationId xmlns:a16="http://schemas.microsoft.com/office/drawing/2014/main" id="{516A9DD1-A01A-74E1-B847-5F11F0031824}"/>
              </a:ext>
            </a:extLst>
          </p:cNvPr>
          <p:cNvSpPr txBox="1"/>
          <p:nvPr/>
        </p:nvSpPr>
        <p:spPr>
          <a:xfrm>
            <a:off x="439932" y="5333612"/>
            <a:ext cx="5264135" cy="1046440"/>
          </a:xfrm>
          <a:prstGeom prst="rect">
            <a:avLst/>
          </a:prstGeom>
          <a:noFill/>
        </p:spPr>
        <p:txBody>
          <a:bodyPr wrap="square">
            <a:spAutoFit/>
          </a:bodyPr>
          <a:lstStyle/>
          <a:p>
            <a:pPr algn="l"/>
            <a:r>
              <a:rPr lang="ja-JP" altLang="en-US" sz="1400" dirty="0">
                <a:solidFill>
                  <a:schemeClr val="tx1"/>
                </a:solidFill>
              </a:rPr>
              <a:t>・各段階が明確に定義されているため、</a:t>
            </a:r>
            <a:r>
              <a:rPr lang="ja-JP" altLang="en-US" sz="1600" b="1" i="0" dirty="0">
                <a:solidFill>
                  <a:schemeClr val="tx1"/>
                </a:solidFill>
                <a:effectLst/>
                <a:latin typeface="__Inter_a184c8"/>
              </a:rPr>
              <a:t>進捗管理が</a:t>
            </a:r>
            <a:r>
              <a:rPr lang="ja-JP" altLang="en-US" sz="1600" b="1" dirty="0">
                <a:solidFill>
                  <a:schemeClr val="tx1"/>
                </a:solidFill>
                <a:latin typeface="__Inter_a184c8"/>
              </a:rPr>
              <a:t>容易</a:t>
            </a:r>
            <a:endParaRPr lang="ja-JP" altLang="en-US" sz="1400" b="1" i="0" dirty="0">
              <a:solidFill>
                <a:schemeClr val="tx1"/>
              </a:solidFill>
              <a:effectLst/>
              <a:latin typeface="__Inter_a184c8"/>
            </a:endParaRPr>
          </a:p>
          <a:p>
            <a:pPr algn="l"/>
            <a:r>
              <a:rPr lang="ja-JP" altLang="en-US" sz="1400" b="0" i="0" dirty="0">
                <a:solidFill>
                  <a:schemeClr val="tx1"/>
                </a:solidFill>
                <a:effectLst/>
                <a:latin typeface="__Inter_a184c8"/>
              </a:rPr>
              <a:t>・設計とテストの対応関係が明瞭で、</a:t>
            </a:r>
            <a:r>
              <a:rPr lang="ja-JP" altLang="en-US" sz="1600" b="1" i="0" dirty="0">
                <a:solidFill>
                  <a:schemeClr val="tx1"/>
                </a:solidFill>
                <a:effectLst/>
                <a:latin typeface="__Inter_a184c8"/>
              </a:rPr>
              <a:t>品質保証しやすい</a:t>
            </a:r>
            <a:endParaRPr lang="ja-JP" altLang="en-US" sz="1400" b="1" i="0" dirty="0">
              <a:solidFill>
                <a:schemeClr val="tx1"/>
              </a:solidFill>
              <a:effectLst/>
              <a:latin typeface="__Inter_a184c8"/>
            </a:endParaRPr>
          </a:p>
          <a:p>
            <a:pPr algn="l"/>
            <a:r>
              <a:rPr lang="ja-JP" altLang="en-US" sz="1400" b="0" i="0" dirty="0">
                <a:effectLst/>
                <a:latin typeface="__Inter_a184c8"/>
              </a:rPr>
              <a:t>・フェーズごとに修了判定を行うため、その場で問題を検出することができる</a:t>
            </a:r>
            <a:endParaRPr lang="en-US" altLang="ja-JP" sz="1400" b="0" i="0" dirty="0">
              <a:effectLst/>
              <a:latin typeface="__Inter_a184c8"/>
            </a:endParaRPr>
          </a:p>
          <a:p>
            <a:pPr algn="l"/>
            <a:r>
              <a:rPr lang="ja-JP" altLang="en-US" sz="1400" dirty="0">
                <a:latin typeface="__Inter_a184c8"/>
              </a:rPr>
              <a:t>　⇒ 後続に影響することなく、</a:t>
            </a:r>
            <a:r>
              <a:rPr lang="ja-JP" altLang="en-US" sz="1600" b="1" i="0" dirty="0">
                <a:effectLst/>
                <a:latin typeface="__Inter_a184c8"/>
              </a:rPr>
              <a:t>早期の修正が可能</a:t>
            </a:r>
            <a:endParaRPr lang="ja-JP" altLang="en-US" sz="1400" b="1" i="0" dirty="0">
              <a:effectLst/>
              <a:latin typeface="__Inter_a184c8"/>
            </a:endParaRPr>
          </a:p>
        </p:txBody>
      </p:sp>
      <p:sp>
        <p:nvSpPr>
          <p:cNvPr id="9" name="テキスト ボックス 8">
            <a:extLst>
              <a:ext uri="{FF2B5EF4-FFF2-40B4-BE49-F238E27FC236}">
                <a16:creationId xmlns:a16="http://schemas.microsoft.com/office/drawing/2014/main" id="{45A14CA9-EA33-B132-3F69-127D07C96D51}"/>
              </a:ext>
            </a:extLst>
          </p:cNvPr>
          <p:cNvSpPr txBox="1"/>
          <p:nvPr/>
        </p:nvSpPr>
        <p:spPr>
          <a:xfrm>
            <a:off x="5906757" y="5335939"/>
            <a:ext cx="6076135" cy="1015663"/>
          </a:xfrm>
          <a:prstGeom prst="rect">
            <a:avLst/>
          </a:prstGeom>
          <a:noFill/>
        </p:spPr>
        <p:txBody>
          <a:bodyPr wrap="square">
            <a:spAutoFit/>
          </a:bodyPr>
          <a:lstStyle/>
          <a:p>
            <a:pPr algn="l"/>
            <a:r>
              <a:rPr lang="ja-JP" altLang="en-US" sz="1400" dirty="0"/>
              <a:t>・</a:t>
            </a:r>
            <a:r>
              <a:rPr lang="ja-JP" altLang="en-US" sz="1400" b="0" i="0" dirty="0">
                <a:effectLst/>
                <a:latin typeface="__Inter_a184c8"/>
              </a:rPr>
              <a:t>各フェーズが順序立てて実施され、途中での開始</a:t>
            </a:r>
            <a:r>
              <a:rPr lang="en-US" altLang="ja-JP" sz="1400" b="0" i="0" dirty="0">
                <a:effectLst/>
                <a:latin typeface="__Inter_a184c8"/>
              </a:rPr>
              <a:t>/</a:t>
            </a:r>
            <a:r>
              <a:rPr lang="ja-JP" altLang="en-US" sz="1400" b="0" i="0" dirty="0">
                <a:effectLst/>
                <a:latin typeface="__Inter_a184c8"/>
              </a:rPr>
              <a:t>終了ができない</a:t>
            </a:r>
            <a:endParaRPr lang="en-US" altLang="ja-JP" sz="1400" b="0" i="0" dirty="0">
              <a:effectLst/>
              <a:latin typeface="__Inter_a184c8"/>
            </a:endParaRPr>
          </a:p>
          <a:p>
            <a:pPr algn="l"/>
            <a:r>
              <a:rPr lang="ja-JP" altLang="en-US" sz="1400" dirty="0">
                <a:latin typeface="__Inter_a184c8"/>
              </a:rPr>
              <a:t>　⇒ </a:t>
            </a:r>
            <a:r>
              <a:rPr lang="ja-JP" altLang="en-US" sz="1400" b="0" i="0" dirty="0">
                <a:effectLst/>
                <a:latin typeface="__Inter_a184c8"/>
              </a:rPr>
              <a:t>開発期間中の</a:t>
            </a:r>
            <a:r>
              <a:rPr lang="ja-JP" altLang="en-US" sz="1600" b="1" i="0" dirty="0">
                <a:effectLst/>
                <a:latin typeface="__Inter_a184c8"/>
              </a:rPr>
              <a:t>要件の変更が難しく、柔軟性が低い</a:t>
            </a:r>
            <a:endParaRPr lang="en-US" altLang="ja-JP" sz="1400" b="1" i="0" dirty="0">
              <a:effectLst/>
              <a:latin typeface="__Inter_a184c8"/>
            </a:endParaRPr>
          </a:p>
          <a:p>
            <a:pPr algn="l"/>
            <a:r>
              <a:rPr lang="ja-JP" altLang="en-US" sz="1400" dirty="0">
                <a:latin typeface="__Inter_a184c8"/>
              </a:rPr>
              <a:t>・前のフェーズの成果物をインプットにしているため、複数フェーズを同時進行できない</a:t>
            </a:r>
            <a:endParaRPr lang="en-US" altLang="ja-JP" sz="1400" dirty="0">
              <a:latin typeface="__Inter_a184c8"/>
            </a:endParaRPr>
          </a:p>
          <a:p>
            <a:pPr algn="l"/>
            <a:r>
              <a:rPr lang="ja-JP" altLang="en-US" sz="1400" b="0" i="0" dirty="0">
                <a:effectLst/>
                <a:latin typeface="__Inter_a184c8"/>
              </a:rPr>
              <a:t>　⇒１フェーズでの遅延が、</a:t>
            </a:r>
            <a:r>
              <a:rPr lang="ja-JP" altLang="en-US" sz="1600" b="1" i="0" dirty="0">
                <a:effectLst/>
                <a:latin typeface="__Inter_a184c8"/>
              </a:rPr>
              <a:t>開発全体の遅れに直結する</a:t>
            </a:r>
            <a:r>
              <a:rPr lang="ja-JP" altLang="en-US" sz="1400" b="0" i="0" dirty="0">
                <a:effectLst/>
                <a:latin typeface="__Inter_a184c8"/>
              </a:rPr>
              <a:t>可能性がある</a:t>
            </a:r>
          </a:p>
        </p:txBody>
      </p:sp>
      <p:sp>
        <p:nvSpPr>
          <p:cNvPr id="3" name="コンテンツ プレースホルダー 2">
            <a:extLst>
              <a:ext uri="{FF2B5EF4-FFF2-40B4-BE49-F238E27FC236}">
                <a16:creationId xmlns:a16="http://schemas.microsoft.com/office/drawing/2014/main" id="{B3C19B92-3A22-9AB2-ABA6-CB7DCF8A0D14}"/>
              </a:ext>
            </a:extLst>
          </p:cNvPr>
          <p:cNvSpPr txBox="1">
            <a:spLocks/>
          </p:cNvSpPr>
          <p:nvPr/>
        </p:nvSpPr>
        <p:spPr>
          <a:xfrm>
            <a:off x="372000" y="1038386"/>
            <a:ext cx="11448000" cy="8262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dirty="0"/>
              <a:t>V</a:t>
            </a:r>
            <a:r>
              <a:rPr lang="ja-JP" altLang="en-US" dirty="0"/>
              <a:t>字モデルとは</a:t>
            </a:r>
            <a:r>
              <a:rPr kumimoji="1" lang="ja-JP" altLang="en-US" dirty="0"/>
              <a:t>、</a:t>
            </a:r>
            <a:r>
              <a:rPr lang="ja-JP" altLang="en-US" sz="2000" b="1" dirty="0"/>
              <a:t>「設計工程」と「製造・テスト工程」</a:t>
            </a:r>
            <a:r>
              <a:rPr kumimoji="1" lang="ja-JP" altLang="en-US" sz="2000" b="1" dirty="0"/>
              <a:t>の対応関係を視覚的に表現したモデル</a:t>
            </a:r>
            <a:r>
              <a:rPr lang="ja-JP" altLang="en-US" dirty="0"/>
              <a:t>で</a:t>
            </a:r>
            <a:r>
              <a:rPr kumimoji="1" lang="ja-JP" altLang="en-US" dirty="0"/>
              <a:t>ある。</a:t>
            </a:r>
            <a:endParaRPr kumimoji="1" lang="en-US" altLang="ja-JP" dirty="0"/>
          </a:p>
          <a:p>
            <a:r>
              <a:rPr lang="en-US" altLang="ja-JP" dirty="0"/>
              <a:t>TERASOLUNA </a:t>
            </a:r>
            <a:r>
              <a:rPr lang="ja-JP" altLang="en-US" dirty="0"/>
              <a:t>開発手順では、以下の８つのフェーズを対象に</a:t>
            </a:r>
            <a:r>
              <a:rPr lang="en-US" altLang="ja-JP" dirty="0"/>
              <a:t>V</a:t>
            </a:r>
            <a:r>
              <a:rPr lang="ja-JP" altLang="en-US" dirty="0"/>
              <a:t>字モデルを採用している。</a:t>
            </a:r>
            <a:endParaRPr kumimoji="1" lang="ja-JP" altLang="en-US" dirty="0"/>
          </a:p>
          <a:p>
            <a:endParaRPr kumimoji="1" lang="ja-JP" altLang="en-US" dirty="0"/>
          </a:p>
        </p:txBody>
      </p:sp>
    </p:spTree>
    <p:extLst>
      <p:ext uri="{BB962C8B-B14F-4D97-AF65-F5344CB8AC3E}">
        <p14:creationId xmlns:p14="http://schemas.microsoft.com/office/powerpoint/2010/main" val="2940827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1997E-1389-73DB-75CE-D530DD4265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3DE7F4-D65A-D028-035E-FBCF8DDC7D21}"/>
              </a:ext>
            </a:extLst>
          </p:cNvPr>
          <p:cNvSpPr>
            <a:spLocks noGrp="1"/>
          </p:cNvSpPr>
          <p:nvPr>
            <p:ph type="title"/>
          </p:nvPr>
        </p:nvSpPr>
        <p:spPr/>
        <p:txBody>
          <a:bodyPr anchor="ctr"/>
          <a:lstStyle/>
          <a:p>
            <a:r>
              <a:rPr lang="en-US" altLang="ja-JP" dirty="0"/>
              <a:t>V</a:t>
            </a:r>
            <a:r>
              <a:rPr lang="ja-JP" altLang="en-US" dirty="0"/>
              <a:t>字モデル</a:t>
            </a:r>
            <a:endParaRPr kumimoji="1" lang="ja-JP" altLang="en-US" dirty="0"/>
          </a:p>
        </p:txBody>
      </p:sp>
      <p:pic>
        <p:nvPicPr>
          <p:cNvPr id="6" name="図 5" descr="ダイアグラム&#10;&#10;AI によって生成されたコンテンツは間違っている可能性があります。">
            <a:extLst>
              <a:ext uri="{FF2B5EF4-FFF2-40B4-BE49-F238E27FC236}">
                <a16:creationId xmlns:a16="http://schemas.microsoft.com/office/drawing/2014/main" id="{181C77EA-DA6B-1AEC-2ECB-9C2231270C39}"/>
              </a:ext>
            </a:extLst>
          </p:cNvPr>
          <p:cNvPicPr>
            <a:picLocks noChangeAspect="1"/>
          </p:cNvPicPr>
          <p:nvPr/>
        </p:nvPicPr>
        <p:blipFill>
          <a:blip r:embed="rId2"/>
          <a:srcRect b="4453"/>
          <a:stretch/>
        </p:blipFill>
        <p:spPr>
          <a:xfrm>
            <a:off x="2954634" y="1606036"/>
            <a:ext cx="5768381" cy="3162300"/>
          </a:xfrm>
          <a:prstGeom prst="rect">
            <a:avLst/>
          </a:prstGeom>
          <a:ln>
            <a:noFill/>
          </a:ln>
        </p:spPr>
      </p:pic>
      <p:sp>
        <p:nvSpPr>
          <p:cNvPr id="5" name="コンテンツ プレースホルダー 2">
            <a:extLst>
              <a:ext uri="{FF2B5EF4-FFF2-40B4-BE49-F238E27FC236}">
                <a16:creationId xmlns:a16="http://schemas.microsoft.com/office/drawing/2014/main" id="{CC56390F-319E-3747-7E49-F365A015459D}"/>
              </a:ext>
            </a:extLst>
          </p:cNvPr>
          <p:cNvSpPr txBox="1">
            <a:spLocks/>
          </p:cNvSpPr>
          <p:nvPr/>
        </p:nvSpPr>
        <p:spPr>
          <a:xfrm>
            <a:off x="372000" y="1038386"/>
            <a:ext cx="11448000" cy="8262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dirty="0"/>
              <a:t>V</a:t>
            </a:r>
            <a:r>
              <a:rPr lang="ja-JP" altLang="en-US" dirty="0"/>
              <a:t>字モデルとは</a:t>
            </a:r>
            <a:r>
              <a:rPr kumimoji="1" lang="ja-JP" altLang="en-US" dirty="0"/>
              <a:t>、</a:t>
            </a:r>
            <a:r>
              <a:rPr lang="ja-JP" altLang="en-US" sz="2000" b="1" dirty="0"/>
              <a:t>「設計工程」と「製造・テスト工程」</a:t>
            </a:r>
            <a:r>
              <a:rPr kumimoji="1" lang="ja-JP" altLang="en-US" sz="2000" b="1" dirty="0"/>
              <a:t>の対応関係を視覚的に表現したモデル</a:t>
            </a:r>
            <a:r>
              <a:rPr lang="ja-JP" altLang="en-US" dirty="0"/>
              <a:t>で</a:t>
            </a:r>
            <a:r>
              <a:rPr kumimoji="1" lang="ja-JP" altLang="en-US" dirty="0"/>
              <a:t>ある。</a:t>
            </a:r>
            <a:endParaRPr kumimoji="1" lang="en-US" altLang="ja-JP" dirty="0"/>
          </a:p>
          <a:p>
            <a:r>
              <a:rPr lang="en-US" altLang="ja-JP" dirty="0"/>
              <a:t>TERASOLUNA </a:t>
            </a:r>
            <a:r>
              <a:rPr lang="ja-JP" altLang="en-US" dirty="0"/>
              <a:t>開発手順では、以下の８つのフェーズを対象に</a:t>
            </a:r>
            <a:r>
              <a:rPr lang="en-US" altLang="ja-JP" dirty="0"/>
              <a:t>V</a:t>
            </a:r>
            <a:r>
              <a:rPr lang="ja-JP" altLang="en-US" dirty="0"/>
              <a:t>字モデルを採用している。</a:t>
            </a:r>
            <a:endParaRPr kumimoji="1" lang="ja-JP" altLang="en-US" dirty="0"/>
          </a:p>
          <a:p>
            <a:endParaRPr kumimoji="1" lang="ja-JP" altLang="en-US" dirty="0"/>
          </a:p>
        </p:txBody>
      </p:sp>
      <p:sp>
        <p:nvSpPr>
          <p:cNvPr id="23" name="正方形/長方形 22">
            <a:extLst>
              <a:ext uri="{FF2B5EF4-FFF2-40B4-BE49-F238E27FC236}">
                <a16:creationId xmlns:a16="http://schemas.microsoft.com/office/drawing/2014/main" id="{0C5E9763-6134-2FF0-3884-F40F7611E41D}"/>
              </a:ext>
            </a:extLst>
          </p:cNvPr>
          <p:cNvSpPr/>
          <p:nvPr/>
        </p:nvSpPr>
        <p:spPr>
          <a:xfrm>
            <a:off x="1346293" y="1765895"/>
            <a:ext cx="4320000" cy="3060000"/>
          </a:xfrm>
          <a:prstGeom prst="rect">
            <a:avLst/>
          </a:prstGeom>
          <a:noFill/>
          <a:ln w="5715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正方形/長方形 17">
            <a:extLst>
              <a:ext uri="{FF2B5EF4-FFF2-40B4-BE49-F238E27FC236}">
                <a16:creationId xmlns:a16="http://schemas.microsoft.com/office/drawing/2014/main" id="{2B7E9CAC-55B1-02EC-CE5C-E31991CCF5EE}"/>
              </a:ext>
            </a:extLst>
          </p:cNvPr>
          <p:cNvSpPr/>
          <p:nvPr/>
        </p:nvSpPr>
        <p:spPr>
          <a:xfrm>
            <a:off x="1346293" y="1765895"/>
            <a:ext cx="504000" cy="3060000"/>
          </a:xfrm>
          <a:prstGeom prst="rect">
            <a:avLst/>
          </a:prstGeom>
          <a:solidFill>
            <a:srgbClr val="FFC000"/>
          </a:solidFill>
          <a:ln w="5715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600" b="1" dirty="0">
                <a:solidFill>
                  <a:schemeClr val="bg1"/>
                </a:solidFill>
              </a:rPr>
              <a:t>設計</a:t>
            </a:r>
          </a:p>
        </p:txBody>
      </p:sp>
      <p:sp>
        <p:nvSpPr>
          <p:cNvPr id="24" name="正方形/長方形 23">
            <a:extLst>
              <a:ext uri="{FF2B5EF4-FFF2-40B4-BE49-F238E27FC236}">
                <a16:creationId xmlns:a16="http://schemas.microsoft.com/office/drawing/2014/main" id="{B2AFE0BF-4560-F35F-FE46-A0DF9712338D}"/>
              </a:ext>
            </a:extLst>
          </p:cNvPr>
          <p:cNvSpPr/>
          <p:nvPr/>
        </p:nvSpPr>
        <p:spPr>
          <a:xfrm>
            <a:off x="5838824" y="1765895"/>
            <a:ext cx="4320000" cy="3060000"/>
          </a:xfrm>
          <a:prstGeom prst="rect">
            <a:avLst/>
          </a:prstGeom>
          <a:noFill/>
          <a:ln w="5715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2" name="正方形/長方形 21">
            <a:extLst>
              <a:ext uri="{FF2B5EF4-FFF2-40B4-BE49-F238E27FC236}">
                <a16:creationId xmlns:a16="http://schemas.microsoft.com/office/drawing/2014/main" id="{D3CBAC89-3424-BF86-BDAB-C96BEF10EBA9}"/>
              </a:ext>
            </a:extLst>
          </p:cNvPr>
          <p:cNvSpPr/>
          <p:nvPr/>
        </p:nvSpPr>
        <p:spPr>
          <a:xfrm>
            <a:off x="9654824" y="1765895"/>
            <a:ext cx="504000" cy="3060000"/>
          </a:xfrm>
          <a:prstGeom prst="rect">
            <a:avLst/>
          </a:prstGeom>
          <a:solidFill>
            <a:srgbClr val="92D050"/>
          </a:solidFill>
          <a:ln w="5715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600" b="1" dirty="0">
                <a:solidFill>
                  <a:schemeClr val="bg1"/>
                </a:solidFill>
              </a:rPr>
              <a:t>製造・テスト</a:t>
            </a:r>
          </a:p>
        </p:txBody>
      </p:sp>
      <p:sp>
        <p:nvSpPr>
          <p:cNvPr id="25" name="テキスト ボックス 24">
            <a:extLst>
              <a:ext uri="{FF2B5EF4-FFF2-40B4-BE49-F238E27FC236}">
                <a16:creationId xmlns:a16="http://schemas.microsoft.com/office/drawing/2014/main" id="{A72144DA-53F3-938B-111C-1CA8449666C1}"/>
              </a:ext>
            </a:extLst>
          </p:cNvPr>
          <p:cNvSpPr txBox="1"/>
          <p:nvPr/>
        </p:nvSpPr>
        <p:spPr>
          <a:xfrm>
            <a:off x="2094981" y="4248931"/>
            <a:ext cx="1592559" cy="315386"/>
          </a:xfrm>
          <a:prstGeom prst="rect">
            <a:avLst/>
          </a:prstGeom>
          <a:noFill/>
        </p:spPr>
        <p:txBody>
          <a:bodyPr wrap="square" lIns="0" rIns="0" rtlCol="0">
            <a:noAutofit/>
          </a:bodyPr>
          <a:lstStyle/>
          <a:p>
            <a:pPr algn="l" defTabSz="288000"/>
            <a:r>
              <a:rPr kumimoji="1" lang="ja-JP" altLang="en-US" b="1" dirty="0">
                <a:solidFill>
                  <a:srgbClr val="FFC400"/>
                </a:solidFill>
                <a:latin typeface="+mn-ea"/>
              </a:rPr>
              <a:t>品質の作りこみ</a:t>
            </a:r>
          </a:p>
        </p:txBody>
      </p:sp>
      <p:sp>
        <p:nvSpPr>
          <p:cNvPr id="26" name="テキスト ボックス 25">
            <a:extLst>
              <a:ext uri="{FF2B5EF4-FFF2-40B4-BE49-F238E27FC236}">
                <a16:creationId xmlns:a16="http://schemas.microsoft.com/office/drawing/2014/main" id="{C6440629-1C82-3D5C-68EC-1058EA03F6C3}"/>
              </a:ext>
            </a:extLst>
          </p:cNvPr>
          <p:cNvSpPr txBox="1"/>
          <p:nvPr/>
        </p:nvSpPr>
        <p:spPr>
          <a:xfrm>
            <a:off x="7973436" y="4091238"/>
            <a:ext cx="1615430" cy="315386"/>
          </a:xfrm>
          <a:prstGeom prst="rect">
            <a:avLst/>
          </a:prstGeom>
          <a:noFill/>
        </p:spPr>
        <p:txBody>
          <a:bodyPr wrap="square" lIns="0" rIns="0" rtlCol="0">
            <a:noAutofit/>
          </a:bodyPr>
          <a:lstStyle/>
          <a:p>
            <a:pPr algn="l" defTabSz="288000"/>
            <a:r>
              <a:rPr lang="ja-JP" altLang="en-US" b="1" dirty="0">
                <a:solidFill>
                  <a:srgbClr val="92D050"/>
                </a:solidFill>
                <a:latin typeface="+mn-ea"/>
              </a:rPr>
              <a:t>設計</a:t>
            </a:r>
            <a:r>
              <a:rPr kumimoji="1" lang="ja-JP" altLang="en-US" b="1" dirty="0">
                <a:solidFill>
                  <a:srgbClr val="92D050"/>
                </a:solidFill>
                <a:latin typeface="+mn-ea"/>
              </a:rPr>
              <a:t>に基づいた</a:t>
            </a:r>
            <a:endParaRPr kumimoji="1" lang="en-US" altLang="ja-JP" b="1" dirty="0">
              <a:solidFill>
                <a:srgbClr val="92D050"/>
              </a:solidFill>
              <a:latin typeface="+mn-ea"/>
            </a:endParaRPr>
          </a:p>
          <a:p>
            <a:pPr algn="l" defTabSz="288000"/>
            <a:r>
              <a:rPr kumimoji="1" lang="ja-JP" altLang="en-US" b="1" dirty="0">
                <a:solidFill>
                  <a:srgbClr val="92D050"/>
                </a:solidFill>
                <a:latin typeface="+mn-ea"/>
              </a:rPr>
              <a:t>テストの実施</a:t>
            </a:r>
          </a:p>
        </p:txBody>
      </p:sp>
      <p:sp>
        <p:nvSpPr>
          <p:cNvPr id="19" name="四角形: 角を丸くする 18">
            <a:extLst>
              <a:ext uri="{FF2B5EF4-FFF2-40B4-BE49-F238E27FC236}">
                <a16:creationId xmlns:a16="http://schemas.microsoft.com/office/drawing/2014/main" id="{F34EFC1A-373E-7B74-F212-100CD579573E}"/>
              </a:ext>
            </a:extLst>
          </p:cNvPr>
          <p:cNvSpPr/>
          <p:nvPr/>
        </p:nvSpPr>
        <p:spPr>
          <a:xfrm>
            <a:off x="372000" y="4933510"/>
            <a:ext cx="5400000" cy="1512000"/>
          </a:xfrm>
          <a:prstGeom prst="roundRect">
            <a:avLst>
              <a:gd name="adj" fmla="val 8604"/>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u="sng" dirty="0">
                <a:solidFill>
                  <a:schemeClr val="tx1"/>
                </a:solidFill>
              </a:rPr>
              <a:t>メリット</a:t>
            </a:r>
            <a:endParaRPr kumimoji="1" lang="en-US" altLang="ja-JP" sz="1400" u="sng" dirty="0">
              <a:solidFill>
                <a:schemeClr val="tx1"/>
              </a:solidFill>
            </a:endParaRPr>
          </a:p>
          <a:p>
            <a:pPr algn="ctr"/>
            <a:endParaRPr kumimoji="1" lang="ja-JP" altLang="en-US" sz="1400" u="sng" dirty="0">
              <a:solidFill>
                <a:schemeClr val="tx1"/>
              </a:solidFill>
            </a:endParaRPr>
          </a:p>
        </p:txBody>
      </p:sp>
      <p:sp>
        <p:nvSpPr>
          <p:cNvPr id="21" name="四角形: 角を丸くする 20">
            <a:extLst>
              <a:ext uri="{FF2B5EF4-FFF2-40B4-BE49-F238E27FC236}">
                <a16:creationId xmlns:a16="http://schemas.microsoft.com/office/drawing/2014/main" id="{67204B99-3323-AEBD-5CDE-8AADCE8FF223}"/>
              </a:ext>
            </a:extLst>
          </p:cNvPr>
          <p:cNvSpPr/>
          <p:nvPr/>
        </p:nvSpPr>
        <p:spPr>
          <a:xfrm>
            <a:off x="5838825" y="4933509"/>
            <a:ext cx="6076134" cy="1512000"/>
          </a:xfrm>
          <a:prstGeom prst="roundRect">
            <a:avLst>
              <a:gd name="adj" fmla="val 10331"/>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u="sng" dirty="0">
                <a:solidFill>
                  <a:schemeClr val="tx1"/>
                </a:solidFill>
              </a:rPr>
              <a:t>デメリット</a:t>
            </a:r>
            <a:endParaRPr lang="en-US" altLang="ja-JP" sz="1400" u="sng" dirty="0">
              <a:solidFill>
                <a:schemeClr val="tx1"/>
              </a:solidFill>
            </a:endParaRPr>
          </a:p>
        </p:txBody>
      </p:sp>
      <p:sp>
        <p:nvSpPr>
          <p:cNvPr id="27" name="テキスト ボックス 26">
            <a:extLst>
              <a:ext uri="{FF2B5EF4-FFF2-40B4-BE49-F238E27FC236}">
                <a16:creationId xmlns:a16="http://schemas.microsoft.com/office/drawing/2014/main" id="{168B0EC1-7E13-7D53-8393-522B47BB9BFD}"/>
              </a:ext>
            </a:extLst>
          </p:cNvPr>
          <p:cNvSpPr txBox="1"/>
          <p:nvPr/>
        </p:nvSpPr>
        <p:spPr>
          <a:xfrm>
            <a:off x="439932" y="5333612"/>
            <a:ext cx="5264135" cy="1046440"/>
          </a:xfrm>
          <a:prstGeom prst="rect">
            <a:avLst/>
          </a:prstGeom>
          <a:noFill/>
        </p:spPr>
        <p:txBody>
          <a:bodyPr wrap="square">
            <a:spAutoFit/>
          </a:bodyPr>
          <a:lstStyle/>
          <a:p>
            <a:pPr algn="l"/>
            <a:r>
              <a:rPr lang="ja-JP" altLang="en-US" sz="1400" dirty="0">
                <a:solidFill>
                  <a:schemeClr val="tx1"/>
                </a:solidFill>
              </a:rPr>
              <a:t>・各段階が明確に定義されているため、</a:t>
            </a:r>
            <a:r>
              <a:rPr lang="ja-JP" altLang="en-US" sz="1600" b="1" i="0" dirty="0">
                <a:solidFill>
                  <a:schemeClr val="tx1"/>
                </a:solidFill>
                <a:effectLst/>
                <a:latin typeface="__Inter_a184c8"/>
              </a:rPr>
              <a:t>進捗管理が</a:t>
            </a:r>
            <a:r>
              <a:rPr lang="ja-JP" altLang="en-US" sz="1600" b="1" dirty="0">
                <a:solidFill>
                  <a:schemeClr val="tx1"/>
                </a:solidFill>
                <a:latin typeface="__Inter_a184c8"/>
              </a:rPr>
              <a:t>容易</a:t>
            </a:r>
            <a:endParaRPr lang="ja-JP" altLang="en-US" sz="1400" b="1" i="0" dirty="0">
              <a:solidFill>
                <a:schemeClr val="tx1"/>
              </a:solidFill>
              <a:effectLst/>
              <a:latin typeface="__Inter_a184c8"/>
            </a:endParaRPr>
          </a:p>
          <a:p>
            <a:pPr algn="l"/>
            <a:r>
              <a:rPr lang="ja-JP" altLang="en-US" sz="1400" b="0" i="0" dirty="0">
                <a:solidFill>
                  <a:schemeClr val="tx1"/>
                </a:solidFill>
                <a:effectLst/>
                <a:latin typeface="__Inter_a184c8"/>
              </a:rPr>
              <a:t>・設計とテストの対応関係が明瞭で、</a:t>
            </a:r>
            <a:r>
              <a:rPr lang="ja-JP" altLang="en-US" sz="1600" b="1" i="0" dirty="0">
                <a:solidFill>
                  <a:schemeClr val="tx1"/>
                </a:solidFill>
                <a:effectLst/>
                <a:latin typeface="__Inter_a184c8"/>
              </a:rPr>
              <a:t>品質保証しやすい</a:t>
            </a:r>
            <a:endParaRPr lang="ja-JP" altLang="en-US" sz="1400" b="1" i="0" dirty="0">
              <a:solidFill>
                <a:schemeClr val="tx1"/>
              </a:solidFill>
              <a:effectLst/>
              <a:latin typeface="__Inter_a184c8"/>
            </a:endParaRPr>
          </a:p>
          <a:p>
            <a:pPr algn="l"/>
            <a:r>
              <a:rPr lang="ja-JP" altLang="en-US" sz="1400" b="0" i="0" dirty="0">
                <a:effectLst/>
                <a:latin typeface="__Inter_a184c8"/>
              </a:rPr>
              <a:t>・フェーズごとに修了判定を行うため、その場で問題を検出することができる</a:t>
            </a:r>
            <a:endParaRPr lang="en-US" altLang="ja-JP" sz="1400" b="0" i="0" dirty="0">
              <a:effectLst/>
              <a:latin typeface="__Inter_a184c8"/>
            </a:endParaRPr>
          </a:p>
          <a:p>
            <a:pPr algn="l"/>
            <a:r>
              <a:rPr lang="ja-JP" altLang="en-US" sz="1400" dirty="0">
                <a:latin typeface="__Inter_a184c8"/>
              </a:rPr>
              <a:t>　⇒ 後続に影響することなく、</a:t>
            </a:r>
            <a:r>
              <a:rPr lang="ja-JP" altLang="en-US" sz="1600" b="1" i="0" dirty="0">
                <a:effectLst/>
                <a:latin typeface="__Inter_a184c8"/>
              </a:rPr>
              <a:t>早期の修正が可能</a:t>
            </a:r>
            <a:endParaRPr lang="ja-JP" altLang="en-US" sz="1400" b="1" i="0" dirty="0">
              <a:effectLst/>
              <a:latin typeface="__Inter_a184c8"/>
            </a:endParaRPr>
          </a:p>
        </p:txBody>
      </p:sp>
      <p:sp>
        <p:nvSpPr>
          <p:cNvPr id="28" name="テキスト ボックス 27">
            <a:extLst>
              <a:ext uri="{FF2B5EF4-FFF2-40B4-BE49-F238E27FC236}">
                <a16:creationId xmlns:a16="http://schemas.microsoft.com/office/drawing/2014/main" id="{0F19F3AC-6A5B-3B6E-5D02-86408625C229}"/>
              </a:ext>
            </a:extLst>
          </p:cNvPr>
          <p:cNvSpPr txBox="1"/>
          <p:nvPr/>
        </p:nvSpPr>
        <p:spPr>
          <a:xfrm>
            <a:off x="5906757" y="5335939"/>
            <a:ext cx="6076135" cy="1015663"/>
          </a:xfrm>
          <a:prstGeom prst="rect">
            <a:avLst/>
          </a:prstGeom>
          <a:noFill/>
        </p:spPr>
        <p:txBody>
          <a:bodyPr wrap="square">
            <a:spAutoFit/>
          </a:bodyPr>
          <a:lstStyle/>
          <a:p>
            <a:pPr algn="l"/>
            <a:r>
              <a:rPr lang="ja-JP" altLang="en-US" sz="1400" dirty="0"/>
              <a:t>・</a:t>
            </a:r>
            <a:r>
              <a:rPr lang="ja-JP" altLang="en-US" sz="1400" b="0" i="0" dirty="0">
                <a:effectLst/>
                <a:latin typeface="__Inter_a184c8"/>
              </a:rPr>
              <a:t>各フェーズが順序立てて実施され、途中での開始</a:t>
            </a:r>
            <a:r>
              <a:rPr lang="en-US" altLang="ja-JP" sz="1400" b="0" i="0" dirty="0">
                <a:effectLst/>
                <a:latin typeface="__Inter_a184c8"/>
              </a:rPr>
              <a:t>/</a:t>
            </a:r>
            <a:r>
              <a:rPr lang="ja-JP" altLang="en-US" sz="1400" b="0" i="0" dirty="0">
                <a:effectLst/>
                <a:latin typeface="__Inter_a184c8"/>
              </a:rPr>
              <a:t>終了ができない</a:t>
            </a:r>
            <a:endParaRPr lang="en-US" altLang="ja-JP" sz="1400" b="0" i="0" dirty="0">
              <a:effectLst/>
              <a:latin typeface="__Inter_a184c8"/>
            </a:endParaRPr>
          </a:p>
          <a:p>
            <a:pPr algn="l"/>
            <a:r>
              <a:rPr lang="ja-JP" altLang="en-US" sz="1400" dirty="0">
                <a:latin typeface="__Inter_a184c8"/>
              </a:rPr>
              <a:t>　⇒ </a:t>
            </a:r>
            <a:r>
              <a:rPr lang="ja-JP" altLang="en-US" sz="1400" b="0" i="0" dirty="0">
                <a:effectLst/>
                <a:latin typeface="__Inter_a184c8"/>
              </a:rPr>
              <a:t>開発期間中の</a:t>
            </a:r>
            <a:r>
              <a:rPr lang="ja-JP" altLang="en-US" sz="1600" b="1" i="0" dirty="0">
                <a:effectLst/>
                <a:latin typeface="__Inter_a184c8"/>
              </a:rPr>
              <a:t>要件の変更が難しく、柔軟性が低い</a:t>
            </a:r>
            <a:endParaRPr lang="en-US" altLang="ja-JP" sz="1400" b="1" i="0" dirty="0">
              <a:effectLst/>
              <a:latin typeface="__Inter_a184c8"/>
            </a:endParaRPr>
          </a:p>
          <a:p>
            <a:pPr algn="l"/>
            <a:r>
              <a:rPr lang="ja-JP" altLang="en-US" sz="1400" dirty="0">
                <a:latin typeface="__Inter_a184c8"/>
              </a:rPr>
              <a:t>・前のフェーズの成果物をインプットにしているため、複数フェーズを同時進行できない</a:t>
            </a:r>
            <a:endParaRPr lang="en-US" altLang="ja-JP" sz="1400" dirty="0">
              <a:latin typeface="__Inter_a184c8"/>
            </a:endParaRPr>
          </a:p>
          <a:p>
            <a:pPr algn="l"/>
            <a:r>
              <a:rPr lang="ja-JP" altLang="en-US" sz="1400" b="0" i="0" dirty="0">
                <a:effectLst/>
                <a:latin typeface="__Inter_a184c8"/>
              </a:rPr>
              <a:t>　⇒１フェーズでの遅延が、</a:t>
            </a:r>
            <a:r>
              <a:rPr lang="ja-JP" altLang="en-US" sz="1600" b="1" i="0" dirty="0">
                <a:effectLst/>
                <a:latin typeface="__Inter_a184c8"/>
              </a:rPr>
              <a:t>開発全体の遅れに直結する</a:t>
            </a:r>
            <a:r>
              <a:rPr lang="ja-JP" altLang="en-US" sz="1400" b="0" i="0" dirty="0">
                <a:effectLst/>
                <a:latin typeface="__Inter_a184c8"/>
              </a:rPr>
              <a:t>可能性がある</a:t>
            </a:r>
          </a:p>
        </p:txBody>
      </p:sp>
    </p:spTree>
    <p:extLst>
      <p:ext uri="{BB962C8B-B14F-4D97-AF65-F5344CB8AC3E}">
        <p14:creationId xmlns:p14="http://schemas.microsoft.com/office/powerpoint/2010/main" val="3732504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5964D-33B8-68F0-3D49-650544A2EC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BAD2737-D9FD-0894-FAB5-15A17B75D149}"/>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要求定義 </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BCF398B5-C484-C8CC-1FA6-F100A9C1F72E}"/>
              </a:ext>
            </a:extLst>
          </p:cNvPr>
          <p:cNvSpPr>
            <a:spLocks noGrp="1"/>
          </p:cNvSpPr>
          <p:nvPr>
            <p:ph sz="quarter" idx="4294967295"/>
          </p:nvPr>
        </p:nvSpPr>
        <p:spPr>
          <a:xfrm>
            <a:off x="481490" y="978298"/>
            <a:ext cx="11448000" cy="4939644"/>
          </a:xfrm>
        </p:spPr>
        <p:txBody>
          <a:bodyPr/>
          <a:lstStyle/>
          <a:p>
            <a:r>
              <a:rPr lang="ja-JP" altLang="en-US" u="sng" dirty="0"/>
              <a:t>要求定義（</a:t>
            </a:r>
            <a:r>
              <a:rPr lang="en-US" altLang="ja-JP" u="sng" dirty="0"/>
              <a:t>Requirements Definition</a:t>
            </a:r>
            <a:r>
              <a:rPr lang="ja-JP" altLang="en-US" u="sng" dirty="0"/>
              <a:t>）フェーズ</a:t>
            </a:r>
            <a:endParaRPr lang="en-US" altLang="ja-JP" u="sng" dirty="0"/>
          </a:p>
          <a:p>
            <a:r>
              <a:rPr lang="ja-JP" altLang="en-US" dirty="0"/>
              <a:t>顧客の問題</a:t>
            </a:r>
            <a:r>
              <a:rPr lang="en-US" altLang="ja-JP" dirty="0"/>
              <a:t>/</a:t>
            </a:r>
            <a:r>
              <a:rPr lang="ja-JP" altLang="en-US" dirty="0"/>
              <a:t>課題や目指す将来像を元に、解決に向けた基本構想</a:t>
            </a:r>
            <a:r>
              <a:rPr kumimoji="1" lang="ja-JP" altLang="en-US" dirty="0"/>
              <a:t>を明確にするフェーズ</a:t>
            </a:r>
            <a:endParaRPr kumimoji="1" lang="en-US" altLang="ja-JP" dirty="0"/>
          </a:p>
          <a:p>
            <a:r>
              <a:rPr kumimoji="1" lang="ja-JP" altLang="en-US" dirty="0"/>
              <a:t>顧客や利害関係者との会話の中で、要求を収集・提案し、それを仕様として文書化する</a:t>
            </a:r>
            <a:endParaRPr kumimoji="1" lang="en-US" altLang="ja-JP" dirty="0"/>
          </a:p>
          <a:p>
            <a:endParaRPr lang="en-US" altLang="ja-JP" dirty="0"/>
          </a:p>
          <a:p>
            <a:endParaRPr kumimoji="1" lang="ja-JP" altLang="en-US" dirty="0"/>
          </a:p>
        </p:txBody>
      </p:sp>
      <p:grpSp>
        <p:nvGrpSpPr>
          <p:cNvPr id="8" name="グループ化 7">
            <a:extLst>
              <a:ext uri="{FF2B5EF4-FFF2-40B4-BE49-F238E27FC236}">
                <a16:creationId xmlns:a16="http://schemas.microsoft.com/office/drawing/2014/main" id="{F2BC018F-B92A-70DF-1905-CBC4310E5970}"/>
              </a:ext>
            </a:extLst>
          </p:cNvPr>
          <p:cNvGrpSpPr/>
          <p:nvPr/>
        </p:nvGrpSpPr>
        <p:grpSpPr>
          <a:xfrm>
            <a:off x="8368185" y="152748"/>
            <a:ext cx="3561305" cy="1890892"/>
            <a:chOff x="8368185" y="152748"/>
            <a:chExt cx="3561305" cy="1890892"/>
          </a:xfrm>
        </p:grpSpPr>
        <p:pic>
          <p:nvPicPr>
            <p:cNvPr id="9" name="図 8" descr="ダイアグラム&#10;&#10;AI によって生成されたコンテンツは間違っている可能性があります。">
              <a:extLst>
                <a:ext uri="{FF2B5EF4-FFF2-40B4-BE49-F238E27FC236}">
                  <a16:creationId xmlns:a16="http://schemas.microsoft.com/office/drawing/2014/main" id="{25D88972-CA70-5A08-D78A-032D3A308258}"/>
                </a:ext>
              </a:extLst>
            </p:cNvPr>
            <p:cNvPicPr>
              <a:picLocks noChangeAspect="1"/>
            </p:cNvPicPr>
            <p:nvPr/>
          </p:nvPicPr>
          <p:blipFill>
            <a:blip r:embed="rId2"/>
            <a:stretch>
              <a:fillRect/>
            </a:stretch>
          </p:blipFill>
          <p:spPr>
            <a:xfrm>
              <a:off x="8633867" y="152748"/>
              <a:ext cx="3295623" cy="1890892"/>
            </a:xfrm>
            <a:prstGeom prst="rect">
              <a:avLst/>
            </a:prstGeom>
            <a:ln>
              <a:solidFill>
                <a:schemeClr val="tx1"/>
              </a:solidFill>
            </a:ln>
          </p:spPr>
        </p:pic>
        <p:sp>
          <p:nvSpPr>
            <p:cNvPr id="14" name="正方形/長方形 13">
              <a:extLst>
                <a:ext uri="{FF2B5EF4-FFF2-40B4-BE49-F238E27FC236}">
                  <a16:creationId xmlns:a16="http://schemas.microsoft.com/office/drawing/2014/main" id="{64D10A06-F900-B7BF-8A41-603A5A49BAE2}"/>
                </a:ext>
              </a:extLst>
            </p:cNvPr>
            <p:cNvSpPr/>
            <p:nvPr/>
          </p:nvSpPr>
          <p:spPr>
            <a:xfrm>
              <a:off x="8713421" y="262988"/>
              <a:ext cx="900000" cy="396000"/>
            </a:xfrm>
            <a:prstGeom prst="rect">
              <a:avLst/>
            </a:prstGeom>
            <a:noFill/>
            <a:ln w="38100">
              <a:solidFill>
                <a:srgbClr val="FFC4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15" name="正方形/長方形 14">
              <a:extLst>
                <a:ext uri="{FF2B5EF4-FFF2-40B4-BE49-F238E27FC236}">
                  <a16:creationId xmlns:a16="http://schemas.microsoft.com/office/drawing/2014/main" id="{D90085AF-E7C2-5363-5771-C8F558E51E4F}"/>
                </a:ext>
              </a:extLst>
            </p:cNvPr>
            <p:cNvSpPr/>
            <p:nvPr/>
          </p:nvSpPr>
          <p:spPr>
            <a:xfrm>
              <a:off x="10313987"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6" name="矢印: 下 15">
              <a:extLst>
                <a:ext uri="{FF2B5EF4-FFF2-40B4-BE49-F238E27FC236}">
                  <a16:creationId xmlns:a16="http://schemas.microsoft.com/office/drawing/2014/main" id="{067FE929-3670-3D74-4653-0A481B783C97}"/>
                </a:ext>
              </a:extLst>
            </p:cNvPr>
            <p:cNvSpPr/>
            <p:nvPr/>
          </p:nvSpPr>
          <p:spPr>
            <a:xfrm rot="16200000">
              <a:off x="8435408" y="288370"/>
              <a:ext cx="210790" cy="345236"/>
            </a:xfrm>
            <a:prstGeom prst="downArrow">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pic>
        <p:nvPicPr>
          <p:cNvPr id="37" name="グラフィックス 36" descr="ユーザー 単色塗りつぶし">
            <a:extLst>
              <a:ext uri="{FF2B5EF4-FFF2-40B4-BE49-F238E27FC236}">
                <a16:creationId xmlns:a16="http://schemas.microsoft.com/office/drawing/2014/main" id="{82AE17CA-1B68-1049-56D8-A688A1BB2E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3631" y="2318688"/>
            <a:ext cx="525455" cy="525455"/>
          </a:xfrm>
          <a:prstGeom prst="rect">
            <a:avLst/>
          </a:prstGeom>
        </p:spPr>
      </p:pic>
      <p:sp>
        <p:nvSpPr>
          <p:cNvPr id="39" name="吹き出し: 角を丸めた四角形 38">
            <a:extLst>
              <a:ext uri="{FF2B5EF4-FFF2-40B4-BE49-F238E27FC236}">
                <a16:creationId xmlns:a16="http://schemas.microsoft.com/office/drawing/2014/main" id="{428DB936-90F3-CB0B-F5D3-2496364CBAE3}"/>
              </a:ext>
            </a:extLst>
          </p:cNvPr>
          <p:cNvSpPr/>
          <p:nvPr/>
        </p:nvSpPr>
        <p:spPr>
          <a:xfrm>
            <a:off x="2155032" y="2318687"/>
            <a:ext cx="3201014" cy="456735"/>
          </a:xfrm>
          <a:prstGeom prst="wedgeRoundRectCallout">
            <a:avLst>
              <a:gd name="adj1" fmla="val -58656"/>
              <a:gd name="adj2" fmla="val 23697"/>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○○に向けて、□□していきたい！</a:t>
            </a:r>
            <a:endParaRPr kumimoji="1" lang="en-US" altLang="ja-JP" sz="1400" dirty="0">
              <a:solidFill>
                <a:schemeClr val="tx1"/>
              </a:solidFill>
            </a:endParaRPr>
          </a:p>
        </p:txBody>
      </p:sp>
      <p:sp>
        <p:nvSpPr>
          <p:cNvPr id="40" name="テキスト ボックス 39">
            <a:extLst>
              <a:ext uri="{FF2B5EF4-FFF2-40B4-BE49-F238E27FC236}">
                <a16:creationId xmlns:a16="http://schemas.microsoft.com/office/drawing/2014/main" id="{4BC8A0C9-F276-0170-D2A6-2FB93D357EAF}"/>
              </a:ext>
            </a:extLst>
          </p:cNvPr>
          <p:cNvSpPr txBox="1"/>
          <p:nvPr/>
        </p:nvSpPr>
        <p:spPr>
          <a:xfrm>
            <a:off x="1424203" y="2739424"/>
            <a:ext cx="377401" cy="304151"/>
          </a:xfrm>
          <a:prstGeom prst="rect">
            <a:avLst/>
          </a:prstGeom>
          <a:noFill/>
        </p:spPr>
        <p:txBody>
          <a:bodyPr wrap="square" lIns="0" rIns="0" rtlCol="0">
            <a:noAutofit/>
          </a:bodyPr>
          <a:lstStyle/>
          <a:p>
            <a:pPr algn="l" defTabSz="288000"/>
            <a:r>
              <a:rPr lang="ja-JP" altLang="en-US" sz="1200" dirty="0">
                <a:latin typeface="+mn-ea"/>
              </a:rPr>
              <a:t>顧客</a:t>
            </a:r>
            <a:endParaRPr kumimoji="1" lang="ja-JP" altLang="en-US" sz="1200" dirty="0">
              <a:latin typeface="+mn-ea"/>
            </a:endParaRPr>
          </a:p>
        </p:txBody>
      </p:sp>
      <p:pic>
        <p:nvPicPr>
          <p:cNvPr id="42" name="グラフィックス 41" descr="ユーザー 単色塗りつぶし">
            <a:extLst>
              <a:ext uri="{FF2B5EF4-FFF2-40B4-BE49-F238E27FC236}">
                <a16:creationId xmlns:a16="http://schemas.microsoft.com/office/drawing/2014/main" id="{914BFABF-6805-BC8B-E450-013B58AE81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15259" y="5946155"/>
            <a:ext cx="525455" cy="525455"/>
          </a:xfrm>
          <a:prstGeom prst="rect">
            <a:avLst/>
          </a:prstGeom>
        </p:spPr>
      </p:pic>
      <p:sp>
        <p:nvSpPr>
          <p:cNvPr id="43" name="吹き出し: 角を丸めた四角形 42">
            <a:extLst>
              <a:ext uri="{FF2B5EF4-FFF2-40B4-BE49-F238E27FC236}">
                <a16:creationId xmlns:a16="http://schemas.microsoft.com/office/drawing/2014/main" id="{CB08D043-4C91-75F1-558C-29A4B73F1CC2}"/>
              </a:ext>
            </a:extLst>
          </p:cNvPr>
          <p:cNvSpPr/>
          <p:nvPr/>
        </p:nvSpPr>
        <p:spPr>
          <a:xfrm>
            <a:off x="2156463" y="6009746"/>
            <a:ext cx="3199582" cy="398274"/>
          </a:xfrm>
          <a:prstGeom prst="wedgeRoundRectCallout">
            <a:avLst>
              <a:gd name="adj1" fmla="val -58656"/>
              <a:gd name="adj2" fmla="val 23697"/>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じゃあ、その案を進めていこう！</a:t>
            </a:r>
            <a:endParaRPr kumimoji="1" lang="en-US" altLang="ja-JP" sz="1400" dirty="0">
              <a:solidFill>
                <a:schemeClr val="tx1"/>
              </a:solidFill>
            </a:endParaRPr>
          </a:p>
        </p:txBody>
      </p:sp>
      <p:sp>
        <p:nvSpPr>
          <p:cNvPr id="45" name="吹き出し: 角を丸めた四角形 44">
            <a:extLst>
              <a:ext uri="{FF2B5EF4-FFF2-40B4-BE49-F238E27FC236}">
                <a16:creationId xmlns:a16="http://schemas.microsoft.com/office/drawing/2014/main" id="{5F9D6EB1-0E8B-BB72-9201-98BECC840412}"/>
              </a:ext>
            </a:extLst>
          </p:cNvPr>
          <p:cNvSpPr/>
          <p:nvPr/>
        </p:nvSpPr>
        <p:spPr>
          <a:xfrm>
            <a:off x="3143051" y="5279115"/>
            <a:ext cx="5997954" cy="638827"/>
          </a:xfrm>
          <a:prstGeom prst="wedgeRoundRectCallout">
            <a:avLst>
              <a:gd name="adj1" fmla="val 56173"/>
              <a:gd name="adj2" fmla="val -30116"/>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お客様の</a:t>
            </a:r>
            <a:r>
              <a:rPr lang="ja-JP" altLang="en-US" sz="1400" dirty="0">
                <a:solidFill>
                  <a:schemeClr val="tx1"/>
                </a:solidFill>
              </a:rPr>
              <a:t>現状や世の中の動向等</a:t>
            </a:r>
            <a:r>
              <a:rPr kumimoji="1" lang="ja-JP" altLang="en-US" sz="1400" dirty="0">
                <a:solidFill>
                  <a:schemeClr val="tx1"/>
                </a:solidFill>
              </a:rPr>
              <a:t>を踏まえると、</a:t>
            </a:r>
            <a:endParaRPr kumimoji="1" lang="en-US" altLang="ja-JP" sz="1400" dirty="0">
              <a:solidFill>
                <a:schemeClr val="tx1"/>
              </a:solidFill>
            </a:endParaRPr>
          </a:p>
          <a:p>
            <a:pPr algn="ctr"/>
            <a:r>
              <a:rPr lang="ja-JP" altLang="en-US" sz="1400" dirty="0">
                <a:solidFill>
                  <a:schemeClr val="tx1"/>
                </a:solidFill>
              </a:rPr>
              <a:t>△△することで、□□を実現する案が</a:t>
            </a:r>
            <a:r>
              <a:rPr kumimoji="1" lang="ja-JP" altLang="en-US" sz="1400" dirty="0">
                <a:solidFill>
                  <a:schemeClr val="tx1"/>
                </a:solidFill>
              </a:rPr>
              <a:t>いいと思います　　</a:t>
            </a:r>
            <a:endParaRPr kumimoji="1" lang="en-US" altLang="ja-JP" sz="1400" dirty="0">
              <a:solidFill>
                <a:schemeClr val="tx1"/>
              </a:solidFill>
            </a:endParaRPr>
          </a:p>
        </p:txBody>
      </p:sp>
      <p:sp>
        <p:nvSpPr>
          <p:cNvPr id="24" name="テキスト ボックス 23">
            <a:extLst>
              <a:ext uri="{FF2B5EF4-FFF2-40B4-BE49-F238E27FC236}">
                <a16:creationId xmlns:a16="http://schemas.microsoft.com/office/drawing/2014/main" id="{6D6FDD34-E74C-F9F0-FBBD-6861F4EC5810}"/>
              </a:ext>
            </a:extLst>
          </p:cNvPr>
          <p:cNvSpPr txBox="1"/>
          <p:nvPr/>
        </p:nvSpPr>
        <p:spPr>
          <a:xfrm>
            <a:off x="366374" y="2024422"/>
            <a:ext cx="7515224" cy="369332"/>
          </a:xfrm>
          <a:prstGeom prst="rect">
            <a:avLst/>
          </a:prstGeom>
          <a:noFill/>
        </p:spPr>
        <p:txBody>
          <a:bodyPr wrap="square">
            <a:spAutoFit/>
          </a:bodyPr>
          <a:lstStyle/>
          <a:p>
            <a:r>
              <a:rPr lang="ja-JP" altLang="en-US" dirty="0"/>
              <a:t>■主な作業</a:t>
            </a:r>
            <a:endParaRPr lang="ja-JP" altLang="en-US" sz="1800" b="0" i="0" dirty="0">
              <a:solidFill>
                <a:srgbClr val="333333"/>
              </a:solidFill>
              <a:effectLst/>
              <a:latin typeface="Helvetica Neue"/>
            </a:endParaRPr>
          </a:p>
        </p:txBody>
      </p:sp>
      <p:sp>
        <p:nvSpPr>
          <p:cNvPr id="26" name="正方形/長方形 25">
            <a:extLst>
              <a:ext uri="{FF2B5EF4-FFF2-40B4-BE49-F238E27FC236}">
                <a16:creationId xmlns:a16="http://schemas.microsoft.com/office/drawing/2014/main" id="{32D8003C-AE7F-87DC-13DF-8D7E4FE9085A}"/>
              </a:ext>
            </a:extLst>
          </p:cNvPr>
          <p:cNvSpPr/>
          <p:nvPr/>
        </p:nvSpPr>
        <p:spPr>
          <a:xfrm>
            <a:off x="3164679" y="2860397"/>
            <a:ext cx="6123921" cy="1281181"/>
          </a:xfrm>
          <a:prstGeom prst="rect">
            <a:avLst/>
          </a:prstGeom>
          <a:solidFill>
            <a:schemeClr val="bg1"/>
          </a:solid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400" dirty="0">
                <a:solidFill>
                  <a:schemeClr val="tx1"/>
                </a:solidFill>
              </a:rPr>
              <a:t>　　　顧客の置かれている状況は・・・</a:t>
            </a:r>
            <a:endParaRPr kumimoji="1" lang="en-US" altLang="ja-JP" sz="1400" dirty="0">
              <a:solidFill>
                <a:schemeClr val="tx1"/>
              </a:solidFill>
            </a:endParaRPr>
          </a:p>
          <a:p>
            <a:endParaRPr kumimoji="1" lang="ja-JP" altLang="en-US" sz="1400" dirty="0" err="1">
              <a:solidFill>
                <a:schemeClr val="tx1"/>
              </a:solidFill>
            </a:endParaRPr>
          </a:p>
        </p:txBody>
      </p:sp>
      <p:sp>
        <p:nvSpPr>
          <p:cNvPr id="27" name="楕円 26">
            <a:extLst>
              <a:ext uri="{FF2B5EF4-FFF2-40B4-BE49-F238E27FC236}">
                <a16:creationId xmlns:a16="http://schemas.microsoft.com/office/drawing/2014/main" id="{AFE6FEB8-6C8B-82BB-36B5-1E403EAC256A}"/>
              </a:ext>
            </a:extLst>
          </p:cNvPr>
          <p:cNvSpPr/>
          <p:nvPr/>
        </p:nvSpPr>
        <p:spPr>
          <a:xfrm>
            <a:off x="3638352" y="3489626"/>
            <a:ext cx="2054358" cy="534541"/>
          </a:xfrm>
          <a:prstGeom prst="ellipse">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顧客の環境や事業の調査</a:t>
            </a:r>
          </a:p>
        </p:txBody>
      </p:sp>
      <p:cxnSp>
        <p:nvCxnSpPr>
          <p:cNvPr id="29" name="直線コネクタ 28">
            <a:extLst>
              <a:ext uri="{FF2B5EF4-FFF2-40B4-BE49-F238E27FC236}">
                <a16:creationId xmlns:a16="http://schemas.microsoft.com/office/drawing/2014/main" id="{77D12728-C106-453B-362D-525D4C6AFD9A}"/>
              </a:ext>
            </a:extLst>
          </p:cNvPr>
          <p:cNvCxnSpPr>
            <a:cxnSpLocks/>
          </p:cNvCxnSpPr>
          <p:nvPr/>
        </p:nvCxnSpPr>
        <p:spPr>
          <a:xfrm flipV="1">
            <a:off x="9288600" y="2990396"/>
            <a:ext cx="408745" cy="248104"/>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楕円 30">
            <a:extLst>
              <a:ext uri="{FF2B5EF4-FFF2-40B4-BE49-F238E27FC236}">
                <a16:creationId xmlns:a16="http://schemas.microsoft.com/office/drawing/2014/main" id="{C783744B-0675-4F0B-0D08-AA056933121F}"/>
              </a:ext>
            </a:extLst>
          </p:cNvPr>
          <p:cNvSpPr/>
          <p:nvPr/>
        </p:nvSpPr>
        <p:spPr>
          <a:xfrm>
            <a:off x="5326485" y="3115193"/>
            <a:ext cx="1995630" cy="504498"/>
          </a:xfrm>
          <a:prstGeom prst="ellipse">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現行システムと業務の課題分析</a:t>
            </a:r>
          </a:p>
        </p:txBody>
      </p:sp>
      <p:sp>
        <p:nvSpPr>
          <p:cNvPr id="33" name="テキスト ボックス 32">
            <a:extLst>
              <a:ext uri="{FF2B5EF4-FFF2-40B4-BE49-F238E27FC236}">
                <a16:creationId xmlns:a16="http://schemas.microsoft.com/office/drawing/2014/main" id="{3B6356AF-305D-04D3-C3B9-7C09C07B7D63}"/>
              </a:ext>
            </a:extLst>
          </p:cNvPr>
          <p:cNvSpPr txBox="1"/>
          <p:nvPr/>
        </p:nvSpPr>
        <p:spPr>
          <a:xfrm>
            <a:off x="8848713" y="3725630"/>
            <a:ext cx="377297" cy="338994"/>
          </a:xfrm>
          <a:prstGeom prst="rect">
            <a:avLst/>
          </a:prstGeom>
          <a:noFill/>
        </p:spPr>
        <p:txBody>
          <a:bodyPr wrap="square" lIns="0" rIns="0" rtlCol="0">
            <a:noAutofit/>
          </a:bodyPr>
          <a:lstStyle/>
          <a:p>
            <a:pPr algn="l" defTabSz="288000"/>
            <a:r>
              <a:rPr kumimoji="1" lang="ja-JP" altLang="en-US" sz="1400" dirty="0">
                <a:latin typeface="+mn-ea"/>
              </a:rPr>
              <a:t>など</a:t>
            </a:r>
          </a:p>
        </p:txBody>
      </p:sp>
      <p:sp>
        <p:nvSpPr>
          <p:cNvPr id="23" name="楕円 22">
            <a:extLst>
              <a:ext uri="{FF2B5EF4-FFF2-40B4-BE49-F238E27FC236}">
                <a16:creationId xmlns:a16="http://schemas.microsoft.com/office/drawing/2014/main" id="{A9F2A545-58A2-C0C7-840B-41C8EC8F295A}"/>
              </a:ext>
            </a:extLst>
          </p:cNvPr>
          <p:cNvSpPr/>
          <p:nvPr/>
        </p:nvSpPr>
        <p:spPr>
          <a:xfrm>
            <a:off x="6778108" y="3549923"/>
            <a:ext cx="1995630" cy="500408"/>
          </a:xfrm>
          <a:prstGeom prst="ellipse">
            <a:avLst/>
          </a:prstGeom>
          <a:solidFill>
            <a:schemeClr val="tx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業務改善と</a:t>
            </a:r>
            <a:r>
              <a:rPr kumimoji="1" lang="en-US" altLang="ja-JP" sz="1200" dirty="0">
                <a:solidFill>
                  <a:schemeClr val="tx1"/>
                </a:solidFill>
              </a:rPr>
              <a:t>IT</a:t>
            </a:r>
            <a:r>
              <a:rPr kumimoji="1" lang="ja-JP" altLang="en-US" sz="1200" dirty="0">
                <a:solidFill>
                  <a:schemeClr val="tx1"/>
                </a:solidFill>
              </a:rPr>
              <a:t>活用の計画</a:t>
            </a:r>
          </a:p>
        </p:txBody>
      </p:sp>
      <p:sp>
        <p:nvSpPr>
          <p:cNvPr id="28" name="四角形: 角を丸くする 27">
            <a:extLst>
              <a:ext uri="{FF2B5EF4-FFF2-40B4-BE49-F238E27FC236}">
                <a16:creationId xmlns:a16="http://schemas.microsoft.com/office/drawing/2014/main" id="{9C534BC0-4528-BB17-10EE-302208903484}"/>
              </a:ext>
            </a:extLst>
          </p:cNvPr>
          <p:cNvSpPr/>
          <p:nvPr/>
        </p:nvSpPr>
        <p:spPr>
          <a:xfrm>
            <a:off x="2812872" y="5389519"/>
            <a:ext cx="657225" cy="321884"/>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提案</a:t>
            </a:r>
          </a:p>
        </p:txBody>
      </p:sp>
      <p:sp>
        <p:nvSpPr>
          <p:cNvPr id="30" name="四角形: 角を丸くする 29">
            <a:extLst>
              <a:ext uri="{FF2B5EF4-FFF2-40B4-BE49-F238E27FC236}">
                <a16:creationId xmlns:a16="http://schemas.microsoft.com/office/drawing/2014/main" id="{86BF832B-90AC-54DD-6075-E72215C00DC7}"/>
              </a:ext>
            </a:extLst>
          </p:cNvPr>
          <p:cNvSpPr/>
          <p:nvPr/>
        </p:nvSpPr>
        <p:spPr>
          <a:xfrm>
            <a:off x="2812871" y="2950080"/>
            <a:ext cx="657225" cy="534541"/>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情報</a:t>
            </a:r>
            <a:endParaRPr kumimoji="1" lang="en-US" altLang="ja-JP" sz="1400" dirty="0">
              <a:solidFill>
                <a:schemeClr val="bg1"/>
              </a:solidFill>
            </a:endParaRPr>
          </a:p>
          <a:p>
            <a:pPr algn="ctr"/>
            <a:r>
              <a:rPr kumimoji="1" lang="ja-JP" altLang="en-US" sz="1400" dirty="0">
                <a:solidFill>
                  <a:schemeClr val="bg1"/>
                </a:solidFill>
              </a:rPr>
              <a:t>収集</a:t>
            </a:r>
          </a:p>
        </p:txBody>
      </p:sp>
      <p:sp>
        <p:nvSpPr>
          <p:cNvPr id="5" name="正方形/長方形 4">
            <a:extLst>
              <a:ext uri="{FF2B5EF4-FFF2-40B4-BE49-F238E27FC236}">
                <a16:creationId xmlns:a16="http://schemas.microsoft.com/office/drawing/2014/main" id="{D338A903-C5AB-D65F-0770-6E2607C51B17}"/>
              </a:ext>
            </a:extLst>
          </p:cNvPr>
          <p:cNvSpPr/>
          <p:nvPr/>
        </p:nvSpPr>
        <p:spPr>
          <a:xfrm>
            <a:off x="3164679" y="4215912"/>
            <a:ext cx="6123921" cy="1017213"/>
          </a:xfrm>
          <a:prstGeom prst="rect">
            <a:avLst/>
          </a:prstGeom>
          <a:solidFill>
            <a:schemeClr val="bg1"/>
          </a:solidFill>
          <a:ln w="1905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400" dirty="0">
                <a:solidFill>
                  <a:schemeClr val="tx1"/>
                </a:solidFill>
              </a:rPr>
              <a:t>　　　顧客</a:t>
            </a:r>
            <a:r>
              <a:rPr lang="ja-JP" altLang="en-US" sz="1400" dirty="0">
                <a:solidFill>
                  <a:schemeClr val="tx1"/>
                </a:solidFill>
              </a:rPr>
              <a:t>にとって有意義な解決策は・・・</a:t>
            </a:r>
            <a:endParaRPr kumimoji="1" lang="en-US" altLang="ja-JP" sz="1400" dirty="0">
              <a:solidFill>
                <a:schemeClr val="tx1"/>
              </a:solidFill>
            </a:endParaRPr>
          </a:p>
        </p:txBody>
      </p:sp>
      <p:sp>
        <p:nvSpPr>
          <p:cNvPr id="34" name="矢印: 下 33">
            <a:extLst>
              <a:ext uri="{FF2B5EF4-FFF2-40B4-BE49-F238E27FC236}">
                <a16:creationId xmlns:a16="http://schemas.microsoft.com/office/drawing/2014/main" id="{EBD59F77-AD33-0A11-001F-CB18A3BB44F5}"/>
              </a:ext>
            </a:extLst>
          </p:cNvPr>
          <p:cNvSpPr/>
          <p:nvPr/>
        </p:nvSpPr>
        <p:spPr>
          <a:xfrm>
            <a:off x="5886552" y="3987629"/>
            <a:ext cx="680174" cy="336172"/>
          </a:xfrm>
          <a:prstGeom prst="downArrow">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 name="楕円 5">
            <a:extLst>
              <a:ext uri="{FF2B5EF4-FFF2-40B4-BE49-F238E27FC236}">
                <a16:creationId xmlns:a16="http://schemas.microsoft.com/office/drawing/2014/main" id="{6A6E52AE-09A8-7653-C572-6F520CB35572}"/>
              </a:ext>
            </a:extLst>
          </p:cNvPr>
          <p:cNvSpPr/>
          <p:nvPr/>
        </p:nvSpPr>
        <p:spPr>
          <a:xfrm>
            <a:off x="4435331" y="4549063"/>
            <a:ext cx="900000" cy="288000"/>
          </a:xfrm>
          <a:prstGeom prst="ellipse">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As-Is</a:t>
            </a:r>
            <a:endParaRPr kumimoji="1" lang="ja-JP" altLang="en-US" sz="1200" dirty="0" err="1">
              <a:solidFill>
                <a:schemeClr val="tx1"/>
              </a:solidFill>
            </a:endParaRPr>
          </a:p>
        </p:txBody>
      </p:sp>
      <p:sp>
        <p:nvSpPr>
          <p:cNvPr id="7" name="楕円 6">
            <a:extLst>
              <a:ext uri="{FF2B5EF4-FFF2-40B4-BE49-F238E27FC236}">
                <a16:creationId xmlns:a16="http://schemas.microsoft.com/office/drawing/2014/main" id="{FA666AEB-BC69-ADB0-6A85-AEEB5AC1F05C}"/>
              </a:ext>
            </a:extLst>
          </p:cNvPr>
          <p:cNvSpPr/>
          <p:nvPr/>
        </p:nvSpPr>
        <p:spPr>
          <a:xfrm>
            <a:off x="6878533" y="4549063"/>
            <a:ext cx="900000" cy="288000"/>
          </a:xfrm>
          <a:prstGeom prst="ellipse">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To-Be</a:t>
            </a:r>
            <a:endParaRPr kumimoji="1" lang="ja-JP" altLang="en-US" sz="1200" dirty="0" err="1">
              <a:solidFill>
                <a:schemeClr val="tx1"/>
              </a:solidFill>
            </a:endParaRPr>
          </a:p>
        </p:txBody>
      </p:sp>
      <p:cxnSp>
        <p:nvCxnSpPr>
          <p:cNvPr id="11" name="直線矢印コネクタ 10">
            <a:extLst>
              <a:ext uri="{FF2B5EF4-FFF2-40B4-BE49-F238E27FC236}">
                <a16:creationId xmlns:a16="http://schemas.microsoft.com/office/drawing/2014/main" id="{FD6E572A-9770-0800-8B92-5D409E3A18F4}"/>
              </a:ext>
            </a:extLst>
          </p:cNvPr>
          <p:cNvCxnSpPr>
            <a:cxnSpLocks/>
            <a:stCxn id="6" idx="6"/>
            <a:endCxn id="7" idx="2"/>
          </p:cNvCxnSpPr>
          <p:nvPr/>
        </p:nvCxnSpPr>
        <p:spPr>
          <a:xfrm>
            <a:off x="5335331" y="4693063"/>
            <a:ext cx="1543202"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正方形/長方形 16">
            <a:extLst>
              <a:ext uri="{FF2B5EF4-FFF2-40B4-BE49-F238E27FC236}">
                <a16:creationId xmlns:a16="http://schemas.microsoft.com/office/drawing/2014/main" id="{690E71CA-E9D2-3B71-8363-5B60FCCD6AA1}"/>
              </a:ext>
            </a:extLst>
          </p:cNvPr>
          <p:cNvSpPr/>
          <p:nvPr/>
        </p:nvSpPr>
        <p:spPr>
          <a:xfrm>
            <a:off x="5651211" y="4834072"/>
            <a:ext cx="849313" cy="235325"/>
          </a:xfrm>
          <a:prstGeom prst="rect">
            <a:avLst/>
          </a:prstGeom>
          <a:solidFill>
            <a:srgbClr val="FFD85B"/>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tx1"/>
                </a:solidFill>
              </a:rPr>
              <a:t>解決策</a:t>
            </a:r>
            <a:endParaRPr kumimoji="1" lang="ja-JP" altLang="en-US" sz="1200" dirty="0">
              <a:solidFill>
                <a:schemeClr val="tx1"/>
              </a:solidFill>
            </a:endParaRPr>
          </a:p>
        </p:txBody>
      </p:sp>
      <p:cxnSp>
        <p:nvCxnSpPr>
          <p:cNvPr id="18" name="直線矢印コネクタ 17">
            <a:extLst>
              <a:ext uri="{FF2B5EF4-FFF2-40B4-BE49-F238E27FC236}">
                <a16:creationId xmlns:a16="http://schemas.microsoft.com/office/drawing/2014/main" id="{BD67E83B-95FD-8ECF-CA0D-5F7438D659F3}"/>
              </a:ext>
            </a:extLst>
          </p:cNvPr>
          <p:cNvCxnSpPr>
            <a:cxnSpLocks/>
            <a:stCxn id="17" idx="0"/>
          </p:cNvCxnSpPr>
          <p:nvPr/>
        </p:nvCxnSpPr>
        <p:spPr>
          <a:xfrm flipV="1">
            <a:off x="6075868" y="4684328"/>
            <a:ext cx="0" cy="149744"/>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四角形: 角を丸くする 20">
            <a:extLst>
              <a:ext uri="{FF2B5EF4-FFF2-40B4-BE49-F238E27FC236}">
                <a16:creationId xmlns:a16="http://schemas.microsoft.com/office/drawing/2014/main" id="{444E9EF4-F9AE-1126-0333-297F65D07591}"/>
              </a:ext>
            </a:extLst>
          </p:cNvPr>
          <p:cNvSpPr/>
          <p:nvPr/>
        </p:nvSpPr>
        <p:spPr>
          <a:xfrm>
            <a:off x="2812871" y="4321211"/>
            <a:ext cx="657225" cy="320400"/>
          </a:xfrm>
          <a:prstGeom prst="round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検討</a:t>
            </a:r>
          </a:p>
        </p:txBody>
      </p:sp>
      <p:grpSp>
        <p:nvGrpSpPr>
          <p:cNvPr id="36" name="グループ化 35">
            <a:extLst>
              <a:ext uri="{FF2B5EF4-FFF2-40B4-BE49-F238E27FC236}">
                <a16:creationId xmlns:a16="http://schemas.microsoft.com/office/drawing/2014/main" id="{C437361F-6F52-7BEB-2675-ED9ACC2E1798}"/>
              </a:ext>
            </a:extLst>
          </p:cNvPr>
          <p:cNvGrpSpPr/>
          <p:nvPr/>
        </p:nvGrpSpPr>
        <p:grpSpPr>
          <a:xfrm>
            <a:off x="8374338" y="5320804"/>
            <a:ext cx="426021" cy="643128"/>
            <a:chOff x="7360112" y="6210019"/>
            <a:chExt cx="426021" cy="643128"/>
          </a:xfrm>
        </p:grpSpPr>
        <p:pic>
          <p:nvPicPr>
            <p:cNvPr id="22" name="グラフィックス 21" descr="ドキュメント 枠線">
              <a:extLst>
                <a:ext uri="{FF2B5EF4-FFF2-40B4-BE49-F238E27FC236}">
                  <a16:creationId xmlns:a16="http://schemas.microsoft.com/office/drawing/2014/main" id="{DB53F222-0212-2913-DE50-1EA270D669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71872" y="6210019"/>
              <a:ext cx="396000" cy="396000"/>
            </a:xfrm>
            <a:prstGeom prst="rect">
              <a:avLst/>
            </a:prstGeom>
          </p:spPr>
        </p:pic>
        <p:sp>
          <p:nvSpPr>
            <p:cNvPr id="25" name="テキスト ボックス 24">
              <a:extLst>
                <a:ext uri="{FF2B5EF4-FFF2-40B4-BE49-F238E27FC236}">
                  <a16:creationId xmlns:a16="http://schemas.microsoft.com/office/drawing/2014/main" id="{D375606F-0F4E-C5B2-5258-8549A0C76740}"/>
                </a:ext>
              </a:extLst>
            </p:cNvPr>
            <p:cNvSpPr txBox="1"/>
            <p:nvPr/>
          </p:nvSpPr>
          <p:spPr>
            <a:xfrm>
              <a:off x="7360112" y="6454873"/>
              <a:ext cx="426021" cy="398274"/>
            </a:xfrm>
            <a:prstGeom prst="rect">
              <a:avLst/>
            </a:prstGeom>
            <a:noFill/>
          </p:spPr>
          <p:txBody>
            <a:bodyPr wrap="square" lIns="0" rIns="0" rtlCol="0" anchor="ctr">
              <a:noAutofit/>
            </a:bodyPr>
            <a:lstStyle/>
            <a:p>
              <a:pPr algn="ctr" defTabSz="288000"/>
              <a:r>
                <a:rPr lang="ja-JP" altLang="en-US" sz="1100" dirty="0">
                  <a:latin typeface="+mn-ea"/>
                </a:rPr>
                <a:t>提案書</a:t>
              </a:r>
              <a:endParaRPr kumimoji="1" lang="ja-JP" altLang="en-US" sz="1100" dirty="0">
                <a:latin typeface="+mn-ea"/>
              </a:endParaRPr>
            </a:p>
          </p:txBody>
        </p:sp>
      </p:grpSp>
      <p:pic>
        <p:nvPicPr>
          <p:cNvPr id="10" name="グラフィックス 9" descr="ユーザー 単色塗りつぶし">
            <a:extLst>
              <a:ext uri="{FF2B5EF4-FFF2-40B4-BE49-F238E27FC236}">
                <a16:creationId xmlns:a16="http://schemas.microsoft.com/office/drawing/2014/main" id="{2F48D02A-496A-D750-805A-4A02700657B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77235" y="2601789"/>
            <a:ext cx="748160" cy="748160"/>
          </a:xfrm>
          <a:prstGeom prst="rect">
            <a:avLst/>
          </a:prstGeom>
        </p:spPr>
      </p:pic>
      <p:pic>
        <p:nvPicPr>
          <p:cNvPr id="13" name="グラフィックス 12" descr="ユーザー 単色塗りつぶし">
            <a:extLst>
              <a:ext uri="{FF2B5EF4-FFF2-40B4-BE49-F238E27FC236}">
                <a16:creationId xmlns:a16="http://schemas.microsoft.com/office/drawing/2014/main" id="{95B31752-BD90-C3FD-5A8B-50514DCFA1A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33518" y="5128799"/>
            <a:ext cx="748160" cy="748160"/>
          </a:xfrm>
          <a:prstGeom prst="rect">
            <a:avLst/>
          </a:prstGeom>
        </p:spPr>
      </p:pic>
      <p:sp>
        <p:nvSpPr>
          <p:cNvPr id="19" name="楕円 18">
            <a:extLst>
              <a:ext uri="{FF2B5EF4-FFF2-40B4-BE49-F238E27FC236}">
                <a16:creationId xmlns:a16="http://schemas.microsoft.com/office/drawing/2014/main" id="{03088AF7-47B8-44E9-C203-F73E46D8B862}"/>
              </a:ext>
            </a:extLst>
          </p:cNvPr>
          <p:cNvSpPr/>
          <p:nvPr/>
        </p:nvSpPr>
        <p:spPr>
          <a:xfrm>
            <a:off x="6401177" y="638695"/>
            <a:ext cx="1440000" cy="540000"/>
          </a:xfrm>
          <a:prstGeom prst="ellipse">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2400" b="1" dirty="0">
                <a:solidFill>
                  <a:schemeClr val="bg1"/>
                </a:solidFill>
              </a:rPr>
              <a:t>Why</a:t>
            </a:r>
            <a:endParaRPr kumimoji="1" lang="ja-JP" altLang="en-US" sz="2400" b="1" dirty="0" err="1">
              <a:solidFill>
                <a:schemeClr val="bg1"/>
              </a:solidFill>
            </a:endParaRPr>
          </a:p>
        </p:txBody>
      </p:sp>
    </p:spTree>
    <p:extLst>
      <p:ext uri="{BB962C8B-B14F-4D97-AF65-F5344CB8AC3E}">
        <p14:creationId xmlns:p14="http://schemas.microsoft.com/office/powerpoint/2010/main" val="1493202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A16C3-461B-6B02-4736-FCD4F87099EA}"/>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0EE1970-B339-106C-2C0C-6F138464B52D}"/>
              </a:ext>
            </a:extLst>
          </p:cNvPr>
          <p:cNvSpPr txBox="1"/>
          <p:nvPr/>
        </p:nvSpPr>
        <p:spPr>
          <a:xfrm>
            <a:off x="4909768" y="4991523"/>
            <a:ext cx="542225" cy="304151"/>
          </a:xfrm>
          <a:prstGeom prst="rect">
            <a:avLst/>
          </a:prstGeom>
          <a:noFill/>
        </p:spPr>
        <p:txBody>
          <a:bodyPr wrap="square" lIns="0" rIns="0" rtlCol="0">
            <a:noAutofit/>
          </a:bodyPr>
          <a:lstStyle/>
          <a:p>
            <a:pPr algn="ctr" defTabSz="288000"/>
            <a:r>
              <a:rPr kumimoji="1" lang="en-US" altLang="ja-JP" sz="1200" dirty="0">
                <a:solidFill>
                  <a:schemeClr val="bg1">
                    <a:lumMod val="75000"/>
                  </a:schemeClr>
                </a:solidFill>
                <a:latin typeface="+mn-ea"/>
              </a:rPr>
              <a:t>SIer</a:t>
            </a:r>
          </a:p>
          <a:p>
            <a:pPr algn="ctr" defTabSz="288000"/>
            <a:r>
              <a:rPr kumimoji="1" lang="ja-JP" altLang="en-US" sz="1200" dirty="0">
                <a:solidFill>
                  <a:schemeClr val="bg1">
                    <a:lumMod val="75000"/>
                  </a:schemeClr>
                </a:solidFill>
                <a:latin typeface="+mn-ea"/>
              </a:rPr>
              <a:t>企業</a:t>
            </a:r>
          </a:p>
        </p:txBody>
      </p:sp>
      <p:sp>
        <p:nvSpPr>
          <p:cNvPr id="39" name="四角形: 角を丸くする 38">
            <a:extLst>
              <a:ext uri="{FF2B5EF4-FFF2-40B4-BE49-F238E27FC236}">
                <a16:creationId xmlns:a16="http://schemas.microsoft.com/office/drawing/2014/main" id="{02F06C07-DF20-7F01-E48C-C072C3F66122}"/>
              </a:ext>
            </a:extLst>
          </p:cNvPr>
          <p:cNvSpPr/>
          <p:nvPr/>
        </p:nvSpPr>
        <p:spPr>
          <a:xfrm>
            <a:off x="6008051" y="1533293"/>
            <a:ext cx="5612449" cy="610723"/>
          </a:xfrm>
          <a:prstGeom prst="roundRect">
            <a:avLst/>
          </a:prstGeom>
          <a:solidFill>
            <a:schemeClr val="accent1">
              <a:lumMod val="10000"/>
              <a:lumOff val="9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8" name="四角形: 角を丸くする 37">
            <a:extLst>
              <a:ext uri="{FF2B5EF4-FFF2-40B4-BE49-F238E27FC236}">
                <a16:creationId xmlns:a16="http://schemas.microsoft.com/office/drawing/2014/main" id="{7CB471BC-F41A-3831-AEAB-86758A6F13EC}"/>
              </a:ext>
            </a:extLst>
          </p:cNvPr>
          <p:cNvSpPr/>
          <p:nvPr/>
        </p:nvSpPr>
        <p:spPr>
          <a:xfrm>
            <a:off x="487364" y="1533293"/>
            <a:ext cx="5170485" cy="610723"/>
          </a:xfrm>
          <a:prstGeom prst="roundRect">
            <a:avLst/>
          </a:prstGeom>
          <a:solidFill>
            <a:schemeClr val="accent1">
              <a:lumMod val="10000"/>
              <a:lumOff val="9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7169FD12-BC3A-87E4-E17E-3A2853FCEF9D}"/>
              </a:ext>
            </a:extLst>
          </p:cNvPr>
          <p:cNvSpPr>
            <a:spLocks noGrp="1"/>
          </p:cNvSpPr>
          <p:nvPr>
            <p:ph type="title"/>
          </p:nvPr>
        </p:nvSpPr>
        <p:spPr/>
        <p:txBody>
          <a:bodyPr anchor="ctr"/>
          <a:lstStyle/>
          <a:p>
            <a:r>
              <a:rPr lang="ja-JP" altLang="en-US" dirty="0"/>
              <a:t>「要求」と「要件」の違い</a:t>
            </a:r>
            <a:endParaRPr kumimoji="1" lang="ja-JP" altLang="en-US" dirty="0"/>
          </a:p>
        </p:txBody>
      </p:sp>
      <p:sp>
        <p:nvSpPr>
          <p:cNvPr id="3" name="コンテンツ プレースホルダー 2">
            <a:extLst>
              <a:ext uri="{FF2B5EF4-FFF2-40B4-BE49-F238E27FC236}">
                <a16:creationId xmlns:a16="http://schemas.microsoft.com/office/drawing/2014/main" id="{D464700E-96B0-F029-B1B5-E457C3661963}"/>
              </a:ext>
            </a:extLst>
          </p:cNvPr>
          <p:cNvSpPr>
            <a:spLocks noGrp="1"/>
          </p:cNvSpPr>
          <p:nvPr>
            <p:ph sz="quarter" idx="4294967295"/>
          </p:nvPr>
        </p:nvSpPr>
        <p:spPr>
          <a:xfrm>
            <a:off x="481490" y="978298"/>
            <a:ext cx="11448000" cy="554995"/>
          </a:xfrm>
        </p:spPr>
        <p:txBody>
          <a:bodyPr/>
          <a:lstStyle/>
          <a:p>
            <a:r>
              <a:rPr lang="ja-JP" altLang="en-US" sz="2000" dirty="0">
                <a:solidFill>
                  <a:schemeClr val="tx1"/>
                </a:solidFill>
              </a:rPr>
              <a:t>「要求」</a:t>
            </a:r>
            <a:r>
              <a:rPr lang="ja-JP" altLang="en-US" dirty="0">
                <a:solidFill>
                  <a:schemeClr val="tx1"/>
                </a:solidFill>
              </a:rPr>
              <a:t>と</a:t>
            </a:r>
            <a:r>
              <a:rPr lang="ja-JP" altLang="en-US" sz="2000" dirty="0">
                <a:solidFill>
                  <a:schemeClr val="tx1"/>
                </a:solidFill>
              </a:rPr>
              <a:t>「要件」</a:t>
            </a:r>
            <a:r>
              <a:rPr lang="ja-JP" altLang="en-US" dirty="0">
                <a:solidFill>
                  <a:schemeClr val="tx1"/>
                </a:solidFill>
              </a:rPr>
              <a:t>は</a:t>
            </a:r>
            <a:r>
              <a:rPr lang="ja-JP" altLang="en-US" b="0" i="0" dirty="0">
                <a:solidFill>
                  <a:schemeClr val="tx1"/>
                </a:solidFill>
                <a:effectLst/>
                <a:latin typeface="__Inter_a184c8"/>
              </a:rPr>
              <a:t>混同されることが多い。それぞれの意味と役割を正しく理解すること</a:t>
            </a:r>
            <a:r>
              <a:rPr lang="ja-JP" altLang="en-US" dirty="0">
                <a:solidFill>
                  <a:schemeClr val="tx1"/>
                </a:solidFill>
              </a:rPr>
              <a:t>が必要である。</a:t>
            </a:r>
            <a:endParaRPr lang="en-US" altLang="ja-JP" dirty="0">
              <a:solidFill>
                <a:schemeClr val="tx1"/>
              </a:solidFill>
            </a:endParaRPr>
          </a:p>
        </p:txBody>
      </p:sp>
      <p:sp>
        <p:nvSpPr>
          <p:cNvPr id="9" name="テキスト ボックス 8">
            <a:extLst>
              <a:ext uri="{FF2B5EF4-FFF2-40B4-BE49-F238E27FC236}">
                <a16:creationId xmlns:a16="http://schemas.microsoft.com/office/drawing/2014/main" id="{BDE3DE55-CC73-CC1A-F49E-B3B014A4B09B}"/>
              </a:ext>
            </a:extLst>
          </p:cNvPr>
          <p:cNvSpPr txBox="1"/>
          <p:nvPr/>
        </p:nvSpPr>
        <p:spPr>
          <a:xfrm>
            <a:off x="370800" y="1644217"/>
            <a:ext cx="5471622" cy="388874"/>
          </a:xfrm>
          <a:prstGeom prst="rect">
            <a:avLst/>
          </a:prstGeom>
          <a:noFill/>
        </p:spPr>
        <p:txBody>
          <a:bodyPr wrap="square" lIns="0" rIns="0" rtlCol="0" anchor="ctr">
            <a:noAutofit/>
          </a:bodyPr>
          <a:lstStyle/>
          <a:p>
            <a:pPr algn="ctr" defTabSz="288000"/>
            <a:r>
              <a:rPr lang="ja-JP" altLang="en-US" dirty="0">
                <a:latin typeface="__Inter_a184c8"/>
              </a:rPr>
              <a:t>要求＝</a:t>
            </a:r>
            <a:r>
              <a:rPr lang="ja-JP" altLang="en-US" sz="2000" b="1" i="0" dirty="0">
                <a:solidFill>
                  <a:sysClr val="windowText" lastClr="000000"/>
                </a:solidFill>
                <a:effectLst/>
                <a:latin typeface="__Inter_a184c8"/>
              </a:rPr>
              <a:t>顧客やユーザーが望む結果や期待</a:t>
            </a:r>
            <a:endParaRPr lang="en-US" altLang="ja-JP" sz="2000" b="1" i="0" dirty="0">
              <a:solidFill>
                <a:sysClr val="windowText" lastClr="000000"/>
              </a:solidFill>
              <a:effectLst/>
              <a:latin typeface="__Inter_a184c8"/>
            </a:endParaRPr>
          </a:p>
        </p:txBody>
      </p:sp>
      <p:sp>
        <p:nvSpPr>
          <p:cNvPr id="19" name="テキスト ボックス 18">
            <a:extLst>
              <a:ext uri="{FF2B5EF4-FFF2-40B4-BE49-F238E27FC236}">
                <a16:creationId xmlns:a16="http://schemas.microsoft.com/office/drawing/2014/main" id="{6C202B61-11C5-0B64-5AA2-C6ED40B3BB2A}"/>
              </a:ext>
            </a:extLst>
          </p:cNvPr>
          <p:cNvSpPr txBox="1"/>
          <p:nvPr/>
        </p:nvSpPr>
        <p:spPr>
          <a:xfrm>
            <a:off x="6008051" y="1644217"/>
            <a:ext cx="5612449" cy="388874"/>
          </a:xfrm>
          <a:prstGeom prst="rect">
            <a:avLst/>
          </a:prstGeom>
          <a:noFill/>
        </p:spPr>
        <p:txBody>
          <a:bodyPr wrap="square" lIns="0" rIns="0" rtlCol="0" anchor="ctr">
            <a:noAutofit/>
          </a:bodyPr>
          <a:lstStyle/>
          <a:p>
            <a:pPr algn="ctr" defTabSz="288000"/>
            <a:r>
              <a:rPr lang="ja-JP" altLang="en-US" dirty="0">
                <a:latin typeface="__Inter_a184c8"/>
              </a:rPr>
              <a:t>要件＝</a:t>
            </a:r>
            <a:r>
              <a:rPr lang="ja-JP" altLang="en-US" sz="2000" b="1" i="0" dirty="0">
                <a:solidFill>
                  <a:sysClr val="windowText" lastClr="000000"/>
                </a:solidFill>
                <a:effectLst/>
                <a:latin typeface="__Inter_a184c8"/>
              </a:rPr>
              <a:t>システムが達成すべき具体的な仕様</a:t>
            </a:r>
            <a:endParaRPr lang="en-US" altLang="ja-JP" sz="2000" b="1" i="0" dirty="0">
              <a:solidFill>
                <a:sysClr val="windowText" lastClr="000000"/>
              </a:solidFill>
              <a:effectLst/>
              <a:latin typeface="__Inter_a184c8"/>
            </a:endParaRPr>
          </a:p>
        </p:txBody>
      </p:sp>
      <p:sp>
        <p:nvSpPr>
          <p:cNvPr id="25" name="吹き出し: 角を丸めた四角形 24">
            <a:extLst>
              <a:ext uri="{FF2B5EF4-FFF2-40B4-BE49-F238E27FC236}">
                <a16:creationId xmlns:a16="http://schemas.microsoft.com/office/drawing/2014/main" id="{7471B3FF-F553-6D27-9E4E-61C6B9F35270}"/>
              </a:ext>
            </a:extLst>
          </p:cNvPr>
          <p:cNvSpPr/>
          <p:nvPr/>
        </p:nvSpPr>
        <p:spPr>
          <a:xfrm>
            <a:off x="1375035" y="2681778"/>
            <a:ext cx="3033057" cy="468000"/>
          </a:xfrm>
          <a:prstGeom prst="wedgeRoundRectCallout">
            <a:avLst>
              <a:gd name="adj1" fmla="val -56414"/>
              <a:gd name="adj2" fmla="val 37320"/>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ユーザーがオンラインで商品が買えるようにしたい</a:t>
            </a:r>
            <a:endParaRPr kumimoji="1" lang="en-US" altLang="ja-JP" sz="1200" dirty="0">
              <a:solidFill>
                <a:schemeClr val="tx1"/>
              </a:solidFill>
            </a:endParaRPr>
          </a:p>
        </p:txBody>
      </p:sp>
      <p:sp>
        <p:nvSpPr>
          <p:cNvPr id="26" name="吹き出し: 角を丸めた四角形 25">
            <a:extLst>
              <a:ext uri="{FF2B5EF4-FFF2-40B4-BE49-F238E27FC236}">
                <a16:creationId xmlns:a16="http://schemas.microsoft.com/office/drawing/2014/main" id="{332DB30D-B796-BCBC-3F77-29C4A2242772}"/>
              </a:ext>
            </a:extLst>
          </p:cNvPr>
          <p:cNvSpPr/>
          <p:nvPr/>
        </p:nvSpPr>
        <p:spPr>
          <a:xfrm>
            <a:off x="1620364" y="3223961"/>
            <a:ext cx="3107361" cy="468000"/>
          </a:xfrm>
          <a:prstGeom prst="wedgeRoundRectCallout">
            <a:avLst>
              <a:gd name="adj1" fmla="val -58149"/>
              <a:gd name="adj2" fmla="val -37603"/>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社員が商品の在庫の確認できるようにしたい</a:t>
            </a:r>
            <a:endParaRPr kumimoji="1" lang="en-US" altLang="ja-JP" sz="1200" dirty="0">
              <a:solidFill>
                <a:schemeClr val="tx1"/>
              </a:solidFill>
            </a:endParaRPr>
          </a:p>
        </p:txBody>
      </p:sp>
      <p:grpSp>
        <p:nvGrpSpPr>
          <p:cNvPr id="31" name="グループ化 30">
            <a:extLst>
              <a:ext uri="{FF2B5EF4-FFF2-40B4-BE49-F238E27FC236}">
                <a16:creationId xmlns:a16="http://schemas.microsoft.com/office/drawing/2014/main" id="{894C7974-2D9C-14A3-30F5-A2B81B396E43}"/>
              </a:ext>
            </a:extLst>
          </p:cNvPr>
          <p:cNvGrpSpPr/>
          <p:nvPr/>
        </p:nvGrpSpPr>
        <p:grpSpPr>
          <a:xfrm>
            <a:off x="696520" y="2802852"/>
            <a:ext cx="525455" cy="725261"/>
            <a:chOff x="942566" y="3852735"/>
            <a:chExt cx="525455" cy="725261"/>
          </a:xfrm>
        </p:grpSpPr>
        <p:pic>
          <p:nvPicPr>
            <p:cNvPr id="24" name="グラフィックス 23" descr="ユーザー 単色塗りつぶし">
              <a:extLst>
                <a:ext uri="{FF2B5EF4-FFF2-40B4-BE49-F238E27FC236}">
                  <a16:creationId xmlns:a16="http://schemas.microsoft.com/office/drawing/2014/main" id="{28788858-4534-0418-7F2A-107D5DB961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2566" y="3852735"/>
              <a:ext cx="525455" cy="525455"/>
            </a:xfrm>
            <a:prstGeom prst="rect">
              <a:avLst/>
            </a:prstGeom>
          </p:spPr>
        </p:pic>
        <p:sp>
          <p:nvSpPr>
            <p:cNvPr id="27" name="テキスト ボックス 26">
              <a:extLst>
                <a:ext uri="{FF2B5EF4-FFF2-40B4-BE49-F238E27FC236}">
                  <a16:creationId xmlns:a16="http://schemas.microsoft.com/office/drawing/2014/main" id="{C58A8024-4E1C-17A9-3FAC-5FC8744720C5}"/>
                </a:ext>
              </a:extLst>
            </p:cNvPr>
            <p:cNvSpPr txBox="1"/>
            <p:nvPr/>
          </p:nvSpPr>
          <p:spPr>
            <a:xfrm>
              <a:off x="1016593" y="4273845"/>
              <a:ext cx="377401" cy="304151"/>
            </a:xfrm>
            <a:prstGeom prst="rect">
              <a:avLst/>
            </a:prstGeom>
            <a:noFill/>
          </p:spPr>
          <p:txBody>
            <a:bodyPr wrap="square" lIns="0" rIns="0" rtlCol="0" anchor="ctr">
              <a:noAutofit/>
            </a:bodyPr>
            <a:lstStyle/>
            <a:p>
              <a:pPr algn="ctr" defTabSz="288000"/>
              <a:r>
                <a:rPr lang="ja-JP" altLang="en-US" sz="1100" dirty="0">
                  <a:latin typeface="+mn-ea"/>
                </a:rPr>
                <a:t>顧客</a:t>
              </a:r>
              <a:endParaRPr kumimoji="1" lang="ja-JP" altLang="en-US" sz="1100" dirty="0">
                <a:latin typeface="+mn-ea"/>
              </a:endParaRPr>
            </a:p>
          </p:txBody>
        </p:sp>
      </p:grpSp>
      <p:sp>
        <p:nvSpPr>
          <p:cNvPr id="33" name="吹き出し: 角を丸めた四角形 32">
            <a:extLst>
              <a:ext uri="{FF2B5EF4-FFF2-40B4-BE49-F238E27FC236}">
                <a16:creationId xmlns:a16="http://schemas.microsoft.com/office/drawing/2014/main" id="{971B54DC-DC31-EB44-76CC-FA22B9512465}"/>
              </a:ext>
            </a:extLst>
          </p:cNvPr>
          <p:cNvSpPr/>
          <p:nvPr/>
        </p:nvSpPr>
        <p:spPr>
          <a:xfrm>
            <a:off x="1100648" y="4348904"/>
            <a:ext cx="3659378" cy="468000"/>
          </a:xfrm>
          <a:prstGeom prst="wedgeRoundRectCallout">
            <a:avLst>
              <a:gd name="adj1" fmla="val 53689"/>
              <a:gd name="adj2" fmla="val 23698"/>
              <a:gd name="adj3" fmla="val 16667"/>
            </a:avLst>
          </a:prstGeom>
          <a:solidFill>
            <a:schemeClr val="bg1"/>
          </a:solidFill>
          <a:ln w="3175">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bg1">
                    <a:lumMod val="85000"/>
                  </a:schemeClr>
                </a:solidFill>
              </a:rPr>
              <a:t>ユーザーが欲しい商品を検索して購入する機能が必要だ</a:t>
            </a:r>
            <a:endParaRPr kumimoji="1" lang="en-US" altLang="ja-JP" sz="1200" dirty="0">
              <a:solidFill>
                <a:schemeClr val="bg1">
                  <a:lumMod val="85000"/>
                </a:schemeClr>
              </a:solidFill>
            </a:endParaRPr>
          </a:p>
        </p:txBody>
      </p:sp>
      <p:sp>
        <p:nvSpPr>
          <p:cNvPr id="34" name="吹き出し: 角を丸めた四角形 33">
            <a:extLst>
              <a:ext uri="{FF2B5EF4-FFF2-40B4-BE49-F238E27FC236}">
                <a16:creationId xmlns:a16="http://schemas.microsoft.com/office/drawing/2014/main" id="{B7CAF41D-1E27-697D-0EE7-939B60369C8D}"/>
              </a:ext>
            </a:extLst>
          </p:cNvPr>
          <p:cNvSpPr/>
          <p:nvPr/>
        </p:nvSpPr>
        <p:spPr>
          <a:xfrm>
            <a:off x="2077015" y="4907173"/>
            <a:ext cx="2581915" cy="468000"/>
          </a:xfrm>
          <a:prstGeom prst="wedgeRoundRectCallout">
            <a:avLst>
              <a:gd name="adj1" fmla="val 57714"/>
              <a:gd name="adj2" fmla="val -41009"/>
              <a:gd name="adj3" fmla="val 16667"/>
            </a:avLst>
          </a:prstGeom>
          <a:solidFill>
            <a:schemeClr val="bg1"/>
          </a:solidFill>
          <a:ln w="3175">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bg1">
                    <a:lumMod val="85000"/>
                  </a:schemeClr>
                </a:solidFill>
              </a:rPr>
              <a:t>顧客側の在庫管理機能が必要だ</a:t>
            </a:r>
            <a:endParaRPr kumimoji="1" lang="en-US" altLang="ja-JP" sz="1200" dirty="0">
              <a:solidFill>
                <a:schemeClr val="bg1">
                  <a:lumMod val="85000"/>
                </a:schemeClr>
              </a:solidFill>
            </a:endParaRPr>
          </a:p>
        </p:txBody>
      </p:sp>
      <p:sp>
        <p:nvSpPr>
          <p:cNvPr id="35" name="矢印: 下 34">
            <a:extLst>
              <a:ext uri="{FF2B5EF4-FFF2-40B4-BE49-F238E27FC236}">
                <a16:creationId xmlns:a16="http://schemas.microsoft.com/office/drawing/2014/main" id="{3F1A9AE6-80A0-C531-D999-018AB84A5817}"/>
              </a:ext>
            </a:extLst>
          </p:cNvPr>
          <p:cNvSpPr/>
          <p:nvPr/>
        </p:nvSpPr>
        <p:spPr>
          <a:xfrm>
            <a:off x="2637096" y="3800407"/>
            <a:ext cx="819150" cy="458228"/>
          </a:xfrm>
          <a:prstGeom prst="down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0" name="吹き出し: 角を丸めた四角形 39">
            <a:extLst>
              <a:ext uri="{FF2B5EF4-FFF2-40B4-BE49-F238E27FC236}">
                <a16:creationId xmlns:a16="http://schemas.microsoft.com/office/drawing/2014/main" id="{7C66F084-5172-B270-F564-7C83C8BA0137}"/>
              </a:ext>
            </a:extLst>
          </p:cNvPr>
          <p:cNvSpPr/>
          <p:nvPr/>
        </p:nvSpPr>
        <p:spPr>
          <a:xfrm>
            <a:off x="7136614" y="2681778"/>
            <a:ext cx="3033057" cy="468000"/>
          </a:xfrm>
          <a:prstGeom prst="wedgeRoundRectCallout">
            <a:avLst>
              <a:gd name="adj1" fmla="val -56414"/>
              <a:gd name="adj2" fmla="val 37320"/>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ユーザーがオンラインで商品が買えるようにしたい</a:t>
            </a:r>
            <a:endParaRPr kumimoji="1" lang="en-US" altLang="ja-JP" sz="1200" dirty="0">
              <a:solidFill>
                <a:schemeClr val="tx1"/>
              </a:solidFill>
            </a:endParaRPr>
          </a:p>
        </p:txBody>
      </p:sp>
      <p:sp>
        <p:nvSpPr>
          <p:cNvPr id="41" name="吹き出し: 角を丸めた四角形 40">
            <a:extLst>
              <a:ext uri="{FF2B5EF4-FFF2-40B4-BE49-F238E27FC236}">
                <a16:creationId xmlns:a16="http://schemas.microsoft.com/office/drawing/2014/main" id="{F3CCC63B-9A13-D1CF-584B-84C585CB0092}"/>
              </a:ext>
            </a:extLst>
          </p:cNvPr>
          <p:cNvSpPr/>
          <p:nvPr/>
        </p:nvSpPr>
        <p:spPr>
          <a:xfrm>
            <a:off x="7381943" y="3223961"/>
            <a:ext cx="3107361" cy="468000"/>
          </a:xfrm>
          <a:prstGeom prst="wedgeRoundRectCallout">
            <a:avLst>
              <a:gd name="adj1" fmla="val -58149"/>
              <a:gd name="adj2" fmla="val -37603"/>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社員が商品の在庫の確認できるようにしたい</a:t>
            </a:r>
            <a:endParaRPr kumimoji="1" lang="en-US" altLang="ja-JP" sz="1200" dirty="0">
              <a:solidFill>
                <a:schemeClr val="tx1"/>
              </a:solidFill>
            </a:endParaRPr>
          </a:p>
        </p:txBody>
      </p:sp>
      <p:grpSp>
        <p:nvGrpSpPr>
          <p:cNvPr id="42" name="グループ化 41">
            <a:extLst>
              <a:ext uri="{FF2B5EF4-FFF2-40B4-BE49-F238E27FC236}">
                <a16:creationId xmlns:a16="http://schemas.microsoft.com/office/drawing/2014/main" id="{21A067D2-7D69-DDDC-72C1-1E8E3E3F4CCA}"/>
              </a:ext>
            </a:extLst>
          </p:cNvPr>
          <p:cNvGrpSpPr/>
          <p:nvPr/>
        </p:nvGrpSpPr>
        <p:grpSpPr>
          <a:xfrm>
            <a:off x="6458099" y="2802852"/>
            <a:ext cx="525455" cy="725261"/>
            <a:chOff x="942566" y="3852735"/>
            <a:chExt cx="525455" cy="725261"/>
          </a:xfrm>
        </p:grpSpPr>
        <p:pic>
          <p:nvPicPr>
            <p:cNvPr id="43" name="グラフィックス 42" descr="ユーザー 単色塗りつぶし">
              <a:extLst>
                <a:ext uri="{FF2B5EF4-FFF2-40B4-BE49-F238E27FC236}">
                  <a16:creationId xmlns:a16="http://schemas.microsoft.com/office/drawing/2014/main" id="{D8D11E03-BB75-4661-1747-2336B61D0F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2566" y="3852735"/>
              <a:ext cx="525455" cy="525455"/>
            </a:xfrm>
            <a:prstGeom prst="rect">
              <a:avLst/>
            </a:prstGeom>
          </p:spPr>
        </p:pic>
        <p:sp>
          <p:nvSpPr>
            <p:cNvPr id="44" name="テキスト ボックス 43">
              <a:extLst>
                <a:ext uri="{FF2B5EF4-FFF2-40B4-BE49-F238E27FC236}">
                  <a16:creationId xmlns:a16="http://schemas.microsoft.com/office/drawing/2014/main" id="{A1E41B6E-D2B7-1C2D-3987-7170C2B06DEC}"/>
                </a:ext>
              </a:extLst>
            </p:cNvPr>
            <p:cNvSpPr txBox="1"/>
            <p:nvPr/>
          </p:nvSpPr>
          <p:spPr>
            <a:xfrm>
              <a:off x="1016593" y="4273845"/>
              <a:ext cx="377401" cy="304151"/>
            </a:xfrm>
            <a:prstGeom prst="rect">
              <a:avLst/>
            </a:prstGeom>
            <a:noFill/>
          </p:spPr>
          <p:txBody>
            <a:bodyPr wrap="square" lIns="0" rIns="0" rtlCol="0" anchor="ctr">
              <a:noAutofit/>
            </a:bodyPr>
            <a:lstStyle/>
            <a:p>
              <a:pPr algn="ctr" defTabSz="288000"/>
              <a:r>
                <a:rPr lang="ja-JP" altLang="en-US" sz="1100" dirty="0">
                  <a:latin typeface="+mn-ea"/>
                </a:rPr>
                <a:t>顧客</a:t>
              </a:r>
              <a:endParaRPr kumimoji="1" lang="ja-JP" altLang="en-US" sz="1100" dirty="0">
                <a:latin typeface="+mn-ea"/>
              </a:endParaRPr>
            </a:p>
          </p:txBody>
        </p:sp>
      </p:grpSp>
      <p:sp>
        <p:nvSpPr>
          <p:cNvPr id="46" name="吹き出し: 角を丸めた四角形 45">
            <a:extLst>
              <a:ext uri="{FF2B5EF4-FFF2-40B4-BE49-F238E27FC236}">
                <a16:creationId xmlns:a16="http://schemas.microsoft.com/office/drawing/2014/main" id="{421FA70D-7006-1BC8-D2DB-370C093E4F28}"/>
              </a:ext>
            </a:extLst>
          </p:cNvPr>
          <p:cNvSpPr/>
          <p:nvPr/>
        </p:nvSpPr>
        <p:spPr>
          <a:xfrm>
            <a:off x="6862227" y="4348904"/>
            <a:ext cx="3659378" cy="468000"/>
          </a:xfrm>
          <a:prstGeom prst="wedgeRoundRectCallout">
            <a:avLst>
              <a:gd name="adj1" fmla="val 53689"/>
              <a:gd name="adj2" fmla="val 23698"/>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ユーザーが欲しい商品を検索して購入する機能が必要だ</a:t>
            </a:r>
            <a:endParaRPr kumimoji="1" lang="en-US" altLang="ja-JP" sz="1200" dirty="0">
              <a:solidFill>
                <a:schemeClr val="tx1"/>
              </a:solidFill>
            </a:endParaRPr>
          </a:p>
        </p:txBody>
      </p:sp>
      <p:sp>
        <p:nvSpPr>
          <p:cNvPr id="47" name="吹き出し: 角を丸めた四角形 46">
            <a:extLst>
              <a:ext uri="{FF2B5EF4-FFF2-40B4-BE49-F238E27FC236}">
                <a16:creationId xmlns:a16="http://schemas.microsoft.com/office/drawing/2014/main" id="{712FD7B0-4022-A9DE-CF9A-BEF45FEED9E8}"/>
              </a:ext>
            </a:extLst>
          </p:cNvPr>
          <p:cNvSpPr/>
          <p:nvPr/>
        </p:nvSpPr>
        <p:spPr>
          <a:xfrm>
            <a:off x="7838594" y="4907173"/>
            <a:ext cx="2581915" cy="468000"/>
          </a:xfrm>
          <a:prstGeom prst="wedgeRoundRectCallout">
            <a:avLst>
              <a:gd name="adj1" fmla="val 57714"/>
              <a:gd name="adj2" fmla="val -41009"/>
              <a:gd name="adj3" fmla="val 16667"/>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顧客側の在庫管理機能が必要だ</a:t>
            </a:r>
            <a:endParaRPr kumimoji="1" lang="en-US" altLang="ja-JP" sz="1200" dirty="0">
              <a:solidFill>
                <a:schemeClr val="tx1"/>
              </a:solidFill>
            </a:endParaRPr>
          </a:p>
        </p:txBody>
      </p:sp>
      <p:sp>
        <p:nvSpPr>
          <p:cNvPr id="48" name="矢印: 下 47">
            <a:extLst>
              <a:ext uri="{FF2B5EF4-FFF2-40B4-BE49-F238E27FC236}">
                <a16:creationId xmlns:a16="http://schemas.microsoft.com/office/drawing/2014/main" id="{F32052C7-8471-5D13-C686-F02946A1DE5D}"/>
              </a:ext>
            </a:extLst>
          </p:cNvPr>
          <p:cNvSpPr/>
          <p:nvPr/>
        </p:nvSpPr>
        <p:spPr>
          <a:xfrm>
            <a:off x="8398675" y="3800407"/>
            <a:ext cx="819150" cy="458228"/>
          </a:xfrm>
          <a:prstGeom prst="downArrow">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0" name="正方形/長方形 49">
            <a:extLst>
              <a:ext uri="{FF2B5EF4-FFF2-40B4-BE49-F238E27FC236}">
                <a16:creationId xmlns:a16="http://schemas.microsoft.com/office/drawing/2014/main" id="{2033C4AC-B27B-0FD1-0E26-E6A766BEED41}"/>
              </a:ext>
            </a:extLst>
          </p:cNvPr>
          <p:cNvSpPr/>
          <p:nvPr/>
        </p:nvSpPr>
        <p:spPr>
          <a:xfrm>
            <a:off x="6357694" y="4124988"/>
            <a:ext cx="4996661" cy="1399512"/>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1" name="正方形/長方形 50">
            <a:extLst>
              <a:ext uri="{FF2B5EF4-FFF2-40B4-BE49-F238E27FC236}">
                <a16:creationId xmlns:a16="http://schemas.microsoft.com/office/drawing/2014/main" id="{86E0322C-7AC2-DA8A-0C9A-84DA6390221E}"/>
              </a:ext>
            </a:extLst>
          </p:cNvPr>
          <p:cNvSpPr/>
          <p:nvPr/>
        </p:nvSpPr>
        <p:spPr>
          <a:xfrm>
            <a:off x="619125" y="2564268"/>
            <a:ext cx="4996661" cy="1213488"/>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2" name="テキスト ボックス 51">
            <a:extLst>
              <a:ext uri="{FF2B5EF4-FFF2-40B4-BE49-F238E27FC236}">
                <a16:creationId xmlns:a16="http://schemas.microsoft.com/office/drawing/2014/main" id="{9DF1B3D2-1CDC-B8AD-2DB1-8F41D5370C7B}"/>
              </a:ext>
            </a:extLst>
          </p:cNvPr>
          <p:cNvSpPr txBox="1"/>
          <p:nvPr/>
        </p:nvSpPr>
        <p:spPr>
          <a:xfrm>
            <a:off x="6008051" y="5732621"/>
            <a:ext cx="6310556" cy="448732"/>
          </a:xfrm>
          <a:prstGeom prst="rect">
            <a:avLst/>
          </a:prstGeom>
          <a:noFill/>
        </p:spPr>
        <p:txBody>
          <a:bodyPr wrap="square" lIns="0" rIns="0" rtlCol="0">
            <a:noAutofit/>
          </a:bodyPr>
          <a:lstStyle/>
          <a:p>
            <a:pPr algn="l" defTabSz="288000"/>
            <a:r>
              <a:rPr kumimoji="1" lang="ja-JP" altLang="en-US" sz="1600" dirty="0">
                <a:latin typeface="+mn-ea"/>
              </a:rPr>
              <a:t>⇒　要件とは、</a:t>
            </a:r>
            <a:endParaRPr kumimoji="1" lang="en-US" altLang="ja-JP" sz="1600" dirty="0">
              <a:latin typeface="+mn-ea"/>
            </a:endParaRPr>
          </a:p>
          <a:p>
            <a:pPr algn="l" defTabSz="288000"/>
            <a:r>
              <a:rPr kumimoji="1" lang="ja-JP" altLang="en-US" b="1" dirty="0">
                <a:latin typeface="+mn-ea"/>
              </a:rPr>
              <a:t>　　</a:t>
            </a:r>
            <a:r>
              <a:rPr kumimoji="1" lang="ja-JP" altLang="en-US" b="1" u="sng" dirty="0">
                <a:latin typeface="+mn-ea"/>
              </a:rPr>
              <a:t>開発ベンダー視点での</a:t>
            </a:r>
            <a:r>
              <a:rPr kumimoji="1" lang="ja-JP" altLang="en-US" sz="1600" u="sng" dirty="0">
                <a:latin typeface="+mn-ea"/>
              </a:rPr>
              <a:t>システム</a:t>
            </a:r>
            <a:r>
              <a:rPr lang="ja-JP" altLang="en-US" sz="1600" u="sng" dirty="0">
                <a:latin typeface="+mn-ea"/>
              </a:rPr>
              <a:t>に必要となる</a:t>
            </a:r>
            <a:r>
              <a:rPr kumimoji="1" lang="ja-JP" altLang="en-US" b="1" u="sng" dirty="0">
                <a:latin typeface="+mn-ea"/>
              </a:rPr>
              <a:t>具体的な条件や機能</a:t>
            </a:r>
            <a:endParaRPr kumimoji="1" lang="ja-JP" altLang="en-US" sz="1600" b="1" u="sng" dirty="0">
              <a:latin typeface="+mn-ea"/>
            </a:endParaRPr>
          </a:p>
        </p:txBody>
      </p:sp>
      <p:sp>
        <p:nvSpPr>
          <p:cNvPr id="55" name="テキスト ボックス 54">
            <a:extLst>
              <a:ext uri="{FF2B5EF4-FFF2-40B4-BE49-F238E27FC236}">
                <a16:creationId xmlns:a16="http://schemas.microsoft.com/office/drawing/2014/main" id="{CCDC5EE0-D6A0-C85F-323F-EC7B241D60AD}"/>
              </a:ext>
            </a:extLst>
          </p:cNvPr>
          <p:cNvSpPr txBox="1"/>
          <p:nvPr/>
        </p:nvSpPr>
        <p:spPr>
          <a:xfrm>
            <a:off x="10662961" y="4989421"/>
            <a:ext cx="542225" cy="304151"/>
          </a:xfrm>
          <a:prstGeom prst="rect">
            <a:avLst/>
          </a:prstGeom>
          <a:noFill/>
        </p:spPr>
        <p:txBody>
          <a:bodyPr wrap="square" lIns="0" rIns="0" rtlCol="0">
            <a:noAutofit/>
          </a:bodyPr>
          <a:lstStyle/>
          <a:p>
            <a:pPr algn="ctr" defTabSz="288000"/>
            <a:r>
              <a:rPr kumimoji="1" lang="en-US" altLang="ja-JP" sz="1200" dirty="0">
                <a:latin typeface="+mn-ea"/>
              </a:rPr>
              <a:t>SIer</a:t>
            </a:r>
          </a:p>
          <a:p>
            <a:pPr algn="ctr" defTabSz="288000"/>
            <a:r>
              <a:rPr kumimoji="1" lang="ja-JP" altLang="en-US" sz="1200" dirty="0">
                <a:latin typeface="+mn-ea"/>
              </a:rPr>
              <a:t>企業</a:t>
            </a:r>
          </a:p>
        </p:txBody>
      </p:sp>
      <p:sp>
        <p:nvSpPr>
          <p:cNvPr id="59" name="四角形: 角を丸くする 58">
            <a:extLst>
              <a:ext uri="{FF2B5EF4-FFF2-40B4-BE49-F238E27FC236}">
                <a16:creationId xmlns:a16="http://schemas.microsoft.com/office/drawing/2014/main" id="{28CDD9DC-C3B2-891C-5534-C42DCD8C4770}"/>
              </a:ext>
            </a:extLst>
          </p:cNvPr>
          <p:cNvSpPr/>
          <p:nvPr/>
        </p:nvSpPr>
        <p:spPr>
          <a:xfrm>
            <a:off x="713711" y="2322754"/>
            <a:ext cx="669927" cy="376257"/>
          </a:xfrm>
          <a:prstGeom prst="roundRect">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要求</a:t>
            </a:r>
          </a:p>
        </p:txBody>
      </p:sp>
      <p:sp>
        <p:nvSpPr>
          <p:cNvPr id="62" name="正方形/長方形 61">
            <a:extLst>
              <a:ext uri="{FF2B5EF4-FFF2-40B4-BE49-F238E27FC236}">
                <a16:creationId xmlns:a16="http://schemas.microsoft.com/office/drawing/2014/main" id="{21EFBF3D-2851-BA65-8CF9-9A0AA1A0F678}"/>
              </a:ext>
            </a:extLst>
          </p:cNvPr>
          <p:cNvSpPr/>
          <p:nvPr/>
        </p:nvSpPr>
        <p:spPr>
          <a:xfrm>
            <a:off x="6357694" y="2564268"/>
            <a:ext cx="4996661" cy="1213488"/>
          </a:xfrm>
          <a:prstGeom prst="rect">
            <a:avLst/>
          </a:prstGeom>
          <a:noFill/>
          <a:ln w="28575">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3" name="四角形: 角を丸くする 62">
            <a:extLst>
              <a:ext uri="{FF2B5EF4-FFF2-40B4-BE49-F238E27FC236}">
                <a16:creationId xmlns:a16="http://schemas.microsoft.com/office/drawing/2014/main" id="{5F209798-701C-1768-401E-AAB0AA4ECD79}"/>
              </a:ext>
            </a:extLst>
          </p:cNvPr>
          <p:cNvSpPr/>
          <p:nvPr/>
        </p:nvSpPr>
        <p:spPr>
          <a:xfrm>
            <a:off x="6452280" y="2322754"/>
            <a:ext cx="669927" cy="376257"/>
          </a:xfrm>
          <a:prstGeom prst="roundRect">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要求</a:t>
            </a:r>
          </a:p>
        </p:txBody>
      </p:sp>
      <p:sp>
        <p:nvSpPr>
          <p:cNvPr id="64" name="四角形: 角を丸くする 63">
            <a:extLst>
              <a:ext uri="{FF2B5EF4-FFF2-40B4-BE49-F238E27FC236}">
                <a16:creationId xmlns:a16="http://schemas.microsoft.com/office/drawing/2014/main" id="{46C11134-97CC-C368-9F7F-0F7C53CE93F0}"/>
              </a:ext>
            </a:extLst>
          </p:cNvPr>
          <p:cNvSpPr/>
          <p:nvPr/>
        </p:nvSpPr>
        <p:spPr>
          <a:xfrm>
            <a:off x="6447921" y="3905346"/>
            <a:ext cx="669927" cy="376257"/>
          </a:xfrm>
          <a:prstGeom prst="roundRect">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要件</a:t>
            </a:r>
          </a:p>
        </p:txBody>
      </p:sp>
      <p:sp>
        <p:nvSpPr>
          <p:cNvPr id="65" name="テキスト ボックス 64">
            <a:extLst>
              <a:ext uri="{FF2B5EF4-FFF2-40B4-BE49-F238E27FC236}">
                <a16:creationId xmlns:a16="http://schemas.microsoft.com/office/drawing/2014/main" id="{F6DE4E8A-CB47-8898-9819-B8DCD4790B96}"/>
              </a:ext>
            </a:extLst>
          </p:cNvPr>
          <p:cNvSpPr txBox="1"/>
          <p:nvPr/>
        </p:nvSpPr>
        <p:spPr>
          <a:xfrm>
            <a:off x="619125" y="5703315"/>
            <a:ext cx="5038724" cy="448732"/>
          </a:xfrm>
          <a:prstGeom prst="rect">
            <a:avLst/>
          </a:prstGeom>
          <a:noFill/>
        </p:spPr>
        <p:txBody>
          <a:bodyPr wrap="square" lIns="0" rIns="0" rtlCol="0">
            <a:noAutofit/>
          </a:bodyPr>
          <a:lstStyle/>
          <a:p>
            <a:pPr algn="l" defTabSz="288000"/>
            <a:r>
              <a:rPr kumimoji="1" lang="ja-JP" altLang="en-US" sz="1600" dirty="0">
                <a:latin typeface="+mn-ea"/>
              </a:rPr>
              <a:t>⇒　要求とは、</a:t>
            </a:r>
            <a:endParaRPr kumimoji="1" lang="en-US" altLang="ja-JP" sz="1600" dirty="0">
              <a:latin typeface="+mn-ea"/>
            </a:endParaRPr>
          </a:p>
          <a:p>
            <a:pPr algn="l" defTabSz="288000"/>
            <a:r>
              <a:rPr lang="ja-JP" altLang="en-US" sz="1600" b="1" dirty="0">
                <a:latin typeface="+mn-ea"/>
              </a:rPr>
              <a:t>　　　</a:t>
            </a:r>
            <a:r>
              <a:rPr kumimoji="1" lang="ja-JP" altLang="en-US" b="1" u="sng" dirty="0">
                <a:latin typeface="+mn-ea"/>
              </a:rPr>
              <a:t>顧客視点での</a:t>
            </a:r>
            <a:r>
              <a:rPr kumimoji="1" lang="ja-JP" altLang="en-US" sz="1600" u="sng" dirty="0">
                <a:latin typeface="+mn-ea"/>
              </a:rPr>
              <a:t>解決したいことや達成したいこと</a:t>
            </a:r>
          </a:p>
        </p:txBody>
      </p:sp>
      <p:pic>
        <p:nvPicPr>
          <p:cNvPr id="6" name="グラフィックス 5" descr="ユーザー 単色塗りつぶし">
            <a:extLst>
              <a:ext uri="{FF2B5EF4-FFF2-40B4-BE49-F238E27FC236}">
                <a16:creationId xmlns:a16="http://schemas.microsoft.com/office/drawing/2014/main" id="{BFAB0915-E325-7505-94D1-A6A429E03E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61744" y="4546904"/>
            <a:ext cx="540000" cy="540000"/>
          </a:xfrm>
          <a:prstGeom prst="rect">
            <a:avLst/>
          </a:prstGeom>
        </p:spPr>
      </p:pic>
      <p:pic>
        <p:nvPicPr>
          <p:cNvPr id="10" name="グラフィックス 9" descr="ユーザー 単色塗りつぶし">
            <a:extLst>
              <a:ext uri="{FF2B5EF4-FFF2-40B4-BE49-F238E27FC236}">
                <a16:creationId xmlns:a16="http://schemas.microsoft.com/office/drawing/2014/main" id="{F93A49DC-1453-8A53-4AB2-CECB4E5ABD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11993" y="4549655"/>
            <a:ext cx="540000" cy="540000"/>
          </a:xfrm>
          <a:prstGeom prst="rect">
            <a:avLst/>
          </a:prstGeom>
        </p:spPr>
      </p:pic>
    </p:spTree>
    <p:extLst>
      <p:ext uri="{BB962C8B-B14F-4D97-AF65-F5344CB8AC3E}">
        <p14:creationId xmlns:p14="http://schemas.microsoft.com/office/powerpoint/2010/main" val="3515279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203DB-78C1-5E2C-F53E-B5538D0984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3E3954-5971-5B49-4256-8877960E5450}"/>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要求分析</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AC379625-76D0-8182-9536-5E8E478F6811}"/>
              </a:ext>
            </a:extLst>
          </p:cNvPr>
          <p:cNvSpPr>
            <a:spLocks noGrp="1"/>
          </p:cNvSpPr>
          <p:nvPr>
            <p:ph sz="quarter" idx="4294967295"/>
          </p:nvPr>
        </p:nvSpPr>
        <p:spPr>
          <a:xfrm>
            <a:off x="481490" y="978298"/>
            <a:ext cx="11448000" cy="835726"/>
          </a:xfrm>
        </p:spPr>
        <p:txBody>
          <a:bodyPr/>
          <a:lstStyle/>
          <a:p>
            <a:r>
              <a:rPr lang="ja-JP" altLang="en-US" u="sng" dirty="0">
                <a:solidFill>
                  <a:schemeClr val="tx1"/>
                </a:solidFill>
              </a:rPr>
              <a:t>要求分析（</a:t>
            </a:r>
            <a:r>
              <a:rPr lang="en-US" altLang="ja-JP" u="sng" dirty="0">
                <a:solidFill>
                  <a:schemeClr val="tx1"/>
                </a:solidFill>
              </a:rPr>
              <a:t>Requirements Analysis</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Lato" panose="020F0502020204030203" pitchFamily="34" charset="0"/>
              </a:rPr>
              <a:t>顧客と合意した</a:t>
            </a:r>
            <a:r>
              <a:rPr lang="ja-JP" altLang="en-US" sz="2000" b="1" i="0" dirty="0">
                <a:solidFill>
                  <a:schemeClr val="tx1"/>
                </a:solidFill>
                <a:effectLst/>
                <a:latin typeface="Lato" panose="020F0502020204030203" pitchFamily="34" charset="0"/>
              </a:rPr>
              <a:t>要求</a:t>
            </a:r>
            <a:r>
              <a:rPr lang="ja-JP" altLang="en-US" b="0" i="0" dirty="0">
                <a:solidFill>
                  <a:schemeClr val="tx1"/>
                </a:solidFill>
                <a:effectLst/>
                <a:latin typeface="Lato" panose="020F0502020204030203" pitchFamily="34" charset="0"/>
              </a:rPr>
              <a:t>を整理し、実現するための</a:t>
            </a:r>
            <a:r>
              <a:rPr lang="ja-JP" altLang="en-US" sz="2000" b="1" i="0" dirty="0">
                <a:solidFill>
                  <a:schemeClr val="tx1"/>
                </a:solidFill>
                <a:effectLst/>
                <a:latin typeface="Lato" panose="020F0502020204030203" pitchFamily="34" charset="0"/>
              </a:rPr>
              <a:t>システムの要件</a:t>
            </a:r>
            <a:r>
              <a:rPr lang="ja-JP" altLang="en-US" b="0" i="0" dirty="0">
                <a:solidFill>
                  <a:schemeClr val="tx1"/>
                </a:solidFill>
                <a:effectLst/>
                <a:latin typeface="Lato" panose="020F0502020204030203" pitchFamily="34" charset="0"/>
              </a:rPr>
              <a:t>を明確化するフェーズ</a:t>
            </a:r>
            <a:endParaRPr lang="en-US" altLang="ja-JP" u="sng" dirty="0">
              <a:solidFill>
                <a:schemeClr val="tx1"/>
              </a:solidFill>
            </a:endParaRPr>
          </a:p>
          <a:p>
            <a:endParaRPr lang="en-US" altLang="ja-JP" dirty="0">
              <a:solidFill>
                <a:schemeClr val="tx1"/>
              </a:solidFill>
            </a:endParaRPr>
          </a:p>
        </p:txBody>
      </p:sp>
      <p:sp>
        <p:nvSpPr>
          <p:cNvPr id="24" name="テキスト ボックス 23">
            <a:extLst>
              <a:ext uri="{FF2B5EF4-FFF2-40B4-BE49-F238E27FC236}">
                <a16:creationId xmlns:a16="http://schemas.microsoft.com/office/drawing/2014/main" id="{1E324AA4-9F8C-C071-1D3E-268F912F921C}"/>
              </a:ext>
            </a:extLst>
          </p:cNvPr>
          <p:cNvSpPr txBox="1"/>
          <p:nvPr/>
        </p:nvSpPr>
        <p:spPr>
          <a:xfrm>
            <a:off x="366374" y="1827068"/>
            <a:ext cx="7515224" cy="369332"/>
          </a:xfrm>
          <a:prstGeom prst="rect">
            <a:avLst/>
          </a:prstGeom>
          <a:noFill/>
        </p:spPr>
        <p:txBody>
          <a:bodyPr wrap="square">
            <a:spAutoFit/>
          </a:bodyPr>
          <a:lstStyle/>
          <a:p>
            <a:r>
              <a:rPr lang="ja-JP" altLang="en-US" dirty="0"/>
              <a:t>■主な作業</a:t>
            </a:r>
            <a:endParaRPr lang="ja-JP" altLang="en-US" sz="1800" b="0" i="0" dirty="0">
              <a:solidFill>
                <a:srgbClr val="333333"/>
              </a:solidFill>
              <a:effectLst/>
              <a:latin typeface="Helvetica Neue"/>
            </a:endParaRPr>
          </a:p>
        </p:txBody>
      </p:sp>
      <p:grpSp>
        <p:nvGrpSpPr>
          <p:cNvPr id="23" name="グループ化 22">
            <a:extLst>
              <a:ext uri="{FF2B5EF4-FFF2-40B4-BE49-F238E27FC236}">
                <a16:creationId xmlns:a16="http://schemas.microsoft.com/office/drawing/2014/main" id="{B36A71A3-90E6-0693-4840-11ED53AAB501}"/>
              </a:ext>
            </a:extLst>
          </p:cNvPr>
          <p:cNvGrpSpPr/>
          <p:nvPr/>
        </p:nvGrpSpPr>
        <p:grpSpPr>
          <a:xfrm>
            <a:off x="8517235" y="152748"/>
            <a:ext cx="3412255" cy="1890892"/>
            <a:chOff x="8517235" y="152748"/>
            <a:chExt cx="3412255" cy="1890892"/>
          </a:xfrm>
        </p:grpSpPr>
        <p:pic>
          <p:nvPicPr>
            <p:cNvPr id="25" name="図 24" descr="ダイアグラム&#10;&#10;AI によって生成されたコンテンツは間違っている可能性があります。">
              <a:extLst>
                <a:ext uri="{FF2B5EF4-FFF2-40B4-BE49-F238E27FC236}">
                  <a16:creationId xmlns:a16="http://schemas.microsoft.com/office/drawing/2014/main" id="{75EA8335-A359-F4B7-8CFD-236D5FF273B9}"/>
                </a:ext>
              </a:extLst>
            </p:cNvPr>
            <p:cNvPicPr>
              <a:picLocks noChangeAspect="1"/>
            </p:cNvPicPr>
            <p:nvPr/>
          </p:nvPicPr>
          <p:blipFill>
            <a:blip r:embed="rId2"/>
            <a:stretch>
              <a:fillRect/>
            </a:stretch>
          </p:blipFill>
          <p:spPr>
            <a:xfrm>
              <a:off x="8633867" y="152748"/>
              <a:ext cx="3295623" cy="1890892"/>
            </a:xfrm>
            <a:prstGeom prst="rect">
              <a:avLst/>
            </a:prstGeom>
            <a:ln>
              <a:solidFill>
                <a:schemeClr val="tx1"/>
              </a:solidFill>
            </a:ln>
          </p:spPr>
        </p:pic>
        <p:sp>
          <p:nvSpPr>
            <p:cNvPr id="28" name="正方形/長方形 27">
              <a:extLst>
                <a:ext uri="{FF2B5EF4-FFF2-40B4-BE49-F238E27FC236}">
                  <a16:creationId xmlns:a16="http://schemas.microsoft.com/office/drawing/2014/main" id="{ADE29907-DAF1-6795-6988-1B260B21BF45}"/>
                </a:ext>
              </a:extLst>
            </p:cNvPr>
            <p:cNvSpPr/>
            <p:nvPr/>
          </p:nvSpPr>
          <p:spPr>
            <a:xfrm>
              <a:off x="8862471" y="702896"/>
              <a:ext cx="900000" cy="396000"/>
            </a:xfrm>
            <a:prstGeom prst="rect">
              <a:avLst/>
            </a:prstGeom>
            <a:noFill/>
            <a:ln w="38100">
              <a:solidFill>
                <a:srgbClr val="FFC4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30" name="正方形/長方形 29">
              <a:extLst>
                <a:ext uri="{FF2B5EF4-FFF2-40B4-BE49-F238E27FC236}">
                  <a16:creationId xmlns:a16="http://schemas.microsoft.com/office/drawing/2014/main" id="{51249741-DBDF-A7BF-12CD-BA7CF9C02D6D}"/>
                </a:ext>
              </a:extLst>
            </p:cNvPr>
            <p:cNvSpPr/>
            <p:nvPr/>
          </p:nvSpPr>
          <p:spPr>
            <a:xfrm>
              <a:off x="10313987"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5" name="矢印: 下 34">
              <a:extLst>
                <a:ext uri="{FF2B5EF4-FFF2-40B4-BE49-F238E27FC236}">
                  <a16:creationId xmlns:a16="http://schemas.microsoft.com/office/drawing/2014/main" id="{73C318FB-8E4D-C5BD-215B-C04A853C7D1E}"/>
                </a:ext>
              </a:extLst>
            </p:cNvPr>
            <p:cNvSpPr/>
            <p:nvPr/>
          </p:nvSpPr>
          <p:spPr>
            <a:xfrm rot="16200000">
              <a:off x="8584458" y="728278"/>
              <a:ext cx="210790" cy="345236"/>
            </a:xfrm>
            <a:prstGeom prst="downArrow">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79" name="四角形: 角を丸くする 78">
            <a:extLst>
              <a:ext uri="{FF2B5EF4-FFF2-40B4-BE49-F238E27FC236}">
                <a16:creationId xmlns:a16="http://schemas.microsoft.com/office/drawing/2014/main" id="{C6961DA3-31D2-630F-8D38-30C8C7E85E4E}"/>
              </a:ext>
            </a:extLst>
          </p:cNvPr>
          <p:cNvSpPr/>
          <p:nvPr/>
        </p:nvSpPr>
        <p:spPr>
          <a:xfrm>
            <a:off x="542244" y="2362421"/>
            <a:ext cx="1754085" cy="2581719"/>
          </a:xfrm>
          <a:prstGeom prst="round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0" name="テキスト ボックス 79">
            <a:extLst>
              <a:ext uri="{FF2B5EF4-FFF2-40B4-BE49-F238E27FC236}">
                <a16:creationId xmlns:a16="http://schemas.microsoft.com/office/drawing/2014/main" id="{F05DDB5D-66E3-FD36-2BEC-E68C0B752029}"/>
              </a:ext>
            </a:extLst>
          </p:cNvPr>
          <p:cNvSpPr txBox="1"/>
          <p:nvPr/>
        </p:nvSpPr>
        <p:spPr>
          <a:xfrm>
            <a:off x="542244" y="2371729"/>
            <a:ext cx="1754086" cy="307777"/>
          </a:xfrm>
          <a:prstGeom prst="rect">
            <a:avLst/>
          </a:prstGeom>
          <a:noFill/>
        </p:spPr>
        <p:txBody>
          <a:bodyPr wrap="square" anchor="ctr">
            <a:spAutoFit/>
          </a:bodyPr>
          <a:lstStyle/>
          <a:p>
            <a:pPr algn="ctr"/>
            <a:r>
              <a:rPr lang="ja-JP" altLang="en-US" sz="1400" u="sng" dirty="0"/>
              <a:t>顧客の要求</a:t>
            </a:r>
            <a:endParaRPr lang="ja-JP" altLang="en-US" sz="1400" b="0" i="0" u="sng" dirty="0">
              <a:solidFill>
                <a:srgbClr val="333333"/>
              </a:solidFill>
              <a:effectLst/>
              <a:latin typeface="Helvetica Neue"/>
            </a:endParaRPr>
          </a:p>
        </p:txBody>
      </p:sp>
      <p:sp>
        <p:nvSpPr>
          <p:cNvPr id="81" name="楕円 80">
            <a:extLst>
              <a:ext uri="{FF2B5EF4-FFF2-40B4-BE49-F238E27FC236}">
                <a16:creationId xmlns:a16="http://schemas.microsoft.com/office/drawing/2014/main" id="{7B333AB5-0D20-CAF7-84B8-056802D76E81}"/>
              </a:ext>
            </a:extLst>
          </p:cNvPr>
          <p:cNvSpPr/>
          <p:nvPr/>
        </p:nvSpPr>
        <p:spPr>
          <a:xfrm>
            <a:off x="637661" y="2883256"/>
            <a:ext cx="1044000" cy="317085"/>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tx1"/>
                </a:solidFill>
              </a:rPr>
              <a:t>○○したい</a:t>
            </a:r>
            <a:endParaRPr kumimoji="1" lang="ja-JP" altLang="en-US" sz="1200" dirty="0">
              <a:solidFill>
                <a:schemeClr val="tx1"/>
              </a:solidFill>
            </a:endParaRPr>
          </a:p>
        </p:txBody>
      </p:sp>
      <p:sp>
        <p:nvSpPr>
          <p:cNvPr id="82" name="四角形: 角を丸くする 81">
            <a:extLst>
              <a:ext uri="{FF2B5EF4-FFF2-40B4-BE49-F238E27FC236}">
                <a16:creationId xmlns:a16="http://schemas.microsoft.com/office/drawing/2014/main" id="{5D16BD07-30C5-7CD4-16E8-874C4ACEE7BE}"/>
              </a:ext>
            </a:extLst>
          </p:cNvPr>
          <p:cNvSpPr/>
          <p:nvPr/>
        </p:nvSpPr>
        <p:spPr>
          <a:xfrm>
            <a:off x="3617455" y="2326401"/>
            <a:ext cx="1754085" cy="739625"/>
          </a:xfrm>
          <a:prstGeom prst="round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2000" b="1" dirty="0">
                <a:solidFill>
                  <a:schemeClr val="tx1"/>
                </a:solidFill>
              </a:rPr>
              <a:t>機能</a:t>
            </a:r>
            <a:r>
              <a:rPr kumimoji="1" lang="ja-JP" altLang="en-US" dirty="0">
                <a:solidFill>
                  <a:schemeClr val="tx1"/>
                </a:solidFill>
              </a:rPr>
              <a:t>要求</a:t>
            </a:r>
          </a:p>
        </p:txBody>
      </p:sp>
      <p:sp>
        <p:nvSpPr>
          <p:cNvPr id="103" name="楕円 102">
            <a:extLst>
              <a:ext uri="{FF2B5EF4-FFF2-40B4-BE49-F238E27FC236}">
                <a16:creationId xmlns:a16="http://schemas.microsoft.com/office/drawing/2014/main" id="{E67115A6-E0F4-6E58-92FE-ABFDA35C00C2}"/>
              </a:ext>
            </a:extLst>
          </p:cNvPr>
          <p:cNvSpPr/>
          <p:nvPr/>
        </p:nvSpPr>
        <p:spPr>
          <a:xfrm>
            <a:off x="1180340" y="3224015"/>
            <a:ext cx="1044000" cy="317085"/>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tx1"/>
                </a:solidFill>
              </a:rPr>
              <a:t>□□したい</a:t>
            </a:r>
            <a:endParaRPr kumimoji="1" lang="ja-JP" altLang="en-US" sz="1200" dirty="0">
              <a:solidFill>
                <a:schemeClr val="tx1"/>
              </a:solidFill>
            </a:endParaRPr>
          </a:p>
        </p:txBody>
      </p:sp>
      <p:sp>
        <p:nvSpPr>
          <p:cNvPr id="105" name="楕円 104">
            <a:extLst>
              <a:ext uri="{FF2B5EF4-FFF2-40B4-BE49-F238E27FC236}">
                <a16:creationId xmlns:a16="http://schemas.microsoft.com/office/drawing/2014/main" id="{14F61A55-FC31-DA13-1E45-1EB830002DDE}"/>
              </a:ext>
            </a:extLst>
          </p:cNvPr>
          <p:cNvSpPr/>
          <p:nvPr/>
        </p:nvSpPr>
        <p:spPr>
          <a:xfrm>
            <a:off x="637661" y="3586308"/>
            <a:ext cx="1044000" cy="317085"/>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tx1"/>
                </a:solidFill>
              </a:rPr>
              <a:t>△△したい</a:t>
            </a:r>
            <a:endParaRPr kumimoji="1" lang="ja-JP" altLang="en-US" sz="1200" dirty="0">
              <a:solidFill>
                <a:schemeClr val="tx1"/>
              </a:solidFill>
            </a:endParaRPr>
          </a:p>
        </p:txBody>
      </p:sp>
      <p:sp>
        <p:nvSpPr>
          <p:cNvPr id="107" name="楕円 106">
            <a:extLst>
              <a:ext uri="{FF2B5EF4-FFF2-40B4-BE49-F238E27FC236}">
                <a16:creationId xmlns:a16="http://schemas.microsoft.com/office/drawing/2014/main" id="{18D65C79-FB3C-B369-65DB-1EFE47231FC4}"/>
              </a:ext>
            </a:extLst>
          </p:cNvPr>
          <p:cNvSpPr/>
          <p:nvPr/>
        </p:nvSpPr>
        <p:spPr>
          <a:xfrm>
            <a:off x="1199410" y="3952177"/>
            <a:ext cx="1044000" cy="317085"/>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tx1"/>
                </a:solidFill>
              </a:rPr>
              <a:t>■■したい</a:t>
            </a:r>
            <a:endParaRPr kumimoji="1" lang="ja-JP" altLang="en-US" sz="1200" dirty="0">
              <a:solidFill>
                <a:schemeClr val="tx1"/>
              </a:solidFill>
            </a:endParaRPr>
          </a:p>
        </p:txBody>
      </p:sp>
      <p:sp>
        <p:nvSpPr>
          <p:cNvPr id="108" name="楕円 107">
            <a:extLst>
              <a:ext uri="{FF2B5EF4-FFF2-40B4-BE49-F238E27FC236}">
                <a16:creationId xmlns:a16="http://schemas.microsoft.com/office/drawing/2014/main" id="{FCC7C4F2-89F8-5D09-18F3-C0351B56B508}"/>
              </a:ext>
            </a:extLst>
          </p:cNvPr>
          <p:cNvSpPr/>
          <p:nvPr/>
        </p:nvSpPr>
        <p:spPr>
          <a:xfrm>
            <a:off x="637661" y="4314469"/>
            <a:ext cx="1044000" cy="317085"/>
          </a:xfrm>
          <a:prstGeom prst="ellipse">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solidFill>
                  <a:schemeClr val="tx1"/>
                </a:solidFill>
              </a:rPr>
              <a:t>▲▲したい</a:t>
            </a:r>
            <a:endParaRPr kumimoji="1" lang="ja-JP" altLang="en-US" sz="1200" dirty="0">
              <a:solidFill>
                <a:schemeClr val="tx1"/>
              </a:solidFill>
            </a:endParaRPr>
          </a:p>
        </p:txBody>
      </p:sp>
      <p:sp>
        <p:nvSpPr>
          <p:cNvPr id="124" name="四角形: 角を丸くする 123">
            <a:extLst>
              <a:ext uri="{FF2B5EF4-FFF2-40B4-BE49-F238E27FC236}">
                <a16:creationId xmlns:a16="http://schemas.microsoft.com/office/drawing/2014/main" id="{4D6587A0-D93C-B697-74E2-898317CDBA63}"/>
              </a:ext>
            </a:extLst>
          </p:cNvPr>
          <p:cNvSpPr/>
          <p:nvPr/>
        </p:nvSpPr>
        <p:spPr>
          <a:xfrm>
            <a:off x="3617454" y="4364850"/>
            <a:ext cx="1754085" cy="739625"/>
          </a:xfrm>
          <a:prstGeom prst="roundRect">
            <a:avLst/>
          </a:prstGeom>
          <a:solidFill>
            <a:schemeClr val="accent1">
              <a:lumMod val="10000"/>
              <a:lumOff val="9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2000" b="1" dirty="0">
                <a:solidFill>
                  <a:schemeClr val="tx1"/>
                </a:solidFill>
              </a:rPr>
              <a:t>非機能</a:t>
            </a:r>
            <a:r>
              <a:rPr kumimoji="1" lang="ja-JP" altLang="en-US" dirty="0">
                <a:solidFill>
                  <a:schemeClr val="tx1"/>
                </a:solidFill>
              </a:rPr>
              <a:t>要求</a:t>
            </a:r>
          </a:p>
        </p:txBody>
      </p:sp>
      <p:sp>
        <p:nvSpPr>
          <p:cNvPr id="128" name="テキスト ボックス 127">
            <a:extLst>
              <a:ext uri="{FF2B5EF4-FFF2-40B4-BE49-F238E27FC236}">
                <a16:creationId xmlns:a16="http://schemas.microsoft.com/office/drawing/2014/main" id="{ACE74C14-503E-8BE9-9F1D-226A5DB83889}"/>
              </a:ext>
            </a:extLst>
          </p:cNvPr>
          <p:cNvSpPr txBox="1"/>
          <p:nvPr/>
        </p:nvSpPr>
        <p:spPr>
          <a:xfrm>
            <a:off x="5519937" y="4364849"/>
            <a:ext cx="5112613" cy="739625"/>
          </a:xfrm>
          <a:prstGeom prst="rect">
            <a:avLst/>
          </a:prstGeom>
          <a:noFill/>
        </p:spPr>
        <p:txBody>
          <a:bodyPr wrap="square" lIns="0" rIns="0" rtlCol="0" anchor="ctr">
            <a:noAutofit/>
          </a:bodyPr>
          <a:lstStyle/>
          <a:p>
            <a:pPr algn="l" defTabSz="288000"/>
            <a:r>
              <a:rPr lang="ja-JP" altLang="en-US" sz="1600" b="0" i="0" dirty="0">
                <a:effectLst/>
                <a:latin typeface="Helvetica Neue"/>
              </a:rPr>
              <a:t>可用性、性能・拡張性、運用・</a:t>
            </a:r>
            <a:r>
              <a:rPr lang="ja-JP" altLang="en-US" sz="1600" dirty="0">
                <a:latin typeface="Helvetica Neue"/>
              </a:rPr>
              <a:t>保守</a:t>
            </a:r>
            <a:r>
              <a:rPr lang="ja-JP" altLang="en-US" sz="1600" b="0" i="0" dirty="0">
                <a:effectLst/>
                <a:latin typeface="Helvetica Neue"/>
              </a:rPr>
              <a:t>性、セキュリティなど</a:t>
            </a:r>
            <a:r>
              <a:rPr lang="ja-JP" altLang="en-US" sz="1600" b="0" i="0" dirty="0">
                <a:effectLst/>
                <a:latin typeface="__Inter_a184c8"/>
              </a:rPr>
              <a:t>、</a:t>
            </a:r>
            <a:endParaRPr lang="en-US" altLang="ja-JP" sz="1600" b="0" i="0" dirty="0">
              <a:effectLst/>
              <a:latin typeface="__Inter_a184c8"/>
            </a:endParaRPr>
          </a:p>
          <a:p>
            <a:pPr algn="l" defTabSz="288000"/>
            <a:r>
              <a:rPr lang="ja-JP" altLang="en-US" sz="1600" b="0" i="0" dirty="0">
                <a:effectLst/>
                <a:latin typeface="__Inter_a184c8"/>
              </a:rPr>
              <a:t>機能以外の品質に関わる要求</a:t>
            </a:r>
            <a:endParaRPr kumimoji="1" lang="ja-JP" altLang="en-US" sz="1600" dirty="0">
              <a:latin typeface="+mn-ea"/>
            </a:endParaRPr>
          </a:p>
        </p:txBody>
      </p:sp>
      <p:sp>
        <p:nvSpPr>
          <p:cNvPr id="129" name="テキスト ボックス 128">
            <a:extLst>
              <a:ext uri="{FF2B5EF4-FFF2-40B4-BE49-F238E27FC236}">
                <a16:creationId xmlns:a16="http://schemas.microsoft.com/office/drawing/2014/main" id="{BA44EC5C-3E91-08E1-1C35-BDE36753D3DE}"/>
              </a:ext>
            </a:extLst>
          </p:cNvPr>
          <p:cNvSpPr txBox="1"/>
          <p:nvPr/>
        </p:nvSpPr>
        <p:spPr>
          <a:xfrm>
            <a:off x="5519937" y="2326401"/>
            <a:ext cx="3592165" cy="739625"/>
          </a:xfrm>
          <a:prstGeom prst="rect">
            <a:avLst/>
          </a:prstGeom>
          <a:noFill/>
        </p:spPr>
        <p:txBody>
          <a:bodyPr wrap="square" lIns="0" rIns="0" rtlCol="0" anchor="ctr">
            <a:noAutofit/>
          </a:bodyPr>
          <a:lstStyle/>
          <a:p>
            <a:pPr algn="l" defTabSz="288000"/>
            <a:r>
              <a:rPr lang="ja-JP" altLang="en-US" sz="1600" b="0" i="0" dirty="0">
                <a:effectLst/>
                <a:latin typeface="Helvetica Neue"/>
              </a:rPr>
              <a:t>機能（システムがユーザーに対して提供する</a:t>
            </a:r>
            <a:endParaRPr lang="en-US" altLang="ja-JP" sz="1600" b="0" i="0" dirty="0">
              <a:effectLst/>
              <a:latin typeface="Helvetica Neue"/>
            </a:endParaRPr>
          </a:p>
          <a:p>
            <a:pPr algn="l" defTabSz="288000"/>
            <a:r>
              <a:rPr lang="ja-JP" altLang="en-US" sz="1600" b="0" i="0" dirty="0">
                <a:effectLst/>
                <a:latin typeface="Helvetica Neue"/>
              </a:rPr>
              <a:t>具体的な動作やサービス）に関わる要求</a:t>
            </a:r>
            <a:endParaRPr kumimoji="1" lang="ja-JP" altLang="en-US" sz="1600" dirty="0">
              <a:latin typeface="+mn-ea"/>
            </a:endParaRPr>
          </a:p>
        </p:txBody>
      </p:sp>
      <p:sp>
        <p:nvSpPr>
          <p:cNvPr id="130" name="テキスト ボックス 129">
            <a:extLst>
              <a:ext uri="{FF2B5EF4-FFF2-40B4-BE49-F238E27FC236}">
                <a16:creationId xmlns:a16="http://schemas.microsoft.com/office/drawing/2014/main" id="{C8D0C38E-26E9-FBDA-F92D-20C4A323B296}"/>
              </a:ext>
            </a:extLst>
          </p:cNvPr>
          <p:cNvSpPr txBox="1"/>
          <p:nvPr/>
        </p:nvSpPr>
        <p:spPr>
          <a:xfrm>
            <a:off x="2296330" y="3392720"/>
            <a:ext cx="542678" cy="307777"/>
          </a:xfrm>
          <a:prstGeom prst="rect">
            <a:avLst/>
          </a:prstGeom>
          <a:noFill/>
        </p:spPr>
        <p:txBody>
          <a:bodyPr wrap="square" lIns="0" rIns="0" rtlCol="0">
            <a:noAutofit/>
          </a:bodyPr>
          <a:lstStyle/>
          <a:p>
            <a:pPr algn="ctr" defTabSz="288000"/>
            <a:r>
              <a:rPr kumimoji="1" lang="ja-JP" altLang="en-US" sz="1400" dirty="0">
                <a:latin typeface="+mn-ea"/>
              </a:rPr>
              <a:t>分類</a:t>
            </a:r>
          </a:p>
        </p:txBody>
      </p:sp>
      <p:cxnSp>
        <p:nvCxnSpPr>
          <p:cNvPr id="132" name="コネクタ: カギ線 131">
            <a:extLst>
              <a:ext uri="{FF2B5EF4-FFF2-40B4-BE49-F238E27FC236}">
                <a16:creationId xmlns:a16="http://schemas.microsoft.com/office/drawing/2014/main" id="{CF55A198-EBAC-0906-AD8B-2B1841B492EE}"/>
              </a:ext>
            </a:extLst>
          </p:cNvPr>
          <p:cNvCxnSpPr>
            <a:cxnSpLocks/>
            <a:stCxn id="79" idx="3"/>
            <a:endCxn id="82" idx="1"/>
          </p:cNvCxnSpPr>
          <p:nvPr/>
        </p:nvCxnSpPr>
        <p:spPr>
          <a:xfrm flipV="1">
            <a:off x="2296329" y="2696214"/>
            <a:ext cx="1321126" cy="957067"/>
          </a:xfrm>
          <a:prstGeom prst="bentConnector3">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3" name="コネクタ: カギ線 132">
            <a:extLst>
              <a:ext uri="{FF2B5EF4-FFF2-40B4-BE49-F238E27FC236}">
                <a16:creationId xmlns:a16="http://schemas.microsoft.com/office/drawing/2014/main" id="{82C13EC4-98ED-D257-2125-F5DEC7050099}"/>
              </a:ext>
            </a:extLst>
          </p:cNvPr>
          <p:cNvCxnSpPr>
            <a:cxnSpLocks/>
          </p:cNvCxnSpPr>
          <p:nvPr/>
        </p:nvCxnSpPr>
        <p:spPr>
          <a:xfrm rot="16200000" flipH="1">
            <a:off x="2748840" y="3869973"/>
            <a:ext cx="1081380" cy="648000"/>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44" name="グループ化 143">
            <a:extLst>
              <a:ext uri="{FF2B5EF4-FFF2-40B4-BE49-F238E27FC236}">
                <a16:creationId xmlns:a16="http://schemas.microsoft.com/office/drawing/2014/main" id="{7E09A5BA-4401-7D77-3A02-1B678390EB77}"/>
              </a:ext>
            </a:extLst>
          </p:cNvPr>
          <p:cNvGrpSpPr/>
          <p:nvPr/>
        </p:nvGrpSpPr>
        <p:grpSpPr>
          <a:xfrm>
            <a:off x="4148039" y="3066026"/>
            <a:ext cx="5459071" cy="855878"/>
            <a:chOff x="4497447" y="2959699"/>
            <a:chExt cx="5459071" cy="855878"/>
          </a:xfrm>
        </p:grpSpPr>
        <p:sp>
          <p:nvSpPr>
            <p:cNvPr id="140" name="テキスト ボックス 139">
              <a:extLst>
                <a:ext uri="{FF2B5EF4-FFF2-40B4-BE49-F238E27FC236}">
                  <a16:creationId xmlns:a16="http://schemas.microsoft.com/office/drawing/2014/main" id="{3657290F-5474-6E67-5DCF-D01738CB3521}"/>
                </a:ext>
              </a:extLst>
            </p:cNvPr>
            <p:cNvSpPr txBox="1"/>
            <p:nvPr/>
          </p:nvSpPr>
          <p:spPr>
            <a:xfrm>
              <a:off x="4497447" y="2959699"/>
              <a:ext cx="606181" cy="362714"/>
            </a:xfrm>
            <a:prstGeom prst="rect">
              <a:avLst/>
            </a:prstGeom>
            <a:noFill/>
          </p:spPr>
          <p:txBody>
            <a:bodyPr wrap="square" lIns="0" rIns="0" rtlCol="0" anchor="t">
              <a:noAutofit/>
            </a:bodyPr>
            <a:lstStyle/>
            <a:p>
              <a:pPr algn="l" defTabSz="288000"/>
              <a:r>
                <a:rPr lang="ja-JP" altLang="en-US" sz="1600" b="0" i="0" dirty="0">
                  <a:effectLst/>
                  <a:latin typeface="Helvetica Neue"/>
                </a:rPr>
                <a:t>例）</a:t>
              </a:r>
              <a:endParaRPr lang="en-US" altLang="ja-JP" sz="1600" b="0" i="0" dirty="0">
                <a:effectLst/>
                <a:latin typeface="+mn-ea"/>
              </a:endParaRPr>
            </a:p>
          </p:txBody>
        </p:sp>
        <p:sp>
          <p:nvSpPr>
            <p:cNvPr id="142" name="テキスト ボックス 141">
              <a:extLst>
                <a:ext uri="{FF2B5EF4-FFF2-40B4-BE49-F238E27FC236}">
                  <a16:creationId xmlns:a16="http://schemas.microsoft.com/office/drawing/2014/main" id="{09D7A83F-9313-9265-B57B-585451CF5411}"/>
                </a:ext>
              </a:extLst>
            </p:cNvPr>
            <p:cNvSpPr txBox="1"/>
            <p:nvPr/>
          </p:nvSpPr>
          <p:spPr>
            <a:xfrm>
              <a:off x="4843905" y="2959699"/>
              <a:ext cx="5112613" cy="855878"/>
            </a:xfrm>
            <a:prstGeom prst="rect">
              <a:avLst/>
            </a:prstGeom>
            <a:noFill/>
          </p:spPr>
          <p:txBody>
            <a:bodyPr wrap="square" lIns="0" rIns="0" rtlCol="0" anchor="t">
              <a:noAutofit/>
            </a:bodyPr>
            <a:lstStyle/>
            <a:p>
              <a:pPr algn="l" defTabSz="288000"/>
              <a:r>
                <a:rPr lang="ja-JP" altLang="en-US" sz="1600" dirty="0">
                  <a:latin typeface="+mn-ea"/>
                </a:rPr>
                <a:t>・ユーザーの登録</a:t>
              </a:r>
              <a:r>
                <a:rPr lang="en-US" altLang="ja-JP" sz="1600" dirty="0">
                  <a:latin typeface="+mn-ea"/>
                </a:rPr>
                <a:t>/</a:t>
              </a:r>
              <a:r>
                <a:rPr lang="ja-JP" altLang="en-US" sz="1600" dirty="0">
                  <a:latin typeface="+mn-ea"/>
                </a:rPr>
                <a:t>変更</a:t>
              </a:r>
              <a:r>
                <a:rPr lang="en-US" altLang="ja-JP" sz="1600" dirty="0">
                  <a:latin typeface="+mn-ea"/>
                </a:rPr>
                <a:t>/</a:t>
              </a:r>
              <a:r>
                <a:rPr lang="ja-JP" altLang="en-US" sz="1600" dirty="0">
                  <a:latin typeface="+mn-ea"/>
                </a:rPr>
                <a:t>削除をしたい</a:t>
              </a:r>
              <a:endParaRPr lang="en-US" altLang="ja-JP" sz="1600" dirty="0">
                <a:latin typeface="+mn-ea"/>
              </a:endParaRPr>
            </a:p>
            <a:p>
              <a:pPr algn="l" defTabSz="288000"/>
              <a:r>
                <a:rPr lang="ja-JP" altLang="en-US" sz="1600" b="0" i="0" dirty="0">
                  <a:effectLst/>
                  <a:latin typeface="+mn-ea"/>
                </a:rPr>
                <a:t>・商品の検索をしたい</a:t>
              </a:r>
              <a:endParaRPr lang="en-US" altLang="ja-JP" sz="1600" b="0" i="0" dirty="0">
                <a:effectLst/>
                <a:latin typeface="+mn-ea"/>
              </a:endParaRPr>
            </a:p>
            <a:p>
              <a:pPr algn="l" defTabSz="288000"/>
              <a:r>
                <a:rPr lang="ja-JP" altLang="en-US" sz="1600" dirty="0">
                  <a:latin typeface="+mn-ea"/>
                </a:rPr>
                <a:t>・社員にメールで通知したい</a:t>
              </a:r>
              <a:endParaRPr lang="en-US" altLang="ja-JP" sz="1600" b="0" i="0" dirty="0">
                <a:effectLst/>
                <a:latin typeface="Helvetica Neue"/>
              </a:endParaRPr>
            </a:p>
          </p:txBody>
        </p:sp>
      </p:grpSp>
      <p:grpSp>
        <p:nvGrpSpPr>
          <p:cNvPr id="147" name="グループ化 146">
            <a:extLst>
              <a:ext uri="{FF2B5EF4-FFF2-40B4-BE49-F238E27FC236}">
                <a16:creationId xmlns:a16="http://schemas.microsoft.com/office/drawing/2014/main" id="{6873C789-3AAF-CD50-1BDA-9CE5F7A0B37A}"/>
              </a:ext>
            </a:extLst>
          </p:cNvPr>
          <p:cNvGrpSpPr/>
          <p:nvPr/>
        </p:nvGrpSpPr>
        <p:grpSpPr>
          <a:xfrm>
            <a:off x="4148038" y="5104474"/>
            <a:ext cx="7974580" cy="855878"/>
            <a:chOff x="4497447" y="2959699"/>
            <a:chExt cx="7974580" cy="855878"/>
          </a:xfrm>
        </p:grpSpPr>
        <p:sp>
          <p:nvSpPr>
            <p:cNvPr id="148" name="テキスト ボックス 147">
              <a:extLst>
                <a:ext uri="{FF2B5EF4-FFF2-40B4-BE49-F238E27FC236}">
                  <a16:creationId xmlns:a16="http://schemas.microsoft.com/office/drawing/2014/main" id="{236CC0ED-5CAD-C17C-469C-B5D4C7B0E9AD}"/>
                </a:ext>
              </a:extLst>
            </p:cNvPr>
            <p:cNvSpPr txBox="1"/>
            <p:nvPr/>
          </p:nvSpPr>
          <p:spPr>
            <a:xfrm>
              <a:off x="4497447" y="2959699"/>
              <a:ext cx="606181" cy="362714"/>
            </a:xfrm>
            <a:prstGeom prst="rect">
              <a:avLst/>
            </a:prstGeom>
            <a:noFill/>
          </p:spPr>
          <p:txBody>
            <a:bodyPr wrap="square" lIns="0" rIns="0" rtlCol="0" anchor="t">
              <a:noAutofit/>
            </a:bodyPr>
            <a:lstStyle/>
            <a:p>
              <a:pPr algn="l" defTabSz="288000"/>
              <a:r>
                <a:rPr lang="ja-JP" altLang="en-US" sz="1600" b="0" i="0" dirty="0">
                  <a:effectLst/>
                  <a:latin typeface="Helvetica Neue"/>
                </a:rPr>
                <a:t>例）</a:t>
              </a:r>
              <a:endParaRPr lang="en-US" altLang="ja-JP" sz="1600" b="0" i="0" dirty="0">
                <a:effectLst/>
                <a:latin typeface="+mn-ea"/>
              </a:endParaRPr>
            </a:p>
          </p:txBody>
        </p:sp>
        <p:sp>
          <p:nvSpPr>
            <p:cNvPr id="151" name="テキスト ボックス 150">
              <a:extLst>
                <a:ext uri="{FF2B5EF4-FFF2-40B4-BE49-F238E27FC236}">
                  <a16:creationId xmlns:a16="http://schemas.microsoft.com/office/drawing/2014/main" id="{93440716-8720-2E4B-D3AB-5C921ED33050}"/>
                </a:ext>
              </a:extLst>
            </p:cNvPr>
            <p:cNvSpPr txBox="1"/>
            <p:nvPr/>
          </p:nvSpPr>
          <p:spPr>
            <a:xfrm>
              <a:off x="4843905" y="2959699"/>
              <a:ext cx="7628122" cy="855878"/>
            </a:xfrm>
            <a:prstGeom prst="rect">
              <a:avLst/>
            </a:prstGeom>
            <a:noFill/>
          </p:spPr>
          <p:txBody>
            <a:bodyPr wrap="square" lIns="0" rIns="0" rtlCol="0" anchor="t">
              <a:noAutofit/>
            </a:bodyPr>
            <a:lstStyle/>
            <a:p>
              <a:pPr algn="l" defTabSz="288000"/>
              <a:r>
                <a:rPr lang="en-US" altLang="ja-JP" sz="1600" dirty="0">
                  <a:latin typeface="+mn-ea"/>
                </a:rPr>
                <a:t>【</a:t>
              </a:r>
              <a:r>
                <a:rPr lang="ja-JP" altLang="en-US" sz="1600" dirty="0">
                  <a:latin typeface="+mn-ea"/>
                </a:rPr>
                <a:t>可用性</a:t>
              </a:r>
              <a:r>
                <a:rPr lang="en-US" altLang="ja-JP" sz="1600" dirty="0">
                  <a:latin typeface="+mn-ea"/>
                </a:rPr>
                <a:t>】</a:t>
              </a:r>
              <a:r>
                <a:rPr lang="ja-JP" altLang="en-US" sz="1600" dirty="0">
                  <a:latin typeface="+mn-ea"/>
                </a:rPr>
                <a:t>　</a:t>
              </a:r>
              <a:r>
                <a:rPr lang="en-US" altLang="ja-JP" sz="1600" dirty="0">
                  <a:latin typeface="+mn-ea"/>
                </a:rPr>
                <a:t>24</a:t>
              </a:r>
              <a:r>
                <a:rPr lang="ja-JP" altLang="en-US" sz="1600" dirty="0">
                  <a:latin typeface="+mn-ea"/>
                </a:rPr>
                <a:t>時間</a:t>
              </a:r>
              <a:r>
                <a:rPr lang="en-US" altLang="ja-JP" sz="1600" dirty="0">
                  <a:latin typeface="+mn-ea"/>
                </a:rPr>
                <a:t>365</a:t>
              </a:r>
              <a:r>
                <a:rPr lang="ja-JP" altLang="en-US" sz="1600" dirty="0">
                  <a:latin typeface="+mn-ea"/>
                </a:rPr>
                <a:t>日いつでも利用可能にしたい</a:t>
              </a:r>
              <a:endParaRPr lang="en-US" altLang="ja-JP" sz="1600" dirty="0">
                <a:latin typeface="+mn-ea"/>
              </a:endParaRPr>
            </a:p>
            <a:p>
              <a:pPr algn="l" defTabSz="288000"/>
              <a:r>
                <a:rPr lang="en-US" altLang="ja-JP" sz="1600" b="0" i="0" dirty="0">
                  <a:effectLst/>
                  <a:latin typeface="+mn-ea"/>
                </a:rPr>
                <a:t>【</a:t>
              </a:r>
              <a:r>
                <a:rPr lang="ja-JP" altLang="en-US" sz="1600" b="0" i="0" dirty="0">
                  <a:effectLst/>
                  <a:latin typeface="+mn-ea"/>
                </a:rPr>
                <a:t>性能</a:t>
              </a:r>
              <a:r>
                <a:rPr lang="en-US" altLang="ja-JP" sz="1600" b="0" i="0" dirty="0">
                  <a:effectLst/>
                  <a:latin typeface="+mn-ea"/>
                </a:rPr>
                <a:t>】</a:t>
              </a:r>
              <a:r>
                <a:rPr lang="ja-JP" altLang="en-US" sz="1600" b="0" i="0" dirty="0">
                  <a:effectLst/>
                  <a:latin typeface="+mn-ea"/>
                </a:rPr>
                <a:t>　ボタンを押してから３秒以内にページが切り替わるようにしたい</a:t>
              </a:r>
              <a:endParaRPr lang="en-US" altLang="ja-JP" sz="1600" b="0" i="0" dirty="0">
                <a:effectLst/>
                <a:latin typeface="+mn-ea"/>
              </a:endParaRPr>
            </a:p>
            <a:p>
              <a:pPr algn="l" defTabSz="288000"/>
              <a:r>
                <a:rPr lang="en-US" altLang="ja-JP" sz="1600" dirty="0">
                  <a:latin typeface="+mn-ea"/>
                </a:rPr>
                <a:t>【</a:t>
              </a:r>
              <a:r>
                <a:rPr lang="ja-JP" altLang="en-US" sz="1600" dirty="0">
                  <a:latin typeface="+mn-ea"/>
                </a:rPr>
                <a:t>運用</a:t>
              </a:r>
              <a:r>
                <a:rPr lang="ja-JP" altLang="en-US" sz="1600" b="0" i="0" dirty="0">
                  <a:effectLst/>
                  <a:latin typeface="+mn-ea"/>
                </a:rPr>
                <a:t>・</a:t>
              </a:r>
              <a:r>
                <a:rPr lang="ja-JP" altLang="en-US" sz="1600" dirty="0">
                  <a:latin typeface="+mn-ea"/>
                </a:rPr>
                <a:t>保守</a:t>
              </a:r>
              <a:r>
                <a:rPr lang="ja-JP" altLang="en-US" sz="1600" b="0" i="0" dirty="0">
                  <a:effectLst/>
                  <a:latin typeface="+mn-ea"/>
                </a:rPr>
                <a:t>性</a:t>
              </a:r>
              <a:r>
                <a:rPr lang="en-US" altLang="ja-JP" sz="1600" dirty="0">
                  <a:latin typeface="+mn-ea"/>
                </a:rPr>
                <a:t>】</a:t>
              </a:r>
              <a:r>
                <a:rPr lang="ja-JP" altLang="en-US" sz="1600" dirty="0">
                  <a:latin typeface="+mn-ea"/>
                </a:rPr>
                <a:t>　障害が発生したときに、</a:t>
              </a:r>
              <a:r>
                <a:rPr lang="en-US" altLang="ja-JP" sz="1600" b="0" i="0" dirty="0">
                  <a:effectLst/>
                  <a:latin typeface="+mn-ea"/>
                </a:rPr>
                <a:t>2</a:t>
              </a:r>
              <a:r>
                <a:rPr lang="ja-JP" altLang="en-US" sz="1600" b="0" i="0" dirty="0">
                  <a:effectLst/>
                  <a:latin typeface="+mn-ea"/>
                </a:rPr>
                <a:t>時間以内に復旧したい</a:t>
              </a:r>
              <a:endParaRPr lang="en-US" altLang="ja-JP" sz="1600" dirty="0">
                <a:latin typeface="+mn-ea"/>
              </a:endParaRPr>
            </a:p>
            <a:p>
              <a:pPr algn="l" defTabSz="288000"/>
              <a:r>
                <a:rPr lang="en-US" altLang="ja-JP" sz="1600" b="0" i="0" dirty="0">
                  <a:effectLst/>
                  <a:latin typeface="+mn-ea"/>
                </a:rPr>
                <a:t>【</a:t>
              </a:r>
              <a:r>
                <a:rPr lang="ja-JP" altLang="en-US" sz="1600" b="0" i="0" dirty="0">
                  <a:effectLst/>
                  <a:latin typeface="+mn-ea"/>
                </a:rPr>
                <a:t>セキュリティ</a:t>
              </a:r>
              <a:r>
                <a:rPr lang="en-US" altLang="ja-JP" sz="1600" b="0" i="0" dirty="0">
                  <a:effectLst/>
                  <a:latin typeface="+mn-ea"/>
                </a:rPr>
                <a:t>】</a:t>
              </a:r>
              <a:r>
                <a:rPr lang="ja-JP" altLang="en-US" sz="1600" b="0" i="0" dirty="0">
                  <a:effectLst/>
                  <a:latin typeface="+mn-ea"/>
                </a:rPr>
                <a:t>　通信データを暗号化して、データの盗難や改ざんを防止したい</a:t>
              </a:r>
              <a:endParaRPr lang="en-US" altLang="ja-JP" sz="1600" b="0" i="0" dirty="0">
                <a:effectLst/>
                <a:latin typeface="+mn-ea"/>
              </a:endParaRPr>
            </a:p>
          </p:txBody>
        </p:sp>
      </p:grpSp>
      <p:sp>
        <p:nvSpPr>
          <p:cNvPr id="157" name="正方形/長方形 156">
            <a:extLst>
              <a:ext uri="{FF2B5EF4-FFF2-40B4-BE49-F238E27FC236}">
                <a16:creationId xmlns:a16="http://schemas.microsoft.com/office/drawing/2014/main" id="{F9A89C0A-0E74-7A57-66A4-701A46333BE8}"/>
              </a:ext>
            </a:extLst>
          </p:cNvPr>
          <p:cNvSpPr/>
          <p:nvPr/>
        </p:nvSpPr>
        <p:spPr>
          <a:xfrm>
            <a:off x="9960270" y="2992113"/>
            <a:ext cx="1861788" cy="109797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600" u="sng" dirty="0">
                <a:solidFill>
                  <a:schemeClr val="tx1"/>
                </a:solidFill>
              </a:rPr>
              <a:t>要件定義</a:t>
            </a:r>
            <a:endParaRPr kumimoji="1" lang="en-US" altLang="ja-JP" sz="1600" u="sng" dirty="0">
              <a:solidFill>
                <a:schemeClr val="tx1"/>
              </a:solidFill>
            </a:endParaRPr>
          </a:p>
          <a:p>
            <a:r>
              <a:rPr kumimoji="1" lang="ja-JP" altLang="en-US" sz="1600" dirty="0">
                <a:solidFill>
                  <a:schemeClr val="tx1"/>
                </a:solidFill>
              </a:rPr>
              <a:t>・アクター定義</a:t>
            </a:r>
            <a:endParaRPr kumimoji="1" lang="en-US" altLang="ja-JP" sz="1600" dirty="0">
              <a:solidFill>
                <a:schemeClr val="tx1"/>
              </a:solidFill>
            </a:endParaRPr>
          </a:p>
          <a:p>
            <a:r>
              <a:rPr lang="ja-JP" altLang="en-US" sz="1600" dirty="0">
                <a:solidFill>
                  <a:schemeClr val="tx1"/>
                </a:solidFill>
              </a:rPr>
              <a:t>・業務フロー定義</a:t>
            </a:r>
            <a:endParaRPr lang="en-US" altLang="ja-JP" sz="1600" dirty="0">
              <a:solidFill>
                <a:schemeClr val="tx1"/>
              </a:solidFill>
            </a:endParaRPr>
          </a:p>
          <a:p>
            <a:r>
              <a:rPr lang="ja-JP" altLang="en-US" sz="1600" dirty="0">
                <a:solidFill>
                  <a:schemeClr val="tx1"/>
                </a:solidFill>
              </a:rPr>
              <a:t>　　　</a:t>
            </a:r>
            <a:r>
              <a:rPr lang="ja-JP" altLang="en-US" sz="1400" dirty="0">
                <a:solidFill>
                  <a:schemeClr val="tx1"/>
                </a:solidFill>
              </a:rPr>
              <a:t>（次頁参照）</a:t>
            </a:r>
            <a:endParaRPr kumimoji="1" lang="ja-JP" altLang="en-US" sz="1600" dirty="0">
              <a:solidFill>
                <a:schemeClr val="tx1"/>
              </a:solidFill>
            </a:endParaRPr>
          </a:p>
        </p:txBody>
      </p:sp>
      <p:sp>
        <p:nvSpPr>
          <p:cNvPr id="158" name="右大かっこ 157">
            <a:extLst>
              <a:ext uri="{FF2B5EF4-FFF2-40B4-BE49-F238E27FC236}">
                <a16:creationId xmlns:a16="http://schemas.microsoft.com/office/drawing/2014/main" id="{D06CF41F-FCA9-C46F-FC81-7AC2C2AF9D54}"/>
              </a:ext>
            </a:extLst>
          </p:cNvPr>
          <p:cNvSpPr/>
          <p:nvPr/>
        </p:nvSpPr>
        <p:spPr>
          <a:xfrm>
            <a:off x="9252194" y="2374707"/>
            <a:ext cx="198062" cy="1698616"/>
          </a:xfrm>
          <a:prstGeom prst="rightBracket">
            <a:avLst>
              <a:gd name="adj" fmla="val 35941"/>
            </a:avLst>
          </a:prstGeom>
          <a:ln w="3175">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59" name="矢印: 右 158">
            <a:extLst>
              <a:ext uri="{FF2B5EF4-FFF2-40B4-BE49-F238E27FC236}">
                <a16:creationId xmlns:a16="http://schemas.microsoft.com/office/drawing/2014/main" id="{FC45934B-27BF-CFF8-82A3-05F36D7A80FC}"/>
              </a:ext>
            </a:extLst>
          </p:cNvPr>
          <p:cNvSpPr/>
          <p:nvPr/>
        </p:nvSpPr>
        <p:spPr>
          <a:xfrm>
            <a:off x="9448318" y="3187895"/>
            <a:ext cx="474439" cy="478534"/>
          </a:xfrm>
          <a:prstGeom prst="rightArrow">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 name="楕円 8">
            <a:extLst>
              <a:ext uri="{FF2B5EF4-FFF2-40B4-BE49-F238E27FC236}">
                <a16:creationId xmlns:a16="http://schemas.microsoft.com/office/drawing/2014/main" id="{ECAE6521-5745-C9E0-F464-75CA4D61FE65}"/>
              </a:ext>
            </a:extLst>
          </p:cNvPr>
          <p:cNvSpPr/>
          <p:nvPr/>
        </p:nvSpPr>
        <p:spPr>
          <a:xfrm>
            <a:off x="6401177" y="638695"/>
            <a:ext cx="1440000" cy="540000"/>
          </a:xfrm>
          <a:prstGeom prst="ellipse">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2400" b="1" dirty="0">
                <a:solidFill>
                  <a:schemeClr val="bg1"/>
                </a:solidFill>
              </a:rPr>
              <a:t>What</a:t>
            </a:r>
            <a:endParaRPr kumimoji="1" lang="ja-JP" altLang="en-US" sz="2400" b="1" dirty="0" err="1">
              <a:solidFill>
                <a:schemeClr val="bg1"/>
              </a:solidFill>
            </a:endParaRPr>
          </a:p>
        </p:txBody>
      </p:sp>
      <p:sp>
        <p:nvSpPr>
          <p:cNvPr id="11" name="吹き出し: 角を丸めた四角形 10">
            <a:extLst>
              <a:ext uri="{FF2B5EF4-FFF2-40B4-BE49-F238E27FC236}">
                <a16:creationId xmlns:a16="http://schemas.microsoft.com/office/drawing/2014/main" id="{AA95B564-28AE-95DC-EEB3-6AFC2A5EEA33}"/>
              </a:ext>
            </a:extLst>
          </p:cNvPr>
          <p:cNvSpPr/>
          <p:nvPr/>
        </p:nvSpPr>
        <p:spPr>
          <a:xfrm>
            <a:off x="10495040" y="2268022"/>
            <a:ext cx="1593242" cy="638172"/>
          </a:xfrm>
          <a:prstGeom prst="wedgeRoundRectCallout">
            <a:avLst>
              <a:gd name="adj1" fmla="val 1106"/>
              <a:gd name="adj2" fmla="val 127398"/>
              <a:gd name="adj3" fmla="val 16667"/>
            </a:avLst>
          </a:prstGeom>
          <a:solidFill>
            <a:srgbClr val="FFD85B"/>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u="sng" dirty="0">
                <a:solidFill>
                  <a:schemeClr val="tx1"/>
                </a:solidFill>
              </a:rPr>
              <a:t>アクター</a:t>
            </a:r>
            <a:endParaRPr kumimoji="1" lang="en-US" altLang="ja-JP" sz="1100" u="sng" dirty="0">
              <a:solidFill>
                <a:schemeClr val="tx1"/>
              </a:solidFill>
            </a:endParaRPr>
          </a:p>
          <a:p>
            <a:r>
              <a:rPr kumimoji="1" lang="ja-JP" altLang="en-US" sz="1100" dirty="0">
                <a:solidFill>
                  <a:schemeClr val="tx1"/>
                </a:solidFill>
              </a:rPr>
              <a:t>システムに直接関与する</a:t>
            </a:r>
            <a:endParaRPr kumimoji="1" lang="en-US" altLang="ja-JP" sz="1100" dirty="0">
              <a:solidFill>
                <a:schemeClr val="tx1"/>
              </a:solidFill>
            </a:endParaRPr>
          </a:p>
          <a:p>
            <a:r>
              <a:rPr kumimoji="1" lang="ja-JP" altLang="en-US" sz="1100" dirty="0">
                <a:solidFill>
                  <a:schemeClr val="tx1"/>
                </a:solidFill>
              </a:rPr>
              <a:t>人やシステム</a:t>
            </a:r>
          </a:p>
        </p:txBody>
      </p:sp>
      <p:sp>
        <p:nvSpPr>
          <p:cNvPr id="17" name="テキスト ボックス 16">
            <a:extLst>
              <a:ext uri="{FF2B5EF4-FFF2-40B4-BE49-F238E27FC236}">
                <a16:creationId xmlns:a16="http://schemas.microsoft.com/office/drawing/2014/main" id="{E1A7968E-4857-A1F9-E2EE-05112F54B96A}"/>
              </a:ext>
            </a:extLst>
          </p:cNvPr>
          <p:cNvSpPr txBox="1"/>
          <p:nvPr/>
        </p:nvSpPr>
        <p:spPr>
          <a:xfrm>
            <a:off x="3871305" y="3885233"/>
            <a:ext cx="3532946" cy="307777"/>
          </a:xfrm>
          <a:prstGeom prst="rect">
            <a:avLst/>
          </a:prstGeom>
          <a:noFill/>
        </p:spPr>
        <p:txBody>
          <a:bodyPr wrap="square" lIns="0" rIns="0" rtlCol="0">
            <a:noAutofit/>
          </a:bodyPr>
          <a:lstStyle/>
          <a:p>
            <a:pPr defTabSz="288000"/>
            <a:r>
              <a:rPr lang="ja-JP" altLang="en-US" sz="1400" dirty="0">
                <a:latin typeface="+mn-ea"/>
              </a:rPr>
              <a:t>●</a:t>
            </a:r>
            <a:r>
              <a:rPr kumimoji="1" lang="ja-JP" altLang="en-US" sz="1400" dirty="0">
                <a:latin typeface="+mn-ea"/>
              </a:rPr>
              <a:t>成果物：システム要求検討書</a:t>
            </a:r>
          </a:p>
        </p:txBody>
      </p:sp>
      <p:sp>
        <p:nvSpPr>
          <p:cNvPr id="18" name="テキスト ボックス 17">
            <a:extLst>
              <a:ext uri="{FF2B5EF4-FFF2-40B4-BE49-F238E27FC236}">
                <a16:creationId xmlns:a16="http://schemas.microsoft.com/office/drawing/2014/main" id="{6DB0C9C2-780B-6E65-AA2B-AD583A1D0F7B}"/>
              </a:ext>
            </a:extLst>
          </p:cNvPr>
          <p:cNvSpPr txBox="1"/>
          <p:nvPr/>
        </p:nvSpPr>
        <p:spPr>
          <a:xfrm>
            <a:off x="3871305" y="6201760"/>
            <a:ext cx="3532946" cy="307777"/>
          </a:xfrm>
          <a:prstGeom prst="rect">
            <a:avLst/>
          </a:prstGeom>
          <a:noFill/>
        </p:spPr>
        <p:txBody>
          <a:bodyPr wrap="square" lIns="0" rIns="0" rtlCol="0">
            <a:noAutofit/>
          </a:bodyPr>
          <a:lstStyle/>
          <a:p>
            <a:pPr defTabSz="288000"/>
            <a:r>
              <a:rPr lang="ja-JP" altLang="en-US" sz="1400" dirty="0">
                <a:latin typeface="+mn-ea"/>
              </a:rPr>
              <a:t>●</a:t>
            </a:r>
            <a:r>
              <a:rPr kumimoji="1" lang="ja-JP" altLang="en-US" sz="1400" dirty="0">
                <a:latin typeface="+mn-ea"/>
              </a:rPr>
              <a:t>成果物：非機能要求検討書</a:t>
            </a:r>
          </a:p>
        </p:txBody>
      </p:sp>
    </p:spTree>
    <p:extLst>
      <p:ext uri="{BB962C8B-B14F-4D97-AF65-F5344CB8AC3E}">
        <p14:creationId xmlns:p14="http://schemas.microsoft.com/office/powerpoint/2010/main" val="3732057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27B71-27D1-7A8D-6BA9-DCE89F7968AE}"/>
            </a:ext>
          </a:extLst>
        </p:cNvPr>
        <p:cNvGrpSpPr/>
        <p:nvPr/>
      </p:nvGrpSpPr>
      <p:grpSpPr>
        <a:xfrm>
          <a:off x="0" y="0"/>
          <a:ext cx="0" cy="0"/>
          <a:chOff x="0" y="0"/>
          <a:chExt cx="0" cy="0"/>
        </a:xfrm>
      </p:grpSpPr>
      <p:pic>
        <p:nvPicPr>
          <p:cNvPr id="35" name="図 34" descr="ダイアグラム, 概略図&#10;&#10;AI によって生成されたコンテンツは間違っている可能性があります。">
            <a:extLst>
              <a:ext uri="{FF2B5EF4-FFF2-40B4-BE49-F238E27FC236}">
                <a16:creationId xmlns:a16="http://schemas.microsoft.com/office/drawing/2014/main" id="{BC6C0721-B414-614B-4B72-970A7D2FB156}"/>
              </a:ext>
            </a:extLst>
          </p:cNvPr>
          <p:cNvPicPr>
            <a:picLocks noChangeAspect="1"/>
          </p:cNvPicPr>
          <p:nvPr/>
        </p:nvPicPr>
        <p:blipFill>
          <a:blip r:embed="rId2"/>
          <a:srcRect b="30618"/>
          <a:stretch/>
        </p:blipFill>
        <p:spPr>
          <a:xfrm>
            <a:off x="520091" y="1943100"/>
            <a:ext cx="7540146" cy="4540359"/>
          </a:xfrm>
          <a:prstGeom prst="rect">
            <a:avLst/>
          </a:prstGeom>
        </p:spPr>
      </p:pic>
      <p:sp>
        <p:nvSpPr>
          <p:cNvPr id="2" name="タイトル 1">
            <a:extLst>
              <a:ext uri="{FF2B5EF4-FFF2-40B4-BE49-F238E27FC236}">
                <a16:creationId xmlns:a16="http://schemas.microsoft.com/office/drawing/2014/main" id="{676DF528-6AAD-DD98-497B-27D17D1540D5}"/>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要求分析</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96034285-0483-EC1F-4908-9A05E9EAB8D2}"/>
              </a:ext>
            </a:extLst>
          </p:cNvPr>
          <p:cNvSpPr>
            <a:spLocks noGrp="1"/>
          </p:cNvSpPr>
          <p:nvPr>
            <p:ph sz="quarter" idx="4294967295"/>
          </p:nvPr>
        </p:nvSpPr>
        <p:spPr>
          <a:xfrm>
            <a:off x="481490" y="978298"/>
            <a:ext cx="11448000" cy="835726"/>
          </a:xfrm>
        </p:spPr>
        <p:txBody>
          <a:bodyPr/>
          <a:lstStyle/>
          <a:p>
            <a:r>
              <a:rPr lang="ja-JP" altLang="en-US" u="sng" dirty="0">
                <a:solidFill>
                  <a:schemeClr val="tx1"/>
                </a:solidFill>
              </a:rPr>
              <a:t>業務フロー定義</a:t>
            </a:r>
            <a:endParaRPr lang="en-US" altLang="ja-JP" u="sng" dirty="0">
              <a:solidFill>
                <a:schemeClr val="tx1"/>
              </a:solidFill>
            </a:endParaRPr>
          </a:p>
          <a:p>
            <a:r>
              <a:rPr lang="ja-JP" altLang="en-US" dirty="0">
                <a:solidFill>
                  <a:schemeClr val="tx1"/>
                </a:solidFill>
              </a:rPr>
              <a:t>以下のような業務フロー図（業務の流れを可視化したもの）を作成する。</a:t>
            </a:r>
            <a:endParaRPr lang="en-US" altLang="ja-JP" dirty="0">
              <a:solidFill>
                <a:schemeClr val="tx1"/>
              </a:solidFill>
            </a:endParaRPr>
          </a:p>
          <a:p>
            <a:r>
              <a:rPr lang="ja-JP" altLang="en-US" dirty="0">
                <a:solidFill>
                  <a:srgbClr val="333333"/>
                </a:solidFill>
                <a:latin typeface="Helvetica Neue"/>
              </a:rPr>
              <a:t>アクターが行う各作業は、システム化対象作業（ユースケース）と手作業を区別して</a:t>
            </a:r>
            <a:r>
              <a:rPr lang="ja-JP" altLang="en-US" dirty="0">
                <a:solidFill>
                  <a:schemeClr val="tx1"/>
                </a:solidFill>
                <a:latin typeface="Helvetica Neue"/>
              </a:rPr>
              <a:t>定義する。</a:t>
            </a:r>
            <a:endParaRPr lang="en-US" altLang="ja-JP" dirty="0">
              <a:solidFill>
                <a:srgbClr val="333333"/>
              </a:solidFill>
              <a:latin typeface="Helvetica Neue"/>
            </a:endParaRPr>
          </a:p>
        </p:txBody>
      </p:sp>
      <p:pic>
        <p:nvPicPr>
          <p:cNvPr id="28" name="図 27" descr="ダイアグラム, 概略図&#10;&#10;AI によって生成されたコンテンツは間違っている可能性があります。">
            <a:extLst>
              <a:ext uri="{FF2B5EF4-FFF2-40B4-BE49-F238E27FC236}">
                <a16:creationId xmlns:a16="http://schemas.microsoft.com/office/drawing/2014/main" id="{2B604B2B-4011-3E7D-0A41-E23FFC5A2FFA}"/>
              </a:ext>
            </a:extLst>
          </p:cNvPr>
          <p:cNvPicPr>
            <a:picLocks noChangeAspect="1"/>
          </p:cNvPicPr>
          <p:nvPr/>
        </p:nvPicPr>
        <p:blipFill>
          <a:blip r:embed="rId3"/>
          <a:srcRect l="18674" t="72686" r="19394" b="11698"/>
          <a:stretch/>
        </p:blipFill>
        <p:spPr>
          <a:xfrm>
            <a:off x="7979160" y="5813061"/>
            <a:ext cx="4123940" cy="670398"/>
          </a:xfrm>
          <a:prstGeom prst="rect">
            <a:avLst/>
          </a:prstGeom>
        </p:spPr>
      </p:pic>
      <p:sp>
        <p:nvSpPr>
          <p:cNvPr id="57" name="正方形/長方形 56">
            <a:extLst>
              <a:ext uri="{FF2B5EF4-FFF2-40B4-BE49-F238E27FC236}">
                <a16:creationId xmlns:a16="http://schemas.microsoft.com/office/drawing/2014/main" id="{E6FE509A-476F-4EFC-92C2-BE37316DEE75}"/>
              </a:ext>
            </a:extLst>
          </p:cNvPr>
          <p:cNvSpPr/>
          <p:nvPr/>
        </p:nvSpPr>
        <p:spPr>
          <a:xfrm>
            <a:off x="6742202" y="2933590"/>
            <a:ext cx="4783047" cy="1613240"/>
          </a:xfrm>
          <a:prstGeom prst="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b="1" u="sng" dirty="0">
                <a:solidFill>
                  <a:schemeClr val="tx1"/>
                </a:solidFill>
              </a:rPr>
              <a:t>ユースケース</a:t>
            </a:r>
            <a:endParaRPr kumimoji="1" lang="en-US" altLang="ja-JP" b="1" u="sng" dirty="0">
              <a:solidFill>
                <a:schemeClr val="tx1"/>
              </a:solidFill>
            </a:endParaRPr>
          </a:p>
          <a:p>
            <a:pPr algn="ctr"/>
            <a:r>
              <a:rPr lang="ja-JP" altLang="en-US" sz="1400" b="1" dirty="0">
                <a:solidFill>
                  <a:srgbClr val="FF0000"/>
                </a:solidFill>
                <a:latin typeface="Helvetica Neue"/>
              </a:rPr>
              <a:t>１人の</a:t>
            </a:r>
            <a:r>
              <a:rPr lang="ja-JP" altLang="en-US" sz="1400" b="1" i="0" dirty="0">
                <a:solidFill>
                  <a:srgbClr val="FF0000"/>
                </a:solidFill>
                <a:effectLst/>
                <a:latin typeface="Helvetica Neue"/>
              </a:rPr>
              <a:t>ユーザー</a:t>
            </a:r>
            <a:r>
              <a:rPr lang="ja-JP" altLang="en-US" sz="1400" b="0" i="0" dirty="0">
                <a:solidFill>
                  <a:schemeClr val="tx1"/>
                </a:solidFill>
                <a:effectLst/>
                <a:latin typeface="Helvetica Neue"/>
              </a:rPr>
              <a:t>が、</a:t>
            </a:r>
            <a:r>
              <a:rPr lang="ja-JP" altLang="en-US" sz="1400" b="1" i="0" dirty="0">
                <a:solidFill>
                  <a:srgbClr val="FF0000"/>
                </a:solidFill>
                <a:effectLst/>
                <a:latin typeface="Helvetica Neue"/>
              </a:rPr>
              <a:t>１つの目的</a:t>
            </a:r>
            <a:r>
              <a:rPr lang="ja-JP" altLang="en-US" sz="1400" b="0" i="0" dirty="0">
                <a:solidFill>
                  <a:schemeClr val="tx1"/>
                </a:solidFill>
                <a:effectLst/>
                <a:latin typeface="Helvetica Neue"/>
              </a:rPr>
              <a:t>を達成するために、</a:t>
            </a:r>
            <a:endParaRPr lang="en-US" altLang="ja-JP" sz="1400" b="0" i="0" dirty="0">
              <a:solidFill>
                <a:schemeClr val="tx1"/>
              </a:solidFill>
              <a:effectLst/>
              <a:latin typeface="Helvetica Neue"/>
            </a:endParaRPr>
          </a:p>
          <a:p>
            <a:pPr algn="ctr"/>
            <a:r>
              <a:rPr lang="ja-JP" altLang="en-US" sz="1400" b="1" i="0" dirty="0">
                <a:solidFill>
                  <a:srgbClr val="FF0000"/>
                </a:solidFill>
                <a:effectLst/>
                <a:latin typeface="Helvetica Neue"/>
              </a:rPr>
              <a:t>中断せずに</a:t>
            </a:r>
            <a:r>
              <a:rPr lang="ja-JP" altLang="en-US" sz="1400" b="0" i="0" dirty="0">
                <a:solidFill>
                  <a:schemeClr val="tx1"/>
                </a:solidFill>
                <a:effectLst/>
                <a:latin typeface="Helvetica Neue"/>
              </a:rPr>
              <a:t>行う一連の</a:t>
            </a:r>
            <a:r>
              <a:rPr lang="ja-JP" altLang="en-US" sz="1400" dirty="0">
                <a:solidFill>
                  <a:schemeClr val="tx1"/>
                </a:solidFill>
                <a:latin typeface="Helvetica Neue"/>
              </a:rPr>
              <a:t>作業</a:t>
            </a:r>
            <a:endParaRPr lang="en-US" altLang="ja-JP" sz="1400" b="0" i="0" dirty="0">
              <a:solidFill>
                <a:schemeClr val="tx1"/>
              </a:solidFill>
              <a:effectLst/>
              <a:latin typeface="Helvetica Neue"/>
            </a:endParaRPr>
          </a:p>
          <a:p>
            <a:pPr algn="ctr"/>
            <a:endParaRPr lang="en-US" altLang="ja-JP" sz="1400" b="0" i="0" dirty="0">
              <a:solidFill>
                <a:schemeClr val="tx1"/>
              </a:solidFill>
              <a:effectLst/>
              <a:latin typeface="Helvetica Neue"/>
            </a:endParaRPr>
          </a:p>
          <a:p>
            <a:pPr algn="ctr"/>
            <a:r>
              <a:rPr lang="ja-JP" altLang="en-US" sz="1400" dirty="0">
                <a:solidFill>
                  <a:schemeClr val="tx1"/>
                </a:solidFill>
                <a:latin typeface="Helvetica Neue"/>
              </a:rPr>
              <a:t>例）「受付係」が、「顧客の予約を確認するため」に、</a:t>
            </a:r>
            <a:endParaRPr lang="en-US" altLang="ja-JP" sz="1400" dirty="0">
              <a:solidFill>
                <a:schemeClr val="tx1"/>
              </a:solidFill>
              <a:latin typeface="Helvetica Neue"/>
            </a:endParaRPr>
          </a:p>
          <a:p>
            <a:pPr algn="ctr"/>
            <a:r>
              <a:rPr lang="ja-JP" altLang="en-US" sz="1400" dirty="0">
                <a:solidFill>
                  <a:schemeClr val="tx1"/>
                </a:solidFill>
                <a:latin typeface="+mn-ea"/>
              </a:rPr>
              <a:t>ツアー予約管理システムに対して行う「ツアー予約照会」作業</a:t>
            </a:r>
            <a:endParaRPr lang="en-US" altLang="ja-JP" sz="1400" dirty="0">
              <a:solidFill>
                <a:schemeClr val="tx1"/>
              </a:solidFill>
              <a:latin typeface="+mn-ea"/>
            </a:endParaRPr>
          </a:p>
        </p:txBody>
      </p:sp>
      <p:sp>
        <p:nvSpPr>
          <p:cNvPr id="58" name="正方形/長方形 57">
            <a:extLst>
              <a:ext uri="{FF2B5EF4-FFF2-40B4-BE49-F238E27FC236}">
                <a16:creationId xmlns:a16="http://schemas.microsoft.com/office/drawing/2014/main" id="{B505E915-65AE-E814-A88F-977900EA98F6}"/>
              </a:ext>
            </a:extLst>
          </p:cNvPr>
          <p:cNvSpPr/>
          <p:nvPr/>
        </p:nvSpPr>
        <p:spPr>
          <a:xfrm>
            <a:off x="8401102" y="2187692"/>
            <a:ext cx="1180213" cy="396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latin typeface="+mn-ea"/>
              </a:rPr>
              <a:t>アクター</a:t>
            </a:r>
            <a:endParaRPr kumimoji="1" lang="ja-JP" altLang="en-US" sz="1400" dirty="0">
              <a:solidFill>
                <a:schemeClr val="bg1"/>
              </a:solidFill>
            </a:endParaRPr>
          </a:p>
        </p:txBody>
      </p:sp>
      <p:cxnSp>
        <p:nvCxnSpPr>
          <p:cNvPr id="61" name="直線コネクタ 60">
            <a:extLst>
              <a:ext uri="{FF2B5EF4-FFF2-40B4-BE49-F238E27FC236}">
                <a16:creationId xmlns:a16="http://schemas.microsoft.com/office/drawing/2014/main" id="{D7175E79-9763-6083-DBE4-B4AD1C4E79B7}"/>
              </a:ext>
            </a:extLst>
          </p:cNvPr>
          <p:cNvCxnSpPr>
            <a:cxnSpLocks/>
            <a:stCxn id="4" idx="3"/>
            <a:endCxn id="58" idx="1"/>
          </p:cNvCxnSpPr>
          <p:nvPr/>
        </p:nvCxnSpPr>
        <p:spPr>
          <a:xfrm flipV="1">
            <a:off x="8060237" y="2385692"/>
            <a:ext cx="340865" cy="271376"/>
          </a:xfrm>
          <a:prstGeom prst="line">
            <a:avLst/>
          </a:prstGeom>
          <a:ln w="28575">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63" name="四角形: 角を丸くする 62">
            <a:extLst>
              <a:ext uri="{FF2B5EF4-FFF2-40B4-BE49-F238E27FC236}">
                <a16:creationId xmlns:a16="http://schemas.microsoft.com/office/drawing/2014/main" id="{B08DDD99-AAE7-331B-3E66-064E643DDBAC}"/>
              </a:ext>
            </a:extLst>
          </p:cNvPr>
          <p:cNvSpPr/>
          <p:nvPr/>
        </p:nvSpPr>
        <p:spPr>
          <a:xfrm>
            <a:off x="3530600" y="4446548"/>
            <a:ext cx="1368000" cy="468000"/>
          </a:xfrm>
          <a:prstGeom prst="roundRect">
            <a:avLst/>
          </a:prstGeom>
          <a:noFill/>
          <a:ln w="28575">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65" name="直線コネクタ 64">
            <a:extLst>
              <a:ext uri="{FF2B5EF4-FFF2-40B4-BE49-F238E27FC236}">
                <a16:creationId xmlns:a16="http://schemas.microsoft.com/office/drawing/2014/main" id="{E15FA596-A8C7-1D3C-DB38-4FF18302A5D5}"/>
              </a:ext>
            </a:extLst>
          </p:cNvPr>
          <p:cNvCxnSpPr>
            <a:cxnSpLocks/>
            <a:stCxn id="63" idx="3"/>
            <a:endCxn id="57" idx="1"/>
          </p:cNvCxnSpPr>
          <p:nvPr/>
        </p:nvCxnSpPr>
        <p:spPr>
          <a:xfrm flipV="1">
            <a:off x="4898600" y="3740210"/>
            <a:ext cx="1843602" cy="940338"/>
          </a:xfrm>
          <a:prstGeom prst="line">
            <a:avLst/>
          </a:prstGeom>
          <a:ln w="28575">
            <a:solidFill>
              <a:srgbClr val="E42600"/>
            </a:solidFill>
          </a:ln>
          <a:effectLst/>
        </p:spPr>
        <p:style>
          <a:lnRef idx="2">
            <a:schemeClr val="accent1"/>
          </a:lnRef>
          <a:fillRef idx="0">
            <a:schemeClr val="accent1"/>
          </a:fillRef>
          <a:effectRef idx="1">
            <a:schemeClr val="accent1"/>
          </a:effectRef>
          <a:fontRef idx="minor">
            <a:schemeClr val="tx1"/>
          </a:fontRef>
        </p:style>
      </p:cxnSp>
      <p:sp>
        <p:nvSpPr>
          <p:cNvPr id="66" name="四角形: 角を丸くする 65">
            <a:extLst>
              <a:ext uri="{FF2B5EF4-FFF2-40B4-BE49-F238E27FC236}">
                <a16:creationId xmlns:a16="http://schemas.microsoft.com/office/drawing/2014/main" id="{BBE4B6B5-DE18-E0EF-15D1-C51B22D32241}"/>
              </a:ext>
            </a:extLst>
          </p:cNvPr>
          <p:cNvSpPr/>
          <p:nvPr/>
        </p:nvSpPr>
        <p:spPr>
          <a:xfrm>
            <a:off x="1752600" y="4490998"/>
            <a:ext cx="1296000" cy="396000"/>
          </a:xfrm>
          <a:prstGeom prst="roundRect">
            <a:avLst/>
          </a:prstGeom>
          <a:noFill/>
          <a:ln w="28575">
            <a:solidFill>
              <a:schemeClr val="bg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7" name="テキスト ボックス 66">
            <a:extLst>
              <a:ext uri="{FF2B5EF4-FFF2-40B4-BE49-F238E27FC236}">
                <a16:creationId xmlns:a16="http://schemas.microsoft.com/office/drawing/2014/main" id="{E7FA9AED-AA92-643F-08BC-ADD55AF32979}"/>
              </a:ext>
            </a:extLst>
          </p:cNvPr>
          <p:cNvSpPr txBox="1"/>
          <p:nvPr/>
        </p:nvSpPr>
        <p:spPr>
          <a:xfrm>
            <a:off x="1333800" y="4920151"/>
            <a:ext cx="1066800" cy="247650"/>
          </a:xfrm>
          <a:prstGeom prst="rect">
            <a:avLst/>
          </a:prstGeom>
          <a:noFill/>
        </p:spPr>
        <p:txBody>
          <a:bodyPr wrap="square" lIns="0" rIns="0" rtlCol="0" anchor="ctr">
            <a:noAutofit/>
          </a:bodyPr>
          <a:lstStyle/>
          <a:p>
            <a:pPr algn="ctr" defTabSz="288000"/>
            <a:r>
              <a:rPr kumimoji="1" lang="ja-JP" altLang="en-US" b="1" dirty="0">
                <a:solidFill>
                  <a:schemeClr val="bg2"/>
                </a:solidFill>
                <a:latin typeface="+mn-ea"/>
              </a:rPr>
              <a:t>手作業</a:t>
            </a:r>
          </a:p>
        </p:txBody>
      </p:sp>
      <p:sp>
        <p:nvSpPr>
          <p:cNvPr id="4" name="正方形/長方形 3">
            <a:extLst>
              <a:ext uri="{FF2B5EF4-FFF2-40B4-BE49-F238E27FC236}">
                <a16:creationId xmlns:a16="http://schemas.microsoft.com/office/drawing/2014/main" id="{022B9683-5ACA-B1FC-7D6A-F5CFB829247A}"/>
              </a:ext>
            </a:extLst>
          </p:cNvPr>
          <p:cNvSpPr/>
          <p:nvPr/>
        </p:nvSpPr>
        <p:spPr>
          <a:xfrm>
            <a:off x="819150" y="2464048"/>
            <a:ext cx="7241087" cy="386039"/>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1379899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17AB-579D-3E44-E847-39ABE005E4C8}"/>
            </a:ext>
          </a:extLst>
        </p:cNvPr>
        <p:cNvGrpSpPr/>
        <p:nvPr/>
      </p:nvGrpSpPr>
      <p:grpSpPr>
        <a:xfrm>
          <a:off x="0" y="0"/>
          <a:ext cx="0" cy="0"/>
          <a:chOff x="0" y="0"/>
          <a:chExt cx="0" cy="0"/>
        </a:xfrm>
      </p:grpSpPr>
      <p:pic>
        <p:nvPicPr>
          <p:cNvPr id="35" name="図 34" descr="ダイアグラム, 概略図&#10;&#10;AI によって生成されたコンテンツは間違っている可能性があります。">
            <a:extLst>
              <a:ext uri="{FF2B5EF4-FFF2-40B4-BE49-F238E27FC236}">
                <a16:creationId xmlns:a16="http://schemas.microsoft.com/office/drawing/2014/main" id="{78CCA1B2-3C42-DE19-AAE5-B863C92D80B6}"/>
              </a:ext>
            </a:extLst>
          </p:cNvPr>
          <p:cNvPicPr>
            <a:picLocks noChangeAspect="1"/>
          </p:cNvPicPr>
          <p:nvPr/>
        </p:nvPicPr>
        <p:blipFill>
          <a:blip r:embed="rId2"/>
          <a:srcRect b="30618"/>
          <a:stretch/>
        </p:blipFill>
        <p:spPr>
          <a:xfrm>
            <a:off x="520091" y="1943100"/>
            <a:ext cx="7540146" cy="4540359"/>
          </a:xfrm>
          <a:prstGeom prst="rect">
            <a:avLst/>
          </a:prstGeom>
        </p:spPr>
      </p:pic>
      <p:sp>
        <p:nvSpPr>
          <p:cNvPr id="2" name="タイトル 1">
            <a:extLst>
              <a:ext uri="{FF2B5EF4-FFF2-40B4-BE49-F238E27FC236}">
                <a16:creationId xmlns:a16="http://schemas.microsoft.com/office/drawing/2014/main" id="{4045A085-7CCA-EA63-78EA-99A10B54B8A4}"/>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要求分析</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DCA1ECA9-CAD3-2A31-62A2-2C34A9EBB751}"/>
              </a:ext>
            </a:extLst>
          </p:cNvPr>
          <p:cNvSpPr>
            <a:spLocks noGrp="1"/>
          </p:cNvSpPr>
          <p:nvPr>
            <p:ph sz="quarter" idx="4294967295"/>
          </p:nvPr>
        </p:nvSpPr>
        <p:spPr>
          <a:xfrm>
            <a:off x="481490" y="978298"/>
            <a:ext cx="11448000" cy="835726"/>
          </a:xfrm>
        </p:spPr>
        <p:txBody>
          <a:bodyPr/>
          <a:lstStyle/>
          <a:p>
            <a:r>
              <a:rPr lang="ja-JP" altLang="en-US" u="sng" dirty="0">
                <a:solidFill>
                  <a:schemeClr val="tx1"/>
                </a:solidFill>
              </a:rPr>
              <a:t>業務フロー定義</a:t>
            </a:r>
            <a:endParaRPr lang="en-US" altLang="ja-JP" u="sng" dirty="0">
              <a:solidFill>
                <a:schemeClr val="tx1"/>
              </a:solidFill>
            </a:endParaRPr>
          </a:p>
          <a:p>
            <a:r>
              <a:rPr lang="ja-JP" altLang="en-US" dirty="0">
                <a:solidFill>
                  <a:schemeClr val="tx1"/>
                </a:solidFill>
              </a:rPr>
              <a:t>以下のような業務フロー図（業務の流れを可視化したもの）を作成する。</a:t>
            </a:r>
            <a:endParaRPr lang="en-US" altLang="ja-JP" dirty="0">
              <a:solidFill>
                <a:schemeClr val="tx1"/>
              </a:solidFill>
            </a:endParaRPr>
          </a:p>
          <a:p>
            <a:r>
              <a:rPr lang="ja-JP" altLang="en-US" dirty="0">
                <a:solidFill>
                  <a:srgbClr val="333333"/>
                </a:solidFill>
                <a:latin typeface="Helvetica Neue"/>
              </a:rPr>
              <a:t>アクターが行う各作業は、システム化対象作業（ユースケース）と手作業を区別して</a:t>
            </a:r>
            <a:r>
              <a:rPr lang="ja-JP" altLang="en-US" dirty="0">
                <a:solidFill>
                  <a:schemeClr val="tx1"/>
                </a:solidFill>
                <a:latin typeface="Helvetica Neue"/>
              </a:rPr>
              <a:t>定義する。</a:t>
            </a:r>
            <a:endParaRPr lang="en-US" altLang="ja-JP" dirty="0">
              <a:solidFill>
                <a:srgbClr val="333333"/>
              </a:solidFill>
              <a:latin typeface="Helvetica Neue"/>
            </a:endParaRPr>
          </a:p>
        </p:txBody>
      </p:sp>
      <p:pic>
        <p:nvPicPr>
          <p:cNvPr id="28" name="図 27" descr="ダイアグラム, 概略図&#10;&#10;AI によって生成されたコンテンツは間違っている可能性があります。">
            <a:extLst>
              <a:ext uri="{FF2B5EF4-FFF2-40B4-BE49-F238E27FC236}">
                <a16:creationId xmlns:a16="http://schemas.microsoft.com/office/drawing/2014/main" id="{134A8491-75AC-A789-ACC0-BC88F9AFED4C}"/>
              </a:ext>
            </a:extLst>
          </p:cNvPr>
          <p:cNvPicPr>
            <a:picLocks noChangeAspect="1"/>
          </p:cNvPicPr>
          <p:nvPr/>
        </p:nvPicPr>
        <p:blipFill>
          <a:blip r:embed="rId3"/>
          <a:srcRect l="18674" t="72686" r="19394" b="11698"/>
          <a:stretch/>
        </p:blipFill>
        <p:spPr>
          <a:xfrm>
            <a:off x="7979160" y="5813061"/>
            <a:ext cx="4123940" cy="670398"/>
          </a:xfrm>
          <a:prstGeom prst="rect">
            <a:avLst/>
          </a:prstGeom>
        </p:spPr>
      </p:pic>
      <p:sp>
        <p:nvSpPr>
          <p:cNvPr id="58" name="正方形/長方形 57">
            <a:extLst>
              <a:ext uri="{FF2B5EF4-FFF2-40B4-BE49-F238E27FC236}">
                <a16:creationId xmlns:a16="http://schemas.microsoft.com/office/drawing/2014/main" id="{B84255EC-A290-3CB7-819A-E958C9712077}"/>
              </a:ext>
            </a:extLst>
          </p:cNvPr>
          <p:cNvSpPr/>
          <p:nvPr/>
        </p:nvSpPr>
        <p:spPr>
          <a:xfrm>
            <a:off x="8401102" y="2187692"/>
            <a:ext cx="1180213" cy="396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latin typeface="+mn-ea"/>
              </a:rPr>
              <a:t>アクター</a:t>
            </a:r>
            <a:endParaRPr kumimoji="1" lang="ja-JP" altLang="en-US" sz="1400" dirty="0">
              <a:solidFill>
                <a:schemeClr val="bg1"/>
              </a:solidFill>
            </a:endParaRPr>
          </a:p>
        </p:txBody>
      </p:sp>
      <p:cxnSp>
        <p:nvCxnSpPr>
          <p:cNvPr id="61" name="直線コネクタ 60">
            <a:extLst>
              <a:ext uri="{FF2B5EF4-FFF2-40B4-BE49-F238E27FC236}">
                <a16:creationId xmlns:a16="http://schemas.microsoft.com/office/drawing/2014/main" id="{D993A3DB-9EE7-F847-FB4F-DA52CFF745FC}"/>
              </a:ext>
            </a:extLst>
          </p:cNvPr>
          <p:cNvCxnSpPr>
            <a:cxnSpLocks/>
            <a:stCxn id="4" idx="3"/>
            <a:endCxn id="58" idx="1"/>
          </p:cNvCxnSpPr>
          <p:nvPr/>
        </p:nvCxnSpPr>
        <p:spPr>
          <a:xfrm flipV="1">
            <a:off x="8060237" y="2385692"/>
            <a:ext cx="340865" cy="271376"/>
          </a:xfrm>
          <a:prstGeom prst="line">
            <a:avLst/>
          </a:prstGeom>
          <a:ln w="28575">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63" name="四角形: 角を丸くする 62">
            <a:extLst>
              <a:ext uri="{FF2B5EF4-FFF2-40B4-BE49-F238E27FC236}">
                <a16:creationId xmlns:a16="http://schemas.microsoft.com/office/drawing/2014/main" id="{85FAE9F8-0088-C012-13C7-912DD80D0F20}"/>
              </a:ext>
            </a:extLst>
          </p:cNvPr>
          <p:cNvSpPr/>
          <p:nvPr/>
        </p:nvSpPr>
        <p:spPr>
          <a:xfrm>
            <a:off x="3530600" y="4446548"/>
            <a:ext cx="1368000" cy="468000"/>
          </a:xfrm>
          <a:prstGeom prst="roundRect">
            <a:avLst/>
          </a:prstGeom>
          <a:noFill/>
          <a:ln w="28575">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65" name="直線コネクタ 64">
            <a:extLst>
              <a:ext uri="{FF2B5EF4-FFF2-40B4-BE49-F238E27FC236}">
                <a16:creationId xmlns:a16="http://schemas.microsoft.com/office/drawing/2014/main" id="{39816259-5B6B-63BF-9DBD-A2BBF0FCC876}"/>
              </a:ext>
            </a:extLst>
          </p:cNvPr>
          <p:cNvCxnSpPr>
            <a:cxnSpLocks/>
            <a:stCxn id="63" idx="3"/>
          </p:cNvCxnSpPr>
          <p:nvPr/>
        </p:nvCxnSpPr>
        <p:spPr>
          <a:xfrm flipV="1">
            <a:off x="4898600" y="3740210"/>
            <a:ext cx="1843602" cy="940338"/>
          </a:xfrm>
          <a:prstGeom prst="line">
            <a:avLst/>
          </a:prstGeom>
          <a:ln w="28575">
            <a:solidFill>
              <a:srgbClr val="E42600"/>
            </a:solidFill>
          </a:ln>
          <a:effectLst/>
        </p:spPr>
        <p:style>
          <a:lnRef idx="2">
            <a:schemeClr val="accent1"/>
          </a:lnRef>
          <a:fillRef idx="0">
            <a:schemeClr val="accent1"/>
          </a:fillRef>
          <a:effectRef idx="1">
            <a:schemeClr val="accent1"/>
          </a:effectRef>
          <a:fontRef idx="minor">
            <a:schemeClr val="tx1"/>
          </a:fontRef>
        </p:style>
      </p:cxnSp>
      <p:sp>
        <p:nvSpPr>
          <p:cNvPr id="66" name="四角形: 角を丸くする 65">
            <a:extLst>
              <a:ext uri="{FF2B5EF4-FFF2-40B4-BE49-F238E27FC236}">
                <a16:creationId xmlns:a16="http://schemas.microsoft.com/office/drawing/2014/main" id="{CBF7BC00-2885-BA54-45AD-D2AF4FDFD20E}"/>
              </a:ext>
            </a:extLst>
          </p:cNvPr>
          <p:cNvSpPr/>
          <p:nvPr/>
        </p:nvSpPr>
        <p:spPr>
          <a:xfrm>
            <a:off x="1752600" y="4490998"/>
            <a:ext cx="1296000" cy="396000"/>
          </a:xfrm>
          <a:prstGeom prst="roundRect">
            <a:avLst/>
          </a:prstGeom>
          <a:noFill/>
          <a:ln w="28575">
            <a:solidFill>
              <a:schemeClr val="bg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7" name="テキスト ボックス 66">
            <a:extLst>
              <a:ext uri="{FF2B5EF4-FFF2-40B4-BE49-F238E27FC236}">
                <a16:creationId xmlns:a16="http://schemas.microsoft.com/office/drawing/2014/main" id="{E0D9820C-E032-3A3C-24CC-2A9F8B5605F4}"/>
              </a:ext>
            </a:extLst>
          </p:cNvPr>
          <p:cNvSpPr txBox="1"/>
          <p:nvPr/>
        </p:nvSpPr>
        <p:spPr>
          <a:xfrm>
            <a:off x="1333800" y="4920151"/>
            <a:ext cx="1066800" cy="247650"/>
          </a:xfrm>
          <a:prstGeom prst="rect">
            <a:avLst/>
          </a:prstGeom>
          <a:noFill/>
        </p:spPr>
        <p:txBody>
          <a:bodyPr wrap="square" lIns="0" rIns="0" rtlCol="0" anchor="ctr">
            <a:noAutofit/>
          </a:bodyPr>
          <a:lstStyle/>
          <a:p>
            <a:pPr algn="ctr" defTabSz="288000"/>
            <a:r>
              <a:rPr kumimoji="1" lang="ja-JP" altLang="en-US" b="1" dirty="0">
                <a:solidFill>
                  <a:schemeClr val="bg2"/>
                </a:solidFill>
                <a:latin typeface="+mn-ea"/>
              </a:rPr>
              <a:t>手作業</a:t>
            </a:r>
          </a:p>
        </p:txBody>
      </p:sp>
      <p:sp>
        <p:nvSpPr>
          <p:cNvPr id="4" name="正方形/長方形 3">
            <a:extLst>
              <a:ext uri="{FF2B5EF4-FFF2-40B4-BE49-F238E27FC236}">
                <a16:creationId xmlns:a16="http://schemas.microsoft.com/office/drawing/2014/main" id="{B5E9807B-B408-8249-B87B-D586EDC36CFB}"/>
              </a:ext>
            </a:extLst>
          </p:cNvPr>
          <p:cNvSpPr/>
          <p:nvPr/>
        </p:nvSpPr>
        <p:spPr>
          <a:xfrm>
            <a:off x="819150" y="2464048"/>
            <a:ext cx="7241087" cy="386039"/>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 name="四角形: 角を丸くする 4">
            <a:extLst>
              <a:ext uri="{FF2B5EF4-FFF2-40B4-BE49-F238E27FC236}">
                <a16:creationId xmlns:a16="http://schemas.microsoft.com/office/drawing/2014/main" id="{74E85205-F0BE-150C-14E8-1EE459C1C467}"/>
              </a:ext>
            </a:extLst>
          </p:cNvPr>
          <p:cNvSpPr/>
          <p:nvPr/>
        </p:nvSpPr>
        <p:spPr>
          <a:xfrm>
            <a:off x="1149350" y="4874932"/>
            <a:ext cx="10864849" cy="1609884"/>
          </a:xfrm>
          <a:prstGeom prst="roundRect">
            <a:avLst/>
          </a:prstGeom>
          <a:solidFill>
            <a:schemeClr val="accent2">
              <a:lumMod val="10000"/>
              <a:lumOff val="9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defTabSz="288000"/>
            <a:r>
              <a:rPr lang="ja-JP" altLang="en-US" sz="1400" dirty="0">
                <a:solidFill>
                  <a:schemeClr val="tx1"/>
                </a:solidFill>
                <a:latin typeface="+mn-ea"/>
              </a:rPr>
              <a:t>　作成した業務フロー図を元に、以下４つの定義を行う。</a:t>
            </a:r>
            <a:endParaRPr lang="en-US" altLang="ja-JP" sz="1400" dirty="0">
              <a:solidFill>
                <a:schemeClr val="tx1"/>
              </a:solidFill>
              <a:latin typeface="+mn-ea"/>
            </a:endParaRPr>
          </a:p>
          <a:p>
            <a:pPr defTabSz="288000"/>
            <a:r>
              <a:rPr lang="ja-JP" altLang="en-US" sz="1400" dirty="0">
                <a:solidFill>
                  <a:schemeClr val="tx1"/>
                </a:solidFill>
                <a:latin typeface="+mn-ea"/>
              </a:rPr>
              <a:t>　　・</a:t>
            </a:r>
            <a:r>
              <a:rPr lang="ja-JP" altLang="en-US" sz="1600" b="1" dirty="0">
                <a:solidFill>
                  <a:schemeClr val="tx1"/>
                </a:solidFill>
                <a:latin typeface="+mn-ea"/>
              </a:rPr>
              <a:t>ユースケース定義</a:t>
            </a:r>
            <a:r>
              <a:rPr lang="ja-JP" altLang="en-US" sz="1400" dirty="0">
                <a:solidFill>
                  <a:schemeClr val="tx1"/>
                </a:solidFill>
                <a:latin typeface="Helvetica Neue"/>
              </a:rPr>
              <a:t>：各ユースケース内でのアクターやシステムが行うアクションを定義</a:t>
            </a:r>
            <a:endParaRPr lang="en-US" altLang="ja-JP" sz="1400" dirty="0">
              <a:solidFill>
                <a:schemeClr val="tx1"/>
              </a:solidFill>
              <a:latin typeface="Helvetica Neue"/>
            </a:endParaRPr>
          </a:p>
          <a:p>
            <a:pPr algn="l" defTabSz="288000"/>
            <a:r>
              <a:rPr lang="ja-JP" altLang="en-US" sz="1400" dirty="0">
                <a:solidFill>
                  <a:schemeClr val="tx1"/>
                </a:solidFill>
                <a:latin typeface="+mn-ea"/>
              </a:rPr>
              <a:t>　　・</a:t>
            </a:r>
            <a:r>
              <a:rPr lang="ja-JP" altLang="en-US" sz="1600" b="1" dirty="0">
                <a:solidFill>
                  <a:schemeClr val="tx1"/>
                </a:solidFill>
                <a:latin typeface="+mn-ea"/>
              </a:rPr>
              <a:t>ユーザーインターフェイス（</a:t>
            </a:r>
            <a:r>
              <a:rPr lang="en-US" altLang="ja-JP" sz="1600" b="1" dirty="0">
                <a:solidFill>
                  <a:schemeClr val="tx1"/>
                </a:solidFill>
                <a:latin typeface="+mn-ea"/>
              </a:rPr>
              <a:t>UI</a:t>
            </a:r>
            <a:r>
              <a:rPr lang="ja-JP" altLang="en-US" sz="1600" b="1" dirty="0">
                <a:solidFill>
                  <a:schemeClr val="tx1"/>
                </a:solidFill>
                <a:latin typeface="+mn-ea"/>
              </a:rPr>
              <a:t>）定義</a:t>
            </a:r>
            <a:r>
              <a:rPr lang="ja-JP" altLang="en-US" sz="1400" dirty="0">
                <a:solidFill>
                  <a:schemeClr val="tx1"/>
                </a:solidFill>
                <a:latin typeface="+mn-ea"/>
              </a:rPr>
              <a:t>：ユーザー視点での</a:t>
            </a:r>
            <a:r>
              <a:rPr lang="ja-JP" altLang="en-US" sz="1400" b="0" i="0" dirty="0">
                <a:solidFill>
                  <a:schemeClr val="tx1"/>
                </a:solidFill>
                <a:effectLst/>
                <a:latin typeface="Helvetica Neue"/>
              </a:rPr>
              <a:t>画面や帳票について、構成や記載内容を定義</a:t>
            </a:r>
            <a:endParaRPr lang="en-US" altLang="ja-JP" sz="1400" dirty="0">
              <a:solidFill>
                <a:schemeClr val="tx1"/>
              </a:solidFill>
              <a:latin typeface="+mn-ea"/>
            </a:endParaRPr>
          </a:p>
          <a:p>
            <a:pPr algn="l" defTabSz="288000"/>
            <a:r>
              <a:rPr lang="ja-JP" altLang="en-US" sz="1400" dirty="0">
                <a:solidFill>
                  <a:schemeClr val="tx1"/>
                </a:solidFill>
                <a:latin typeface="+mn-ea"/>
              </a:rPr>
              <a:t>　　・</a:t>
            </a:r>
            <a:r>
              <a:rPr lang="ja-JP" altLang="en-US" sz="1600" b="1" dirty="0">
                <a:solidFill>
                  <a:schemeClr val="tx1"/>
                </a:solidFill>
                <a:latin typeface="+mn-ea"/>
              </a:rPr>
              <a:t>外部</a:t>
            </a:r>
            <a:r>
              <a:rPr lang="en-US" altLang="ja-JP" sz="1600" b="1" dirty="0">
                <a:solidFill>
                  <a:schemeClr val="tx1"/>
                </a:solidFill>
                <a:latin typeface="+mn-ea"/>
              </a:rPr>
              <a:t>IF</a:t>
            </a:r>
            <a:r>
              <a:rPr lang="ja-JP" altLang="en-US" sz="1600" b="1" dirty="0">
                <a:solidFill>
                  <a:schemeClr val="tx1"/>
                </a:solidFill>
                <a:latin typeface="+mn-ea"/>
              </a:rPr>
              <a:t>（インターフェイス）定義</a:t>
            </a:r>
            <a:r>
              <a:rPr lang="ja-JP" altLang="en-US" sz="1400" dirty="0">
                <a:solidFill>
                  <a:schemeClr val="tx1"/>
                </a:solidFill>
                <a:latin typeface="+mn-ea"/>
              </a:rPr>
              <a:t>：他のシステムと接続するための決まり（どのような情報を渡す</a:t>
            </a:r>
            <a:r>
              <a:rPr lang="en-US" altLang="ja-JP" sz="1400" dirty="0">
                <a:solidFill>
                  <a:schemeClr val="tx1"/>
                </a:solidFill>
                <a:latin typeface="+mn-ea"/>
              </a:rPr>
              <a:t>/</a:t>
            </a:r>
            <a:r>
              <a:rPr lang="ja-JP" altLang="en-US" sz="1400" dirty="0">
                <a:solidFill>
                  <a:schemeClr val="tx1"/>
                </a:solidFill>
                <a:latin typeface="+mn-ea"/>
              </a:rPr>
              <a:t>もらう、など）を定義</a:t>
            </a:r>
            <a:endParaRPr lang="en-US" altLang="ja-JP" sz="1400" dirty="0">
              <a:solidFill>
                <a:schemeClr val="tx1"/>
              </a:solidFill>
              <a:latin typeface="+mn-ea"/>
            </a:endParaRPr>
          </a:p>
          <a:p>
            <a:pPr algn="l" defTabSz="288000"/>
            <a:r>
              <a:rPr lang="ja-JP" altLang="en-US" sz="1400" dirty="0">
                <a:solidFill>
                  <a:schemeClr val="tx1"/>
                </a:solidFill>
                <a:latin typeface="+mn-ea"/>
              </a:rPr>
              <a:t>　　・</a:t>
            </a:r>
            <a:r>
              <a:rPr lang="ja-JP" altLang="en-US" sz="1600" b="1" dirty="0">
                <a:solidFill>
                  <a:schemeClr val="tx1"/>
                </a:solidFill>
                <a:latin typeface="+mn-ea"/>
              </a:rPr>
              <a:t>データモデル定義</a:t>
            </a:r>
            <a:r>
              <a:rPr lang="ja-JP" altLang="en-US" sz="1400" dirty="0">
                <a:solidFill>
                  <a:schemeClr val="tx1"/>
                </a:solidFill>
                <a:latin typeface="+mn-ea"/>
              </a:rPr>
              <a:t>：システム内で使用するデータの構造を定義</a:t>
            </a:r>
            <a:endParaRPr lang="en-US" altLang="ja-JP" sz="1400" dirty="0">
              <a:solidFill>
                <a:schemeClr val="tx1"/>
              </a:solidFill>
              <a:latin typeface="+mn-ea"/>
            </a:endParaRPr>
          </a:p>
        </p:txBody>
      </p:sp>
      <p:sp>
        <p:nvSpPr>
          <p:cNvPr id="6" name="矢印: 右 5">
            <a:extLst>
              <a:ext uri="{FF2B5EF4-FFF2-40B4-BE49-F238E27FC236}">
                <a16:creationId xmlns:a16="http://schemas.microsoft.com/office/drawing/2014/main" id="{F2F721B0-97EE-3DE9-BCCA-3004118C95D0}"/>
              </a:ext>
            </a:extLst>
          </p:cNvPr>
          <p:cNvSpPr/>
          <p:nvPr/>
        </p:nvSpPr>
        <p:spPr>
          <a:xfrm>
            <a:off x="829882" y="5119097"/>
            <a:ext cx="422425" cy="1102744"/>
          </a:xfrm>
          <a:prstGeom prst="rightArrow">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 name="正方形/長方形 6">
            <a:extLst>
              <a:ext uri="{FF2B5EF4-FFF2-40B4-BE49-F238E27FC236}">
                <a16:creationId xmlns:a16="http://schemas.microsoft.com/office/drawing/2014/main" id="{7EC40139-C3B5-F5A5-5587-331A6F09283D}"/>
              </a:ext>
            </a:extLst>
          </p:cNvPr>
          <p:cNvSpPr/>
          <p:nvPr/>
        </p:nvSpPr>
        <p:spPr>
          <a:xfrm>
            <a:off x="6742202" y="2933590"/>
            <a:ext cx="4783047" cy="1613240"/>
          </a:xfrm>
          <a:prstGeom prst="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b="1" u="sng" dirty="0">
                <a:solidFill>
                  <a:schemeClr val="tx1"/>
                </a:solidFill>
              </a:rPr>
              <a:t>ユースケース</a:t>
            </a:r>
            <a:endParaRPr kumimoji="1" lang="en-US" altLang="ja-JP" b="1" u="sng" dirty="0">
              <a:solidFill>
                <a:schemeClr val="tx1"/>
              </a:solidFill>
            </a:endParaRPr>
          </a:p>
          <a:p>
            <a:pPr algn="ctr"/>
            <a:r>
              <a:rPr lang="ja-JP" altLang="en-US" sz="1400" b="1" dirty="0">
                <a:solidFill>
                  <a:srgbClr val="FF0000"/>
                </a:solidFill>
                <a:latin typeface="Helvetica Neue"/>
              </a:rPr>
              <a:t>１人の</a:t>
            </a:r>
            <a:r>
              <a:rPr lang="ja-JP" altLang="en-US" sz="1400" b="1" i="0" dirty="0">
                <a:solidFill>
                  <a:srgbClr val="FF0000"/>
                </a:solidFill>
                <a:effectLst/>
                <a:latin typeface="Helvetica Neue"/>
              </a:rPr>
              <a:t>ユーザー</a:t>
            </a:r>
            <a:r>
              <a:rPr lang="ja-JP" altLang="en-US" sz="1400" b="0" i="0" dirty="0">
                <a:solidFill>
                  <a:schemeClr val="tx1"/>
                </a:solidFill>
                <a:effectLst/>
                <a:latin typeface="Helvetica Neue"/>
              </a:rPr>
              <a:t>が、</a:t>
            </a:r>
            <a:r>
              <a:rPr lang="ja-JP" altLang="en-US" sz="1400" b="1" i="0" dirty="0">
                <a:solidFill>
                  <a:srgbClr val="FF0000"/>
                </a:solidFill>
                <a:effectLst/>
                <a:latin typeface="Helvetica Neue"/>
              </a:rPr>
              <a:t>１つの目的</a:t>
            </a:r>
            <a:r>
              <a:rPr lang="ja-JP" altLang="en-US" sz="1400" b="0" i="0" dirty="0">
                <a:solidFill>
                  <a:schemeClr val="tx1"/>
                </a:solidFill>
                <a:effectLst/>
                <a:latin typeface="Helvetica Neue"/>
              </a:rPr>
              <a:t>を達成するために、</a:t>
            </a:r>
            <a:endParaRPr lang="en-US" altLang="ja-JP" sz="1400" b="0" i="0" dirty="0">
              <a:solidFill>
                <a:schemeClr val="tx1"/>
              </a:solidFill>
              <a:effectLst/>
              <a:latin typeface="Helvetica Neue"/>
            </a:endParaRPr>
          </a:p>
          <a:p>
            <a:pPr algn="ctr"/>
            <a:r>
              <a:rPr lang="ja-JP" altLang="en-US" sz="1400" b="1" i="0" dirty="0">
                <a:solidFill>
                  <a:srgbClr val="FF0000"/>
                </a:solidFill>
                <a:effectLst/>
                <a:latin typeface="Helvetica Neue"/>
              </a:rPr>
              <a:t>中断せずに</a:t>
            </a:r>
            <a:r>
              <a:rPr lang="ja-JP" altLang="en-US" sz="1400" b="0" i="0" dirty="0">
                <a:solidFill>
                  <a:schemeClr val="tx1"/>
                </a:solidFill>
                <a:effectLst/>
                <a:latin typeface="Helvetica Neue"/>
              </a:rPr>
              <a:t>行う一連の</a:t>
            </a:r>
            <a:r>
              <a:rPr lang="ja-JP" altLang="en-US" sz="1400" dirty="0">
                <a:solidFill>
                  <a:schemeClr val="tx1"/>
                </a:solidFill>
                <a:latin typeface="Helvetica Neue"/>
              </a:rPr>
              <a:t>作業</a:t>
            </a:r>
            <a:endParaRPr lang="en-US" altLang="ja-JP" sz="1400" b="0" i="0" dirty="0">
              <a:solidFill>
                <a:schemeClr val="tx1"/>
              </a:solidFill>
              <a:effectLst/>
              <a:latin typeface="Helvetica Neue"/>
            </a:endParaRPr>
          </a:p>
          <a:p>
            <a:pPr algn="ctr"/>
            <a:endParaRPr lang="en-US" altLang="ja-JP" sz="1400" b="0" i="0" dirty="0">
              <a:solidFill>
                <a:schemeClr val="tx1"/>
              </a:solidFill>
              <a:effectLst/>
              <a:latin typeface="Helvetica Neue"/>
            </a:endParaRPr>
          </a:p>
          <a:p>
            <a:pPr algn="ctr"/>
            <a:r>
              <a:rPr lang="ja-JP" altLang="en-US" sz="1400" dirty="0">
                <a:solidFill>
                  <a:schemeClr val="tx1"/>
                </a:solidFill>
                <a:latin typeface="Helvetica Neue"/>
              </a:rPr>
              <a:t>例）「受付係」が、「顧客の予約を確認するため」に、</a:t>
            </a:r>
            <a:endParaRPr lang="en-US" altLang="ja-JP" sz="1400" dirty="0">
              <a:solidFill>
                <a:schemeClr val="tx1"/>
              </a:solidFill>
              <a:latin typeface="Helvetica Neue"/>
            </a:endParaRPr>
          </a:p>
          <a:p>
            <a:pPr algn="ctr"/>
            <a:r>
              <a:rPr lang="ja-JP" altLang="en-US" sz="1400" dirty="0">
                <a:solidFill>
                  <a:schemeClr val="tx1"/>
                </a:solidFill>
                <a:latin typeface="+mn-ea"/>
              </a:rPr>
              <a:t>ツアー予約管理システムに対して行う「ツアー予約照会」作業</a:t>
            </a:r>
            <a:endParaRPr lang="en-US" altLang="ja-JP" sz="1400" dirty="0">
              <a:solidFill>
                <a:schemeClr val="tx1"/>
              </a:solidFill>
              <a:latin typeface="+mn-ea"/>
            </a:endParaRPr>
          </a:p>
        </p:txBody>
      </p:sp>
    </p:spTree>
    <p:extLst>
      <p:ext uri="{BB962C8B-B14F-4D97-AF65-F5344CB8AC3E}">
        <p14:creationId xmlns:p14="http://schemas.microsoft.com/office/powerpoint/2010/main" val="2968909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6771B-C640-A873-4CE0-DBBE52BA2AA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B1B0F5-FD39-D6DB-03DC-33EFF6438A1B}"/>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要求分析</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58346026-4CCA-F8B0-0AC3-339C488E6311}"/>
              </a:ext>
            </a:extLst>
          </p:cNvPr>
          <p:cNvSpPr>
            <a:spLocks noGrp="1"/>
          </p:cNvSpPr>
          <p:nvPr>
            <p:ph sz="quarter" idx="4294967295"/>
          </p:nvPr>
        </p:nvSpPr>
        <p:spPr>
          <a:xfrm>
            <a:off x="481490" y="978298"/>
            <a:ext cx="11448000" cy="835726"/>
          </a:xfrm>
        </p:spPr>
        <p:txBody>
          <a:bodyPr/>
          <a:lstStyle/>
          <a:p>
            <a:r>
              <a:rPr lang="ja-JP" altLang="en-US" u="sng" dirty="0">
                <a:solidFill>
                  <a:schemeClr val="tx1"/>
                </a:solidFill>
              </a:rPr>
              <a:t>要求分析（</a:t>
            </a:r>
            <a:r>
              <a:rPr lang="en-US" altLang="ja-JP" u="sng" dirty="0">
                <a:solidFill>
                  <a:schemeClr val="tx1"/>
                </a:solidFill>
              </a:rPr>
              <a:t>Requirements Analysis</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Lato" panose="020F0502020204030203" pitchFamily="34" charset="0"/>
              </a:rPr>
              <a:t>例）ユースケース定義書</a:t>
            </a:r>
            <a:endParaRPr lang="en-US" altLang="ja-JP" dirty="0">
              <a:solidFill>
                <a:schemeClr val="tx1"/>
              </a:solidFill>
            </a:endParaRPr>
          </a:p>
        </p:txBody>
      </p:sp>
      <p:pic>
        <p:nvPicPr>
          <p:cNvPr id="7" name="図 6" descr="グラフィカル ユーザー インターフェイス, テーブル&#10;&#10;AI によって生成されたコンテンツは間違っている可能性があります。">
            <a:extLst>
              <a:ext uri="{FF2B5EF4-FFF2-40B4-BE49-F238E27FC236}">
                <a16:creationId xmlns:a16="http://schemas.microsoft.com/office/drawing/2014/main" id="{4DC42DB8-4AF6-1D79-FA58-1868714A8F17}"/>
              </a:ext>
            </a:extLst>
          </p:cNvPr>
          <p:cNvPicPr>
            <a:picLocks noChangeAspect="1"/>
          </p:cNvPicPr>
          <p:nvPr/>
        </p:nvPicPr>
        <p:blipFill>
          <a:blip r:embed="rId2"/>
          <a:stretch>
            <a:fillRect/>
          </a:stretch>
        </p:blipFill>
        <p:spPr>
          <a:xfrm>
            <a:off x="730144" y="1733107"/>
            <a:ext cx="5957736" cy="4748077"/>
          </a:xfrm>
          <a:prstGeom prst="rect">
            <a:avLst/>
          </a:prstGeom>
        </p:spPr>
      </p:pic>
      <p:sp>
        <p:nvSpPr>
          <p:cNvPr id="8" name="正方形/長方形 7">
            <a:extLst>
              <a:ext uri="{FF2B5EF4-FFF2-40B4-BE49-F238E27FC236}">
                <a16:creationId xmlns:a16="http://schemas.microsoft.com/office/drawing/2014/main" id="{F1962F2F-1D5C-5B42-78EE-62FDEFC2D822}"/>
              </a:ext>
            </a:extLst>
          </p:cNvPr>
          <p:cNvSpPr/>
          <p:nvPr/>
        </p:nvSpPr>
        <p:spPr>
          <a:xfrm>
            <a:off x="6687880" y="3949604"/>
            <a:ext cx="1180213" cy="396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latin typeface="+mn-ea"/>
              </a:rPr>
              <a:t>基本フロー</a:t>
            </a:r>
            <a:endParaRPr kumimoji="1" lang="ja-JP" altLang="en-US" sz="1400" dirty="0">
              <a:solidFill>
                <a:schemeClr val="bg1"/>
              </a:solidFill>
            </a:endParaRPr>
          </a:p>
        </p:txBody>
      </p:sp>
      <p:sp>
        <p:nvSpPr>
          <p:cNvPr id="9" name="正方形/長方形 8">
            <a:extLst>
              <a:ext uri="{FF2B5EF4-FFF2-40B4-BE49-F238E27FC236}">
                <a16:creationId xmlns:a16="http://schemas.microsoft.com/office/drawing/2014/main" id="{48ECD574-8473-5979-E890-3CBCF58BC057}"/>
              </a:ext>
            </a:extLst>
          </p:cNvPr>
          <p:cNvSpPr/>
          <p:nvPr/>
        </p:nvSpPr>
        <p:spPr>
          <a:xfrm>
            <a:off x="652213" y="3805035"/>
            <a:ext cx="6035667" cy="2074667"/>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0" name="テキスト ボックス 9">
            <a:extLst>
              <a:ext uri="{FF2B5EF4-FFF2-40B4-BE49-F238E27FC236}">
                <a16:creationId xmlns:a16="http://schemas.microsoft.com/office/drawing/2014/main" id="{585CD074-1938-CA47-54FC-D1EAD6FADC9B}"/>
              </a:ext>
            </a:extLst>
          </p:cNvPr>
          <p:cNvSpPr txBox="1"/>
          <p:nvPr/>
        </p:nvSpPr>
        <p:spPr>
          <a:xfrm>
            <a:off x="6765811" y="4422274"/>
            <a:ext cx="5426189" cy="523220"/>
          </a:xfrm>
          <a:prstGeom prst="rect">
            <a:avLst/>
          </a:prstGeom>
          <a:noFill/>
        </p:spPr>
        <p:txBody>
          <a:bodyPr wrap="square">
            <a:spAutoFit/>
          </a:bodyPr>
          <a:lstStyle/>
          <a:p>
            <a:r>
              <a:rPr lang="ja-JP" altLang="en-US" sz="1400" b="0" i="0" dirty="0">
                <a:effectLst/>
                <a:latin typeface="Helvetica Neue"/>
              </a:rPr>
              <a:t>１ユースケースについて、</a:t>
            </a:r>
            <a:endParaRPr lang="en-US" altLang="ja-JP" sz="1400" b="0" i="0" dirty="0">
              <a:effectLst/>
              <a:latin typeface="Helvetica Neue"/>
            </a:endParaRPr>
          </a:p>
          <a:p>
            <a:r>
              <a:rPr lang="ja-JP" altLang="en-US" sz="1400" dirty="0">
                <a:solidFill>
                  <a:sysClr val="windowText" lastClr="000000"/>
                </a:solidFill>
                <a:latin typeface="Helvetica Neue"/>
                <a:ea typeface="+mn-ea"/>
                <a:cs typeface="+mn-cs"/>
              </a:rPr>
              <a:t>アクターとシステムが取るアクションを実施順に定義</a:t>
            </a:r>
            <a:endParaRPr lang="en-US" altLang="ja-JP" sz="1400" dirty="0">
              <a:solidFill>
                <a:sysClr val="windowText" lastClr="000000"/>
              </a:solidFill>
              <a:effectLst/>
              <a:latin typeface="+mn-lt"/>
              <a:ea typeface="+mn-ea"/>
              <a:cs typeface="+mn-cs"/>
            </a:endParaRPr>
          </a:p>
        </p:txBody>
      </p:sp>
      <p:sp>
        <p:nvSpPr>
          <p:cNvPr id="6" name="正方形/長方形 5">
            <a:extLst>
              <a:ext uri="{FF2B5EF4-FFF2-40B4-BE49-F238E27FC236}">
                <a16:creationId xmlns:a16="http://schemas.microsoft.com/office/drawing/2014/main" id="{87F5D7E0-482D-FAB7-2FA9-AA6264D6FAB7}"/>
              </a:ext>
            </a:extLst>
          </p:cNvPr>
          <p:cNvSpPr/>
          <p:nvPr/>
        </p:nvSpPr>
        <p:spPr>
          <a:xfrm>
            <a:off x="6936534" y="1928036"/>
            <a:ext cx="1180213" cy="396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latin typeface="+mn-ea"/>
              </a:rPr>
              <a:t>アクター</a:t>
            </a:r>
            <a:endParaRPr kumimoji="1" lang="ja-JP" altLang="en-US" sz="1400" dirty="0">
              <a:solidFill>
                <a:schemeClr val="bg1"/>
              </a:solidFill>
            </a:endParaRPr>
          </a:p>
        </p:txBody>
      </p:sp>
      <p:cxnSp>
        <p:nvCxnSpPr>
          <p:cNvPr id="11" name="直線コネクタ 10">
            <a:extLst>
              <a:ext uri="{FF2B5EF4-FFF2-40B4-BE49-F238E27FC236}">
                <a16:creationId xmlns:a16="http://schemas.microsoft.com/office/drawing/2014/main" id="{69F99192-CC79-8405-5EBD-86749916D498}"/>
              </a:ext>
            </a:extLst>
          </p:cNvPr>
          <p:cNvCxnSpPr>
            <a:cxnSpLocks/>
            <a:endCxn id="6" idx="1"/>
          </p:cNvCxnSpPr>
          <p:nvPr/>
        </p:nvCxnSpPr>
        <p:spPr>
          <a:xfrm flipV="1">
            <a:off x="3308350" y="2126036"/>
            <a:ext cx="3628184" cy="376521"/>
          </a:xfrm>
          <a:prstGeom prst="line">
            <a:avLst/>
          </a:prstGeom>
          <a:ln w="28575">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9307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26EF8-E344-5E8C-B9AE-EC5B309A24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D70EC3-7ED4-D2F3-7136-F7E057E22001}"/>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要求分析</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73904EC0-7963-83D2-4FFD-5C3A976E6E27}"/>
              </a:ext>
            </a:extLst>
          </p:cNvPr>
          <p:cNvSpPr>
            <a:spLocks noGrp="1"/>
          </p:cNvSpPr>
          <p:nvPr>
            <p:ph sz="quarter" idx="4294967295"/>
          </p:nvPr>
        </p:nvSpPr>
        <p:spPr>
          <a:xfrm>
            <a:off x="481490" y="978298"/>
            <a:ext cx="11448000" cy="835726"/>
          </a:xfrm>
        </p:spPr>
        <p:txBody>
          <a:bodyPr/>
          <a:lstStyle/>
          <a:p>
            <a:r>
              <a:rPr lang="ja-JP" altLang="en-US" u="sng" dirty="0">
                <a:solidFill>
                  <a:schemeClr val="tx1"/>
                </a:solidFill>
              </a:rPr>
              <a:t>要求分析（</a:t>
            </a:r>
            <a:r>
              <a:rPr lang="en-US" altLang="ja-JP" u="sng" dirty="0">
                <a:solidFill>
                  <a:schemeClr val="tx1"/>
                </a:solidFill>
              </a:rPr>
              <a:t>Requirements Analysis</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Lato" panose="020F0502020204030203" pitchFamily="34" charset="0"/>
              </a:rPr>
              <a:t>例）画面遷移図と画面定義書</a:t>
            </a:r>
            <a:endParaRPr lang="en-US" altLang="ja-JP" dirty="0">
              <a:solidFill>
                <a:schemeClr val="tx1"/>
              </a:solidFill>
            </a:endParaRPr>
          </a:p>
        </p:txBody>
      </p:sp>
      <p:pic>
        <p:nvPicPr>
          <p:cNvPr id="5" name="図 4" descr="ダイアグラム&#10;&#10;AI によって生成されたコンテンツは間違っている可能性があります。">
            <a:extLst>
              <a:ext uri="{FF2B5EF4-FFF2-40B4-BE49-F238E27FC236}">
                <a16:creationId xmlns:a16="http://schemas.microsoft.com/office/drawing/2014/main" id="{C8CB30A2-F6B1-48B9-6ABA-DE72DF1A5405}"/>
              </a:ext>
            </a:extLst>
          </p:cNvPr>
          <p:cNvPicPr>
            <a:picLocks noChangeAspect="1"/>
          </p:cNvPicPr>
          <p:nvPr/>
        </p:nvPicPr>
        <p:blipFill>
          <a:blip r:embed="rId2"/>
          <a:stretch>
            <a:fillRect/>
          </a:stretch>
        </p:blipFill>
        <p:spPr>
          <a:xfrm>
            <a:off x="481490" y="2186188"/>
            <a:ext cx="5113486" cy="3615173"/>
          </a:xfrm>
          <a:prstGeom prst="rect">
            <a:avLst/>
          </a:prstGeom>
        </p:spPr>
      </p:pic>
      <p:pic>
        <p:nvPicPr>
          <p:cNvPr id="7" name="図 6"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EAB4C06A-993B-556F-25A1-EC34E4BE211D}"/>
              </a:ext>
            </a:extLst>
          </p:cNvPr>
          <p:cNvPicPr>
            <a:picLocks noChangeAspect="1"/>
          </p:cNvPicPr>
          <p:nvPr/>
        </p:nvPicPr>
        <p:blipFill>
          <a:blip r:embed="rId3"/>
          <a:stretch>
            <a:fillRect/>
          </a:stretch>
        </p:blipFill>
        <p:spPr>
          <a:xfrm>
            <a:off x="6236792" y="1153632"/>
            <a:ext cx="5582008" cy="4979036"/>
          </a:xfrm>
          <a:prstGeom prst="rect">
            <a:avLst/>
          </a:prstGeom>
        </p:spPr>
      </p:pic>
      <p:sp>
        <p:nvSpPr>
          <p:cNvPr id="8" name="正方形/長方形 7">
            <a:extLst>
              <a:ext uri="{FF2B5EF4-FFF2-40B4-BE49-F238E27FC236}">
                <a16:creationId xmlns:a16="http://schemas.microsoft.com/office/drawing/2014/main" id="{1841E099-E093-AB26-3DFF-1B8A842482BD}"/>
              </a:ext>
            </a:extLst>
          </p:cNvPr>
          <p:cNvSpPr/>
          <p:nvPr/>
        </p:nvSpPr>
        <p:spPr>
          <a:xfrm>
            <a:off x="1279714" y="2990015"/>
            <a:ext cx="580983" cy="291429"/>
          </a:xfrm>
          <a:prstGeom prst="rect">
            <a:avLst/>
          </a:prstGeom>
          <a:noFill/>
          <a:ln w="28575">
            <a:solidFill>
              <a:srgbClr val="FFC4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2" name="正方形/長方形 11">
            <a:extLst>
              <a:ext uri="{FF2B5EF4-FFF2-40B4-BE49-F238E27FC236}">
                <a16:creationId xmlns:a16="http://schemas.microsoft.com/office/drawing/2014/main" id="{293A4AEF-CFCB-179A-02F3-D9A84D3DF125}"/>
              </a:ext>
            </a:extLst>
          </p:cNvPr>
          <p:cNvSpPr/>
          <p:nvPr/>
        </p:nvSpPr>
        <p:spPr>
          <a:xfrm>
            <a:off x="8375913" y="790071"/>
            <a:ext cx="1303765" cy="36366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n-ea"/>
              </a:rPr>
              <a:t>画面定義書</a:t>
            </a:r>
            <a:endParaRPr kumimoji="1" lang="ja-JP" altLang="en-US" sz="1400" dirty="0">
              <a:solidFill>
                <a:schemeClr val="bg1"/>
              </a:solidFill>
            </a:endParaRPr>
          </a:p>
        </p:txBody>
      </p:sp>
      <p:sp>
        <p:nvSpPr>
          <p:cNvPr id="13" name="正方形/長方形 12">
            <a:extLst>
              <a:ext uri="{FF2B5EF4-FFF2-40B4-BE49-F238E27FC236}">
                <a16:creationId xmlns:a16="http://schemas.microsoft.com/office/drawing/2014/main" id="{83AC409D-61DA-EA3C-38FD-78F154E7AE7A}"/>
              </a:ext>
            </a:extLst>
          </p:cNvPr>
          <p:cNvSpPr/>
          <p:nvPr/>
        </p:nvSpPr>
        <p:spPr>
          <a:xfrm>
            <a:off x="1040884" y="5405361"/>
            <a:ext cx="1434589" cy="396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n-ea"/>
              </a:rPr>
              <a:t>画面遷移図</a:t>
            </a:r>
            <a:endParaRPr kumimoji="1" lang="ja-JP" altLang="en-US" sz="1400" dirty="0">
              <a:solidFill>
                <a:schemeClr val="bg1"/>
              </a:solidFill>
            </a:endParaRPr>
          </a:p>
        </p:txBody>
      </p:sp>
      <p:sp>
        <p:nvSpPr>
          <p:cNvPr id="14" name="正方形/長方形 13">
            <a:extLst>
              <a:ext uri="{FF2B5EF4-FFF2-40B4-BE49-F238E27FC236}">
                <a16:creationId xmlns:a16="http://schemas.microsoft.com/office/drawing/2014/main" id="{780B7D75-F2D1-1C5A-2529-DFC41B5A865E}"/>
              </a:ext>
            </a:extLst>
          </p:cNvPr>
          <p:cNvSpPr/>
          <p:nvPr/>
        </p:nvSpPr>
        <p:spPr>
          <a:xfrm>
            <a:off x="492725" y="2475965"/>
            <a:ext cx="5025573" cy="2929396"/>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cxnSp>
        <p:nvCxnSpPr>
          <p:cNvPr id="11" name="直線矢印コネクタ 10">
            <a:extLst>
              <a:ext uri="{FF2B5EF4-FFF2-40B4-BE49-F238E27FC236}">
                <a16:creationId xmlns:a16="http://schemas.microsoft.com/office/drawing/2014/main" id="{080E122C-9AA4-D12C-6558-E107F2B7553B}"/>
              </a:ext>
            </a:extLst>
          </p:cNvPr>
          <p:cNvCxnSpPr>
            <a:cxnSpLocks/>
            <a:stCxn id="8" idx="3"/>
          </p:cNvCxnSpPr>
          <p:nvPr/>
        </p:nvCxnSpPr>
        <p:spPr>
          <a:xfrm flipV="1">
            <a:off x="1860697" y="2594015"/>
            <a:ext cx="4625163" cy="541715"/>
          </a:xfrm>
          <a:prstGeom prst="straightConnector1">
            <a:avLst/>
          </a:prstGeom>
          <a:ln w="38100">
            <a:solidFill>
              <a:srgbClr val="FFC400"/>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1082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246E2-AECD-7FCF-0B72-5C584FD7CF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34C658-EC30-C979-2514-EA3ECCB44D53}"/>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要求分析</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AC7CBC6F-EC7D-0B86-7035-A4EFD05D2AC9}"/>
              </a:ext>
            </a:extLst>
          </p:cNvPr>
          <p:cNvSpPr>
            <a:spLocks noGrp="1"/>
          </p:cNvSpPr>
          <p:nvPr>
            <p:ph sz="quarter" idx="4294967295"/>
          </p:nvPr>
        </p:nvSpPr>
        <p:spPr>
          <a:xfrm>
            <a:off x="481490" y="978298"/>
            <a:ext cx="11448000" cy="835726"/>
          </a:xfrm>
        </p:spPr>
        <p:txBody>
          <a:bodyPr/>
          <a:lstStyle/>
          <a:p>
            <a:r>
              <a:rPr lang="ja-JP" altLang="en-US" u="sng" dirty="0">
                <a:solidFill>
                  <a:schemeClr val="tx1"/>
                </a:solidFill>
              </a:rPr>
              <a:t>要求分析（</a:t>
            </a:r>
            <a:r>
              <a:rPr lang="en-US" altLang="ja-JP" u="sng" dirty="0">
                <a:solidFill>
                  <a:schemeClr val="tx1"/>
                </a:solidFill>
              </a:rPr>
              <a:t>Requirements Analysis</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Lato" panose="020F0502020204030203" pitchFamily="34" charset="0"/>
              </a:rPr>
              <a:t>例）外部</a:t>
            </a:r>
            <a:r>
              <a:rPr lang="en-US" altLang="ja-JP" b="0" i="0" dirty="0">
                <a:solidFill>
                  <a:schemeClr val="tx1"/>
                </a:solidFill>
                <a:effectLst/>
                <a:latin typeface="Lato" panose="020F0502020204030203" pitchFamily="34" charset="0"/>
              </a:rPr>
              <a:t>IF</a:t>
            </a:r>
            <a:r>
              <a:rPr lang="ja-JP" altLang="en-US" b="0" i="0" dirty="0">
                <a:solidFill>
                  <a:schemeClr val="tx1"/>
                </a:solidFill>
                <a:effectLst/>
                <a:latin typeface="Lato" panose="020F0502020204030203" pitchFamily="34" charset="0"/>
              </a:rPr>
              <a:t>定義書</a:t>
            </a:r>
            <a:endParaRPr lang="en-US" altLang="ja-JP" dirty="0">
              <a:solidFill>
                <a:schemeClr val="tx1"/>
              </a:solidFill>
            </a:endParaRPr>
          </a:p>
        </p:txBody>
      </p:sp>
      <p:pic>
        <p:nvPicPr>
          <p:cNvPr id="5" name="図 4" descr="グラフィカル ユーザー インターフェイス が含まれている画像&#10;&#10;AI によって生成されたコンテンツは間違っている可能性があります。">
            <a:extLst>
              <a:ext uri="{FF2B5EF4-FFF2-40B4-BE49-F238E27FC236}">
                <a16:creationId xmlns:a16="http://schemas.microsoft.com/office/drawing/2014/main" id="{1E5E6094-AB12-FA8E-C82B-323206774BC8}"/>
              </a:ext>
            </a:extLst>
          </p:cNvPr>
          <p:cNvPicPr>
            <a:picLocks noChangeAspect="1"/>
          </p:cNvPicPr>
          <p:nvPr/>
        </p:nvPicPr>
        <p:blipFill>
          <a:blip r:embed="rId2"/>
          <a:srcRect l="1890" t="11755" r="31581" b="24015"/>
          <a:stretch/>
        </p:blipFill>
        <p:spPr>
          <a:xfrm>
            <a:off x="481491" y="1573618"/>
            <a:ext cx="7833170" cy="4865323"/>
          </a:xfrm>
          <a:prstGeom prst="rect">
            <a:avLst/>
          </a:prstGeom>
        </p:spPr>
      </p:pic>
      <p:sp>
        <p:nvSpPr>
          <p:cNvPr id="6" name="正方形/長方形 5">
            <a:extLst>
              <a:ext uri="{FF2B5EF4-FFF2-40B4-BE49-F238E27FC236}">
                <a16:creationId xmlns:a16="http://schemas.microsoft.com/office/drawing/2014/main" id="{EE71666A-1ED8-9AE7-660A-16321313C7AB}"/>
              </a:ext>
            </a:extLst>
          </p:cNvPr>
          <p:cNvSpPr/>
          <p:nvPr/>
        </p:nvSpPr>
        <p:spPr>
          <a:xfrm>
            <a:off x="8113448" y="3500238"/>
            <a:ext cx="3170502" cy="52237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n-ea"/>
              </a:rPr>
              <a:t>要求</a:t>
            </a:r>
            <a:r>
              <a:rPr lang="en-US" altLang="ja-JP" sz="1400" dirty="0">
                <a:latin typeface="+mn-ea"/>
              </a:rPr>
              <a:t>/</a:t>
            </a:r>
            <a:r>
              <a:rPr lang="ja-JP" altLang="en-US" sz="1400" dirty="0">
                <a:latin typeface="+mn-ea"/>
              </a:rPr>
              <a:t>応答時のデータ項目について定義</a:t>
            </a:r>
            <a:endParaRPr kumimoji="1" lang="ja-JP" altLang="en-US" sz="1400" dirty="0">
              <a:solidFill>
                <a:schemeClr val="bg1"/>
              </a:solidFill>
            </a:endParaRPr>
          </a:p>
        </p:txBody>
      </p:sp>
      <p:sp>
        <p:nvSpPr>
          <p:cNvPr id="7" name="正方形/長方形 6">
            <a:extLst>
              <a:ext uri="{FF2B5EF4-FFF2-40B4-BE49-F238E27FC236}">
                <a16:creationId xmlns:a16="http://schemas.microsoft.com/office/drawing/2014/main" id="{609C39B9-84E1-F53D-40D7-914EE5DD9061}"/>
              </a:ext>
            </a:extLst>
          </p:cNvPr>
          <p:cNvSpPr/>
          <p:nvPr/>
        </p:nvSpPr>
        <p:spPr>
          <a:xfrm>
            <a:off x="370800" y="3351928"/>
            <a:ext cx="7726816" cy="1319527"/>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1357984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98A25-2966-E0BE-C83C-4C371C10DC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980AFD-A2E1-8487-E04C-A7884570B909}"/>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要求分析</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1952CF4E-5D05-A952-D77B-EE51840322B4}"/>
              </a:ext>
            </a:extLst>
          </p:cNvPr>
          <p:cNvSpPr>
            <a:spLocks noGrp="1"/>
          </p:cNvSpPr>
          <p:nvPr>
            <p:ph sz="quarter" idx="4294967295"/>
          </p:nvPr>
        </p:nvSpPr>
        <p:spPr>
          <a:xfrm>
            <a:off x="481490" y="978298"/>
            <a:ext cx="11448000" cy="835726"/>
          </a:xfrm>
        </p:spPr>
        <p:txBody>
          <a:bodyPr/>
          <a:lstStyle/>
          <a:p>
            <a:r>
              <a:rPr lang="ja-JP" altLang="en-US" u="sng" dirty="0">
                <a:solidFill>
                  <a:schemeClr val="tx1"/>
                </a:solidFill>
              </a:rPr>
              <a:t>要求分析（</a:t>
            </a:r>
            <a:r>
              <a:rPr lang="en-US" altLang="ja-JP" u="sng" dirty="0">
                <a:solidFill>
                  <a:schemeClr val="tx1"/>
                </a:solidFill>
              </a:rPr>
              <a:t>Requirements Analysis</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rPr>
              <a:t>例）</a:t>
            </a:r>
            <a:r>
              <a:rPr lang="en-US" altLang="ja-JP" dirty="0">
                <a:solidFill>
                  <a:schemeClr val="tx1"/>
                </a:solidFill>
              </a:rPr>
              <a:t>ER</a:t>
            </a:r>
            <a:r>
              <a:rPr lang="ja-JP" altLang="en-US" dirty="0">
                <a:solidFill>
                  <a:schemeClr val="tx1"/>
                </a:solidFill>
              </a:rPr>
              <a:t>図（</a:t>
            </a:r>
            <a:r>
              <a:rPr lang="en-US" altLang="ja-JP" dirty="0">
                <a:solidFill>
                  <a:schemeClr val="tx1"/>
                </a:solidFill>
              </a:rPr>
              <a:t>Entity-Relationship</a:t>
            </a:r>
            <a:r>
              <a:rPr lang="ja-JP" altLang="en-US" dirty="0">
                <a:solidFill>
                  <a:schemeClr val="tx1"/>
                </a:solidFill>
              </a:rPr>
              <a:t> </a:t>
            </a:r>
            <a:r>
              <a:rPr lang="en-US" altLang="ja-JP" dirty="0">
                <a:solidFill>
                  <a:schemeClr val="tx1"/>
                </a:solidFill>
              </a:rPr>
              <a:t>Diagram</a:t>
            </a:r>
            <a:r>
              <a:rPr lang="ja-JP" altLang="en-US" dirty="0">
                <a:solidFill>
                  <a:schemeClr val="tx1"/>
                </a:solidFill>
              </a:rPr>
              <a:t>）とエンティティ定義書</a:t>
            </a:r>
            <a:endParaRPr lang="en-US" altLang="ja-JP" dirty="0">
              <a:solidFill>
                <a:schemeClr val="tx1"/>
              </a:solidFill>
            </a:endParaRPr>
          </a:p>
        </p:txBody>
      </p:sp>
      <p:pic>
        <p:nvPicPr>
          <p:cNvPr id="5" name="図 4" descr="概略図 が含まれている画像&#10;&#10;AI によって生成されたコンテンツは間違っている可能性があります。">
            <a:extLst>
              <a:ext uri="{FF2B5EF4-FFF2-40B4-BE49-F238E27FC236}">
                <a16:creationId xmlns:a16="http://schemas.microsoft.com/office/drawing/2014/main" id="{DE325EBD-55DE-5D80-B88E-DD416FEBEF35}"/>
              </a:ext>
            </a:extLst>
          </p:cNvPr>
          <p:cNvPicPr>
            <a:picLocks noChangeAspect="1"/>
          </p:cNvPicPr>
          <p:nvPr/>
        </p:nvPicPr>
        <p:blipFill>
          <a:blip r:embed="rId2"/>
          <a:stretch>
            <a:fillRect/>
          </a:stretch>
        </p:blipFill>
        <p:spPr>
          <a:xfrm>
            <a:off x="483018" y="1637414"/>
            <a:ext cx="5611782" cy="4436155"/>
          </a:xfrm>
          <a:prstGeom prst="rect">
            <a:avLst/>
          </a:prstGeom>
        </p:spPr>
      </p:pic>
      <p:sp>
        <p:nvSpPr>
          <p:cNvPr id="6" name="四角形: 角を丸くする 5">
            <a:extLst>
              <a:ext uri="{FF2B5EF4-FFF2-40B4-BE49-F238E27FC236}">
                <a16:creationId xmlns:a16="http://schemas.microsoft.com/office/drawing/2014/main" id="{661DAF7F-CC4A-4127-866E-6BF235B72EA8}"/>
              </a:ext>
            </a:extLst>
          </p:cNvPr>
          <p:cNvSpPr/>
          <p:nvPr/>
        </p:nvSpPr>
        <p:spPr>
          <a:xfrm>
            <a:off x="6293111" y="2187157"/>
            <a:ext cx="5438068" cy="613637"/>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dirty="0">
                <a:solidFill>
                  <a:schemeClr val="tx1"/>
                </a:solidFill>
                <a:latin typeface="+mn-ea"/>
              </a:rPr>
              <a:t>システム内で使用するデータの構造や関係性を視覚的に表現</a:t>
            </a:r>
            <a:endParaRPr kumimoji="1" lang="ja-JP" altLang="en-US" sz="1600" dirty="0">
              <a:solidFill>
                <a:schemeClr val="tx1"/>
              </a:solidFill>
            </a:endParaRPr>
          </a:p>
        </p:txBody>
      </p:sp>
      <p:pic>
        <p:nvPicPr>
          <p:cNvPr id="8" name="図 7" descr="テーブル&#10;&#10;AI によって生成されたコンテンツは間違っている可能性があります。">
            <a:extLst>
              <a:ext uri="{FF2B5EF4-FFF2-40B4-BE49-F238E27FC236}">
                <a16:creationId xmlns:a16="http://schemas.microsoft.com/office/drawing/2014/main" id="{BB95E9DD-61CC-944A-F8D6-989D7F54AE54}"/>
              </a:ext>
            </a:extLst>
          </p:cNvPr>
          <p:cNvPicPr>
            <a:picLocks noChangeAspect="1"/>
          </p:cNvPicPr>
          <p:nvPr/>
        </p:nvPicPr>
        <p:blipFill>
          <a:blip r:embed="rId3"/>
          <a:srcRect l="729" t="2469" r="938" b="2469"/>
          <a:stretch/>
        </p:blipFill>
        <p:spPr>
          <a:xfrm>
            <a:off x="5415615" y="3340100"/>
            <a:ext cx="6707986" cy="2401800"/>
          </a:xfrm>
          <a:prstGeom prst="rect">
            <a:avLst/>
          </a:prstGeom>
        </p:spPr>
      </p:pic>
      <p:sp>
        <p:nvSpPr>
          <p:cNvPr id="9" name="正方形/長方形 8">
            <a:extLst>
              <a:ext uri="{FF2B5EF4-FFF2-40B4-BE49-F238E27FC236}">
                <a16:creationId xmlns:a16="http://schemas.microsoft.com/office/drawing/2014/main" id="{A0B97846-1A14-7DFE-9941-65C3F053605F}"/>
              </a:ext>
            </a:extLst>
          </p:cNvPr>
          <p:cNvSpPr/>
          <p:nvPr/>
        </p:nvSpPr>
        <p:spPr>
          <a:xfrm>
            <a:off x="8331619" y="3173927"/>
            <a:ext cx="1599782" cy="36366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n-ea"/>
              </a:rPr>
              <a:t>エンティティ定義書</a:t>
            </a:r>
            <a:endParaRPr kumimoji="1" lang="ja-JP" altLang="en-US" sz="1400" dirty="0">
              <a:solidFill>
                <a:schemeClr val="bg1"/>
              </a:solidFill>
            </a:endParaRPr>
          </a:p>
        </p:txBody>
      </p:sp>
      <p:sp>
        <p:nvSpPr>
          <p:cNvPr id="10" name="正方形/長方形 9">
            <a:extLst>
              <a:ext uri="{FF2B5EF4-FFF2-40B4-BE49-F238E27FC236}">
                <a16:creationId xmlns:a16="http://schemas.microsoft.com/office/drawing/2014/main" id="{BB1896ED-7591-0683-383D-58C6F7E2A1F4}"/>
              </a:ext>
            </a:extLst>
          </p:cNvPr>
          <p:cNvSpPr/>
          <p:nvPr/>
        </p:nvSpPr>
        <p:spPr>
          <a:xfrm>
            <a:off x="238089" y="2332976"/>
            <a:ext cx="854112" cy="396000"/>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latin typeface="+mn-ea"/>
              </a:rPr>
              <a:t>ER</a:t>
            </a:r>
            <a:r>
              <a:rPr lang="ja-JP" altLang="en-US" sz="1400" dirty="0">
                <a:latin typeface="+mn-ea"/>
              </a:rPr>
              <a:t>図</a:t>
            </a:r>
            <a:endParaRPr kumimoji="1" lang="ja-JP" altLang="en-US" sz="1400" dirty="0">
              <a:solidFill>
                <a:schemeClr val="bg1"/>
              </a:solidFill>
            </a:endParaRPr>
          </a:p>
        </p:txBody>
      </p:sp>
    </p:spTree>
    <p:extLst>
      <p:ext uri="{BB962C8B-B14F-4D97-AF65-F5344CB8AC3E}">
        <p14:creationId xmlns:p14="http://schemas.microsoft.com/office/powerpoint/2010/main" val="151590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ED90E-A745-8792-7082-A0713FEDD7C3}"/>
            </a:ext>
          </a:extLst>
        </p:cNvPr>
        <p:cNvGrpSpPr/>
        <p:nvPr/>
      </p:nvGrpSpPr>
      <p:grpSpPr>
        <a:xfrm>
          <a:off x="0" y="0"/>
          <a:ext cx="0" cy="0"/>
          <a:chOff x="0" y="0"/>
          <a:chExt cx="0" cy="0"/>
        </a:xfrm>
      </p:grpSpPr>
      <p:sp>
        <p:nvSpPr>
          <p:cNvPr id="26" name="四角形: 角を丸くする 25">
            <a:extLst>
              <a:ext uri="{FF2B5EF4-FFF2-40B4-BE49-F238E27FC236}">
                <a16:creationId xmlns:a16="http://schemas.microsoft.com/office/drawing/2014/main" id="{9458F3A1-2BD7-935A-40B0-C0F2734C5249}"/>
              </a:ext>
            </a:extLst>
          </p:cNvPr>
          <p:cNvSpPr/>
          <p:nvPr/>
        </p:nvSpPr>
        <p:spPr>
          <a:xfrm>
            <a:off x="10111956" y="2432837"/>
            <a:ext cx="1800000" cy="3996000"/>
          </a:xfrm>
          <a:prstGeom prst="roundRect">
            <a:avLst>
              <a:gd name="adj" fmla="val 5129"/>
            </a:avLst>
          </a:prstGeom>
          <a:noFill/>
          <a:ln w="285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600" u="sng" dirty="0">
              <a:solidFill>
                <a:schemeClr val="tx1"/>
              </a:solidFill>
            </a:endParaRPr>
          </a:p>
        </p:txBody>
      </p:sp>
      <p:sp>
        <p:nvSpPr>
          <p:cNvPr id="2" name="タイトル 1">
            <a:extLst>
              <a:ext uri="{FF2B5EF4-FFF2-40B4-BE49-F238E27FC236}">
                <a16:creationId xmlns:a16="http://schemas.microsoft.com/office/drawing/2014/main" id="{B503EB1B-1400-68ED-90F6-D80C08296E6D}"/>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アーキテクチャ設計</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E627F04A-001D-1C58-FE25-824ABE6873B6}"/>
              </a:ext>
            </a:extLst>
          </p:cNvPr>
          <p:cNvSpPr>
            <a:spLocks noGrp="1"/>
          </p:cNvSpPr>
          <p:nvPr>
            <p:ph sz="quarter" idx="4294967295"/>
          </p:nvPr>
        </p:nvSpPr>
        <p:spPr>
          <a:xfrm>
            <a:off x="481490" y="978299"/>
            <a:ext cx="11448000" cy="789292"/>
          </a:xfrm>
        </p:spPr>
        <p:txBody>
          <a:bodyPr/>
          <a:lstStyle/>
          <a:p>
            <a:r>
              <a:rPr lang="ja-JP" altLang="en-US" u="sng" dirty="0">
                <a:solidFill>
                  <a:schemeClr val="tx1"/>
                </a:solidFill>
              </a:rPr>
              <a:t>アーキテクチャ設計（</a:t>
            </a:r>
            <a:r>
              <a:rPr lang="en-US" altLang="ja-JP" u="sng" dirty="0">
                <a:solidFill>
                  <a:schemeClr val="tx1"/>
                </a:solidFill>
              </a:rPr>
              <a:t>Architectural Design</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HiraKakuPro-W3"/>
              </a:rPr>
              <a:t>要求分析フェーズで定義した要件を</a:t>
            </a:r>
            <a:r>
              <a:rPr lang="ja-JP" altLang="en-US" dirty="0">
                <a:solidFill>
                  <a:schemeClr val="tx1"/>
                </a:solidFill>
                <a:latin typeface="HiraKakuPro-W3"/>
              </a:rPr>
              <a:t>実現するため</a:t>
            </a:r>
            <a:r>
              <a:rPr lang="ja-JP" altLang="en-US" b="0" i="0" dirty="0">
                <a:solidFill>
                  <a:schemeClr val="tx1"/>
                </a:solidFill>
                <a:effectLst/>
                <a:latin typeface="Helvetica Neue"/>
              </a:rPr>
              <a:t>の</a:t>
            </a:r>
            <a:endParaRPr lang="en-US" altLang="ja-JP" b="0" i="0" dirty="0">
              <a:solidFill>
                <a:schemeClr val="tx1"/>
              </a:solidFill>
              <a:effectLst/>
              <a:latin typeface="Helvetica Neue"/>
            </a:endParaRPr>
          </a:p>
          <a:p>
            <a:r>
              <a:rPr lang="ja-JP" altLang="en-US" sz="2000" b="1" i="0" dirty="0">
                <a:solidFill>
                  <a:schemeClr val="tx1"/>
                </a:solidFill>
                <a:effectLst/>
                <a:latin typeface="Helvetica Neue"/>
              </a:rPr>
              <a:t>実現方法</a:t>
            </a:r>
            <a:r>
              <a:rPr lang="ja-JP" altLang="en-US" b="0" i="0" dirty="0">
                <a:solidFill>
                  <a:schemeClr val="tx1"/>
                </a:solidFill>
                <a:effectLst/>
                <a:latin typeface="Helvetica Neue"/>
              </a:rPr>
              <a:t>（入出力、処理、データ構造など）</a:t>
            </a:r>
            <a:r>
              <a:rPr lang="ja-JP" altLang="en-US" b="0" i="0" dirty="0">
                <a:solidFill>
                  <a:schemeClr val="tx1"/>
                </a:solidFill>
                <a:effectLst/>
                <a:latin typeface="HiraKakuPro-W3"/>
              </a:rPr>
              <a:t>を決めるフェーズ</a:t>
            </a:r>
            <a:endParaRPr lang="en-US" altLang="ja-JP" u="sng" dirty="0">
              <a:solidFill>
                <a:schemeClr val="tx1"/>
              </a:solidFill>
            </a:endParaRPr>
          </a:p>
          <a:p>
            <a:endParaRPr lang="en-US" altLang="ja-JP" dirty="0">
              <a:solidFill>
                <a:schemeClr val="tx1"/>
              </a:solidFill>
            </a:endParaRPr>
          </a:p>
        </p:txBody>
      </p:sp>
      <p:sp>
        <p:nvSpPr>
          <p:cNvPr id="43" name="四角形: 角を丸くする 42">
            <a:extLst>
              <a:ext uri="{FF2B5EF4-FFF2-40B4-BE49-F238E27FC236}">
                <a16:creationId xmlns:a16="http://schemas.microsoft.com/office/drawing/2014/main" id="{54967AB8-8965-A96E-4F2C-32C19651472F}"/>
              </a:ext>
            </a:extLst>
          </p:cNvPr>
          <p:cNvSpPr/>
          <p:nvPr/>
        </p:nvSpPr>
        <p:spPr>
          <a:xfrm>
            <a:off x="519258" y="2432837"/>
            <a:ext cx="1800000" cy="3996000"/>
          </a:xfrm>
          <a:prstGeom prst="roundRect">
            <a:avLst>
              <a:gd name="adj" fmla="val 4482"/>
            </a:avLst>
          </a:prstGeom>
          <a:no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　　　　　</a:t>
            </a:r>
          </a:p>
        </p:txBody>
      </p:sp>
      <p:sp>
        <p:nvSpPr>
          <p:cNvPr id="44" name="四角形: 角を丸くする 43">
            <a:extLst>
              <a:ext uri="{FF2B5EF4-FFF2-40B4-BE49-F238E27FC236}">
                <a16:creationId xmlns:a16="http://schemas.microsoft.com/office/drawing/2014/main" id="{2FC1B807-11DF-6784-CDE6-0CE970F5CC93}"/>
              </a:ext>
            </a:extLst>
          </p:cNvPr>
          <p:cNvSpPr/>
          <p:nvPr/>
        </p:nvSpPr>
        <p:spPr>
          <a:xfrm>
            <a:off x="519258" y="2391622"/>
            <a:ext cx="1800000" cy="415975"/>
          </a:xfrm>
          <a:prstGeom prst="roundRect">
            <a:avLst/>
          </a:prstGeom>
          <a:solidFill>
            <a:srgbClr val="FF7A00"/>
          </a:solidFill>
          <a:ln w="28575">
            <a:solidFill>
              <a:srgbClr val="FF7A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rPr>
              <a:t>入力成果物（例）</a:t>
            </a:r>
            <a:endParaRPr kumimoji="1" lang="ja-JP" altLang="en-US" sz="1400" dirty="0">
              <a:solidFill>
                <a:schemeClr val="bg1"/>
              </a:solidFill>
            </a:endParaRPr>
          </a:p>
        </p:txBody>
      </p:sp>
      <p:sp>
        <p:nvSpPr>
          <p:cNvPr id="133" name="テキスト ボックス 132">
            <a:extLst>
              <a:ext uri="{FF2B5EF4-FFF2-40B4-BE49-F238E27FC236}">
                <a16:creationId xmlns:a16="http://schemas.microsoft.com/office/drawing/2014/main" id="{8A465435-B9FE-B851-A715-BD96E26BFF9A}"/>
              </a:ext>
            </a:extLst>
          </p:cNvPr>
          <p:cNvSpPr txBox="1"/>
          <p:nvPr/>
        </p:nvSpPr>
        <p:spPr>
          <a:xfrm>
            <a:off x="366374" y="1965424"/>
            <a:ext cx="7515224" cy="369332"/>
          </a:xfrm>
          <a:prstGeom prst="rect">
            <a:avLst/>
          </a:prstGeom>
          <a:noFill/>
        </p:spPr>
        <p:txBody>
          <a:bodyPr wrap="square">
            <a:spAutoFit/>
          </a:bodyPr>
          <a:lstStyle/>
          <a:p>
            <a:r>
              <a:rPr lang="ja-JP" altLang="en-US" dirty="0"/>
              <a:t>■主な作業</a:t>
            </a:r>
            <a:endParaRPr lang="ja-JP" altLang="en-US" sz="1800" b="0" i="0" dirty="0">
              <a:solidFill>
                <a:srgbClr val="333333"/>
              </a:solidFill>
              <a:effectLst/>
              <a:latin typeface="Helvetica Neue"/>
            </a:endParaRPr>
          </a:p>
        </p:txBody>
      </p:sp>
      <p:grpSp>
        <p:nvGrpSpPr>
          <p:cNvPr id="7" name="グループ化 6">
            <a:extLst>
              <a:ext uri="{FF2B5EF4-FFF2-40B4-BE49-F238E27FC236}">
                <a16:creationId xmlns:a16="http://schemas.microsoft.com/office/drawing/2014/main" id="{AE6DF1DE-FC27-8541-8170-8BDFFFF6335B}"/>
              </a:ext>
            </a:extLst>
          </p:cNvPr>
          <p:cNvGrpSpPr/>
          <p:nvPr/>
        </p:nvGrpSpPr>
        <p:grpSpPr>
          <a:xfrm>
            <a:off x="10315952" y="2951651"/>
            <a:ext cx="1440941" cy="483931"/>
            <a:chOff x="7425037" y="6210019"/>
            <a:chExt cx="1440941" cy="483931"/>
          </a:xfrm>
        </p:grpSpPr>
        <p:pic>
          <p:nvPicPr>
            <p:cNvPr id="8" name="グラフィックス 7" descr="ドキュメント 枠線">
              <a:extLst>
                <a:ext uri="{FF2B5EF4-FFF2-40B4-BE49-F238E27FC236}">
                  <a16:creationId xmlns:a16="http://schemas.microsoft.com/office/drawing/2014/main" id="{3DA40DC5-EDF8-11B5-10A7-8C8CAAC447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9" name="テキスト ボックス 8">
              <a:extLst>
                <a:ext uri="{FF2B5EF4-FFF2-40B4-BE49-F238E27FC236}">
                  <a16:creationId xmlns:a16="http://schemas.microsoft.com/office/drawing/2014/main" id="{1A94A08C-0760-6192-FFC8-296096106B67}"/>
                </a:ext>
              </a:extLst>
            </p:cNvPr>
            <p:cNvSpPr txBox="1"/>
            <p:nvPr/>
          </p:nvSpPr>
          <p:spPr>
            <a:xfrm>
              <a:off x="7821037" y="6295676"/>
              <a:ext cx="1044941" cy="398274"/>
            </a:xfrm>
            <a:prstGeom prst="rect">
              <a:avLst/>
            </a:prstGeom>
            <a:noFill/>
          </p:spPr>
          <p:txBody>
            <a:bodyPr wrap="square" lIns="0" rIns="0" rtlCol="0" anchor="ctr">
              <a:noAutofit/>
            </a:bodyPr>
            <a:lstStyle/>
            <a:p>
              <a:pPr defTabSz="288000"/>
              <a:r>
                <a:rPr lang="ja-JP" altLang="en-US" sz="1200" dirty="0">
                  <a:latin typeface="+mn-ea"/>
                </a:rPr>
                <a:t>オンライン処理</a:t>
              </a:r>
              <a:endParaRPr lang="en-US" altLang="ja-JP" sz="1200" dirty="0">
                <a:latin typeface="+mn-ea"/>
              </a:endParaRPr>
            </a:p>
            <a:p>
              <a:pPr defTabSz="288000"/>
              <a:r>
                <a:rPr lang="ja-JP" altLang="en-US" sz="1200" dirty="0">
                  <a:latin typeface="+mn-ea"/>
                </a:rPr>
                <a:t>設計書</a:t>
              </a:r>
              <a:endParaRPr lang="en-US" altLang="ja-JP" sz="1200" dirty="0">
                <a:latin typeface="+mn-ea"/>
              </a:endParaRPr>
            </a:p>
            <a:p>
              <a:pPr algn="r" defTabSz="288000"/>
              <a:r>
                <a:rPr lang="ja-JP" altLang="en-US" sz="1200" dirty="0">
                  <a:latin typeface="+mn-ea"/>
                </a:rPr>
                <a:t>　など</a:t>
              </a:r>
              <a:endParaRPr lang="en-US" altLang="ja-JP" sz="1200" dirty="0">
                <a:latin typeface="+mn-ea"/>
              </a:endParaRPr>
            </a:p>
          </p:txBody>
        </p:sp>
      </p:grpSp>
      <p:grpSp>
        <p:nvGrpSpPr>
          <p:cNvPr id="23" name="グループ化 22">
            <a:extLst>
              <a:ext uri="{FF2B5EF4-FFF2-40B4-BE49-F238E27FC236}">
                <a16:creationId xmlns:a16="http://schemas.microsoft.com/office/drawing/2014/main" id="{2A2F0556-A431-0768-D2AF-1B661902C1B3}"/>
              </a:ext>
            </a:extLst>
          </p:cNvPr>
          <p:cNvGrpSpPr/>
          <p:nvPr/>
        </p:nvGrpSpPr>
        <p:grpSpPr>
          <a:xfrm>
            <a:off x="10315952" y="3753090"/>
            <a:ext cx="1502848" cy="468952"/>
            <a:chOff x="7425037" y="6210019"/>
            <a:chExt cx="1502848" cy="468952"/>
          </a:xfrm>
        </p:grpSpPr>
        <p:pic>
          <p:nvPicPr>
            <p:cNvPr id="24" name="グラフィックス 23" descr="ドキュメント 枠線">
              <a:extLst>
                <a:ext uri="{FF2B5EF4-FFF2-40B4-BE49-F238E27FC236}">
                  <a16:creationId xmlns:a16="http://schemas.microsoft.com/office/drawing/2014/main" id="{EF23105E-8D76-26CE-2CAD-DBFA0EF39BB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25" name="テキスト ボックス 24">
              <a:extLst>
                <a:ext uri="{FF2B5EF4-FFF2-40B4-BE49-F238E27FC236}">
                  <a16:creationId xmlns:a16="http://schemas.microsoft.com/office/drawing/2014/main" id="{6CDFAF47-EEF0-930A-83A9-3ED4B946057D}"/>
                </a:ext>
              </a:extLst>
            </p:cNvPr>
            <p:cNvSpPr txBox="1"/>
            <p:nvPr/>
          </p:nvSpPr>
          <p:spPr>
            <a:xfrm>
              <a:off x="7821037" y="6280697"/>
              <a:ext cx="1106848" cy="398274"/>
            </a:xfrm>
            <a:prstGeom prst="rect">
              <a:avLst/>
            </a:prstGeom>
            <a:noFill/>
          </p:spPr>
          <p:txBody>
            <a:bodyPr wrap="square" lIns="0" rIns="0" rtlCol="0" anchor="ctr">
              <a:noAutofit/>
            </a:bodyPr>
            <a:lstStyle/>
            <a:p>
              <a:pPr defTabSz="288000"/>
              <a:r>
                <a:rPr lang="ja-JP" altLang="en-US" sz="1200" dirty="0">
                  <a:latin typeface="+mn-ea"/>
                </a:rPr>
                <a:t>画面設計書</a:t>
              </a:r>
              <a:endParaRPr lang="en-US" altLang="ja-JP" sz="1200" dirty="0">
                <a:latin typeface="+mn-ea"/>
              </a:endParaRPr>
            </a:p>
            <a:p>
              <a:pPr algn="r" defTabSz="288000"/>
              <a:r>
                <a:rPr lang="ja-JP" altLang="en-US" sz="1200" dirty="0">
                  <a:latin typeface="+mn-ea"/>
                </a:rPr>
                <a:t>　など</a:t>
              </a:r>
              <a:endParaRPr kumimoji="1" lang="ja-JP" altLang="en-US" sz="1200" dirty="0">
                <a:latin typeface="+mn-ea"/>
              </a:endParaRPr>
            </a:p>
          </p:txBody>
        </p:sp>
      </p:grpSp>
      <p:sp>
        <p:nvSpPr>
          <p:cNvPr id="27" name="四角形: 角を丸くする 26">
            <a:extLst>
              <a:ext uri="{FF2B5EF4-FFF2-40B4-BE49-F238E27FC236}">
                <a16:creationId xmlns:a16="http://schemas.microsoft.com/office/drawing/2014/main" id="{875D2133-2DBC-CB69-BCA4-8AEF77AC526E}"/>
              </a:ext>
            </a:extLst>
          </p:cNvPr>
          <p:cNvSpPr/>
          <p:nvPr/>
        </p:nvSpPr>
        <p:spPr>
          <a:xfrm>
            <a:off x="10111956" y="2391622"/>
            <a:ext cx="1800000" cy="415975"/>
          </a:xfrm>
          <a:prstGeom prst="roundRect">
            <a:avLst/>
          </a:prstGeom>
          <a:solidFill>
            <a:schemeClr val="accent3"/>
          </a:solidFill>
          <a:ln w="285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出力成果物（例）</a:t>
            </a:r>
          </a:p>
        </p:txBody>
      </p:sp>
      <p:grpSp>
        <p:nvGrpSpPr>
          <p:cNvPr id="28" name="グループ化 27">
            <a:extLst>
              <a:ext uri="{FF2B5EF4-FFF2-40B4-BE49-F238E27FC236}">
                <a16:creationId xmlns:a16="http://schemas.microsoft.com/office/drawing/2014/main" id="{BF50D048-B93D-6954-0CCF-FF7EF6091067}"/>
              </a:ext>
            </a:extLst>
          </p:cNvPr>
          <p:cNvGrpSpPr/>
          <p:nvPr/>
        </p:nvGrpSpPr>
        <p:grpSpPr>
          <a:xfrm>
            <a:off x="10315952" y="4618384"/>
            <a:ext cx="1391935" cy="398274"/>
            <a:chOff x="7425037" y="6210019"/>
            <a:chExt cx="1391935" cy="398274"/>
          </a:xfrm>
        </p:grpSpPr>
        <p:pic>
          <p:nvPicPr>
            <p:cNvPr id="29" name="グラフィックス 28" descr="ドキュメント 枠線">
              <a:extLst>
                <a:ext uri="{FF2B5EF4-FFF2-40B4-BE49-F238E27FC236}">
                  <a16:creationId xmlns:a16="http://schemas.microsoft.com/office/drawing/2014/main" id="{C3251253-DF0C-6906-6E60-F0273BBF0B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30" name="テキスト ボックス 29">
              <a:extLst>
                <a:ext uri="{FF2B5EF4-FFF2-40B4-BE49-F238E27FC236}">
                  <a16:creationId xmlns:a16="http://schemas.microsoft.com/office/drawing/2014/main" id="{4199191B-2C7C-F7B4-211E-7908950A03CB}"/>
                </a:ext>
              </a:extLst>
            </p:cNvPr>
            <p:cNvSpPr txBox="1"/>
            <p:nvPr/>
          </p:nvSpPr>
          <p:spPr>
            <a:xfrm>
              <a:off x="7804577" y="6210019"/>
              <a:ext cx="1012395" cy="398274"/>
            </a:xfrm>
            <a:prstGeom prst="rect">
              <a:avLst/>
            </a:prstGeom>
            <a:noFill/>
          </p:spPr>
          <p:txBody>
            <a:bodyPr wrap="square" lIns="0" rIns="0" rtlCol="0" anchor="ctr">
              <a:noAutofit/>
            </a:bodyPr>
            <a:lstStyle/>
            <a:p>
              <a:pPr algn="ctr" defTabSz="288000"/>
              <a:r>
                <a:rPr lang="ja-JP" altLang="en-US" sz="1200" dirty="0">
                  <a:latin typeface="+mn-ea"/>
                </a:rPr>
                <a:t>外部</a:t>
              </a:r>
              <a:r>
                <a:rPr lang="en-US" altLang="ja-JP" sz="1200" dirty="0">
                  <a:latin typeface="+mn-ea"/>
                </a:rPr>
                <a:t>IF</a:t>
              </a:r>
              <a:r>
                <a:rPr lang="ja-JP" altLang="en-US" sz="1200" dirty="0">
                  <a:latin typeface="+mn-ea"/>
                </a:rPr>
                <a:t>設計書</a:t>
              </a:r>
              <a:endParaRPr kumimoji="1" lang="ja-JP" altLang="en-US" sz="1200" dirty="0">
                <a:latin typeface="+mn-ea"/>
              </a:endParaRPr>
            </a:p>
          </p:txBody>
        </p:sp>
      </p:grpSp>
      <p:grpSp>
        <p:nvGrpSpPr>
          <p:cNvPr id="31" name="グループ化 30">
            <a:extLst>
              <a:ext uri="{FF2B5EF4-FFF2-40B4-BE49-F238E27FC236}">
                <a16:creationId xmlns:a16="http://schemas.microsoft.com/office/drawing/2014/main" id="{B3E26495-46BE-CBF0-5439-481EEE812072}"/>
              </a:ext>
            </a:extLst>
          </p:cNvPr>
          <p:cNvGrpSpPr/>
          <p:nvPr/>
        </p:nvGrpSpPr>
        <p:grpSpPr>
          <a:xfrm>
            <a:off x="10315952" y="5485952"/>
            <a:ext cx="1391935" cy="398274"/>
            <a:chOff x="7425037" y="6210019"/>
            <a:chExt cx="1391935" cy="398274"/>
          </a:xfrm>
        </p:grpSpPr>
        <p:pic>
          <p:nvPicPr>
            <p:cNvPr id="32" name="グラフィックス 31" descr="ドキュメント 枠線">
              <a:extLst>
                <a:ext uri="{FF2B5EF4-FFF2-40B4-BE49-F238E27FC236}">
                  <a16:creationId xmlns:a16="http://schemas.microsoft.com/office/drawing/2014/main" id="{AFED471F-B57E-DF17-94F4-29363B1DD2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35" name="テキスト ボックス 34">
              <a:extLst>
                <a:ext uri="{FF2B5EF4-FFF2-40B4-BE49-F238E27FC236}">
                  <a16:creationId xmlns:a16="http://schemas.microsoft.com/office/drawing/2014/main" id="{2D3F33B8-E2A7-99AF-9DAF-CEAE475BCFDB}"/>
                </a:ext>
              </a:extLst>
            </p:cNvPr>
            <p:cNvSpPr txBox="1"/>
            <p:nvPr/>
          </p:nvSpPr>
          <p:spPr>
            <a:xfrm>
              <a:off x="7804577" y="6210019"/>
              <a:ext cx="1012395" cy="398274"/>
            </a:xfrm>
            <a:prstGeom prst="rect">
              <a:avLst/>
            </a:prstGeom>
            <a:noFill/>
          </p:spPr>
          <p:txBody>
            <a:bodyPr wrap="square" lIns="0" rIns="0" rtlCol="0" anchor="ctr">
              <a:noAutofit/>
            </a:bodyPr>
            <a:lstStyle/>
            <a:p>
              <a:pPr algn="ctr" defTabSz="288000"/>
              <a:r>
                <a:rPr lang="ja-JP" altLang="en-US" sz="1200" dirty="0">
                  <a:latin typeface="+mn-ea"/>
                </a:rPr>
                <a:t>テーブル設計書</a:t>
              </a:r>
              <a:endParaRPr lang="en-US" altLang="ja-JP" sz="1200" dirty="0">
                <a:latin typeface="+mn-ea"/>
              </a:endParaRPr>
            </a:p>
            <a:p>
              <a:pPr algn="r" defTabSz="288000"/>
              <a:r>
                <a:rPr kumimoji="1" lang="ja-JP" altLang="en-US" sz="1200" dirty="0">
                  <a:latin typeface="+mn-ea"/>
                </a:rPr>
                <a:t>　など</a:t>
              </a:r>
            </a:p>
          </p:txBody>
        </p:sp>
      </p:grpSp>
      <p:grpSp>
        <p:nvGrpSpPr>
          <p:cNvPr id="36" name="グループ化 35">
            <a:extLst>
              <a:ext uri="{FF2B5EF4-FFF2-40B4-BE49-F238E27FC236}">
                <a16:creationId xmlns:a16="http://schemas.microsoft.com/office/drawing/2014/main" id="{71C2E828-E6A9-6360-6587-AC9823B87EF7}"/>
              </a:ext>
            </a:extLst>
          </p:cNvPr>
          <p:cNvGrpSpPr/>
          <p:nvPr/>
        </p:nvGrpSpPr>
        <p:grpSpPr>
          <a:xfrm>
            <a:off x="8633867" y="152748"/>
            <a:ext cx="3295623" cy="1890892"/>
            <a:chOff x="8633867" y="152748"/>
            <a:chExt cx="3295623" cy="1890892"/>
          </a:xfrm>
        </p:grpSpPr>
        <p:pic>
          <p:nvPicPr>
            <p:cNvPr id="37" name="図 36" descr="ダイアグラム&#10;&#10;AI によって生成されたコンテンツは間違っている可能性があります。">
              <a:extLst>
                <a:ext uri="{FF2B5EF4-FFF2-40B4-BE49-F238E27FC236}">
                  <a16:creationId xmlns:a16="http://schemas.microsoft.com/office/drawing/2014/main" id="{C899D160-6FC4-083C-2036-E1360F4AEDC9}"/>
                </a:ext>
              </a:extLst>
            </p:cNvPr>
            <p:cNvPicPr>
              <a:picLocks noChangeAspect="1"/>
            </p:cNvPicPr>
            <p:nvPr/>
          </p:nvPicPr>
          <p:blipFill>
            <a:blip r:embed="rId4"/>
            <a:stretch>
              <a:fillRect/>
            </a:stretch>
          </p:blipFill>
          <p:spPr>
            <a:xfrm>
              <a:off x="8633867" y="152748"/>
              <a:ext cx="3295623" cy="1890892"/>
            </a:xfrm>
            <a:prstGeom prst="rect">
              <a:avLst/>
            </a:prstGeom>
            <a:ln>
              <a:solidFill>
                <a:schemeClr val="tx1"/>
              </a:solidFill>
            </a:ln>
          </p:spPr>
        </p:pic>
        <p:sp>
          <p:nvSpPr>
            <p:cNvPr id="38" name="正方形/長方形 37">
              <a:extLst>
                <a:ext uri="{FF2B5EF4-FFF2-40B4-BE49-F238E27FC236}">
                  <a16:creationId xmlns:a16="http://schemas.microsoft.com/office/drawing/2014/main" id="{379B6845-FD71-4B2A-7736-070E1A370763}"/>
                </a:ext>
              </a:extLst>
            </p:cNvPr>
            <p:cNvSpPr/>
            <p:nvPr/>
          </p:nvSpPr>
          <p:spPr>
            <a:xfrm>
              <a:off x="9052756" y="1131039"/>
              <a:ext cx="900000" cy="396000"/>
            </a:xfrm>
            <a:prstGeom prst="rect">
              <a:avLst/>
            </a:prstGeom>
            <a:noFill/>
            <a:ln w="38100">
              <a:solidFill>
                <a:srgbClr val="FFC4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39" name="正方形/長方形 38">
              <a:extLst>
                <a:ext uri="{FF2B5EF4-FFF2-40B4-BE49-F238E27FC236}">
                  <a16:creationId xmlns:a16="http://schemas.microsoft.com/office/drawing/2014/main" id="{6C92C095-07B2-A424-706F-C5CBEC4BA3E6}"/>
                </a:ext>
              </a:extLst>
            </p:cNvPr>
            <p:cNvSpPr/>
            <p:nvPr/>
          </p:nvSpPr>
          <p:spPr>
            <a:xfrm>
              <a:off x="10313987"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0" name="矢印: 下 39">
              <a:extLst>
                <a:ext uri="{FF2B5EF4-FFF2-40B4-BE49-F238E27FC236}">
                  <a16:creationId xmlns:a16="http://schemas.microsoft.com/office/drawing/2014/main" id="{4A4497FC-42B1-FE40-1E29-9AE0E0754BB7}"/>
                </a:ext>
              </a:extLst>
            </p:cNvPr>
            <p:cNvSpPr/>
            <p:nvPr/>
          </p:nvSpPr>
          <p:spPr>
            <a:xfrm rot="16200000">
              <a:off x="8774743" y="1156421"/>
              <a:ext cx="210790" cy="345236"/>
            </a:xfrm>
            <a:prstGeom prst="downArrow">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10" name="楕円 9">
            <a:extLst>
              <a:ext uri="{FF2B5EF4-FFF2-40B4-BE49-F238E27FC236}">
                <a16:creationId xmlns:a16="http://schemas.microsoft.com/office/drawing/2014/main" id="{CCDC255E-698D-BD55-FF23-A7C81FAFAC90}"/>
              </a:ext>
            </a:extLst>
          </p:cNvPr>
          <p:cNvSpPr/>
          <p:nvPr/>
        </p:nvSpPr>
        <p:spPr>
          <a:xfrm>
            <a:off x="6401177" y="638695"/>
            <a:ext cx="1440000" cy="540000"/>
          </a:xfrm>
          <a:prstGeom prst="ellipse">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2400" b="1" dirty="0">
                <a:solidFill>
                  <a:schemeClr val="bg1"/>
                </a:solidFill>
              </a:rPr>
              <a:t>How</a:t>
            </a:r>
            <a:endParaRPr kumimoji="1" lang="ja-JP" altLang="en-US" sz="2400" b="1" dirty="0" err="1">
              <a:solidFill>
                <a:schemeClr val="bg1"/>
              </a:solidFill>
            </a:endParaRPr>
          </a:p>
        </p:txBody>
      </p:sp>
      <p:sp>
        <p:nvSpPr>
          <p:cNvPr id="16" name="楕円 15">
            <a:extLst>
              <a:ext uri="{FF2B5EF4-FFF2-40B4-BE49-F238E27FC236}">
                <a16:creationId xmlns:a16="http://schemas.microsoft.com/office/drawing/2014/main" id="{6CAC7D45-B4FF-36D7-0D0D-62340F37B0A6}"/>
              </a:ext>
            </a:extLst>
          </p:cNvPr>
          <p:cNvSpPr/>
          <p:nvPr/>
        </p:nvSpPr>
        <p:spPr>
          <a:xfrm>
            <a:off x="698518" y="5951749"/>
            <a:ext cx="1440000" cy="396000"/>
          </a:xfrm>
          <a:prstGeom prst="ellipse">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tx1"/>
                </a:solidFill>
              </a:rPr>
              <a:t>定義書</a:t>
            </a:r>
          </a:p>
        </p:txBody>
      </p:sp>
      <p:grpSp>
        <p:nvGrpSpPr>
          <p:cNvPr id="19" name="グループ化 18">
            <a:extLst>
              <a:ext uri="{FF2B5EF4-FFF2-40B4-BE49-F238E27FC236}">
                <a16:creationId xmlns:a16="http://schemas.microsoft.com/office/drawing/2014/main" id="{5CE809C3-9903-A123-7BB7-A2234076F3CF}"/>
              </a:ext>
            </a:extLst>
          </p:cNvPr>
          <p:cNvGrpSpPr/>
          <p:nvPr/>
        </p:nvGrpSpPr>
        <p:grpSpPr>
          <a:xfrm>
            <a:off x="555518" y="2951651"/>
            <a:ext cx="1568247" cy="470466"/>
            <a:chOff x="7425037" y="6210019"/>
            <a:chExt cx="1568247" cy="470466"/>
          </a:xfrm>
        </p:grpSpPr>
        <p:pic>
          <p:nvPicPr>
            <p:cNvPr id="20" name="グラフィックス 19" descr="ドキュメント 枠線">
              <a:extLst>
                <a:ext uri="{FF2B5EF4-FFF2-40B4-BE49-F238E27FC236}">
                  <a16:creationId xmlns:a16="http://schemas.microsoft.com/office/drawing/2014/main" id="{2B7C1858-BE5E-9803-AD88-DD63E83D09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21" name="テキスト ボックス 20">
              <a:extLst>
                <a:ext uri="{FF2B5EF4-FFF2-40B4-BE49-F238E27FC236}">
                  <a16:creationId xmlns:a16="http://schemas.microsoft.com/office/drawing/2014/main" id="{3EF5809D-16AE-AA84-FE25-D3E07539F521}"/>
                </a:ext>
              </a:extLst>
            </p:cNvPr>
            <p:cNvSpPr txBox="1"/>
            <p:nvPr/>
          </p:nvSpPr>
          <p:spPr>
            <a:xfrm>
              <a:off x="7804578" y="6282211"/>
              <a:ext cx="1188706" cy="398274"/>
            </a:xfrm>
            <a:prstGeom prst="rect">
              <a:avLst/>
            </a:prstGeom>
            <a:noFill/>
          </p:spPr>
          <p:txBody>
            <a:bodyPr wrap="square" lIns="0" rIns="0" rtlCol="0" anchor="ctr">
              <a:noAutofit/>
            </a:bodyPr>
            <a:lstStyle/>
            <a:p>
              <a:pPr algn="ctr" defTabSz="288000"/>
              <a:r>
                <a:rPr lang="ja-JP" altLang="en-US" sz="1200" dirty="0">
                  <a:latin typeface="+mn-ea"/>
                </a:rPr>
                <a:t>ユースケース定義書</a:t>
              </a:r>
              <a:endParaRPr lang="en-US" altLang="ja-JP" sz="1200" dirty="0">
                <a:latin typeface="+mn-ea"/>
              </a:endParaRPr>
            </a:p>
            <a:p>
              <a:pPr algn="r" defTabSz="288000"/>
              <a:r>
                <a:rPr kumimoji="1" lang="ja-JP" altLang="en-US" sz="1200" dirty="0">
                  <a:latin typeface="+mn-ea"/>
                </a:rPr>
                <a:t>　など</a:t>
              </a:r>
              <a:endParaRPr lang="en-US" altLang="ja-JP" sz="1200" dirty="0">
                <a:latin typeface="+mn-ea"/>
              </a:endParaRPr>
            </a:p>
          </p:txBody>
        </p:sp>
      </p:grpSp>
      <p:grpSp>
        <p:nvGrpSpPr>
          <p:cNvPr id="22" name="グループ化 21">
            <a:extLst>
              <a:ext uri="{FF2B5EF4-FFF2-40B4-BE49-F238E27FC236}">
                <a16:creationId xmlns:a16="http://schemas.microsoft.com/office/drawing/2014/main" id="{32463300-556F-10B3-1744-7920AD0D075F}"/>
              </a:ext>
            </a:extLst>
          </p:cNvPr>
          <p:cNvGrpSpPr/>
          <p:nvPr/>
        </p:nvGrpSpPr>
        <p:grpSpPr>
          <a:xfrm>
            <a:off x="555518" y="3760574"/>
            <a:ext cx="1568246" cy="398274"/>
            <a:chOff x="7425037" y="6210019"/>
            <a:chExt cx="1568246" cy="398274"/>
          </a:xfrm>
        </p:grpSpPr>
        <p:pic>
          <p:nvPicPr>
            <p:cNvPr id="33" name="グラフィックス 32" descr="ドキュメント 枠線">
              <a:extLst>
                <a:ext uri="{FF2B5EF4-FFF2-40B4-BE49-F238E27FC236}">
                  <a16:creationId xmlns:a16="http://schemas.microsoft.com/office/drawing/2014/main" id="{B6A1D4F3-00F1-1064-F997-FF576CEF31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34" name="テキスト ボックス 33">
              <a:extLst>
                <a:ext uri="{FF2B5EF4-FFF2-40B4-BE49-F238E27FC236}">
                  <a16:creationId xmlns:a16="http://schemas.microsoft.com/office/drawing/2014/main" id="{75DA57DB-A6D3-3494-5488-2A1D079B15B5}"/>
                </a:ext>
              </a:extLst>
            </p:cNvPr>
            <p:cNvSpPr txBox="1"/>
            <p:nvPr/>
          </p:nvSpPr>
          <p:spPr>
            <a:xfrm>
              <a:off x="7821037" y="6210019"/>
              <a:ext cx="1172246" cy="398274"/>
            </a:xfrm>
            <a:prstGeom prst="rect">
              <a:avLst/>
            </a:prstGeom>
            <a:noFill/>
          </p:spPr>
          <p:txBody>
            <a:bodyPr wrap="square" lIns="0" rIns="0" rtlCol="0" anchor="ctr">
              <a:noAutofit/>
            </a:bodyPr>
            <a:lstStyle/>
            <a:p>
              <a:pPr defTabSz="288000"/>
              <a:r>
                <a:rPr lang="ja-JP" altLang="en-US" sz="1200" dirty="0">
                  <a:latin typeface="+mn-ea"/>
                </a:rPr>
                <a:t>・画面遷移図</a:t>
              </a:r>
              <a:endParaRPr lang="en-US" altLang="ja-JP" sz="1200" dirty="0">
                <a:latin typeface="+mn-ea"/>
              </a:endParaRPr>
            </a:p>
            <a:p>
              <a:pPr defTabSz="288000"/>
              <a:r>
                <a:rPr kumimoji="1" lang="ja-JP" altLang="en-US" sz="1200" dirty="0">
                  <a:latin typeface="+mn-ea"/>
                </a:rPr>
                <a:t>・画面定義書　など</a:t>
              </a:r>
            </a:p>
          </p:txBody>
        </p:sp>
      </p:grpSp>
      <p:grpSp>
        <p:nvGrpSpPr>
          <p:cNvPr id="41" name="グループ化 40">
            <a:extLst>
              <a:ext uri="{FF2B5EF4-FFF2-40B4-BE49-F238E27FC236}">
                <a16:creationId xmlns:a16="http://schemas.microsoft.com/office/drawing/2014/main" id="{D3E0A434-4EC2-5618-94D1-839B7BBC5AF9}"/>
              </a:ext>
            </a:extLst>
          </p:cNvPr>
          <p:cNvGrpSpPr/>
          <p:nvPr/>
        </p:nvGrpSpPr>
        <p:grpSpPr>
          <a:xfrm>
            <a:off x="555518" y="4625868"/>
            <a:ext cx="1551786" cy="470466"/>
            <a:chOff x="7425037" y="6210019"/>
            <a:chExt cx="1551786" cy="470466"/>
          </a:xfrm>
        </p:grpSpPr>
        <p:pic>
          <p:nvPicPr>
            <p:cNvPr id="42" name="グラフィックス 41" descr="ドキュメント 枠線">
              <a:extLst>
                <a:ext uri="{FF2B5EF4-FFF2-40B4-BE49-F238E27FC236}">
                  <a16:creationId xmlns:a16="http://schemas.microsoft.com/office/drawing/2014/main" id="{60267428-B016-5BD4-DF4B-BD75092D40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45" name="テキスト ボックス 44">
              <a:extLst>
                <a:ext uri="{FF2B5EF4-FFF2-40B4-BE49-F238E27FC236}">
                  <a16:creationId xmlns:a16="http://schemas.microsoft.com/office/drawing/2014/main" id="{7CCEE017-328F-A031-6470-B347EA6616F9}"/>
                </a:ext>
              </a:extLst>
            </p:cNvPr>
            <p:cNvSpPr txBox="1"/>
            <p:nvPr/>
          </p:nvSpPr>
          <p:spPr>
            <a:xfrm>
              <a:off x="7804576" y="6282211"/>
              <a:ext cx="1172247" cy="398274"/>
            </a:xfrm>
            <a:prstGeom prst="rect">
              <a:avLst/>
            </a:prstGeom>
            <a:noFill/>
          </p:spPr>
          <p:txBody>
            <a:bodyPr wrap="square" lIns="0" rIns="0" rtlCol="0" anchor="ctr">
              <a:noAutofit/>
            </a:bodyPr>
            <a:lstStyle/>
            <a:p>
              <a:pPr defTabSz="288000"/>
              <a:r>
                <a:rPr lang="ja-JP" altLang="en-US" sz="1200" dirty="0">
                  <a:latin typeface="+mn-ea"/>
                </a:rPr>
                <a:t>外部</a:t>
              </a:r>
              <a:r>
                <a:rPr lang="en-US" altLang="ja-JP" sz="1200" dirty="0">
                  <a:latin typeface="+mn-ea"/>
                </a:rPr>
                <a:t>IF</a:t>
              </a:r>
              <a:r>
                <a:rPr lang="ja-JP" altLang="en-US" sz="1200" dirty="0">
                  <a:latin typeface="+mn-ea"/>
                </a:rPr>
                <a:t>定義書</a:t>
              </a:r>
              <a:endParaRPr lang="en-US" altLang="ja-JP" sz="1200" dirty="0">
                <a:latin typeface="+mn-ea"/>
              </a:endParaRPr>
            </a:p>
            <a:p>
              <a:pPr algn="r" defTabSz="288000"/>
              <a:r>
                <a:rPr lang="ja-JP" altLang="en-US" sz="1200" dirty="0">
                  <a:latin typeface="+mn-ea"/>
                </a:rPr>
                <a:t>　</a:t>
              </a:r>
              <a:r>
                <a:rPr kumimoji="1" lang="ja-JP" altLang="en-US" sz="1200" dirty="0">
                  <a:latin typeface="+mn-ea"/>
                </a:rPr>
                <a:t>など</a:t>
              </a:r>
            </a:p>
          </p:txBody>
        </p:sp>
      </p:grpSp>
      <p:grpSp>
        <p:nvGrpSpPr>
          <p:cNvPr id="46" name="グループ化 45">
            <a:extLst>
              <a:ext uri="{FF2B5EF4-FFF2-40B4-BE49-F238E27FC236}">
                <a16:creationId xmlns:a16="http://schemas.microsoft.com/office/drawing/2014/main" id="{36E33753-DC37-762D-43E9-7B485E2B5769}"/>
              </a:ext>
            </a:extLst>
          </p:cNvPr>
          <p:cNvGrpSpPr/>
          <p:nvPr/>
        </p:nvGrpSpPr>
        <p:grpSpPr>
          <a:xfrm>
            <a:off x="555518" y="5493436"/>
            <a:ext cx="1551786" cy="398274"/>
            <a:chOff x="7425037" y="6210019"/>
            <a:chExt cx="1551786" cy="398274"/>
          </a:xfrm>
        </p:grpSpPr>
        <p:pic>
          <p:nvPicPr>
            <p:cNvPr id="47" name="グラフィックス 46" descr="ドキュメント 枠線">
              <a:extLst>
                <a:ext uri="{FF2B5EF4-FFF2-40B4-BE49-F238E27FC236}">
                  <a16:creationId xmlns:a16="http://schemas.microsoft.com/office/drawing/2014/main" id="{5BA68B03-42FA-5CE3-5C80-D9661F7560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48" name="テキスト ボックス 47">
              <a:extLst>
                <a:ext uri="{FF2B5EF4-FFF2-40B4-BE49-F238E27FC236}">
                  <a16:creationId xmlns:a16="http://schemas.microsoft.com/office/drawing/2014/main" id="{B95A7DC9-4AD9-2CB3-FCB4-4CB25FE5A6B1}"/>
                </a:ext>
              </a:extLst>
            </p:cNvPr>
            <p:cNvSpPr txBox="1"/>
            <p:nvPr/>
          </p:nvSpPr>
          <p:spPr>
            <a:xfrm>
              <a:off x="7804577" y="6210019"/>
              <a:ext cx="1172246" cy="398274"/>
            </a:xfrm>
            <a:prstGeom prst="rect">
              <a:avLst/>
            </a:prstGeom>
            <a:noFill/>
          </p:spPr>
          <p:txBody>
            <a:bodyPr wrap="square" lIns="0" rIns="0" rtlCol="0" anchor="ctr">
              <a:noAutofit/>
            </a:bodyPr>
            <a:lstStyle/>
            <a:p>
              <a:pPr defTabSz="288000"/>
              <a:r>
                <a:rPr lang="ja-JP" altLang="en-US" sz="1200" dirty="0">
                  <a:latin typeface="+mn-ea"/>
                </a:rPr>
                <a:t>・</a:t>
              </a:r>
              <a:r>
                <a:rPr lang="en-US" altLang="ja-JP" sz="1200" dirty="0">
                  <a:latin typeface="+mn-ea"/>
                </a:rPr>
                <a:t>ER</a:t>
              </a:r>
              <a:r>
                <a:rPr lang="ja-JP" altLang="en-US" sz="1200" dirty="0">
                  <a:latin typeface="+mn-ea"/>
                </a:rPr>
                <a:t>図</a:t>
              </a:r>
              <a:endParaRPr lang="en-US" altLang="ja-JP" sz="1200" dirty="0">
                <a:latin typeface="+mn-ea"/>
              </a:endParaRPr>
            </a:p>
            <a:p>
              <a:pPr defTabSz="288000"/>
              <a:r>
                <a:rPr kumimoji="1" lang="ja-JP" altLang="en-US" sz="1200" dirty="0">
                  <a:latin typeface="+mn-ea"/>
                </a:rPr>
                <a:t>・エンティティ定義書</a:t>
              </a:r>
              <a:endParaRPr kumimoji="1" lang="en-US" altLang="ja-JP" sz="1200" dirty="0">
                <a:latin typeface="+mn-ea"/>
              </a:endParaRPr>
            </a:p>
            <a:p>
              <a:pPr algn="r" defTabSz="288000"/>
              <a:r>
                <a:rPr lang="ja-JP" altLang="en-US" sz="1200" dirty="0">
                  <a:latin typeface="+mn-ea"/>
                </a:rPr>
                <a:t>　など</a:t>
              </a:r>
              <a:endParaRPr kumimoji="1" lang="ja-JP" altLang="en-US" sz="1200" dirty="0">
                <a:latin typeface="+mn-ea"/>
              </a:endParaRPr>
            </a:p>
          </p:txBody>
        </p:sp>
      </p:grpSp>
      <p:sp>
        <p:nvSpPr>
          <p:cNvPr id="17" name="楕円 16">
            <a:extLst>
              <a:ext uri="{FF2B5EF4-FFF2-40B4-BE49-F238E27FC236}">
                <a16:creationId xmlns:a16="http://schemas.microsoft.com/office/drawing/2014/main" id="{A287B586-A99E-B84E-7474-EFA4353963B0}"/>
              </a:ext>
            </a:extLst>
          </p:cNvPr>
          <p:cNvSpPr/>
          <p:nvPr/>
        </p:nvSpPr>
        <p:spPr>
          <a:xfrm>
            <a:off x="10306756" y="5951749"/>
            <a:ext cx="1440000" cy="396000"/>
          </a:xfrm>
          <a:prstGeom prst="ellipse">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tx1"/>
                </a:solidFill>
              </a:rPr>
              <a:t>設計書</a:t>
            </a:r>
          </a:p>
        </p:txBody>
      </p:sp>
      <p:cxnSp>
        <p:nvCxnSpPr>
          <p:cNvPr id="106" name="直線矢印コネクタ 105">
            <a:extLst>
              <a:ext uri="{FF2B5EF4-FFF2-40B4-BE49-F238E27FC236}">
                <a16:creationId xmlns:a16="http://schemas.microsoft.com/office/drawing/2014/main" id="{C9E883C3-E19B-99CA-1ED1-6CD702484206}"/>
              </a:ext>
            </a:extLst>
          </p:cNvPr>
          <p:cNvCxnSpPr>
            <a:cxnSpLocks/>
          </p:cNvCxnSpPr>
          <p:nvPr/>
        </p:nvCxnSpPr>
        <p:spPr>
          <a:xfrm>
            <a:off x="2154060" y="4837452"/>
            <a:ext cx="8064000"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9" name="直線矢印コネクタ 58">
            <a:extLst>
              <a:ext uri="{FF2B5EF4-FFF2-40B4-BE49-F238E27FC236}">
                <a16:creationId xmlns:a16="http://schemas.microsoft.com/office/drawing/2014/main" id="{6A63BF61-3FB7-9391-1F04-C38610345DEA}"/>
              </a:ext>
            </a:extLst>
          </p:cNvPr>
          <p:cNvCxnSpPr>
            <a:cxnSpLocks/>
          </p:cNvCxnSpPr>
          <p:nvPr/>
        </p:nvCxnSpPr>
        <p:spPr>
          <a:xfrm>
            <a:off x="2154060" y="3997581"/>
            <a:ext cx="8064000"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直線矢印コネクタ 59">
            <a:extLst>
              <a:ext uri="{FF2B5EF4-FFF2-40B4-BE49-F238E27FC236}">
                <a16:creationId xmlns:a16="http://schemas.microsoft.com/office/drawing/2014/main" id="{AB989FF1-172D-3DFE-FEF0-B5491A6A46F9}"/>
              </a:ext>
            </a:extLst>
          </p:cNvPr>
          <p:cNvCxnSpPr>
            <a:cxnSpLocks/>
          </p:cNvCxnSpPr>
          <p:nvPr/>
        </p:nvCxnSpPr>
        <p:spPr>
          <a:xfrm>
            <a:off x="2154060" y="3145590"/>
            <a:ext cx="8064000"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1" name="直線矢印コネクタ 60">
            <a:extLst>
              <a:ext uri="{FF2B5EF4-FFF2-40B4-BE49-F238E27FC236}">
                <a16:creationId xmlns:a16="http://schemas.microsoft.com/office/drawing/2014/main" id="{3055C10B-E2DD-8A8C-B789-2D7B9F8134D3}"/>
              </a:ext>
            </a:extLst>
          </p:cNvPr>
          <p:cNvCxnSpPr>
            <a:cxnSpLocks/>
          </p:cNvCxnSpPr>
          <p:nvPr/>
        </p:nvCxnSpPr>
        <p:spPr>
          <a:xfrm>
            <a:off x="2154060" y="5691435"/>
            <a:ext cx="8064000"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4" name="正方形/長方形 53">
            <a:extLst>
              <a:ext uri="{FF2B5EF4-FFF2-40B4-BE49-F238E27FC236}">
                <a16:creationId xmlns:a16="http://schemas.microsoft.com/office/drawing/2014/main" id="{734519C8-A8F9-831A-1AAD-DC6AEC216C53}"/>
              </a:ext>
            </a:extLst>
          </p:cNvPr>
          <p:cNvSpPr/>
          <p:nvPr/>
        </p:nvSpPr>
        <p:spPr>
          <a:xfrm>
            <a:off x="2526484" y="2758374"/>
            <a:ext cx="7380000" cy="756000"/>
          </a:xfrm>
          <a:prstGeom prst="rect">
            <a:avLst/>
          </a:prstGeom>
          <a:solidFill>
            <a:srgbClr val="E0E7EC"/>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5" name="正方形/長方形 54">
            <a:extLst>
              <a:ext uri="{FF2B5EF4-FFF2-40B4-BE49-F238E27FC236}">
                <a16:creationId xmlns:a16="http://schemas.microsoft.com/office/drawing/2014/main" id="{0B1619A7-99B5-A57B-5510-483559551DD2}"/>
              </a:ext>
            </a:extLst>
          </p:cNvPr>
          <p:cNvSpPr/>
          <p:nvPr/>
        </p:nvSpPr>
        <p:spPr>
          <a:xfrm>
            <a:off x="2526484" y="3608176"/>
            <a:ext cx="7380000" cy="756000"/>
          </a:xfrm>
          <a:prstGeom prst="rect">
            <a:avLst/>
          </a:prstGeom>
          <a:solidFill>
            <a:srgbClr val="E0E7EC"/>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6" name="正方形/長方形 55">
            <a:extLst>
              <a:ext uri="{FF2B5EF4-FFF2-40B4-BE49-F238E27FC236}">
                <a16:creationId xmlns:a16="http://schemas.microsoft.com/office/drawing/2014/main" id="{F79FE036-6E2E-15C8-39E2-7741A4981988}"/>
              </a:ext>
            </a:extLst>
          </p:cNvPr>
          <p:cNvSpPr/>
          <p:nvPr/>
        </p:nvSpPr>
        <p:spPr>
          <a:xfrm>
            <a:off x="2526484" y="5307779"/>
            <a:ext cx="7380000" cy="756000"/>
          </a:xfrm>
          <a:prstGeom prst="rect">
            <a:avLst/>
          </a:prstGeom>
          <a:solidFill>
            <a:srgbClr val="E0E7EC"/>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57" name="正方形/長方形 56">
            <a:extLst>
              <a:ext uri="{FF2B5EF4-FFF2-40B4-BE49-F238E27FC236}">
                <a16:creationId xmlns:a16="http://schemas.microsoft.com/office/drawing/2014/main" id="{D9AFF283-08D6-E39B-1C75-6F9768F91357}"/>
              </a:ext>
            </a:extLst>
          </p:cNvPr>
          <p:cNvSpPr/>
          <p:nvPr/>
        </p:nvSpPr>
        <p:spPr>
          <a:xfrm>
            <a:off x="2526484" y="4457978"/>
            <a:ext cx="7380000" cy="756000"/>
          </a:xfrm>
          <a:prstGeom prst="rect">
            <a:avLst/>
          </a:prstGeom>
          <a:solidFill>
            <a:srgbClr val="E0E7EC"/>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7" name="正方形/長方形 96">
            <a:extLst>
              <a:ext uri="{FF2B5EF4-FFF2-40B4-BE49-F238E27FC236}">
                <a16:creationId xmlns:a16="http://schemas.microsoft.com/office/drawing/2014/main" id="{EADF826B-24AE-95BD-2F7F-D59AD1A601E4}"/>
              </a:ext>
            </a:extLst>
          </p:cNvPr>
          <p:cNvSpPr/>
          <p:nvPr/>
        </p:nvSpPr>
        <p:spPr>
          <a:xfrm>
            <a:off x="2519332" y="2758373"/>
            <a:ext cx="922104" cy="756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rPr>
              <a:t>処理設計</a:t>
            </a:r>
            <a:endParaRPr kumimoji="1" lang="ja-JP" altLang="en-US" sz="1400" dirty="0">
              <a:solidFill>
                <a:schemeClr val="bg1"/>
              </a:solidFill>
            </a:endParaRPr>
          </a:p>
        </p:txBody>
      </p:sp>
      <p:sp>
        <p:nvSpPr>
          <p:cNvPr id="98" name="正方形/長方形 97">
            <a:extLst>
              <a:ext uri="{FF2B5EF4-FFF2-40B4-BE49-F238E27FC236}">
                <a16:creationId xmlns:a16="http://schemas.microsoft.com/office/drawing/2014/main" id="{6E706784-C4FA-5144-4604-81426E5EF5EC}"/>
              </a:ext>
            </a:extLst>
          </p:cNvPr>
          <p:cNvSpPr/>
          <p:nvPr/>
        </p:nvSpPr>
        <p:spPr>
          <a:xfrm>
            <a:off x="2519332" y="3608129"/>
            <a:ext cx="922105" cy="756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dirty="0">
                <a:solidFill>
                  <a:schemeClr val="bg1"/>
                </a:solidFill>
              </a:rPr>
              <a:t>UI</a:t>
            </a:r>
            <a:r>
              <a:rPr lang="ja-JP" altLang="en-US" sz="1400" dirty="0">
                <a:solidFill>
                  <a:schemeClr val="bg1"/>
                </a:solidFill>
              </a:rPr>
              <a:t>設計</a:t>
            </a:r>
            <a:endParaRPr kumimoji="1" lang="ja-JP" altLang="en-US" sz="1400" dirty="0">
              <a:solidFill>
                <a:schemeClr val="bg1"/>
              </a:solidFill>
            </a:endParaRPr>
          </a:p>
        </p:txBody>
      </p:sp>
      <p:sp>
        <p:nvSpPr>
          <p:cNvPr id="99" name="正方形/長方形 98">
            <a:extLst>
              <a:ext uri="{FF2B5EF4-FFF2-40B4-BE49-F238E27FC236}">
                <a16:creationId xmlns:a16="http://schemas.microsoft.com/office/drawing/2014/main" id="{31FC4C45-254C-FFA7-5B7F-4734058A7081}"/>
              </a:ext>
            </a:extLst>
          </p:cNvPr>
          <p:cNvSpPr/>
          <p:nvPr/>
        </p:nvSpPr>
        <p:spPr>
          <a:xfrm>
            <a:off x="2519332" y="4457885"/>
            <a:ext cx="922105" cy="756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外部</a:t>
            </a:r>
            <a:r>
              <a:rPr kumimoji="1" lang="en-US" altLang="ja-JP" sz="1400" dirty="0">
                <a:solidFill>
                  <a:schemeClr val="bg1"/>
                </a:solidFill>
              </a:rPr>
              <a:t>IF</a:t>
            </a:r>
          </a:p>
          <a:p>
            <a:pPr algn="ctr"/>
            <a:r>
              <a:rPr kumimoji="1" lang="ja-JP" altLang="en-US" sz="1400" dirty="0">
                <a:solidFill>
                  <a:schemeClr val="bg1"/>
                </a:solidFill>
              </a:rPr>
              <a:t>設計</a:t>
            </a:r>
          </a:p>
        </p:txBody>
      </p:sp>
      <p:sp>
        <p:nvSpPr>
          <p:cNvPr id="100" name="正方形/長方形 99">
            <a:extLst>
              <a:ext uri="{FF2B5EF4-FFF2-40B4-BE49-F238E27FC236}">
                <a16:creationId xmlns:a16="http://schemas.microsoft.com/office/drawing/2014/main" id="{4B782719-15CB-A340-1E1A-0C37C78732F2}"/>
              </a:ext>
            </a:extLst>
          </p:cNvPr>
          <p:cNvSpPr/>
          <p:nvPr/>
        </p:nvSpPr>
        <p:spPr>
          <a:xfrm>
            <a:off x="2519332" y="5307641"/>
            <a:ext cx="922105" cy="7560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データモデル</a:t>
            </a:r>
            <a:endParaRPr kumimoji="1" lang="en-US" altLang="ja-JP" sz="1400" dirty="0">
              <a:solidFill>
                <a:schemeClr val="bg1"/>
              </a:solidFill>
            </a:endParaRPr>
          </a:p>
          <a:p>
            <a:pPr algn="ctr"/>
            <a:r>
              <a:rPr kumimoji="1" lang="ja-JP" altLang="en-US" sz="1400" dirty="0">
                <a:solidFill>
                  <a:schemeClr val="bg1"/>
                </a:solidFill>
              </a:rPr>
              <a:t>設計</a:t>
            </a:r>
          </a:p>
        </p:txBody>
      </p:sp>
      <p:sp>
        <p:nvSpPr>
          <p:cNvPr id="114" name="テキスト ボックス 113">
            <a:extLst>
              <a:ext uri="{FF2B5EF4-FFF2-40B4-BE49-F238E27FC236}">
                <a16:creationId xmlns:a16="http://schemas.microsoft.com/office/drawing/2014/main" id="{1684557D-E00C-5774-417A-3985173F96DD}"/>
              </a:ext>
            </a:extLst>
          </p:cNvPr>
          <p:cNvSpPr txBox="1"/>
          <p:nvPr/>
        </p:nvSpPr>
        <p:spPr>
          <a:xfrm>
            <a:off x="3459477" y="2843422"/>
            <a:ext cx="6521313" cy="584775"/>
          </a:xfrm>
          <a:prstGeom prst="rect">
            <a:avLst/>
          </a:prstGeom>
          <a:noFill/>
        </p:spPr>
        <p:txBody>
          <a:bodyPr wrap="square" anchor="ctr">
            <a:spAutoFit/>
          </a:bodyPr>
          <a:lstStyle/>
          <a:p>
            <a:pPr defTabSz="288000"/>
            <a:r>
              <a:rPr lang="ja-JP" altLang="en-US" sz="1600" dirty="0">
                <a:latin typeface="+mn-ea"/>
              </a:rPr>
              <a:t>処理（システムがリクエストを受けてから</a:t>
            </a:r>
            <a:r>
              <a:rPr lang="ja-JP" altLang="en-US" sz="1600" b="0" i="0" dirty="0">
                <a:effectLst/>
                <a:latin typeface="__Inter_a184c8"/>
              </a:rPr>
              <a:t>結果を返すまでの一連の動作</a:t>
            </a:r>
            <a:r>
              <a:rPr lang="ja-JP" altLang="en-US" sz="1600" dirty="0">
                <a:latin typeface="+mn-ea"/>
              </a:rPr>
              <a:t>）を設計</a:t>
            </a:r>
            <a:endParaRPr lang="en-US" altLang="ja-JP" sz="1600" dirty="0">
              <a:latin typeface="+mn-ea"/>
            </a:endParaRPr>
          </a:p>
          <a:p>
            <a:pPr defTabSz="288000"/>
            <a:r>
              <a:rPr lang="en-US" altLang="ja-JP" sz="1600" dirty="0">
                <a:latin typeface="+mn-ea"/>
              </a:rPr>
              <a:t>	</a:t>
            </a:r>
            <a:r>
              <a:rPr lang="ja-JP" altLang="en-US" sz="1600" dirty="0">
                <a:latin typeface="+mn-ea"/>
              </a:rPr>
              <a:t>　</a:t>
            </a:r>
            <a:r>
              <a:rPr lang="ja-JP" altLang="en-US" sz="1400" dirty="0">
                <a:latin typeface="+mn-ea"/>
              </a:rPr>
              <a:t>例）具体的な処理フローや業務ロジックの記載</a:t>
            </a:r>
            <a:endParaRPr lang="en-US" altLang="ja-JP" sz="1600" dirty="0">
              <a:latin typeface="+mn-ea"/>
            </a:endParaRPr>
          </a:p>
        </p:txBody>
      </p:sp>
      <p:sp>
        <p:nvSpPr>
          <p:cNvPr id="118" name="テキスト ボックス 117">
            <a:extLst>
              <a:ext uri="{FF2B5EF4-FFF2-40B4-BE49-F238E27FC236}">
                <a16:creationId xmlns:a16="http://schemas.microsoft.com/office/drawing/2014/main" id="{1B817DF1-00AB-B350-5D0A-0E8DA490A884}"/>
              </a:ext>
            </a:extLst>
          </p:cNvPr>
          <p:cNvSpPr txBox="1"/>
          <p:nvPr/>
        </p:nvSpPr>
        <p:spPr>
          <a:xfrm>
            <a:off x="3459477" y="4547172"/>
            <a:ext cx="6374327" cy="584775"/>
          </a:xfrm>
          <a:prstGeom prst="rect">
            <a:avLst/>
          </a:prstGeom>
          <a:noFill/>
        </p:spPr>
        <p:txBody>
          <a:bodyPr wrap="square" anchor="ctr">
            <a:spAutoFit/>
          </a:bodyPr>
          <a:lstStyle/>
          <a:p>
            <a:pPr algn="l" defTabSz="288000"/>
            <a:r>
              <a:rPr lang="ja-JP" altLang="en-US" sz="1600" dirty="0">
                <a:latin typeface="+mn-ea"/>
              </a:rPr>
              <a:t>定義した外部インターフェイスの仕様を設計</a:t>
            </a:r>
            <a:endParaRPr lang="en-US" altLang="ja-JP" sz="1600" dirty="0">
              <a:latin typeface="+mn-ea"/>
            </a:endParaRPr>
          </a:p>
          <a:p>
            <a:pPr algn="l" defTabSz="288000"/>
            <a:r>
              <a:rPr lang="en-US" altLang="ja-JP" sz="1600" dirty="0">
                <a:latin typeface="+mn-ea"/>
              </a:rPr>
              <a:t>	</a:t>
            </a:r>
            <a:r>
              <a:rPr lang="ja-JP" altLang="en-US" sz="1600" dirty="0">
                <a:latin typeface="+mn-ea"/>
              </a:rPr>
              <a:t>　</a:t>
            </a:r>
            <a:r>
              <a:rPr lang="ja-JP" altLang="en-US" sz="1400" dirty="0">
                <a:latin typeface="+mn-ea"/>
              </a:rPr>
              <a:t>例）受け渡すデータ項目の型や桁数、など</a:t>
            </a:r>
            <a:endParaRPr lang="en-US" altLang="ja-JP" sz="1600" dirty="0">
              <a:latin typeface="+mn-ea"/>
            </a:endParaRPr>
          </a:p>
        </p:txBody>
      </p:sp>
      <p:sp>
        <p:nvSpPr>
          <p:cNvPr id="119" name="テキスト ボックス 118">
            <a:extLst>
              <a:ext uri="{FF2B5EF4-FFF2-40B4-BE49-F238E27FC236}">
                <a16:creationId xmlns:a16="http://schemas.microsoft.com/office/drawing/2014/main" id="{9A72C095-314F-6587-C039-9A69573566EF}"/>
              </a:ext>
            </a:extLst>
          </p:cNvPr>
          <p:cNvSpPr txBox="1"/>
          <p:nvPr/>
        </p:nvSpPr>
        <p:spPr>
          <a:xfrm>
            <a:off x="3459477" y="5399048"/>
            <a:ext cx="6374327" cy="584775"/>
          </a:xfrm>
          <a:prstGeom prst="rect">
            <a:avLst/>
          </a:prstGeom>
          <a:noFill/>
        </p:spPr>
        <p:txBody>
          <a:bodyPr wrap="square" anchor="ctr">
            <a:spAutoFit/>
          </a:bodyPr>
          <a:lstStyle/>
          <a:p>
            <a:pPr algn="l" defTabSz="288000"/>
            <a:r>
              <a:rPr lang="ja-JP" altLang="en-US" sz="1600" b="0" i="0" dirty="0">
                <a:effectLst/>
                <a:latin typeface="__Inter_a184c8"/>
              </a:rPr>
              <a:t>実際のデータベース上で、どのようにデータを格納・管理するかを設計</a:t>
            </a:r>
            <a:endParaRPr lang="en-US" altLang="ja-JP" sz="1600" dirty="0">
              <a:latin typeface="__Inter_a184c8"/>
            </a:endParaRPr>
          </a:p>
          <a:p>
            <a:pPr algn="l" defTabSz="288000"/>
            <a:r>
              <a:rPr kumimoji="1" lang="en-US" altLang="ja-JP" sz="1600" dirty="0">
                <a:latin typeface="__Inter_a184c8"/>
              </a:rPr>
              <a:t>	</a:t>
            </a:r>
            <a:r>
              <a:rPr kumimoji="1" lang="ja-JP" altLang="en-US" sz="1600" dirty="0">
                <a:latin typeface="__Inter_a184c8"/>
              </a:rPr>
              <a:t>　</a:t>
            </a:r>
            <a:r>
              <a:rPr kumimoji="1" lang="ja-JP" altLang="en-US" sz="1400" dirty="0">
                <a:latin typeface="__Inter_a184c8"/>
              </a:rPr>
              <a:t>例）テーブルの主キー、データの型や桁数、など</a:t>
            </a:r>
            <a:endParaRPr kumimoji="1" lang="ja-JP" altLang="en-US" sz="1600" dirty="0">
              <a:latin typeface="+mn-ea"/>
            </a:endParaRPr>
          </a:p>
        </p:txBody>
      </p:sp>
      <p:sp>
        <p:nvSpPr>
          <p:cNvPr id="120" name="テキスト ボックス 119">
            <a:extLst>
              <a:ext uri="{FF2B5EF4-FFF2-40B4-BE49-F238E27FC236}">
                <a16:creationId xmlns:a16="http://schemas.microsoft.com/office/drawing/2014/main" id="{250C9218-A570-F166-56EA-7FB27A46E990}"/>
              </a:ext>
            </a:extLst>
          </p:cNvPr>
          <p:cNvSpPr txBox="1"/>
          <p:nvPr/>
        </p:nvSpPr>
        <p:spPr>
          <a:xfrm>
            <a:off x="3459477" y="3695297"/>
            <a:ext cx="6374327" cy="584775"/>
          </a:xfrm>
          <a:prstGeom prst="rect">
            <a:avLst/>
          </a:prstGeom>
          <a:noFill/>
        </p:spPr>
        <p:txBody>
          <a:bodyPr wrap="square" anchor="ctr">
            <a:spAutoFit/>
          </a:bodyPr>
          <a:lstStyle/>
          <a:p>
            <a:pPr algn="l" defTabSz="288000"/>
            <a:r>
              <a:rPr lang="ja-JP" altLang="en-US" sz="1600" dirty="0">
                <a:latin typeface="+mn-ea"/>
              </a:rPr>
              <a:t>定義した画面や帳票、メッセージのレイアウトや項目を詳細化</a:t>
            </a:r>
            <a:endParaRPr lang="en-US" altLang="ja-JP" sz="1600" dirty="0">
              <a:latin typeface="+mn-ea"/>
            </a:endParaRPr>
          </a:p>
          <a:p>
            <a:pPr algn="l" defTabSz="288000"/>
            <a:r>
              <a:rPr lang="en-US" altLang="ja-JP" sz="1600" dirty="0">
                <a:latin typeface="+mn-ea"/>
              </a:rPr>
              <a:t>	</a:t>
            </a:r>
            <a:r>
              <a:rPr lang="ja-JP" altLang="en-US" sz="1600" dirty="0">
                <a:latin typeface="+mn-ea"/>
              </a:rPr>
              <a:t>　</a:t>
            </a:r>
            <a:r>
              <a:rPr lang="ja-JP" altLang="en-US" sz="1400" dirty="0">
                <a:latin typeface="+mn-ea"/>
              </a:rPr>
              <a:t>例）入力</a:t>
            </a:r>
            <a:r>
              <a:rPr lang="en-US" altLang="ja-JP" sz="1400" dirty="0">
                <a:latin typeface="+mn-ea"/>
              </a:rPr>
              <a:t>/</a:t>
            </a:r>
            <a:r>
              <a:rPr lang="ja-JP" altLang="en-US" sz="1400" dirty="0">
                <a:latin typeface="+mn-ea"/>
              </a:rPr>
              <a:t>出力などのテキストの種別、文字のフォントや大きさ、色や配置</a:t>
            </a:r>
            <a:endParaRPr lang="en-US" altLang="ja-JP" sz="1600" dirty="0">
              <a:latin typeface="+mn-ea"/>
            </a:endParaRPr>
          </a:p>
        </p:txBody>
      </p:sp>
    </p:spTree>
    <p:extLst>
      <p:ext uri="{BB962C8B-B14F-4D97-AF65-F5344CB8AC3E}">
        <p14:creationId xmlns:p14="http://schemas.microsoft.com/office/powerpoint/2010/main" val="3142425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9D592-04DC-0705-FBA5-C2F2B72D80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FC33D0-D3C8-36C3-887C-15669525C2BE}"/>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アーキテクチャ設計</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103F98B7-70E5-92D8-70A8-47EBEDC58539}"/>
              </a:ext>
            </a:extLst>
          </p:cNvPr>
          <p:cNvSpPr>
            <a:spLocks noGrp="1"/>
          </p:cNvSpPr>
          <p:nvPr>
            <p:ph sz="quarter" idx="4294967295"/>
          </p:nvPr>
        </p:nvSpPr>
        <p:spPr>
          <a:xfrm>
            <a:off x="481490" y="978298"/>
            <a:ext cx="11448000" cy="4939644"/>
          </a:xfrm>
        </p:spPr>
        <p:txBody>
          <a:bodyPr/>
          <a:lstStyle/>
          <a:p>
            <a:r>
              <a:rPr lang="ja-JP" altLang="en-US" u="sng" dirty="0">
                <a:solidFill>
                  <a:schemeClr val="tx1"/>
                </a:solidFill>
              </a:rPr>
              <a:t>アーキテクチャ設計（</a:t>
            </a:r>
            <a:r>
              <a:rPr lang="en-US" altLang="ja-JP" u="sng" dirty="0">
                <a:solidFill>
                  <a:schemeClr val="tx1"/>
                </a:solidFill>
              </a:rPr>
              <a:t>Architectural Design</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HiraKakuPro-W3"/>
              </a:rPr>
              <a:t>例）</a:t>
            </a:r>
            <a:r>
              <a:rPr lang="ja-JP" altLang="en-US" sz="1800" dirty="0">
                <a:latin typeface="+mn-ea"/>
              </a:rPr>
              <a:t>オンライン処理設計書</a:t>
            </a:r>
            <a:endParaRPr lang="en-US" altLang="ja-JP" sz="1800" dirty="0">
              <a:latin typeface="+mn-ea"/>
            </a:endParaRPr>
          </a:p>
        </p:txBody>
      </p:sp>
      <p:pic>
        <p:nvPicPr>
          <p:cNvPr id="8" name="図 7" descr="グラフィカル ユーザー インターフェイス&#10;&#10;AI によって生成されたコンテンツは間違っている可能性があります。">
            <a:extLst>
              <a:ext uri="{FF2B5EF4-FFF2-40B4-BE49-F238E27FC236}">
                <a16:creationId xmlns:a16="http://schemas.microsoft.com/office/drawing/2014/main" id="{BF3819C6-F7EC-9517-06E3-7AFB19B7747D}"/>
              </a:ext>
            </a:extLst>
          </p:cNvPr>
          <p:cNvPicPr>
            <a:picLocks noChangeAspect="1"/>
          </p:cNvPicPr>
          <p:nvPr/>
        </p:nvPicPr>
        <p:blipFill>
          <a:blip r:embed="rId2"/>
          <a:srcRect l="1790" t="11470" r="45346" b="13972"/>
          <a:stretch/>
        </p:blipFill>
        <p:spPr>
          <a:xfrm>
            <a:off x="481490" y="1583556"/>
            <a:ext cx="5320811" cy="4827878"/>
          </a:xfrm>
          <a:prstGeom prst="rect">
            <a:avLst/>
          </a:prstGeom>
        </p:spPr>
      </p:pic>
      <p:pic>
        <p:nvPicPr>
          <p:cNvPr id="10" name="図 9" descr="グラフィカル ユーザー インターフェイス, アプリケーション, Word&#10;&#10;AI によって生成されたコンテンツは間違っている可能性があります。">
            <a:extLst>
              <a:ext uri="{FF2B5EF4-FFF2-40B4-BE49-F238E27FC236}">
                <a16:creationId xmlns:a16="http://schemas.microsoft.com/office/drawing/2014/main" id="{85055B6C-6200-E9A3-9131-BC14688A72D2}"/>
              </a:ext>
            </a:extLst>
          </p:cNvPr>
          <p:cNvPicPr>
            <a:picLocks noChangeAspect="1"/>
          </p:cNvPicPr>
          <p:nvPr/>
        </p:nvPicPr>
        <p:blipFill>
          <a:blip r:embed="rId3"/>
          <a:srcRect l="1591" t="12327" r="45545" b="23974"/>
          <a:stretch/>
        </p:blipFill>
        <p:spPr>
          <a:xfrm>
            <a:off x="6048267" y="2042898"/>
            <a:ext cx="5635256" cy="4368536"/>
          </a:xfrm>
          <a:prstGeom prst="rect">
            <a:avLst/>
          </a:prstGeom>
        </p:spPr>
      </p:pic>
      <p:sp>
        <p:nvSpPr>
          <p:cNvPr id="14" name="正方形/長方形 13">
            <a:extLst>
              <a:ext uri="{FF2B5EF4-FFF2-40B4-BE49-F238E27FC236}">
                <a16:creationId xmlns:a16="http://schemas.microsoft.com/office/drawing/2014/main" id="{5F3EA352-0DE5-52F9-E73A-1A0019B28132}"/>
              </a:ext>
            </a:extLst>
          </p:cNvPr>
          <p:cNvSpPr/>
          <p:nvPr/>
        </p:nvSpPr>
        <p:spPr>
          <a:xfrm>
            <a:off x="4371443" y="3174939"/>
            <a:ext cx="953905" cy="37883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処理フロー</a:t>
            </a:r>
          </a:p>
        </p:txBody>
      </p:sp>
      <p:sp>
        <p:nvSpPr>
          <p:cNvPr id="15" name="正方形/長方形 14">
            <a:extLst>
              <a:ext uri="{FF2B5EF4-FFF2-40B4-BE49-F238E27FC236}">
                <a16:creationId xmlns:a16="http://schemas.microsoft.com/office/drawing/2014/main" id="{A9436F1F-F91C-7BBE-83A5-4A453671B549}"/>
              </a:ext>
            </a:extLst>
          </p:cNvPr>
          <p:cNvSpPr/>
          <p:nvPr/>
        </p:nvSpPr>
        <p:spPr>
          <a:xfrm>
            <a:off x="423031" y="3553773"/>
            <a:ext cx="5379269" cy="2857662"/>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7" name="正方形/長方形 16">
            <a:extLst>
              <a:ext uri="{FF2B5EF4-FFF2-40B4-BE49-F238E27FC236}">
                <a16:creationId xmlns:a16="http://schemas.microsoft.com/office/drawing/2014/main" id="{A648BA51-EE00-6BCF-2DA3-A9FBADE642BC}"/>
              </a:ext>
            </a:extLst>
          </p:cNvPr>
          <p:cNvSpPr/>
          <p:nvPr/>
        </p:nvSpPr>
        <p:spPr>
          <a:xfrm>
            <a:off x="6048266" y="2642917"/>
            <a:ext cx="5635256" cy="3768517"/>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6" name="正方形/長方形 15">
            <a:extLst>
              <a:ext uri="{FF2B5EF4-FFF2-40B4-BE49-F238E27FC236}">
                <a16:creationId xmlns:a16="http://schemas.microsoft.com/office/drawing/2014/main" id="{03223E8E-3615-D458-82DB-6A4296E6E2FE}"/>
              </a:ext>
            </a:extLst>
          </p:cNvPr>
          <p:cNvSpPr/>
          <p:nvPr/>
        </p:nvSpPr>
        <p:spPr>
          <a:xfrm>
            <a:off x="10887741" y="5596437"/>
            <a:ext cx="1164732" cy="37883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処理ロジック</a:t>
            </a:r>
          </a:p>
        </p:txBody>
      </p:sp>
      <p:sp>
        <p:nvSpPr>
          <p:cNvPr id="6" name="四角形: 角を丸くする 5">
            <a:extLst>
              <a:ext uri="{FF2B5EF4-FFF2-40B4-BE49-F238E27FC236}">
                <a16:creationId xmlns:a16="http://schemas.microsoft.com/office/drawing/2014/main" id="{C1635142-D39C-913C-6A63-38AF2A70C80A}"/>
              </a:ext>
            </a:extLst>
          </p:cNvPr>
          <p:cNvSpPr/>
          <p:nvPr/>
        </p:nvSpPr>
        <p:spPr>
          <a:xfrm>
            <a:off x="5860760" y="1371932"/>
            <a:ext cx="4793257" cy="613637"/>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dirty="0">
                <a:solidFill>
                  <a:schemeClr val="tx1"/>
                </a:solidFill>
                <a:latin typeface="+mn-ea"/>
              </a:rPr>
              <a:t>対象処理内の流れやロジックを設計する</a:t>
            </a:r>
            <a:endParaRPr kumimoji="1" lang="ja-JP" altLang="en-US" sz="1600" dirty="0">
              <a:solidFill>
                <a:schemeClr val="tx1"/>
              </a:solidFill>
            </a:endParaRPr>
          </a:p>
        </p:txBody>
      </p:sp>
    </p:spTree>
    <p:extLst>
      <p:ext uri="{BB962C8B-B14F-4D97-AF65-F5344CB8AC3E}">
        <p14:creationId xmlns:p14="http://schemas.microsoft.com/office/powerpoint/2010/main" val="4336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3F969-28D4-5D6D-C0D3-A0BB76518C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F6C4B6-C539-7ACF-33D8-C386AEA1C520}"/>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アーキテクチャ設計</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ECCB15BC-1C44-9DF0-6BB2-466C7C7C54D2}"/>
              </a:ext>
            </a:extLst>
          </p:cNvPr>
          <p:cNvSpPr>
            <a:spLocks noGrp="1"/>
          </p:cNvSpPr>
          <p:nvPr>
            <p:ph sz="quarter" idx="4294967295"/>
          </p:nvPr>
        </p:nvSpPr>
        <p:spPr>
          <a:xfrm>
            <a:off x="481490" y="978298"/>
            <a:ext cx="11448000" cy="4939644"/>
          </a:xfrm>
        </p:spPr>
        <p:txBody>
          <a:bodyPr/>
          <a:lstStyle/>
          <a:p>
            <a:r>
              <a:rPr lang="ja-JP" altLang="en-US" u="sng" dirty="0">
                <a:solidFill>
                  <a:schemeClr val="tx1"/>
                </a:solidFill>
              </a:rPr>
              <a:t>アーキテクチャ設計（</a:t>
            </a:r>
            <a:r>
              <a:rPr lang="en-US" altLang="ja-JP" u="sng" dirty="0">
                <a:solidFill>
                  <a:schemeClr val="tx1"/>
                </a:solidFill>
              </a:rPr>
              <a:t>Architectural Design</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HiraKakuPro-W3"/>
              </a:rPr>
              <a:t>例）</a:t>
            </a:r>
            <a:r>
              <a:rPr lang="ja-JP" altLang="en-US" sz="1800" dirty="0">
                <a:latin typeface="+mn-ea"/>
              </a:rPr>
              <a:t>画面設計書</a:t>
            </a:r>
            <a:endParaRPr lang="en-US" altLang="ja-JP" sz="1800" dirty="0">
              <a:latin typeface="+mn-ea"/>
            </a:endParaRPr>
          </a:p>
        </p:txBody>
      </p:sp>
      <p:pic>
        <p:nvPicPr>
          <p:cNvPr id="4" name="図 3">
            <a:extLst>
              <a:ext uri="{FF2B5EF4-FFF2-40B4-BE49-F238E27FC236}">
                <a16:creationId xmlns:a16="http://schemas.microsoft.com/office/drawing/2014/main" id="{3D6E4264-3A0E-5AC4-87F0-EA0EC3E99251}"/>
              </a:ext>
            </a:extLst>
          </p:cNvPr>
          <p:cNvPicPr>
            <a:picLocks noChangeAspect="1"/>
          </p:cNvPicPr>
          <p:nvPr/>
        </p:nvPicPr>
        <p:blipFill>
          <a:blip r:embed="rId2"/>
          <a:srcRect l="13140" t="11963"/>
          <a:stretch/>
        </p:blipFill>
        <p:spPr>
          <a:xfrm>
            <a:off x="370800" y="1570974"/>
            <a:ext cx="3869021" cy="2733675"/>
          </a:xfrm>
          <a:prstGeom prst="rect">
            <a:avLst/>
          </a:prstGeom>
        </p:spPr>
      </p:pic>
      <p:pic>
        <p:nvPicPr>
          <p:cNvPr id="5" name="図 4">
            <a:extLst>
              <a:ext uri="{FF2B5EF4-FFF2-40B4-BE49-F238E27FC236}">
                <a16:creationId xmlns:a16="http://schemas.microsoft.com/office/drawing/2014/main" id="{DFF77138-3F8C-02A2-A5DD-6134279986F0}"/>
              </a:ext>
            </a:extLst>
          </p:cNvPr>
          <p:cNvPicPr>
            <a:picLocks noChangeAspect="1"/>
          </p:cNvPicPr>
          <p:nvPr/>
        </p:nvPicPr>
        <p:blipFill>
          <a:blip r:embed="rId3"/>
          <a:srcRect l="1881" t="22029" r="9448" b="23647"/>
          <a:stretch/>
        </p:blipFill>
        <p:spPr>
          <a:xfrm>
            <a:off x="3402419" y="3046236"/>
            <a:ext cx="8527071" cy="3360914"/>
          </a:xfrm>
          <a:prstGeom prst="rect">
            <a:avLst/>
          </a:prstGeom>
        </p:spPr>
      </p:pic>
      <p:sp>
        <p:nvSpPr>
          <p:cNvPr id="6" name="四角形: 角を丸くする 5">
            <a:extLst>
              <a:ext uri="{FF2B5EF4-FFF2-40B4-BE49-F238E27FC236}">
                <a16:creationId xmlns:a16="http://schemas.microsoft.com/office/drawing/2014/main" id="{3731A0DE-B339-FFEC-F3F8-94E8A1CCEE72}"/>
              </a:ext>
            </a:extLst>
          </p:cNvPr>
          <p:cNvSpPr/>
          <p:nvPr/>
        </p:nvSpPr>
        <p:spPr>
          <a:xfrm>
            <a:off x="5401340" y="1570974"/>
            <a:ext cx="5858540" cy="757556"/>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a:solidFill>
                  <a:schemeClr val="tx1"/>
                </a:solidFill>
                <a:latin typeface="+mn-ea"/>
              </a:rPr>
              <a:t>定義した画面や帳票、メッセージのレイアウトや項目を詳細化する</a:t>
            </a:r>
            <a:endParaRPr kumimoji="1" lang="ja-JP" altLang="en-US" sz="1600" dirty="0" err="1">
              <a:solidFill>
                <a:schemeClr val="tx1"/>
              </a:solidFill>
            </a:endParaRPr>
          </a:p>
        </p:txBody>
      </p:sp>
      <p:sp>
        <p:nvSpPr>
          <p:cNvPr id="7" name="正方形/長方形 6">
            <a:extLst>
              <a:ext uri="{FF2B5EF4-FFF2-40B4-BE49-F238E27FC236}">
                <a16:creationId xmlns:a16="http://schemas.microsoft.com/office/drawing/2014/main" id="{2A16385A-FA0F-2945-290D-0D654427C22E}"/>
              </a:ext>
            </a:extLst>
          </p:cNvPr>
          <p:cNvSpPr/>
          <p:nvPr/>
        </p:nvSpPr>
        <p:spPr>
          <a:xfrm>
            <a:off x="9898914" y="3656223"/>
            <a:ext cx="1531087" cy="52237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項目ごとに</a:t>
            </a:r>
            <a:endParaRPr kumimoji="1" lang="en-US" altLang="ja-JP" sz="1400" dirty="0">
              <a:solidFill>
                <a:schemeClr val="bg1"/>
              </a:solidFill>
            </a:endParaRPr>
          </a:p>
          <a:p>
            <a:pPr algn="ctr"/>
            <a:r>
              <a:rPr kumimoji="1" lang="ja-JP" altLang="en-US" sz="1400" dirty="0">
                <a:solidFill>
                  <a:schemeClr val="bg1"/>
                </a:solidFill>
              </a:rPr>
              <a:t>種別や色等を指定</a:t>
            </a:r>
          </a:p>
        </p:txBody>
      </p:sp>
      <p:sp>
        <p:nvSpPr>
          <p:cNvPr id="8" name="正方形/長方形 7">
            <a:extLst>
              <a:ext uri="{FF2B5EF4-FFF2-40B4-BE49-F238E27FC236}">
                <a16:creationId xmlns:a16="http://schemas.microsoft.com/office/drawing/2014/main" id="{58A58142-1DEB-9CCF-24EA-54BF0B3DFFE5}"/>
              </a:ext>
            </a:extLst>
          </p:cNvPr>
          <p:cNvSpPr/>
          <p:nvPr/>
        </p:nvSpPr>
        <p:spPr>
          <a:xfrm>
            <a:off x="4954772" y="3450266"/>
            <a:ext cx="4922876" cy="298208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3602386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6383E-1D93-4F68-8C12-4225EEF2B31C}"/>
            </a:ext>
          </a:extLst>
        </p:cNvPr>
        <p:cNvGrpSpPr/>
        <p:nvPr/>
      </p:nvGrpSpPr>
      <p:grpSpPr>
        <a:xfrm>
          <a:off x="0" y="0"/>
          <a:ext cx="0" cy="0"/>
          <a:chOff x="0" y="0"/>
          <a:chExt cx="0" cy="0"/>
        </a:xfrm>
      </p:grpSpPr>
      <p:pic>
        <p:nvPicPr>
          <p:cNvPr id="12" name="図 11" descr="グラフィカル ユーザー インターフェイス が含まれている画像&#10;&#10;AI によって生成されたコンテンツは間違っている可能性があります。">
            <a:extLst>
              <a:ext uri="{FF2B5EF4-FFF2-40B4-BE49-F238E27FC236}">
                <a16:creationId xmlns:a16="http://schemas.microsoft.com/office/drawing/2014/main" id="{31317D07-B976-8352-ECDD-C637E3C8B123}"/>
              </a:ext>
            </a:extLst>
          </p:cNvPr>
          <p:cNvPicPr>
            <a:picLocks noChangeAspect="1"/>
          </p:cNvPicPr>
          <p:nvPr/>
        </p:nvPicPr>
        <p:blipFill>
          <a:blip r:embed="rId2"/>
          <a:srcRect l="1989" t="11503" r="31979" b="24110"/>
          <a:stretch/>
        </p:blipFill>
        <p:spPr>
          <a:xfrm>
            <a:off x="481490" y="1653363"/>
            <a:ext cx="7631957" cy="4787778"/>
          </a:xfrm>
          <a:prstGeom prst="rect">
            <a:avLst/>
          </a:prstGeom>
        </p:spPr>
      </p:pic>
      <p:sp>
        <p:nvSpPr>
          <p:cNvPr id="2" name="タイトル 1">
            <a:extLst>
              <a:ext uri="{FF2B5EF4-FFF2-40B4-BE49-F238E27FC236}">
                <a16:creationId xmlns:a16="http://schemas.microsoft.com/office/drawing/2014/main" id="{64B8DF66-8419-34DE-7504-0DB98E2534C9}"/>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アーキテクチャ設計</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C2D62CE5-6165-EDAE-05FA-2983CA9E6F06}"/>
              </a:ext>
            </a:extLst>
          </p:cNvPr>
          <p:cNvSpPr>
            <a:spLocks noGrp="1"/>
          </p:cNvSpPr>
          <p:nvPr>
            <p:ph sz="quarter" idx="4294967295"/>
          </p:nvPr>
        </p:nvSpPr>
        <p:spPr>
          <a:xfrm>
            <a:off x="481490" y="978298"/>
            <a:ext cx="11448000" cy="4939644"/>
          </a:xfrm>
        </p:spPr>
        <p:txBody>
          <a:bodyPr/>
          <a:lstStyle/>
          <a:p>
            <a:r>
              <a:rPr lang="ja-JP" altLang="en-US" u="sng" dirty="0">
                <a:solidFill>
                  <a:schemeClr val="tx1"/>
                </a:solidFill>
              </a:rPr>
              <a:t>アーキテクチャ設計（</a:t>
            </a:r>
            <a:r>
              <a:rPr lang="en-US" altLang="ja-JP" u="sng" dirty="0">
                <a:solidFill>
                  <a:schemeClr val="tx1"/>
                </a:solidFill>
              </a:rPr>
              <a:t>Architectural Design</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HiraKakuPro-W3"/>
              </a:rPr>
              <a:t>例）</a:t>
            </a:r>
            <a:r>
              <a:rPr lang="ja-JP" altLang="en-US" sz="1800" dirty="0">
                <a:latin typeface="+mn-ea"/>
              </a:rPr>
              <a:t>外部</a:t>
            </a:r>
            <a:r>
              <a:rPr lang="en-US" altLang="ja-JP" sz="1800" dirty="0">
                <a:latin typeface="+mn-ea"/>
              </a:rPr>
              <a:t>IF</a:t>
            </a:r>
            <a:r>
              <a:rPr lang="ja-JP" altLang="en-US" sz="1800" dirty="0">
                <a:latin typeface="+mn-ea"/>
              </a:rPr>
              <a:t>設計書</a:t>
            </a:r>
            <a:endParaRPr lang="en-US" altLang="ja-JP" sz="1800" dirty="0">
              <a:latin typeface="+mn-ea"/>
            </a:endParaRPr>
          </a:p>
        </p:txBody>
      </p:sp>
      <p:sp>
        <p:nvSpPr>
          <p:cNvPr id="6" name="四角形: 角を丸くする 5">
            <a:extLst>
              <a:ext uri="{FF2B5EF4-FFF2-40B4-BE49-F238E27FC236}">
                <a16:creationId xmlns:a16="http://schemas.microsoft.com/office/drawing/2014/main" id="{4B59C94D-BA2B-785B-72A1-6644B41DD7B5}"/>
              </a:ext>
            </a:extLst>
          </p:cNvPr>
          <p:cNvSpPr/>
          <p:nvPr/>
        </p:nvSpPr>
        <p:spPr>
          <a:xfrm>
            <a:off x="6730409" y="1274585"/>
            <a:ext cx="4731488" cy="757556"/>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dirty="0">
                <a:solidFill>
                  <a:schemeClr val="tx1"/>
                </a:solidFill>
                <a:latin typeface="+mn-ea"/>
              </a:rPr>
              <a:t>定義した外部インターフェイスの仕様を設計する</a:t>
            </a:r>
            <a:endParaRPr kumimoji="1" lang="ja-JP" altLang="en-US" sz="1600" dirty="0">
              <a:solidFill>
                <a:schemeClr val="tx1"/>
              </a:solidFill>
            </a:endParaRPr>
          </a:p>
        </p:txBody>
      </p:sp>
      <p:sp>
        <p:nvSpPr>
          <p:cNvPr id="9" name="正方形/長方形 8">
            <a:extLst>
              <a:ext uri="{FF2B5EF4-FFF2-40B4-BE49-F238E27FC236}">
                <a16:creationId xmlns:a16="http://schemas.microsoft.com/office/drawing/2014/main" id="{F0EF6D20-7509-90DF-C418-908C80CDB542}"/>
              </a:ext>
            </a:extLst>
          </p:cNvPr>
          <p:cNvSpPr/>
          <p:nvPr/>
        </p:nvSpPr>
        <p:spPr>
          <a:xfrm>
            <a:off x="8113447" y="3574666"/>
            <a:ext cx="3195903" cy="52237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n-ea"/>
              </a:rPr>
              <a:t>要求</a:t>
            </a:r>
            <a:r>
              <a:rPr lang="en-US" altLang="ja-JP" sz="1400" dirty="0">
                <a:latin typeface="+mn-ea"/>
              </a:rPr>
              <a:t>/</a:t>
            </a:r>
            <a:r>
              <a:rPr lang="ja-JP" altLang="en-US" sz="1400" dirty="0">
                <a:latin typeface="+mn-ea"/>
              </a:rPr>
              <a:t>応答時のデータ項目について</a:t>
            </a:r>
            <a:endParaRPr lang="en-US" altLang="ja-JP" sz="1400" dirty="0">
              <a:latin typeface="+mn-ea"/>
            </a:endParaRPr>
          </a:p>
          <a:p>
            <a:pPr algn="ctr"/>
            <a:r>
              <a:rPr lang="ja-JP" altLang="en-US" sz="1400" dirty="0">
                <a:latin typeface="+mn-ea"/>
              </a:rPr>
              <a:t>詳細に記述</a:t>
            </a:r>
            <a:endParaRPr kumimoji="1" lang="ja-JP" altLang="en-US" sz="1400" dirty="0">
              <a:solidFill>
                <a:schemeClr val="bg1"/>
              </a:solidFill>
            </a:endParaRPr>
          </a:p>
        </p:txBody>
      </p:sp>
      <p:sp>
        <p:nvSpPr>
          <p:cNvPr id="10" name="正方形/長方形 9">
            <a:extLst>
              <a:ext uri="{FF2B5EF4-FFF2-40B4-BE49-F238E27FC236}">
                <a16:creationId xmlns:a16="http://schemas.microsoft.com/office/drawing/2014/main" id="{C012861E-AC49-8556-BACA-29AC36FF708C}"/>
              </a:ext>
            </a:extLst>
          </p:cNvPr>
          <p:cNvSpPr/>
          <p:nvPr/>
        </p:nvSpPr>
        <p:spPr>
          <a:xfrm>
            <a:off x="370800" y="3426356"/>
            <a:ext cx="7726816" cy="1319527"/>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4" name="テキスト ボックス 13">
            <a:extLst>
              <a:ext uri="{FF2B5EF4-FFF2-40B4-BE49-F238E27FC236}">
                <a16:creationId xmlns:a16="http://schemas.microsoft.com/office/drawing/2014/main" id="{C4747E56-EF79-1D3B-CD01-0B9696477B02}"/>
              </a:ext>
            </a:extLst>
          </p:cNvPr>
          <p:cNvSpPr txBox="1"/>
          <p:nvPr/>
        </p:nvSpPr>
        <p:spPr>
          <a:xfrm>
            <a:off x="6952221" y="4741686"/>
            <a:ext cx="5087960" cy="523220"/>
          </a:xfrm>
          <a:prstGeom prst="rect">
            <a:avLst/>
          </a:prstGeom>
          <a:noFill/>
        </p:spPr>
        <p:txBody>
          <a:bodyPr wrap="square">
            <a:spAutoFit/>
          </a:bodyPr>
          <a:lstStyle/>
          <a:p>
            <a:r>
              <a:rPr lang="en-US" altLang="ja-JP" sz="1400" dirty="0">
                <a:solidFill>
                  <a:sysClr val="windowText" lastClr="000000"/>
                </a:solidFill>
                <a:effectLst/>
                <a:latin typeface="+mn-lt"/>
                <a:ea typeface="+mn-ea"/>
                <a:cs typeface="+mn-cs"/>
              </a:rPr>
              <a:t>※</a:t>
            </a:r>
            <a:r>
              <a:rPr lang="ja-JP" altLang="en-US" sz="1400" dirty="0">
                <a:solidFill>
                  <a:sysClr val="windowText" lastClr="000000"/>
                </a:solidFill>
                <a:effectLst/>
                <a:latin typeface="+mn-lt"/>
                <a:ea typeface="+mn-ea"/>
                <a:cs typeface="+mn-cs"/>
              </a:rPr>
              <a:t>外部</a:t>
            </a:r>
            <a:r>
              <a:rPr lang="en-US" altLang="ja-JP" sz="1400" dirty="0">
                <a:solidFill>
                  <a:sysClr val="windowText" lastClr="000000"/>
                </a:solidFill>
                <a:effectLst/>
                <a:latin typeface="+mn-lt"/>
                <a:ea typeface="+mn-ea"/>
                <a:cs typeface="+mn-cs"/>
              </a:rPr>
              <a:t>IF</a:t>
            </a:r>
            <a:r>
              <a:rPr lang="ja-JP" altLang="en-US" sz="1400" dirty="0">
                <a:solidFill>
                  <a:sysClr val="windowText" lastClr="000000"/>
                </a:solidFill>
                <a:effectLst/>
                <a:latin typeface="+mn-lt"/>
                <a:ea typeface="+mn-ea"/>
                <a:cs typeface="+mn-cs"/>
              </a:rPr>
              <a:t>定義書と似ているが、</a:t>
            </a:r>
            <a:r>
              <a:rPr lang="ja-JP" altLang="ja-JP" sz="1400" dirty="0">
                <a:solidFill>
                  <a:sysClr val="windowText" lastClr="000000"/>
                </a:solidFill>
                <a:effectLst/>
                <a:latin typeface="+mn-lt"/>
                <a:ea typeface="+mn-ea"/>
                <a:cs typeface="+mn-cs"/>
              </a:rPr>
              <a:t>実装</a:t>
            </a:r>
            <a:r>
              <a:rPr lang="ja-JP" altLang="en-US" sz="1400" dirty="0">
                <a:solidFill>
                  <a:sysClr val="windowText" lastClr="000000"/>
                </a:solidFill>
                <a:effectLst/>
                <a:latin typeface="+mn-lt"/>
                <a:ea typeface="+mn-ea"/>
                <a:cs typeface="+mn-cs"/>
              </a:rPr>
              <a:t>方法</a:t>
            </a:r>
            <a:r>
              <a:rPr lang="ja-JP" altLang="ja-JP" sz="1400" dirty="0">
                <a:solidFill>
                  <a:sysClr val="windowText" lastClr="000000"/>
                </a:solidFill>
                <a:effectLst/>
                <a:latin typeface="+mn-lt"/>
                <a:ea typeface="+mn-ea"/>
                <a:cs typeface="+mn-cs"/>
              </a:rPr>
              <a:t>に合わせた</a:t>
            </a:r>
            <a:r>
              <a:rPr lang="ja-JP" altLang="en-US" sz="1400" dirty="0">
                <a:solidFill>
                  <a:sysClr val="windowText" lastClr="000000"/>
                </a:solidFill>
                <a:effectLst/>
                <a:latin typeface="+mn-lt"/>
                <a:ea typeface="+mn-ea"/>
                <a:cs typeface="+mn-cs"/>
              </a:rPr>
              <a:t>記載をしている</a:t>
            </a:r>
            <a:endParaRPr lang="en-US" altLang="ja-JP" sz="1400" dirty="0">
              <a:solidFill>
                <a:sysClr val="windowText" lastClr="000000"/>
              </a:solidFill>
              <a:effectLst/>
              <a:latin typeface="+mn-lt"/>
              <a:ea typeface="+mn-ea"/>
              <a:cs typeface="+mn-cs"/>
            </a:endParaRPr>
          </a:p>
          <a:p>
            <a:r>
              <a:rPr lang="ja-JP" altLang="en-US" sz="1400" dirty="0">
                <a:solidFill>
                  <a:sysClr val="windowText" lastClr="000000"/>
                </a:solidFill>
              </a:rPr>
              <a:t>　　例）</a:t>
            </a:r>
            <a:r>
              <a:rPr lang="en-US" altLang="ja-JP" sz="1400" dirty="0">
                <a:solidFill>
                  <a:sysClr val="windowText" lastClr="000000"/>
                </a:solidFill>
              </a:rPr>
              <a:t>Java</a:t>
            </a:r>
            <a:r>
              <a:rPr lang="ja-JP" altLang="en-US" sz="1400" dirty="0">
                <a:solidFill>
                  <a:sysClr val="windowText" lastClr="000000"/>
                </a:solidFill>
              </a:rPr>
              <a:t>言語でプログラムコードを書くので、</a:t>
            </a:r>
            <a:r>
              <a:rPr lang="en-US" altLang="ja-JP" sz="1400" dirty="0">
                <a:solidFill>
                  <a:sysClr val="windowText" lastClr="000000"/>
                </a:solidFill>
              </a:rPr>
              <a:t>int</a:t>
            </a:r>
            <a:r>
              <a:rPr lang="ja-JP" altLang="en-US" sz="1400" dirty="0">
                <a:solidFill>
                  <a:sysClr val="windowText" lastClr="000000"/>
                </a:solidFill>
              </a:rPr>
              <a:t>と記載</a:t>
            </a:r>
            <a:endParaRPr lang="en-US" altLang="ja-JP" sz="1400" dirty="0">
              <a:solidFill>
                <a:sysClr val="windowText" lastClr="000000"/>
              </a:solidFill>
              <a:effectLst/>
              <a:latin typeface="+mn-lt"/>
              <a:ea typeface="+mn-ea"/>
              <a:cs typeface="+mn-cs"/>
            </a:endParaRPr>
          </a:p>
        </p:txBody>
      </p:sp>
    </p:spTree>
    <p:extLst>
      <p:ext uri="{BB962C8B-B14F-4D97-AF65-F5344CB8AC3E}">
        <p14:creationId xmlns:p14="http://schemas.microsoft.com/office/powerpoint/2010/main" val="142731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BF7C-F86A-BCC3-D13F-E34DF00153BA}"/>
            </a:ext>
          </a:extLst>
        </p:cNvPr>
        <p:cNvGrpSpPr/>
        <p:nvPr/>
      </p:nvGrpSpPr>
      <p:grpSpPr>
        <a:xfrm>
          <a:off x="0" y="0"/>
          <a:ext cx="0" cy="0"/>
          <a:chOff x="0" y="0"/>
          <a:chExt cx="0" cy="0"/>
        </a:xfrm>
      </p:grpSpPr>
      <p:pic>
        <p:nvPicPr>
          <p:cNvPr id="9" name="図 8" descr="テーブル&#10;&#10;AI によって生成されたコンテンツは間違っている可能性があります。">
            <a:extLst>
              <a:ext uri="{FF2B5EF4-FFF2-40B4-BE49-F238E27FC236}">
                <a16:creationId xmlns:a16="http://schemas.microsoft.com/office/drawing/2014/main" id="{7684775F-04BE-260C-EE3C-4B1A491F7758}"/>
              </a:ext>
            </a:extLst>
          </p:cNvPr>
          <p:cNvPicPr>
            <a:picLocks noChangeAspect="1"/>
          </p:cNvPicPr>
          <p:nvPr/>
        </p:nvPicPr>
        <p:blipFill>
          <a:blip r:embed="rId2"/>
          <a:stretch>
            <a:fillRect/>
          </a:stretch>
        </p:blipFill>
        <p:spPr>
          <a:xfrm>
            <a:off x="481490" y="1570974"/>
            <a:ext cx="9120474" cy="4825494"/>
          </a:xfrm>
          <a:prstGeom prst="rect">
            <a:avLst/>
          </a:prstGeom>
        </p:spPr>
      </p:pic>
      <p:sp>
        <p:nvSpPr>
          <p:cNvPr id="2" name="タイトル 1">
            <a:extLst>
              <a:ext uri="{FF2B5EF4-FFF2-40B4-BE49-F238E27FC236}">
                <a16:creationId xmlns:a16="http://schemas.microsoft.com/office/drawing/2014/main" id="{3DE7EE2A-A64C-B51A-704A-CA76C4D277A9}"/>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アーキテクチャ設計</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8750047C-A099-C2E1-60B4-DC84148C4B16}"/>
              </a:ext>
            </a:extLst>
          </p:cNvPr>
          <p:cNvSpPr>
            <a:spLocks noGrp="1"/>
          </p:cNvSpPr>
          <p:nvPr>
            <p:ph sz="quarter" idx="4294967295"/>
          </p:nvPr>
        </p:nvSpPr>
        <p:spPr>
          <a:xfrm>
            <a:off x="481490" y="978298"/>
            <a:ext cx="11448000" cy="4939644"/>
          </a:xfrm>
        </p:spPr>
        <p:txBody>
          <a:bodyPr/>
          <a:lstStyle/>
          <a:p>
            <a:r>
              <a:rPr lang="ja-JP" altLang="en-US" u="sng" dirty="0">
                <a:solidFill>
                  <a:schemeClr val="tx1"/>
                </a:solidFill>
              </a:rPr>
              <a:t>アーキテクチャ設計（</a:t>
            </a:r>
            <a:r>
              <a:rPr lang="en-US" altLang="ja-JP" u="sng" dirty="0">
                <a:solidFill>
                  <a:schemeClr val="tx1"/>
                </a:solidFill>
              </a:rPr>
              <a:t>Architectural Design</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HiraKakuPro-W3"/>
              </a:rPr>
              <a:t>例）</a:t>
            </a:r>
            <a:r>
              <a:rPr lang="ja-JP" altLang="en-US" sz="1800" dirty="0">
                <a:latin typeface="+mn-ea"/>
              </a:rPr>
              <a:t>テーブル設計書</a:t>
            </a:r>
            <a:endParaRPr lang="en-US" altLang="ja-JP" sz="1800" dirty="0">
              <a:latin typeface="+mn-ea"/>
            </a:endParaRPr>
          </a:p>
        </p:txBody>
      </p:sp>
      <p:sp>
        <p:nvSpPr>
          <p:cNvPr id="7" name="四角形: 角を丸くする 6">
            <a:extLst>
              <a:ext uri="{FF2B5EF4-FFF2-40B4-BE49-F238E27FC236}">
                <a16:creationId xmlns:a16="http://schemas.microsoft.com/office/drawing/2014/main" id="{C731B92F-1838-BC16-2245-F1021CBE1EF4}"/>
              </a:ext>
            </a:extLst>
          </p:cNvPr>
          <p:cNvSpPr/>
          <p:nvPr/>
        </p:nvSpPr>
        <p:spPr>
          <a:xfrm>
            <a:off x="6070950" y="813418"/>
            <a:ext cx="5858540" cy="757556"/>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288000"/>
            <a:r>
              <a:rPr lang="ja-JP" altLang="en-US" sz="1600" b="0" i="0" dirty="0">
                <a:solidFill>
                  <a:schemeClr val="tx1"/>
                </a:solidFill>
                <a:effectLst/>
                <a:latin typeface="__Inter_a184c8"/>
              </a:rPr>
              <a:t>データベース上で、どのようにデータを格納・管理するかを設計する</a:t>
            </a:r>
            <a:endParaRPr lang="en-US" altLang="ja-JP" sz="1600" dirty="0">
              <a:solidFill>
                <a:schemeClr val="tx1"/>
              </a:solidFill>
              <a:latin typeface="__Inter_a184c8"/>
            </a:endParaRPr>
          </a:p>
        </p:txBody>
      </p:sp>
      <p:sp>
        <p:nvSpPr>
          <p:cNvPr id="10" name="正方形/長方形 9">
            <a:extLst>
              <a:ext uri="{FF2B5EF4-FFF2-40B4-BE49-F238E27FC236}">
                <a16:creationId xmlns:a16="http://schemas.microsoft.com/office/drawing/2014/main" id="{89936430-2463-DB15-BEF2-6F64B3BDCB3A}"/>
              </a:ext>
            </a:extLst>
          </p:cNvPr>
          <p:cNvSpPr/>
          <p:nvPr/>
        </p:nvSpPr>
        <p:spPr>
          <a:xfrm>
            <a:off x="8293395" y="5493257"/>
            <a:ext cx="2285999" cy="516697"/>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n-ea"/>
              </a:rPr>
              <a:t>キーやデータ型など、</a:t>
            </a:r>
            <a:endParaRPr lang="en-US" altLang="ja-JP" sz="1400" dirty="0">
              <a:latin typeface="+mn-ea"/>
            </a:endParaRPr>
          </a:p>
          <a:p>
            <a:pPr algn="ctr"/>
            <a:r>
              <a:rPr lang="ja-JP" altLang="en-US" sz="1400" dirty="0">
                <a:latin typeface="+mn-ea"/>
              </a:rPr>
              <a:t>カラムごとの詳細な情報</a:t>
            </a:r>
            <a:endParaRPr kumimoji="1" lang="ja-JP" altLang="en-US" sz="1400" dirty="0">
              <a:solidFill>
                <a:schemeClr val="bg1"/>
              </a:solidFill>
            </a:endParaRPr>
          </a:p>
        </p:txBody>
      </p:sp>
      <p:sp>
        <p:nvSpPr>
          <p:cNvPr id="11" name="正方形/長方形 10">
            <a:extLst>
              <a:ext uri="{FF2B5EF4-FFF2-40B4-BE49-F238E27FC236}">
                <a16:creationId xmlns:a16="http://schemas.microsoft.com/office/drawing/2014/main" id="{F6F14113-60E5-9BA3-9A20-2353E7297A0B}"/>
              </a:ext>
            </a:extLst>
          </p:cNvPr>
          <p:cNvSpPr/>
          <p:nvPr/>
        </p:nvSpPr>
        <p:spPr>
          <a:xfrm>
            <a:off x="2522139" y="2936444"/>
            <a:ext cx="5771256" cy="32760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1694446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68657-03F8-8F71-A725-F840B9AF682E}"/>
            </a:ext>
          </a:extLst>
        </p:cNvPr>
        <p:cNvGrpSpPr/>
        <p:nvPr/>
      </p:nvGrpSpPr>
      <p:grpSpPr>
        <a:xfrm>
          <a:off x="0" y="0"/>
          <a:ext cx="0" cy="0"/>
          <a:chOff x="0" y="0"/>
          <a:chExt cx="0" cy="0"/>
        </a:xfrm>
      </p:grpSpPr>
      <p:sp>
        <p:nvSpPr>
          <p:cNvPr id="16" name="四角形: 角を丸くする 15">
            <a:extLst>
              <a:ext uri="{FF2B5EF4-FFF2-40B4-BE49-F238E27FC236}">
                <a16:creationId xmlns:a16="http://schemas.microsoft.com/office/drawing/2014/main" id="{86DB97C3-CC05-3082-04C8-1FAB2DDD535B}"/>
              </a:ext>
            </a:extLst>
          </p:cNvPr>
          <p:cNvSpPr/>
          <p:nvPr/>
        </p:nvSpPr>
        <p:spPr>
          <a:xfrm>
            <a:off x="471963" y="1619989"/>
            <a:ext cx="7994557" cy="943196"/>
          </a:xfrm>
          <a:prstGeom prst="roundRect">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3AD378DF-5BF6-0E4B-6880-1F6047D55890}"/>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詳細設計</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2A083A76-A1A3-3F72-689E-C02A66DA843A}"/>
              </a:ext>
            </a:extLst>
          </p:cNvPr>
          <p:cNvSpPr>
            <a:spLocks noGrp="1"/>
          </p:cNvSpPr>
          <p:nvPr>
            <p:ph sz="quarter" idx="4294967295"/>
          </p:nvPr>
        </p:nvSpPr>
        <p:spPr>
          <a:xfrm>
            <a:off x="481490" y="978298"/>
            <a:ext cx="11448000" cy="1053145"/>
          </a:xfrm>
        </p:spPr>
        <p:txBody>
          <a:bodyPr/>
          <a:lstStyle/>
          <a:p>
            <a:r>
              <a:rPr lang="ja-JP" altLang="en-US" u="sng" dirty="0">
                <a:solidFill>
                  <a:schemeClr val="tx1"/>
                </a:solidFill>
              </a:rPr>
              <a:t>詳細設計（</a:t>
            </a:r>
            <a:r>
              <a:rPr lang="en-US" altLang="ja-JP" u="sng" dirty="0">
                <a:solidFill>
                  <a:schemeClr val="tx1"/>
                </a:solidFill>
              </a:rPr>
              <a:t>Detailed Design</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HiraKakuPro-W3"/>
              </a:rPr>
              <a:t>アーキテクチャ設計を元に、そのまま開発できるレベルまで詳細化するフェーズ</a:t>
            </a:r>
            <a:endParaRPr lang="en-US" altLang="ja-JP" b="0" i="0" dirty="0">
              <a:solidFill>
                <a:schemeClr val="tx1"/>
              </a:solidFill>
              <a:effectLst/>
              <a:latin typeface="HiraKakuPro-W3"/>
            </a:endParaRPr>
          </a:p>
          <a:p>
            <a:endParaRPr lang="en-US" altLang="ja-JP" b="0" i="0" dirty="0">
              <a:solidFill>
                <a:schemeClr val="tx1"/>
              </a:solidFill>
              <a:effectLst/>
              <a:latin typeface="HiraKakuPro-W3"/>
            </a:endParaRPr>
          </a:p>
        </p:txBody>
      </p:sp>
      <p:grpSp>
        <p:nvGrpSpPr>
          <p:cNvPr id="34" name="グループ化 33">
            <a:extLst>
              <a:ext uri="{FF2B5EF4-FFF2-40B4-BE49-F238E27FC236}">
                <a16:creationId xmlns:a16="http://schemas.microsoft.com/office/drawing/2014/main" id="{373EE0FE-785F-1F4A-EEC4-062715154505}"/>
              </a:ext>
            </a:extLst>
          </p:cNvPr>
          <p:cNvGrpSpPr/>
          <p:nvPr/>
        </p:nvGrpSpPr>
        <p:grpSpPr>
          <a:xfrm>
            <a:off x="8633867" y="152748"/>
            <a:ext cx="3295623" cy="1890892"/>
            <a:chOff x="8633867" y="152748"/>
            <a:chExt cx="3295623" cy="1890892"/>
          </a:xfrm>
        </p:grpSpPr>
        <p:pic>
          <p:nvPicPr>
            <p:cNvPr id="11" name="図 10" descr="ダイアグラム&#10;&#10;AI によって生成されたコンテンツは間違っている可能性があります。">
              <a:extLst>
                <a:ext uri="{FF2B5EF4-FFF2-40B4-BE49-F238E27FC236}">
                  <a16:creationId xmlns:a16="http://schemas.microsoft.com/office/drawing/2014/main" id="{A6D8B920-1DA2-8CC3-EA40-790FBA1FBDE9}"/>
                </a:ext>
              </a:extLst>
            </p:cNvPr>
            <p:cNvPicPr>
              <a:picLocks noChangeAspect="1"/>
            </p:cNvPicPr>
            <p:nvPr/>
          </p:nvPicPr>
          <p:blipFill>
            <a:blip r:embed="rId2"/>
            <a:stretch>
              <a:fillRect/>
            </a:stretch>
          </p:blipFill>
          <p:spPr>
            <a:xfrm>
              <a:off x="8633867" y="152748"/>
              <a:ext cx="3295623" cy="1890892"/>
            </a:xfrm>
            <a:prstGeom prst="rect">
              <a:avLst/>
            </a:prstGeom>
            <a:ln>
              <a:solidFill>
                <a:schemeClr val="tx1"/>
              </a:solidFill>
            </a:ln>
          </p:spPr>
        </p:pic>
        <p:sp>
          <p:nvSpPr>
            <p:cNvPr id="12" name="正方形/長方形 11">
              <a:extLst>
                <a:ext uri="{FF2B5EF4-FFF2-40B4-BE49-F238E27FC236}">
                  <a16:creationId xmlns:a16="http://schemas.microsoft.com/office/drawing/2014/main" id="{D37F967F-6ABD-A2A7-BEC4-B80AFFEE2AEB}"/>
                </a:ext>
              </a:extLst>
            </p:cNvPr>
            <p:cNvSpPr/>
            <p:nvPr/>
          </p:nvSpPr>
          <p:spPr>
            <a:xfrm>
              <a:off x="9246640" y="1580470"/>
              <a:ext cx="900000" cy="396000"/>
            </a:xfrm>
            <a:prstGeom prst="rect">
              <a:avLst/>
            </a:prstGeom>
            <a:noFill/>
            <a:ln w="38100">
              <a:solidFill>
                <a:srgbClr val="FFC4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13" name="正方形/長方形 12">
              <a:extLst>
                <a:ext uri="{FF2B5EF4-FFF2-40B4-BE49-F238E27FC236}">
                  <a16:creationId xmlns:a16="http://schemas.microsoft.com/office/drawing/2014/main" id="{8CB236A2-9218-9BD9-272A-ABE7EE5C6C0F}"/>
                </a:ext>
              </a:extLst>
            </p:cNvPr>
            <p:cNvSpPr/>
            <p:nvPr/>
          </p:nvSpPr>
          <p:spPr>
            <a:xfrm>
              <a:off x="10313987"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3" name="矢印: 下 32">
              <a:extLst>
                <a:ext uri="{FF2B5EF4-FFF2-40B4-BE49-F238E27FC236}">
                  <a16:creationId xmlns:a16="http://schemas.microsoft.com/office/drawing/2014/main" id="{537A270F-3ECF-2E31-F18A-093AF7F1A9B7}"/>
                </a:ext>
              </a:extLst>
            </p:cNvPr>
            <p:cNvSpPr/>
            <p:nvPr/>
          </p:nvSpPr>
          <p:spPr>
            <a:xfrm rot="16200000">
              <a:off x="8968627" y="1605852"/>
              <a:ext cx="210790" cy="345236"/>
            </a:xfrm>
            <a:prstGeom prst="downArrow">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60" name="テキスト ボックス 59">
            <a:extLst>
              <a:ext uri="{FF2B5EF4-FFF2-40B4-BE49-F238E27FC236}">
                <a16:creationId xmlns:a16="http://schemas.microsoft.com/office/drawing/2014/main" id="{94F66CAA-794C-52F3-B971-29F2A1E711C0}"/>
              </a:ext>
            </a:extLst>
          </p:cNvPr>
          <p:cNvSpPr txBox="1"/>
          <p:nvPr/>
        </p:nvSpPr>
        <p:spPr>
          <a:xfrm>
            <a:off x="370800" y="2621085"/>
            <a:ext cx="1915200" cy="369332"/>
          </a:xfrm>
          <a:prstGeom prst="rect">
            <a:avLst/>
          </a:prstGeom>
          <a:noFill/>
        </p:spPr>
        <p:txBody>
          <a:bodyPr wrap="square">
            <a:spAutoFit/>
          </a:bodyPr>
          <a:lstStyle/>
          <a:p>
            <a:r>
              <a:rPr lang="ja-JP" altLang="en-US" dirty="0"/>
              <a:t>■主な作業</a:t>
            </a:r>
            <a:endParaRPr lang="ja-JP" altLang="en-US" sz="1800" b="0" i="0" dirty="0">
              <a:solidFill>
                <a:srgbClr val="333333"/>
              </a:solidFill>
              <a:effectLst/>
              <a:latin typeface="Helvetica Neue"/>
            </a:endParaRPr>
          </a:p>
        </p:txBody>
      </p:sp>
      <p:sp>
        <p:nvSpPr>
          <p:cNvPr id="61" name="四角形: 角を丸くする 60">
            <a:extLst>
              <a:ext uri="{FF2B5EF4-FFF2-40B4-BE49-F238E27FC236}">
                <a16:creationId xmlns:a16="http://schemas.microsoft.com/office/drawing/2014/main" id="{AF257748-60DB-E07A-12E1-802886DC5FC6}"/>
              </a:ext>
            </a:extLst>
          </p:cNvPr>
          <p:cNvSpPr/>
          <p:nvPr/>
        </p:nvSpPr>
        <p:spPr>
          <a:xfrm>
            <a:off x="481489" y="3255554"/>
            <a:ext cx="3463189" cy="2237925"/>
          </a:xfrm>
          <a:prstGeom prst="roundRect">
            <a:avLst>
              <a:gd name="adj" fmla="val 5583"/>
            </a:avLst>
          </a:prstGeom>
          <a:no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　　　　　</a:t>
            </a:r>
          </a:p>
        </p:txBody>
      </p:sp>
      <p:sp>
        <p:nvSpPr>
          <p:cNvPr id="62" name="四角形: 角を丸くする 61">
            <a:extLst>
              <a:ext uri="{FF2B5EF4-FFF2-40B4-BE49-F238E27FC236}">
                <a16:creationId xmlns:a16="http://schemas.microsoft.com/office/drawing/2014/main" id="{691BEC6C-9558-CBA1-E300-F8340D753AF7}"/>
              </a:ext>
            </a:extLst>
          </p:cNvPr>
          <p:cNvSpPr/>
          <p:nvPr/>
        </p:nvSpPr>
        <p:spPr>
          <a:xfrm>
            <a:off x="471963" y="3034193"/>
            <a:ext cx="3472715" cy="415975"/>
          </a:xfrm>
          <a:prstGeom prst="roundRect">
            <a:avLst/>
          </a:prstGeom>
          <a:solidFill>
            <a:srgbClr val="FF7A00"/>
          </a:solidFill>
          <a:ln w="3175">
            <a:solidFill>
              <a:srgbClr val="FF7A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rPr>
              <a:t>アーキテクチャ設計</a:t>
            </a:r>
            <a:endParaRPr kumimoji="1" lang="ja-JP" altLang="en-US" sz="1400" dirty="0">
              <a:solidFill>
                <a:schemeClr val="bg1"/>
              </a:solidFill>
            </a:endParaRPr>
          </a:p>
        </p:txBody>
      </p:sp>
      <p:sp>
        <p:nvSpPr>
          <p:cNvPr id="63" name="正方形/長方形 62">
            <a:extLst>
              <a:ext uri="{FF2B5EF4-FFF2-40B4-BE49-F238E27FC236}">
                <a16:creationId xmlns:a16="http://schemas.microsoft.com/office/drawing/2014/main" id="{2DCE2802-4EA3-2A48-9171-DD39302B6A67}"/>
              </a:ext>
            </a:extLst>
          </p:cNvPr>
          <p:cNvSpPr/>
          <p:nvPr/>
        </p:nvSpPr>
        <p:spPr>
          <a:xfrm>
            <a:off x="471964" y="3509766"/>
            <a:ext cx="1708317" cy="48265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nSpc>
                <a:spcPts val="2000"/>
              </a:lnSpc>
            </a:pPr>
            <a:r>
              <a:rPr kumimoji="1" lang="ja-JP" altLang="en-US" sz="1400" dirty="0">
                <a:solidFill>
                  <a:schemeClr val="tx1"/>
                </a:solidFill>
              </a:rPr>
              <a:t>　</a:t>
            </a:r>
            <a:r>
              <a:rPr kumimoji="1" lang="ja-JP" altLang="en-US" sz="1400" u="sng" dirty="0">
                <a:solidFill>
                  <a:schemeClr val="tx1"/>
                </a:solidFill>
              </a:rPr>
              <a:t>処理設計</a:t>
            </a:r>
            <a:endParaRPr kumimoji="1" lang="en-US" altLang="ja-JP" sz="1400" u="sng" dirty="0">
              <a:solidFill>
                <a:schemeClr val="tx1"/>
              </a:solidFill>
            </a:endParaRPr>
          </a:p>
          <a:p>
            <a:pPr>
              <a:lnSpc>
                <a:spcPts val="2000"/>
              </a:lnSpc>
            </a:pPr>
            <a:r>
              <a:rPr kumimoji="1" lang="ja-JP" altLang="en-US" sz="1400" dirty="0">
                <a:solidFill>
                  <a:schemeClr val="tx1"/>
                </a:solidFill>
              </a:rPr>
              <a:t>　　・商品検索処理</a:t>
            </a:r>
          </a:p>
        </p:txBody>
      </p:sp>
      <p:sp>
        <p:nvSpPr>
          <p:cNvPr id="5" name="正方形/長方形 4">
            <a:extLst>
              <a:ext uri="{FF2B5EF4-FFF2-40B4-BE49-F238E27FC236}">
                <a16:creationId xmlns:a16="http://schemas.microsoft.com/office/drawing/2014/main" id="{552FDE59-3A8E-5126-1821-763455BFF762}"/>
              </a:ext>
            </a:extLst>
          </p:cNvPr>
          <p:cNvSpPr/>
          <p:nvPr/>
        </p:nvSpPr>
        <p:spPr>
          <a:xfrm>
            <a:off x="927265" y="4436426"/>
            <a:ext cx="967533" cy="324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100" dirty="0">
                <a:solidFill>
                  <a:schemeClr val="tx1"/>
                </a:solidFill>
              </a:rPr>
              <a:t>商品検索依頼</a:t>
            </a:r>
            <a:endParaRPr kumimoji="1" lang="ja-JP" altLang="en-US" sz="1100" dirty="0">
              <a:solidFill>
                <a:schemeClr val="tx1"/>
              </a:solidFill>
            </a:endParaRPr>
          </a:p>
        </p:txBody>
      </p:sp>
      <p:pic>
        <p:nvPicPr>
          <p:cNvPr id="8" name="グラフィックス 7" descr="ノート PC 単色塗りつぶし">
            <a:extLst>
              <a:ext uri="{FF2B5EF4-FFF2-40B4-BE49-F238E27FC236}">
                <a16:creationId xmlns:a16="http://schemas.microsoft.com/office/drawing/2014/main" id="{0C485C66-57C4-BA55-B4C3-CC9F93564F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99261" y="4462732"/>
            <a:ext cx="288000" cy="288000"/>
          </a:xfrm>
          <a:prstGeom prst="rect">
            <a:avLst/>
          </a:prstGeom>
        </p:spPr>
      </p:pic>
      <p:sp>
        <p:nvSpPr>
          <p:cNvPr id="9" name="正方形/長方形 8">
            <a:extLst>
              <a:ext uri="{FF2B5EF4-FFF2-40B4-BE49-F238E27FC236}">
                <a16:creationId xmlns:a16="http://schemas.microsoft.com/office/drawing/2014/main" id="{D24B525A-DC2F-49FA-636A-F3BC064D4A69}"/>
              </a:ext>
            </a:extLst>
          </p:cNvPr>
          <p:cNvSpPr/>
          <p:nvPr/>
        </p:nvSpPr>
        <p:spPr>
          <a:xfrm>
            <a:off x="2582529" y="4445195"/>
            <a:ext cx="967533" cy="324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100" dirty="0">
                <a:solidFill>
                  <a:schemeClr val="tx1"/>
                </a:solidFill>
              </a:rPr>
              <a:t>商品検索</a:t>
            </a:r>
            <a:endParaRPr kumimoji="1" lang="ja-JP" altLang="en-US" sz="1100" dirty="0">
              <a:solidFill>
                <a:schemeClr val="tx1"/>
              </a:solidFill>
            </a:endParaRPr>
          </a:p>
        </p:txBody>
      </p:sp>
      <p:cxnSp>
        <p:nvCxnSpPr>
          <p:cNvPr id="10" name="直線矢印コネクタ 9">
            <a:extLst>
              <a:ext uri="{FF2B5EF4-FFF2-40B4-BE49-F238E27FC236}">
                <a16:creationId xmlns:a16="http://schemas.microsoft.com/office/drawing/2014/main" id="{A525F02B-1A67-2AE0-41F3-14DDCA5162EE}"/>
              </a:ext>
            </a:extLst>
          </p:cNvPr>
          <p:cNvCxnSpPr>
            <a:cxnSpLocks/>
            <a:stCxn id="8" idx="3"/>
            <a:endCxn id="9" idx="1"/>
          </p:cNvCxnSpPr>
          <p:nvPr/>
        </p:nvCxnSpPr>
        <p:spPr>
          <a:xfrm>
            <a:off x="2187261" y="4606732"/>
            <a:ext cx="395268" cy="463"/>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95A83EAF-F735-AE72-6AD4-521292D8F23B}"/>
              </a:ext>
            </a:extLst>
          </p:cNvPr>
          <p:cNvSpPr/>
          <p:nvPr/>
        </p:nvSpPr>
        <p:spPr>
          <a:xfrm>
            <a:off x="927265" y="4899565"/>
            <a:ext cx="967533" cy="324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100" dirty="0">
                <a:solidFill>
                  <a:schemeClr val="tx1"/>
                </a:solidFill>
              </a:rPr>
              <a:t>検索結果受取</a:t>
            </a:r>
            <a:endParaRPr kumimoji="1" lang="ja-JP" altLang="en-US" sz="1100" dirty="0">
              <a:solidFill>
                <a:schemeClr val="tx1"/>
              </a:solidFill>
            </a:endParaRPr>
          </a:p>
        </p:txBody>
      </p:sp>
      <p:pic>
        <p:nvPicPr>
          <p:cNvPr id="17" name="グラフィックス 16" descr="ノート PC 単色塗りつぶし">
            <a:extLst>
              <a:ext uri="{FF2B5EF4-FFF2-40B4-BE49-F238E27FC236}">
                <a16:creationId xmlns:a16="http://schemas.microsoft.com/office/drawing/2014/main" id="{3AA6DEE2-ED3F-0EFD-AD77-9FA3D99FAE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99261" y="4925035"/>
            <a:ext cx="288000" cy="288000"/>
          </a:xfrm>
          <a:prstGeom prst="rect">
            <a:avLst/>
          </a:prstGeom>
        </p:spPr>
      </p:pic>
      <p:sp>
        <p:nvSpPr>
          <p:cNvPr id="18" name="正方形/長方形 17">
            <a:extLst>
              <a:ext uri="{FF2B5EF4-FFF2-40B4-BE49-F238E27FC236}">
                <a16:creationId xmlns:a16="http://schemas.microsoft.com/office/drawing/2014/main" id="{1C73C265-E737-1BFB-8E3D-945530727A0C}"/>
              </a:ext>
            </a:extLst>
          </p:cNvPr>
          <p:cNvSpPr/>
          <p:nvPr/>
        </p:nvSpPr>
        <p:spPr>
          <a:xfrm>
            <a:off x="2585387" y="4908735"/>
            <a:ext cx="967533" cy="324000"/>
          </a:xfrm>
          <a:prstGeom prst="rect">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100" dirty="0">
                <a:solidFill>
                  <a:schemeClr val="tx1"/>
                </a:solidFill>
              </a:rPr>
              <a:t>検索結果</a:t>
            </a:r>
            <a:r>
              <a:rPr kumimoji="1" lang="ja-JP" altLang="en-US" sz="1100" dirty="0">
                <a:solidFill>
                  <a:schemeClr val="tx1"/>
                </a:solidFill>
              </a:rPr>
              <a:t>送信</a:t>
            </a:r>
          </a:p>
        </p:txBody>
      </p:sp>
      <p:cxnSp>
        <p:nvCxnSpPr>
          <p:cNvPr id="21" name="直線矢印コネクタ 20">
            <a:extLst>
              <a:ext uri="{FF2B5EF4-FFF2-40B4-BE49-F238E27FC236}">
                <a16:creationId xmlns:a16="http://schemas.microsoft.com/office/drawing/2014/main" id="{73E8482B-186F-0D65-9A83-B856A8608FEE}"/>
              </a:ext>
            </a:extLst>
          </p:cNvPr>
          <p:cNvCxnSpPr>
            <a:cxnSpLocks/>
            <a:stCxn id="18" idx="1"/>
            <a:endCxn id="17" idx="3"/>
          </p:cNvCxnSpPr>
          <p:nvPr/>
        </p:nvCxnSpPr>
        <p:spPr>
          <a:xfrm flipH="1" flipV="1">
            <a:off x="2187261" y="5069035"/>
            <a:ext cx="398126" cy="17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直線矢印コネクタ 21">
            <a:extLst>
              <a:ext uri="{FF2B5EF4-FFF2-40B4-BE49-F238E27FC236}">
                <a16:creationId xmlns:a16="http://schemas.microsoft.com/office/drawing/2014/main" id="{7DAC2EB0-BFD4-6A99-2909-71AE1604D9E7}"/>
              </a:ext>
            </a:extLst>
          </p:cNvPr>
          <p:cNvCxnSpPr>
            <a:cxnSpLocks/>
            <a:stCxn id="9" idx="2"/>
            <a:endCxn id="18" idx="0"/>
          </p:cNvCxnSpPr>
          <p:nvPr/>
        </p:nvCxnSpPr>
        <p:spPr>
          <a:xfrm>
            <a:off x="3066296" y="4769195"/>
            <a:ext cx="2858" cy="13954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正方形/長方形 24">
            <a:extLst>
              <a:ext uri="{FF2B5EF4-FFF2-40B4-BE49-F238E27FC236}">
                <a16:creationId xmlns:a16="http://schemas.microsoft.com/office/drawing/2014/main" id="{06402ED7-3E4F-4908-41AF-88C95022B4EB}"/>
              </a:ext>
            </a:extLst>
          </p:cNvPr>
          <p:cNvSpPr/>
          <p:nvPr/>
        </p:nvSpPr>
        <p:spPr>
          <a:xfrm>
            <a:off x="886575" y="4091045"/>
            <a:ext cx="1300686" cy="288000"/>
          </a:xfrm>
          <a:prstGeom prst="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ユーザー</a:t>
            </a:r>
          </a:p>
        </p:txBody>
      </p:sp>
      <p:sp>
        <p:nvSpPr>
          <p:cNvPr id="28" name="正方形/長方形 27">
            <a:extLst>
              <a:ext uri="{FF2B5EF4-FFF2-40B4-BE49-F238E27FC236}">
                <a16:creationId xmlns:a16="http://schemas.microsoft.com/office/drawing/2014/main" id="{61225239-2D1A-B578-7678-9B85FFCB3138}"/>
              </a:ext>
            </a:extLst>
          </p:cNvPr>
          <p:cNvSpPr/>
          <p:nvPr/>
        </p:nvSpPr>
        <p:spPr>
          <a:xfrm>
            <a:off x="2483571" y="4084964"/>
            <a:ext cx="1200598" cy="288000"/>
          </a:xfrm>
          <a:prstGeom prst="rect">
            <a:avLst/>
          </a:prstGeom>
          <a:solidFill>
            <a:schemeClr val="accent3">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システム</a:t>
            </a:r>
          </a:p>
        </p:txBody>
      </p:sp>
      <p:sp>
        <p:nvSpPr>
          <p:cNvPr id="47" name="四角形: 角を丸くする 46">
            <a:extLst>
              <a:ext uri="{FF2B5EF4-FFF2-40B4-BE49-F238E27FC236}">
                <a16:creationId xmlns:a16="http://schemas.microsoft.com/office/drawing/2014/main" id="{ADB522D7-F247-9014-F727-6FC60F8344CA}"/>
              </a:ext>
            </a:extLst>
          </p:cNvPr>
          <p:cNvSpPr/>
          <p:nvPr/>
        </p:nvSpPr>
        <p:spPr>
          <a:xfrm>
            <a:off x="4573029" y="3255554"/>
            <a:ext cx="4992888" cy="3084176"/>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48" name="四角形: 角を丸くする 47">
            <a:extLst>
              <a:ext uri="{FF2B5EF4-FFF2-40B4-BE49-F238E27FC236}">
                <a16:creationId xmlns:a16="http://schemas.microsoft.com/office/drawing/2014/main" id="{4EEE48D9-7C6C-8425-3CE1-EABCB6BDA507}"/>
              </a:ext>
            </a:extLst>
          </p:cNvPr>
          <p:cNvSpPr/>
          <p:nvPr/>
        </p:nvSpPr>
        <p:spPr>
          <a:xfrm>
            <a:off x="4573029" y="3033356"/>
            <a:ext cx="4992887" cy="414068"/>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コンポーネント設計</a:t>
            </a:r>
          </a:p>
        </p:txBody>
      </p:sp>
      <p:sp>
        <p:nvSpPr>
          <p:cNvPr id="49" name="テキスト ボックス 48">
            <a:extLst>
              <a:ext uri="{FF2B5EF4-FFF2-40B4-BE49-F238E27FC236}">
                <a16:creationId xmlns:a16="http://schemas.microsoft.com/office/drawing/2014/main" id="{1B74B494-3882-4042-285A-EED3EA77EDF4}"/>
              </a:ext>
            </a:extLst>
          </p:cNvPr>
          <p:cNvSpPr txBox="1"/>
          <p:nvPr/>
        </p:nvSpPr>
        <p:spPr>
          <a:xfrm>
            <a:off x="4692648" y="3508711"/>
            <a:ext cx="4687803" cy="448867"/>
          </a:xfrm>
          <a:prstGeom prst="rect">
            <a:avLst/>
          </a:prstGeom>
          <a:noFill/>
        </p:spPr>
        <p:txBody>
          <a:bodyPr wrap="square" lIns="0" rIns="0" rtlCol="0">
            <a:noAutofit/>
          </a:bodyPr>
          <a:lstStyle/>
          <a:p>
            <a:pPr algn="l" defTabSz="288000"/>
            <a:r>
              <a:rPr kumimoji="1" lang="ja-JP" altLang="en-US" sz="1400" dirty="0">
                <a:latin typeface="+mn-ea"/>
              </a:rPr>
              <a:t> ・処理をコンポーネントに分割</a:t>
            </a:r>
            <a:endParaRPr kumimoji="1" lang="en-US" altLang="ja-JP" sz="1400" dirty="0">
              <a:latin typeface="+mn-ea"/>
            </a:endParaRPr>
          </a:p>
          <a:p>
            <a:pPr algn="l" defTabSz="288000"/>
            <a:r>
              <a:rPr lang="en-US" altLang="ja-JP" sz="1400" dirty="0">
                <a:latin typeface="+mn-ea"/>
              </a:rPr>
              <a:t>	</a:t>
            </a:r>
            <a:r>
              <a:rPr lang="ja-JP" altLang="en-US" sz="1400" dirty="0">
                <a:latin typeface="+mn-ea"/>
              </a:rPr>
              <a:t>分割方法は使用する</a:t>
            </a:r>
            <a:r>
              <a:rPr lang="en-US" altLang="ja-JP" sz="1400" dirty="0">
                <a:latin typeface="+mn-ea"/>
              </a:rPr>
              <a:t>AP</a:t>
            </a:r>
            <a:r>
              <a:rPr lang="ja-JP" altLang="en-US" sz="1400" dirty="0">
                <a:latin typeface="+mn-ea"/>
              </a:rPr>
              <a:t>フレームワークに依って異なる</a:t>
            </a:r>
            <a:endParaRPr lang="en-US" altLang="ja-JP" sz="1400" dirty="0">
              <a:latin typeface="+mn-ea"/>
            </a:endParaRPr>
          </a:p>
        </p:txBody>
      </p:sp>
      <p:sp>
        <p:nvSpPr>
          <p:cNvPr id="58" name="矢印: 右 57">
            <a:extLst>
              <a:ext uri="{FF2B5EF4-FFF2-40B4-BE49-F238E27FC236}">
                <a16:creationId xmlns:a16="http://schemas.microsoft.com/office/drawing/2014/main" id="{E41340B8-6C02-F9D5-981B-ECD30B118BBE}"/>
              </a:ext>
            </a:extLst>
          </p:cNvPr>
          <p:cNvSpPr/>
          <p:nvPr/>
        </p:nvSpPr>
        <p:spPr>
          <a:xfrm>
            <a:off x="4033829" y="4037715"/>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2" name="四角形: 角を丸くする 81">
            <a:extLst>
              <a:ext uri="{FF2B5EF4-FFF2-40B4-BE49-F238E27FC236}">
                <a16:creationId xmlns:a16="http://schemas.microsoft.com/office/drawing/2014/main" id="{643F534B-21ED-02EE-228A-2FBA28DAE4E2}"/>
              </a:ext>
            </a:extLst>
          </p:cNvPr>
          <p:cNvSpPr/>
          <p:nvPr/>
        </p:nvSpPr>
        <p:spPr>
          <a:xfrm>
            <a:off x="10199660" y="3792641"/>
            <a:ext cx="1737145" cy="413232"/>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ユニット設計</a:t>
            </a:r>
          </a:p>
        </p:txBody>
      </p:sp>
      <p:sp>
        <p:nvSpPr>
          <p:cNvPr id="83" name="矢印: 右 82">
            <a:extLst>
              <a:ext uri="{FF2B5EF4-FFF2-40B4-BE49-F238E27FC236}">
                <a16:creationId xmlns:a16="http://schemas.microsoft.com/office/drawing/2014/main" id="{077C32ED-4738-08F5-BF77-07976ACF79F7}"/>
              </a:ext>
            </a:extLst>
          </p:cNvPr>
          <p:cNvSpPr/>
          <p:nvPr/>
        </p:nvSpPr>
        <p:spPr>
          <a:xfrm>
            <a:off x="9675724" y="4041138"/>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4" name="四角形: 角を丸くする 83">
            <a:extLst>
              <a:ext uri="{FF2B5EF4-FFF2-40B4-BE49-F238E27FC236}">
                <a16:creationId xmlns:a16="http://schemas.microsoft.com/office/drawing/2014/main" id="{7E294B0A-7032-1402-06D3-03053283FAF5}"/>
              </a:ext>
            </a:extLst>
          </p:cNvPr>
          <p:cNvSpPr/>
          <p:nvPr/>
        </p:nvSpPr>
        <p:spPr>
          <a:xfrm>
            <a:off x="10199661" y="3792052"/>
            <a:ext cx="1737145" cy="1133739"/>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85" name="テキスト ボックス 84">
            <a:extLst>
              <a:ext uri="{FF2B5EF4-FFF2-40B4-BE49-F238E27FC236}">
                <a16:creationId xmlns:a16="http://schemas.microsoft.com/office/drawing/2014/main" id="{B928965F-7CCE-7330-340A-D257E697D003}"/>
              </a:ext>
            </a:extLst>
          </p:cNvPr>
          <p:cNvSpPr txBox="1"/>
          <p:nvPr/>
        </p:nvSpPr>
        <p:spPr>
          <a:xfrm>
            <a:off x="10318996" y="4268215"/>
            <a:ext cx="1787930" cy="321424"/>
          </a:xfrm>
          <a:prstGeom prst="rect">
            <a:avLst/>
          </a:prstGeom>
          <a:noFill/>
        </p:spPr>
        <p:txBody>
          <a:bodyPr wrap="square" lIns="0" rIns="0" rtlCol="0">
            <a:noAutofit/>
          </a:bodyPr>
          <a:lstStyle/>
          <a:p>
            <a:pPr algn="l" defTabSz="288000"/>
            <a:r>
              <a:rPr kumimoji="1" lang="ja-JP" altLang="en-US" sz="1400" dirty="0">
                <a:latin typeface="+mn-ea"/>
              </a:rPr>
              <a:t> ・</a:t>
            </a:r>
            <a:r>
              <a:rPr lang="ja-JP" altLang="en-US" sz="1400" dirty="0">
                <a:latin typeface="+mn-ea"/>
              </a:rPr>
              <a:t>コンポーネントを</a:t>
            </a:r>
            <a:endParaRPr lang="en-US" altLang="ja-JP" sz="1400" dirty="0">
              <a:latin typeface="+mn-ea"/>
            </a:endParaRPr>
          </a:p>
          <a:p>
            <a:pPr algn="l" defTabSz="288000"/>
            <a:r>
              <a:rPr lang="ja-JP" altLang="en-US" sz="1400" dirty="0">
                <a:latin typeface="+mn-ea"/>
              </a:rPr>
              <a:t>　　　　クラスに分割</a:t>
            </a:r>
            <a:endParaRPr kumimoji="1" lang="ja-JP" altLang="en-US" sz="1400" dirty="0">
              <a:latin typeface="+mn-ea"/>
            </a:endParaRPr>
          </a:p>
        </p:txBody>
      </p:sp>
      <p:sp>
        <p:nvSpPr>
          <p:cNvPr id="14" name="テキスト ボックス 13">
            <a:extLst>
              <a:ext uri="{FF2B5EF4-FFF2-40B4-BE49-F238E27FC236}">
                <a16:creationId xmlns:a16="http://schemas.microsoft.com/office/drawing/2014/main" id="{C74AAA3F-9CB5-3ADD-B424-DC344626AA8A}"/>
              </a:ext>
            </a:extLst>
          </p:cNvPr>
          <p:cNvSpPr txBox="1"/>
          <p:nvPr/>
        </p:nvSpPr>
        <p:spPr>
          <a:xfrm>
            <a:off x="622469" y="1669815"/>
            <a:ext cx="7556204" cy="830997"/>
          </a:xfrm>
          <a:prstGeom prst="rect">
            <a:avLst/>
          </a:prstGeom>
          <a:noFill/>
        </p:spPr>
        <p:txBody>
          <a:bodyPr wrap="square">
            <a:spAutoFit/>
          </a:bodyPr>
          <a:lstStyle/>
          <a:p>
            <a:r>
              <a:rPr lang="en-US" altLang="ja-JP" sz="1600" b="0" i="0" dirty="0">
                <a:effectLst/>
                <a:latin typeface="__Inter_a184c8"/>
              </a:rPr>
              <a:t>AP</a:t>
            </a:r>
            <a:r>
              <a:rPr lang="ja-JP" altLang="en-US" sz="1600" b="0" i="0" dirty="0">
                <a:effectLst/>
                <a:latin typeface="__Inter_a184c8"/>
              </a:rPr>
              <a:t>フレームワークの普及により、コンポーネントやクラスの内容や構成について、フレームワークが提供する標準的な設計指針が活用されるように</a:t>
            </a:r>
            <a:endParaRPr lang="en-US" altLang="ja-JP" sz="1600" b="0" i="0" dirty="0">
              <a:effectLst/>
              <a:latin typeface="__Inter_a184c8"/>
            </a:endParaRPr>
          </a:p>
          <a:p>
            <a:r>
              <a:rPr lang="ja-JP" altLang="en-US" sz="1600" b="0" i="0" dirty="0">
                <a:effectLst/>
                <a:latin typeface="__Inter_a184c8"/>
              </a:rPr>
              <a:t>⇒ 独自に設計書を書き起こす必要がないと判断され、省略されることが</a:t>
            </a:r>
            <a:r>
              <a:rPr lang="ja-JP" altLang="en-US" sz="1600" dirty="0">
                <a:latin typeface="__Inter_a184c8"/>
              </a:rPr>
              <a:t>多い</a:t>
            </a:r>
            <a:endParaRPr lang="en-US" altLang="ja-JP" sz="1600" b="0" i="0" dirty="0">
              <a:effectLst/>
              <a:latin typeface="HiraKakuPro-W3"/>
            </a:endParaRPr>
          </a:p>
        </p:txBody>
      </p:sp>
      <p:pic>
        <p:nvPicPr>
          <p:cNvPr id="20" name="図 19" descr="グラフィカル ユーザー インターフェイス&#10;&#10;AI によって生成されたコンテンツは間違っている可能性があります。">
            <a:extLst>
              <a:ext uri="{FF2B5EF4-FFF2-40B4-BE49-F238E27FC236}">
                <a16:creationId xmlns:a16="http://schemas.microsoft.com/office/drawing/2014/main" id="{BEF95670-2E02-93FB-9434-A9233447696E}"/>
              </a:ext>
            </a:extLst>
          </p:cNvPr>
          <p:cNvPicPr>
            <a:picLocks noChangeAspect="1"/>
          </p:cNvPicPr>
          <p:nvPr/>
        </p:nvPicPr>
        <p:blipFill>
          <a:blip r:embed="rId5"/>
          <a:stretch>
            <a:fillRect/>
          </a:stretch>
        </p:blipFill>
        <p:spPr>
          <a:xfrm>
            <a:off x="5122041" y="4404723"/>
            <a:ext cx="4040725" cy="1767478"/>
          </a:xfrm>
          <a:prstGeom prst="rect">
            <a:avLst/>
          </a:prstGeom>
        </p:spPr>
      </p:pic>
      <p:sp>
        <p:nvSpPr>
          <p:cNvPr id="19" name="テキスト ボックス 18">
            <a:extLst>
              <a:ext uri="{FF2B5EF4-FFF2-40B4-BE49-F238E27FC236}">
                <a16:creationId xmlns:a16="http://schemas.microsoft.com/office/drawing/2014/main" id="{059FE343-9A15-F627-36B2-49702375E3FA}"/>
              </a:ext>
            </a:extLst>
          </p:cNvPr>
          <p:cNvSpPr txBox="1"/>
          <p:nvPr/>
        </p:nvSpPr>
        <p:spPr>
          <a:xfrm>
            <a:off x="4962964" y="4109028"/>
            <a:ext cx="3350469" cy="307777"/>
          </a:xfrm>
          <a:prstGeom prst="rect">
            <a:avLst/>
          </a:prstGeom>
          <a:noFill/>
        </p:spPr>
        <p:txBody>
          <a:bodyPr wrap="square">
            <a:spAutoFit/>
          </a:bodyPr>
          <a:lstStyle/>
          <a:p>
            <a:pPr algn="l" defTabSz="288000"/>
            <a:r>
              <a:rPr kumimoji="1" lang="ja-JP" altLang="en-US" sz="1400" dirty="0">
                <a:latin typeface="+mn-ea"/>
              </a:rPr>
              <a:t>例）</a:t>
            </a:r>
            <a:r>
              <a:rPr kumimoji="1" lang="en-US" altLang="ja-JP" sz="1400" dirty="0">
                <a:latin typeface="+mn-ea"/>
              </a:rPr>
              <a:t>TERASOLUNA</a:t>
            </a:r>
            <a:r>
              <a:rPr kumimoji="1" lang="ja-JP" altLang="en-US" sz="1400" dirty="0">
                <a:latin typeface="+mn-ea"/>
              </a:rPr>
              <a:t> </a:t>
            </a:r>
            <a:r>
              <a:rPr lang="ja-JP" altLang="en-US" sz="1400" dirty="0">
                <a:latin typeface="+mn-ea"/>
              </a:rPr>
              <a:t>フレームワークの場合</a:t>
            </a:r>
            <a:endParaRPr kumimoji="1" lang="ja-JP" altLang="en-US" sz="1400" dirty="0">
              <a:latin typeface="+mn-ea"/>
            </a:endParaRPr>
          </a:p>
        </p:txBody>
      </p:sp>
    </p:spTree>
    <p:extLst>
      <p:ext uri="{BB962C8B-B14F-4D97-AF65-F5344CB8AC3E}">
        <p14:creationId xmlns:p14="http://schemas.microsoft.com/office/powerpoint/2010/main" val="254871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5ABBD-460E-5E8D-337D-3478B30C20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0A1233-97A5-4D3A-80CE-4FBBB6402A7A}"/>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詳細設計</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96DB54B7-1C1F-22B9-62CC-59BCFCBD75A7}"/>
              </a:ext>
            </a:extLst>
          </p:cNvPr>
          <p:cNvSpPr>
            <a:spLocks noGrp="1"/>
          </p:cNvSpPr>
          <p:nvPr>
            <p:ph sz="quarter" idx="4294967295"/>
          </p:nvPr>
        </p:nvSpPr>
        <p:spPr>
          <a:xfrm>
            <a:off x="481490" y="978298"/>
            <a:ext cx="11448000" cy="1053145"/>
          </a:xfrm>
        </p:spPr>
        <p:txBody>
          <a:bodyPr/>
          <a:lstStyle/>
          <a:p>
            <a:r>
              <a:rPr lang="ja-JP" altLang="en-US" u="sng" dirty="0">
                <a:solidFill>
                  <a:schemeClr val="tx1"/>
                </a:solidFill>
              </a:rPr>
              <a:t>詳細設計（</a:t>
            </a:r>
            <a:r>
              <a:rPr lang="en-US" altLang="ja-JP" u="sng" dirty="0">
                <a:solidFill>
                  <a:schemeClr val="tx1"/>
                </a:solidFill>
              </a:rPr>
              <a:t>Detailed Design</a:t>
            </a:r>
            <a:r>
              <a:rPr lang="ja-JP" altLang="en-US" u="sng" dirty="0">
                <a:solidFill>
                  <a:schemeClr val="tx1"/>
                </a:solidFill>
              </a:rPr>
              <a:t>）フェーズ</a:t>
            </a:r>
            <a:endParaRPr lang="en-US" altLang="ja-JP" u="sng" dirty="0">
              <a:solidFill>
                <a:schemeClr val="tx1"/>
              </a:solidFill>
            </a:endParaRPr>
          </a:p>
          <a:p>
            <a:r>
              <a:rPr lang="ja-JP" altLang="en-US" dirty="0">
                <a:solidFill>
                  <a:schemeClr val="tx1"/>
                </a:solidFill>
                <a:latin typeface="HiraKakuPro-W3"/>
              </a:rPr>
              <a:t>例）ユニット設計書</a:t>
            </a:r>
            <a:endParaRPr lang="en-US" altLang="ja-JP" b="0" i="0" dirty="0">
              <a:solidFill>
                <a:schemeClr val="tx1"/>
              </a:solidFill>
              <a:effectLst/>
              <a:latin typeface="HiraKakuPro-W3"/>
            </a:endParaRPr>
          </a:p>
        </p:txBody>
      </p:sp>
      <p:pic>
        <p:nvPicPr>
          <p:cNvPr id="8" name="図 7"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55E1725B-D889-23DF-F9FE-2A6796C9E3D1}"/>
              </a:ext>
            </a:extLst>
          </p:cNvPr>
          <p:cNvPicPr>
            <a:picLocks noChangeAspect="1"/>
          </p:cNvPicPr>
          <p:nvPr/>
        </p:nvPicPr>
        <p:blipFill>
          <a:blip r:embed="rId2"/>
          <a:srcRect b="3766"/>
          <a:stretch/>
        </p:blipFill>
        <p:spPr>
          <a:xfrm>
            <a:off x="919469" y="1637415"/>
            <a:ext cx="6704075" cy="4885786"/>
          </a:xfrm>
          <a:prstGeom prst="rect">
            <a:avLst/>
          </a:prstGeom>
        </p:spPr>
      </p:pic>
      <p:sp>
        <p:nvSpPr>
          <p:cNvPr id="10" name="正方形/長方形 9">
            <a:extLst>
              <a:ext uri="{FF2B5EF4-FFF2-40B4-BE49-F238E27FC236}">
                <a16:creationId xmlns:a16="http://schemas.microsoft.com/office/drawing/2014/main" id="{040938A1-1F48-216D-7431-6ACD7B27E751}"/>
              </a:ext>
            </a:extLst>
          </p:cNvPr>
          <p:cNvSpPr/>
          <p:nvPr/>
        </p:nvSpPr>
        <p:spPr>
          <a:xfrm>
            <a:off x="7549117" y="4605754"/>
            <a:ext cx="3125971" cy="516697"/>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n-ea"/>
              </a:rPr>
              <a:t>そのままプログラムコードが書けるレベルで</a:t>
            </a:r>
            <a:endParaRPr lang="en-US" altLang="ja-JP" sz="1400" dirty="0">
              <a:latin typeface="+mn-ea"/>
            </a:endParaRPr>
          </a:p>
          <a:p>
            <a:pPr algn="ctr"/>
            <a:r>
              <a:rPr lang="ja-JP" altLang="en-US" sz="1400" dirty="0">
                <a:latin typeface="+mn-ea"/>
              </a:rPr>
              <a:t>ロジックを記載</a:t>
            </a:r>
            <a:endParaRPr kumimoji="1" lang="ja-JP" altLang="en-US" sz="1400" dirty="0">
              <a:solidFill>
                <a:schemeClr val="bg1"/>
              </a:solidFill>
            </a:endParaRPr>
          </a:p>
        </p:txBody>
      </p:sp>
      <p:sp>
        <p:nvSpPr>
          <p:cNvPr id="15" name="正方形/長方形 14">
            <a:extLst>
              <a:ext uri="{FF2B5EF4-FFF2-40B4-BE49-F238E27FC236}">
                <a16:creationId xmlns:a16="http://schemas.microsoft.com/office/drawing/2014/main" id="{8D5DF7B3-7547-93BF-2BAA-CD57E5B368B7}"/>
              </a:ext>
            </a:extLst>
          </p:cNvPr>
          <p:cNvSpPr/>
          <p:nvPr/>
        </p:nvSpPr>
        <p:spPr>
          <a:xfrm>
            <a:off x="845042" y="4605754"/>
            <a:ext cx="6704075" cy="1805679"/>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Tree>
    <p:extLst>
      <p:ext uri="{BB962C8B-B14F-4D97-AF65-F5344CB8AC3E}">
        <p14:creationId xmlns:p14="http://schemas.microsoft.com/office/powerpoint/2010/main" val="2352584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1FA3F-A10A-DC41-FCB7-BCC7CF6FD7A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04E0A8-FA8A-73C0-A252-8DA4191D74FE}"/>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再掲</a:t>
            </a:r>
            <a:endParaRPr kumimoji="1" lang="ja-JP" altLang="en-US" dirty="0"/>
          </a:p>
        </p:txBody>
      </p:sp>
      <p:pic>
        <p:nvPicPr>
          <p:cNvPr id="6" name="図 5" descr="ダイアグラム&#10;&#10;AI によって生成されたコンテンツは間違っている可能性があります。">
            <a:extLst>
              <a:ext uri="{FF2B5EF4-FFF2-40B4-BE49-F238E27FC236}">
                <a16:creationId xmlns:a16="http://schemas.microsoft.com/office/drawing/2014/main" id="{3E8A4425-E58B-355E-C3C1-6A07517BA099}"/>
              </a:ext>
            </a:extLst>
          </p:cNvPr>
          <p:cNvPicPr>
            <a:picLocks noChangeAspect="1"/>
          </p:cNvPicPr>
          <p:nvPr/>
        </p:nvPicPr>
        <p:blipFill>
          <a:blip r:embed="rId2"/>
          <a:srcRect b="4453"/>
          <a:stretch/>
        </p:blipFill>
        <p:spPr>
          <a:xfrm>
            <a:off x="2547198" y="1864593"/>
            <a:ext cx="7097604" cy="3890997"/>
          </a:xfrm>
          <a:prstGeom prst="rect">
            <a:avLst/>
          </a:prstGeom>
          <a:ln>
            <a:noFill/>
          </a:ln>
        </p:spPr>
      </p:pic>
      <p:sp>
        <p:nvSpPr>
          <p:cNvPr id="5" name="コンテンツ プレースホルダー 2">
            <a:extLst>
              <a:ext uri="{FF2B5EF4-FFF2-40B4-BE49-F238E27FC236}">
                <a16:creationId xmlns:a16="http://schemas.microsoft.com/office/drawing/2014/main" id="{EBC55F62-53DD-676C-D4B4-4416051C5E89}"/>
              </a:ext>
            </a:extLst>
          </p:cNvPr>
          <p:cNvSpPr txBox="1">
            <a:spLocks/>
          </p:cNvSpPr>
          <p:nvPr/>
        </p:nvSpPr>
        <p:spPr>
          <a:xfrm>
            <a:off x="372000" y="1038386"/>
            <a:ext cx="11448000" cy="8262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dirty="0"/>
              <a:t>V</a:t>
            </a:r>
            <a:r>
              <a:rPr lang="ja-JP" altLang="en-US" dirty="0"/>
              <a:t>字モデルとは</a:t>
            </a:r>
            <a:r>
              <a:rPr kumimoji="1" lang="ja-JP" altLang="en-US" dirty="0"/>
              <a:t>、</a:t>
            </a:r>
            <a:r>
              <a:rPr lang="ja-JP" altLang="en-US" dirty="0"/>
              <a:t> </a:t>
            </a:r>
            <a:r>
              <a:rPr lang="ja-JP" altLang="en-US" sz="2000" b="1" dirty="0"/>
              <a:t>「設計工程」と「製造・テスト工程」</a:t>
            </a:r>
            <a:r>
              <a:rPr kumimoji="1" lang="ja-JP" altLang="en-US" sz="2000" b="1" dirty="0"/>
              <a:t>の対応関係を視覚的に表現したモデル</a:t>
            </a:r>
            <a:r>
              <a:rPr lang="ja-JP" altLang="en-US" dirty="0"/>
              <a:t>で</a:t>
            </a:r>
            <a:r>
              <a:rPr kumimoji="1" lang="ja-JP" altLang="en-US" dirty="0"/>
              <a:t>ある。</a:t>
            </a:r>
            <a:endParaRPr kumimoji="1" lang="en-US" altLang="ja-JP" dirty="0"/>
          </a:p>
          <a:p>
            <a:r>
              <a:rPr lang="en-US" altLang="ja-JP" dirty="0"/>
              <a:t>TERASOLUNA </a:t>
            </a:r>
            <a:r>
              <a:rPr lang="ja-JP" altLang="en-US" dirty="0"/>
              <a:t>開発手順では、以下の８つのフェーズを対象に</a:t>
            </a:r>
            <a:r>
              <a:rPr lang="en-US" altLang="ja-JP" dirty="0"/>
              <a:t>V</a:t>
            </a:r>
            <a:r>
              <a:rPr lang="ja-JP" altLang="en-US" dirty="0"/>
              <a:t>字モデルを採用している。</a:t>
            </a:r>
            <a:endParaRPr kumimoji="1" lang="ja-JP" altLang="en-US" dirty="0"/>
          </a:p>
          <a:p>
            <a:endParaRPr kumimoji="1" lang="ja-JP" altLang="en-US" dirty="0"/>
          </a:p>
        </p:txBody>
      </p:sp>
      <p:sp>
        <p:nvSpPr>
          <p:cNvPr id="3" name="正方形/長方形 2">
            <a:extLst>
              <a:ext uri="{FF2B5EF4-FFF2-40B4-BE49-F238E27FC236}">
                <a16:creationId xmlns:a16="http://schemas.microsoft.com/office/drawing/2014/main" id="{BAEF70E6-B885-88E1-2453-F1802B29D504}"/>
              </a:ext>
            </a:extLst>
          </p:cNvPr>
          <p:cNvSpPr/>
          <p:nvPr/>
        </p:nvSpPr>
        <p:spPr>
          <a:xfrm>
            <a:off x="1517743" y="2061170"/>
            <a:ext cx="4320000" cy="3960000"/>
          </a:xfrm>
          <a:prstGeom prst="rect">
            <a:avLst/>
          </a:prstGeom>
          <a:noFill/>
          <a:ln w="571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正方形/長方形 3">
            <a:extLst>
              <a:ext uri="{FF2B5EF4-FFF2-40B4-BE49-F238E27FC236}">
                <a16:creationId xmlns:a16="http://schemas.microsoft.com/office/drawing/2014/main" id="{0AC832CC-6253-7BD7-F411-907971079CF6}"/>
              </a:ext>
            </a:extLst>
          </p:cNvPr>
          <p:cNvSpPr/>
          <p:nvPr/>
        </p:nvSpPr>
        <p:spPr>
          <a:xfrm>
            <a:off x="1517743" y="2061170"/>
            <a:ext cx="504000" cy="3960000"/>
          </a:xfrm>
          <a:prstGeom prst="rect">
            <a:avLst/>
          </a:prstGeom>
          <a:solidFill>
            <a:schemeClr val="bg1">
              <a:lumMod val="75000"/>
            </a:schemeClr>
          </a:solidFill>
          <a:ln w="5715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600" b="1" dirty="0">
                <a:solidFill>
                  <a:schemeClr val="bg1"/>
                </a:solidFill>
              </a:rPr>
              <a:t>設計</a:t>
            </a:r>
          </a:p>
        </p:txBody>
      </p:sp>
      <p:sp>
        <p:nvSpPr>
          <p:cNvPr id="7" name="正方形/長方形 6">
            <a:extLst>
              <a:ext uri="{FF2B5EF4-FFF2-40B4-BE49-F238E27FC236}">
                <a16:creationId xmlns:a16="http://schemas.microsoft.com/office/drawing/2014/main" id="{E29F7179-E0B1-6481-608F-2997FA5666B6}"/>
              </a:ext>
            </a:extLst>
          </p:cNvPr>
          <p:cNvSpPr/>
          <p:nvPr/>
        </p:nvSpPr>
        <p:spPr>
          <a:xfrm>
            <a:off x="6181724" y="2061170"/>
            <a:ext cx="4320000" cy="3960000"/>
          </a:xfrm>
          <a:prstGeom prst="rect">
            <a:avLst/>
          </a:prstGeom>
          <a:noFill/>
          <a:ln w="5715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 name="正方形/長方形 7">
            <a:extLst>
              <a:ext uri="{FF2B5EF4-FFF2-40B4-BE49-F238E27FC236}">
                <a16:creationId xmlns:a16="http://schemas.microsoft.com/office/drawing/2014/main" id="{AF3E0827-7D83-5E37-BF47-C0A3934A4DB6}"/>
              </a:ext>
            </a:extLst>
          </p:cNvPr>
          <p:cNvSpPr/>
          <p:nvPr/>
        </p:nvSpPr>
        <p:spPr>
          <a:xfrm>
            <a:off x="9997724" y="2061170"/>
            <a:ext cx="504000" cy="3960000"/>
          </a:xfrm>
          <a:prstGeom prst="rect">
            <a:avLst/>
          </a:prstGeom>
          <a:solidFill>
            <a:srgbClr val="92D050"/>
          </a:solidFill>
          <a:ln w="5715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600" b="1" dirty="0">
                <a:solidFill>
                  <a:schemeClr val="bg1"/>
                </a:solidFill>
              </a:rPr>
              <a:t>製造・テスト</a:t>
            </a:r>
          </a:p>
        </p:txBody>
      </p:sp>
    </p:spTree>
    <p:extLst>
      <p:ext uri="{BB962C8B-B14F-4D97-AF65-F5344CB8AC3E}">
        <p14:creationId xmlns:p14="http://schemas.microsoft.com/office/powerpoint/2010/main" val="1932359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A4358-993C-BA73-312A-A4BF8BC1DC37}"/>
            </a:ext>
          </a:extLst>
        </p:cNvPr>
        <p:cNvGrpSpPr/>
        <p:nvPr/>
      </p:nvGrpSpPr>
      <p:grpSpPr>
        <a:xfrm>
          <a:off x="0" y="0"/>
          <a:ext cx="0" cy="0"/>
          <a:chOff x="0" y="0"/>
          <a:chExt cx="0" cy="0"/>
        </a:xfrm>
      </p:grpSpPr>
      <p:sp>
        <p:nvSpPr>
          <p:cNvPr id="46" name="四角形: 角を丸くする 45">
            <a:extLst>
              <a:ext uri="{FF2B5EF4-FFF2-40B4-BE49-F238E27FC236}">
                <a16:creationId xmlns:a16="http://schemas.microsoft.com/office/drawing/2014/main" id="{98BA5A20-0661-795B-9D69-3CAAD66B43F2}"/>
              </a:ext>
            </a:extLst>
          </p:cNvPr>
          <p:cNvSpPr/>
          <p:nvPr/>
        </p:nvSpPr>
        <p:spPr>
          <a:xfrm>
            <a:off x="9396915" y="3028609"/>
            <a:ext cx="1800000" cy="3094122"/>
          </a:xfrm>
          <a:prstGeom prst="roundRect">
            <a:avLst>
              <a:gd name="adj" fmla="val 5129"/>
            </a:avLst>
          </a:prstGeom>
          <a:solidFill>
            <a:schemeClr val="bg1"/>
          </a:solidFill>
          <a:ln w="285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600" u="sng" dirty="0">
              <a:solidFill>
                <a:schemeClr val="tx1"/>
              </a:solidFill>
            </a:endParaRPr>
          </a:p>
        </p:txBody>
      </p:sp>
      <p:sp>
        <p:nvSpPr>
          <p:cNvPr id="45" name="四角形: 角を丸くする 44">
            <a:extLst>
              <a:ext uri="{FF2B5EF4-FFF2-40B4-BE49-F238E27FC236}">
                <a16:creationId xmlns:a16="http://schemas.microsoft.com/office/drawing/2014/main" id="{56D820DE-029B-3BFB-9F53-DC7284A7CA68}"/>
              </a:ext>
            </a:extLst>
          </p:cNvPr>
          <p:cNvSpPr/>
          <p:nvPr/>
        </p:nvSpPr>
        <p:spPr>
          <a:xfrm>
            <a:off x="9244515" y="2876209"/>
            <a:ext cx="1800000" cy="3094122"/>
          </a:xfrm>
          <a:prstGeom prst="roundRect">
            <a:avLst>
              <a:gd name="adj" fmla="val 5129"/>
            </a:avLst>
          </a:prstGeom>
          <a:solidFill>
            <a:schemeClr val="bg1"/>
          </a:solidFill>
          <a:ln w="285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600" u="sng" dirty="0">
              <a:solidFill>
                <a:schemeClr val="tx1"/>
              </a:solidFill>
            </a:endParaRPr>
          </a:p>
        </p:txBody>
      </p:sp>
      <p:sp>
        <p:nvSpPr>
          <p:cNvPr id="2" name="タイトル 1">
            <a:extLst>
              <a:ext uri="{FF2B5EF4-FFF2-40B4-BE49-F238E27FC236}">
                <a16:creationId xmlns:a16="http://schemas.microsoft.com/office/drawing/2014/main" id="{BA37FD6F-0159-C0F4-47B2-5E7871E41673}"/>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製造 </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4618E2BE-52D0-A927-873A-9897900B8904}"/>
              </a:ext>
            </a:extLst>
          </p:cNvPr>
          <p:cNvSpPr>
            <a:spLocks noGrp="1"/>
          </p:cNvSpPr>
          <p:nvPr>
            <p:ph sz="quarter" idx="4294967295"/>
          </p:nvPr>
        </p:nvSpPr>
        <p:spPr>
          <a:xfrm>
            <a:off x="481490" y="978298"/>
            <a:ext cx="11448000" cy="1664786"/>
          </a:xfrm>
        </p:spPr>
        <p:txBody>
          <a:bodyPr/>
          <a:lstStyle/>
          <a:p>
            <a:r>
              <a:rPr lang="ja-JP" altLang="en-US" b="1" u="sng" dirty="0">
                <a:solidFill>
                  <a:schemeClr val="tx1"/>
                </a:solidFill>
              </a:rPr>
              <a:t>製造</a:t>
            </a:r>
            <a:r>
              <a:rPr lang="en-US" altLang="ja-JP" u="sng" dirty="0">
                <a:solidFill>
                  <a:schemeClr val="tx1"/>
                </a:solidFill>
              </a:rPr>
              <a:t>/</a:t>
            </a:r>
            <a:r>
              <a:rPr lang="ja-JP" altLang="en-US" u="sng" dirty="0">
                <a:solidFill>
                  <a:schemeClr val="tx1"/>
                </a:solidFill>
              </a:rPr>
              <a:t>単体テスト（</a:t>
            </a:r>
            <a:r>
              <a:rPr lang="en-US" altLang="ja-JP" u="sng" dirty="0">
                <a:solidFill>
                  <a:schemeClr val="tx1"/>
                </a:solidFill>
              </a:rPr>
              <a:t>Construction and Unit Test</a:t>
            </a:r>
            <a:r>
              <a:rPr lang="ja-JP" altLang="en-US" u="sng" dirty="0">
                <a:solidFill>
                  <a:schemeClr val="tx1"/>
                </a:solidFill>
              </a:rPr>
              <a:t>）フェーズ</a:t>
            </a:r>
            <a:endParaRPr lang="en-US" altLang="ja-JP" u="sng" dirty="0">
              <a:solidFill>
                <a:schemeClr val="tx1"/>
              </a:solidFill>
            </a:endParaRPr>
          </a:p>
          <a:p>
            <a:r>
              <a:rPr lang="ja-JP" altLang="en-US" dirty="0">
                <a:solidFill>
                  <a:schemeClr val="tx1"/>
                </a:solidFill>
              </a:rPr>
              <a:t>詳細設計通りに動作する</a:t>
            </a:r>
            <a:r>
              <a:rPr lang="ja-JP" altLang="en-US" b="0" i="0" dirty="0">
                <a:solidFill>
                  <a:schemeClr val="tx1"/>
                </a:solidFill>
                <a:effectLst/>
              </a:rPr>
              <a:t>プログラムコードを作成するフェーズ</a:t>
            </a:r>
            <a:endParaRPr lang="en-US" altLang="ja-JP" u="sng" dirty="0">
              <a:solidFill>
                <a:schemeClr val="tx1"/>
              </a:solidFill>
            </a:endParaRPr>
          </a:p>
          <a:p>
            <a:r>
              <a:rPr lang="ja-JP" altLang="en-US" dirty="0">
                <a:solidFill>
                  <a:schemeClr val="tx1"/>
                </a:solidFill>
              </a:rPr>
              <a:t>■主な作業</a:t>
            </a:r>
            <a:endParaRPr lang="en-US" altLang="ja-JP" dirty="0">
              <a:solidFill>
                <a:schemeClr val="tx1"/>
              </a:solidFill>
            </a:endParaRPr>
          </a:p>
          <a:p>
            <a:r>
              <a:rPr lang="en-US" altLang="ja-JP" dirty="0">
                <a:solidFill>
                  <a:schemeClr val="tx1"/>
                </a:solidFill>
              </a:rPr>
              <a:t>	</a:t>
            </a:r>
            <a:r>
              <a:rPr lang="ja-JP" altLang="en-US" dirty="0">
                <a:solidFill>
                  <a:schemeClr val="tx1"/>
                </a:solidFill>
              </a:rPr>
              <a:t>・</a:t>
            </a:r>
            <a:r>
              <a:rPr lang="ja-JP" altLang="en-US" sz="2000" b="1" dirty="0">
                <a:solidFill>
                  <a:schemeClr val="tx1"/>
                </a:solidFill>
              </a:rPr>
              <a:t>詳細設計（ユニット設計</a:t>
            </a:r>
            <a:r>
              <a:rPr lang="en-US" altLang="ja-JP" sz="2000" b="1" dirty="0">
                <a:solidFill>
                  <a:schemeClr val="tx1"/>
                </a:solidFill>
              </a:rPr>
              <a:t>/</a:t>
            </a:r>
            <a:r>
              <a:rPr lang="ja-JP" altLang="en-US" sz="2000" b="1" dirty="0">
                <a:solidFill>
                  <a:schemeClr val="tx1"/>
                </a:solidFill>
              </a:rPr>
              <a:t>コンポーネント設計）に対してプログラムコード</a:t>
            </a:r>
            <a:r>
              <a:rPr lang="ja-JP" altLang="en-US" dirty="0">
                <a:solidFill>
                  <a:schemeClr val="tx1"/>
                </a:solidFill>
              </a:rPr>
              <a:t>を作成する</a:t>
            </a:r>
            <a:endParaRPr lang="en-US" altLang="ja-JP" dirty="0">
              <a:solidFill>
                <a:schemeClr val="tx1"/>
              </a:solidFill>
            </a:endParaRPr>
          </a:p>
        </p:txBody>
      </p:sp>
      <p:grpSp>
        <p:nvGrpSpPr>
          <p:cNvPr id="5" name="グループ化 4">
            <a:extLst>
              <a:ext uri="{FF2B5EF4-FFF2-40B4-BE49-F238E27FC236}">
                <a16:creationId xmlns:a16="http://schemas.microsoft.com/office/drawing/2014/main" id="{102C7122-0BAB-81CD-018E-D9365AF6B60B}"/>
              </a:ext>
            </a:extLst>
          </p:cNvPr>
          <p:cNvGrpSpPr/>
          <p:nvPr/>
        </p:nvGrpSpPr>
        <p:grpSpPr>
          <a:xfrm>
            <a:off x="8633867" y="152748"/>
            <a:ext cx="3295623" cy="1890892"/>
            <a:chOff x="8633867" y="152748"/>
            <a:chExt cx="3295623" cy="1890892"/>
          </a:xfrm>
        </p:grpSpPr>
        <p:pic>
          <p:nvPicPr>
            <p:cNvPr id="11" name="図 10" descr="ダイアグラム&#10;&#10;AI によって生成されたコンテンツは間違っている可能性があります。">
              <a:extLst>
                <a:ext uri="{FF2B5EF4-FFF2-40B4-BE49-F238E27FC236}">
                  <a16:creationId xmlns:a16="http://schemas.microsoft.com/office/drawing/2014/main" id="{ABDFBD9A-EDAF-FDF8-D33D-AAECBEF92163}"/>
                </a:ext>
              </a:extLst>
            </p:cNvPr>
            <p:cNvPicPr>
              <a:picLocks noChangeAspect="1"/>
            </p:cNvPicPr>
            <p:nvPr/>
          </p:nvPicPr>
          <p:blipFill>
            <a:blip r:embed="rId2"/>
            <a:stretch>
              <a:fillRect/>
            </a:stretch>
          </p:blipFill>
          <p:spPr>
            <a:xfrm>
              <a:off x="8633867" y="152748"/>
              <a:ext cx="3295623" cy="1890892"/>
            </a:xfrm>
            <a:prstGeom prst="rect">
              <a:avLst/>
            </a:prstGeom>
            <a:ln>
              <a:solidFill>
                <a:schemeClr val="tx1"/>
              </a:solidFill>
            </a:ln>
          </p:spPr>
        </p:pic>
        <p:sp>
          <p:nvSpPr>
            <p:cNvPr id="12" name="正方形/長方形 11">
              <a:extLst>
                <a:ext uri="{FF2B5EF4-FFF2-40B4-BE49-F238E27FC236}">
                  <a16:creationId xmlns:a16="http://schemas.microsoft.com/office/drawing/2014/main" id="{7F7A1682-D126-429D-686D-99732EE44F41}"/>
                </a:ext>
              </a:extLst>
            </p:cNvPr>
            <p:cNvSpPr/>
            <p:nvPr/>
          </p:nvSpPr>
          <p:spPr>
            <a:xfrm>
              <a:off x="10333169" y="1570811"/>
              <a:ext cx="900000" cy="396000"/>
            </a:xfrm>
            <a:prstGeom prst="rect">
              <a:avLst/>
            </a:prstGeom>
            <a:noFill/>
            <a:ln w="3810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33" name="矢印: 下 32">
              <a:extLst>
                <a:ext uri="{FF2B5EF4-FFF2-40B4-BE49-F238E27FC236}">
                  <a16:creationId xmlns:a16="http://schemas.microsoft.com/office/drawing/2014/main" id="{3571521B-DDB3-ACA4-213D-03175CAD26FB}"/>
                </a:ext>
              </a:extLst>
            </p:cNvPr>
            <p:cNvSpPr/>
            <p:nvPr/>
          </p:nvSpPr>
          <p:spPr>
            <a:xfrm rot="16200000" flipV="1">
              <a:off x="11329270" y="1596523"/>
              <a:ext cx="210790" cy="363894"/>
            </a:xfrm>
            <a:prstGeom prst="downArrow">
              <a:avLst/>
            </a:prstGeom>
            <a:solidFill>
              <a:srgbClr val="92D05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正方形/長方形 3">
              <a:extLst>
                <a:ext uri="{FF2B5EF4-FFF2-40B4-BE49-F238E27FC236}">
                  <a16:creationId xmlns:a16="http://schemas.microsoft.com/office/drawing/2014/main" id="{ED8C9C4A-CB74-4F62-F6E7-25B4E23AAE5D}"/>
                </a:ext>
              </a:extLst>
            </p:cNvPr>
            <p:cNvSpPr/>
            <p:nvPr/>
          </p:nvSpPr>
          <p:spPr>
            <a:xfrm>
              <a:off x="8706399"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7" name="四角形: 角を丸くする 6">
            <a:extLst>
              <a:ext uri="{FF2B5EF4-FFF2-40B4-BE49-F238E27FC236}">
                <a16:creationId xmlns:a16="http://schemas.microsoft.com/office/drawing/2014/main" id="{B25F686D-374D-5542-93B8-227C646B3410}"/>
              </a:ext>
            </a:extLst>
          </p:cNvPr>
          <p:cNvSpPr/>
          <p:nvPr/>
        </p:nvSpPr>
        <p:spPr>
          <a:xfrm>
            <a:off x="880595" y="3038555"/>
            <a:ext cx="4992888" cy="3084176"/>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9" name="四角形: 角を丸くする 8">
            <a:extLst>
              <a:ext uri="{FF2B5EF4-FFF2-40B4-BE49-F238E27FC236}">
                <a16:creationId xmlns:a16="http://schemas.microsoft.com/office/drawing/2014/main" id="{835B2BE3-E767-9D7F-7297-F545C7757209}"/>
              </a:ext>
            </a:extLst>
          </p:cNvPr>
          <p:cNvSpPr/>
          <p:nvPr/>
        </p:nvSpPr>
        <p:spPr>
          <a:xfrm>
            <a:off x="880595" y="2816357"/>
            <a:ext cx="4992887" cy="414068"/>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コンポーネント設計</a:t>
            </a:r>
          </a:p>
        </p:txBody>
      </p:sp>
      <p:sp>
        <p:nvSpPr>
          <p:cNvPr id="10" name="テキスト ボックス 9">
            <a:extLst>
              <a:ext uri="{FF2B5EF4-FFF2-40B4-BE49-F238E27FC236}">
                <a16:creationId xmlns:a16="http://schemas.microsoft.com/office/drawing/2014/main" id="{40949CF4-3618-16CE-82EF-FB201C34F6C7}"/>
              </a:ext>
            </a:extLst>
          </p:cNvPr>
          <p:cNvSpPr txBox="1"/>
          <p:nvPr/>
        </p:nvSpPr>
        <p:spPr>
          <a:xfrm>
            <a:off x="1000214" y="3291712"/>
            <a:ext cx="4687803" cy="448867"/>
          </a:xfrm>
          <a:prstGeom prst="rect">
            <a:avLst/>
          </a:prstGeom>
          <a:noFill/>
        </p:spPr>
        <p:txBody>
          <a:bodyPr wrap="square" lIns="0" rIns="0" rtlCol="0">
            <a:noAutofit/>
          </a:bodyPr>
          <a:lstStyle/>
          <a:p>
            <a:pPr algn="l" defTabSz="288000"/>
            <a:r>
              <a:rPr kumimoji="1" lang="ja-JP" altLang="en-US" sz="1400" dirty="0">
                <a:latin typeface="+mn-ea"/>
              </a:rPr>
              <a:t> ・処理をコンポーネントに分割</a:t>
            </a:r>
            <a:endParaRPr kumimoji="1" lang="en-US" altLang="ja-JP" sz="1400" dirty="0">
              <a:latin typeface="+mn-ea"/>
            </a:endParaRPr>
          </a:p>
          <a:p>
            <a:pPr algn="l" defTabSz="288000"/>
            <a:r>
              <a:rPr lang="en-US" altLang="ja-JP" sz="1400" dirty="0">
                <a:latin typeface="+mn-ea"/>
              </a:rPr>
              <a:t>	</a:t>
            </a:r>
            <a:r>
              <a:rPr lang="ja-JP" altLang="en-US" sz="1400" dirty="0">
                <a:latin typeface="+mn-ea"/>
              </a:rPr>
              <a:t>分割方法は使用する</a:t>
            </a:r>
            <a:r>
              <a:rPr lang="en-US" altLang="ja-JP" sz="1400" dirty="0">
                <a:latin typeface="+mn-ea"/>
              </a:rPr>
              <a:t>AP</a:t>
            </a:r>
            <a:r>
              <a:rPr lang="ja-JP" altLang="en-US" sz="1400" dirty="0">
                <a:latin typeface="+mn-ea"/>
              </a:rPr>
              <a:t>フレームワークに依って異なる</a:t>
            </a:r>
            <a:endParaRPr lang="en-US" altLang="ja-JP" sz="1400" dirty="0">
              <a:latin typeface="+mn-ea"/>
            </a:endParaRPr>
          </a:p>
        </p:txBody>
      </p:sp>
      <p:sp>
        <p:nvSpPr>
          <p:cNvPr id="13" name="四角形: 角を丸くする 12">
            <a:extLst>
              <a:ext uri="{FF2B5EF4-FFF2-40B4-BE49-F238E27FC236}">
                <a16:creationId xmlns:a16="http://schemas.microsoft.com/office/drawing/2014/main" id="{8E102AA1-D09F-10FB-A1F4-417329A4CF5D}"/>
              </a:ext>
            </a:extLst>
          </p:cNvPr>
          <p:cNvSpPr/>
          <p:nvPr/>
        </p:nvSpPr>
        <p:spPr>
          <a:xfrm>
            <a:off x="6507226" y="3575642"/>
            <a:ext cx="1737145" cy="413232"/>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ユニット設計</a:t>
            </a:r>
          </a:p>
        </p:txBody>
      </p:sp>
      <p:sp>
        <p:nvSpPr>
          <p:cNvPr id="14" name="矢印: 右 13">
            <a:extLst>
              <a:ext uri="{FF2B5EF4-FFF2-40B4-BE49-F238E27FC236}">
                <a16:creationId xmlns:a16="http://schemas.microsoft.com/office/drawing/2014/main" id="{DABBD7DE-B819-3F30-152C-D3591C26CA78}"/>
              </a:ext>
            </a:extLst>
          </p:cNvPr>
          <p:cNvSpPr/>
          <p:nvPr/>
        </p:nvSpPr>
        <p:spPr>
          <a:xfrm>
            <a:off x="5983290" y="3824139"/>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5" name="四角形: 角を丸くする 14">
            <a:extLst>
              <a:ext uri="{FF2B5EF4-FFF2-40B4-BE49-F238E27FC236}">
                <a16:creationId xmlns:a16="http://schemas.microsoft.com/office/drawing/2014/main" id="{260F12AD-2C7A-78AD-01D4-6DF0056A2189}"/>
              </a:ext>
            </a:extLst>
          </p:cNvPr>
          <p:cNvSpPr/>
          <p:nvPr/>
        </p:nvSpPr>
        <p:spPr>
          <a:xfrm>
            <a:off x="6507227" y="3575053"/>
            <a:ext cx="1737145" cy="1133739"/>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16" name="テキスト ボックス 15">
            <a:extLst>
              <a:ext uri="{FF2B5EF4-FFF2-40B4-BE49-F238E27FC236}">
                <a16:creationId xmlns:a16="http://schemas.microsoft.com/office/drawing/2014/main" id="{643D5DB1-8C94-D215-1152-B1884D011A21}"/>
              </a:ext>
            </a:extLst>
          </p:cNvPr>
          <p:cNvSpPr txBox="1"/>
          <p:nvPr/>
        </p:nvSpPr>
        <p:spPr>
          <a:xfrm>
            <a:off x="6626562" y="4051216"/>
            <a:ext cx="1787930" cy="321424"/>
          </a:xfrm>
          <a:prstGeom prst="rect">
            <a:avLst/>
          </a:prstGeom>
          <a:noFill/>
        </p:spPr>
        <p:txBody>
          <a:bodyPr wrap="square" lIns="0" rIns="0" rtlCol="0">
            <a:noAutofit/>
          </a:bodyPr>
          <a:lstStyle/>
          <a:p>
            <a:pPr algn="l" defTabSz="288000"/>
            <a:r>
              <a:rPr kumimoji="1" lang="ja-JP" altLang="en-US" sz="1400" dirty="0">
                <a:latin typeface="+mn-ea"/>
              </a:rPr>
              <a:t> ・</a:t>
            </a:r>
            <a:r>
              <a:rPr lang="ja-JP" altLang="en-US" sz="1400" dirty="0">
                <a:latin typeface="+mn-ea"/>
              </a:rPr>
              <a:t>コンポーネントを</a:t>
            </a:r>
            <a:endParaRPr lang="en-US" altLang="ja-JP" sz="1400" dirty="0">
              <a:latin typeface="+mn-ea"/>
            </a:endParaRPr>
          </a:p>
          <a:p>
            <a:pPr algn="l" defTabSz="288000"/>
            <a:r>
              <a:rPr lang="ja-JP" altLang="en-US" sz="1400" dirty="0">
                <a:latin typeface="+mn-ea"/>
              </a:rPr>
              <a:t>　　　　クラスに分割</a:t>
            </a:r>
            <a:endParaRPr kumimoji="1" lang="ja-JP" altLang="en-US" sz="1400" dirty="0">
              <a:latin typeface="+mn-ea"/>
            </a:endParaRPr>
          </a:p>
        </p:txBody>
      </p:sp>
      <p:pic>
        <p:nvPicPr>
          <p:cNvPr id="17" name="図 16" descr="グラフィカル ユーザー インターフェイス&#10;&#10;AI によって生成されたコンテンツは間違っている可能性があります。">
            <a:extLst>
              <a:ext uri="{FF2B5EF4-FFF2-40B4-BE49-F238E27FC236}">
                <a16:creationId xmlns:a16="http://schemas.microsoft.com/office/drawing/2014/main" id="{443C0BED-CB2D-84FD-A7FF-12D517B745E3}"/>
              </a:ext>
            </a:extLst>
          </p:cNvPr>
          <p:cNvPicPr>
            <a:picLocks noChangeAspect="1"/>
          </p:cNvPicPr>
          <p:nvPr/>
        </p:nvPicPr>
        <p:blipFill>
          <a:blip r:embed="rId3"/>
          <a:stretch>
            <a:fillRect/>
          </a:stretch>
        </p:blipFill>
        <p:spPr>
          <a:xfrm>
            <a:off x="1429607" y="4187724"/>
            <a:ext cx="4040725" cy="1767478"/>
          </a:xfrm>
          <a:prstGeom prst="rect">
            <a:avLst/>
          </a:prstGeom>
        </p:spPr>
      </p:pic>
      <p:sp>
        <p:nvSpPr>
          <p:cNvPr id="18" name="テキスト ボックス 17">
            <a:extLst>
              <a:ext uri="{FF2B5EF4-FFF2-40B4-BE49-F238E27FC236}">
                <a16:creationId xmlns:a16="http://schemas.microsoft.com/office/drawing/2014/main" id="{E17CD80C-2E57-D2D1-FDC7-C6828400944E}"/>
              </a:ext>
            </a:extLst>
          </p:cNvPr>
          <p:cNvSpPr txBox="1"/>
          <p:nvPr/>
        </p:nvSpPr>
        <p:spPr>
          <a:xfrm>
            <a:off x="1270530" y="3892029"/>
            <a:ext cx="3350469" cy="307777"/>
          </a:xfrm>
          <a:prstGeom prst="rect">
            <a:avLst/>
          </a:prstGeom>
          <a:noFill/>
        </p:spPr>
        <p:txBody>
          <a:bodyPr wrap="square">
            <a:spAutoFit/>
          </a:bodyPr>
          <a:lstStyle/>
          <a:p>
            <a:pPr algn="l" defTabSz="288000"/>
            <a:r>
              <a:rPr kumimoji="1" lang="ja-JP" altLang="en-US" sz="1400" dirty="0">
                <a:latin typeface="+mn-ea"/>
              </a:rPr>
              <a:t>例）</a:t>
            </a:r>
            <a:r>
              <a:rPr kumimoji="1" lang="en-US" altLang="ja-JP" sz="1400" dirty="0">
                <a:latin typeface="+mn-ea"/>
              </a:rPr>
              <a:t>TERASOLUNA</a:t>
            </a:r>
            <a:r>
              <a:rPr kumimoji="1" lang="ja-JP" altLang="en-US" sz="1400" dirty="0">
                <a:latin typeface="+mn-ea"/>
              </a:rPr>
              <a:t> </a:t>
            </a:r>
            <a:r>
              <a:rPr lang="ja-JP" altLang="en-US" sz="1400" dirty="0">
                <a:latin typeface="+mn-ea"/>
              </a:rPr>
              <a:t>フレームワークの場合</a:t>
            </a:r>
            <a:endParaRPr kumimoji="1" lang="ja-JP" altLang="en-US" sz="1400" dirty="0">
              <a:latin typeface="+mn-ea"/>
            </a:endParaRPr>
          </a:p>
        </p:txBody>
      </p:sp>
      <p:sp>
        <p:nvSpPr>
          <p:cNvPr id="26" name="矢印: 右 25">
            <a:extLst>
              <a:ext uri="{FF2B5EF4-FFF2-40B4-BE49-F238E27FC236}">
                <a16:creationId xmlns:a16="http://schemas.microsoft.com/office/drawing/2014/main" id="{0056E616-5613-9ADB-F18E-17994F5D4CBC}"/>
              </a:ext>
            </a:extLst>
          </p:cNvPr>
          <p:cNvSpPr/>
          <p:nvPr/>
        </p:nvSpPr>
        <p:spPr>
          <a:xfrm>
            <a:off x="8411517" y="3815652"/>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3" name="四角形: 角を丸くする 42">
            <a:extLst>
              <a:ext uri="{FF2B5EF4-FFF2-40B4-BE49-F238E27FC236}">
                <a16:creationId xmlns:a16="http://schemas.microsoft.com/office/drawing/2014/main" id="{4A7814F6-DEF0-4005-E808-B68BEEBA213D}"/>
              </a:ext>
            </a:extLst>
          </p:cNvPr>
          <p:cNvSpPr/>
          <p:nvPr/>
        </p:nvSpPr>
        <p:spPr>
          <a:xfrm>
            <a:off x="9092115" y="2723809"/>
            <a:ext cx="1800000" cy="3094122"/>
          </a:xfrm>
          <a:prstGeom prst="roundRect">
            <a:avLst>
              <a:gd name="adj" fmla="val 5129"/>
            </a:avLst>
          </a:prstGeom>
          <a:solidFill>
            <a:schemeClr val="bg1"/>
          </a:solidFill>
          <a:ln w="285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600" u="sng" dirty="0">
              <a:solidFill>
                <a:schemeClr val="tx1"/>
              </a:solidFill>
            </a:endParaRPr>
          </a:p>
        </p:txBody>
      </p:sp>
      <p:sp>
        <p:nvSpPr>
          <p:cNvPr id="44" name="四角形: 角を丸くする 43">
            <a:extLst>
              <a:ext uri="{FF2B5EF4-FFF2-40B4-BE49-F238E27FC236}">
                <a16:creationId xmlns:a16="http://schemas.microsoft.com/office/drawing/2014/main" id="{E3FB024C-1338-EED3-BCCE-54E7B472B940}"/>
              </a:ext>
            </a:extLst>
          </p:cNvPr>
          <p:cNvSpPr/>
          <p:nvPr/>
        </p:nvSpPr>
        <p:spPr>
          <a:xfrm>
            <a:off x="9092115" y="2682594"/>
            <a:ext cx="1800000" cy="415975"/>
          </a:xfrm>
          <a:prstGeom prst="roundRect">
            <a:avLst/>
          </a:prstGeom>
          <a:solidFill>
            <a:schemeClr val="accent3"/>
          </a:solidFill>
          <a:ln w="285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画面</a:t>
            </a:r>
            <a:r>
              <a:rPr kumimoji="1" lang="en-US" altLang="ja-JP" sz="1400" dirty="0">
                <a:solidFill>
                  <a:schemeClr val="bg1"/>
                </a:solidFill>
              </a:rPr>
              <a:t>/</a:t>
            </a:r>
            <a:r>
              <a:rPr kumimoji="1" lang="ja-JP" altLang="en-US" sz="1400" dirty="0">
                <a:solidFill>
                  <a:schemeClr val="bg1"/>
                </a:solidFill>
              </a:rPr>
              <a:t>機能</a:t>
            </a:r>
          </a:p>
        </p:txBody>
      </p:sp>
      <p:grpSp>
        <p:nvGrpSpPr>
          <p:cNvPr id="25" name="グループ化 24">
            <a:extLst>
              <a:ext uri="{FF2B5EF4-FFF2-40B4-BE49-F238E27FC236}">
                <a16:creationId xmlns:a16="http://schemas.microsoft.com/office/drawing/2014/main" id="{05AE600A-DC4C-636E-E210-644E14CB71A1}"/>
              </a:ext>
            </a:extLst>
          </p:cNvPr>
          <p:cNvGrpSpPr/>
          <p:nvPr/>
        </p:nvGrpSpPr>
        <p:grpSpPr>
          <a:xfrm>
            <a:off x="9314294" y="3242707"/>
            <a:ext cx="1367279" cy="468000"/>
            <a:chOff x="8633867" y="3723578"/>
            <a:chExt cx="1367279" cy="468000"/>
          </a:xfrm>
        </p:grpSpPr>
        <p:sp>
          <p:nvSpPr>
            <p:cNvPr id="19" name="正方形/長方形 18">
              <a:extLst>
                <a:ext uri="{FF2B5EF4-FFF2-40B4-BE49-F238E27FC236}">
                  <a16:creationId xmlns:a16="http://schemas.microsoft.com/office/drawing/2014/main" id="{F24CE875-4BDC-6FE0-569A-ACB0042E7183}"/>
                </a:ext>
              </a:extLst>
            </p:cNvPr>
            <p:cNvSpPr/>
            <p:nvPr/>
          </p:nvSpPr>
          <p:spPr>
            <a:xfrm>
              <a:off x="8633867" y="3723578"/>
              <a:ext cx="1367279" cy="468000"/>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20" name="グループ化 19">
              <a:extLst>
                <a:ext uri="{FF2B5EF4-FFF2-40B4-BE49-F238E27FC236}">
                  <a16:creationId xmlns:a16="http://schemas.microsoft.com/office/drawing/2014/main" id="{DE3A5BC2-D678-DC2A-2969-D33668AE656A}"/>
                </a:ext>
              </a:extLst>
            </p:cNvPr>
            <p:cNvGrpSpPr/>
            <p:nvPr/>
          </p:nvGrpSpPr>
          <p:grpSpPr>
            <a:xfrm>
              <a:off x="8743829" y="3752062"/>
              <a:ext cx="1214785" cy="410940"/>
              <a:chOff x="6052141" y="3993387"/>
              <a:chExt cx="1214785" cy="410940"/>
            </a:xfrm>
          </p:grpSpPr>
          <p:pic>
            <p:nvPicPr>
              <p:cNvPr id="21" name="グラフィックス 20" descr="Web デザイン 枠線">
                <a:extLst>
                  <a:ext uri="{FF2B5EF4-FFF2-40B4-BE49-F238E27FC236}">
                    <a16:creationId xmlns:a16="http://schemas.microsoft.com/office/drawing/2014/main" id="{75856484-BC33-F1A1-E5F1-1C668AAFCD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2141" y="4008327"/>
                <a:ext cx="396000" cy="396000"/>
              </a:xfrm>
              <a:prstGeom prst="rect">
                <a:avLst/>
              </a:prstGeom>
            </p:spPr>
          </p:pic>
          <p:sp>
            <p:nvSpPr>
              <p:cNvPr id="24" name="テキスト ボックス 23">
                <a:extLst>
                  <a:ext uri="{FF2B5EF4-FFF2-40B4-BE49-F238E27FC236}">
                    <a16:creationId xmlns:a16="http://schemas.microsoft.com/office/drawing/2014/main" id="{5F00A401-367B-F313-EBC8-4E8FC07CEF14}"/>
                  </a:ext>
                </a:extLst>
              </p:cNvPr>
              <p:cNvSpPr txBox="1"/>
              <p:nvPr/>
            </p:nvSpPr>
            <p:spPr>
              <a:xfrm>
                <a:off x="6397049" y="3993387"/>
                <a:ext cx="869877" cy="398274"/>
              </a:xfrm>
              <a:prstGeom prst="rect">
                <a:avLst/>
              </a:prstGeom>
              <a:noFill/>
            </p:spPr>
            <p:txBody>
              <a:bodyPr wrap="square" lIns="0" rIns="0" rtlCol="0" anchor="ctr">
                <a:noAutofit/>
              </a:bodyPr>
              <a:lstStyle/>
              <a:p>
                <a:pPr algn="ctr" defTabSz="288000"/>
                <a:r>
                  <a:rPr kumimoji="1" lang="ja-JP" altLang="en-US" sz="1100" dirty="0">
                    <a:latin typeface="+mn-ea"/>
                  </a:rPr>
                  <a:t>プログラム</a:t>
                </a:r>
                <a:endParaRPr kumimoji="1" lang="en-US" altLang="ja-JP" sz="1100" dirty="0">
                  <a:latin typeface="+mn-ea"/>
                </a:endParaRPr>
              </a:p>
              <a:p>
                <a:pPr algn="ctr" defTabSz="288000"/>
                <a:r>
                  <a:rPr kumimoji="1" lang="en-US" altLang="ja-JP" sz="1100" dirty="0">
                    <a:latin typeface="+mn-ea"/>
                  </a:rPr>
                  <a:t>View</a:t>
                </a:r>
                <a:endParaRPr kumimoji="1" lang="ja-JP" altLang="en-US" sz="1100" dirty="0">
                  <a:latin typeface="+mn-ea"/>
                </a:endParaRPr>
              </a:p>
            </p:txBody>
          </p:sp>
        </p:grpSp>
      </p:grpSp>
      <p:grpSp>
        <p:nvGrpSpPr>
          <p:cNvPr id="27" name="グループ化 26">
            <a:extLst>
              <a:ext uri="{FF2B5EF4-FFF2-40B4-BE49-F238E27FC236}">
                <a16:creationId xmlns:a16="http://schemas.microsoft.com/office/drawing/2014/main" id="{15504D58-C404-DC11-4C82-21885AD7E93C}"/>
              </a:ext>
            </a:extLst>
          </p:cNvPr>
          <p:cNvGrpSpPr/>
          <p:nvPr/>
        </p:nvGrpSpPr>
        <p:grpSpPr>
          <a:xfrm>
            <a:off x="9314294" y="3884486"/>
            <a:ext cx="1367279" cy="468000"/>
            <a:chOff x="8633867" y="3723578"/>
            <a:chExt cx="1367279" cy="468000"/>
          </a:xfrm>
        </p:grpSpPr>
        <p:sp>
          <p:nvSpPr>
            <p:cNvPr id="28" name="正方形/長方形 27">
              <a:extLst>
                <a:ext uri="{FF2B5EF4-FFF2-40B4-BE49-F238E27FC236}">
                  <a16:creationId xmlns:a16="http://schemas.microsoft.com/office/drawing/2014/main" id="{7EACE996-292C-D051-BDF1-960808E8332E}"/>
                </a:ext>
              </a:extLst>
            </p:cNvPr>
            <p:cNvSpPr/>
            <p:nvPr/>
          </p:nvSpPr>
          <p:spPr>
            <a:xfrm>
              <a:off x="8633867" y="3723578"/>
              <a:ext cx="1367279" cy="468000"/>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29" name="グループ化 28">
              <a:extLst>
                <a:ext uri="{FF2B5EF4-FFF2-40B4-BE49-F238E27FC236}">
                  <a16:creationId xmlns:a16="http://schemas.microsoft.com/office/drawing/2014/main" id="{E17C8B8A-DECF-5DFA-934F-4359B4F59EFC}"/>
                </a:ext>
              </a:extLst>
            </p:cNvPr>
            <p:cNvGrpSpPr/>
            <p:nvPr/>
          </p:nvGrpSpPr>
          <p:grpSpPr>
            <a:xfrm>
              <a:off x="8743829" y="3752062"/>
              <a:ext cx="1214785" cy="410940"/>
              <a:chOff x="6052141" y="3993387"/>
              <a:chExt cx="1214785" cy="410940"/>
            </a:xfrm>
          </p:grpSpPr>
          <p:pic>
            <p:nvPicPr>
              <p:cNvPr id="30" name="グラフィックス 29" descr="Web デザイン 枠線">
                <a:extLst>
                  <a:ext uri="{FF2B5EF4-FFF2-40B4-BE49-F238E27FC236}">
                    <a16:creationId xmlns:a16="http://schemas.microsoft.com/office/drawing/2014/main" id="{6671E221-6115-D2B5-AA55-C8B8D979D3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2141" y="4008327"/>
                <a:ext cx="396000" cy="396000"/>
              </a:xfrm>
              <a:prstGeom prst="rect">
                <a:avLst/>
              </a:prstGeom>
            </p:spPr>
          </p:pic>
          <p:sp>
            <p:nvSpPr>
              <p:cNvPr id="31" name="テキスト ボックス 30">
                <a:extLst>
                  <a:ext uri="{FF2B5EF4-FFF2-40B4-BE49-F238E27FC236}">
                    <a16:creationId xmlns:a16="http://schemas.microsoft.com/office/drawing/2014/main" id="{93E6E29C-CBC3-9BAC-6C6D-99729A051F58}"/>
                  </a:ext>
                </a:extLst>
              </p:cNvPr>
              <p:cNvSpPr txBox="1"/>
              <p:nvPr/>
            </p:nvSpPr>
            <p:spPr>
              <a:xfrm>
                <a:off x="6397049" y="3993387"/>
                <a:ext cx="869877" cy="398274"/>
              </a:xfrm>
              <a:prstGeom prst="rect">
                <a:avLst/>
              </a:prstGeom>
              <a:noFill/>
            </p:spPr>
            <p:txBody>
              <a:bodyPr wrap="square" lIns="0" rIns="0" rtlCol="0" anchor="ctr">
                <a:noAutofit/>
              </a:bodyPr>
              <a:lstStyle/>
              <a:p>
                <a:pPr algn="ctr" defTabSz="288000"/>
                <a:r>
                  <a:rPr kumimoji="1" lang="ja-JP" altLang="en-US" sz="1100" dirty="0">
                    <a:latin typeface="+mn-ea"/>
                  </a:rPr>
                  <a:t>プログラム</a:t>
                </a:r>
                <a:endParaRPr kumimoji="1" lang="en-US" altLang="ja-JP" sz="1100" dirty="0">
                  <a:latin typeface="+mn-ea"/>
                </a:endParaRPr>
              </a:p>
              <a:p>
                <a:pPr algn="ctr" defTabSz="288000"/>
                <a:r>
                  <a:rPr lang="en-US" altLang="ja-JP" sz="1100" dirty="0">
                    <a:latin typeface="+mn-ea"/>
                  </a:rPr>
                  <a:t>Controller</a:t>
                </a:r>
                <a:endParaRPr kumimoji="1" lang="ja-JP" altLang="en-US" sz="1100" dirty="0">
                  <a:latin typeface="+mn-ea"/>
                </a:endParaRPr>
              </a:p>
            </p:txBody>
          </p:sp>
        </p:grpSp>
      </p:grpSp>
      <p:grpSp>
        <p:nvGrpSpPr>
          <p:cNvPr id="32" name="グループ化 31">
            <a:extLst>
              <a:ext uri="{FF2B5EF4-FFF2-40B4-BE49-F238E27FC236}">
                <a16:creationId xmlns:a16="http://schemas.microsoft.com/office/drawing/2014/main" id="{CEC8E8EC-6CF2-727B-854B-C117C482807F}"/>
              </a:ext>
            </a:extLst>
          </p:cNvPr>
          <p:cNvGrpSpPr/>
          <p:nvPr/>
        </p:nvGrpSpPr>
        <p:grpSpPr>
          <a:xfrm>
            <a:off x="9314294" y="4526265"/>
            <a:ext cx="1367279" cy="468000"/>
            <a:chOff x="8633867" y="3723578"/>
            <a:chExt cx="1367279" cy="468000"/>
          </a:xfrm>
        </p:grpSpPr>
        <p:sp>
          <p:nvSpPr>
            <p:cNvPr id="34" name="正方形/長方形 33">
              <a:extLst>
                <a:ext uri="{FF2B5EF4-FFF2-40B4-BE49-F238E27FC236}">
                  <a16:creationId xmlns:a16="http://schemas.microsoft.com/office/drawing/2014/main" id="{D6AEE2F4-73BC-4F11-A456-06D3178A738F}"/>
                </a:ext>
              </a:extLst>
            </p:cNvPr>
            <p:cNvSpPr/>
            <p:nvPr/>
          </p:nvSpPr>
          <p:spPr>
            <a:xfrm>
              <a:off x="8633867" y="3723578"/>
              <a:ext cx="1367279" cy="468000"/>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35" name="グループ化 34">
              <a:extLst>
                <a:ext uri="{FF2B5EF4-FFF2-40B4-BE49-F238E27FC236}">
                  <a16:creationId xmlns:a16="http://schemas.microsoft.com/office/drawing/2014/main" id="{CC3E5A7D-6886-51B8-4A81-7F7A6028A6F8}"/>
                </a:ext>
              </a:extLst>
            </p:cNvPr>
            <p:cNvGrpSpPr/>
            <p:nvPr/>
          </p:nvGrpSpPr>
          <p:grpSpPr>
            <a:xfrm>
              <a:off x="8743829" y="3752062"/>
              <a:ext cx="1214785" cy="410940"/>
              <a:chOff x="6052141" y="3993387"/>
              <a:chExt cx="1214785" cy="410940"/>
            </a:xfrm>
          </p:grpSpPr>
          <p:pic>
            <p:nvPicPr>
              <p:cNvPr id="36" name="グラフィックス 35" descr="Web デザイン 枠線">
                <a:extLst>
                  <a:ext uri="{FF2B5EF4-FFF2-40B4-BE49-F238E27FC236}">
                    <a16:creationId xmlns:a16="http://schemas.microsoft.com/office/drawing/2014/main" id="{DC6FA823-D699-9842-8644-14D79B081F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2141" y="4008327"/>
                <a:ext cx="396000" cy="396000"/>
              </a:xfrm>
              <a:prstGeom prst="rect">
                <a:avLst/>
              </a:prstGeom>
            </p:spPr>
          </p:pic>
          <p:sp>
            <p:nvSpPr>
              <p:cNvPr id="37" name="テキスト ボックス 36">
                <a:extLst>
                  <a:ext uri="{FF2B5EF4-FFF2-40B4-BE49-F238E27FC236}">
                    <a16:creationId xmlns:a16="http://schemas.microsoft.com/office/drawing/2014/main" id="{9DC0D6F6-A284-7C89-00B4-52CACCA7340F}"/>
                  </a:ext>
                </a:extLst>
              </p:cNvPr>
              <p:cNvSpPr txBox="1"/>
              <p:nvPr/>
            </p:nvSpPr>
            <p:spPr>
              <a:xfrm>
                <a:off x="6397049" y="3993387"/>
                <a:ext cx="869877" cy="398274"/>
              </a:xfrm>
              <a:prstGeom prst="rect">
                <a:avLst/>
              </a:prstGeom>
              <a:noFill/>
            </p:spPr>
            <p:txBody>
              <a:bodyPr wrap="square" lIns="0" rIns="0" rtlCol="0" anchor="ctr">
                <a:noAutofit/>
              </a:bodyPr>
              <a:lstStyle/>
              <a:p>
                <a:pPr algn="ctr" defTabSz="288000"/>
                <a:r>
                  <a:rPr kumimoji="1" lang="ja-JP" altLang="en-US" sz="1100" dirty="0">
                    <a:latin typeface="+mn-ea"/>
                  </a:rPr>
                  <a:t>プログラム</a:t>
                </a:r>
                <a:endParaRPr kumimoji="1" lang="en-US" altLang="ja-JP" sz="1100" dirty="0">
                  <a:latin typeface="+mn-ea"/>
                </a:endParaRPr>
              </a:p>
              <a:p>
                <a:pPr algn="ctr" defTabSz="288000"/>
                <a:r>
                  <a:rPr lang="en-US" altLang="ja-JP" sz="1100" dirty="0">
                    <a:latin typeface="+mn-ea"/>
                  </a:rPr>
                  <a:t>Service</a:t>
                </a:r>
                <a:endParaRPr kumimoji="1" lang="ja-JP" altLang="en-US" sz="1100" dirty="0">
                  <a:latin typeface="+mn-ea"/>
                </a:endParaRPr>
              </a:p>
            </p:txBody>
          </p:sp>
        </p:grpSp>
      </p:grpSp>
      <p:grpSp>
        <p:nvGrpSpPr>
          <p:cNvPr id="38" name="グループ化 37">
            <a:extLst>
              <a:ext uri="{FF2B5EF4-FFF2-40B4-BE49-F238E27FC236}">
                <a16:creationId xmlns:a16="http://schemas.microsoft.com/office/drawing/2014/main" id="{4D0D3330-AF70-1FC5-30E6-654F981EF93B}"/>
              </a:ext>
            </a:extLst>
          </p:cNvPr>
          <p:cNvGrpSpPr/>
          <p:nvPr/>
        </p:nvGrpSpPr>
        <p:grpSpPr>
          <a:xfrm>
            <a:off x="9314294" y="5168044"/>
            <a:ext cx="1367279" cy="468000"/>
            <a:chOff x="8633867" y="3723578"/>
            <a:chExt cx="1367279" cy="468000"/>
          </a:xfrm>
        </p:grpSpPr>
        <p:sp>
          <p:nvSpPr>
            <p:cNvPr id="39" name="正方形/長方形 38">
              <a:extLst>
                <a:ext uri="{FF2B5EF4-FFF2-40B4-BE49-F238E27FC236}">
                  <a16:creationId xmlns:a16="http://schemas.microsoft.com/office/drawing/2014/main" id="{50B78215-4C08-7DBB-96FA-9C5805AEA1BA}"/>
                </a:ext>
              </a:extLst>
            </p:cNvPr>
            <p:cNvSpPr/>
            <p:nvPr/>
          </p:nvSpPr>
          <p:spPr>
            <a:xfrm>
              <a:off x="8633867" y="3723578"/>
              <a:ext cx="1367279" cy="468000"/>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40" name="グループ化 39">
              <a:extLst>
                <a:ext uri="{FF2B5EF4-FFF2-40B4-BE49-F238E27FC236}">
                  <a16:creationId xmlns:a16="http://schemas.microsoft.com/office/drawing/2014/main" id="{5A743BA5-B133-F05F-6807-13F7D5A9974F}"/>
                </a:ext>
              </a:extLst>
            </p:cNvPr>
            <p:cNvGrpSpPr/>
            <p:nvPr/>
          </p:nvGrpSpPr>
          <p:grpSpPr>
            <a:xfrm>
              <a:off x="8743829" y="3752062"/>
              <a:ext cx="1214785" cy="410940"/>
              <a:chOff x="6052141" y="3993387"/>
              <a:chExt cx="1214785" cy="410940"/>
            </a:xfrm>
          </p:grpSpPr>
          <p:pic>
            <p:nvPicPr>
              <p:cNvPr id="41" name="グラフィックス 40" descr="Web デザイン 枠線">
                <a:extLst>
                  <a:ext uri="{FF2B5EF4-FFF2-40B4-BE49-F238E27FC236}">
                    <a16:creationId xmlns:a16="http://schemas.microsoft.com/office/drawing/2014/main" id="{5A8DA4F1-FB93-3EA7-F2F0-D87B8A22B1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2141" y="4008327"/>
                <a:ext cx="396000" cy="396000"/>
              </a:xfrm>
              <a:prstGeom prst="rect">
                <a:avLst/>
              </a:prstGeom>
            </p:spPr>
          </p:pic>
          <p:sp>
            <p:nvSpPr>
              <p:cNvPr id="42" name="テキスト ボックス 41">
                <a:extLst>
                  <a:ext uri="{FF2B5EF4-FFF2-40B4-BE49-F238E27FC236}">
                    <a16:creationId xmlns:a16="http://schemas.microsoft.com/office/drawing/2014/main" id="{BA4D632D-A7F2-8DA8-98A2-192F8CAACD5A}"/>
                  </a:ext>
                </a:extLst>
              </p:cNvPr>
              <p:cNvSpPr txBox="1"/>
              <p:nvPr/>
            </p:nvSpPr>
            <p:spPr>
              <a:xfrm>
                <a:off x="6397049" y="3993387"/>
                <a:ext cx="869877" cy="398274"/>
              </a:xfrm>
              <a:prstGeom prst="rect">
                <a:avLst/>
              </a:prstGeom>
              <a:noFill/>
            </p:spPr>
            <p:txBody>
              <a:bodyPr wrap="square" lIns="0" rIns="0" rtlCol="0" anchor="ctr">
                <a:noAutofit/>
              </a:bodyPr>
              <a:lstStyle/>
              <a:p>
                <a:pPr algn="ctr" defTabSz="288000"/>
                <a:r>
                  <a:rPr kumimoji="1" lang="ja-JP" altLang="en-US" sz="1100" dirty="0">
                    <a:latin typeface="+mn-ea"/>
                  </a:rPr>
                  <a:t>プログラム</a:t>
                </a:r>
                <a:endParaRPr kumimoji="1" lang="en-US" altLang="ja-JP" sz="1100" dirty="0">
                  <a:latin typeface="+mn-ea"/>
                </a:endParaRPr>
              </a:p>
              <a:p>
                <a:pPr algn="ctr" defTabSz="288000"/>
                <a:r>
                  <a:rPr lang="en-US" altLang="ja-JP" sz="1100" dirty="0">
                    <a:latin typeface="+mn-ea"/>
                  </a:rPr>
                  <a:t>Repository</a:t>
                </a:r>
                <a:endParaRPr kumimoji="1" lang="ja-JP" altLang="en-US" sz="1100" dirty="0">
                  <a:latin typeface="+mn-ea"/>
                </a:endParaRPr>
              </a:p>
            </p:txBody>
          </p:sp>
        </p:grpSp>
      </p:grpSp>
      <p:pic>
        <p:nvPicPr>
          <p:cNvPr id="48" name="グラフィックス 47" descr="プログラマー男性 単色塗りつぶし">
            <a:extLst>
              <a:ext uri="{FF2B5EF4-FFF2-40B4-BE49-F238E27FC236}">
                <a16:creationId xmlns:a16="http://schemas.microsoft.com/office/drawing/2014/main" id="{2E21FF92-E3A7-05E5-6636-5A7B1429AB3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79364" y="4680402"/>
            <a:ext cx="914400" cy="914400"/>
          </a:xfrm>
          <a:prstGeom prst="rect">
            <a:avLst/>
          </a:prstGeom>
        </p:spPr>
      </p:pic>
    </p:spTree>
    <p:extLst>
      <p:ext uri="{BB962C8B-B14F-4D97-AF65-F5344CB8AC3E}">
        <p14:creationId xmlns:p14="http://schemas.microsoft.com/office/powerpoint/2010/main" val="3567270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41426-3EF7-2378-FB4D-F7E3A4B1BA3D}"/>
            </a:ext>
          </a:extLst>
        </p:cNvPr>
        <p:cNvGrpSpPr/>
        <p:nvPr/>
      </p:nvGrpSpPr>
      <p:grpSpPr>
        <a:xfrm>
          <a:off x="0" y="0"/>
          <a:ext cx="0" cy="0"/>
          <a:chOff x="0" y="0"/>
          <a:chExt cx="0" cy="0"/>
        </a:xfrm>
      </p:grpSpPr>
      <p:sp>
        <p:nvSpPr>
          <p:cNvPr id="215" name="正方形/長方形 214">
            <a:extLst>
              <a:ext uri="{FF2B5EF4-FFF2-40B4-BE49-F238E27FC236}">
                <a16:creationId xmlns:a16="http://schemas.microsoft.com/office/drawing/2014/main" id="{94F184C2-D071-F26E-8660-B8BA0ECA3D55}"/>
              </a:ext>
            </a:extLst>
          </p:cNvPr>
          <p:cNvSpPr/>
          <p:nvPr/>
        </p:nvSpPr>
        <p:spPr>
          <a:xfrm>
            <a:off x="6641478" y="3494281"/>
            <a:ext cx="972000" cy="468000"/>
          </a:xfrm>
          <a:prstGeom prst="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13" name="正方形/長方形 212">
            <a:extLst>
              <a:ext uri="{FF2B5EF4-FFF2-40B4-BE49-F238E27FC236}">
                <a16:creationId xmlns:a16="http://schemas.microsoft.com/office/drawing/2014/main" id="{4F4BBF12-9D69-6B2C-D10E-E8603A70FC43}"/>
              </a:ext>
            </a:extLst>
          </p:cNvPr>
          <p:cNvSpPr/>
          <p:nvPr/>
        </p:nvSpPr>
        <p:spPr>
          <a:xfrm>
            <a:off x="4064370" y="5756739"/>
            <a:ext cx="1367279" cy="468000"/>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12" name="正方形/長方形 211">
            <a:extLst>
              <a:ext uri="{FF2B5EF4-FFF2-40B4-BE49-F238E27FC236}">
                <a16:creationId xmlns:a16="http://schemas.microsoft.com/office/drawing/2014/main" id="{0DCF2F9D-64F6-2056-408D-9104E4096A61}"/>
              </a:ext>
            </a:extLst>
          </p:cNvPr>
          <p:cNvSpPr/>
          <p:nvPr/>
        </p:nvSpPr>
        <p:spPr>
          <a:xfrm>
            <a:off x="2547378" y="5756739"/>
            <a:ext cx="1367279" cy="468000"/>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2" name="四角形: 角を丸くする 21">
            <a:extLst>
              <a:ext uri="{FF2B5EF4-FFF2-40B4-BE49-F238E27FC236}">
                <a16:creationId xmlns:a16="http://schemas.microsoft.com/office/drawing/2014/main" id="{4019BD34-ECA9-53E6-5845-2A59C4C707B0}"/>
              </a:ext>
            </a:extLst>
          </p:cNvPr>
          <p:cNvSpPr/>
          <p:nvPr/>
        </p:nvSpPr>
        <p:spPr>
          <a:xfrm>
            <a:off x="1255070" y="3048566"/>
            <a:ext cx="2831959" cy="1837392"/>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2" name="タイトル 1">
            <a:extLst>
              <a:ext uri="{FF2B5EF4-FFF2-40B4-BE49-F238E27FC236}">
                <a16:creationId xmlns:a16="http://schemas.microsoft.com/office/drawing/2014/main" id="{4278EBB2-BE71-D89B-7372-BA4357F7C441}"/>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単体テスト </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DA085CE1-6671-C4B2-5B8D-D074736EB629}"/>
              </a:ext>
            </a:extLst>
          </p:cNvPr>
          <p:cNvSpPr>
            <a:spLocks noGrp="1"/>
          </p:cNvSpPr>
          <p:nvPr>
            <p:ph sz="quarter" idx="4294967295"/>
          </p:nvPr>
        </p:nvSpPr>
        <p:spPr>
          <a:xfrm>
            <a:off x="481490" y="978298"/>
            <a:ext cx="11448000" cy="1664786"/>
          </a:xfrm>
        </p:spPr>
        <p:txBody>
          <a:bodyPr/>
          <a:lstStyle/>
          <a:p>
            <a:r>
              <a:rPr lang="ja-JP" altLang="en-US" u="sng" dirty="0">
                <a:solidFill>
                  <a:schemeClr val="tx1"/>
                </a:solidFill>
              </a:rPr>
              <a:t>製造</a:t>
            </a:r>
            <a:r>
              <a:rPr lang="en-US" altLang="ja-JP" u="sng" dirty="0">
                <a:solidFill>
                  <a:schemeClr val="tx1"/>
                </a:solidFill>
              </a:rPr>
              <a:t>/</a:t>
            </a:r>
            <a:r>
              <a:rPr lang="ja-JP" altLang="en-US" b="1" u="sng" dirty="0">
                <a:solidFill>
                  <a:schemeClr val="tx1"/>
                </a:solidFill>
              </a:rPr>
              <a:t>単体テスト</a:t>
            </a:r>
            <a:r>
              <a:rPr lang="ja-JP" altLang="en-US" u="sng" dirty="0">
                <a:solidFill>
                  <a:schemeClr val="tx1"/>
                </a:solidFill>
              </a:rPr>
              <a:t>（</a:t>
            </a:r>
            <a:r>
              <a:rPr lang="en-US" altLang="ja-JP" u="sng" dirty="0">
                <a:solidFill>
                  <a:schemeClr val="tx1"/>
                </a:solidFill>
              </a:rPr>
              <a:t>Construction and Unit Test</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rPr>
              <a:t>アプリケーションが詳細設計通りに動作するかを確認するフェーズ</a:t>
            </a:r>
            <a:endParaRPr lang="en-US" altLang="ja-JP" u="sng" dirty="0">
              <a:solidFill>
                <a:schemeClr val="tx1"/>
              </a:solidFill>
            </a:endParaRPr>
          </a:p>
          <a:p>
            <a:r>
              <a:rPr lang="ja-JP" altLang="en-US" dirty="0">
                <a:solidFill>
                  <a:schemeClr val="tx1"/>
                </a:solidFill>
              </a:rPr>
              <a:t>■主な作業</a:t>
            </a:r>
            <a:endParaRPr lang="en-US" altLang="ja-JP" dirty="0">
              <a:solidFill>
                <a:schemeClr val="tx1"/>
              </a:solidFill>
            </a:endParaRPr>
          </a:p>
          <a:p>
            <a:r>
              <a:rPr lang="en-US" altLang="ja-JP" dirty="0">
                <a:solidFill>
                  <a:schemeClr val="tx1"/>
                </a:solidFill>
              </a:rPr>
              <a:t>	</a:t>
            </a:r>
            <a:r>
              <a:rPr lang="ja-JP" altLang="en-US" dirty="0">
                <a:solidFill>
                  <a:schemeClr val="tx1"/>
                </a:solidFill>
              </a:rPr>
              <a:t>・ユニットテスト</a:t>
            </a:r>
            <a:r>
              <a:rPr lang="en-US" altLang="ja-JP" dirty="0">
                <a:solidFill>
                  <a:schemeClr val="tx1"/>
                </a:solidFill>
              </a:rPr>
              <a:t>/</a:t>
            </a:r>
            <a:r>
              <a:rPr lang="ja-JP" altLang="en-US" dirty="0">
                <a:solidFill>
                  <a:schemeClr val="tx1"/>
                </a:solidFill>
              </a:rPr>
              <a:t>コンポーネントテストの計画、設計、実施</a:t>
            </a:r>
            <a:endParaRPr lang="en-US" altLang="ja-JP" dirty="0">
              <a:solidFill>
                <a:schemeClr val="tx1"/>
              </a:solidFill>
            </a:endParaRPr>
          </a:p>
          <a:p>
            <a:r>
              <a:rPr lang="en-US" altLang="ja-JP" dirty="0">
                <a:solidFill>
                  <a:schemeClr val="tx1"/>
                </a:solidFill>
              </a:rPr>
              <a:t>		</a:t>
            </a:r>
            <a:r>
              <a:rPr lang="ja-JP" altLang="en-US" sz="2000" b="1" dirty="0">
                <a:solidFill>
                  <a:schemeClr val="tx1"/>
                </a:solidFill>
              </a:rPr>
              <a:t>対応する設計フェーズ（ユニット設計</a:t>
            </a:r>
            <a:r>
              <a:rPr lang="en-US" altLang="ja-JP" sz="2000" b="1" dirty="0">
                <a:solidFill>
                  <a:schemeClr val="tx1"/>
                </a:solidFill>
              </a:rPr>
              <a:t>/</a:t>
            </a:r>
            <a:r>
              <a:rPr lang="ja-JP" altLang="en-US" sz="2000" b="1" dirty="0">
                <a:solidFill>
                  <a:schemeClr val="tx1"/>
                </a:solidFill>
              </a:rPr>
              <a:t>コンポーネント設計）の範囲</a:t>
            </a:r>
            <a:r>
              <a:rPr lang="ja-JP" altLang="en-US" dirty="0">
                <a:solidFill>
                  <a:schemeClr val="tx1"/>
                </a:solidFill>
              </a:rPr>
              <a:t>に対して、テストを実施する</a:t>
            </a:r>
            <a:r>
              <a:rPr lang="en-US" altLang="ja-JP" dirty="0">
                <a:solidFill>
                  <a:schemeClr val="tx1"/>
                </a:solidFill>
              </a:rPr>
              <a:t>		</a:t>
            </a:r>
          </a:p>
        </p:txBody>
      </p:sp>
      <p:grpSp>
        <p:nvGrpSpPr>
          <p:cNvPr id="5" name="グループ化 4">
            <a:extLst>
              <a:ext uri="{FF2B5EF4-FFF2-40B4-BE49-F238E27FC236}">
                <a16:creationId xmlns:a16="http://schemas.microsoft.com/office/drawing/2014/main" id="{2C8BE02F-193F-F68F-4B92-D4EC206769C4}"/>
              </a:ext>
            </a:extLst>
          </p:cNvPr>
          <p:cNvGrpSpPr/>
          <p:nvPr/>
        </p:nvGrpSpPr>
        <p:grpSpPr>
          <a:xfrm>
            <a:off x="8633867" y="152748"/>
            <a:ext cx="3295623" cy="1890892"/>
            <a:chOff x="8633867" y="152748"/>
            <a:chExt cx="3295623" cy="1890892"/>
          </a:xfrm>
        </p:grpSpPr>
        <p:pic>
          <p:nvPicPr>
            <p:cNvPr id="11" name="図 10" descr="ダイアグラム&#10;&#10;AI によって生成されたコンテンツは間違っている可能性があります。">
              <a:extLst>
                <a:ext uri="{FF2B5EF4-FFF2-40B4-BE49-F238E27FC236}">
                  <a16:creationId xmlns:a16="http://schemas.microsoft.com/office/drawing/2014/main" id="{F887E0EC-C7D9-3813-AB45-B285012BE7F5}"/>
                </a:ext>
              </a:extLst>
            </p:cNvPr>
            <p:cNvPicPr>
              <a:picLocks noChangeAspect="1"/>
            </p:cNvPicPr>
            <p:nvPr/>
          </p:nvPicPr>
          <p:blipFill>
            <a:blip r:embed="rId2"/>
            <a:stretch>
              <a:fillRect/>
            </a:stretch>
          </p:blipFill>
          <p:spPr>
            <a:xfrm>
              <a:off x="8633867" y="152748"/>
              <a:ext cx="3295623" cy="1890892"/>
            </a:xfrm>
            <a:prstGeom prst="rect">
              <a:avLst/>
            </a:prstGeom>
            <a:ln>
              <a:solidFill>
                <a:schemeClr val="tx1"/>
              </a:solidFill>
            </a:ln>
          </p:spPr>
        </p:pic>
        <p:sp>
          <p:nvSpPr>
            <p:cNvPr id="12" name="正方形/長方形 11">
              <a:extLst>
                <a:ext uri="{FF2B5EF4-FFF2-40B4-BE49-F238E27FC236}">
                  <a16:creationId xmlns:a16="http://schemas.microsoft.com/office/drawing/2014/main" id="{674B69D8-D79A-7505-1F50-29018B2861BF}"/>
                </a:ext>
              </a:extLst>
            </p:cNvPr>
            <p:cNvSpPr/>
            <p:nvPr/>
          </p:nvSpPr>
          <p:spPr>
            <a:xfrm>
              <a:off x="10333169" y="1570811"/>
              <a:ext cx="900000" cy="396000"/>
            </a:xfrm>
            <a:prstGeom prst="rect">
              <a:avLst/>
            </a:prstGeom>
            <a:noFill/>
            <a:ln w="3810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33" name="矢印: 下 32">
              <a:extLst>
                <a:ext uri="{FF2B5EF4-FFF2-40B4-BE49-F238E27FC236}">
                  <a16:creationId xmlns:a16="http://schemas.microsoft.com/office/drawing/2014/main" id="{A6285F34-6DCD-F0DD-C574-0444028BECF2}"/>
                </a:ext>
              </a:extLst>
            </p:cNvPr>
            <p:cNvSpPr/>
            <p:nvPr/>
          </p:nvSpPr>
          <p:spPr>
            <a:xfrm rot="16200000" flipV="1">
              <a:off x="11329270" y="1596523"/>
              <a:ext cx="210790" cy="363894"/>
            </a:xfrm>
            <a:prstGeom prst="downArrow">
              <a:avLst/>
            </a:prstGeom>
            <a:solidFill>
              <a:srgbClr val="92D05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正方形/長方形 3">
              <a:extLst>
                <a:ext uri="{FF2B5EF4-FFF2-40B4-BE49-F238E27FC236}">
                  <a16:creationId xmlns:a16="http://schemas.microsoft.com/office/drawing/2014/main" id="{EC4D5DC2-2807-07CA-7484-CC275DE98901}"/>
                </a:ext>
              </a:extLst>
            </p:cNvPr>
            <p:cNvSpPr/>
            <p:nvPr/>
          </p:nvSpPr>
          <p:spPr>
            <a:xfrm>
              <a:off x="8706399"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23" name="四角形: 角を丸くする 22">
            <a:extLst>
              <a:ext uri="{FF2B5EF4-FFF2-40B4-BE49-F238E27FC236}">
                <a16:creationId xmlns:a16="http://schemas.microsoft.com/office/drawing/2014/main" id="{F33FF63C-D000-07DD-718D-8A6B9C56D5D8}"/>
              </a:ext>
            </a:extLst>
          </p:cNvPr>
          <p:cNvSpPr/>
          <p:nvPr/>
        </p:nvSpPr>
        <p:spPr>
          <a:xfrm>
            <a:off x="4831484" y="3048566"/>
            <a:ext cx="6987316" cy="1971002"/>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6" name="四角形: 角を丸くする 5">
            <a:extLst>
              <a:ext uri="{FF2B5EF4-FFF2-40B4-BE49-F238E27FC236}">
                <a16:creationId xmlns:a16="http://schemas.microsoft.com/office/drawing/2014/main" id="{2027B5F2-B4DE-1B00-5DF4-C8C5740A597F}"/>
              </a:ext>
            </a:extLst>
          </p:cNvPr>
          <p:cNvSpPr/>
          <p:nvPr/>
        </p:nvSpPr>
        <p:spPr>
          <a:xfrm>
            <a:off x="1255071" y="2898054"/>
            <a:ext cx="2831958" cy="311607"/>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ユニットテスト計画</a:t>
            </a:r>
          </a:p>
        </p:txBody>
      </p:sp>
      <p:sp>
        <p:nvSpPr>
          <p:cNvPr id="8" name="四角形: 角を丸くする 7">
            <a:extLst>
              <a:ext uri="{FF2B5EF4-FFF2-40B4-BE49-F238E27FC236}">
                <a16:creationId xmlns:a16="http://schemas.microsoft.com/office/drawing/2014/main" id="{72D0F296-F4C4-E654-725E-6DACADC968C7}"/>
              </a:ext>
            </a:extLst>
          </p:cNvPr>
          <p:cNvSpPr/>
          <p:nvPr/>
        </p:nvSpPr>
        <p:spPr>
          <a:xfrm>
            <a:off x="4831484" y="2898052"/>
            <a:ext cx="6987315" cy="311607"/>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ユニットテスト設計</a:t>
            </a:r>
          </a:p>
        </p:txBody>
      </p:sp>
      <p:sp>
        <p:nvSpPr>
          <p:cNvPr id="129" name="テキスト ボックス 128">
            <a:extLst>
              <a:ext uri="{FF2B5EF4-FFF2-40B4-BE49-F238E27FC236}">
                <a16:creationId xmlns:a16="http://schemas.microsoft.com/office/drawing/2014/main" id="{7F6C15FE-E6B2-5CF9-94C3-E5C04ADCB484}"/>
              </a:ext>
            </a:extLst>
          </p:cNvPr>
          <p:cNvSpPr txBox="1"/>
          <p:nvPr/>
        </p:nvSpPr>
        <p:spPr>
          <a:xfrm>
            <a:off x="1386393" y="3216957"/>
            <a:ext cx="2558574" cy="448867"/>
          </a:xfrm>
          <a:prstGeom prst="rect">
            <a:avLst/>
          </a:prstGeom>
          <a:noFill/>
        </p:spPr>
        <p:txBody>
          <a:bodyPr wrap="square" lIns="0" rIns="0" rtlCol="0">
            <a:noAutofit/>
          </a:bodyPr>
          <a:lstStyle/>
          <a:p>
            <a:pPr algn="l" defTabSz="288000"/>
            <a:r>
              <a:rPr kumimoji="1" lang="ja-JP" altLang="en-US" sz="1400" dirty="0">
                <a:latin typeface="+mn-ea"/>
              </a:rPr>
              <a:t> ・ユニットテストの</a:t>
            </a:r>
            <a:r>
              <a:rPr lang="ja-JP" altLang="en-US" sz="1400" b="0" i="0" dirty="0">
                <a:effectLst/>
                <a:latin typeface="Helvetica Neue"/>
              </a:rPr>
              <a:t>作業要領の作成</a:t>
            </a:r>
            <a:endParaRPr kumimoji="1" lang="ja-JP" altLang="en-US" sz="1400" dirty="0">
              <a:latin typeface="+mn-ea"/>
            </a:endParaRPr>
          </a:p>
        </p:txBody>
      </p:sp>
      <p:sp>
        <p:nvSpPr>
          <p:cNvPr id="130" name="正方形/長方形 129">
            <a:extLst>
              <a:ext uri="{FF2B5EF4-FFF2-40B4-BE49-F238E27FC236}">
                <a16:creationId xmlns:a16="http://schemas.microsoft.com/office/drawing/2014/main" id="{CCB9FF62-A875-7163-620B-0BEA55330BEE}"/>
              </a:ext>
            </a:extLst>
          </p:cNvPr>
          <p:cNvSpPr/>
          <p:nvPr/>
        </p:nvSpPr>
        <p:spPr>
          <a:xfrm>
            <a:off x="1871684" y="3622764"/>
            <a:ext cx="1613417" cy="967323"/>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200" u="sng" dirty="0">
                <a:solidFill>
                  <a:schemeClr val="tx1"/>
                </a:solidFill>
              </a:rPr>
              <a:t>テスト作業要領</a:t>
            </a:r>
            <a:endParaRPr lang="en-US" altLang="ja-JP" sz="1200" u="sng" dirty="0">
              <a:solidFill>
                <a:schemeClr val="tx1"/>
              </a:solidFill>
            </a:endParaRPr>
          </a:p>
          <a:p>
            <a:r>
              <a:rPr lang="ja-JP" altLang="en-US" sz="1200" dirty="0">
                <a:solidFill>
                  <a:schemeClr val="tx1"/>
                </a:solidFill>
              </a:rPr>
              <a:t>　・テスト対象</a:t>
            </a:r>
            <a:endParaRPr lang="en-US" altLang="ja-JP" sz="1200" dirty="0">
              <a:solidFill>
                <a:schemeClr val="tx1"/>
              </a:solidFill>
            </a:endParaRPr>
          </a:p>
          <a:p>
            <a:r>
              <a:rPr lang="ja-JP" altLang="en-US" sz="1200" dirty="0">
                <a:solidFill>
                  <a:schemeClr val="tx1"/>
                </a:solidFill>
              </a:rPr>
              <a:t>　・テスト実行環境</a:t>
            </a:r>
            <a:endParaRPr lang="en-US" altLang="ja-JP" sz="1200" dirty="0">
              <a:solidFill>
                <a:schemeClr val="tx1"/>
              </a:solidFill>
            </a:endParaRPr>
          </a:p>
          <a:p>
            <a:r>
              <a:rPr lang="ja-JP" altLang="en-US" sz="1200" dirty="0">
                <a:solidFill>
                  <a:schemeClr val="tx1"/>
                </a:solidFill>
              </a:rPr>
              <a:t>　・実施体制</a:t>
            </a:r>
            <a:endParaRPr lang="en-US" altLang="ja-JP" sz="1200" dirty="0">
              <a:solidFill>
                <a:schemeClr val="tx1"/>
              </a:solidFill>
            </a:endParaRPr>
          </a:p>
          <a:p>
            <a:pPr algn="r"/>
            <a:r>
              <a:rPr lang="ja-JP" altLang="en-US" sz="1200" dirty="0">
                <a:solidFill>
                  <a:schemeClr val="tx1"/>
                </a:solidFill>
              </a:rPr>
              <a:t>　など</a:t>
            </a:r>
            <a:endParaRPr lang="en-US" altLang="ja-JP" sz="1200" dirty="0">
              <a:solidFill>
                <a:schemeClr val="tx1"/>
              </a:solidFill>
            </a:endParaRPr>
          </a:p>
        </p:txBody>
      </p:sp>
      <p:sp>
        <p:nvSpPr>
          <p:cNvPr id="132" name="テキスト ボックス 131">
            <a:extLst>
              <a:ext uri="{FF2B5EF4-FFF2-40B4-BE49-F238E27FC236}">
                <a16:creationId xmlns:a16="http://schemas.microsoft.com/office/drawing/2014/main" id="{0AF552E6-7637-20FA-653F-336139AACA0B}"/>
              </a:ext>
            </a:extLst>
          </p:cNvPr>
          <p:cNvSpPr txBox="1"/>
          <p:nvPr/>
        </p:nvSpPr>
        <p:spPr>
          <a:xfrm>
            <a:off x="4951103" y="3222575"/>
            <a:ext cx="3891100" cy="448867"/>
          </a:xfrm>
          <a:prstGeom prst="rect">
            <a:avLst/>
          </a:prstGeom>
          <a:noFill/>
        </p:spPr>
        <p:txBody>
          <a:bodyPr wrap="square" lIns="0" rIns="0" rtlCol="0">
            <a:noAutofit/>
          </a:bodyPr>
          <a:lstStyle/>
          <a:p>
            <a:pPr algn="l" defTabSz="288000"/>
            <a:r>
              <a:rPr kumimoji="1" lang="ja-JP" altLang="en-US" sz="1400" dirty="0">
                <a:latin typeface="+mn-ea"/>
              </a:rPr>
              <a:t> ・ユニットテストの</a:t>
            </a:r>
            <a:r>
              <a:rPr lang="ja-JP" altLang="en-US" sz="1400" b="0" i="0" dirty="0">
                <a:effectLst/>
                <a:latin typeface="Helvetica Neue"/>
              </a:rPr>
              <a:t>テストケース表の作成</a:t>
            </a:r>
            <a:endParaRPr kumimoji="1" lang="ja-JP" altLang="en-US" sz="1400" dirty="0">
              <a:latin typeface="+mn-ea"/>
            </a:endParaRPr>
          </a:p>
        </p:txBody>
      </p:sp>
      <p:sp>
        <p:nvSpPr>
          <p:cNvPr id="153" name="矢印: 右 152">
            <a:extLst>
              <a:ext uri="{FF2B5EF4-FFF2-40B4-BE49-F238E27FC236}">
                <a16:creationId xmlns:a16="http://schemas.microsoft.com/office/drawing/2014/main" id="{E8AD1797-D60B-1C3E-F8E2-A24573C96DD7}"/>
              </a:ext>
            </a:extLst>
          </p:cNvPr>
          <p:cNvSpPr/>
          <p:nvPr/>
        </p:nvSpPr>
        <p:spPr>
          <a:xfrm>
            <a:off x="4236907" y="3482977"/>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54" name="正方形/長方形 153">
            <a:extLst>
              <a:ext uri="{FF2B5EF4-FFF2-40B4-BE49-F238E27FC236}">
                <a16:creationId xmlns:a16="http://schemas.microsoft.com/office/drawing/2014/main" id="{1930A5E7-6288-1D09-9A88-1C13B1F5CE90}"/>
              </a:ext>
            </a:extLst>
          </p:cNvPr>
          <p:cNvSpPr/>
          <p:nvPr/>
        </p:nvSpPr>
        <p:spPr>
          <a:xfrm>
            <a:off x="5404521" y="3860455"/>
            <a:ext cx="1080000"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テスト観点</a:t>
            </a:r>
          </a:p>
        </p:txBody>
      </p:sp>
      <p:sp>
        <p:nvSpPr>
          <p:cNvPr id="155" name="正方形/長方形 154">
            <a:extLst>
              <a:ext uri="{FF2B5EF4-FFF2-40B4-BE49-F238E27FC236}">
                <a16:creationId xmlns:a16="http://schemas.microsoft.com/office/drawing/2014/main" id="{83003890-FF48-7E82-DA47-231C2F022894}"/>
              </a:ext>
            </a:extLst>
          </p:cNvPr>
          <p:cNvSpPr/>
          <p:nvPr/>
        </p:nvSpPr>
        <p:spPr>
          <a:xfrm>
            <a:off x="7711418" y="3860455"/>
            <a:ext cx="1080000"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テスト項目</a:t>
            </a:r>
          </a:p>
        </p:txBody>
      </p:sp>
      <p:sp>
        <p:nvSpPr>
          <p:cNvPr id="156" name="正方形/長方形 155">
            <a:extLst>
              <a:ext uri="{FF2B5EF4-FFF2-40B4-BE49-F238E27FC236}">
                <a16:creationId xmlns:a16="http://schemas.microsoft.com/office/drawing/2014/main" id="{03A8B5C4-79AD-13B7-4058-E6DEFB024433}"/>
              </a:ext>
            </a:extLst>
          </p:cNvPr>
          <p:cNvSpPr/>
          <p:nvPr/>
        </p:nvSpPr>
        <p:spPr>
          <a:xfrm>
            <a:off x="9897284" y="3860455"/>
            <a:ext cx="1080000"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rPr>
              <a:t>テストケース</a:t>
            </a:r>
          </a:p>
        </p:txBody>
      </p:sp>
      <p:cxnSp>
        <p:nvCxnSpPr>
          <p:cNvPr id="158" name="直線矢印コネクタ 157">
            <a:extLst>
              <a:ext uri="{FF2B5EF4-FFF2-40B4-BE49-F238E27FC236}">
                <a16:creationId xmlns:a16="http://schemas.microsoft.com/office/drawing/2014/main" id="{4773816D-8232-6B8E-7657-2DA32D7F8CDC}"/>
              </a:ext>
            </a:extLst>
          </p:cNvPr>
          <p:cNvCxnSpPr>
            <a:cxnSpLocks/>
            <a:stCxn id="154" idx="3"/>
            <a:endCxn id="155" idx="1"/>
          </p:cNvCxnSpPr>
          <p:nvPr/>
        </p:nvCxnSpPr>
        <p:spPr>
          <a:xfrm>
            <a:off x="6484521" y="4084889"/>
            <a:ext cx="1226897"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9" name="直線矢印コネクタ 158">
            <a:extLst>
              <a:ext uri="{FF2B5EF4-FFF2-40B4-BE49-F238E27FC236}">
                <a16:creationId xmlns:a16="http://schemas.microsoft.com/office/drawing/2014/main" id="{17CB0250-7211-A706-C07B-4595059D249D}"/>
              </a:ext>
            </a:extLst>
          </p:cNvPr>
          <p:cNvCxnSpPr>
            <a:cxnSpLocks/>
            <a:stCxn id="155" idx="3"/>
            <a:endCxn id="156" idx="1"/>
          </p:cNvCxnSpPr>
          <p:nvPr/>
        </p:nvCxnSpPr>
        <p:spPr>
          <a:xfrm>
            <a:off x="8791418" y="4084889"/>
            <a:ext cx="1105866"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3" name="テキスト ボックス 162">
            <a:extLst>
              <a:ext uri="{FF2B5EF4-FFF2-40B4-BE49-F238E27FC236}">
                <a16:creationId xmlns:a16="http://schemas.microsoft.com/office/drawing/2014/main" id="{6EE8E4DB-C625-ACF7-0DAB-ED5FC6FF1BAF}"/>
              </a:ext>
            </a:extLst>
          </p:cNvPr>
          <p:cNvSpPr txBox="1"/>
          <p:nvPr/>
        </p:nvSpPr>
        <p:spPr>
          <a:xfrm>
            <a:off x="4951103" y="4306685"/>
            <a:ext cx="2508003" cy="448867"/>
          </a:xfrm>
          <a:prstGeom prst="rect">
            <a:avLst/>
          </a:prstGeom>
          <a:noFill/>
        </p:spPr>
        <p:txBody>
          <a:bodyPr wrap="square" lIns="0" rIns="0" rtlCol="0">
            <a:noAutofit/>
          </a:bodyPr>
          <a:lstStyle/>
          <a:p>
            <a:pPr algn="l" defTabSz="288000"/>
            <a:r>
              <a:rPr lang="ja-JP" altLang="en-US" sz="1200" b="0" i="0" dirty="0">
                <a:effectLst/>
                <a:latin typeface="__Inter_a184c8"/>
              </a:rPr>
              <a:t>テストを行うための基準や視点</a:t>
            </a:r>
            <a:endParaRPr lang="en-US" altLang="ja-JP" sz="1200" b="0" i="0" dirty="0">
              <a:effectLst/>
              <a:latin typeface="__Inter_a184c8"/>
            </a:endParaRPr>
          </a:p>
          <a:p>
            <a:pPr algn="l" defTabSz="288000"/>
            <a:r>
              <a:rPr kumimoji="1" lang="ja-JP" altLang="en-US" sz="1200" dirty="0">
                <a:latin typeface="__Inter_a184c8"/>
              </a:rPr>
              <a:t>テスト対象に依らない</a:t>
            </a:r>
            <a:endParaRPr kumimoji="1" lang="en-US" altLang="ja-JP" sz="1200" dirty="0">
              <a:latin typeface="__Inter_a184c8"/>
            </a:endParaRPr>
          </a:p>
          <a:p>
            <a:pPr algn="l" defTabSz="288000"/>
            <a:r>
              <a:rPr kumimoji="1" lang="ja-JP" altLang="en-US" sz="1200" dirty="0">
                <a:latin typeface="__Inter_a184c8"/>
              </a:rPr>
              <a:t>標準的な観点一覧を使用すべきである</a:t>
            </a:r>
            <a:endParaRPr kumimoji="1" lang="en-US" altLang="ja-JP" sz="1200" dirty="0">
              <a:latin typeface="+mn-ea"/>
            </a:endParaRPr>
          </a:p>
        </p:txBody>
      </p:sp>
      <p:sp>
        <p:nvSpPr>
          <p:cNvPr id="164" name="テキスト ボックス 163">
            <a:extLst>
              <a:ext uri="{FF2B5EF4-FFF2-40B4-BE49-F238E27FC236}">
                <a16:creationId xmlns:a16="http://schemas.microsoft.com/office/drawing/2014/main" id="{89DD1D01-AC6A-F2FF-82D1-2C674B8524F2}"/>
              </a:ext>
            </a:extLst>
          </p:cNvPr>
          <p:cNvSpPr txBox="1"/>
          <p:nvPr/>
        </p:nvSpPr>
        <p:spPr>
          <a:xfrm>
            <a:off x="7584594" y="4300065"/>
            <a:ext cx="1814594" cy="448867"/>
          </a:xfrm>
          <a:prstGeom prst="rect">
            <a:avLst/>
          </a:prstGeom>
          <a:noFill/>
        </p:spPr>
        <p:txBody>
          <a:bodyPr wrap="square" lIns="0" rIns="0" rtlCol="0">
            <a:noAutofit/>
          </a:bodyPr>
          <a:lstStyle/>
          <a:p>
            <a:pPr algn="l" defTabSz="288000"/>
            <a:r>
              <a:rPr lang="ja-JP" altLang="en-US" sz="1200" b="0" i="0" dirty="0">
                <a:effectLst/>
                <a:latin typeface="__Inter_a184c8"/>
              </a:rPr>
              <a:t>各テスト観点に基づき、</a:t>
            </a:r>
            <a:endParaRPr lang="en-US" altLang="ja-JP" sz="1200" b="0" i="0" dirty="0">
              <a:effectLst/>
              <a:latin typeface="__Inter_a184c8"/>
            </a:endParaRPr>
          </a:p>
          <a:p>
            <a:pPr algn="l" defTabSz="288000"/>
            <a:r>
              <a:rPr lang="ja-JP" altLang="en-US" sz="1200" b="0" i="0" dirty="0">
                <a:effectLst/>
                <a:latin typeface="__Inter_a184c8"/>
              </a:rPr>
              <a:t>具体的に評価するべき条件や機能を定義したもの</a:t>
            </a:r>
            <a:endParaRPr kumimoji="1" lang="ja-JP" altLang="en-US" sz="1200" dirty="0">
              <a:highlight>
                <a:srgbClr val="FFFF00"/>
              </a:highlight>
              <a:latin typeface="+mn-ea"/>
            </a:endParaRPr>
          </a:p>
        </p:txBody>
      </p:sp>
      <p:sp>
        <p:nvSpPr>
          <p:cNvPr id="165" name="テキスト ボックス 164">
            <a:extLst>
              <a:ext uri="{FF2B5EF4-FFF2-40B4-BE49-F238E27FC236}">
                <a16:creationId xmlns:a16="http://schemas.microsoft.com/office/drawing/2014/main" id="{5FDD6667-16CF-D336-34C0-DBA8526818D7}"/>
              </a:ext>
            </a:extLst>
          </p:cNvPr>
          <p:cNvSpPr txBox="1"/>
          <p:nvPr/>
        </p:nvSpPr>
        <p:spPr>
          <a:xfrm>
            <a:off x="9769699" y="4300065"/>
            <a:ext cx="1923614" cy="448867"/>
          </a:xfrm>
          <a:prstGeom prst="rect">
            <a:avLst/>
          </a:prstGeom>
          <a:noFill/>
        </p:spPr>
        <p:txBody>
          <a:bodyPr wrap="square" lIns="0" rIns="0" rtlCol="0">
            <a:noAutofit/>
          </a:bodyPr>
          <a:lstStyle/>
          <a:p>
            <a:pPr algn="l" defTabSz="288000"/>
            <a:r>
              <a:rPr kumimoji="1" lang="ja-JP" altLang="en-US" sz="1200" dirty="0">
                <a:latin typeface="+mn-ea"/>
              </a:rPr>
              <a:t>テスト項目の検証に必要となる</a:t>
            </a:r>
            <a:endParaRPr kumimoji="1" lang="en-US" altLang="ja-JP" sz="1200" dirty="0">
              <a:latin typeface="+mn-ea"/>
            </a:endParaRPr>
          </a:p>
          <a:p>
            <a:pPr algn="l" defTabSz="288000"/>
            <a:r>
              <a:rPr kumimoji="1" lang="ja-JP" altLang="en-US" sz="1200" dirty="0">
                <a:latin typeface="+mn-ea"/>
              </a:rPr>
              <a:t>具体的な手順やデータ</a:t>
            </a:r>
            <a:endParaRPr kumimoji="1" lang="en-US" altLang="ja-JP" sz="1200" dirty="0">
              <a:latin typeface="+mn-ea"/>
            </a:endParaRPr>
          </a:p>
          <a:p>
            <a:pPr algn="l" defTabSz="288000"/>
            <a:r>
              <a:rPr lang="ja-JP" altLang="en-US" sz="1200" dirty="0">
                <a:latin typeface="+mn-ea"/>
              </a:rPr>
              <a:t>（</a:t>
            </a:r>
            <a:r>
              <a:rPr kumimoji="1" lang="ja-JP" altLang="en-US" sz="1200" dirty="0">
                <a:latin typeface="+mn-ea"/>
              </a:rPr>
              <a:t>事前条件や期待結果など）</a:t>
            </a:r>
          </a:p>
        </p:txBody>
      </p:sp>
      <p:grpSp>
        <p:nvGrpSpPr>
          <p:cNvPr id="171" name="グループ化 170">
            <a:extLst>
              <a:ext uri="{FF2B5EF4-FFF2-40B4-BE49-F238E27FC236}">
                <a16:creationId xmlns:a16="http://schemas.microsoft.com/office/drawing/2014/main" id="{9E2C923C-2808-A6C5-5ADD-8FBA3463FC64}"/>
              </a:ext>
            </a:extLst>
          </p:cNvPr>
          <p:cNvGrpSpPr/>
          <p:nvPr/>
        </p:nvGrpSpPr>
        <p:grpSpPr>
          <a:xfrm>
            <a:off x="6695327" y="3523826"/>
            <a:ext cx="805561" cy="398274"/>
            <a:chOff x="7425037" y="6210019"/>
            <a:chExt cx="805561" cy="398274"/>
          </a:xfrm>
        </p:grpSpPr>
        <p:pic>
          <p:nvPicPr>
            <p:cNvPr id="172" name="グラフィックス 171" descr="ドキュメント 枠線">
              <a:extLst>
                <a:ext uri="{FF2B5EF4-FFF2-40B4-BE49-F238E27FC236}">
                  <a16:creationId xmlns:a16="http://schemas.microsoft.com/office/drawing/2014/main" id="{18BCD7D2-61A5-91B9-DC87-778F24ACD2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5037" y="6210019"/>
              <a:ext cx="396000" cy="396000"/>
            </a:xfrm>
            <a:prstGeom prst="rect">
              <a:avLst/>
            </a:prstGeom>
          </p:spPr>
        </p:pic>
        <p:sp>
          <p:nvSpPr>
            <p:cNvPr id="173" name="テキスト ボックス 172">
              <a:extLst>
                <a:ext uri="{FF2B5EF4-FFF2-40B4-BE49-F238E27FC236}">
                  <a16:creationId xmlns:a16="http://schemas.microsoft.com/office/drawing/2014/main" id="{2F9DA584-1DC0-A1AE-689D-DF5C866640D2}"/>
                </a:ext>
              </a:extLst>
            </p:cNvPr>
            <p:cNvSpPr txBox="1"/>
            <p:nvPr/>
          </p:nvSpPr>
          <p:spPr>
            <a:xfrm>
              <a:off x="7804577" y="6210019"/>
              <a:ext cx="426021" cy="398274"/>
            </a:xfrm>
            <a:prstGeom prst="rect">
              <a:avLst/>
            </a:prstGeom>
            <a:noFill/>
          </p:spPr>
          <p:txBody>
            <a:bodyPr wrap="square" lIns="0" rIns="0" rtlCol="0" anchor="ctr">
              <a:noAutofit/>
            </a:bodyPr>
            <a:lstStyle/>
            <a:p>
              <a:pPr algn="ctr" defTabSz="288000"/>
              <a:r>
                <a:rPr lang="ja-JP" altLang="en-US" sz="1100" dirty="0">
                  <a:latin typeface="+mn-ea"/>
                </a:rPr>
                <a:t>ユニット設計書</a:t>
              </a:r>
              <a:endParaRPr kumimoji="1" lang="ja-JP" altLang="en-US" sz="1100" dirty="0">
                <a:latin typeface="+mn-ea"/>
              </a:endParaRPr>
            </a:p>
          </p:txBody>
        </p:sp>
      </p:grpSp>
      <p:cxnSp>
        <p:nvCxnSpPr>
          <p:cNvPr id="175" name="直線矢印コネクタ 174">
            <a:extLst>
              <a:ext uri="{FF2B5EF4-FFF2-40B4-BE49-F238E27FC236}">
                <a16:creationId xmlns:a16="http://schemas.microsoft.com/office/drawing/2014/main" id="{B36C058B-FD7F-3858-6E26-6E5B4E00968D}"/>
              </a:ext>
            </a:extLst>
          </p:cNvPr>
          <p:cNvCxnSpPr/>
          <p:nvPr/>
        </p:nvCxnSpPr>
        <p:spPr>
          <a:xfrm>
            <a:off x="7127077" y="3941534"/>
            <a:ext cx="0" cy="144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6" name="四角形: 角を丸くする 175">
            <a:extLst>
              <a:ext uri="{FF2B5EF4-FFF2-40B4-BE49-F238E27FC236}">
                <a16:creationId xmlns:a16="http://schemas.microsoft.com/office/drawing/2014/main" id="{F62333E1-DFD1-B3B2-9B16-3BA751FFD5F8}"/>
              </a:ext>
            </a:extLst>
          </p:cNvPr>
          <p:cNvSpPr/>
          <p:nvPr/>
        </p:nvSpPr>
        <p:spPr>
          <a:xfrm>
            <a:off x="1782647" y="5342121"/>
            <a:ext cx="4475491" cy="936000"/>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177" name="四角形: 角を丸くする 176">
            <a:extLst>
              <a:ext uri="{FF2B5EF4-FFF2-40B4-BE49-F238E27FC236}">
                <a16:creationId xmlns:a16="http://schemas.microsoft.com/office/drawing/2014/main" id="{8D805D2D-E918-DDBE-185F-C0BAE51ADD63}"/>
              </a:ext>
            </a:extLst>
          </p:cNvPr>
          <p:cNvSpPr/>
          <p:nvPr/>
        </p:nvSpPr>
        <p:spPr>
          <a:xfrm>
            <a:off x="1782648" y="5106543"/>
            <a:ext cx="4475490" cy="311607"/>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ユニットテスト実装</a:t>
            </a:r>
          </a:p>
        </p:txBody>
      </p:sp>
      <p:grpSp>
        <p:nvGrpSpPr>
          <p:cNvPr id="186" name="グループ化 185">
            <a:extLst>
              <a:ext uri="{FF2B5EF4-FFF2-40B4-BE49-F238E27FC236}">
                <a16:creationId xmlns:a16="http://schemas.microsoft.com/office/drawing/2014/main" id="{123F0DA9-1330-89C3-BEF9-0D48EFC3B71D}"/>
              </a:ext>
            </a:extLst>
          </p:cNvPr>
          <p:cNvGrpSpPr/>
          <p:nvPr/>
        </p:nvGrpSpPr>
        <p:grpSpPr>
          <a:xfrm>
            <a:off x="2657340" y="5785223"/>
            <a:ext cx="1214785" cy="410940"/>
            <a:chOff x="6052141" y="3993387"/>
            <a:chExt cx="1214785" cy="410940"/>
          </a:xfrm>
        </p:grpSpPr>
        <p:pic>
          <p:nvPicPr>
            <p:cNvPr id="187" name="グラフィックス 186" descr="Web デザイン 枠線">
              <a:extLst>
                <a:ext uri="{FF2B5EF4-FFF2-40B4-BE49-F238E27FC236}">
                  <a16:creationId xmlns:a16="http://schemas.microsoft.com/office/drawing/2014/main" id="{88D00334-3B4B-C595-5FE9-45E0CB64F2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52141" y="4008327"/>
              <a:ext cx="396000" cy="396000"/>
            </a:xfrm>
            <a:prstGeom prst="rect">
              <a:avLst/>
            </a:prstGeom>
          </p:spPr>
        </p:pic>
        <p:sp>
          <p:nvSpPr>
            <p:cNvPr id="188" name="テキスト ボックス 187">
              <a:extLst>
                <a:ext uri="{FF2B5EF4-FFF2-40B4-BE49-F238E27FC236}">
                  <a16:creationId xmlns:a16="http://schemas.microsoft.com/office/drawing/2014/main" id="{08C9E24A-6635-9DC0-5017-83A9BC76A8B4}"/>
                </a:ext>
              </a:extLst>
            </p:cNvPr>
            <p:cNvSpPr txBox="1"/>
            <p:nvPr/>
          </p:nvSpPr>
          <p:spPr>
            <a:xfrm>
              <a:off x="6397049" y="3993387"/>
              <a:ext cx="869877" cy="398274"/>
            </a:xfrm>
            <a:prstGeom prst="rect">
              <a:avLst/>
            </a:prstGeom>
            <a:noFill/>
          </p:spPr>
          <p:txBody>
            <a:bodyPr wrap="square" lIns="0" rIns="0" rtlCol="0" anchor="ctr">
              <a:noAutofit/>
            </a:bodyPr>
            <a:lstStyle/>
            <a:p>
              <a:pPr algn="ctr" defTabSz="288000"/>
              <a:r>
                <a:rPr kumimoji="1" lang="ja-JP" altLang="en-US" sz="1100" dirty="0">
                  <a:latin typeface="+mn-ea"/>
                </a:rPr>
                <a:t>ユニットテストコード</a:t>
              </a:r>
            </a:p>
          </p:txBody>
        </p:sp>
      </p:grpSp>
      <p:sp>
        <p:nvSpPr>
          <p:cNvPr id="189" name="矢印: 右 188">
            <a:extLst>
              <a:ext uri="{FF2B5EF4-FFF2-40B4-BE49-F238E27FC236}">
                <a16:creationId xmlns:a16="http://schemas.microsoft.com/office/drawing/2014/main" id="{179528E8-80C8-EFF4-5E88-F5D93CBB4BEB}"/>
              </a:ext>
            </a:extLst>
          </p:cNvPr>
          <p:cNvSpPr/>
          <p:nvPr/>
        </p:nvSpPr>
        <p:spPr>
          <a:xfrm>
            <a:off x="1255071" y="5342121"/>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190" name="グループ化 189">
            <a:extLst>
              <a:ext uri="{FF2B5EF4-FFF2-40B4-BE49-F238E27FC236}">
                <a16:creationId xmlns:a16="http://schemas.microsoft.com/office/drawing/2014/main" id="{59249810-DAE6-23AB-5201-D95EB5B8A8AC}"/>
              </a:ext>
            </a:extLst>
          </p:cNvPr>
          <p:cNvGrpSpPr/>
          <p:nvPr/>
        </p:nvGrpSpPr>
        <p:grpSpPr>
          <a:xfrm>
            <a:off x="4152273" y="5783119"/>
            <a:ext cx="1252248" cy="398274"/>
            <a:chOff x="7371872" y="6210019"/>
            <a:chExt cx="1252248" cy="398274"/>
          </a:xfrm>
        </p:grpSpPr>
        <p:pic>
          <p:nvPicPr>
            <p:cNvPr id="191" name="グラフィックス 190" descr="ドキュメント 枠線">
              <a:extLst>
                <a:ext uri="{FF2B5EF4-FFF2-40B4-BE49-F238E27FC236}">
                  <a16:creationId xmlns:a16="http://schemas.microsoft.com/office/drawing/2014/main" id="{E987ADD0-A611-FEE8-8A79-C9D2E60C1B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1872" y="6210019"/>
              <a:ext cx="396000" cy="396000"/>
            </a:xfrm>
            <a:prstGeom prst="rect">
              <a:avLst/>
            </a:prstGeom>
          </p:spPr>
        </p:pic>
        <p:sp>
          <p:nvSpPr>
            <p:cNvPr id="192" name="テキスト ボックス 191">
              <a:extLst>
                <a:ext uri="{FF2B5EF4-FFF2-40B4-BE49-F238E27FC236}">
                  <a16:creationId xmlns:a16="http://schemas.microsoft.com/office/drawing/2014/main" id="{B395E853-156F-ACF8-4F59-C076593619AE}"/>
                </a:ext>
              </a:extLst>
            </p:cNvPr>
            <p:cNvSpPr txBox="1"/>
            <p:nvPr/>
          </p:nvSpPr>
          <p:spPr>
            <a:xfrm>
              <a:off x="7687617" y="6210019"/>
              <a:ext cx="936503" cy="398274"/>
            </a:xfrm>
            <a:prstGeom prst="rect">
              <a:avLst/>
            </a:prstGeom>
            <a:noFill/>
          </p:spPr>
          <p:txBody>
            <a:bodyPr wrap="square" lIns="0" rIns="0" rtlCol="0" anchor="ctr">
              <a:noAutofit/>
            </a:bodyPr>
            <a:lstStyle/>
            <a:p>
              <a:pPr algn="ctr" defTabSz="288000"/>
              <a:r>
                <a:rPr lang="ja-JP" altLang="en-US" sz="1100" dirty="0">
                  <a:latin typeface="+mn-ea"/>
                </a:rPr>
                <a:t>ユニットテスト</a:t>
              </a:r>
              <a:endParaRPr lang="en-US" altLang="ja-JP" sz="1100" dirty="0">
                <a:latin typeface="+mn-ea"/>
              </a:endParaRPr>
            </a:p>
            <a:p>
              <a:pPr algn="ctr" defTabSz="288000"/>
              <a:r>
                <a:rPr lang="ja-JP" altLang="en-US" sz="1100" dirty="0">
                  <a:latin typeface="+mn-ea"/>
                </a:rPr>
                <a:t>手順書</a:t>
              </a:r>
              <a:endParaRPr kumimoji="1" lang="ja-JP" altLang="en-US" sz="1100" dirty="0">
                <a:latin typeface="+mn-ea"/>
              </a:endParaRPr>
            </a:p>
          </p:txBody>
        </p:sp>
      </p:grpSp>
      <p:sp>
        <p:nvSpPr>
          <p:cNvPr id="193" name="四角形: 角を丸くする 192">
            <a:extLst>
              <a:ext uri="{FF2B5EF4-FFF2-40B4-BE49-F238E27FC236}">
                <a16:creationId xmlns:a16="http://schemas.microsoft.com/office/drawing/2014/main" id="{F1D130F9-313F-F589-7917-867040A7384F}"/>
              </a:ext>
            </a:extLst>
          </p:cNvPr>
          <p:cNvSpPr/>
          <p:nvPr/>
        </p:nvSpPr>
        <p:spPr>
          <a:xfrm>
            <a:off x="6968926" y="5458663"/>
            <a:ext cx="4095129" cy="720000"/>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194" name="四角形: 角を丸くする 193">
            <a:extLst>
              <a:ext uri="{FF2B5EF4-FFF2-40B4-BE49-F238E27FC236}">
                <a16:creationId xmlns:a16="http://schemas.microsoft.com/office/drawing/2014/main" id="{A5537A9B-4219-8962-5EAA-BA4187A78BE7}"/>
              </a:ext>
            </a:extLst>
          </p:cNvPr>
          <p:cNvSpPr/>
          <p:nvPr/>
        </p:nvSpPr>
        <p:spPr>
          <a:xfrm>
            <a:off x="6968927" y="5223085"/>
            <a:ext cx="4095128" cy="311607"/>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ユニットテスト実行</a:t>
            </a:r>
          </a:p>
        </p:txBody>
      </p:sp>
      <p:sp>
        <p:nvSpPr>
          <p:cNvPr id="209" name="矢印: 右 208">
            <a:extLst>
              <a:ext uri="{FF2B5EF4-FFF2-40B4-BE49-F238E27FC236}">
                <a16:creationId xmlns:a16="http://schemas.microsoft.com/office/drawing/2014/main" id="{B80280BA-FA00-2C36-9FE9-F13231F035F6}"/>
              </a:ext>
            </a:extLst>
          </p:cNvPr>
          <p:cNvSpPr/>
          <p:nvPr/>
        </p:nvSpPr>
        <p:spPr>
          <a:xfrm>
            <a:off x="6406549" y="5342121"/>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10" name="テキスト ボックス 209">
            <a:extLst>
              <a:ext uri="{FF2B5EF4-FFF2-40B4-BE49-F238E27FC236}">
                <a16:creationId xmlns:a16="http://schemas.microsoft.com/office/drawing/2014/main" id="{45AD8BC9-9C15-4048-3895-64998E91F103}"/>
              </a:ext>
            </a:extLst>
          </p:cNvPr>
          <p:cNvSpPr txBox="1"/>
          <p:nvPr/>
        </p:nvSpPr>
        <p:spPr>
          <a:xfrm>
            <a:off x="7082636" y="5609304"/>
            <a:ext cx="4211431" cy="448867"/>
          </a:xfrm>
          <a:prstGeom prst="rect">
            <a:avLst/>
          </a:prstGeom>
          <a:noFill/>
        </p:spPr>
        <p:txBody>
          <a:bodyPr wrap="square" lIns="0" rIns="0" rtlCol="0">
            <a:noAutofit/>
          </a:bodyPr>
          <a:lstStyle/>
          <a:p>
            <a:pPr algn="l" defTabSz="288000"/>
            <a:r>
              <a:rPr kumimoji="1" lang="ja-JP" altLang="en-US" sz="1400" dirty="0">
                <a:latin typeface="+mn-ea"/>
              </a:rPr>
              <a:t> ・ユニットテストを実行する</a:t>
            </a:r>
            <a:endParaRPr kumimoji="1" lang="en-US" altLang="ja-JP" sz="1400" dirty="0">
              <a:latin typeface="+mn-ea"/>
            </a:endParaRPr>
          </a:p>
          <a:p>
            <a:pPr algn="l" defTabSz="288000"/>
            <a:r>
              <a:rPr lang="ja-JP" altLang="en-US" sz="1400" dirty="0">
                <a:latin typeface="+mn-ea"/>
              </a:rPr>
              <a:t>　　</a:t>
            </a:r>
            <a:r>
              <a:rPr kumimoji="1" lang="ja-JP" altLang="en-US" sz="1400" dirty="0">
                <a:latin typeface="+mn-ea"/>
              </a:rPr>
              <a:t>故障が発生した場合は修正対応と再テストを行う</a:t>
            </a:r>
          </a:p>
        </p:txBody>
      </p:sp>
      <p:sp>
        <p:nvSpPr>
          <p:cNvPr id="211" name="テキスト ボックス 210">
            <a:extLst>
              <a:ext uri="{FF2B5EF4-FFF2-40B4-BE49-F238E27FC236}">
                <a16:creationId xmlns:a16="http://schemas.microsoft.com/office/drawing/2014/main" id="{3A04E5CA-0543-7463-268C-D2F66EA6DFA7}"/>
              </a:ext>
            </a:extLst>
          </p:cNvPr>
          <p:cNvSpPr txBox="1"/>
          <p:nvPr/>
        </p:nvSpPr>
        <p:spPr>
          <a:xfrm>
            <a:off x="1887471" y="5453319"/>
            <a:ext cx="4370667" cy="448867"/>
          </a:xfrm>
          <a:prstGeom prst="rect">
            <a:avLst/>
          </a:prstGeom>
          <a:noFill/>
        </p:spPr>
        <p:txBody>
          <a:bodyPr wrap="square" lIns="0" rIns="0" rtlCol="0">
            <a:noAutofit/>
          </a:bodyPr>
          <a:lstStyle/>
          <a:p>
            <a:pPr algn="l" defTabSz="288000"/>
            <a:r>
              <a:rPr kumimoji="1" lang="ja-JP" altLang="en-US" sz="1400" dirty="0">
                <a:latin typeface="+mn-ea"/>
              </a:rPr>
              <a:t> ・ユニットテストを実行するための成果物（コード等）を作成</a:t>
            </a:r>
          </a:p>
        </p:txBody>
      </p:sp>
    </p:spTree>
    <p:extLst>
      <p:ext uri="{BB962C8B-B14F-4D97-AF65-F5344CB8AC3E}">
        <p14:creationId xmlns:p14="http://schemas.microsoft.com/office/powerpoint/2010/main" val="3194070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BFA27-0AAD-B9A0-5769-A6615FEFBC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0C81DF-CACE-21F8-B817-2206FABFF2BC}"/>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単体テスト </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0B6198B0-AA95-23EC-80D0-F8CB5013BD09}"/>
              </a:ext>
            </a:extLst>
          </p:cNvPr>
          <p:cNvSpPr>
            <a:spLocks noGrp="1"/>
          </p:cNvSpPr>
          <p:nvPr>
            <p:ph sz="quarter" idx="4294967295"/>
          </p:nvPr>
        </p:nvSpPr>
        <p:spPr>
          <a:xfrm>
            <a:off x="481490" y="978298"/>
            <a:ext cx="11448000" cy="1664786"/>
          </a:xfrm>
        </p:spPr>
        <p:txBody>
          <a:bodyPr/>
          <a:lstStyle/>
          <a:p>
            <a:r>
              <a:rPr lang="ja-JP" altLang="en-US" u="sng" dirty="0">
                <a:solidFill>
                  <a:schemeClr val="tx1"/>
                </a:solidFill>
              </a:rPr>
              <a:t>製造</a:t>
            </a:r>
            <a:r>
              <a:rPr lang="en-US" altLang="ja-JP" u="sng" dirty="0">
                <a:solidFill>
                  <a:schemeClr val="tx1"/>
                </a:solidFill>
              </a:rPr>
              <a:t>/</a:t>
            </a:r>
            <a:r>
              <a:rPr lang="ja-JP" altLang="en-US" u="sng" dirty="0">
                <a:solidFill>
                  <a:schemeClr val="tx1"/>
                </a:solidFill>
              </a:rPr>
              <a:t>単体テスト（</a:t>
            </a:r>
            <a:r>
              <a:rPr lang="en-US" altLang="ja-JP" u="sng" dirty="0">
                <a:solidFill>
                  <a:schemeClr val="tx1"/>
                </a:solidFill>
              </a:rPr>
              <a:t>Construction and Unit Test</a:t>
            </a:r>
            <a:r>
              <a:rPr lang="ja-JP" altLang="en-US" u="sng" dirty="0">
                <a:solidFill>
                  <a:schemeClr val="tx1"/>
                </a:solidFill>
              </a:rPr>
              <a:t>）フェーズ</a:t>
            </a:r>
            <a:endParaRPr lang="en-US" altLang="ja-JP" u="sng" dirty="0">
              <a:solidFill>
                <a:schemeClr val="tx1"/>
              </a:solidFill>
            </a:endParaRPr>
          </a:p>
          <a:p>
            <a:r>
              <a:rPr lang="ja-JP" altLang="en-US" dirty="0">
                <a:solidFill>
                  <a:schemeClr val="tx1"/>
                </a:solidFill>
              </a:rPr>
              <a:t>例）ユニットテストケース表</a:t>
            </a:r>
            <a:endParaRPr lang="en-US" altLang="ja-JP" dirty="0">
              <a:solidFill>
                <a:schemeClr val="tx1"/>
              </a:solidFill>
            </a:endParaRPr>
          </a:p>
        </p:txBody>
      </p:sp>
      <p:pic>
        <p:nvPicPr>
          <p:cNvPr id="9" name="図 8" descr="グラフィカル ユーザー インターフェイス, アプリケーション, テーブル&#10;&#10;AI によって生成されたコンテンツは間違っている可能性があります。">
            <a:extLst>
              <a:ext uri="{FF2B5EF4-FFF2-40B4-BE49-F238E27FC236}">
                <a16:creationId xmlns:a16="http://schemas.microsoft.com/office/drawing/2014/main" id="{FF8A1C1D-0AF2-F0F9-6B69-43F5A6E424C0}"/>
              </a:ext>
            </a:extLst>
          </p:cNvPr>
          <p:cNvPicPr>
            <a:picLocks noChangeAspect="1"/>
          </p:cNvPicPr>
          <p:nvPr/>
        </p:nvPicPr>
        <p:blipFill>
          <a:blip r:embed="rId2"/>
          <a:srcRect l="1691" t="22170" r="10934" b="14266"/>
          <a:stretch/>
        </p:blipFill>
        <p:spPr>
          <a:xfrm>
            <a:off x="481490" y="1690576"/>
            <a:ext cx="10097905" cy="4726077"/>
          </a:xfrm>
          <a:prstGeom prst="rect">
            <a:avLst/>
          </a:prstGeom>
        </p:spPr>
      </p:pic>
      <p:sp>
        <p:nvSpPr>
          <p:cNvPr id="10" name="正方形/長方形 9">
            <a:extLst>
              <a:ext uri="{FF2B5EF4-FFF2-40B4-BE49-F238E27FC236}">
                <a16:creationId xmlns:a16="http://schemas.microsoft.com/office/drawing/2014/main" id="{91E5041D-3598-7076-DE1E-A4DCCDB5BA3C}"/>
              </a:ext>
            </a:extLst>
          </p:cNvPr>
          <p:cNvSpPr/>
          <p:nvPr/>
        </p:nvSpPr>
        <p:spPr>
          <a:xfrm>
            <a:off x="616428" y="5256422"/>
            <a:ext cx="861237" cy="37883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テスト観点</a:t>
            </a:r>
          </a:p>
        </p:txBody>
      </p:sp>
      <p:sp>
        <p:nvSpPr>
          <p:cNvPr id="13" name="正方形/長方形 12">
            <a:extLst>
              <a:ext uri="{FF2B5EF4-FFF2-40B4-BE49-F238E27FC236}">
                <a16:creationId xmlns:a16="http://schemas.microsoft.com/office/drawing/2014/main" id="{3A106D1C-4F98-F615-D500-DC98793CBBFD}"/>
              </a:ext>
            </a:extLst>
          </p:cNvPr>
          <p:cNvSpPr/>
          <p:nvPr/>
        </p:nvSpPr>
        <p:spPr>
          <a:xfrm>
            <a:off x="1708343" y="5256021"/>
            <a:ext cx="861237" cy="37883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テスト項目</a:t>
            </a:r>
          </a:p>
        </p:txBody>
      </p:sp>
      <p:sp>
        <p:nvSpPr>
          <p:cNvPr id="14" name="正方形/長方形 13">
            <a:extLst>
              <a:ext uri="{FF2B5EF4-FFF2-40B4-BE49-F238E27FC236}">
                <a16:creationId xmlns:a16="http://schemas.microsoft.com/office/drawing/2014/main" id="{ADAB3470-6654-F577-44A5-EF1060392FA5}"/>
              </a:ext>
            </a:extLst>
          </p:cNvPr>
          <p:cNvSpPr/>
          <p:nvPr/>
        </p:nvSpPr>
        <p:spPr>
          <a:xfrm>
            <a:off x="3570602" y="5225703"/>
            <a:ext cx="1554291" cy="1079404"/>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400" dirty="0">
                <a:solidFill>
                  <a:schemeClr val="bg1"/>
                </a:solidFill>
              </a:rPr>
              <a:t>　テストケース</a:t>
            </a:r>
            <a:endParaRPr kumimoji="1" lang="en-US" altLang="ja-JP" sz="1400" dirty="0">
              <a:solidFill>
                <a:schemeClr val="bg1"/>
              </a:solidFill>
            </a:endParaRPr>
          </a:p>
          <a:p>
            <a:r>
              <a:rPr lang="ja-JP" altLang="en-US" sz="1200" dirty="0">
                <a:solidFill>
                  <a:schemeClr val="bg1"/>
                </a:solidFill>
              </a:rPr>
              <a:t>　　・概要</a:t>
            </a:r>
            <a:endParaRPr lang="en-US" altLang="ja-JP" sz="1200" dirty="0">
              <a:solidFill>
                <a:schemeClr val="bg1"/>
              </a:solidFill>
            </a:endParaRPr>
          </a:p>
          <a:p>
            <a:r>
              <a:rPr kumimoji="1" lang="ja-JP" altLang="en-US" sz="1200" dirty="0">
                <a:solidFill>
                  <a:schemeClr val="bg1"/>
                </a:solidFill>
              </a:rPr>
              <a:t>　　・事前条件</a:t>
            </a:r>
            <a:endParaRPr kumimoji="1" lang="en-US" altLang="ja-JP" sz="1200" dirty="0">
              <a:solidFill>
                <a:schemeClr val="bg1"/>
              </a:solidFill>
            </a:endParaRPr>
          </a:p>
          <a:p>
            <a:r>
              <a:rPr lang="ja-JP" altLang="en-US" sz="1200" dirty="0">
                <a:solidFill>
                  <a:schemeClr val="bg1"/>
                </a:solidFill>
              </a:rPr>
              <a:t>　　・入力値</a:t>
            </a:r>
            <a:endParaRPr lang="en-US" altLang="ja-JP" sz="1200" dirty="0">
              <a:solidFill>
                <a:schemeClr val="bg1"/>
              </a:solidFill>
            </a:endParaRPr>
          </a:p>
          <a:p>
            <a:r>
              <a:rPr kumimoji="1" lang="ja-JP" altLang="en-US" sz="1200" dirty="0">
                <a:solidFill>
                  <a:schemeClr val="bg1"/>
                </a:solidFill>
              </a:rPr>
              <a:t>　　・期待結果</a:t>
            </a:r>
          </a:p>
        </p:txBody>
      </p:sp>
      <p:sp>
        <p:nvSpPr>
          <p:cNvPr id="15" name="正方形/長方形 14">
            <a:extLst>
              <a:ext uri="{FF2B5EF4-FFF2-40B4-BE49-F238E27FC236}">
                <a16:creationId xmlns:a16="http://schemas.microsoft.com/office/drawing/2014/main" id="{FC55202D-B5F0-49E4-5042-4B60B6A5A747}"/>
              </a:ext>
            </a:extLst>
          </p:cNvPr>
          <p:cNvSpPr/>
          <p:nvPr/>
        </p:nvSpPr>
        <p:spPr>
          <a:xfrm>
            <a:off x="481490" y="2927892"/>
            <a:ext cx="1044000" cy="23040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6" name="正方形/長方形 15">
            <a:extLst>
              <a:ext uri="{FF2B5EF4-FFF2-40B4-BE49-F238E27FC236}">
                <a16:creationId xmlns:a16="http://schemas.microsoft.com/office/drawing/2014/main" id="{1E7CFBD6-C465-E62F-1158-3CE0BD54E115}"/>
              </a:ext>
            </a:extLst>
          </p:cNvPr>
          <p:cNvSpPr/>
          <p:nvPr/>
        </p:nvSpPr>
        <p:spPr>
          <a:xfrm>
            <a:off x="1580962" y="2927892"/>
            <a:ext cx="1116000" cy="23040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7" name="正方形/長方形 16">
            <a:extLst>
              <a:ext uri="{FF2B5EF4-FFF2-40B4-BE49-F238E27FC236}">
                <a16:creationId xmlns:a16="http://schemas.microsoft.com/office/drawing/2014/main" id="{596705AE-5A23-EE42-6D38-C4B98D207D19}"/>
              </a:ext>
            </a:extLst>
          </p:cNvPr>
          <p:cNvSpPr/>
          <p:nvPr/>
        </p:nvSpPr>
        <p:spPr>
          <a:xfrm>
            <a:off x="2752433" y="2921703"/>
            <a:ext cx="4350115" cy="23040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正方形/長方形 17">
            <a:extLst>
              <a:ext uri="{FF2B5EF4-FFF2-40B4-BE49-F238E27FC236}">
                <a16:creationId xmlns:a16="http://schemas.microsoft.com/office/drawing/2014/main" id="{7EE7EC9C-928B-C8D1-DCEB-706F4FFD606F}"/>
              </a:ext>
            </a:extLst>
          </p:cNvPr>
          <p:cNvSpPr/>
          <p:nvPr/>
        </p:nvSpPr>
        <p:spPr>
          <a:xfrm>
            <a:off x="7170006" y="2927892"/>
            <a:ext cx="2760804" cy="3175196"/>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9" name="正方形/長方形 18">
            <a:extLst>
              <a:ext uri="{FF2B5EF4-FFF2-40B4-BE49-F238E27FC236}">
                <a16:creationId xmlns:a16="http://schemas.microsoft.com/office/drawing/2014/main" id="{8C8C7B07-0E6D-22E1-EEBD-E8CC129B101B}"/>
              </a:ext>
            </a:extLst>
          </p:cNvPr>
          <p:cNvSpPr/>
          <p:nvPr/>
        </p:nvSpPr>
        <p:spPr>
          <a:xfrm>
            <a:off x="9917589" y="4627722"/>
            <a:ext cx="1565574" cy="348315"/>
          </a:xfrm>
          <a:prstGeom prst="rect">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テスト実施結果</a:t>
            </a:r>
            <a:endParaRPr kumimoji="1" lang="ja-JP" altLang="en-US" sz="1200" dirty="0">
              <a:solidFill>
                <a:schemeClr val="bg1"/>
              </a:solidFill>
            </a:endParaRPr>
          </a:p>
        </p:txBody>
      </p:sp>
    </p:spTree>
    <p:extLst>
      <p:ext uri="{BB962C8B-B14F-4D97-AF65-F5344CB8AC3E}">
        <p14:creationId xmlns:p14="http://schemas.microsoft.com/office/powerpoint/2010/main" val="247380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97564-7B5F-77F3-FABF-7611D5C3D0B5}"/>
            </a:ext>
          </a:extLst>
        </p:cNvPr>
        <p:cNvGrpSpPr/>
        <p:nvPr/>
      </p:nvGrpSpPr>
      <p:grpSpPr>
        <a:xfrm>
          <a:off x="0" y="0"/>
          <a:ext cx="0" cy="0"/>
          <a:chOff x="0" y="0"/>
          <a:chExt cx="0" cy="0"/>
        </a:xfrm>
      </p:grpSpPr>
      <p:sp>
        <p:nvSpPr>
          <p:cNvPr id="175" name="四角形: 角を丸くする 174">
            <a:extLst>
              <a:ext uri="{FF2B5EF4-FFF2-40B4-BE49-F238E27FC236}">
                <a16:creationId xmlns:a16="http://schemas.microsoft.com/office/drawing/2014/main" id="{83588A7A-2086-4F1C-C3EB-B586F20758CC}"/>
              </a:ext>
            </a:extLst>
          </p:cNvPr>
          <p:cNvSpPr/>
          <p:nvPr/>
        </p:nvSpPr>
        <p:spPr>
          <a:xfrm>
            <a:off x="967554" y="4026691"/>
            <a:ext cx="2019755" cy="1932259"/>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176" name="四角形: 角を丸くする 175">
            <a:extLst>
              <a:ext uri="{FF2B5EF4-FFF2-40B4-BE49-F238E27FC236}">
                <a16:creationId xmlns:a16="http://schemas.microsoft.com/office/drawing/2014/main" id="{D076642B-8F1D-2EC6-CFEC-F608988CCE98}"/>
              </a:ext>
            </a:extLst>
          </p:cNvPr>
          <p:cNvSpPr/>
          <p:nvPr/>
        </p:nvSpPr>
        <p:spPr>
          <a:xfrm>
            <a:off x="3596635" y="3988146"/>
            <a:ext cx="2807620" cy="2093672"/>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177" name="四角形: 角を丸くする 176">
            <a:extLst>
              <a:ext uri="{FF2B5EF4-FFF2-40B4-BE49-F238E27FC236}">
                <a16:creationId xmlns:a16="http://schemas.microsoft.com/office/drawing/2014/main" id="{1C9CB184-D0F5-3D1B-9C86-9B084375068E}"/>
              </a:ext>
            </a:extLst>
          </p:cNvPr>
          <p:cNvSpPr/>
          <p:nvPr/>
        </p:nvSpPr>
        <p:spPr>
          <a:xfrm>
            <a:off x="7003207" y="4457711"/>
            <a:ext cx="2019755" cy="1095157"/>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178" name="四角形: 角を丸くする 177">
            <a:extLst>
              <a:ext uri="{FF2B5EF4-FFF2-40B4-BE49-F238E27FC236}">
                <a16:creationId xmlns:a16="http://schemas.microsoft.com/office/drawing/2014/main" id="{2B21FBE9-CF6B-56C7-483A-A9A2C4FD5DF9}"/>
              </a:ext>
            </a:extLst>
          </p:cNvPr>
          <p:cNvSpPr/>
          <p:nvPr/>
        </p:nvSpPr>
        <p:spPr>
          <a:xfrm>
            <a:off x="9630553" y="4458297"/>
            <a:ext cx="2019755" cy="1095157"/>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2" name="タイトル 1">
            <a:extLst>
              <a:ext uri="{FF2B5EF4-FFF2-40B4-BE49-F238E27FC236}">
                <a16:creationId xmlns:a16="http://schemas.microsoft.com/office/drawing/2014/main" id="{62969AD2-DD6C-11E0-BB62-95A68A1E239D}"/>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結合テスト </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5DF5F7E4-B75F-2D8F-9EB8-0636F11BF6FA}"/>
              </a:ext>
            </a:extLst>
          </p:cNvPr>
          <p:cNvSpPr>
            <a:spLocks noGrp="1"/>
          </p:cNvSpPr>
          <p:nvPr>
            <p:ph sz="quarter" idx="4294967295"/>
          </p:nvPr>
        </p:nvSpPr>
        <p:spPr>
          <a:xfrm>
            <a:off x="481490" y="978298"/>
            <a:ext cx="11448000" cy="730800"/>
          </a:xfrm>
        </p:spPr>
        <p:txBody>
          <a:bodyPr/>
          <a:lstStyle/>
          <a:p>
            <a:r>
              <a:rPr lang="ja-JP" altLang="en-US" u="sng" dirty="0">
                <a:solidFill>
                  <a:schemeClr val="tx1"/>
                </a:solidFill>
              </a:rPr>
              <a:t>結合テスト（</a:t>
            </a:r>
            <a:r>
              <a:rPr lang="en-US" altLang="ja-JP" u="sng" dirty="0">
                <a:solidFill>
                  <a:schemeClr val="tx1"/>
                </a:solidFill>
              </a:rPr>
              <a:t>Integration Test</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rPr>
              <a:t>アプリケーションが要件</a:t>
            </a:r>
            <a:r>
              <a:rPr lang="en-US" altLang="ja-JP" b="0" i="0" dirty="0">
                <a:solidFill>
                  <a:schemeClr val="tx1"/>
                </a:solidFill>
                <a:effectLst/>
              </a:rPr>
              <a:t>/</a:t>
            </a:r>
            <a:r>
              <a:rPr lang="ja-JP" altLang="en-US" b="0" i="0" dirty="0">
                <a:solidFill>
                  <a:schemeClr val="tx1"/>
                </a:solidFill>
                <a:effectLst/>
              </a:rPr>
              <a:t>設計通りに動作するかを確認するフェーズ</a:t>
            </a:r>
            <a:endParaRPr lang="en-US" altLang="ja-JP" b="0" i="0" dirty="0">
              <a:solidFill>
                <a:schemeClr val="tx1"/>
              </a:solidFill>
              <a:effectLst/>
            </a:endParaRPr>
          </a:p>
        </p:txBody>
      </p:sp>
      <p:grpSp>
        <p:nvGrpSpPr>
          <p:cNvPr id="5" name="グループ化 4">
            <a:extLst>
              <a:ext uri="{FF2B5EF4-FFF2-40B4-BE49-F238E27FC236}">
                <a16:creationId xmlns:a16="http://schemas.microsoft.com/office/drawing/2014/main" id="{FB73FB59-6198-5CDA-594E-6B6F7DB87202}"/>
              </a:ext>
            </a:extLst>
          </p:cNvPr>
          <p:cNvGrpSpPr/>
          <p:nvPr/>
        </p:nvGrpSpPr>
        <p:grpSpPr>
          <a:xfrm>
            <a:off x="8633867" y="152748"/>
            <a:ext cx="3295623" cy="1890892"/>
            <a:chOff x="8633867" y="152748"/>
            <a:chExt cx="3295623" cy="1890892"/>
          </a:xfrm>
        </p:grpSpPr>
        <p:pic>
          <p:nvPicPr>
            <p:cNvPr id="11" name="図 10" descr="ダイアグラム&#10;&#10;AI によって生成されたコンテンツは間違っている可能性があります。">
              <a:extLst>
                <a:ext uri="{FF2B5EF4-FFF2-40B4-BE49-F238E27FC236}">
                  <a16:creationId xmlns:a16="http://schemas.microsoft.com/office/drawing/2014/main" id="{46651F10-BEF9-7E67-73BA-D456CAAC3754}"/>
                </a:ext>
              </a:extLst>
            </p:cNvPr>
            <p:cNvPicPr>
              <a:picLocks noChangeAspect="1"/>
            </p:cNvPicPr>
            <p:nvPr/>
          </p:nvPicPr>
          <p:blipFill>
            <a:blip r:embed="rId2"/>
            <a:stretch>
              <a:fillRect/>
            </a:stretch>
          </p:blipFill>
          <p:spPr>
            <a:xfrm>
              <a:off x="8633867" y="152748"/>
              <a:ext cx="3295623" cy="1890892"/>
            </a:xfrm>
            <a:prstGeom prst="rect">
              <a:avLst/>
            </a:prstGeom>
            <a:ln>
              <a:solidFill>
                <a:schemeClr val="tx1"/>
              </a:solidFill>
            </a:ln>
          </p:spPr>
        </p:pic>
        <p:sp>
          <p:nvSpPr>
            <p:cNvPr id="12" name="正方形/長方形 11">
              <a:extLst>
                <a:ext uri="{FF2B5EF4-FFF2-40B4-BE49-F238E27FC236}">
                  <a16:creationId xmlns:a16="http://schemas.microsoft.com/office/drawing/2014/main" id="{7B0B7BD9-C1AE-1383-3E84-3E39109DFDB3}"/>
                </a:ext>
              </a:extLst>
            </p:cNvPr>
            <p:cNvSpPr/>
            <p:nvPr/>
          </p:nvSpPr>
          <p:spPr>
            <a:xfrm>
              <a:off x="10515946" y="1134803"/>
              <a:ext cx="900000" cy="396000"/>
            </a:xfrm>
            <a:prstGeom prst="rect">
              <a:avLst/>
            </a:prstGeom>
            <a:noFill/>
            <a:ln w="3810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33" name="矢印: 下 32">
              <a:extLst>
                <a:ext uri="{FF2B5EF4-FFF2-40B4-BE49-F238E27FC236}">
                  <a16:creationId xmlns:a16="http://schemas.microsoft.com/office/drawing/2014/main" id="{E9B6B63A-48F0-AA5C-AFEF-7FAB063E0FCA}"/>
                </a:ext>
              </a:extLst>
            </p:cNvPr>
            <p:cNvSpPr/>
            <p:nvPr/>
          </p:nvSpPr>
          <p:spPr>
            <a:xfrm rot="16200000" flipV="1">
              <a:off x="11512047" y="1160515"/>
              <a:ext cx="210790" cy="363894"/>
            </a:xfrm>
            <a:prstGeom prst="downArrow">
              <a:avLst/>
            </a:prstGeom>
            <a:solidFill>
              <a:srgbClr val="92D05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正方形/長方形 3">
              <a:extLst>
                <a:ext uri="{FF2B5EF4-FFF2-40B4-BE49-F238E27FC236}">
                  <a16:creationId xmlns:a16="http://schemas.microsoft.com/office/drawing/2014/main" id="{8E89473B-6FFE-694B-0B07-B35F24D8BACE}"/>
                </a:ext>
              </a:extLst>
            </p:cNvPr>
            <p:cNvSpPr/>
            <p:nvPr/>
          </p:nvSpPr>
          <p:spPr>
            <a:xfrm>
              <a:off x="8706399"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9" name="テキスト ボックス 8">
            <a:extLst>
              <a:ext uri="{FF2B5EF4-FFF2-40B4-BE49-F238E27FC236}">
                <a16:creationId xmlns:a16="http://schemas.microsoft.com/office/drawing/2014/main" id="{49C87335-77D9-D5D4-E511-49FA571B36E9}"/>
              </a:ext>
            </a:extLst>
          </p:cNvPr>
          <p:cNvSpPr txBox="1"/>
          <p:nvPr/>
        </p:nvSpPr>
        <p:spPr>
          <a:xfrm>
            <a:off x="370800" y="1785821"/>
            <a:ext cx="11409040" cy="1200329"/>
          </a:xfrm>
          <a:prstGeom prst="rect">
            <a:avLst/>
          </a:prstGeom>
          <a:noFill/>
        </p:spPr>
        <p:txBody>
          <a:bodyPr wrap="square">
            <a:spAutoFit/>
          </a:bodyPr>
          <a:lstStyle/>
          <a:p>
            <a:r>
              <a:rPr lang="ja-JP" altLang="en-US" dirty="0">
                <a:solidFill>
                  <a:schemeClr val="tx1"/>
                </a:solidFill>
              </a:rPr>
              <a:t>■主な作業</a:t>
            </a:r>
            <a:endParaRPr lang="en-US" altLang="ja-JP" dirty="0">
              <a:solidFill>
                <a:schemeClr val="tx1"/>
              </a:solidFill>
            </a:endParaRPr>
          </a:p>
          <a:p>
            <a:r>
              <a:rPr lang="ja-JP" altLang="en-US" dirty="0">
                <a:solidFill>
                  <a:schemeClr val="tx1"/>
                </a:solidFill>
              </a:rPr>
              <a:t>　　・処理テストの計画、設計、実施</a:t>
            </a:r>
            <a:endParaRPr lang="en-US" altLang="ja-JP" dirty="0">
              <a:solidFill>
                <a:schemeClr val="tx1"/>
              </a:solidFill>
            </a:endParaRPr>
          </a:p>
          <a:p>
            <a:r>
              <a:rPr lang="ja-JP" altLang="en-US" dirty="0">
                <a:solidFill>
                  <a:schemeClr val="tx1"/>
                </a:solidFill>
              </a:rPr>
              <a:t>　　・ユースケーステストの計画、設計、実施</a:t>
            </a:r>
            <a:endParaRPr lang="en-US" altLang="ja-JP" dirty="0">
              <a:solidFill>
                <a:schemeClr val="tx1"/>
              </a:solidFill>
            </a:endParaRPr>
          </a:p>
          <a:p>
            <a:r>
              <a:rPr lang="ja-JP" altLang="en-US" dirty="0">
                <a:solidFill>
                  <a:schemeClr val="tx1"/>
                </a:solidFill>
              </a:rPr>
              <a:t>　　・業務テストの計画、設計、実施</a:t>
            </a:r>
            <a:r>
              <a:rPr lang="en-US" altLang="ja-JP" dirty="0">
                <a:solidFill>
                  <a:schemeClr val="tx1"/>
                </a:solidFill>
              </a:rPr>
              <a:t>	</a:t>
            </a:r>
          </a:p>
        </p:txBody>
      </p:sp>
      <p:sp>
        <p:nvSpPr>
          <p:cNvPr id="170" name="四角形: 角を丸くする 169">
            <a:extLst>
              <a:ext uri="{FF2B5EF4-FFF2-40B4-BE49-F238E27FC236}">
                <a16:creationId xmlns:a16="http://schemas.microsoft.com/office/drawing/2014/main" id="{6932365A-4832-7CEA-7233-58E571AEDF9F}"/>
              </a:ext>
            </a:extLst>
          </p:cNvPr>
          <p:cNvSpPr/>
          <p:nvPr/>
        </p:nvSpPr>
        <p:spPr>
          <a:xfrm>
            <a:off x="967553" y="3883506"/>
            <a:ext cx="2019756" cy="50509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テスト計画</a:t>
            </a:r>
          </a:p>
        </p:txBody>
      </p:sp>
      <p:sp>
        <p:nvSpPr>
          <p:cNvPr id="171" name="テキスト ボックス 170">
            <a:extLst>
              <a:ext uri="{FF2B5EF4-FFF2-40B4-BE49-F238E27FC236}">
                <a16:creationId xmlns:a16="http://schemas.microsoft.com/office/drawing/2014/main" id="{3F0A00E8-A868-D013-479D-2CC41003B4DF}"/>
              </a:ext>
            </a:extLst>
          </p:cNvPr>
          <p:cNvSpPr txBox="1"/>
          <p:nvPr/>
        </p:nvSpPr>
        <p:spPr>
          <a:xfrm>
            <a:off x="370800" y="3206876"/>
            <a:ext cx="11409040" cy="400110"/>
          </a:xfrm>
          <a:prstGeom prst="rect">
            <a:avLst/>
          </a:prstGeom>
          <a:noFill/>
        </p:spPr>
        <p:txBody>
          <a:bodyPr wrap="square">
            <a:spAutoFit/>
          </a:bodyPr>
          <a:lstStyle/>
          <a:p>
            <a:r>
              <a:rPr lang="ja-JP" altLang="en-US" dirty="0"/>
              <a:t>上記のテストの流れは全て同じだが、</a:t>
            </a:r>
            <a:r>
              <a:rPr lang="ja-JP" altLang="en-US" sz="2000" b="1" dirty="0"/>
              <a:t>テスト対象やテスト観点、インプットする設計書</a:t>
            </a:r>
            <a:r>
              <a:rPr lang="ja-JP" altLang="en-US" dirty="0"/>
              <a:t>などが異なる。</a:t>
            </a:r>
            <a:endParaRPr lang="en-US" altLang="ja-JP" dirty="0">
              <a:solidFill>
                <a:schemeClr val="tx1"/>
              </a:solidFill>
            </a:endParaRPr>
          </a:p>
        </p:txBody>
      </p:sp>
      <p:sp>
        <p:nvSpPr>
          <p:cNvPr id="172" name="四角形: 角を丸くする 171">
            <a:extLst>
              <a:ext uri="{FF2B5EF4-FFF2-40B4-BE49-F238E27FC236}">
                <a16:creationId xmlns:a16="http://schemas.microsoft.com/office/drawing/2014/main" id="{76588616-1958-6000-2A67-2346B8DFA59D}"/>
              </a:ext>
            </a:extLst>
          </p:cNvPr>
          <p:cNvSpPr/>
          <p:nvPr/>
        </p:nvSpPr>
        <p:spPr>
          <a:xfrm>
            <a:off x="3597775" y="3758561"/>
            <a:ext cx="2806331" cy="50509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テスト設計</a:t>
            </a:r>
          </a:p>
        </p:txBody>
      </p:sp>
      <p:sp>
        <p:nvSpPr>
          <p:cNvPr id="173" name="四角形: 角を丸くする 172">
            <a:extLst>
              <a:ext uri="{FF2B5EF4-FFF2-40B4-BE49-F238E27FC236}">
                <a16:creationId xmlns:a16="http://schemas.microsoft.com/office/drawing/2014/main" id="{3C289177-3C5B-93F6-8B3C-AF0F41126C17}"/>
              </a:ext>
            </a:extLst>
          </p:cNvPr>
          <p:cNvSpPr/>
          <p:nvPr/>
        </p:nvSpPr>
        <p:spPr>
          <a:xfrm>
            <a:off x="7007364" y="4229071"/>
            <a:ext cx="2019756" cy="50509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テスト実装</a:t>
            </a:r>
          </a:p>
        </p:txBody>
      </p:sp>
      <p:sp>
        <p:nvSpPr>
          <p:cNvPr id="174" name="四角形: 角を丸くする 173">
            <a:extLst>
              <a:ext uri="{FF2B5EF4-FFF2-40B4-BE49-F238E27FC236}">
                <a16:creationId xmlns:a16="http://schemas.microsoft.com/office/drawing/2014/main" id="{F11AC5E5-A5FB-DF73-4848-19838DC82155}"/>
              </a:ext>
            </a:extLst>
          </p:cNvPr>
          <p:cNvSpPr/>
          <p:nvPr/>
        </p:nvSpPr>
        <p:spPr>
          <a:xfrm>
            <a:off x="9630553" y="4229657"/>
            <a:ext cx="2019756" cy="50509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テスト実施</a:t>
            </a:r>
          </a:p>
        </p:txBody>
      </p:sp>
      <p:sp>
        <p:nvSpPr>
          <p:cNvPr id="179" name="矢印: 右 178">
            <a:extLst>
              <a:ext uri="{FF2B5EF4-FFF2-40B4-BE49-F238E27FC236}">
                <a16:creationId xmlns:a16="http://schemas.microsoft.com/office/drawing/2014/main" id="{B17B161E-ED7E-AAA8-CB84-3DE9EBE53131}"/>
              </a:ext>
            </a:extLst>
          </p:cNvPr>
          <p:cNvSpPr/>
          <p:nvPr/>
        </p:nvSpPr>
        <p:spPr>
          <a:xfrm>
            <a:off x="3072054" y="4655389"/>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0" name="矢印: 右 179">
            <a:extLst>
              <a:ext uri="{FF2B5EF4-FFF2-40B4-BE49-F238E27FC236}">
                <a16:creationId xmlns:a16="http://schemas.microsoft.com/office/drawing/2014/main" id="{02BA4AFE-290A-6B28-0907-D108D87F16E1}"/>
              </a:ext>
            </a:extLst>
          </p:cNvPr>
          <p:cNvSpPr/>
          <p:nvPr/>
        </p:nvSpPr>
        <p:spPr>
          <a:xfrm>
            <a:off x="6511263" y="4650547"/>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1" name="矢印: 右 180">
            <a:extLst>
              <a:ext uri="{FF2B5EF4-FFF2-40B4-BE49-F238E27FC236}">
                <a16:creationId xmlns:a16="http://schemas.microsoft.com/office/drawing/2014/main" id="{65084F6A-662B-2F65-427E-EE972C4B8CF7}"/>
              </a:ext>
            </a:extLst>
          </p:cNvPr>
          <p:cNvSpPr/>
          <p:nvPr/>
        </p:nvSpPr>
        <p:spPr>
          <a:xfrm>
            <a:off x="9124586" y="4655389"/>
            <a:ext cx="444699" cy="790575"/>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2" name="テキスト ボックス 181">
            <a:extLst>
              <a:ext uri="{FF2B5EF4-FFF2-40B4-BE49-F238E27FC236}">
                <a16:creationId xmlns:a16="http://schemas.microsoft.com/office/drawing/2014/main" id="{69B912CE-E220-647C-EBB0-F2F80529600E}"/>
              </a:ext>
            </a:extLst>
          </p:cNvPr>
          <p:cNvSpPr txBox="1"/>
          <p:nvPr/>
        </p:nvSpPr>
        <p:spPr>
          <a:xfrm>
            <a:off x="975975" y="4497334"/>
            <a:ext cx="2019756" cy="448867"/>
          </a:xfrm>
          <a:prstGeom prst="rect">
            <a:avLst/>
          </a:prstGeom>
          <a:noFill/>
        </p:spPr>
        <p:txBody>
          <a:bodyPr wrap="square" lIns="0" rIns="0" rtlCol="0">
            <a:noAutofit/>
          </a:bodyPr>
          <a:lstStyle/>
          <a:p>
            <a:pPr algn="l" defTabSz="288000"/>
            <a:r>
              <a:rPr kumimoji="1" lang="ja-JP" altLang="en-US" sz="1400" dirty="0">
                <a:latin typeface="+mn-ea"/>
              </a:rPr>
              <a:t> ・テストの</a:t>
            </a:r>
            <a:r>
              <a:rPr lang="ja-JP" altLang="en-US" sz="1400" b="0" i="0" dirty="0">
                <a:effectLst/>
                <a:latin typeface="Helvetica Neue"/>
              </a:rPr>
              <a:t>作業要領の作成</a:t>
            </a:r>
            <a:endParaRPr kumimoji="1" lang="ja-JP" altLang="en-US" sz="1400" dirty="0">
              <a:latin typeface="+mn-ea"/>
            </a:endParaRPr>
          </a:p>
        </p:txBody>
      </p:sp>
      <p:sp>
        <p:nvSpPr>
          <p:cNvPr id="185" name="正方形/長方形 184">
            <a:extLst>
              <a:ext uri="{FF2B5EF4-FFF2-40B4-BE49-F238E27FC236}">
                <a16:creationId xmlns:a16="http://schemas.microsoft.com/office/drawing/2014/main" id="{764112E8-1C5D-ECB7-1C4C-2437AE5B02D2}"/>
              </a:ext>
            </a:extLst>
          </p:cNvPr>
          <p:cNvSpPr/>
          <p:nvPr/>
        </p:nvSpPr>
        <p:spPr>
          <a:xfrm>
            <a:off x="4247296" y="4704616"/>
            <a:ext cx="900000" cy="468000"/>
          </a:xfrm>
          <a:prstGeom prst="rect">
            <a:avLst/>
          </a:prstGeom>
          <a:solidFill>
            <a:srgbClr val="FFE1C5"/>
          </a:solidFill>
          <a:ln w="19050">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6" name="正方形/長方形 185">
            <a:extLst>
              <a:ext uri="{FF2B5EF4-FFF2-40B4-BE49-F238E27FC236}">
                <a16:creationId xmlns:a16="http://schemas.microsoft.com/office/drawing/2014/main" id="{DD876C0F-9247-6B9B-56BC-43D114B9A683}"/>
              </a:ext>
            </a:extLst>
          </p:cNvPr>
          <p:cNvSpPr/>
          <p:nvPr/>
        </p:nvSpPr>
        <p:spPr>
          <a:xfrm>
            <a:off x="3855034" y="5281370"/>
            <a:ext cx="643410" cy="448867"/>
          </a:xfrm>
          <a:prstGeom prst="rect">
            <a:avLst/>
          </a:prstGeom>
          <a:solidFill>
            <a:schemeClr val="accent2">
              <a:lumMod val="20000"/>
              <a:lumOff val="80000"/>
            </a:schemeClr>
          </a:solidFill>
          <a:ln w="19050">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テスト</a:t>
            </a:r>
            <a:endParaRPr kumimoji="1" lang="en-US" altLang="ja-JP" sz="1200" dirty="0">
              <a:solidFill>
                <a:schemeClr val="tx1"/>
              </a:solidFill>
            </a:endParaRPr>
          </a:p>
          <a:p>
            <a:pPr algn="ctr"/>
            <a:r>
              <a:rPr kumimoji="1" lang="ja-JP" altLang="en-US" sz="1200" dirty="0">
                <a:solidFill>
                  <a:schemeClr val="tx1"/>
                </a:solidFill>
              </a:rPr>
              <a:t>観点</a:t>
            </a:r>
          </a:p>
        </p:txBody>
      </p:sp>
      <p:sp>
        <p:nvSpPr>
          <p:cNvPr id="187" name="正方形/長方形 186">
            <a:extLst>
              <a:ext uri="{FF2B5EF4-FFF2-40B4-BE49-F238E27FC236}">
                <a16:creationId xmlns:a16="http://schemas.microsoft.com/office/drawing/2014/main" id="{9B840EB9-ABB8-9EE2-3D9F-013FAB45E228}"/>
              </a:ext>
            </a:extLst>
          </p:cNvPr>
          <p:cNvSpPr/>
          <p:nvPr/>
        </p:nvSpPr>
        <p:spPr>
          <a:xfrm>
            <a:off x="4902538" y="5281370"/>
            <a:ext cx="550092"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テスト</a:t>
            </a:r>
            <a:endParaRPr kumimoji="1" lang="en-US" altLang="ja-JP" sz="1200" dirty="0">
              <a:solidFill>
                <a:schemeClr val="tx1"/>
              </a:solidFill>
            </a:endParaRPr>
          </a:p>
          <a:p>
            <a:pPr algn="ctr"/>
            <a:r>
              <a:rPr kumimoji="1" lang="ja-JP" altLang="en-US" sz="1200" dirty="0">
                <a:solidFill>
                  <a:schemeClr val="tx1"/>
                </a:solidFill>
              </a:rPr>
              <a:t>項目</a:t>
            </a:r>
          </a:p>
        </p:txBody>
      </p:sp>
      <p:sp>
        <p:nvSpPr>
          <p:cNvPr id="188" name="正方形/長方形 187">
            <a:extLst>
              <a:ext uri="{FF2B5EF4-FFF2-40B4-BE49-F238E27FC236}">
                <a16:creationId xmlns:a16="http://schemas.microsoft.com/office/drawing/2014/main" id="{71A0A9EA-A78A-945B-D340-1AABA887CB85}"/>
              </a:ext>
            </a:extLst>
          </p:cNvPr>
          <p:cNvSpPr/>
          <p:nvPr/>
        </p:nvSpPr>
        <p:spPr>
          <a:xfrm>
            <a:off x="5623189" y="5281370"/>
            <a:ext cx="550093"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テスト</a:t>
            </a:r>
            <a:endParaRPr kumimoji="1" lang="en-US" altLang="ja-JP" sz="1200" dirty="0">
              <a:solidFill>
                <a:schemeClr val="tx1"/>
              </a:solidFill>
            </a:endParaRPr>
          </a:p>
          <a:p>
            <a:pPr algn="ctr"/>
            <a:r>
              <a:rPr kumimoji="1" lang="ja-JP" altLang="en-US" sz="1200" dirty="0">
                <a:solidFill>
                  <a:schemeClr val="tx1"/>
                </a:solidFill>
              </a:rPr>
              <a:t>ケース</a:t>
            </a:r>
          </a:p>
        </p:txBody>
      </p:sp>
      <p:cxnSp>
        <p:nvCxnSpPr>
          <p:cNvPr id="189" name="直線矢印コネクタ 188">
            <a:extLst>
              <a:ext uri="{FF2B5EF4-FFF2-40B4-BE49-F238E27FC236}">
                <a16:creationId xmlns:a16="http://schemas.microsoft.com/office/drawing/2014/main" id="{E9EBE4B5-7B7B-3279-8417-8BF078B48744}"/>
              </a:ext>
            </a:extLst>
          </p:cNvPr>
          <p:cNvCxnSpPr>
            <a:cxnSpLocks/>
            <a:stCxn id="186" idx="3"/>
            <a:endCxn id="187" idx="1"/>
          </p:cNvCxnSpPr>
          <p:nvPr/>
        </p:nvCxnSpPr>
        <p:spPr>
          <a:xfrm>
            <a:off x="4498444" y="5505804"/>
            <a:ext cx="404094"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0" name="直線矢印コネクタ 189">
            <a:extLst>
              <a:ext uri="{FF2B5EF4-FFF2-40B4-BE49-F238E27FC236}">
                <a16:creationId xmlns:a16="http://schemas.microsoft.com/office/drawing/2014/main" id="{88D880A4-EF60-30F6-3F2B-4CF8BC865951}"/>
              </a:ext>
            </a:extLst>
          </p:cNvPr>
          <p:cNvCxnSpPr>
            <a:cxnSpLocks/>
            <a:stCxn id="187" idx="3"/>
            <a:endCxn id="188" idx="1"/>
          </p:cNvCxnSpPr>
          <p:nvPr/>
        </p:nvCxnSpPr>
        <p:spPr>
          <a:xfrm>
            <a:off x="5452630" y="5505804"/>
            <a:ext cx="170559"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91" name="グループ化 190">
            <a:extLst>
              <a:ext uri="{FF2B5EF4-FFF2-40B4-BE49-F238E27FC236}">
                <a16:creationId xmlns:a16="http://schemas.microsoft.com/office/drawing/2014/main" id="{F878B3C2-2E60-1A01-82F1-20FF505BD4B0}"/>
              </a:ext>
            </a:extLst>
          </p:cNvPr>
          <p:cNvGrpSpPr/>
          <p:nvPr/>
        </p:nvGrpSpPr>
        <p:grpSpPr>
          <a:xfrm>
            <a:off x="4258613" y="4734161"/>
            <a:ext cx="805561" cy="398274"/>
            <a:chOff x="7425037" y="6210019"/>
            <a:chExt cx="805561" cy="398274"/>
          </a:xfrm>
        </p:grpSpPr>
        <p:pic>
          <p:nvPicPr>
            <p:cNvPr id="192" name="グラフィックス 191" descr="ドキュメント 枠線">
              <a:extLst>
                <a:ext uri="{FF2B5EF4-FFF2-40B4-BE49-F238E27FC236}">
                  <a16:creationId xmlns:a16="http://schemas.microsoft.com/office/drawing/2014/main" id="{81EACD9D-3083-9C2B-9C2E-1A50696C66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5037" y="6210019"/>
              <a:ext cx="396000" cy="396000"/>
            </a:xfrm>
            <a:prstGeom prst="rect">
              <a:avLst/>
            </a:prstGeom>
          </p:spPr>
        </p:pic>
        <p:sp>
          <p:nvSpPr>
            <p:cNvPr id="193" name="テキスト ボックス 192">
              <a:extLst>
                <a:ext uri="{FF2B5EF4-FFF2-40B4-BE49-F238E27FC236}">
                  <a16:creationId xmlns:a16="http://schemas.microsoft.com/office/drawing/2014/main" id="{C537C7F2-8F68-815D-2A58-389EE4AE9BB2}"/>
                </a:ext>
              </a:extLst>
            </p:cNvPr>
            <p:cNvSpPr txBox="1"/>
            <p:nvPr/>
          </p:nvSpPr>
          <p:spPr>
            <a:xfrm>
              <a:off x="7804577" y="6210019"/>
              <a:ext cx="426021" cy="398274"/>
            </a:xfrm>
            <a:prstGeom prst="rect">
              <a:avLst/>
            </a:prstGeom>
            <a:noFill/>
          </p:spPr>
          <p:txBody>
            <a:bodyPr wrap="square" lIns="0" rIns="0" rtlCol="0" anchor="ctr">
              <a:noAutofit/>
            </a:bodyPr>
            <a:lstStyle/>
            <a:p>
              <a:pPr algn="ctr" defTabSz="288000"/>
              <a:r>
                <a:rPr lang="ja-JP" altLang="en-US" sz="1100" dirty="0">
                  <a:latin typeface="+mn-ea"/>
                </a:rPr>
                <a:t>設計書</a:t>
              </a:r>
              <a:endParaRPr kumimoji="1" lang="ja-JP" altLang="en-US" sz="1100" dirty="0">
                <a:latin typeface="+mn-ea"/>
              </a:endParaRPr>
            </a:p>
          </p:txBody>
        </p:sp>
      </p:grpSp>
      <p:cxnSp>
        <p:nvCxnSpPr>
          <p:cNvPr id="194" name="直線矢印コネクタ 193">
            <a:extLst>
              <a:ext uri="{FF2B5EF4-FFF2-40B4-BE49-F238E27FC236}">
                <a16:creationId xmlns:a16="http://schemas.microsoft.com/office/drawing/2014/main" id="{0080D52E-BC9D-157D-2685-411A70B2A6D4}"/>
              </a:ext>
            </a:extLst>
          </p:cNvPr>
          <p:cNvCxnSpPr>
            <a:cxnSpLocks/>
          </p:cNvCxnSpPr>
          <p:nvPr/>
        </p:nvCxnSpPr>
        <p:spPr>
          <a:xfrm flipH="1">
            <a:off x="4683928" y="5177210"/>
            <a:ext cx="0" cy="324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03" name="テキスト ボックス 202">
            <a:extLst>
              <a:ext uri="{FF2B5EF4-FFF2-40B4-BE49-F238E27FC236}">
                <a16:creationId xmlns:a16="http://schemas.microsoft.com/office/drawing/2014/main" id="{7AA20805-55A7-6D33-87B1-E1A527C6C9FD}"/>
              </a:ext>
            </a:extLst>
          </p:cNvPr>
          <p:cNvSpPr txBox="1"/>
          <p:nvPr/>
        </p:nvSpPr>
        <p:spPr>
          <a:xfrm>
            <a:off x="3642382" y="4372065"/>
            <a:ext cx="2439437" cy="448867"/>
          </a:xfrm>
          <a:prstGeom prst="rect">
            <a:avLst/>
          </a:prstGeom>
          <a:noFill/>
        </p:spPr>
        <p:txBody>
          <a:bodyPr wrap="square" lIns="0" rIns="0" rtlCol="0">
            <a:noAutofit/>
          </a:bodyPr>
          <a:lstStyle/>
          <a:p>
            <a:pPr algn="l" defTabSz="288000"/>
            <a:r>
              <a:rPr kumimoji="1" lang="ja-JP" altLang="en-US" sz="1400" dirty="0">
                <a:latin typeface="+mn-ea"/>
              </a:rPr>
              <a:t> ・</a:t>
            </a:r>
            <a:r>
              <a:rPr lang="ja-JP" altLang="en-US" sz="1400" b="0" i="0" dirty="0">
                <a:effectLst/>
                <a:latin typeface="Helvetica Neue"/>
              </a:rPr>
              <a:t>テストケース表の作成</a:t>
            </a:r>
            <a:endParaRPr kumimoji="1" lang="ja-JP" altLang="en-US" sz="1400" dirty="0">
              <a:latin typeface="+mn-ea"/>
            </a:endParaRPr>
          </a:p>
        </p:txBody>
      </p:sp>
      <p:sp>
        <p:nvSpPr>
          <p:cNvPr id="204" name="テキスト ボックス 203">
            <a:extLst>
              <a:ext uri="{FF2B5EF4-FFF2-40B4-BE49-F238E27FC236}">
                <a16:creationId xmlns:a16="http://schemas.microsoft.com/office/drawing/2014/main" id="{C80EEE5D-9C28-6608-C774-27B1AD14BF43}"/>
              </a:ext>
            </a:extLst>
          </p:cNvPr>
          <p:cNvSpPr txBox="1"/>
          <p:nvPr/>
        </p:nvSpPr>
        <p:spPr>
          <a:xfrm>
            <a:off x="7059317" y="4843168"/>
            <a:ext cx="1838282" cy="448867"/>
          </a:xfrm>
          <a:prstGeom prst="rect">
            <a:avLst/>
          </a:prstGeom>
          <a:noFill/>
        </p:spPr>
        <p:txBody>
          <a:bodyPr wrap="square" lIns="0" rIns="0" rtlCol="0">
            <a:noAutofit/>
          </a:bodyPr>
          <a:lstStyle/>
          <a:p>
            <a:pPr algn="l" defTabSz="288000"/>
            <a:r>
              <a:rPr kumimoji="1" lang="ja-JP" altLang="en-US" sz="1400" dirty="0">
                <a:latin typeface="+mn-ea"/>
              </a:rPr>
              <a:t> ・テスト実施のための</a:t>
            </a:r>
            <a:endParaRPr kumimoji="1" lang="en-US" altLang="ja-JP" sz="1400" dirty="0">
              <a:latin typeface="+mn-ea"/>
            </a:endParaRPr>
          </a:p>
          <a:p>
            <a:pPr algn="l" defTabSz="288000"/>
            <a:r>
              <a:rPr lang="ja-JP" altLang="en-US" sz="1400" dirty="0">
                <a:latin typeface="+mn-ea"/>
              </a:rPr>
              <a:t>　手順書やデータの作成</a:t>
            </a:r>
            <a:endParaRPr kumimoji="1" lang="ja-JP" altLang="en-US" sz="1400" dirty="0">
              <a:latin typeface="+mn-ea"/>
            </a:endParaRPr>
          </a:p>
        </p:txBody>
      </p:sp>
      <p:sp>
        <p:nvSpPr>
          <p:cNvPr id="205" name="テキスト ボックス 204">
            <a:extLst>
              <a:ext uri="{FF2B5EF4-FFF2-40B4-BE49-F238E27FC236}">
                <a16:creationId xmlns:a16="http://schemas.microsoft.com/office/drawing/2014/main" id="{862201AC-E699-508B-ED2B-C23CF39DBAC6}"/>
              </a:ext>
            </a:extLst>
          </p:cNvPr>
          <p:cNvSpPr txBox="1"/>
          <p:nvPr/>
        </p:nvSpPr>
        <p:spPr>
          <a:xfrm>
            <a:off x="9679648" y="4837951"/>
            <a:ext cx="1954599" cy="448867"/>
          </a:xfrm>
          <a:prstGeom prst="rect">
            <a:avLst/>
          </a:prstGeom>
          <a:noFill/>
        </p:spPr>
        <p:txBody>
          <a:bodyPr wrap="square" lIns="0" rIns="0" rtlCol="0">
            <a:noAutofit/>
          </a:bodyPr>
          <a:lstStyle/>
          <a:p>
            <a:pPr algn="l" defTabSz="288000"/>
            <a:r>
              <a:rPr kumimoji="1" lang="ja-JP" altLang="en-US" sz="1400" dirty="0">
                <a:latin typeface="+mn-ea"/>
              </a:rPr>
              <a:t> ・テストケース表と</a:t>
            </a:r>
            <a:r>
              <a:rPr lang="ja-JP" altLang="en-US" sz="1400" dirty="0">
                <a:latin typeface="+mn-ea"/>
              </a:rPr>
              <a:t>手順書に</a:t>
            </a:r>
            <a:endParaRPr lang="en-US" altLang="ja-JP" sz="1400" dirty="0">
              <a:latin typeface="+mn-ea"/>
            </a:endParaRPr>
          </a:p>
          <a:p>
            <a:pPr algn="l" defTabSz="288000"/>
            <a:r>
              <a:rPr lang="ja-JP" altLang="en-US" sz="1400" dirty="0">
                <a:latin typeface="+mn-ea"/>
              </a:rPr>
              <a:t>　従ったテスト</a:t>
            </a:r>
            <a:r>
              <a:rPr kumimoji="1" lang="ja-JP" altLang="en-US" sz="1400" dirty="0">
                <a:latin typeface="+mn-ea"/>
              </a:rPr>
              <a:t>の実施</a:t>
            </a:r>
          </a:p>
        </p:txBody>
      </p:sp>
      <p:sp>
        <p:nvSpPr>
          <p:cNvPr id="209" name="正方形/長方形 208">
            <a:extLst>
              <a:ext uri="{FF2B5EF4-FFF2-40B4-BE49-F238E27FC236}">
                <a16:creationId xmlns:a16="http://schemas.microsoft.com/office/drawing/2014/main" id="{B0A59D3F-6A30-0CAF-51E7-AA71C6B0D63C}"/>
              </a:ext>
            </a:extLst>
          </p:cNvPr>
          <p:cNvSpPr/>
          <p:nvPr/>
        </p:nvSpPr>
        <p:spPr>
          <a:xfrm>
            <a:off x="1190329" y="4876036"/>
            <a:ext cx="1613417" cy="869425"/>
          </a:xfrm>
          <a:prstGeom prst="rect">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200" u="sng" dirty="0">
                <a:solidFill>
                  <a:schemeClr val="tx1"/>
                </a:solidFill>
              </a:rPr>
              <a:t>テスト作業要領</a:t>
            </a:r>
            <a:endParaRPr lang="en-US" altLang="ja-JP" sz="1200" u="sng" dirty="0">
              <a:solidFill>
                <a:schemeClr val="tx1"/>
              </a:solidFill>
            </a:endParaRPr>
          </a:p>
          <a:p>
            <a:r>
              <a:rPr lang="ja-JP" altLang="en-US" sz="1200" dirty="0">
                <a:solidFill>
                  <a:schemeClr val="tx1"/>
                </a:solidFill>
              </a:rPr>
              <a:t>　</a:t>
            </a:r>
            <a:endParaRPr lang="en-US" altLang="ja-JP" sz="1200" dirty="0">
              <a:solidFill>
                <a:schemeClr val="tx1"/>
              </a:solidFill>
            </a:endParaRPr>
          </a:p>
          <a:p>
            <a:endParaRPr lang="en-US" altLang="ja-JP" sz="1200" dirty="0">
              <a:solidFill>
                <a:schemeClr val="tx1"/>
              </a:solidFill>
            </a:endParaRPr>
          </a:p>
          <a:p>
            <a:endParaRPr lang="en-US" altLang="ja-JP" sz="1200" dirty="0">
              <a:solidFill>
                <a:schemeClr val="tx1"/>
              </a:solidFill>
            </a:endParaRPr>
          </a:p>
        </p:txBody>
      </p:sp>
      <p:sp>
        <p:nvSpPr>
          <p:cNvPr id="210" name="正方形/長方形 209">
            <a:extLst>
              <a:ext uri="{FF2B5EF4-FFF2-40B4-BE49-F238E27FC236}">
                <a16:creationId xmlns:a16="http://schemas.microsoft.com/office/drawing/2014/main" id="{10E29AC2-FF7A-0B77-C3D3-15BF07168F0B}"/>
              </a:ext>
            </a:extLst>
          </p:cNvPr>
          <p:cNvSpPr/>
          <p:nvPr/>
        </p:nvSpPr>
        <p:spPr>
          <a:xfrm>
            <a:off x="1654254" y="5163932"/>
            <a:ext cx="643410" cy="448867"/>
          </a:xfrm>
          <a:prstGeom prst="rect">
            <a:avLst/>
          </a:prstGeom>
          <a:solidFill>
            <a:schemeClr val="bg1"/>
          </a:solidFill>
          <a:ln w="19050">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テスト</a:t>
            </a:r>
            <a:endParaRPr kumimoji="1" lang="en-US" altLang="ja-JP" sz="1200" dirty="0">
              <a:solidFill>
                <a:schemeClr val="tx1"/>
              </a:solidFill>
            </a:endParaRPr>
          </a:p>
          <a:p>
            <a:pPr algn="ctr"/>
            <a:r>
              <a:rPr kumimoji="1" lang="ja-JP" altLang="en-US" sz="1200" dirty="0">
                <a:solidFill>
                  <a:schemeClr val="tx1"/>
                </a:solidFill>
              </a:rPr>
              <a:t>対象</a:t>
            </a:r>
          </a:p>
        </p:txBody>
      </p:sp>
    </p:spTree>
    <p:extLst>
      <p:ext uri="{BB962C8B-B14F-4D97-AF65-F5344CB8AC3E}">
        <p14:creationId xmlns:p14="http://schemas.microsoft.com/office/powerpoint/2010/main" val="4041215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59B24-0465-9481-114C-7F751B9330EC}"/>
            </a:ext>
          </a:extLst>
        </p:cNvPr>
        <p:cNvGrpSpPr/>
        <p:nvPr/>
      </p:nvGrpSpPr>
      <p:grpSpPr>
        <a:xfrm>
          <a:off x="0" y="0"/>
          <a:ext cx="0" cy="0"/>
          <a:chOff x="0" y="0"/>
          <a:chExt cx="0" cy="0"/>
        </a:xfrm>
      </p:grpSpPr>
      <p:sp>
        <p:nvSpPr>
          <p:cNvPr id="28" name="斜め縞 27">
            <a:extLst>
              <a:ext uri="{FF2B5EF4-FFF2-40B4-BE49-F238E27FC236}">
                <a16:creationId xmlns:a16="http://schemas.microsoft.com/office/drawing/2014/main" id="{DEFEC9E0-09F8-0C3F-5CB8-67741C7330DB}"/>
              </a:ext>
            </a:extLst>
          </p:cNvPr>
          <p:cNvSpPr/>
          <p:nvPr/>
        </p:nvSpPr>
        <p:spPr>
          <a:xfrm flipH="1">
            <a:off x="1332377" y="1709098"/>
            <a:ext cx="4757179" cy="4725409"/>
          </a:xfrm>
          <a:prstGeom prst="diagStripe">
            <a:avLst>
              <a:gd name="adj" fmla="val 68006"/>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30" name="四角形: 角を丸くする 129">
            <a:extLst>
              <a:ext uri="{FF2B5EF4-FFF2-40B4-BE49-F238E27FC236}">
                <a16:creationId xmlns:a16="http://schemas.microsoft.com/office/drawing/2014/main" id="{EEADFF69-845E-F5CD-905B-CD45DB6505EE}"/>
              </a:ext>
            </a:extLst>
          </p:cNvPr>
          <p:cNvSpPr/>
          <p:nvPr/>
        </p:nvSpPr>
        <p:spPr>
          <a:xfrm>
            <a:off x="800147" y="1913853"/>
            <a:ext cx="3516069" cy="1180214"/>
          </a:xfrm>
          <a:prstGeom prst="roundRect">
            <a:avLst/>
          </a:prstGeom>
          <a:solidFill>
            <a:schemeClr val="bg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 name="タイトル 1">
            <a:extLst>
              <a:ext uri="{FF2B5EF4-FFF2-40B4-BE49-F238E27FC236}">
                <a16:creationId xmlns:a16="http://schemas.microsoft.com/office/drawing/2014/main" id="{BBB675A3-DA4F-CC17-215D-FCB95CA8E799}"/>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結合テスト </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DD33A4CA-E484-6AA2-298C-4220FBBCC3A5}"/>
              </a:ext>
            </a:extLst>
          </p:cNvPr>
          <p:cNvSpPr>
            <a:spLocks noGrp="1"/>
          </p:cNvSpPr>
          <p:nvPr>
            <p:ph sz="quarter" idx="4294967295"/>
          </p:nvPr>
        </p:nvSpPr>
        <p:spPr>
          <a:xfrm>
            <a:off x="481490" y="978298"/>
            <a:ext cx="11448000" cy="730800"/>
          </a:xfrm>
        </p:spPr>
        <p:txBody>
          <a:bodyPr/>
          <a:lstStyle/>
          <a:p>
            <a:r>
              <a:rPr lang="ja-JP" altLang="en-US" u="sng" dirty="0">
                <a:solidFill>
                  <a:schemeClr val="tx1"/>
                </a:solidFill>
              </a:rPr>
              <a:t>結合テスト（</a:t>
            </a:r>
            <a:r>
              <a:rPr lang="en-US" altLang="ja-JP" u="sng" dirty="0">
                <a:solidFill>
                  <a:schemeClr val="tx1"/>
                </a:solidFill>
              </a:rPr>
              <a:t>Integration Test</a:t>
            </a:r>
            <a:r>
              <a:rPr lang="ja-JP" altLang="en-US" u="sng" dirty="0">
                <a:solidFill>
                  <a:schemeClr val="tx1"/>
                </a:solidFill>
              </a:rPr>
              <a:t>）フェーズ</a:t>
            </a:r>
            <a:endParaRPr lang="en-US" altLang="ja-JP" u="sng" dirty="0">
              <a:solidFill>
                <a:schemeClr val="tx1"/>
              </a:solidFill>
            </a:endParaRPr>
          </a:p>
          <a:p>
            <a:r>
              <a:rPr lang="ja-JP" altLang="en-US" dirty="0">
                <a:solidFill>
                  <a:schemeClr val="tx1"/>
                </a:solidFill>
              </a:rPr>
              <a:t>処理テスト</a:t>
            </a:r>
            <a:r>
              <a:rPr lang="en-US" altLang="ja-JP" dirty="0">
                <a:solidFill>
                  <a:schemeClr val="tx1"/>
                </a:solidFill>
              </a:rPr>
              <a:t>/</a:t>
            </a:r>
            <a:r>
              <a:rPr lang="ja-JP" altLang="en-US" dirty="0">
                <a:solidFill>
                  <a:schemeClr val="tx1"/>
                </a:solidFill>
              </a:rPr>
              <a:t>ユースケーステスト</a:t>
            </a:r>
            <a:r>
              <a:rPr lang="en-US" altLang="ja-JP" dirty="0">
                <a:solidFill>
                  <a:schemeClr val="tx1"/>
                </a:solidFill>
              </a:rPr>
              <a:t>/</a:t>
            </a:r>
            <a:r>
              <a:rPr lang="ja-JP" altLang="en-US" dirty="0">
                <a:solidFill>
                  <a:schemeClr val="tx1"/>
                </a:solidFill>
              </a:rPr>
              <a:t>業務テストのテスト対象とインプットする設計書</a:t>
            </a:r>
            <a:endParaRPr lang="en-US" altLang="ja-JP" dirty="0">
              <a:solidFill>
                <a:schemeClr val="tx1"/>
              </a:solidFill>
            </a:endParaRPr>
          </a:p>
        </p:txBody>
      </p:sp>
      <p:sp>
        <p:nvSpPr>
          <p:cNvPr id="27" name="斜め縞 26">
            <a:extLst>
              <a:ext uri="{FF2B5EF4-FFF2-40B4-BE49-F238E27FC236}">
                <a16:creationId xmlns:a16="http://schemas.microsoft.com/office/drawing/2014/main" id="{9427B6F9-F00B-2417-9AB7-152D48A29219}"/>
              </a:ext>
            </a:extLst>
          </p:cNvPr>
          <p:cNvSpPr/>
          <p:nvPr/>
        </p:nvSpPr>
        <p:spPr>
          <a:xfrm>
            <a:off x="6089556" y="1714415"/>
            <a:ext cx="4757179" cy="4725409"/>
          </a:xfrm>
          <a:prstGeom prst="diagStripe">
            <a:avLst>
              <a:gd name="adj" fmla="val 68006"/>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29" name="四角形: 角を丸くする 128">
            <a:extLst>
              <a:ext uri="{FF2B5EF4-FFF2-40B4-BE49-F238E27FC236}">
                <a16:creationId xmlns:a16="http://schemas.microsoft.com/office/drawing/2014/main" id="{BCC4F29A-C4C3-A908-5686-96CBE5CE56AB}"/>
              </a:ext>
            </a:extLst>
          </p:cNvPr>
          <p:cNvSpPr/>
          <p:nvPr/>
        </p:nvSpPr>
        <p:spPr>
          <a:xfrm>
            <a:off x="437355" y="1913853"/>
            <a:ext cx="972000" cy="1180213"/>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業務フロー</a:t>
            </a:r>
            <a:endParaRPr kumimoji="1" lang="en-US" altLang="ja-JP" sz="1400" dirty="0">
              <a:solidFill>
                <a:schemeClr val="bg1"/>
              </a:solidFill>
            </a:endParaRPr>
          </a:p>
          <a:p>
            <a:pPr algn="ctr"/>
            <a:r>
              <a:rPr kumimoji="1" lang="ja-JP" altLang="en-US" sz="1400" dirty="0">
                <a:solidFill>
                  <a:schemeClr val="bg1"/>
                </a:solidFill>
              </a:rPr>
              <a:t>定義</a:t>
            </a:r>
          </a:p>
        </p:txBody>
      </p:sp>
      <p:sp>
        <p:nvSpPr>
          <p:cNvPr id="132" name="正方形/長方形 131">
            <a:extLst>
              <a:ext uri="{FF2B5EF4-FFF2-40B4-BE49-F238E27FC236}">
                <a16:creationId xmlns:a16="http://schemas.microsoft.com/office/drawing/2014/main" id="{1D2CCA81-7B74-A4CB-1C1F-706BA31B709E}"/>
              </a:ext>
            </a:extLst>
          </p:cNvPr>
          <p:cNvSpPr/>
          <p:nvPr/>
        </p:nvSpPr>
        <p:spPr>
          <a:xfrm>
            <a:off x="1520112" y="2083143"/>
            <a:ext cx="2679742" cy="819537"/>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業務</a:t>
            </a:r>
          </a:p>
        </p:txBody>
      </p:sp>
      <p:sp>
        <p:nvSpPr>
          <p:cNvPr id="137" name="四角形: 角を丸くする 136">
            <a:extLst>
              <a:ext uri="{FF2B5EF4-FFF2-40B4-BE49-F238E27FC236}">
                <a16:creationId xmlns:a16="http://schemas.microsoft.com/office/drawing/2014/main" id="{495D796C-A272-B8BF-250A-3E1782493C59}"/>
              </a:ext>
            </a:extLst>
          </p:cNvPr>
          <p:cNvSpPr/>
          <p:nvPr/>
        </p:nvSpPr>
        <p:spPr>
          <a:xfrm>
            <a:off x="1186071" y="3205707"/>
            <a:ext cx="3516070" cy="1180214"/>
          </a:xfrm>
          <a:prstGeom prst="roundRect">
            <a:avLst/>
          </a:prstGeom>
          <a:solidFill>
            <a:schemeClr val="bg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38" name="四角形: 角を丸くする 137">
            <a:extLst>
              <a:ext uri="{FF2B5EF4-FFF2-40B4-BE49-F238E27FC236}">
                <a16:creationId xmlns:a16="http://schemas.microsoft.com/office/drawing/2014/main" id="{84C0E974-75E0-82C2-DAA2-FCE27661725C}"/>
              </a:ext>
            </a:extLst>
          </p:cNvPr>
          <p:cNvSpPr/>
          <p:nvPr/>
        </p:nvSpPr>
        <p:spPr>
          <a:xfrm>
            <a:off x="669324" y="3205708"/>
            <a:ext cx="1044000" cy="1172422"/>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ユースケース</a:t>
            </a:r>
            <a:endParaRPr kumimoji="1" lang="en-US" altLang="ja-JP" sz="1400" dirty="0">
              <a:solidFill>
                <a:schemeClr val="bg1"/>
              </a:solidFill>
            </a:endParaRPr>
          </a:p>
          <a:p>
            <a:pPr algn="ctr"/>
            <a:r>
              <a:rPr kumimoji="1" lang="ja-JP" altLang="en-US" sz="1400" dirty="0">
                <a:solidFill>
                  <a:schemeClr val="bg1"/>
                </a:solidFill>
              </a:rPr>
              <a:t>定義</a:t>
            </a:r>
          </a:p>
        </p:txBody>
      </p:sp>
      <p:sp>
        <p:nvSpPr>
          <p:cNvPr id="139" name="正方形/長方形 138">
            <a:extLst>
              <a:ext uri="{FF2B5EF4-FFF2-40B4-BE49-F238E27FC236}">
                <a16:creationId xmlns:a16="http://schemas.microsoft.com/office/drawing/2014/main" id="{35C9BA68-AD25-FD23-174A-5BBC2490A4BC}"/>
              </a:ext>
            </a:extLst>
          </p:cNvPr>
          <p:cNvSpPr/>
          <p:nvPr/>
        </p:nvSpPr>
        <p:spPr>
          <a:xfrm>
            <a:off x="1827910" y="3390893"/>
            <a:ext cx="2679742" cy="819537"/>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業務</a:t>
            </a:r>
          </a:p>
        </p:txBody>
      </p:sp>
      <p:sp>
        <p:nvSpPr>
          <p:cNvPr id="140" name="四角形: 角を丸くする 139">
            <a:extLst>
              <a:ext uri="{FF2B5EF4-FFF2-40B4-BE49-F238E27FC236}">
                <a16:creationId xmlns:a16="http://schemas.microsoft.com/office/drawing/2014/main" id="{021C0D5D-1912-065E-F572-0A95FC197FD2}"/>
              </a:ext>
            </a:extLst>
          </p:cNvPr>
          <p:cNvSpPr/>
          <p:nvPr/>
        </p:nvSpPr>
        <p:spPr>
          <a:xfrm>
            <a:off x="1466950" y="4493483"/>
            <a:ext cx="3479017" cy="1180214"/>
          </a:xfrm>
          <a:prstGeom prst="roundRect">
            <a:avLst/>
          </a:prstGeom>
          <a:solidFill>
            <a:schemeClr val="bg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41" name="四角形: 角を丸くする 140">
            <a:extLst>
              <a:ext uri="{FF2B5EF4-FFF2-40B4-BE49-F238E27FC236}">
                <a16:creationId xmlns:a16="http://schemas.microsoft.com/office/drawing/2014/main" id="{BF1F7DE9-69D6-18E2-0A94-67581507CDA2}"/>
              </a:ext>
            </a:extLst>
          </p:cNvPr>
          <p:cNvSpPr/>
          <p:nvPr/>
        </p:nvSpPr>
        <p:spPr>
          <a:xfrm>
            <a:off x="988843" y="4497460"/>
            <a:ext cx="981908" cy="1180007"/>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処理</a:t>
            </a:r>
            <a:endParaRPr kumimoji="1" lang="en-US" altLang="ja-JP" sz="1400" dirty="0">
              <a:solidFill>
                <a:schemeClr val="bg1"/>
              </a:solidFill>
            </a:endParaRPr>
          </a:p>
          <a:p>
            <a:pPr algn="ctr"/>
            <a:r>
              <a:rPr kumimoji="1" lang="ja-JP" altLang="en-US" sz="1400" dirty="0">
                <a:solidFill>
                  <a:schemeClr val="bg1"/>
                </a:solidFill>
              </a:rPr>
              <a:t>設計</a:t>
            </a:r>
          </a:p>
        </p:txBody>
      </p:sp>
      <p:sp>
        <p:nvSpPr>
          <p:cNvPr id="142" name="正方形/長方形 141">
            <a:extLst>
              <a:ext uri="{FF2B5EF4-FFF2-40B4-BE49-F238E27FC236}">
                <a16:creationId xmlns:a16="http://schemas.microsoft.com/office/drawing/2014/main" id="{6A892D81-C2AE-6EFC-BC9F-402BA4BE71BF}"/>
              </a:ext>
            </a:extLst>
          </p:cNvPr>
          <p:cNvSpPr/>
          <p:nvPr/>
        </p:nvSpPr>
        <p:spPr>
          <a:xfrm>
            <a:off x="2083922" y="4672897"/>
            <a:ext cx="2679742" cy="819537"/>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業務</a:t>
            </a:r>
          </a:p>
        </p:txBody>
      </p:sp>
      <p:sp>
        <p:nvSpPr>
          <p:cNvPr id="143" name="四角形: 角を丸くする 142">
            <a:extLst>
              <a:ext uri="{FF2B5EF4-FFF2-40B4-BE49-F238E27FC236}">
                <a16:creationId xmlns:a16="http://schemas.microsoft.com/office/drawing/2014/main" id="{730B3929-CEF0-3AD3-6801-FD015018998C}"/>
              </a:ext>
            </a:extLst>
          </p:cNvPr>
          <p:cNvSpPr/>
          <p:nvPr/>
        </p:nvSpPr>
        <p:spPr>
          <a:xfrm>
            <a:off x="6618603" y="4486621"/>
            <a:ext cx="4363405" cy="1180214"/>
          </a:xfrm>
          <a:prstGeom prst="roundRect">
            <a:avLst/>
          </a:prstGeom>
          <a:solidFill>
            <a:schemeClr val="bg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44" name="四角形: 角を丸くする 143">
            <a:extLst>
              <a:ext uri="{FF2B5EF4-FFF2-40B4-BE49-F238E27FC236}">
                <a16:creationId xmlns:a16="http://schemas.microsoft.com/office/drawing/2014/main" id="{E275557B-0B3A-FF8F-66E0-E3A61FB404AD}"/>
              </a:ext>
            </a:extLst>
          </p:cNvPr>
          <p:cNvSpPr/>
          <p:nvPr/>
        </p:nvSpPr>
        <p:spPr>
          <a:xfrm>
            <a:off x="6614415" y="4486621"/>
            <a:ext cx="900000" cy="1180213"/>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処理</a:t>
            </a:r>
            <a:endParaRPr kumimoji="1" lang="en-US" altLang="ja-JP" sz="1400" dirty="0">
              <a:solidFill>
                <a:schemeClr val="bg1"/>
              </a:solidFill>
            </a:endParaRPr>
          </a:p>
          <a:p>
            <a:pPr algn="ctr"/>
            <a:r>
              <a:rPr kumimoji="1" lang="ja-JP" altLang="en-US" sz="1400" dirty="0">
                <a:solidFill>
                  <a:schemeClr val="bg1"/>
                </a:solidFill>
              </a:rPr>
              <a:t>テスト</a:t>
            </a:r>
          </a:p>
        </p:txBody>
      </p:sp>
      <p:sp>
        <p:nvSpPr>
          <p:cNvPr id="146" name="四角形: 角を丸くする 145">
            <a:extLst>
              <a:ext uri="{FF2B5EF4-FFF2-40B4-BE49-F238E27FC236}">
                <a16:creationId xmlns:a16="http://schemas.microsoft.com/office/drawing/2014/main" id="{27EDF092-9C0A-6268-501A-416CC78CC9BE}"/>
              </a:ext>
            </a:extLst>
          </p:cNvPr>
          <p:cNvSpPr/>
          <p:nvPr/>
        </p:nvSpPr>
        <p:spPr>
          <a:xfrm>
            <a:off x="7133565" y="3203110"/>
            <a:ext cx="4464000" cy="1180214"/>
          </a:xfrm>
          <a:prstGeom prst="roundRect">
            <a:avLst/>
          </a:prstGeom>
          <a:solidFill>
            <a:schemeClr val="bg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47" name="四角形: 角を丸くする 146">
            <a:extLst>
              <a:ext uri="{FF2B5EF4-FFF2-40B4-BE49-F238E27FC236}">
                <a16:creationId xmlns:a16="http://schemas.microsoft.com/office/drawing/2014/main" id="{804757C0-71A6-FDD3-BBB7-5A7E5300BB09}"/>
              </a:ext>
            </a:extLst>
          </p:cNvPr>
          <p:cNvSpPr/>
          <p:nvPr/>
        </p:nvSpPr>
        <p:spPr>
          <a:xfrm>
            <a:off x="7133567" y="3203110"/>
            <a:ext cx="1044000" cy="117502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ユースケース</a:t>
            </a:r>
            <a:endParaRPr kumimoji="1" lang="en-US" altLang="ja-JP" sz="1400" dirty="0">
              <a:solidFill>
                <a:schemeClr val="bg1"/>
              </a:solidFill>
            </a:endParaRPr>
          </a:p>
          <a:p>
            <a:pPr algn="ctr"/>
            <a:r>
              <a:rPr kumimoji="1" lang="ja-JP" altLang="en-US" sz="1400" dirty="0">
                <a:solidFill>
                  <a:schemeClr val="bg1"/>
                </a:solidFill>
              </a:rPr>
              <a:t>テスト</a:t>
            </a:r>
          </a:p>
        </p:txBody>
      </p:sp>
      <p:sp>
        <p:nvSpPr>
          <p:cNvPr id="149" name="四角形: 角を丸くする 148">
            <a:extLst>
              <a:ext uri="{FF2B5EF4-FFF2-40B4-BE49-F238E27FC236}">
                <a16:creationId xmlns:a16="http://schemas.microsoft.com/office/drawing/2014/main" id="{FAC87E85-2E42-ADC8-323E-1CE0828F32BC}"/>
              </a:ext>
            </a:extLst>
          </p:cNvPr>
          <p:cNvSpPr/>
          <p:nvPr/>
        </p:nvSpPr>
        <p:spPr>
          <a:xfrm>
            <a:off x="7598324" y="1913957"/>
            <a:ext cx="4392000" cy="1180214"/>
          </a:xfrm>
          <a:prstGeom prst="roundRect">
            <a:avLst/>
          </a:prstGeom>
          <a:solidFill>
            <a:schemeClr val="bg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50" name="四角形: 角を丸くする 149">
            <a:extLst>
              <a:ext uri="{FF2B5EF4-FFF2-40B4-BE49-F238E27FC236}">
                <a16:creationId xmlns:a16="http://schemas.microsoft.com/office/drawing/2014/main" id="{C151300B-20B4-DC93-64FB-1006F39C09C4}"/>
              </a:ext>
            </a:extLst>
          </p:cNvPr>
          <p:cNvSpPr/>
          <p:nvPr/>
        </p:nvSpPr>
        <p:spPr>
          <a:xfrm>
            <a:off x="7603539" y="1913958"/>
            <a:ext cx="900000" cy="1175118"/>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業務</a:t>
            </a:r>
            <a:endParaRPr kumimoji="1" lang="en-US" altLang="ja-JP" sz="1400" dirty="0">
              <a:solidFill>
                <a:schemeClr val="bg1"/>
              </a:solidFill>
            </a:endParaRPr>
          </a:p>
          <a:p>
            <a:pPr algn="ctr"/>
            <a:r>
              <a:rPr kumimoji="1" lang="ja-JP" altLang="en-US" sz="1400" dirty="0">
                <a:solidFill>
                  <a:schemeClr val="bg1"/>
                </a:solidFill>
              </a:rPr>
              <a:t>テスト</a:t>
            </a:r>
          </a:p>
        </p:txBody>
      </p:sp>
      <p:sp>
        <p:nvSpPr>
          <p:cNvPr id="152" name="正方形/長方形 151">
            <a:extLst>
              <a:ext uri="{FF2B5EF4-FFF2-40B4-BE49-F238E27FC236}">
                <a16:creationId xmlns:a16="http://schemas.microsoft.com/office/drawing/2014/main" id="{982A61E5-5680-CE5B-61F8-0DECD4341C0E}"/>
              </a:ext>
            </a:extLst>
          </p:cNvPr>
          <p:cNvSpPr/>
          <p:nvPr/>
        </p:nvSpPr>
        <p:spPr>
          <a:xfrm>
            <a:off x="2194789" y="3517659"/>
            <a:ext cx="1252800" cy="602396"/>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ユースケース</a:t>
            </a:r>
          </a:p>
        </p:txBody>
      </p:sp>
      <p:sp>
        <p:nvSpPr>
          <p:cNvPr id="153" name="正方形/長方形 152">
            <a:extLst>
              <a:ext uri="{FF2B5EF4-FFF2-40B4-BE49-F238E27FC236}">
                <a16:creationId xmlns:a16="http://schemas.microsoft.com/office/drawing/2014/main" id="{D344C61A-5B27-D2CB-E2FC-85E54F36C8B2}"/>
              </a:ext>
            </a:extLst>
          </p:cNvPr>
          <p:cNvSpPr/>
          <p:nvPr/>
        </p:nvSpPr>
        <p:spPr>
          <a:xfrm>
            <a:off x="3504584" y="3517659"/>
            <a:ext cx="934829" cy="602396"/>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200" dirty="0">
                <a:solidFill>
                  <a:schemeClr val="tx1"/>
                </a:solidFill>
              </a:rPr>
              <a:t>ユースケース</a:t>
            </a:r>
          </a:p>
        </p:txBody>
      </p:sp>
      <p:sp>
        <p:nvSpPr>
          <p:cNvPr id="155" name="正方形/長方形 154">
            <a:extLst>
              <a:ext uri="{FF2B5EF4-FFF2-40B4-BE49-F238E27FC236}">
                <a16:creationId xmlns:a16="http://schemas.microsoft.com/office/drawing/2014/main" id="{AC52AA59-B296-3D7E-3AD9-E1B134550923}"/>
              </a:ext>
            </a:extLst>
          </p:cNvPr>
          <p:cNvSpPr/>
          <p:nvPr/>
        </p:nvSpPr>
        <p:spPr>
          <a:xfrm>
            <a:off x="2445412" y="4799560"/>
            <a:ext cx="1253463" cy="602396"/>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ユースケース</a:t>
            </a:r>
          </a:p>
        </p:txBody>
      </p:sp>
      <p:sp>
        <p:nvSpPr>
          <p:cNvPr id="156" name="正方形/長方形 155">
            <a:extLst>
              <a:ext uri="{FF2B5EF4-FFF2-40B4-BE49-F238E27FC236}">
                <a16:creationId xmlns:a16="http://schemas.microsoft.com/office/drawing/2014/main" id="{4E97D77E-DDF2-5C2D-8308-CE8FCCBF58C8}"/>
              </a:ext>
            </a:extLst>
          </p:cNvPr>
          <p:cNvSpPr/>
          <p:nvPr/>
        </p:nvSpPr>
        <p:spPr>
          <a:xfrm>
            <a:off x="3766503" y="4799560"/>
            <a:ext cx="934166" cy="602396"/>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ユースケース</a:t>
            </a:r>
          </a:p>
        </p:txBody>
      </p:sp>
      <p:sp>
        <p:nvSpPr>
          <p:cNvPr id="157" name="正方形/長方形 156">
            <a:extLst>
              <a:ext uri="{FF2B5EF4-FFF2-40B4-BE49-F238E27FC236}">
                <a16:creationId xmlns:a16="http://schemas.microsoft.com/office/drawing/2014/main" id="{D436DD38-29F8-6D3C-634B-13177FA9613B}"/>
              </a:ext>
            </a:extLst>
          </p:cNvPr>
          <p:cNvSpPr/>
          <p:nvPr/>
        </p:nvSpPr>
        <p:spPr>
          <a:xfrm>
            <a:off x="2588101" y="5082505"/>
            <a:ext cx="490090" cy="2520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58" name="正方形/長方形 157">
            <a:extLst>
              <a:ext uri="{FF2B5EF4-FFF2-40B4-BE49-F238E27FC236}">
                <a16:creationId xmlns:a16="http://schemas.microsoft.com/office/drawing/2014/main" id="{D35976E5-4A0B-6F2E-A9E1-17743FF6FE93}"/>
              </a:ext>
            </a:extLst>
          </p:cNvPr>
          <p:cNvSpPr/>
          <p:nvPr/>
        </p:nvSpPr>
        <p:spPr>
          <a:xfrm>
            <a:off x="3133724" y="5079183"/>
            <a:ext cx="490090" cy="2520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61" name="正方形/長方形 160">
            <a:extLst>
              <a:ext uri="{FF2B5EF4-FFF2-40B4-BE49-F238E27FC236}">
                <a16:creationId xmlns:a16="http://schemas.microsoft.com/office/drawing/2014/main" id="{B3979D96-C784-B390-0D08-7243DE55E964}"/>
              </a:ext>
            </a:extLst>
          </p:cNvPr>
          <p:cNvSpPr/>
          <p:nvPr/>
        </p:nvSpPr>
        <p:spPr>
          <a:xfrm>
            <a:off x="3956463" y="5082505"/>
            <a:ext cx="490090" cy="2520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62" name="正方形/長方形 161">
            <a:extLst>
              <a:ext uri="{FF2B5EF4-FFF2-40B4-BE49-F238E27FC236}">
                <a16:creationId xmlns:a16="http://schemas.microsoft.com/office/drawing/2014/main" id="{32FC9587-EB63-AFB8-C7D0-BB085A839BD3}"/>
              </a:ext>
            </a:extLst>
          </p:cNvPr>
          <p:cNvSpPr/>
          <p:nvPr/>
        </p:nvSpPr>
        <p:spPr>
          <a:xfrm>
            <a:off x="7800349" y="4667265"/>
            <a:ext cx="2679742" cy="819537"/>
          </a:xfrm>
          <a:prstGeom prst="rect">
            <a:avLst/>
          </a:prstGeom>
          <a:noFill/>
          <a:ln w="3175">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bg1">
                    <a:lumMod val="75000"/>
                  </a:schemeClr>
                </a:solidFill>
              </a:rPr>
              <a:t>業務</a:t>
            </a:r>
          </a:p>
        </p:txBody>
      </p:sp>
      <p:sp>
        <p:nvSpPr>
          <p:cNvPr id="163" name="正方形/長方形 162">
            <a:extLst>
              <a:ext uri="{FF2B5EF4-FFF2-40B4-BE49-F238E27FC236}">
                <a16:creationId xmlns:a16="http://schemas.microsoft.com/office/drawing/2014/main" id="{DB74C6FC-519F-2D53-C899-6F1D8DC65F85}"/>
              </a:ext>
            </a:extLst>
          </p:cNvPr>
          <p:cNvSpPr/>
          <p:nvPr/>
        </p:nvSpPr>
        <p:spPr>
          <a:xfrm>
            <a:off x="8161839" y="4793928"/>
            <a:ext cx="1253463" cy="602396"/>
          </a:xfrm>
          <a:prstGeom prst="rect">
            <a:avLst/>
          </a:prstGeom>
          <a:noFill/>
          <a:ln w="3175">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bg1">
                    <a:lumMod val="75000"/>
                  </a:schemeClr>
                </a:solidFill>
              </a:rPr>
              <a:t>ユースケース</a:t>
            </a:r>
          </a:p>
        </p:txBody>
      </p:sp>
      <p:sp>
        <p:nvSpPr>
          <p:cNvPr id="164" name="正方形/長方形 163">
            <a:extLst>
              <a:ext uri="{FF2B5EF4-FFF2-40B4-BE49-F238E27FC236}">
                <a16:creationId xmlns:a16="http://schemas.microsoft.com/office/drawing/2014/main" id="{56476162-37A1-6081-82E1-3B23C7E8C5D6}"/>
              </a:ext>
            </a:extLst>
          </p:cNvPr>
          <p:cNvSpPr/>
          <p:nvPr/>
        </p:nvSpPr>
        <p:spPr>
          <a:xfrm>
            <a:off x="9482930" y="4793928"/>
            <a:ext cx="934166" cy="602396"/>
          </a:xfrm>
          <a:prstGeom prst="rect">
            <a:avLst/>
          </a:prstGeom>
          <a:noFill/>
          <a:ln w="3175">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bg1">
                    <a:lumMod val="75000"/>
                  </a:schemeClr>
                </a:solidFill>
              </a:rPr>
              <a:t>ユースケース</a:t>
            </a:r>
          </a:p>
        </p:txBody>
      </p:sp>
      <p:sp>
        <p:nvSpPr>
          <p:cNvPr id="165" name="正方形/長方形 164">
            <a:extLst>
              <a:ext uri="{FF2B5EF4-FFF2-40B4-BE49-F238E27FC236}">
                <a16:creationId xmlns:a16="http://schemas.microsoft.com/office/drawing/2014/main" id="{FD949158-9D76-E026-83BD-DBA63125259F}"/>
              </a:ext>
            </a:extLst>
          </p:cNvPr>
          <p:cNvSpPr/>
          <p:nvPr/>
        </p:nvSpPr>
        <p:spPr>
          <a:xfrm>
            <a:off x="8304528" y="5076873"/>
            <a:ext cx="490090" cy="252000"/>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66" name="正方形/長方形 165">
            <a:extLst>
              <a:ext uri="{FF2B5EF4-FFF2-40B4-BE49-F238E27FC236}">
                <a16:creationId xmlns:a16="http://schemas.microsoft.com/office/drawing/2014/main" id="{36E08B09-1207-A8EE-DEDF-EE7A29D0F8CB}"/>
              </a:ext>
            </a:extLst>
          </p:cNvPr>
          <p:cNvSpPr/>
          <p:nvPr/>
        </p:nvSpPr>
        <p:spPr>
          <a:xfrm>
            <a:off x="8850151" y="5073551"/>
            <a:ext cx="490090" cy="252000"/>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67" name="正方形/長方形 166">
            <a:extLst>
              <a:ext uri="{FF2B5EF4-FFF2-40B4-BE49-F238E27FC236}">
                <a16:creationId xmlns:a16="http://schemas.microsoft.com/office/drawing/2014/main" id="{6EB86517-6F81-A5BB-54EB-16EEB41FF854}"/>
              </a:ext>
            </a:extLst>
          </p:cNvPr>
          <p:cNvSpPr/>
          <p:nvPr/>
        </p:nvSpPr>
        <p:spPr>
          <a:xfrm>
            <a:off x="9672890" y="5076873"/>
            <a:ext cx="490090" cy="252000"/>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68" name="正方形/長方形 167">
            <a:extLst>
              <a:ext uri="{FF2B5EF4-FFF2-40B4-BE49-F238E27FC236}">
                <a16:creationId xmlns:a16="http://schemas.microsoft.com/office/drawing/2014/main" id="{17E474C1-B8D8-2203-BAD4-EA481048011F}"/>
              </a:ext>
            </a:extLst>
          </p:cNvPr>
          <p:cNvSpPr/>
          <p:nvPr/>
        </p:nvSpPr>
        <p:spPr>
          <a:xfrm>
            <a:off x="8514922" y="3390893"/>
            <a:ext cx="2679742" cy="819537"/>
          </a:xfrm>
          <a:prstGeom prst="rect">
            <a:avLst/>
          </a:prstGeom>
          <a:noFill/>
          <a:ln w="3175">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bg1">
                    <a:lumMod val="75000"/>
                  </a:schemeClr>
                </a:solidFill>
              </a:rPr>
              <a:t>業務</a:t>
            </a:r>
          </a:p>
        </p:txBody>
      </p:sp>
      <p:sp>
        <p:nvSpPr>
          <p:cNvPr id="169" name="正方形/長方形 168">
            <a:extLst>
              <a:ext uri="{FF2B5EF4-FFF2-40B4-BE49-F238E27FC236}">
                <a16:creationId xmlns:a16="http://schemas.microsoft.com/office/drawing/2014/main" id="{C344C20D-5091-6E50-BFCA-96A6CBFEB7EB}"/>
              </a:ext>
            </a:extLst>
          </p:cNvPr>
          <p:cNvSpPr/>
          <p:nvPr/>
        </p:nvSpPr>
        <p:spPr>
          <a:xfrm>
            <a:off x="8876412" y="3517556"/>
            <a:ext cx="1253463" cy="602396"/>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ユースケース</a:t>
            </a:r>
          </a:p>
        </p:txBody>
      </p:sp>
      <p:sp>
        <p:nvSpPr>
          <p:cNvPr id="170" name="正方形/長方形 169">
            <a:extLst>
              <a:ext uri="{FF2B5EF4-FFF2-40B4-BE49-F238E27FC236}">
                <a16:creationId xmlns:a16="http://schemas.microsoft.com/office/drawing/2014/main" id="{4DE0CC29-5C4B-F8A0-7FFD-0830D0ECE109}"/>
              </a:ext>
            </a:extLst>
          </p:cNvPr>
          <p:cNvSpPr/>
          <p:nvPr/>
        </p:nvSpPr>
        <p:spPr>
          <a:xfrm>
            <a:off x="10197503" y="3517556"/>
            <a:ext cx="934166" cy="602396"/>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ユースケース</a:t>
            </a:r>
          </a:p>
        </p:txBody>
      </p:sp>
      <p:sp>
        <p:nvSpPr>
          <p:cNvPr id="171" name="正方形/長方形 170">
            <a:extLst>
              <a:ext uri="{FF2B5EF4-FFF2-40B4-BE49-F238E27FC236}">
                <a16:creationId xmlns:a16="http://schemas.microsoft.com/office/drawing/2014/main" id="{3CFB5478-561E-C2C7-1397-271A56BCAB67}"/>
              </a:ext>
            </a:extLst>
          </p:cNvPr>
          <p:cNvSpPr/>
          <p:nvPr/>
        </p:nvSpPr>
        <p:spPr>
          <a:xfrm>
            <a:off x="9019101" y="3800501"/>
            <a:ext cx="490090" cy="252000"/>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72" name="正方形/長方形 171">
            <a:extLst>
              <a:ext uri="{FF2B5EF4-FFF2-40B4-BE49-F238E27FC236}">
                <a16:creationId xmlns:a16="http://schemas.microsoft.com/office/drawing/2014/main" id="{4FF33950-D964-750B-50F0-A65A08B9AD37}"/>
              </a:ext>
            </a:extLst>
          </p:cNvPr>
          <p:cNvSpPr/>
          <p:nvPr/>
        </p:nvSpPr>
        <p:spPr>
          <a:xfrm>
            <a:off x="9564724" y="3797179"/>
            <a:ext cx="490090" cy="252000"/>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73" name="正方形/長方形 172">
            <a:extLst>
              <a:ext uri="{FF2B5EF4-FFF2-40B4-BE49-F238E27FC236}">
                <a16:creationId xmlns:a16="http://schemas.microsoft.com/office/drawing/2014/main" id="{116C9322-939D-C791-4B98-DDDFDBA7FDF0}"/>
              </a:ext>
            </a:extLst>
          </p:cNvPr>
          <p:cNvSpPr/>
          <p:nvPr/>
        </p:nvSpPr>
        <p:spPr>
          <a:xfrm>
            <a:off x="10387463" y="3800501"/>
            <a:ext cx="490090" cy="252000"/>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74" name="正方形/長方形 173">
            <a:extLst>
              <a:ext uri="{FF2B5EF4-FFF2-40B4-BE49-F238E27FC236}">
                <a16:creationId xmlns:a16="http://schemas.microsoft.com/office/drawing/2014/main" id="{22A9B2BF-F1F2-DB7D-D69D-11CBBC01DE6F}"/>
              </a:ext>
            </a:extLst>
          </p:cNvPr>
          <p:cNvSpPr/>
          <p:nvPr/>
        </p:nvSpPr>
        <p:spPr>
          <a:xfrm>
            <a:off x="8879980" y="2102619"/>
            <a:ext cx="2679742" cy="819537"/>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業務</a:t>
            </a:r>
          </a:p>
        </p:txBody>
      </p:sp>
      <p:sp>
        <p:nvSpPr>
          <p:cNvPr id="175" name="正方形/長方形 174">
            <a:extLst>
              <a:ext uri="{FF2B5EF4-FFF2-40B4-BE49-F238E27FC236}">
                <a16:creationId xmlns:a16="http://schemas.microsoft.com/office/drawing/2014/main" id="{B606810F-B5FB-6362-CEEA-FA9124C82214}"/>
              </a:ext>
            </a:extLst>
          </p:cNvPr>
          <p:cNvSpPr/>
          <p:nvPr/>
        </p:nvSpPr>
        <p:spPr>
          <a:xfrm>
            <a:off x="9241470" y="2229282"/>
            <a:ext cx="1253463" cy="602396"/>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ユースケース</a:t>
            </a:r>
          </a:p>
        </p:txBody>
      </p:sp>
      <p:sp>
        <p:nvSpPr>
          <p:cNvPr id="176" name="正方形/長方形 175">
            <a:extLst>
              <a:ext uri="{FF2B5EF4-FFF2-40B4-BE49-F238E27FC236}">
                <a16:creationId xmlns:a16="http://schemas.microsoft.com/office/drawing/2014/main" id="{0941250C-1030-2064-6FD2-88F26C769834}"/>
              </a:ext>
            </a:extLst>
          </p:cNvPr>
          <p:cNvSpPr/>
          <p:nvPr/>
        </p:nvSpPr>
        <p:spPr>
          <a:xfrm>
            <a:off x="10562561" y="2229282"/>
            <a:ext cx="934166" cy="602396"/>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dirty="0">
                <a:solidFill>
                  <a:schemeClr val="tx1"/>
                </a:solidFill>
              </a:rPr>
              <a:t>ユースケース</a:t>
            </a:r>
          </a:p>
        </p:txBody>
      </p:sp>
      <p:sp>
        <p:nvSpPr>
          <p:cNvPr id="177" name="正方形/長方形 176">
            <a:extLst>
              <a:ext uri="{FF2B5EF4-FFF2-40B4-BE49-F238E27FC236}">
                <a16:creationId xmlns:a16="http://schemas.microsoft.com/office/drawing/2014/main" id="{280CD9A1-D7F5-D518-C4E3-466B9B49FE77}"/>
              </a:ext>
            </a:extLst>
          </p:cNvPr>
          <p:cNvSpPr/>
          <p:nvPr/>
        </p:nvSpPr>
        <p:spPr>
          <a:xfrm>
            <a:off x="9384159" y="2512227"/>
            <a:ext cx="490090" cy="252000"/>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78" name="正方形/長方形 177">
            <a:extLst>
              <a:ext uri="{FF2B5EF4-FFF2-40B4-BE49-F238E27FC236}">
                <a16:creationId xmlns:a16="http://schemas.microsoft.com/office/drawing/2014/main" id="{3D6FE434-4E6E-4BB1-A016-5CC89CF0FCD1}"/>
              </a:ext>
            </a:extLst>
          </p:cNvPr>
          <p:cNvSpPr/>
          <p:nvPr/>
        </p:nvSpPr>
        <p:spPr>
          <a:xfrm>
            <a:off x="9929782" y="2508905"/>
            <a:ext cx="490090" cy="252000"/>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79" name="正方形/長方形 178">
            <a:extLst>
              <a:ext uri="{FF2B5EF4-FFF2-40B4-BE49-F238E27FC236}">
                <a16:creationId xmlns:a16="http://schemas.microsoft.com/office/drawing/2014/main" id="{57F7C5CD-573A-AB59-9A84-AF057CD68CFA}"/>
              </a:ext>
            </a:extLst>
          </p:cNvPr>
          <p:cNvSpPr/>
          <p:nvPr/>
        </p:nvSpPr>
        <p:spPr>
          <a:xfrm>
            <a:off x="10752521" y="2512227"/>
            <a:ext cx="490090" cy="252000"/>
          </a:xfrm>
          <a:prstGeom prst="rect">
            <a:avLst/>
          </a:prstGeom>
          <a:solidFill>
            <a:schemeClr val="accent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処理</a:t>
            </a:r>
          </a:p>
        </p:txBody>
      </p:sp>
      <p:sp>
        <p:nvSpPr>
          <p:cNvPr id="180" name="四角形: 角を丸くする 179">
            <a:extLst>
              <a:ext uri="{FF2B5EF4-FFF2-40B4-BE49-F238E27FC236}">
                <a16:creationId xmlns:a16="http://schemas.microsoft.com/office/drawing/2014/main" id="{65009659-F559-763E-21B9-EB880F4458D1}"/>
              </a:ext>
            </a:extLst>
          </p:cNvPr>
          <p:cNvSpPr/>
          <p:nvPr/>
        </p:nvSpPr>
        <p:spPr>
          <a:xfrm>
            <a:off x="3080427" y="5817959"/>
            <a:ext cx="6039840" cy="688602"/>
          </a:xfrm>
          <a:prstGeom prst="roundRect">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rPr>
              <a:t>設計工程での業務→ユースケース→処理の詳細化とは反対に、</a:t>
            </a:r>
            <a:endParaRPr lang="en-US" altLang="ja-JP" sz="1400" dirty="0">
              <a:solidFill>
                <a:schemeClr val="tx1"/>
              </a:solidFill>
            </a:endParaRPr>
          </a:p>
          <a:p>
            <a:pPr algn="ctr"/>
            <a:r>
              <a:rPr lang="ja-JP" altLang="en-US" sz="1400" dirty="0">
                <a:solidFill>
                  <a:schemeClr val="tx1"/>
                </a:solidFill>
              </a:rPr>
              <a:t>システムの詳細な部分からテストを実施し、テスト対象範囲を少しずつ広くしていく</a:t>
            </a:r>
            <a:endParaRPr kumimoji="1" lang="ja-JP" altLang="en-US" sz="1400" dirty="0">
              <a:solidFill>
                <a:schemeClr val="tx1"/>
              </a:solidFill>
            </a:endParaRPr>
          </a:p>
        </p:txBody>
      </p:sp>
      <p:cxnSp>
        <p:nvCxnSpPr>
          <p:cNvPr id="182" name="直線矢印コネクタ 181">
            <a:extLst>
              <a:ext uri="{FF2B5EF4-FFF2-40B4-BE49-F238E27FC236}">
                <a16:creationId xmlns:a16="http://schemas.microsoft.com/office/drawing/2014/main" id="{8761E1C9-56C4-7479-7C8C-56F218366B73}"/>
              </a:ext>
            </a:extLst>
          </p:cNvPr>
          <p:cNvCxnSpPr>
            <a:cxnSpLocks/>
            <a:stCxn id="130" idx="3"/>
            <a:endCxn id="149" idx="1"/>
          </p:cNvCxnSpPr>
          <p:nvPr/>
        </p:nvCxnSpPr>
        <p:spPr>
          <a:xfrm>
            <a:off x="4316216" y="2503960"/>
            <a:ext cx="3282108" cy="104"/>
          </a:xfrm>
          <a:prstGeom prst="straightConnector1">
            <a:avLst/>
          </a:prstGeom>
          <a:ln w="31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83" name="直線矢印コネクタ 182">
            <a:extLst>
              <a:ext uri="{FF2B5EF4-FFF2-40B4-BE49-F238E27FC236}">
                <a16:creationId xmlns:a16="http://schemas.microsoft.com/office/drawing/2014/main" id="{A271339B-D2ED-AEF8-E1DC-0170BF169F61}"/>
              </a:ext>
            </a:extLst>
          </p:cNvPr>
          <p:cNvCxnSpPr>
            <a:cxnSpLocks/>
            <a:stCxn id="137" idx="3"/>
            <a:endCxn id="146" idx="1"/>
          </p:cNvCxnSpPr>
          <p:nvPr/>
        </p:nvCxnSpPr>
        <p:spPr>
          <a:xfrm flipV="1">
            <a:off x="4702141" y="3793217"/>
            <a:ext cx="2431424" cy="2597"/>
          </a:xfrm>
          <a:prstGeom prst="straightConnector1">
            <a:avLst/>
          </a:prstGeom>
          <a:ln w="31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86" name="直線矢印コネクタ 185">
            <a:extLst>
              <a:ext uri="{FF2B5EF4-FFF2-40B4-BE49-F238E27FC236}">
                <a16:creationId xmlns:a16="http://schemas.microsoft.com/office/drawing/2014/main" id="{CA8BA1DC-5365-6D29-F7CA-763746E2EA0A}"/>
              </a:ext>
            </a:extLst>
          </p:cNvPr>
          <p:cNvCxnSpPr>
            <a:cxnSpLocks/>
            <a:stCxn id="140" idx="3"/>
            <a:endCxn id="143" idx="1"/>
          </p:cNvCxnSpPr>
          <p:nvPr/>
        </p:nvCxnSpPr>
        <p:spPr>
          <a:xfrm flipV="1">
            <a:off x="4945967" y="5076728"/>
            <a:ext cx="1672636" cy="6862"/>
          </a:xfrm>
          <a:prstGeom prst="straightConnector1">
            <a:avLst/>
          </a:prstGeom>
          <a:ln w="31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05" name="テキスト ボックス 204">
            <a:extLst>
              <a:ext uri="{FF2B5EF4-FFF2-40B4-BE49-F238E27FC236}">
                <a16:creationId xmlns:a16="http://schemas.microsoft.com/office/drawing/2014/main" id="{76DEE8B8-2163-409B-72A7-04881E5E76CA}"/>
              </a:ext>
            </a:extLst>
          </p:cNvPr>
          <p:cNvSpPr txBox="1"/>
          <p:nvPr/>
        </p:nvSpPr>
        <p:spPr>
          <a:xfrm>
            <a:off x="5823906" y="2501488"/>
            <a:ext cx="512309" cy="292082"/>
          </a:xfrm>
          <a:prstGeom prst="rect">
            <a:avLst/>
          </a:prstGeom>
          <a:noFill/>
        </p:spPr>
        <p:txBody>
          <a:bodyPr wrap="square" lIns="0" rIns="0" rtlCol="0">
            <a:noAutofit/>
          </a:bodyPr>
          <a:lstStyle/>
          <a:p>
            <a:pPr algn="ctr" defTabSz="288000"/>
            <a:r>
              <a:rPr kumimoji="1" lang="ja-JP" altLang="en-US" sz="1400" dirty="0">
                <a:latin typeface="+mn-ea"/>
              </a:rPr>
              <a:t>対応</a:t>
            </a:r>
          </a:p>
        </p:txBody>
      </p:sp>
      <p:sp>
        <p:nvSpPr>
          <p:cNvPr id="207" name="テキスト ボックス 206">
            <a:extLst>
              <a:ext uri="{FF2B5EF4-FFF2-40B4-BE49-F238E27FC236}">
                <a16:creationId xmlns:a16="http://schemas.microsoft.com/office/drawing/2014/main" id="{F7FAD780-84FC-DB62-E555-3F8C49E2999E}"/>
              </a:ext>
            </a:extLst>
          </p:cNvPr>
          <p:cNvSpPr txBox="1"/>
          <p:nvPr/>
        </p:nvSpPr>
        <p:spPr>
          <a:xfrm>
            <a:off x="5823906" y="3794636"/>
            <a:ext cx="512309" cy="292082"/>
          </a:xfrm>
          <a:prstGeom prst="rect">
            <a:avLst/>
          </a:prstGeom>
          <a:noFill/>
        </p:spPr>
        <p:txBody>
          <a:bodyPr wrap="square" lIns="0" rIns="0" rtlCol="0">
            <a:noAutofit/>
          </a:bodyPr>
          <a:lstStyle/>
          <a:p>
            <a:pPr algn="ctr" defTabSz="288000"/>
            <a:r>
              <a:rPr kumimoji="1" lang="ja-JP" altLang="en-US" sz="1400" dirty="0">
                <a:latin typeface="+mn-ea"/>
              </a:rPr>
              <a:t>対応</a:t>
            </a:r>
          </a:p>
        </p:txBody>
      </p:sp>
      <p:sp>
        <p:nvSpPr>
          <p:cNvPr id="208" name="テキスト ボックス 207">
            <a:extLst>
              <a:ext uri="{FF2B5EF4-FFF2-40B4-BE49-F238E27FC236}">
                <a16:creationId xmlns:a16="http://schemas.microsoft.com/office/drawing/2014/main" id="{6EBF91FB-4D91-C0B3-A3DC-88341C185EDB}"/>
              </a:ext>
            </a:extLst>
          </p:cNvPr>
          <p:cNvSpPr txBox="1"/>
          <p:nvPr/>
        </p:nvSpPr>
        <p:spPr>
          <a:xfrm>
            <a:off x="5823906" y="5074233"/>
            <a:ext cx="512309" cy="292082"/>
          </a:xfrm>
          <a:prstGeom prst="rect">
            <a:avLst/>
          </a:prstGeom>
          <a:noFill/>
        </p:spPr>
        <p:txBody>
          <a:bodyPr wrap="square" lIns="0" rIns="0" rtlCol="0">
            <a:noAutofit/>
          </a:bodyPr>
          <a:lstStyle/>
          <a:p>
            <a:pPr algn="ctr" defTabSz="288000"/>
            <a:r>
              <a:rPr kumimoji="1" lang="ja-JP" altLang="en-US" sz="1400" dirty="0">
                <a:latin typeface="+mn-ea"/>
              </a:rPr>
              <a:t>対応</a:t>
            </a:r>
          </a:p>
        </p:txBody>
      </p:sp>
      <p:grpSp>
        <p:nvGrpSpPr>
          <p:cNvPr id="221" name="グループ化 220">
            <a:extLst>
              <a:ext uri="{FF2B5EF4-FFF2-40B4-BE49-F238E27FC236}">
                <a16:creationId xmlns:a16="http://schemas.microsoft.com/office/drawing/2014/main" id="{DFA4BF93-16BB-2C93-C838-BC5DBA99BD4B}"/>
              </a:ext>
            </a:extLst>
          </p:cNvPr>
          <p:cNvGrpSpPr/>
          <p:nvPr/>
        </p:nvGrpSpPr>
        <p:grpSpPr>
          <a:xfrm>
            <a:off x="4255561" y="1815575"/>
            <a:ext cx="991394" cy="504000"/>
            <a:chOff x="5484043" y="1581286"/>
            <a:chExt cx="991394" cy="504000"/>
          </a:xfrm>
        </p:grpSpPr>
        <p:sp>
          <p:nvSpPr>
            <p:cNvPr id="220" name="正方形/長方形 219">
              <a:extLst>
                <a:ext uri="{FF2B5EF4-FFF2-40B4-BE49-F238E27FC236}">
                  <a16:creationId xmlns:a16="http://schemas.microsoft.com/office/drawing/2014/main" id="{915527E1-4F24-729A-AA12-C840D97892D1}"/>
                </a:ext>
              </a:extLst>
            </p:cNvPr>
            <p:cNvSpPr/>
            <p:nvPr/>
          </p:nvSpPr>
          <p:spPr>
            <a:xfrm>
              <a:off x="5484043" y="1581286"/>
              <a:ext cx="991394" cy="504000"/>
            </a:xfrm>
            <a:prstGeom prst="rect">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217" name="グループ化 216">
              <a:extLst>
                <a:ext uri="{FF2B5EF4-FFF2-40B4-BE49-F238E27FC236}">
                  <a16:creationId xmlns:a16="http://schemas.microsoft.com/office/drawing/2014/main" id="{FA21DA72-7A07-968C-FD35-C7733D51BDBE}"/>
                </a:ext>
              </a:extLst>
            </p:cNvPr>
            <p:cNvGrpSpPr/>
            <p:nvPr/>
          </p:nvGrpSpPr>
          <p:grpSpPr>
            <a:xfrm>
              <a:off x="5486457" y="1628854"/>
              <a:ext cx="909294" cy="406633"/>
              <a:chOff x="7425037" y="6199386"/>
              <a:chExt cx="909294" cy="406633"/>
            </a:xfrm>
          </p:grpSpPr>
          <p:pic>
            <p:nvPicPr>
              <p:cNvPr id="218" name="グラフィックス 217" descr="ドキュメント 枠線">
                <a:extLst>
                  <a:ext uri="{FF2B5EF4-FFF2-40B4-BE49-F238E27FC236}">
                    <a16:creationId xmlns:a16="http://schemas.microsoft.com/office/drawing/2014/main" id="{F2C2A0FB-4405-3956-6237-DA27E4494A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219" name="テキスト ボックス 218">
                <a:extLst>
                  <a:ext uri="{FF2B5EF4-FFF2-40B4-BE49-F238E27FC236}">
                    <a16:creationId xmlns:a16="http://schemas.microsoft.com/office/drawing/2014/main" id="{177461D8-DD80-13CC-85A9-67EEC4843AC1}"/>
                  </a:ext>
                </a:extLst>
              </p:cNvPr>
              <p:cNvSpPr txBox="1"/>
              <p:nvPr/>
            </p:nvSpPr>
            <p:spPr>
              <a:xfrm>
                <a:off x="7772679" y="6199386"/>
                <a:ext cx="561652" cy="398274"/>
              </a:xfrm>
              <a:prstGeom prst="rect">
                <a:avLst/>
              </a:prstGeom>
              <a:noFill/>
            </p:spPr>
            <p:txBody>
              <a:bodyPr wrap="square" lIns="0" rIns="0" rtlCol="0" anchor="ctr">
                <a:noAutofit/>
              </a:bodyPr>
              <a:lstStyle/>
              <a:p>
                <a:pPr algn="ctr" defTabSz="288000"/>
                <a:r>
                  <a:rPr lang="ja-JP" altLang="en-US" sz="1200" dirty="0">
                    <a:latin typeface="+mn-ea"/>
                  </a:rPr>
                  <a:t>業務</a:t>
                </a:r>
                <a:endParaRPr lang="en-US" altLang="ja-JP" sz="1200" dirty="0">
                  <a:latin typeface="+mn-ea"/>
                </a:endParaRPr>
              </a:p>
              <a:p>
                <a:pPr algn="ctr" defTabSz="288000"/>
                <a:r>
                  <a:rPr lang="ja-JP" altLang="en-US" sz="1200" dirty="0">
                    <a:latin typeface="+mn-ea"/>
                  </a:rPr>
                  <a:t>フロー図</a:t>
                </a:r>
                <a:endParaRPr lang="en-US" altLang="ja-JP" sz="1200" dirty="0">
                  <a:latin typeface="+mn-ea"/>
                </a:endParaRPr>
              </a:p>
            </p:txBody>
          </p:sp>
        </p:grpSp>
      </p:grpSp>
      <p:grpSp>
        <p:nvGrpSpPr>
          <p:cNvPr id="222" name="グループ化 221">
            <a:extLst>
              <a:ext uri="{FF2B5EF4-FFF2-40B4-BE49-F238E27FC236}">
                <a16:creationId xmlns:a16="http://schemas.microsoft.com/office/drawing/2014/main" id="{7E6AC69F-8CD3-4625-8E6C-A8F2EB8F4B0D}"/>
              </a:ext>
            </a:extLst>
          </p:cNvPr>
          <p:cNvGrpSpPr/>
          <p:nvPr/>
        </p:nvGrpSpPr>
        <p:grpSpPr>
          <a:xfrm>
            <a:off x="4579524" y="3114862"/>
            <a:ext cx="1194936" cy="504000"/>
            <a:chOff x="5484043" y="1581286"/>
            <a:chExt cx="1194936" cy="504000"/>
          </a:xfrm>
        </p:grpSpPr>
        <p:sp>
          <p:nvSpPr>
            <p:cNvPr id="223" name="正方形/長方形 222">
              <a:extLst>
                <a:ext uri="{FF2B5EF4-FFF2-40B4-BE49-F238E27FC236}">
                  <a16:creationId xmlns:a16="http://schemas.microsoft.com/office/drawing/2014/main" id="{F236FFED-17DC-5E52-391D-8924D07EED78}"/>
                </a:ext>
              </a:extLst>
            </p:cNvPr>
            <p:cNvSpPr/>
            <p:nvPr/>
          </p:nvSpPr>
          <p:spPr>
            <a:xfrm>
              <a:off x="5484043" y="1581286"/>
              <a:ext cx="1194936" cy="504000"/>
            </a:xfrm>
            <a:prstGeom prst="rect">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224" name="グループ化 223">
              <a:extLst>
                <a:ext uri="{FF2B5EF4-FFF2-40B4-BE49-F238E27FC236}">
                  <a16:creationId xmlns:a16="http://schemas.microsoft.com/office/drawing/2014/main" id="{E1B0E9A8-075C-C938-B863-02730271FAB6}"/>
                </a:ext>
              </a:extLst>
            </p:cNvPr>
            <p:cNvGrpSpPr/>
            <p:nvPr/>
          </p:nvGrpSpPr>
          <p:grpSpPr>
            <a:xfrm>
              <a:off x="5486457" y="1628854"/>
              <a:ext cx="1187306" cy="406633"/>
              <a:chOff x="7425037" y="6199386"/>
              <a:chExt cx="1187306" cy="406633"/>
            </a:xfrm>
          </p:grpSpPr>
          <p:pic>
            <p:nvPicPr>
              <p:cNvPr id="225" name="グラフィックス 224" descr="ドキュメント 枠線">
                <a:extLst>
                  <a:ext uri="{FF2B5EF4-FFF2-40B4-BE49-F238E27FC236}">
                    <a16:creationId xmlns:a16="http://schemas.microsoft.com/office/drawing/2014/main" id="{D87C4704-414A-96AE-74D5-662A6471AC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226" name="テキスト ボックス 225">
                <a:extLst>
                  <a:ext uri="{FF2B5EF4-FFF2-40B4-BE49-F238E27FC236}">
                    <a16:creationId xmlns:a16="http://schemas.microsoft.com/office/drawing/2014/main" id="{CE3AE765-0F89-B5C1-F088-4E9589449046}"/>
                  </a:ext>
                </a:extLst>
              </p:cNvPr>
              <p:cNvSpPr txBox="1"/>
              <p:nvPr/>
            </p:nvSpPr>
            <p:spPr>
              <a:xfrm>
                <a:off x="7772678" y="6199386"/>
                <a:ext cx="839665" cy="398274"/>
              </a:xfrm>
              <a:prstGeom prst="rect">
                <a:avLst/>
              </a:prstGeom>
              <a:noFill/>
            </p:spPr>
            <p:txBody>
              <a:bodyPr wrap="square" lIns="0" rIns="0" rtlCol="0" anchor="ctr">
                <a:noAutofit/>
              </a:bodyPr>
              <a:lstStyle/>
              <a:p>
                <a:pPr algn="ctr" defTabSz="288000"/>
                <a:r>
                  <a:rPr lang="ja-JP" altLang="en-US" sz="1200" dirty="0">
                    <a:latin typeface="+mn-ea"/>
                  </a:rPr>
                  <a:t>ユースケース</a:t>
                </a:r>
                <a:endParaRPr lang="en-US" altLang="ja-JP" sz="1200" dirty="0">
                  <a:latin typeface="+mn-ea"/>
                </a:endParaRPr>
              </a:p>
              <a:p>
                <a:pPr algn="ctr" defTabSz="288000"/>
                <a:r>
                  <a:rPr lang="ja-JP" altLang="en-US" sz="1200" dirty="0">
                    <a:latin typeface="+mn-ea"/>
                  </a:rPr>
                  <a:t>定義書</a:t>
                </a:r>
                <a:endParaRPr lang="en-US" altLang="ja-JP" sz="1200" dirty="0">
                  <a:latin typeface="+mn-ea"/>
                </a:endParaRPr>
              </a:p>
            </p:txBody>
          </p:sp>
        </p:grpSp>
      </p:grpSp>
      <p:grpSp>
        <p:nvGrpSpPr>
          <p:cNvPr id="231" name="グループ化 230">
            <a:extLst>
              <a:ext uri="{FF2B5EF4-FFF2-40B4-BE49-F238E27FC236}">
                <a16:creationId xmlns:a16="http://schemas.microsoft.com/office/drawing/2014/main" id="{28C51710-1A2A-AA56-A117-9E0C8E1EBA70}"/>
              </a:ext>
            </a:extLst>
          </p:cNvPr>
          <p:cNvGrpSpPr/>
          <p:nvPr/>
        </p:nvGrpSpPr>
        <p:grpSpPr>
          <a:xfrm>
            <a:off x="4804694" y="4378130"/>
            <a:ext cx="1431168" cy="504000"/>
            <a:chOff x="5484043" y="1581286"/>
            <a:chExt cx="1431168" cy="504000"/>
          </a:xfrm>
        </p:grpSpPr>
        <p:sp>
          <p:nvSpPr>
            <p:cNvPr id="232" name="正方形/長方形 231">
              <a:extLst>
                <a:ext uri="{FF2B5EF4-FFF2-40B4-BE49-F238E27FC236}">
                  <a16:creationId xmlns:a16="http://schemas.microsoft.com/office/drawing/2014/main" id="{5F1DFEC1-3DE6-BBFF-D443-357C5225333F}"/>
                </a:ext>
              </a:extLst>
            </p:cNvPr>
            <p:cNvSpPr/>
            <p:nvPr/>
          </p:nvSpPr>
          <p:spPr>
            <a:xfrm>
              <a:off x="5484043" y="1581286"/>
              <a:ext cx="1431168" cy="504000"/>
            </a:xfrm>
            <a:prstGeom prst="rect">
              <a:avLst/>
            </a:prstGeom>
            <a:solidFill>
              <a:srgbClr val="FFC4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233" name="グループ化 232">
              <a:extLst>
                <a:ext uri="{FF2B5EF4-FFF2-40B4-BE49-F238E27FC236}">
                  <a16:creationId xmlns:a16="http://schemas.microsoft.com/office/drawing/2014/main" id="{4174B73A-68D6-A43F-CCF5-49E4BFFADD0D}"/>
                </a:ext>
              </a:extLst>
            </p:cNvPr>
            <p:cNvGrpSpPr/>
            <p:nvPr/>
          </p:nvGrpSpPr>
          <p:grpSpPr>
            <a:xfrm>
              <a:off x="5486457" y="1618221"/>
              <a:ext cx="1372374" cy="417266"/>
              <a:chOff x="7425037" y="6188753"/>
              <a:chExt cx="1372374" cy="417266"/>
            </a:xfrm>
          </p:grpSpPr>
          <p:pic>
            <p:nvPicPr>
              <p:cNvPr id="234" name="グラフィックス 233" descr="ドキュメント 枠線">
                <a:extLst>
                  <a:ext uri="{FF2B5EF4-FFF2-40B4-BE49-F238E27FC236}">
                    <a16:creationId xmlns:a16="http://schemas.microsoft.com/office/drawing/2014/main" id="{73E12450-88D5-C523-BEA0-4294CD58285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25037" y="6210019"/>
                <a:ext cx="396000" cy="396000"/>
              </a:xfrm>
              <a:prstGeom prst="rect">
                <a:avLst/>
              </a:prstGeom>
            </p:spPr>
          </p:pic>
          <p:sp>
            <p:nvSpPr>
              <p:cNvPr id="235" name="テキスト ボックス 234">
                <a:extLst>
                  <a:ext uri="{FF2B5EF4-FFF2-40B4-BE49-F238E27FC236}">
                    <a16:creationId xmlns:a16="http://schemas.microsoft.com/office/drawing/2014/main" id="{E2FF2E97-7FE9-E1F9-D2B3-0423D4C0B051}"/>
                  </a:ext>
                </a:extLst>
              </p:cNvPr>
              <p:cNvSpPr txBox="1"/>
              <p:nvPr/>
            </p:nvSpPr>
            <p:spPr>
              <a:xfrm>
                <a:off x="7772678" y="6188753"/>
                <a:ext cx="1024733" cy="398274"/>
              </a:xfrm>
              <a:prstGeom prst="rect">
                <a:avLst/>
              </a:prstGeom>
              <a:noFill/>
            </p:spPr>
            <p:txBody>
              <a:bodyPr wrap="square" lIns="0" rIns="0" rtlCol="0" anchor="ctr">
                <a:noAutofit/>
              </a:bodyPr>
              <a:lstStyle/>
              <a:p>
                <a:pPr algn="ctr" defTabSz="288000"/>
                <a:r>
                  <a:rPr lang="ja-JP" altLang="en-US" sz="1200" dirty="0">
                    <a:latin typeface="+mn-ea"/>
                  </a:rPr>
                  <a:t>オンライン</a:t>
                </a:r>
                <a:endParaRPr lang="en-US" altLang="ja-JP" sz="1200" dirty="0">
                  <a:latin typeface="+mn-ea"/>
                </a:endParaRPr>
              </a:p>
              <a:p>
                <a:pPr algn="ctr" defTabSz="288000"/>
                <a:r>
                  <a:rPr lang="ja-JP" altLang="en-US" sz="1200" dirty="0">
                    <a:latin typeface="+mn-ea"/>
                  </a:rPr>
                  <a:t>処理設計書など</a:t>
                </a:r>
                <a:endParaRPr lang="en-US" altLang="ja-JP" sz="1200" dirty="0">
                  <a:latin typeface="+mn-ea"/>
                </a:endParaRPr>
              </a:p>
            </p:txBody>
          </p:sp>
        </p:grpSp>
      </p:grpSp>
    </p:spTree>
    <p:extLst>
      <p:ext uri="{BB962C8B-B14F-4D97-AF65-F5344CB8AC3E}">
        <p14:creationId xmlns:p14="http://schemas.microsoft.com/office/powerpoint/2010/main" val="2633758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5D112-0416-7496-FD0D-84FE7EBE24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473B80-CD2D-82A6-A9FB-C36838649D44}"/>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システムテスト </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B486426B-8196-C51F-C5C1-8682F4B266B5}"/>
              </a:ext>
            </a:extLst>
          </p:cNvPr>
          <p:cNvSpPr>
            <a:spLocks noGrp="1"/>
          </p:cNvSpPr>
          <p:nvPr>
            <p:ph sz="quarter" idx="4294967295"/>
          </p:nvPr>
        </p:nvSpPr>
        <p:spPr>
          <a:xfrm>
            <a:off x="481490" y="978298"/>
            <a:ext cx="11448000" cy="861135"/>
          </a:xfrm>
        </p:spPr>
        <p:txBody>
          <a:bodyPr/>
          <a:lstStyle/>
          <a:p>
            <a:r>
              <a:rPr lang="ja-JP" altLang="en-US" u="sng" dirty="0">
                <a:solidFill>
                  <a:schemeClr val="tx1"/>
                </a:solidFill>
              </a:rPr>
              <a:t>システムテスト（</a:t>
            </a:r>
            <a:r>
              <a:rPr lang="en-US" altLang="ja-JP" u="sng" dirty="0">
                <a:solidFill>
                  <a:schemeClr val="tx1"/>
                </a:solidFill>
              </a:rPr>
              <a:t>System Test</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latin typeface="Helvetica Neue"/>
              </a:rPr>
              <a:t>システム基盤とアプリケーションを結合したシステム全体に対して、</a:t>
            </a:r>
            <a:endParaRPr lang="en-US" altLang="ja-JP" b="0" i="0" dirty="0">
              <a:solidFill>
                <a:schemeClr val="tx1"/>
              </a:solidFill>
              <a:effectLst/>
              <a:latin typeface="Helvetica Neue"/>
            </a:endParaRPr>
          </a:p>
          <a:p>
            <a:r>
              <a:rPr lang="ja-JP" altLang="en-US" b="0" i="0" dirty="0">
                <a:solidFill>
                  <a:schemeClr val="tx1"/>
                </a:solidFill>
                <a:effectLst/>
                <a:latin typeface="Helvetica Neue"/>
              </a:rPr>
              <a:t>機能要求と非機能要求を満たすかどうかを確認するフェーズ</a:t>
            </a:r>
            <a:endParaRPr lang="en-US" altLang="ja-JP" b="0" i="0" dirty="0">
              <a:solidFill>
                <a:schemeClr val="tx1"/>
              </a:solidFill>
              <a:effectLst/>
            </a:endParaRPr>
          </a:p>
        </p:txBody>
      </p:sp>
      <p:grpSp>
        <p:nvGrpSpPr>
          <p:cNvPr id="5" name="グループ化 4">
            <a:extLst>
              <a:ext uri="{FF2B5EF4-FFF2-40B4-BE49-F238E27FC236}">
                <a16:creationId xmlns:a16="http://schemas.microsoft.com/office/drawing/2014/main" id="{D657BD2D-696C-D39D-17CA-5984B1F76577}"/>
              </a:ext>
            </a:extLst>
          </p:cNvPr>
          <p:cNvGrpSpPr/>
          <p:nvPr/>
        </p:nvGrpSpPr>
        <p:grpSpPr>
          <a:xfrm>
            <a:off x="8633867" y="152748"/>
            <a:ext cx="3328336" cy="1890892"/>
            <a:chOff x="8633867" y="152748"/>
            <a:chExt cx="3328336" cy="1890892"/>
          </a:xfrm>
        </p:grpSpPr>
        <p:pic>
          <p:nvPicPr>
            <p:cNvPr id="11" name="図 10" descr="ダイアグラム&#10;&#10;AI によって生成されたコンテンツは間違っている可能性があります。">
              <a:extLst>
                <a:ext uri="{FF2B5EF4-FFF2-40B4-BE49-F238E27FC236}">
                  <a16:creationId xmlns:a16="http://schemas.microsoft.com/office/drawing/2014/main" id="{2B6A8050-4D07-58D2-6FA6-1B6F3001157C}"/>
                </a:ext>
              </a:extLst>
            </p:cNvPr>
            <p:cNvPicPr>
              <a:picLocks noChangeAspect="1"/>
            </p:cNvPicPr>
            <p:nvPr/>
          </p:nvPicPr>
          <p:blipFill>
            <a:blip r:embed="rId2"/>
            <a:stretch>
              <a:fillRect/>
            </a:stretch>
          </p:blipFill>
          <p:spPr>
            <a:xfrm>
              <a:off x="8633867" y="152748"/>
              <a:ext cx="3295623" cy="1890892"/>
            </a:xfrm>
            <a:prstGeom prst="rect">
              <a:avLst/>
            </a:prstGeom>
            <a:ln>
              <a:solidFill>
                <a:schemeClr val="tx1"/>
              </a:solidFill>
            </a:ln>
          </p:spPr>
        </p:pic>
        <p:sp>
          <p:nvSpPr>
            <p:cNvPr id="12" name="正方形/長方形 11">
              <a:extLst>
                <a:ext uri="{FF2B5EF4-FFF2-40B4-BE49-F238E27FC236}">
                  <a16:creationId xmlns:a16="http://schemas.microsoft.com/office/drawing/2014/main" id="{707FDF10-BBE6-EB4F-E049-85E602D72151}"/>
                </a:ext>
              </a:extLst>
            </p:cNvPr>
            <p:cNvSpPr/>
            <p:nvPr/>
          </p:nvSpPr>
          <p:spPr>
            <a:xfrm>
              <a:off x="10697810" y="698861"/>
              <a:ext cx="900000" cy="396000"/>
            </a:xfrm>
            <a:prstGeom prst="rect">
              <a:avLst/>
            </a:prstGeom>
            <a:noFill/>
            <a:ln w="3810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33" name="矢印: 下 32">
              <a:extLst>
                <a:ext uri="{FF2B5EF4-FFF2-40B4-BE49-F238E27FC236}">
                  <a16:creationId xmlns:a16="http://schemas.microsoft.com/office/drawing/2014/main" id="{DC55F6D2-AA45-864C-7C1B-96414BB1A630}"/>
                </a:ext>
              </a:extLst>
            </p:cNvPr>
            <p:cNvSpPr/>
            <p:nvPr/>
          </p:nvSpPr>
          <p:spPr>
            <a:xfrm rot="16200000" flipV="1">
              <a:off x="11674861" y="724573"/>
              <a:ext cx="210790" cy="363894"/>
            </a:xfrm>
            <a:prstGeom prst="downArrow">
              <a:avLst/>
            </a:prstGeom>
            <a:solidFill>
              <a:srgbClr val="92D05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正方形/長方形 3">
              <a:extLst>
                <a:ext uri="{FF2B5EF4-FFF2-40B4-BE49-F238E27FC236}">
                  <a16:creationId xmlns:a16="http://schemas.microsoft.com/office/drawing/2014/main" id="{F8F329A6-E803-FF3A-7F55-57F5F679E1DB}"/>
                </a:ext>
              </a:extLst>
            </p:cNvPr>
            <p:cNvSpPr/>
            <p:nvPr/>
          </p:nvSpPr>
          <p:spPr>
            <a:xfrm>
              <a:off x="8706399"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6" name="テキスト ボックス 5">
            <a:extLst>
              <a:ext uri="{FF2B5EF4-FFF2-40B4-BE49-F238E27FC236}">
                <a16:creationId xmlns:a16="http://schemas.microsoft.com/office/drawing/2014/main" id="{FD12FA77-81AD-C609-D0C3-39069DEA4087}"/>
              </a:ext>
            </a:extLst>
          </p:cNvPr>
          <p:cNvSpPr txBox="1"/>
          <p:nvPr/>
        </p:nvSpPr>
        <p:spPr>
          <a:xfrm>
            <a:off x="370800" y="2051313"/>
            <a:ext cx="11409040" cy="1200329"/>
          </a:xfrm>
          <a:prstGeom prst="rect">
            <a:avLst/>
          </a:prstGeom>
          <a:noFill/>
        </p:spPr>
        <p:txBody>
          <a:bodyPr wrap="square">
            <a:spAutoFit/>
          </a:bodyPr>
          <a:lstStyle/>
          <a:p>
            <a:r>
              <a:rPr lang="ja-JP" altLang="en-US" dirty="0">
                <a:solidFill>
                  <a:schemeClr val="tx1"/>
                </a:solidFill>
              </a:rPr>
              <a:t>■主な作業</a:t>
            </a:r>
            <a:endParaRPr lang="en-US" altLang="ja-JP" dirty="0">
              <a:solidFill>
                <a:schemeClr val="tx1"/>
              </a:solidFill>
            </a:endParaRPr>
          </a:p>
          <a:p>
            <a:r>
              <a:rPr lang="ja-JP" altLang="en-US" dirty="0">
                <a:solidFill>
                  <a:schemeClr val="tx1"/>
                </a:solidFill>
              </a:rPr>
              <a:t>　　・システムテストの計画、設計、実施</a:t>
            </a:r>
            <a:endParaRPr lang="en-US" altLang="ja-JP" dirty="0">
              <a:solidFill>
                <a:schemeClr val="tx1"/>
              </a:solidFill>
            </a:endParaRPr>
          </a:p>
          <a:p>
            <a:r>
              <a:rPr lang="en-US" altLang="ja-JP" dirty="0">
                <a:solidFill>
                  <a:schemeClr val="tx1"/>
                </a:solidFill>
              </a:rPr>
              <a:t>	</a:t>
            </a:r>
            <a:r>
              <a:rPr lang="ja-JP" altLang="en-US" dirty="0">
                <a:solidFill>
                  <a:schemeClr val="tx1"/>
                </a:solidFill>
              </a:rPr>
              <a:t>機能要求を満たしているかを確認するテストのほかに、</a:t>
            </a:r>
            <a:endParaRPr lang="en-US" altLang="ja-JP" dirty="0">
              <a:solidFill>
                <a:schemeClr val="tx1"/>
              </a:solidFill>
            </a:endParaRPr>
          </a:p>
          <a:p>
            <a:r>
              <a:rPr lang="ja-JP" altLang="en-US" dirty="0"/>
              <a:t>　　　　　　</a:t>
            </a:r>
            <a:r>
              <a:rPr lang="ja-JP" altLang="en-US" b="1" dirty="0">
                <a:solidFill>
                  <a:schemeClr val="tx1"/>
                </a:solidFill>
              </a:rPr>
              <a:t>性能テスト、負荷テスト、ユーザビリティテストなどの非機能要求</a:t>
            </a:r>
            <a:r>
              <a:rPr lang="ja-JP" altLang="en-US" b="1" dirty="0"/>
              <a:t>に対する</a:t>
            </a:r>
            <a:r>
              <a:rPr lang="ja-JP" altLang="en-US" b="1" dirty="0">
                <a:solidFill>
                  <a:schemeClr val="tx1"/>
                </a:solidFill>
              </a:rPr>
              <a:t>テスト</a:t>
            </a:r>
            <a:r>
              <a:rPr lang="ja-JP" altLang="en-US" dirty="0">
                <a:solidFill>
                  <a:schemeClr val="tx1"/>
                </a:solidFill>
              </a:rPr>
              <a:t>を実施する</a:t>
            </a:r>
            <a:endParaRPr lang="en-US" altLang="ja-JP" dirty="0">
              <a:solidFill>
                <a:schemeClr val="tx1"/>
              </a:solidFill>
            </a:endParaRPr>
          </a:p>
        </p:txBody>
      </p:sp>
      <p:sp>
        <p:nvSpPr>
          <p:cNvPr id="8" name="四角形: 角を丸くする 7">
            <a:extLst>
              <a:ext uri="{FF2B5EF4-FFF2-40B4-BE49-F238E27FC236}">
                <a16:creationId xmlns:a16="http://schemas.microsoft.com/office/drawing/2014/main" id="{518C5D16-315C-5DDE-1E03-A7108AC11B41}"/>
              </a:ext>
            </a:extLst>
          </p:cNvPr>
          <p:cNvSpPr/>
          <p:nvPr/>
        </p:nvSpPr>
        <p:spPr>
          <a:xfrm>
            <a:off x="767106" y="3282778"/>
            <a:ext cx="1368000" cy="50509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テスト計画</a:t>
            </a:r>
          </a:p>
        </p:txBody>
      </p:sp>
      <p:sp>
        <p:nvSpPr>
          <p:cNvPr id="41" name="四角形: 角を丸くする 40">
            <a:extLst>
              <a:ext uri="{FF2B5EF4-FFF2-40B4-BE49-F238E27FC236}">
                <a16:creationId xmlns:a16="http://schemas.microsoft.com/office/drawing/2014/main" id="{C88B144E-58E6-110A-5DB5-1293FFA061E0}"/>
              </a:ext>
            </a:extLst>
          </p:cNvPr>
          <p:cNvSpPr/>
          <p:nvPr/>
        </p:nvSpPr>
        <p:spPr>
          <a:xfrm>
            <a:off x="8003744" y="3282778"/>
            <a:ext cx="1368000" cy="50509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テスト実装</a:t>
            </a:r>
          </a:p>
        </p:txBody>
      </p:sp>
      <p:sp>
        <p:nvSpPr>
          <p:cNvPr id="42" name="四角形: 角を丸くする 41">
            <a:extLst>
              <a:ext uri="{FF2B5EF4-FFF2-40B4-BE49-F238E27FC236}">
                <a16:creationId xmlns:a16="http://schemas.microsoft.com/office/drawing/2014/main" id="{D4906F6E-3BE9-2671-F469-D38C7F46F726}"/>
              </a:ext>
            </a:extLst>
          </p:cNvPr>
          <p:cNvSpPr/>
          <p:nvPr/>
        </p:nvSpPr>
        <p:spPr>
          <a:xfrm>
            <a:off x="9998988" y="3282778"/>
            <a:ext cx="1368000" cy="50509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テスト実施</a:t>
            </a:r>
          </a:p>
        </p:txBody>
      </p:sp>
      <p:sp>
        <p:nvSpPr>
          <p:cNvPr id="43" name="矢印: 右 42">
            <a:extLst>
              <a:ext uri="{FF2B5EF4-FFF2-40B4-BE49-F238E27FC236}">
                <a16:creationId xmlns:a16="http://schemas.microsoft.com/office/drawing/2014/main" id="{B0586954-50AD-8ECE-1726-1A560852A6F7}"/>
              </a:ext>
            </a:extLst>
          </p:cNvPr>
          <p:cNvSpPr/>
          <p:nvPr/>
        </p:nvSpPr>
        <p:spPr>
          <a:xfrm>
            <a:off x="2231915" y="3282778"/>
            <a:ext cx="444699" cy="505090"/>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4" name="矢印: 右 43">
            <a:extLst>
              <a:ext uri="{FF2B5EF4-FFF2-40B4-BE49-F238E27FC236}">
                <a16:creationId xmlns:a16="http://schemas.microsoft.com/office/drawing/2014/main" id="{F5931687-E38F-A42E-3EE5-C9F2FE4B2A52}"/>
              </a:ext>
            </a:extLst>
          </p:cNvPr>
          <p:cNvSpPr/>
          <p:nvPr/>
        </p:nvSpPr>
        <p:spPr>
          <a:xfrm>
            <a:off x="7487567" y="3282778"/>
            <a:ext cx="444699" cy="505090"/>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5" name="矢印: 右 44">
            <a:extLst>
              <a:ext uri="{FF2B5EF4-FFF2-40B4-BE49-F238E27FC236}">
                <a16:creationId xmlns:a16="http://schemas.microsoft.com/office/drawing/2014/main" id="{10331ED2-6972-8B27-4EE9-6A049F3B5368}"/>
              </a:ext>
            </a:extLst>
          </p:cNvPr>
          <p:cNvSpPr/>
          <p:nvPr/>
        </p:nvSpPr>
        <p:spPr>
          <a:xfrm>
            <a:off x="9476660" y="3282778"/>
            <a:ext cx="444699" cy="505090"/>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9" name="四角形: 角を丸くする 18">
            <a:extLst>
              <a:ext uri="{FF2B5EF4-FFF2-40B4-BE49-F238E27FC236}">
                <a16:creationId xmlns:a16="http://schemas.microsoft.com/office/drawing/2014/main" id="{D0734E8F-143B-BB04-BFDA-B37E7315E4E1}"/>
              </a:ext>
            </a:extLst>
          </p:cNvPr>
          <p:cNvSpPr/>
          <p:nvPr/>
        </p:nvSpPr>
        <p:spPr>
          <a:xfrm>
            <a:off x="2751019" y="3498568"/>
            <a:ext cx="4598957" cy="1523671"/>
          </a:xfrm>
          <a:prstGeom prst="roundRect">
            <a:avLst>
              <a:gd name="adj" fmla="val 5626"/>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kumimoji="1" lang="ja-JP" altLang="en-US" sz="1400" dirty="0">
              <a:solidFill>
                <a:schemeClr val="tx1"/>
              </a:solidFill>
            </a:endParaRPr>
          </a:p>
        </p:txBody>
      </p:sp>
      <p:sp>
        <p:nvSpPr>
          <p:cNvPr id="40" name="四角形: 角を丸くする 39">
            <a:extLst>
              <a:ext uri="{FF2B5EF4-FFF2-40B4-BE49-F238E27FC236}">
                <a16:creationId xmlns:a16="http://schemas.microsoft.com/office/drawing/2014/main" id="{81A4236D-21AB-3A35-62FB-E93BAFADCD6F}"/>
              </a:ext>
            </a:extLst>
          </p:cNvPr>
          <p:cNvSpPr/>
          <p:nvPr/>
        </p:nvSpPr>
        <p:spPr>
          <a:xfrm>
            <a:off x="2751019" y="3282778"/>
            <a:ext cx="4598957" cy="50509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テスト設計</a:t>
            </a:r>
          </a:p>
        </p:txBody>
      </p:sp>
      <p:sp>
        <p:nvSpPr>
          <p:cNvPr id="70" name="四角形: 角を丸くする 69">
            <a:extLst>
              <a:ext uri="{FF2B5EF4-FFF2-40B4-BE49-F238E27FC236}">
                <a16:creationId xmlns:a16="http://schemas.microsoft.com/office/drawing/2014/main" id="{26F8ABE2-7B06-9654-ED25-B112E0CC52BE}"/>
              </a:ext>
            </a:extLst>
          </p:cNvPr>
          <p:cNvSpPr/>
          <p:nvPr/>
        </p:nvSpPr>
        <p:spPr>
          <a:xfrm>
            <a:off x="1392750" y="5479771"/>
            <a:ext cx="1982915" cy="46800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bg1"/>
                </a:solidFill>
              </a:rPr>
              <a:t>システム利用手順書作成</a:t>
            </a:r>
            <a:endParaRPr kumimoji="1" lang="ja-JP" altLang="en-US" sz="1400" dirty="0">
              <a:solidFill>
                <a:schemeClr val="bg1"/>
              </a:solidFill>
            </a:endParaRPr>
          </a:p>
        </p:txBody>
      </p:sp>
      <p:sp>
        <p:nvSpPr>
          <p:cNvPr id="72" name="テキスト ボックス 71">
            <a:extLst>
              <a:ext uri="{FF2B5EF4-FFF2-40B4-BE49-F238E27FC236}">
                <a16:creationId xmlns:a16="http://schemas.microsoft.com/office/drawing/2014/main" id="{87204BF3-0061-6182-E645-24EC7BFFEEBD}"/>
              </a:ext>
            </a:extLst>
          </p:cNvPr>
          <p:cNvSpPr txBox="1"/>
          <p:nvPr/>
        </p:nvSpPr>
        <p:spPr>
          <a:xfrm>
            <a:off x="3375666" y="5479771"/>
            <a:ext cx="4961022" cy="468000"/>
          </a:xfrm>
          <a:prstGeom prst="rect">
            <a:avLst/>
          </a:prstGeom>
          <a:noFill/>
        </p:spPr>
        <p:txBody>
          <a:bodyPr wrap="square" anchor="ctr">
            <a:spAutoFit/>
          </a:bodyPr>
          <a:lstStyle/>
          <a:p>
            <a:r>
              <a:rPr lang="ja-JP" altLang="en-US" sz="1600" b="0" i="0" dirty="0">
                <a:effectLst/>
                <a:latin typeface="Helvetica Neue"/>
              </a:rPr>
              <a:t>ユーザが</a:t>
            </a:r>
            <a:r>
              <a:rPr lang="ja-JP" altLang="en-US" b="1" i="0" dirty="0">
                <a:effectLst/>
                <a:latin typeface="Helvetica Neue"/>
              </a:rPr>
              <a:t>システム利用時に参照する操作手順</a:t>
            </a:r>
            <a:r>
              <a:rPr lang="ja-JP" altLang="en-US" sz="1600" i="0" dirty="0">
                <a:effectLst/>
                <a:latin typeface="Helvetica Neue"/>
              </a:rPr>
              <a:t>の作成</a:t>
            </a:r>
            <a:endParaRPr lang="en-US" altLang="ja-JP" sz="1600" i="0" dirty="0">
              <a:effectLst/>
              <a:latin typeface="Helvetica Neue"/>
            </a:endParaRPr>
          </a:p>
        </p:txBody>
      </p:sp>
      <p:sp>
        <p:nvSpPr>
          <p:cNvPr id="74" name="四角形: 角を丸くする 73">
            <a:extLst>
              <a:ext uri="{FF2B5EF4-FFF2-40B4-BE49-F238E27FC236}">
                <a16:creationId xmlns:a16="http://schemas.microsoft.com/office/drawing/2014/main" id="{F6F95A86-1345-111F-8273-9DA5970CDB9F}"/>
              </a:ext>
            </a:extLst>
          </p:cNvPr>
          <p:cNvSpPr/>
          <p:nvPr/>
        </p:nvSpPr>
        <p:spPr>
          <a:xfrm>
            <a:off x="1392751" y="5479771"/>
            <a:ext cx="6847683" cy="468000"/>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1" name="四角形: 角を丸くする 70">
            <a:extLst>
              <a:ext uri="{FF2B5EF4-FFF2-40B4-BE49-F238E27FC236}">
                <a16:creationId xmlns:a16="http://schemas.microsoft.com/office/drawing/2014/main" id="{12FBA8DF-773A-5854-7144-99F98B91921C}"/>
              </a:ext>
            </a:extLst>
          </p:cNvPr>
          <p:cNvSpPr/>
          <p:nvPr/>
        </p:nvSpPr>
        <p:spPr>
          <a:xfrm>
            <a:off x="1392749" y="6000970"/>
            <a:ext cx="1982915" cy="468000"/>
          </a:xfrm>
          <a:prstGeom prst="roundRect">
            <a:avLst/>
          </a:prstGeom>
          <a:solidFill>
            <a:schemeClr val="tx2"/>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bg1"/>
                </a:solidFill>
              </a:rPr>
              <a:t>業務運用手順書作成</a:t>
            </a:r>
          </a:p>
        </p:txBody>
      </p:sp>
      <p:sp>
        <p:nvSpPr>
          <p:cNvPr id="73" name="テキスト ボックス 72">
            <a:extLst>
              <a:ext uri="{FF2B5EF4-FFF2-40B4-BE49-F238E27FC236}">
                <a16:creationId xmlns:a16="http://schemas.microsoft.com/office/drawing/2014/main" id="{38722F31-2022-887B-1F0B-C3CBA173EE50}"/>
              </a:ext>
            </a:extLst>
          </p:cNvPr>
          <p:cNvSpPr txBox="1"/>
          <p:nvPr/>
        </p:nvSpPr>
        <p:spPr>
          <a:xfrm>
            <a:off x="3375666" y="6000970"/>
            <a:ext cx="4733622" cy="468000"/>
          </a:xfrm>
          <a:prstGeom prst="rect">
            <a:avLst/>
          </a:prstGeom>
          <a:noFill/>
        </p:spPr>
        <p:txBody>
          <a:bodyPr wrap="square" anchor="ctr">
            <a:spAutoFit/>
          </a:bodyPr>
          <a:lstStyle/>
          <a:p>
            <a:r>
              <a:rPr lang="ja-JP" altLang="en-US" sz="1600" b="0" i="0" dirty="0">
                <a:effectLst/>
                <a:latin typeface="Helvetica Neue"/>
              </a:rPr>
              <a:t>ユーザが</a:t>
            </a:r>
            <a:r>
              <a:rPr lang="ja-JP" altLang="en-US" b="1" i="0" dirty="0">
                <a:effectLst/>
                <a:latin typeface="Helvetica Neue"/>
              </a:rPr>
              <a:t>業務を運用する手順</a:t>
            </a:r>
            <a:r>
              <a:rPr lang="ja-JP" altLang="en-US" sz="1600" b="0" i="0" dirty="0">
                <a:effectLst/>
                <a:latin typeface="Helvetica Neue"/>
              </a:rPr>
              <a:t>の作成</a:t>
            </a:r>
            <a:endParaRPr lang="ja-JP" altLang="en-US" sz="1600" dirty="0"/>
          </a:p>
        </p:txBody>
      </p:sp>
      <p:sp>
        <p:nvSpPr>
          <p:cNvPr id="75" name="四角形: 角を丸くする 74">
            <a:extLst>
              <a:ext uri="{FF2B5EF4-FFF2-40B4-BE49-F238E27FC236}">
                <a16:creationId xmlns:a16="http://schemas.microsoft.com/office/drawing/2014/main" id="{8AD90528-01E6-ABE4-9472-3D23ABD39FBF}"/>
              </a:ext>
            </a:extLst>
          </p:cNvPr>
          <p:cNvSpPr/>
          <p:nvPr/>
        </p:nvSpPr>
        <p:spPr>
          <a:xfrm>
            <a:off x="1392750" y="6000970"/>
            <a:ext cx="6847684" cy="468000"/>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103" name="グループ化 102">
            <a:extLst>
              <a:ext uri="{FF2B5EF4-FFF2-40B4-BE49-F238E27FC236}">
                <a16:creationId xmlns:a16="http://schemas.microsoft.com/office/drawing/2014/main" id="{2A4CEA87-9DA2-FE31-B9BA-5AB607DBE2B0}"/>
              </a:ext>
            </a:extLst>
          </p:cNvPr>
          <p:cNvGrpSpPr/>
          <p:nvPr/>
        </p:nvGrpSpPr>
        <p:grpSpPr>
          <a:xfrm>
            <a:off x="2952205" y="3858556"/>
            <a:ext cx="4284345" cy="1054342"/>
            <a:chOff x="3373316" y="3846894"/>
            <a:chExt cx="4284345" cy="1054342"/>
          </a:xfrm>
        </p:grpSpPr>
        <p:sp>
          <p:nvSpPr>
            <p:cNvPr id="21" name="正方形/長方形 20">
              <a:extLst>
                <a:ext uri="{FF2B5EF4-FFF2-40B4-BE49-F238E27FC236}">
                  <a16:creationId xmlns:a16="http://schemas.microsoft.com/office/drawing/2014/main" id="{D1B7F3EE-2A27-73E2-5FF1-B7A121FB27B6}"/>
                </a:ext>
              </a:extLst>
            </p:cNvPr>
            <p:cNvSpPr/>
            <p:nvPr/>
          </p:nvSpPr>
          <p:spPr>
            <a:xfrm>
              <a:off x="3373316" y="4452369"/>
              <a:ext cx="864000" cy="448867"/>
            </a:xfrm>
            <a:prstGeom prst="rect">
              <a:avLst/>
            </a:prstGeom>
            <a:solidFill>
              <a:schemeClr val="accent2">
                <a:lumMod val="20000"/>
                <a:lumOff val="80000"/>
              </a:schemeClr>
            </a:solid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テスト観点</a:t>
              </a:r>
            </a:p>
          </p:txBody>
        </p:sp>
        <p:sp>
          <p:nvSpPr>
            <p:cNvPr id="22" name="正方形/長方形 21">
              <a:extLst>
                <a:ext uri="{FF2B5EF4-FFF2-40B4-BE49-F238E27FC236}">
                  <a16:creationId xmlns:a16="http://schemas.microsoft.com/office/drawing/2014/main" id="{1F092ADF-80FA-E6A6-8317-6AC5AA683A76}"/>
                </a:ext>
              </a:extLst>
            </p:cNvPr>
            <p:cNvSpPr/>
            <p:nvPr/>
          </p:nvSpPr>
          <p:spPr>
            <a:xfrm>
              <a:off x="5083489" y="4452369"/>
              <a:ext cx="864000"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テスト項目</a:t>
              </a:r>
            </a:p>
          </p:txBody>
        </p:sp>
        <p:sp>
          <p:nvSpPr>
            <p:cNvPr id="23" name="正方形/長方形 22">
              <a:extLst>
                <a:ext uri="{FF2B5EF4-FFF2-40B4-BE49-F238E27FC236}">
                  <a16:creationId xmlns:a16="http://schemas.microsoft.com/office/drawing/2014/main" id="{763A6DCF-98ED-0722-EFD3-E4D9EDA33482}"/>
                </a:ext>
              </a:extLst>
            </p:cNvPr>
            <p:cNvSpPr/>
            <p:nvPr/>
          </p:nvSpPr>
          <p:spPr>
            <a:xfrm>
              <a:off x="6793661" y="4452369"/>
              <a:ext cx="864000" cy="448867"/>
            </a:xfrm>
            <a:prstGeom prst="rect">
              <a:avLst/>
            </a:prstGeom>
            <a:solidFill>
              <a:schemeClr val="accent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テストケース</a:t>
              </a:r>
            </a:p>
          </p:txBody>
        </p:sp>
        <p:cxnSp>
          <p:nvCxnSpPr>
            <p:cNvPr id="24" name="直線矢印コネクタ 23">
              <a:extLst>
                <a:ext uri="{FF2B5EF4-FFF2-40B4-BE49-F238E27FC236}">
                  <a16:creationId xmlns:a16="http://schemas.microsoft.com/office/drawing/2014/main" id="{FB07500D-83EE-3E95-F328-294C9E24478B}"/>
                </a:ext>
              </a:extLst>
            </p:cNvPr>
            <p:cNvCxnSpPr>
              <a:cxnSpLocks/>
              <a:stCxn id="21" idx="3"/>
              <a:endCxn id="22" idx="1"/>
            </p:cNvCxnSpPr>
            <p:nvPr/>
          </p:nvCxnSpPr>
          <p:spPr>
            <a:xfrm>
              <a:off x="4237316" y="4676803"/>
              <a:ext cx="846173"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2AD3C6E0-72CF-276B-9D97-1A63222E7796}"/>
                </a:ext>
              </a:extLst>
            </p:cNvPr>
            <p:cNvCxnSpPr>
              <a:cxnSpLocks/>
              <a:stCxn id="22" idx="3"/>
              <a:endCxn id="23" idx="1"/>
            </p:cNvCxnSpPr>
            <p:nvPr/>
          </p:nvCxnSpPr>
          <p:spPr>
            <a:xfrm>
              <a:off x="5947489" y="4676803"/>
              <a:ext cx="846172"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86" name="グループ化 85">
              <a:extLst>
                <a:ext uri="{FF2B5EF4-FFF2-40B4-BE49-F238E27FC236}">
                  <a16:creationId xmlns:a16="http://schemas.microsoft.com/office/drawing/2014/main" id="{4C3CBC20-A823-C7DB-2E8E-6DDFA5985423}"/>
                </a:ext>
              </a:extLst>
            </p:cNvPr>
            <p:cNvGrpSpPr/>
            <p:nvPr/>
          </p:nvGrpSpPr>
          <p:grpSpPr>
            <a:xfrm>
              <a:off x="3761010" y="3846894"/>
              <a:ext cx="1778086" cy="504000"/>
              <a:chOff x="5484042" y="1581286"/>
              <a:chExt cx="1778086" cy="504000"/>
            </a:xfrm>
          </p:grpSpPr>
          <p:sp>
            <p:nvSpPr>
              <p:cNvPr id="87" name="正方形/長方形 86">
                <a:extLst>
                  <a:ext uri="{FF2B5EF4-FFF2-40B4-BE49-F238E27FC236}">
                    <a16:creationId xmlns:a16="http://schemas.microsoft.com/office/drawing/2014/main" id="{44E4215C-82E4-5C54-45E6-B64928DD8251}"/>
                  </a:ext>
                </a:extLst>
              </p:cNvPr>
              <p:cNvSpPr/>
              <p:nvPr/>
            </p:nvSpPr>
            <p:spPr>
              <a:xfrm>
                <a:off x="5484042" y="1581286"/>
                <a:ext cx="1778086" cy="504000"/>
              </a:xfrm>
              <a:prstGeom prst="rect">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nvGrpSpPr>
              <p:cNvPr id="88" name="グループ化 87">
                <a:extLst>
                  <a:ext uri="{FF2B5EF4-FFF2-40B4-BE49-F238E27FC236}">
                    <a16:creationId xmlns:a16="http://schemas.microsoft.com/office/drawing/2014/main" id="{DD55F085-B1FA-80FD-883F-5E78C8F86150}"/>
                  </a:ext>
                </a:extLst>
              </p:cNvPr>
              <p:cNvGrpSpPr/>
              <p:nvPr/>
            </p:nvGrpSpPr>
            <p:grpSpPr>
              <a:xfrm>
                <a:off x="5486457" y="1628854"/>
                <a:ext cx="1775671" cy="406633"/>
                <a:chOff x="7425037" y="6199386"/>
                <a:chExt cx="1775671" cy="406633"/>
              </a:xfrm>
            </p:grpSpPr>
            <p:pic>
              <p:nvPicPr>
                <p:cNvPr id="89" name="グラフィックス 88" descr="ドキュメント 枠線">
                  <a:extLst>
                    <a:ext uri="{FF2B5EF4-FFF2-40B4-BE49-F238E27FC236}">
                      <a16:creationId xmlns:a16="http://schemas.microsoft.com/office/drawing/2014/main" id="{09A89E3B-2EC9-BC92-B892-8AE78E7E5E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5037" y="6210019"/>
                  <a:ext cx="396000" cy="396000"/>
                </a:xfrm>
                <a:prstGeom prst="rect">
                  <a:avLst/>
                </a:prstGeom>
              </p:spPr>
            </p:pic>
            <p:sp>
              <p:nvSpPr>
                <p:cNvPr id="90" name="テキスト ボックス 89">
                  <a:extLst>
                    <a:ext uri="{FF2B5EF4-FFF2-40B4-BE49-F238E27FC236}">
                      <a16:creationId xmlns:a16="http://schemas.microsoft.com/office/drawing/2014/main" id="{AD428D4A-6F9F-E0F9-F836-E068B8B93E7D}"/>
                    </a:ext>
                  </a:extLst>
                </p:cNvPr>
                <p:cNvSpPr txBox="1"/>
                <p:nvPr/>
              </p:nvSpPr>
              <p:spPr>
                <a:xfrm>
                  <a:off x="7772678" y="6199386"/>
                  <a:ext cx="1428030" cy="398274"/>
                </a:xfrm>
                <a:prstGeom prst="rect">
                  <a:avLst/>
                </a:prstGeom>
                <a:noFill/>
              </p:spPr>
              <p:txBody>
                <a:bodyPr wrap="square" lIns="0" rIns="0" rtlCol="0" anchor="ctr">
                  <a:noAutofit/>
                </a:bodyPr>
                <a:lstStyle/>
                <a:p>
                  <a:pPr defTabSz="288000"/>
                  <a:r>
                    <a:rPr lang="ja-JP" altLang="en-US" sz="1200" dirty="0">
                      <a:latin typeface="+mn-ea"/>
                    </a:rPr>
                    <a:t>・システム要求検討書</a:t>
                  </a:r>
                  <a:endParaRPr lang="en-US" altLang="ja-JP" sz="1200" dirty="0">
                    <a:latin typeface="+mn-ea"/>
                  </a:endParaRPr>
                </a:p>
                <a:p>
                  <a:pPr defTabSz="288000"/>
                  <a:r>
                    <a:rPr lang="ja-JP" altLang="en-US" sz="1200" dirty="0">
                      <a:latin typeface="+mn-ea"/>
                    </a:rPr>
                    <a:t>・非機能要求検討書</a:t>
                  </a:r>
                  <a:endParaRPr lang="en-US" altLang="ja-JP" sz="1200" dirty="0">
                    <a:latin typeface="+mn-ea"/>
                  </a:endParaRPr>
                </a:p>
              </p:txBody>
            </p:sp>
          </p:grpSp>
        </p:grpSp>
        <p:cxnSp>
          <p:nvCxnSpPr>
            <p:cNvPr id="95" name="直線矢印コネクタ 94">
              <a:extLst>
                <a:ext uri="{FF2B5EF4-FFF2-40B4-BE49-F238E27FC236}">
                  <a16:creationId xmlns:a16="http://schemas.microsoft.com/office/drawing/2014/main" id="{F649219F-DDFB-7869-8491-F82927EAEACE}"/>
                </a:ext>
              </a:extLst>
            </p:cNvPr>
            <p:cNvCxnSpPr>
              <a:cxnSpLocks/>
            </p:cNvCxnSpPr>
            <p:nvPr/>
          </p:nvCxnSpPr>
          <p:spPr>
            <a:xfrm flipH="1">
              <a:off x="4650053" y="4352803"/>
              <a:ext cx="0" cy="32400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cxnSp>
        <p:nvCxnSpPr>
          <p:cNvPr id="10" name="直線矢印コネクタ 9">
            <a:extLst>
              <a:ext uri="{FF2B5EF4-FFF2-40B4-BE49-F238E27FC236}">
                <a16:creationId xmlns:a16="http://schemas.microsoft.com/office/drawing/2014/main" id="{E82FE617-19BE-D74E-4510-02D8934F570A}"/>
              </a:ext>
            </a:extLst>
          </p:cNvPr>
          <p:cNvCxnSpPr>
            <a:cxnSpLocks/>
          </p:cNvCxnSpPr>
          <p:nvPr/>
        </p:nvCxnSpPr>
        <p:spPr>
          <a:xfrm flipV="1">
            <a:off x="4168782" y="4764665"/>
            <a:ext cx="0" cy="715106"/>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66505589-51D9-BB4C-5D64-1F07EA26297F}"/>
              </a:ext>
            </a:extLst>
          </p:cNvPr>
          <p:cNvSpPr txBox="1"/>
          <p:nvPr/>
        </p:nvSpPr>
        <p:spPr>
          <a:xfrm>
            <a:off x="4191656" y="5093468"/>
            <a:ext cx="2603266" cy="398274"/>
          </a:xfrm>
          <a:prstGeom prst="rect">
            <a:avLst/>
          </a:prstGeom>
          <a:noFill/>
        </p:spPr>
        <p:txBody>
          <a:bodyPr wrap="square" lIns="0" rIns="0" rtlCol="0" anchor="ctr">
            <a:noAutofit/>
          </a:bodyPr>
          <a:lstStyle/>
          <a:p>
            <a:pPr defTabSz="288000"/>
            <a:r>
              <a:rPr lang="ja-JP" altLang="en-US" sz="1200" dirty="0">
                <a:latin typeface="+mn-ea"/>
              </a:rPr>
              <a:t>・システム利用手順書</a:t>
            </a:r>
            <a:endParaRPr lang="en-US" altLang="ja-JP" sz="1200" dirty="0">
              <a:latin typeface="+mn-ea"/>
            </a:endParaRPr>
          </a:p>
          <a:p>
            <a:pPr defTabSz="288000"/>
            <a:r>
              <a:rPr lang="ja-JP" altLang="en-US" sz="1200" dirty="0">
                <a:latin typeface="+mn-ea"/>
              </a:rPr>
              <a:t>・業務運用手順書</a:t>
            </a:r>
            <a:endParaRPr lang="en-US" altLang="ja-JP" sz="1200" dirty="0">
              <a:latin typeface="+mn-ea"/>
            </a:endParaRPr>
          </a:p>
        </p:txBody>
      </p:sp>
    </p:spTree>
    <p:extLst>
      <p:ext uri="{BB962C8B-B14F-4D97-AF65-F5344CB8AC3E}">
        <p14:creationId xmlns:p14="http://schemas.microsoft.com/office/powerpoint/2010/main" val="35790170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5A345-976A-7DA0-E215-42494269E1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9BD38A-0A03-5BA0-E566-DF0B243B628C}"/>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受入テスト </a:t>
            </a:r>
            <a:r>
              <a:rPr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300CBF4F-6466-1DC5-0112-A454F6CA6337}"/>
              </a:ext>
            </a:extLst>
          </p:cNvPr>
          <p:cNvSpPr>
            <a:spLocks noGrp="1"/>
          </p:cNvSpPr>
          <p:nvPr>
            <p:ph sz="quarter" idx="4294967295"/>
          </p:nvPr>
        </p:nvSpPr>
        <p:spPr>
          <a:xfrm>
            <a:off x="481490" y="978298"/>
            <a:ext cx="11448000" cy="1664786"/>
          </a:xfrm>
        </p:spPr>
        <p:txBody>
          <a:bodyPr/>
          <a:lstStyle/>
          <a:p>
            <a:r>
              <a:rPr lang="ja-JP" altLang="en-US" u="sng" dirty="0">
                <a:solidFill>
                  <a:schemeClr val="tx1"/>
                </a:solidFill>
              </a:rPr>
              <a:t>受入テスト（</a:t>
            </a:r>
            <a:r>
              <a:rPr lang="en-US" altLang="ja-JP" u="sng" dirty="0">
                <a:solidFill>
                  <a:schemeClr val="tx1"/>
                </a:solidFill>
              </a:rPr>
              <a:t>Acceptance Test</a:t>
            </a:r>
            <a:r>
              <a:rPr lang="ja-JP" altLang="en-US" u="sng" dirty="0">
                <a:solidFill>
                  <a:schemeClr val="tx1"/>
                </a:solidFill>
              </a:rPr>
              <a:t>）フェーズ</a:t>
            </a:r>
            <a:endParaRPr lang="en-US" altLang="ja-JP" u="sng" dirty="0">
              <a:solidFill>
                <a:schemeClr val="tx1"/>
              </a:solidFill>
            </a:endParaRPr>
          </a:p>
          <a:p>
            <a:r>
              <a:rPr lang="ja-JP" altLang="en-US" b="0" i="0" dirty="0">
                <a:solidFill>
                  <a:schemeClr val="tx1"/>
                </a:solidFill>
                <a:effectLst/>
              </a:rPr>
              <a:t>システム移行準備とシステムテストが完了したシステムに対して、</a:t>
            </a:r>
            <a:endParaRPr lang="en-US" altLang="ja-JP" b="0" i="0" dirty="0">
              <a:solidFill>
                <a:schemeClr val="tx1"/>
              </a:solidFill>
              <a:effectLst/>
            </a:endParaRPr>
          </a:p>
          <a:p>
            <a:r>
              <a:rPr lang="ja-JP" altLang="en-US" b="0" i="0" dirty="0">
                <a:solidFill>
                  <a:schemeClr val="tx1"/>
                </a:solidFill>
                <a:effectLst/>
              </a:rPr>
              <a:t>顧客と最終確認を行い、本番移行を実施するフェーズ</a:t>
            </a:r>
            <a:endParaRPr lang="en-US" altLang="ja-JP" b="0" i="0" dirty="0">
              <a:solidFill>
                <a:schemeClr val="tx1"/>
              </a:solidFill>
              <a:effectLst/>
            </a:endParaRPr>
          </a:p>
        </p:txBody>
      </p:sp>
      <p:grpSp>
        <p:nvGrpSpPr>
          <p:cNvPr id="5" name="グループ化 4">
            <a:extLst>
              <a:ext uri="{FF2B5EF4-FFF2-40B4-BE49-F238E27FC236}">
                <a16:creationId xmlns:a16="http://schemas.microsoft.com/office/drawing/2014/main" id="{FB6D2CAD-9F58-74D7-E9A1-0AD0DC14E2E3}"/>
              </a:ext>
            </a:extLst>
          </p:cNvPr>
          <p:cNvGrpSpPr/>
          <p:nvPr/>
        </p:nvGrpSpPr>
        <p:grpSpPr>
          <a:xfrm>
            <a:off x="8633867" y="152748"/>
            <a:ext cx="3529416" cy="1890892"/>
            <a:chOff x="8633867" y="152748"/>
            <a:chExt cx="3529416" cy="1890892"/>
          </a:xfrm>
        </p:grpSpPr>
        <p:pic>
          <p:nvPicPr>
            <p:cNvPr id="11" name="図 10" descr="ダイアグラム&#10;&#10;AI によって生成されたコンテンツは間違っている可能性があります。">
              <a:extLst>
                <a:ext uri="{FF2B5EF4-FFF2-40B4-BE49-F238E27FC236}">
                  <a16:creationId xmlns:a16="http://schemas.microsoft.com/office/drawing/2014/main" id="{22AD7425-C343-900E-26B0-AA8E6A33A2F7}"/>
                </a:ext>
              </a:extLst>
            </p:cNvPr>
            <p:cNvPicPr>
              <a:picLocks noChangeAspect="1"/>
            </p:cNvPicPr>
            <p:nvPr/>
          </p:nvPicPr>
          <p:blipFill>
            <a:blip r:embed="rId2"/>
            <a:stretch>
              <a:fillRect/>
            </a:stretch>
          </p:blipFill>
          <p:spPr>
            <a:xfrm>
              <a:off x="8633867" y="152748"/>
              <a:ext cx="3295623" cy="1890892"/>
            </a:xfrm>
            <a:prstGeom prst="rect">
              <a:avLst/>
            </a:prstGeom>
            <a:ln>
              <a:solidFill>
                <a:schemeClr val="tx1"/>
              </a:solidFill>
            </a:ln>
          </p:spPr>
        </p:pic>
        <p:sp>
          <p:nvSpPr>
            <p:cNvPr id="12" name="正方形/長方形 11">
              <a:extLst>
                <a:ext uri="{FF2B5EF4-FFF2-40B4-BE49-F238E27FC236}">
                  <a16:creationId xmlns:a16="http://schemas.microsoft.com/office/drawing/2014/main" id="{03AC77D5-5EDA-D0D8-F021-396503EE0291}"/>
                </a:ext>
              </a:extLst>
            </p:cNvPr>
            <p:cNvSpPr/>
            <p:nvPr/>
          </p:nvSpPr>
          <p:spPr>
            <a:xfrm>
              <a:off x="10870315" y="260549"/>
              <a:ext cx="900000" cy="396000"/>
            </a:xfrm>
            <a:prstGeom prst="rect">
              <a:avLst/>
            </a:prstGeom>
            <a:noFill/>
            <a:ln w="3810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2000" b="1" dirty="0">
                <a:solidFill>
                  <a:schemeClr val="bg1"/>
                </a:solidFill>
              </a:endParaRPr>
            </a:p>
          </p:txBody>
        </p:sp>
        <p:sp>
          <p:nvSpPr>
            <p:cNvPr id="33" name="矢印: 下 32">
              <a:extLst>
                <a:ext uri="{FF2B5EF4-FFF2-40B4-BE49-F238E27FC236}">
                  <a16:creationId xmlns:a16="http://schemas.microsoft.com/office/drawing/2014/main" id="{05642730-4DE4-8E38-F3EF-01ADD28B1749}"/>
                </a:ext>
              </a:extLst>
            </p:cNvPr>
            <p:cNvSpPr/>
            <p:nvPr/>
          </p:nvSpPr>
          <p:spPr>
            <a:xfrm rot="16200000" flipV="1">
              <a:off x="11875941" y="286261"/>
              <a:ext cx="210790" cy="363894"/>
            </a:xfrm>
            <a:prstGeom prst="downArrow">
              <a:avLst/>
            </a:prstGeom>
            <a:solidFill>
              <a:srgbClr val="92D05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正方形/長方形 3">
              <a:extLst>
                <a:ext uri="{FF2B5EF4-FFF2-40B4-BE49-F238E27FC236}">
                  <a16:creationId xmlns:a16="http://schemas.microsoft.com/office/drawing/2014/main" id="{40A947E0-13B8-88CF-7BC5-9959FB2E50EE}"/>
                </a:ext>
              </a:extLst>
            </p:cNvPr>
            <p:cNvSpPr/>
            <p:nvPr/>
          </p:nvSpPr>
          <p:spPr>
            <a:xfrm>
              <a:off x="8706399" y="227956"/>
              <a:ext cx="1560933" cy="1740475"/>
            </a:xfrm>
            <a:prstGeom prst="rect">
              <a:avLst/>
            </a:prstGeom>
            <a:solidFill>
              <a:srgbClr val="D9D9D9">
                <a:alpha val="6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grpSp>
      <p:sp>
        <p:nvSpPr>
          <p:cNvPr id="6" name="テキスト ボックス 5">
            <a:extLst>
              <a:ext uri="{FF2B5EF4-FFF2-40B4-BE49-F238E27FC236}">
                <a16:creationId xmlns:a16="http://schemas.microsoft.com/office/drawing/2014/main" id="{112ADFDB-7A22-34FE-048E-09252891D796}"/>
              </a:ext>
            </a:extLst>
          </p:cNvPr>
          <p:cNvSpPr txBox="1"/>
          <p:nvPr/>
        </p:nvSpPr>
        <p:spPr>
          <a:xfrm>
            <a:off x="370800" y="2040287"/>
            <a:ext cx="11409040" cy="3693319"/>
          </a:xfrm>
          <a:prstGeom prst="rect">
            <a:avLst/>
          </a:prstGeom>
          <a:noFill/>
        </p:spPr>
        <p:txBody>
          <a:bodyPr wrap="square">
            <a:spAutoFit/>
          </a:bodyPr>
          <a:lstStyle/>
          <a:p>
            <a:r>
              <a:rPr lang="ja-JP" altLang="en-US" dirty="0">
                <a:latin typeface="+mn-ea"/>
              </a:rPr>
              <a:t>■主な作業</a:t>
            </a:r>
            <a:endParaRPr lang="en-US" altLang="ja-JP" dirty="0">
              <a:latin typeface="+mn-ea"/>
            </a:endParaRPr>
          </a:p>
          <a:p>
            <a:r>
              <a:rPr lang="ja-JP" altLang="en-US" dirty="0">
                <a:latin typeface="+mn-ea"/>
              </a:rPr>
              <a:t>　　・移行計画と設計</a:t>
            </a:r>
            <a:endParaRPr lang="en-US" altLang="ja-JP" dirty="0">
              <a:latin typeface="+mn-ea"/>
            </a:endParaRPr>
          </a:p>
          <a:p>
            <a:r>
              <a:rPr lang="ja-JP" altLang="en-US" dirty="0">
                <a:latin typeface="+mn-ea"/>
              </a:rPr>
              <a:t>　　　　　移行における必要作業を洗い出し、手作業を含めた全体の作業について設計する。</a:t>
            </a:r>
            <a:endParaRPr lang="en-US" altLang="ja-JP" dirty="0">
              <a:latin typeface="+mn-ea"/>
            </a:endParaRPr>
          </a:p>
          <a:p>
            <a:r>
              <a:rPr lang="ja-JP" altLang="en-US" dirty="0">
                <a:latin typeface="+mn-ea"/>
              </a:rPr>
              <a:t>　　　　　　　例）作業概算時間の検討、異常時対応の検討、など</a:t>
            </a:r>
            <a:endParaRPr lang="en-US" altLang="ja-JP" dirty="0">
              <a:latin typeface="+mn-ea"/>
            </a:endParaRPr>
          </a:p>
          <a:p>
            <a:endParaRPr lang="en-US" altLang="ja-JP" dirty="0">
              <a:latin typeface="+mn-ea"/>
            </a:endParaRPr>
          </a:p>
          <a:p>
            <a:r>
              <a:rPr lang="ja-JP" altLang="en-US" dirty="0">
                <a:latin typeface="+mn-ea"/>
              </a:rPr>
              <a:t>　　・移行支援ツール等の開発</a:t>
            </a:r>
            <a:endParaRPr lang="en-US" altLang="ja-JP" dirty="0">
              <a:latin typeface="+mn-ea"/>
            </a:endParaRPr>
          </a:p>
          <a:p>
            <a:r>
              <a:rPr lang="ja-JP" altLang="en-US" dirty="0">
                <a:latin typeface="+mn-ea"/>
              </a:rPr>
              <a:t>　　　　　例）データ移行ツール、監視とログ管理用のツール、など</a:t>
            </a:r>
            <a:endParaRPr lang="en-US" altLang="ja-JP" dirty="0">
              <a:latin typeface="+mn-ea"/>
            </a:endParaRPr>
          </a:p>
          <a:p>
            <a:endParaRPr lang="en-US" altLang="ja-JP" dirty="0">
              <a:latin typeface="+mn-ea"/>
            </a:endParaRPr>
          </a:p>
          <a:p>
            <a:r>
              <a:rPr lang="ja-JP" altLang="en-US" dirty="0">
                <a:latin typeface="+mn-ea"/>
              </a:rPr>
              <a:t>　　・移行テストの計画、設計、実施</a:t>
            </a:r>
            <a:endParaRPr lang="en-US" altLang="ja-JP" dirty="0">
              <a:latin typeface="+mn-ea"/>
            </a:endParaRPr>
          </a:p>
          <a:p>
            <a:r>
              <a:rPr lang="ja-JP" altLang="en-US" dirty="0">
                <a:latin typeface="+mn-ea"/>
              </a:rPr>
              <a:t>　　・受入テストの計画、設計、実施</a:t>
            </a:r>
            <a:endParaRPr lang="en-US" altLang="ja-JP" dirty="0">
              <a:latin typeface="+mn-ea"/>
            </a:endParaRPr>
          </a:p>
          <a:p>
            <a:r>
              <a:rPr lang="ja-JP" altLang="en-US" dirty="0">
                <a:latin typeface="+mn-ea"/>
              </a:rPr>
              <a:t>　　　　　</a:t>
            </a:r>
            <a:r>
              <a:rPr lang="ja-JP" altLang="en-US" sz="2000" b="1" dirty="0">
                <a:latin typeface="Helvetica Neue"/>
              </a:rPr>
              <a:t>顧客の</a:t>
            </a:r>
            <a:r>
              <a:rPr lang="ja-JP" altLang="en-US" sz="2000" b="1" i="0" dirty="0">
                <a:effectLst/>
                <a:latin typeface="Helvetica Neue"/>
              </a:rPr>
              <a:t>要求どおりに</a:t>
            </a:r>
            <a:r>
              <a:rPr lang="ja-JP" altLang="en-US" b="0" i="0" dirty="0">
                <a:effectLst/>
                <a:latin typeface="Helvetica Neue"/>
              </a:rPr>
              <a:t>構築されているかを、</a:t>
            </a:r>
            <a:r>
              <a:rPr lang="ja-JP" altLang="en-US" i="0" dirty="0">
                <a:effectLst/>
                <a:latin typeface="Helvetica Neue"/>
              </a:rPr>
              <a:t>受入側（顧客）に確認していただくテスト</a:t>
            </a:r>
            <a:endParaRPr lang="en-US" altLang="ja-JP" i="0" dirty="0">
              <a:effectLst/>
              <a:latin typeface="Helvetica Neue"/>
            </a:endParaRPr>
          </a:p>
          <a:p>
            <a:r>
              <a:rPr lang="ja-JP" altLang="en-US" dirty="0">
                <a:latin typeface="+mn-ea"/>
              </a:rPr>
              <a:t>　　</a:t>
            </a:r>
            <a:r>
              <a:rPr lang="ja-JP" altLang="en-US" sz="1800" b="0" i="0" dirty="0">
                <a:effectLst/>
                <a:latin typeface="+mn-ea"/>
              </a:rPr>
              <a:t>・移行リハーサル実施</a:t>
            </a:r>
            <a:endParaRPr lang="en-US" altLang="ja-JP" sz="1800" b="0" i="0" dirty="0">
              <a:effectLst/>
              <a:latin typeface="+mn-ea"/>
            </a:endParaRPr>
          </a:p>
          <a:p>
            <a:r>
              <a:rPr lang="ja-JP" altLang="en-US" dirty="0">
                <a:latin typeface="+mn-ea"/>
              </a:rPr>
              <a:t>　　・移行実施</a:t>
            </a:r>
            <a:endParaRPr lang="ja-JP" altLang="en-US" sz="1800" b="0" i="0" dirty="0">
              <a:effectLst/>
              <a:latin typeface="+mn-ea"/>
            </a:endParaRPr>
          </a:p>
        </p:txBody>
      </p:sp>
      <p:sp>
        <p:nvSpPr>
          <p:cNvPr id="13" name="吹き出し: 角を丸めた四角形 12">
            <a:extLst>
              <a:ext uri="{FF2B5EF4-FFF2-40B4-BE49-F238E27FC236}">
                <a16:creationId xmlns:a16="http://schemas.microsoft.com/office/drawing/2014/main" id="{78F4F669-3D1A-B1A5-4745-49B074919756}"/>
              </a:ext>
            </a:extLst>
          </p:cNvPr>
          <p:cNvSpPr/>
          <p:nvPr/>
        </p:nvSpPr>
        <p:spPr>
          <a:xfrm>
            <a:off x="6580916" y="5264221"/>
            <a:ext cx="4944777" cy="478466"/>
          </a:xfrm>
          <a:prstGeom prst="wedgeRoundRectCallout">
            <a:avLst>
              <a:gd name="adj1" fmla="val -54535"/>
              <a:gd name="adj2" fmla="val -53056"/>
              <a:gd name="adj3" fmla="val 16667"/>
            </a:avLst>
          </a:prstGeom>
          <a:solidFill>
            <a:srgbClr val="FEF4C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solidFill>
                  <a:schemeClr val="tx1"/>
                </a:solidFill>
                <a:latin typeface="Helvetica Neue"/>
              </a:rPr>
              <a:t>顧客が主体で実施するものなので、必要に応じて支援のみ実施</a:t>
            </a:r>
            <a:endParaRPr lang="en-US" altLang="ja-JP" sz="1400" dirty="0">
              <a:solidFill>
                <a:schemeClr val="tx1"/>
              </a:solidFill>
              <a:latin typeface="+mn-ea"/>
            </a:endParaRPr>
          </a:p>
        </p:txBody>
      </p:sp>
    </p:spTree>
    <p:extLst>
      <p:ext uri="{BB962C8B-B14F-4D97-AF65-F5344CB8AC3E}">
        <p14:creationId xmlns:p14="http://schemas.microsoft.com/office/powerpoint/2010/main" val="1590872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865D5-0E82-F17F-AFB3-29ACD0D358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228978-5E12-17F4-0919-833D0003C23C}"/>
              </a:ext>
            </a:extLst>
          </p:cNvPr>
          <p:cNvSpPr>
            <a:spLocks noGrp="1"/>
          </p:cNvSpPr>
          <p:nvPr>
            <p:ph type="title"/>
          </p:nvPr>
        </p:nvSpPr>
        <p:spPr/>
        <p:txBody>
          <a:bodyPr anchor="ctr"/>
          <a:lstStyle/>
          <a:p>
            <a:r>
              <a:rPr lang="en-US" altLang="ja-JP" dirty="0"/>
              <a:t>V</a:t>
            </a:r>
            <a:r>
              <a:rPr lang="ja-JP" altLang="en-US" dirty="0"/>
              <a:t>字モデル　</a:t>
            </a:r>
            <a:r>
              <a:rPr lang="en-US" altLang="ja-JP" dirty="0"/>
              <a:t> ※</a:t>
            </a:r>
            <a:r>
              <a:rPr lang="ja-JP" altLang="en-US" dirty="0"/>
              <a:t>再掲</a:t>
            </a:r>
            <a:endParaRPr kumimoji="1" lang="ja-JP" altLang="en-US" dirty="0"/>
          </a:p>
        </p:txBody>
      </p:sp>
      <p:pic>
        <p:nvPicPr>
          <p:cNvPr id="6" name="図 5" descr="ダイアグラム&#10;&#10;AI によって生成されたコンテンツは間違っている可能性があります。">
            <a:extLst>
              <a:ext uri="{FF2B5EF4-FFF2-40B4-BE49-F238E27FC236}">
                <a16:creationId xmlns:a16="http://schemas.microsoft.com/office/drawing/2014/main" id="{F2215F23-805E-FB5F-CAC4-39F0C205F1BC}"/>
              </a:ext>
            </a:extLst>
          </p:cNvPr>
          <p:cNvPicPr>
            <a:picLocks noChangeAspect="1"/>
          </p:cNvPicPr>
          <p:nvPr/>
        </p:nvPicPr>
        <p:blipFill>
          <a:blip r:embed="rId2"/>
          <a:srcRect b="4453"/>
          <a:stretch/>
        </p:blipFill>
        <p:spPr>
          <a:xfrm>
            <a:off x="2547198" y="1864593"/>
            <a:ext cx="7097604" cy="3890997"/>
          </a:xfrm>
          <a:prstGeom prst="rect">
            <a:avLst/>
          </a:prstGeom>
          <a:ln>
            <a:noFill/>
          </a:ln>
        </p:spPr>
      </p:pic>
      <p:sp>
        <p:nvSpPr>
          <p:cNvPr id="5" name="コンテンツ プレースホルダー 2">
            <a:extLst>
              <a:ext uri="{FF2B5EF4-FFF2-40B4-BE49-F238E27FC236}">
                <a16:creationId xmlns:a16="http://schemas.microsoft.com/office/drawing/2014/main" id="{E1736328-2586-AA6B-C914-FA1C3DE8ED4E}"/>
              </a:ext>
            </a:extLst>
          </p:cNvPr>
          <p:cNvSpPr txBox="1">
            <a:spLocks/>
          </p:cNvSpPr>
          <p:nvPr/>
        </p:nvSpPr>
        <p:spPr>
          <a:xfrm>
            <a:off x="372000" y="1038386"/>
            <a:ext cx="11448000" cy="8262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dirty="0"/>
              <a:t>V</a:t>
            </a:r>
            <a:r>
              <a:rPr lang="ja-JP" altLang="en-US" dirty="0"/>
              <a:t>字モデルとは</a:t>
            </a:r>
            <a:r>
              <a:rPr kumimoji="1" lang="ja-JP" altLang="en-US" dirty="0"/>
              <a:t>、</a:t>
            </a:r>
            <a:r>
              <a:rPr lang="ja-JP" altLang="en-US" dirty="0"/>
              <a:t> </a:t>
            </a:r>
            <a:r>
              <a:rPr lang="ja-JP" altLang="en-US" sz="2000" b="1" dirty="0"/>
              <a:t>「設計工程」と「製造・テスト工程」</a:t>
            </a:r>
            <a:r>
              <a:rPr kumimoji="1" lang="ja-JP" altLang="en-US" sz="2000" b="1" dirty="0"/>
              <a:t>の対応関係を視覚的に表現したモデル</a:t>
            </a:r>
            <a:r>
              <a:rPr lang="ja-JP" altLang="en-US" dirty="0"/>
              <a:t>で</a:t>
            </a:r>
            <a:r>
              <a:rPr kumimoji="1" lang="ja-JP" altLang="en-US" dirty="0"/>
              <a:t>ある。</a:t>
            </a:r>
            <a:endParaRPr kumimoji="1" lang="en-US" altLang="ja-JP" dirty="0"/>
          </a:p>
          <a:p>
            <a:r>
              <a:rPr lang="en-US" altLang="ja-JP" dirty="0"/>
              <a:t>TERASOLUNA </a:t>
            </a:r>
            <a:r>
              <a:rPr lang="ja-JP" altLang="en-US" dirty="0"/>
              <a:t>開発手順では、以下の８つのフェーズを対象に</a:t>
            </a:r>
            <a:r>
              <a:rPr lang="en-US" altLang="ja-JP" dirty="0"/>
              <a:t>V</a:t>
            </a:r>
            <a:r>
              <a:rPr lang="ja-JP" altLang="en-US" dirty="0"/>
              <a:t>字モデルを採用している。</a:t>
            </a:r>
            <a:endParaRPr kumimoji="1" lang="ja-JP" altLang="en-US" dirty="0"/>
          </a:p>
          <a:p>
            <a:endParaRPr kumimoji="1" lang="ja-JP" altLang="en-US" dirty="0"/>
          </a:p>
        </p:txBody>
      </p:sp>
      <p:sp>
        <p:nvSpPr>
          <p:cNvPr id="3" name="正方形/長方形 2">
            <a:extLst>
              <a:ext uri="{FF2B5EF4-FFF2-40B4-BE49-F238E27FC236}">
                <a16:creationId xmlns:a16="http://schemas.microsoft.com/office/drawing/2014/main" id="{56560456-AECA-498E-573D-FA83F5DB5D66}"/>
              </a:ext>
            </a:extLst>
          </p:cNvPr>
          <p:cNvSpPr/>
          <p:nvPr/>
        </p:nvSpPr>
        <p:spPr>
          <a:xfrm>
            <a:off x="1517743" y="2061170"/>
            <a:ext cx="4320000" cy="3960000"/>
          </a:xfrm>
          <a:prstGeom prst="rect">
            <a:avLst/>
          </a:prstGeom>
          <a:noFill/>
          <a:ln w="5715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4" name="正方形/長方形 3">
            <a:extLst>
              <a:ext uri="{FF2B5EF4-FFF2-40B4-BE49-F238E27FC236}">
                <a16:creationId xmlns:a16="http://schemas.microsoft.com/office/drawing/2014/main" id="{7D0203E8-131B-99CE-CB8C-175FCDD54691}"/>
              </a:ext>
            </a:extLst>
          </p:cNvPr>
          <p:cNvSpPr/>
          <p:nvPr/>
        </p:nvSpPr>
        <p:spPr>
          <a:xfrm>
            <a:off x="1517743" y="2061170"/>
            <a:ext cx="504000" cy="3960000"/>
          </a:xfrm>
          <a:prstGeom prst="rect">
            <a:avLst/>
          </a:prstGeom>
          <a:solidFill>
            <a:srgbClr val="FFC000"/>
          </a:solidFill>
          <a:ln w="5715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600" b="1" dirty="0">
                <a:solidFill>
                  <a:schemeClr val="bg1"/>
                </a:solidFill>
              </a:rPr>
              <a:t>設計</a:t>
            </a:r>
          </a:p>
        </p:txBody>
      </p:sp>
      <p:sp>
        <p:nvSpPr>
          <p:cNvPr id="7" name="正方形/長方形 6">
            <a:extLst>
              <a:ext uri="{FF2B5EF4-FFF2-40B4-BE49-F238E27FC236}">
                <a16:creationId xmlns:a16="http://schemas.microsoft.com/office/drawing/2014/main" id="{D1D54DFB-1EE1-E9D2-A10B-432E7EFC6825}"/>
              </a:ext>
            </a:extLst>
          </p:cNvPr>
          <p:cNvSpPr/>
          <p:nvPr/>
        </p:nvSpPr>
        <p:spPr>
          <a:xfrm>
            <a:off x="6181724" y="2061170"/>
            <a:ext cx="4320000" cy="3960000"/>
          </a:xfrm>
          <a:prstGeom prst="rect">
            <a:avLst/>
          </a:prstGeom>
          <a:noFill/>
          <a:ln w="5715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8" name="正方形/長方形 7">
            <a:extLst>
              <a:ext uri="{FF2B5EF4-FFF2-40B4-BE49-F238E27FC236}">
                <a16:creationId xmlns:a16="http://schemas.microsoft.com/office/drawing/2014/main" id="{F578A224-0954-14F0-B571-2EEEEDB727B6}"/>
              </a:ext>
            </a:extLst>
          </p:cNvPr>
          <p:cNvSpPr/>
          <p:nvPr/>
        </p:nvSpPr>
        <p:spPr>
          <a:xfrm>
            <a:off x="9997724" y="2061170"/>
            <a:ext cx="504000" cy="3960000"/>
          </a:xfrm>
          <a:prstGeom prst="rect">
            <a:avLst/>
          </a:prstGeom>
          <a:solidFill>
            <a:srgbClr val="92D050"/>
          </a:solidFill>
          <a:ln w="5715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600" b="1" dirty="0">
                <a:solidFill>
                  <a:schemeClr val="bg1"/>
                </a:solidFill>
              </a:rPr>
              <a:t>製造・テスト</a:t>
            </a:r>
          </a:p>
        </p:txBody>
      </p:sp>
    </p:spTree>
    <p:extLst>
      <p:ext uri="{BB962C8B-B14F-4D97-AF65-F5344CB8AC3E}">
        <p14:creationId xmlns:p14="http://schemas.microsoft.com/office/powerpoint/2010/main" val="5639774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59B66-D54D-09D9-DABA-C340CA0DBA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AA1370-7C5B-F077-1F2F-B4E4BBB28D9C}"/>
              </a:ext>
            </a:extLst>
          </p:cNvPr>
          <p:cNvSpPr>
            <a:spLocks noGrp="1"/>
          </p:cNvSpPr>
          <p:nvPr>
            <p:ph type="title"/>
          </p:nvPr>
        </p:nvSpPr>
        <p:spPr/>
        <p:txBody>
          <a:bodyPr anchor="ctr"/>
          <a:lstStyle/>
          <a:p>
            <a:r>
              <a:rPr lang="ja-JP" altLang="en-US" dirty="0"/>
              <a:t>プロジェクトごとのテーラリング　</a:t>
            </a:r>
            <a:r>
              <a:rPr lang="en-US" altLang="ja-JP" dirty="0"/>
              <a:t>※</a:t>
            </a:r>
            <a:r>
              <a:rPr lang="ja-JP" altLang="en-US" dirty="0"/>
              <a:t>再掲</a:t>
            </a:r>
            <a:endParaRPr kumimoji="1" lang="ja-JP" altLang="en-US" dirty="0"/>
          </a:p>
        </p:txBody>
      </p:sp>
      <p:sp>
        <p:nvSpPr>
          <p:cNvPr id="5" name="コンテンツ プレースホルダー 2">
            <a:extLst>
              <a:ext uri="{FF2B5EF4-FFF2-40B4-BE49-F238E27FC236}">
                <a16:creationId xmlns:a16="http://schemas.microsoft.com/office/drawing/2014/main" id="{2002BA36-4B37-CFD7-5AF0-EE19C6B9232F}"/>
              </a:ext>
            </a:extLst>
          </p:cNvPr>
          <p:cNvSpPr txBox="1">
            <a:spLocks/>
          </p:cNvSpPr>
          <p:nvPr/>
        </p:nvSpPr>
        <p:spPr>
          <a:xfrm>
            <a:off x="372000" y="1038386"/>
            <a:ext cx="11448000" cy="8262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dirty="0"/>
              <a:t>前述のとおり、当社では</a:t>
            </a:r>
            <a:r>
              <a:rPr lang="ja-JP" altLang="en-US" b="1" dirty="0"/>
              <a:t>「</a:t>
            </a:r>
            <a:r>
              <a:rPr lang="en-US" altLang="ja-JP" b="1" dirty="0"/>
              <a:t>TERASOLUNA</a:t>
            </a:r>
            <a:r>
              <a:rPr lang="ja-JP" altLang="en-US" b="1" dirty="0"/>
              <a:t>」</a:t>
            </a:r>
            <a:r>
              <a:rPr lang="ja-JP" altLang="en-US" dirty="0"/>
              <a:t>にて開発手順、環境、成果物などを定めてはいるが、特定の条件を要するプロジェクトに無理やり当てはめると、プロジェクト進行を阻害してしまう恐れがある。</a:t>
            </a:r>
            <a:endParaRPr lang="en-US" altLang="ja-JP" dirty="0"/>
          </a:p>
          <a:p>
            <a:r>
              <a:rPr lang="ja-JP" altLang="en-US" dirty="0"/>
              <a:t>そこで、プロジェクト特性に合わせたカスタマイズ＝</a:t>
            </a:r>
            <a:r>
              <a:rPr lang="ja-JP" altLang="en-US" b="1" dirty="0"/>
              <a:t>テーラリングが許容</a:t>
            </a:r>
            <a:r>
              <a:rPr lang="ja-JP" altLang="en-US" dirty="0"/>
              <a:t>されている。</a:t>
            </a:r>
            <a:endParaRPr lang="en-US" altLang="ja-JP" dirty="0"/>
          </a:p>
          <a:p>
            <a:endParaRPr lang="en-US" altLang="ja-JP" dirty="0"/>
          </a:p>
          <a:p>
            <a:r>
              <a:rPr lang="ja-JP" altLang="en-US" dirty="0"/>
              <a:t>また、生成</a:t>
            </a:r>
            <a:r>
              <a:rPr lang="en-US" altLang="ja-JP" dirty="0"/>
              <a:t>AI</a:t>
            </a:r>
            <a:r>
              <a:rPr lang="ja-JP" altLang="en-US" dirty="0"/>
              <a:t>の能力を活かす</a:t>
            </a:r>
            <a:r>
              <a:rPr lang="ja-JP" altLang="en-US" b="1" dirty="0"/>
              <a:t>「</a:t>
            </a:r>
            <a:r>
              <a:rPr lang="en-US" altLang="ja-JP" b="1" dirty="0"/>
              <a:t>AI</a:t>
            </a:r>
            <a:r>
              <a:rPr lang="ja-JP" altLang="en-US" b="1" dirty="0"/>
              <a:t>ネイティブ開発」</a:t>
            </a:r>
            <a:r>
              <a:rPr lang="ja-JP" altLang="en-US" dirty="0"/>
              <a:t>では、</a:t>
            </a:r>
            <a:r>
              <a:rPr lang="en-US" altLang="ja-JP" sz="2400" b="1" dirty="0"/>
              <a:t>AI</a:t>
            </a:r>
            <a:r>
              <a:rPr lang="ja-JP" altLang="en-US" sz="2400" b="1" dirty="0"/>
              <a:t>の特性やプロジェクトの特性</a:t>
            </a:r>
            <a:r>
              <a:rPr lang="ja-JP" altLang="en-US" dirty="0"/>
              <a:t>に応じてテーラリングが必要になる。</a:t>
            </a:r>
          </a:p>
        </p:txBody>
      </p:sp>
      <p:pic>
        <p:nvPicPr>
          <p:cNvPr id="7" name="図 6" descr="ダイアグラム&#10;&#10;AI によって生成されたコンテンツは間違っている可能性があります。">
            <a:extLst>
              <a:ext uri="{FF2B5EF4-FFF2-40B4-BE49-F238E27FC236}">
                <a16:creationId xmlns:a16="http://schemas.microsoft.com/office/drawing/2014/main" id="{A1C5C5F6-8B7F-FDA0-629E-1268771B8ED9}"/>
              </a:ext>
            </a:extLst>
          </p:cNvPr>
          <p:cNvPicPr>
            <a:picLocks noChangeAspect="1"/>
          </p:cNvPicPr>
          <p:nvPr/>
        </p:nvPicPr>
        <p:blipFill>
          <a:blip r:embed="rId2"/>
          <a:srcRect l="982" r="982"/>
          <a:stretch/>
        </p:blipFill>
        <p:spPr>
          <a:xfrm>
            <a:off x="730536" y="3145203"/>
            <a:ext cx="4205450" cy="1647782"/>
          </a:xfrm>
          <a:prstGeom prst="rect">
            <a:avLst/>
          </a:prstGeom>
        </p:spPr>
      </p:pic>
      <p:sp>
        <p:nvSpPr>
          <p:cNvPr id="8" name="コンテンツ プレースホルダー 2">
            <a:extLst>
              <a:ext uri="{FF2B5EF4-FFF2-40B4-BE49-F238E27FC236}">
                <a16:creationId xmlns:a16="http://schemas.microsoft.com/office/drawing/2014/main" id="{B31DE061-6C37-5E28-645E-B081BE0C32FC}"/>
              </a:ext>
            </a:extLst>
          </p:cNvPr>
          <p:cNvSpPr txBox="1">
            <a:spLocks/>
          </p:cNvSpPr>
          <p:nvPr/>
        </p:nvSpPr>
        <p:spPr>
          <a:xfrm>
            <a:off x="7814442" y="6152024"/>
            <a:ext cx="3753133" cy="207837"/>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pPr algn="r"/>
            <a:r>
              <a:rPr lang="ja-JP" altLang="en-US" sz="1200" dirty="0"/>
              <a:t>引用：</a:t>
            </a:r>
            <a:r>
              <a:rPr lang="en-US" altLang="ja-JP" sz="1200" dirty="0">
                <a:hlinkClick r:id="rId3"/>
              </a:rPr>
              <a:t>TERASOLUNA FAÇADE TERASOLUNA</a:t>
            </a:r>
            <a:r>
              <a:rPr lang="ja-JP" altLang="en-US" sz="1200" dirty="0">
                <a:hlinkClick r:id="rId3"/>
              </a:rPr>
              <a:t>について</a:t>
            </a:r>
            <a:endParaRPr lang="ja-JP" altLang="en-US" sz="1200" dirty="0"/>
          </a:p>
        </p:txBody>
      </p:sp>
      <p:pic>
        <p:nvPicPr>
          <p:cNvPr id="16" name="図 15">
            <a:extLst>
              <a:ext uri="{FF2B5EF4-FFF2-40B4-BE49-F238E27FC236}">
                <a16:creationId xmlns:a16="http://schemas.microsoft.com/office/drawing/2014/main" id="{78F83BDB-DEDD-8E63-00B6-2806E9C5BD1F}"/>
              </a:ext>
            </a:extLst>
          </p:cNvPr>
          <p:cNvPicPr>
            <a:picLocks noChangeAspect="1"/>
          </p:cNvPicPr>
          <p:nvPr/>
        </p:nvPicPr>
        <p:blipFill>
          <a:blip r:embed="rId4"/>
          <a:stretch>
            <a:fillRect/>
          </a:stretch>
        </p:blipFill>
        <p:spPr>
          <a:xfrm>
            <a:off x="6368804" y="4190260"/>
            <a:ext cx="5451721" cy="1824663"/>
          </a:xfrm>
          <a:prstGeom prst="rect">
            <a:avLst/>
          </a:prstGeom>
        </p:spPr>
      </p:pic>
      <p:sp>
        <p:nvSpPr>
          <p:cNvPr id="17" name="矢印: 右 16">
            <a:extLst>
              <a:ext uri="{FF2B5EF4-FFF2-40B4-BE49-F238E27FC236}">
                <a16:creationId xmlns:a16="http://schemas.microsoft.com/office/drawing/2014/main" id="{DAAE6E2C-3DB8-7573-7E13-2D232EFBCC39}"/>
              </a:ext>
            </a:extLst>
          </p:cNvPr>
          <p:cNvSpPr/>
          <p:nvPr/>
        </p:nvSpPr>
        <p:spPr>
          <a:xfrm>
            <a:off x="5378498" y="3942453"/>
            <a:ext cx="444699" cy="1156803"/>
          </a:xfrm>
          <a:prstGeom prst="rightArrow">
            <a:avLst/>
          </a:prstGeom>
          <a:solidFill>
            <a:schemeClr val="bg1">
              <a:lumMod val="8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テキスト ボックス 17">
            <a:extLst>
              <a:ext uri="{FF2B5EF4-FFF2-40B4-BE49-F238E27FC236}">
                <a16:creationId xmlns:a16="http://schemas.microsoft.com/office/drawing/2014/main" id="{221C8DAB-2B3F-274D-3464-C728E51223FA}"/>
              </a:ext>
            </a:extLst>
          </p:cNvPr>
          <p:cNvSpPr txBox="1"/>
          <p:nvPr/>
        </p:nvSpPr>
        <p:spPr>
          <a:xfrm>
            <a:off x="2885852" y="5324053"/>
            <a:ext cx="3482952" cy="387943"/>
          </a:xfrm>
          <a:prstGeom prst="rect">
            <a:avLst/>
          </a:prstGeom>
          <a:solidFill>
            <a:srgbClr val="FFE1C5"/>
          </a:solidFill>
          <a:ln>
            <a:noFill/>
          </a:ln>
        </p:spPr>
        <p:txBody>
          <a:bodyPr wrap="square" lIns="0" rIns="0" rtlCol="0" anchor="ctr">
            <a:noAutofit/>
          </a:bodyPr>
          <a:lstStyle/>
          <a:p>
            <a:pPr algn="ctr" defTabSz="288000"/>
            <a:r>
              <a:rPr lang="en-US" altLang="ja-JP" sz="1600" b="1" i="0" u="sng" dirty="0">
                <a:effectLst/>
                <a:latin typeface="Helvetica Neue"/>
              </a:rPr>
              <a:t>AI</a:t>
            </a:r>
            <a:r>
              <a:rPr lang="ja-JP" altLang="en-US" sz="1600" b="1" i="0" u="sng" dirty="0">
                <a:effectLst/>
                <a:latin typeface="Helvetica Neue"/>
              </a:rPr>
              <a:t>ネイティブ開発に合わせるテーラリング</a:t>
            </a:r>
            <a:endParaRPr kumimoji="1" lang="ja-JP" altLang="en-US" sz="1600" b="1" u="sng" dirty="0">
              <a:latin typeface="+mn-ea"/>
            </a:endParaRPr>
          </a:p>
        </p:txBody>
      </p:sp>
    </p:spTree>
    <p:extLst>
      <p:ext uri="{BB962C8B-B14F-4D97-AF65-F5344CB8AC3E}">
        <p14:creationId xmlns:p14="http://schemas.microsoft.com/office/powerpoint/2010/main" val="16233591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F8670-ED97-2A4B-E242-617C942CD1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85EA3F-F149-BA62-2FDF-F0B95C2C22B0}"/>
              </a:ext>
            </a:extLst>
          </p:cNvPr>
          <p:cNvSpPr>
            <a:spLocks noGrp="1"/>
          </p:cNvSpPr>
          <p:nvPr>
            <p:ph type="title"/>
          </p:nvPr>
        </p:nvSpPr>
        <p:spPr/>
        <p:txBody>
          <a:bodyPr/>
          <a:lstStyle/>
          <a:p>
            <a:r>
              <a:rPr lang="ja-JP" altLang="en-US" dirty="0"/>
              <a:t>参考：</a:t>
            </a:r>
            <a:r>
              <a:rPr lang="en-US" altLang="ja-JP" dirty="0"/>
              <a:t>TERASOLUNA</a:t>
            </a:r>
            <a:r>
              <a:rPr lang="ja-JP" altLang="en-US" dirty="0"/>
              <a:t>開発手順　タスクフロー</a:t>
            </a:r>
            <a:endParaRPr kumimoji="1" lang="ja-JP" altLang="en-US" dirty="0"/>
          </a:p>
        </p:txBody>
      </p:sp>
      <p:pic>
        <p:nvPicPr>
          <p:cNvPr id="6" name="図 5" descr="タイムライン&#10;&#10;AI によって生成されたコンテンツは間違っている可能性があります。">
            <a:extLst>
              <a:ext uri="{FF2B5EF4-FFF2-40B4-BE49-F238E27FC236}">
                <a16:creationId xmlns:a16="http://schemas.microsoft.com/office/drawing/2014/main" id="{654A2559-8908-6B8C-44D6-29AE3C7A4320}"/>
              </a:ext>
            </a:extLst>
          </p:cNvPr>
          <p:cNvPicPr>
            <a:picLocks noChangeAspect="1"/>
          </p:cNvPicPr>
          <p:nvPr/>
        </p:nvPicPr>
        <p:blipFill>
          <a:blip r:embed="rId2"/>
          <a:srcRect t="6852"/>
          <a:stretch/>
        </p:blipFill>
        <p:spPr>
          <a:xfrm>
            <a:off x="1520474" y="819150"/>
            <a:ext cx="9148652" cy="5494318"/>
          </a:xfrm>
          <a:prstGeom prst="rect">
            <a:avLst/>
          </a:prstGeom>
        </p:spPr>
      </p:pic>
      <p:sp>
        <p:nvSpPr>
          <p:cNvPr id="10" name="テキスト ボックス 9">
            <a:extLst>
              <a:ext uri="{FF2B5EF4-FFF2-40B4-BE49-F238E27FC236}">
                <a16:creationId xmlns:a16="http://schemas.microsoft.com/office/drawing/2014/main" id="{ABD77BD0-4D12-77FA-2BC1-9A58B0757DB6}"/>
              </a:ext>
            </a:extLst>
          </p:cNvPr>
          <p:cNvSpPr txBox="1"/>
          <p:nvPr/>
        </p:nvSpPr>
        <p:spPr>
          <a:xfrm>
            <a:off x="6527800" y="6317585"/>
            <a:ext cx="5207000" cy="276999"/>
          </a:xfrm>
          <a:prstGeom prst="rect">
            <a:avLst/>
          </a:prstGeom>
          <a:noFill/>
        </p:spPr>
        <p:txBody>
          <a:bodyPr wrap="square">
            <a:spAutoFit/>
          </a:bodyPr>
          <a:lstStyle/>
          <a:p>
            <a:r>
              <a:rPr lang="ja-JP" altLang="en-US" sz="1200" dirty="0"/>
              <a:t>引用元：</a:t>
            </a:r>
            <a:r>
              <a:rPr lang="en-US" altLang="ja-JP" sz="1200" dirty="0">
                <a:solidFill>
                  <a:srgbClr val="19A3FC"/>
                </a:solidFill>
                <a:hlinkClick r:id="rId3">
                  <a:extLst>
                    <a:ext uri="{A12FA001-AC4F-418D-AE19-62706E023703}">
                      <ahyp:hlinkClr xmlns:ahyp="http://schemas.microsoft.com/office/drawing/2018/hyperlinkcolor" val="tx"/>
                    </a:ext>
                  </a:extLst>
                </a:hlinkClick>
              </a:rPr>
              <a:t>2.3 </a:t>
            </a:r>
            <a:r>
              <a:rPr lang="ja-JP" altLang="en-US" sz="1200" dirty="0">
                <a:solidFill>
                  <a:srgbClr val="19A3FC"/>
                </a:solidFill>
                <a:hlinkClick r:id="rId3">
                  <a:extLst>
                    <a:ext uri="{A12FA001-AC4F-418D-AE19-62706E023703}">
                      <ahyp:hlinkClr xmlns:ahyp="http://schemas.microsoft.com/office/drawing/2018/hyperlinkcolor" val="tx"/>
                    </a:ext>
                  </a:extLst>
                </a:hlinkClick>
              </a:rPr>
              <a:t>タスクの体系 </a:t>
            </a:r>
            <a:r>
              <a:rPr lang="en-US" altLang="ja-JP" sz="1200" dirty="0">
                <a:solidFill>
                  <a:srgbClr val="19A3FC"/>
                </a:solidFill>
                <a:hlinkClick r:id="rId3">
                  <a:extLst>
                    <a:ext uri="{A12FA001-AC4F-418D-AE19-62706E023703}">
                      <ahyp:hlinkClr xmlns:ahyp="http://schemas.microsoft.com/office/drawing/2018/hyperlinkcolor" val="tx"/>
                    </a:ext>
                  </a:extLst>
                </a:hlinkClick>
              </a:rPr>
              <a:t>· NDCM</a:t>
            </a:r>
            <a:r>
              <a:rPr lang="ja-JP" altLang="en-US" sz="1200" dirty="0">
                <a:solidFill>
                  <a:srgbClr val="19A3FC"/>
                </a:solidFill>
                <a:hlinkClick r:id="rId3">
                  <a:extLst>
                    <a:ext uri="{A12FA001-AC4F-418D-AE19-62706E023703}">
                      <ahyp:hlinkClr xmlns:ahyp="http://schemas.microsoft.com/office/drawing/2018/hyperlinkcolor" val="tx"/>
                    </a:ext>
                  </a:extLst>
                </a:hlinkClick>
              </a:rPr>
              <a:t>対応版</a:t>
            </a:r>
            <a:r>
              <a:rPr lang="en-US" altLang="ja-JP" sz="1200" dirty="0">
                <a:solidFill>
                  <a:srgbClr val="19A3FC"/>
                </a:solidFill>
                <a:hlinkClick r:id="rId3">
                  <a:extLst>
                    <a:ext uri="{A12FA001-AC4F-418D-AE19-62706E023703}">
                      <ahyp:hlinkClr xmlns:ahyp="http://schemas.microsoft.com/office/drawing/2018/hyperlinkcolor" val="tx"/>
                    </a:ext>
                  </a:extLst>
                </a:hlinkClick>
              </a:rPr>
              <a:t>TERASOLUNA</a:t>
            </a:r>
            <a:r>
              <a:rPr lang="ja-JP" altLang="en-US" sz="1200" dirty="0">
                <a:solidFill>
                  <a:srgbClr val="19A3FC"/>
                </a:solidFill>
                <a:hlinkClick r:id="rId3">
                  <a:extLst>
                    <a:ext uri="{A12FA001-AC4F-418D-AE19-62706E023703}">
                      <ahyp:hlinkClr xmlns:ahyp="http://schemas.microsoft.com/office/drawing/2018/hyperlinkcolor" val="tx"/>
                    </a:ext>
                  </a:extLst>
                </a:hlinkClick>
              </a:rPr>
              <a:t>手順</a:t>
            </a:r>
            <a:endParaRPr lang="ja-JP" altLang="en-US" sz="1200" dirty="0"/>
          </a:p>
        </p:txBody>
      </p:sp>
    </p:spTree>
    <p:extLst>
      <p:ext uri="{BB962C8B-B14F-4D97-AF65-F5344CB8AC3E}">
        <p14:creationId xmlns:p14="http://schemas.microsoft.com/office/powerpoint/2010/main" val="2072113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650110"/>
      </p:ext>
    </p:extLst>
  </p:cSld>
  <p:clrMapOvr>
    <a:masterClrMapping/>
  </p:clrMapOvr>
</p:sld>
</file>

<file path=ppt/theme/theme1.xml><?xml version="1.0" encoding="utf-8"?>
<a:theme xmlns:a="http://schemas.openxmlformats.org/drawingml/2006/main" name="表紙_Light">
  <a:themeElements>
    <a:clrScheme name="NTT DATA Group Corp.">
      <a:dk1>
        <a:srgbClr val="000000"/>
      </a:dk1>
      <a:lt1>
        <a:srgbClr val="FFFFFF"/>
      </a:lt1>
      <a:dk2>
        <a:srgbClr val="2E404D"/>
      </a:dk2>
      <a:lt2>
        <a:srgbClr val="19A3FC"/>
      </a:lt2>
      <a:accent1>
        <a:srgbClr val="070F26"/>
      </a:accent1>
      <a:accent2>
        <a:srgbClr val="0071BC"/>
      </a:accent2>
      <a:accent3>
        <a:srgbClr val="005B95"/>
      </a:accent3>
      <a:accent4>
        <a:srgbClr val="00DFED"/>
      </a:accent4>
      <a:accent5>
        <a:srgbClr val="00CB5D"/>
      </a:accent5>
      <a:accent6>
        <a:srgbClr val="949494"/>
      </a:accent6>
      <a:hlink>
        <a:srgbClr val="19A3FC"/>
      </a:hlink>
      <a:folHlink>
        <a:srgbClr val="0071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3F44459B-CBCD-47B9-9550-79E07347BFD8}"/>
    </a:ext>
  </a:extLst>
</a:theme>
</file>

<file path=ppt/theme/theme2.xml><?xml version="1.0" encoding="utf-8"?>
<a:theme xmlns:a="http://schemas.openxmlformats.org/drawingml/2006/main" name="中扉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BB946400-0B85-4517-AE8C-BC2B39F5FF1D}"/>
    </a:ext>
  </a:extLst>
</a:theme>
</file>

<file path=ppt/theme/theme3.xml><?xml version="1.0" encoding="utf-8"?>
<a:theme xmlns:a="http://schemas.openxmlformats.org/drawingml/2006/main" name="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B7EFED-FF62-4F58-A91E-0D2C1D8AB2B6}"/>
    </a:ext>
  </a:extLst>
</a:theme>
</file>

<file path=ppt/theme/theme4.xml><?xml version="1.0" encoding="utf-8"?>
<a:theme xmlns:a="http://schemas.openxmlformats.org/drawingml/2006/main" name="裏表紙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437B1A96-D058-465A-A684-571135173188}"/>
    </a:ext>
  </a:extLst>
</a:theme>
</file>

<file path=ppt/theme/theme5.xml><?xml version="1.0" encoding="utf-8"?>
<a:theme xmlns:a="http://schemas.openxmlformats.org/drawingml/2006/main" name="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C1217F-E6D8-4E50-B83A-0BB2972E93DC}"/>
    </a:ext>
  </a:extLst>
</a:theme>
</file>

<file path=ppt/theme/theme6.xml><?xml version="1.0" encoding="utf-8"?>
<a:theme xmlns:a="http://schemas.openxmlformats.org/drawingml/2006/main" name="中扉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44E08450-A390-4868-995D-17470C6AE04A}"/>
    </a:ext>
  </a:extLst>
</a:theme>
</file>

<file path=ppt/theme/theme7.xml><?xml version="1.0" encoding="utf-8"?>
<a:theme xmlns:a="http://schemas.openxmlformats.org/drawingml/2006/main" name="コンテンツ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7BD9F778-FFE0-471C-8AAB-02E2D4BD00E4}"/>
    </a:ext>
  </a:extLst>
</a:theme>
</file>

<file path=ppt/theme/theme8.xml><?xml version="1.0" encoding="utf-8"?>
<a:theme xmlns:a="http://schemas.openxmlformats.org/drawingml/2006/main" name="裏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B7DFDDD6-85F3-411E-B605-4F06EFC691BE}"/>
    </a:ext>
  </a:extLst>
</a:theme>
</file>

<file path=ppt/theme/theme9.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B57F87D80BC18745B0A2F78E3C2CA320" ma:contentTypeVersion="3" ma:contentTypeDescription="新しいドキュメントを作成します。" ma:contentTypeScope="" ma:versionID="219b608f28962122c458bdba41ff8225">
  <xsd:schema xmlns:xsd="http://www.w3.org/2001/XMLSchema" xmlns:xs="http://www.w3.org/2001/XMLSchema" xmlns:p="http://schemas.microsoft.com/office/2006/metadata/properties" xmlns:ns2="11d8c85d-1826-47fa-a5d0-9526e53fc34b" targetNamespace="http://schemas.microsoft.com/office/2006/metadata/properties" ma:root="true" ma:fieldsID="7ea3c1caea18927db56b37cdd8f3f590" ns2:_="">
    <xsd:import namespace="11d8c85d-1826-47fa-a5d0-9526e53fc34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d8c85d-1826-47fa-a5d0-9526e53fc3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D67A081-7561-4077-8020-BBB55BBCC4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d8c85d-1826-47fa-a5d0-9526e53fc3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48F579-53B8-4B8C-9F58-0D818877B6AD}">
  <ds:schemaRefs>
    <ds:schemaRef ds:uri="http://schemas.microsoft.com/sharepoint/v3/contenttype/forms"/>
  </ds:schemaRefs>
</ds:datastoreItem>
</file>

<file path=customXml/itemProps3.xml><?xml version="1.0" encoding="utf-8"?>
<ds:datastoreItem xmlns:ds="http://schemas.openxmlformats.org/officeDocument/2006/customXml" ds:itemID="{8D130469-6A09-4ABA-A36B-23141AB6459B}">
  <ds:schemaRefs>
    <ds:schemaRef ds:uri="http://purl.org/dc/dcmitype/"/>
    <ds:schemaRef ds:uri="http://schemas.microsoft.com/office/2006/metadata/properties"/>
    <ds:schemaRef ds:uri="http://www.w3.org/XML/1998/namespace"/>
    <ds:schemaRef ds:uri="http://purl.org/dc/elements/1.1/"/>
    <ds:schemaRef ds:uri="http://purl.org/dc/terms/"/>
    <ds:schemaRef ds:uri="e78bdc00-a74b-48b7-906b-ce2f11e16a80"/>
    <ds:schemaRef ds:uri="http://schemas.microsoft.com/office/2006/documentManagement/types"/>
    <ds:schemaRef ds:uri="http://schemas.microsoft.com/office/infopath/2007/PartnerControls"/>
    <ds:schemaRef ds:uri="http://schemas.openxmlformats.org/package/2006/metadata/core-properties"/>
    <ds:schemaRef ds:uri="76c3601a-363f-43d4-a036-3992c2f72613"/>
  </ds:schemaRefs>
</ds:datastoreItem>
</file>

<file path=docProps/app.xml><?xml version="1.0" encoding="utf-8"?>
<Properties xmlns="http://schemas.openxmlformats.org/officeDocument/2006/extended-properties" xmlns:vt="http://schemas.openxmlformats.org/officeDocument/2006/docPropsVTypes">
  <Template>【DBC】単体試験</Template>
  <TotalTime>17010</TotalTime>
  <Words>3877</Words>
  <Application>Microsoft Office PowerPoint</Application>
  <PresentationFormat>ワイド画面</PresentationFormat>
  <Paragraphs>612</Paragraphs>
  <Slides>40</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8</vt:i4>
      </vt:variant>
      <vt:variant>
        <vt:lpstr>スライド タイトル</vt:lpstr>
      </vt:variant>
      <vt:variant>
        <vt:i4>40</vt:i4>
      </vt:variant>
    </vt:vector>
  </HeadingPairs>
  <TitlesOfParts>
    <vt:vector size="55" baseType="lpstr">
      <vt:lpstr>__Inter_a184c8</vt:lpstr>
      <vt:lpstr>GilroyRegular</vt:lpstr>
      <vt:lpstr>Helvetica Neue</vt:lpstr>
      <vt:lpstr>HiraKakuPro-W3</vt:lpstr>
      <vt:lpstr>Meiryo UI</vt:lpstr>
      <vt:lpstr>Arial</vt:lpstr>
      <vt:lpstr>Lato</vt:lpstr>
      <vt:lpstr>表紙_Light</vt:lpstr>
      <vt:lpstr>中扉_Light</vt:lpstr>
      <vt:lpstr>コンテンツ_Light</vt:lpstr>
      <vt:lpstr>裏表紙_Light</vt:lpstr>
      <vt:lpstr>表紙_Dark</vt:lpstr>
      <vt:lpstr>中扉_Dark</vt:lpstr>
      <vt:lpstr>コンテンツ_Dark</vt:lpstr>
      <vt:lpstr>裏表紙_Dark</vt:lpstr>
      <vt:lpstr>PowerPoint プレゼンテーション</vt:lpstr>
      <vt:lpstr>講義の目的</vt:lpstr>
      <vt:lpstr>目次</vt:lpstr>
      <vt:lpstr>目次</vt:lpstr>
      <vt:lpstr>ソフトウェア開発ライフサイクル</vt:lpstr>
      <vt:lpstr>ソフトウェア開発ライフサイクルの種類</vt:lpstr>
      <vt:lpstr>目次</vt:lpstr>
      <vt:lpstr>TERASOLUNA 開発手順</vt:lpstr>
      <vt:lpstr>プロジェクトごとのテーラリング</vt:lpstr>
      <vt:lpstr>目次</vt:lpstr>
      <vt:lpstr>V字モデル</vt:lpstr>
      <vt:lpstr>V字モデル</vt:lpstr>
      <vt:lpstr>V字モデル　– 要求定義 –</vt:lpstr>
      <vt:lpstr>「要求」と「要件」の違い</vt:lpstr>
      <vt:lpstr>V字モデル　– 要求分析 –</vt:lpstr>
      <vt:lpstr>V字モデル　– 要求分析 –</vt:lpstr>
      <vt:lpstr>V字モデル　– 要求分析 –</vt:lpstr>
      <vt:lpstr>V字モデル　– 要求分析 –</vt:lpstr>
      <vt:lpstr>V字モデル　– 要求分析 –</vt:lpstr>
      <vt:lpstr>V字モデル　– 要求分析 –</vt:lpstr>
      <vt:lpstr>V字モデル　– 要求分析 –</vt:lpstr>
      <vt:lpstr>V字モデル　– アーキテクチャ設計 –</vt:lpstr>
      <vt:lpstr>V字モデル　– アーキテクチャ設計 –</vt:lpstr>
      <vt:lpstr>V字モデル　– アーキテクチャ設計 –</vt:lpstr>
      <vt:lpstr>V字モデル　– アーキテクチャ設計 –</vt:lpstr>
      <vt:lpstr>V字モデル　– アーキテクチャ設計 –</vt:lpstr>
      <vt:lpstr>V字モデル　– 詳細設計 –</vt:lpstr>
      <vt:lpstr>V字モデル　– 詳細設計 –</vt:lpstr>
      <vt:lpstr>V字モデル　 ※再掲</vt:lpstr>
      <vt:lpstr>V字モデル　– 製造 – </vt:lpstr>
      <vt:lpstr>V字モデル　– 単体テスト – </vt:lpstr>
      <vt:lpstr>V字モデル　– 単体テスト – </vt:lpstr>
      <vt:lpstr>V字モデル　– 結合テスト – </vt:lpstr>
      <vt:lpstr>V字モデル　– 結合テスト – </vt:lpstr>
      <vt:lpstr>V字モデル　– システムテスト – </vt:lpstr>
      <vt:lpstr>V字モデル　– 受入テスト – </vt:lpstr>
      <vt:lpstr>V字モデル　 ※再掲</vt:lpstr>
      <vt:lpstr>プロジェクトごとのテーラリング　※再掲</vt:lpstr>
      <vt:lpstr>参考：TERASOLUNA開発手順　タスクフロー</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PSD 栗山 映里/Kuriyama, Eri (NTT DATA)</dc:creator>
  <cp:lastModifiedBy>直樹 石田</cp:lastModifiedBy>
  <cp:revision>64</cp:revision>
  <dcterms:created xsi:type="dcterms:W3CDTF">2025-03-11T01:08:01Z</dcterms:created>
  <dcterms:modified xsi:type="dcterms:W3CDTF">2026-06-15T11:02:22Z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0x010100B57F87D80BC18745B0A2F78E3C2CA320</vt:lpwstr>
  </property>
  <property fmtid="{D5CDD505-2E9C-101B-9397-08002B2CF9AE}" pid="3" name="MediaServiceImageTags">
    <vt:lpwstr/>
  </property>
</Properties>
</file>