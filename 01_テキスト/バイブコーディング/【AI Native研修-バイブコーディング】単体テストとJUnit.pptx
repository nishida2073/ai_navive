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7.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9" r:id="rId4"/>
    <p:sldMasterId id="2147483971" r:id="rId5"/>
    <p:sldMasterId id="2147483975" r:id="rId6"/>
    <p:sldMasterId id="2147483989" r:id="rId7"/>
    <p:sldMasterId id="2147484001" r:id="rId8"/>
    <p:sldMasterId id="2147483962" r:id="rId9"/>
    <p:sldMasterId id="2147483908" r:id="rId10"/>
    <p:sldMasterId id="2147483852" r:id="rId11"/>
  </p:sldMasterIdLst>
  <p:notesMasterIdLst>
    <p:notesMasterId r:id="rId59"/>
  </p:notesMasterIdLst>
  <p:handoutMasterIdLst>
    <p:handoutMasterId r:id="rId60"/>
  </p:handoutMasterIdLst>
  <p:sldIdLst>
    <p:sldId id="288" r:id="rId12"/>
    <p:sldId id="470" r:id="rId13"/>
    <p:sldId id="449" r:id="rId14"/>
    <p:sldId id="465" r:id="rId15"/>
    <p:sldId id="412" r:id="rId16"/>
    <p:sldId id="398" r:id="rId17"/>
    <p:sldId id="489" r:id="rId18"/>
    <p:sldId id="508" r:id="rId19"/>
    <p:sldId id="377" r:id="rId20"/>
    <p:sldId id="371" r:id="rId21"/>
    <p:sldId id="467" r:id="rId22"/>
    <p:sldId id="306" r:id="rId23"/>
    <p:sldId id="482" r:id="rId24"/>
    <p:sldId id="474" r:id="rId25"/>
    <p:sldId id="498" r:id="rId26"/>
    <p:sldId id="504" r:id="rId27"/>
    <p:sldId id="505" r:id="rId28"/>
    <p:sldId id="506" r:id="rId29"/>
    <p:sldId id="507" r:id="rId30"/>
    <p:sldId id="525" r:id="rId31"/>
    <p:sldId id="521" r:id="rId32"/>
    <p:sldId id="529" r:id="rId33"/>
    <p:sldId id="523" r:id="rId34"/>
    <p:sldId id="533" r:id="rId35"/>
    <p:sldId id="484" r:id="rId36"/>
    <p:sldId id="547" r:id="rId37"/>
    <p:sldId id="515" r:id="rId38"/>
    <p:sldId id="535" r:id="rId39"/>
    <p:sldId id="510" r:id="rId40"/>
    <p:sldId id="538" r:id="rId41"/>
    <p:sldId id="511" r:id="rId42"/>
    <p:sldId id="552" r:id="rId43"/>
    <p:sldId id="540" r:id="rId44"/>
    <p:sldId id="512" r:id="rId45"/>
    <p:sldId id="334" r:id="rId46"/>
    <p:sldId id="312" r:id="rId47"/>
    <p:sldId id="545" r:id="rId48"/>
    <p:sldId id="546" r:id="rId49"/>
    <p:sldId id="553" r:id="rId50"/>
    <p:sldId id="423" r:id="rId51"/>
    <p:sldId id="486" r:id="rId52"/>
    <p:sldId id="308" r:id="rId53"/>
    <p:sldId id="438" r:id="rId54"/>
    <p:sldId id="468" r:id="rId55"/>
    <p:sldId id="444" r:id="rId56"/>
    <p:sldId id="347" r:id="rId57"/>
    <p:sldId id="413" r:id="rId5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FFE1C5"/>
    <a:srgbClr val="FEF4C0"/>
    <a:srgbClr val="FFF1E5"/>
    <a:srgbClr val="E0E7EC"/>
    <a:srgbClr val="FFD85B"/>
    <a:srgbClr val="F0F3F6"/>
    <a:srgbClr val="FFFFFF"/>
    <a:srgbClr val="D9D9D9"/>
    <a:srgbClr val="6B6B6B"/>
    <a:srgbClr val="050D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3" autoAdjust="0"/>
    <p:restoredTop sz="86395" autoAdjust="0"/>
  </p:normalViewPr>
  <p:slideViewPr>
    <p:cSldViewPr snapToGrid="0" snapToObjects="1">
      <p:cViewPr varScale="1">
        <p:scale>
          <a:sx n="120" d="100"/>
          <a:sy n="120" d="100"/>
        </p:scale>
        <p:origin x="366" y="108"/>
      </p:cViewPr>
      <p:guideLst/>
    </p:cSldViewPr>
  </p:slideViewPr>
  <p:outlineViewPr>
    <p:cViewPr>
      <p:scale>
        <a:sx n="33" d="100"/>
        <a:sy n="33" d="100"/>
      </p:scale>
      <p:origin x="0" y="0"/>
    </p:cViewPr>
  </p:outlineViewPr>
  <p:notesTextViewPr>
    <p:cViewPr>
      <p:scale>
        <a:sx n="160" d="100"/>
        <a:sy n="160" d="100"/>
      </p:scale>
      <p:origin x="0" y="0"/>
    </p:cViewPr>
  </p:notesTextViewPr>
  <p:sorterViewPr>
    <p:cViewPr>
      <p:scale>
        <a:sx n="80" d="100"/>
        <a:sy n="80" d="100"/>
      </p:scale>
      <p:origin x="0" y="0"/>
    </p:cViewPr>
  </p:sorterViewPr>
  <p:notesViewPr>
    <p:cSldViewPr snapToGrid="0" snapToObjects="1">
      <p:cViewPr varScale="1">
        <p:scale>
          <a:sx n="86" d="100"/>
          <a:sy n="86" d="100"/>
        </p:scale>
        <p:origin x="3864"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slide" Target="slides/slide44.xml"/><Relationship Id="rId63"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slide" Target="slides/slide47.xml"/><Relationship Id="rId66"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commentAuthors" Target="commentAuthors.xml"/><Relationship Id="rId19" Type="http://schemas.openxmlformats.org/officeDocument/2006/relationships/slide" Target="slides/slide8.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64"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40.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notesMaster" Target="notesMasters/notesMaster1.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S3 石川 星/Ishikawa, Sho (NTT DATA)" userId="02c132a7-2049-4e7b-a292-e2101025765b" providerId="ADAL" clId="{5963EF00-8023-431A-B5E3-7791A55D19A7}"/>
    <pc:docChg chg="modSld">
      <pc:chgData name="PS3 石川 星/Ishikawa, Sho (NTT DATA)" userId="02c132a7-2049-4e7b-a292-e2101025765b" providerId="ADAL" clId="{5963EF00-8023-431A-B5E3-7791A55D19A7}" dt="2026-05-29T09:47:30.148" v="6" actId="20577"/>
      <pc:docMkLst>
        <pc:docMk/>
      </pc:docMkLst>
      <pc:sldChg chg="modSp mod">
        <pc:chgData name="PS3 石川 星/Ishikawa, Sho (NTT DATA)" userId="02c132a7-2049-4e7b-a292-e2101025765b" providerId="ADAL" clId="{5963EF00-8023-431A-B5E3-7791A55D19A7}" dt="2026-05-29T09:47:30.148" v="6" actId="20577"/>
        <pc:sldMkLst>
          <pc:docMk/>
          <pc:sldMk cId="1121628382" sldId="288"/>
        </pc:sldMkLst>
        <pc:spChg chg="mod">
          <ac:chgData name="PS3 石川 星/Ishikawa, Sho (NTT DATA)" userId="02c132a7-2049-4e7b-a292-e2101025765b" providerId="ADAL" clId="{5963EF00-8023-431A-B5E3-7791A55D19A7}" dt="2026-05-29T09:47:30.148" v="6" actId="20577"/>
          <ac:spMkLst>
            <pc:docMk/>
            <pc:sldMk cId="1121628382" sldId="288"/>
            <ac:spMk id="3" creationId="{364265A2-61B5-45D8-6463-6418F44F076D}"/>
          </ac:spMkLst>
        </pc:spChg>
      </pc:sldChg>
    </pc:docChg>
  </pc:docChgLst>
  <pc:docChgLst>
    <pc:chgData name="PS3 天野 学/Amano, Gaku (NTT DATA)" userId="cb64374a-b8ae-459f-8218-8fe0a6ba244e" providerId="ADAL" clId="{D11B0B6E-B536-465D-989F-9C53E44D9774}"/>
    <pc:docChg chg="custSel modSld">
      <pc:chgData name="PS3 天野 学/Amano, Gaku (NTT DATA)" userId="cb64374a-b8ae-459f-8218-8fe0a6ba244e" providerId="ADAL" clId="{D11B0B6E-B536-465D-989F-9C53E44D9774}" dt="2026-05-26T10:28:15.656" v="1"/>
      <pc:docMkLst>
        <pc:docMk/>
      </pc:docMkLst>
      <pc:sldChg chg="addSp delSp modSp mod">
        <pc:chgData name="PS3 天野 学/Amano, Gaku (NTT DATA)" userId="cb64374a-b8ae-459f-8218-8fe0a6ba244e" providerId="ADAL" clId="{D11B0B6E-B536-465D-989F-9C53E44D9774}" dt="2026-05-26T10:28:15.656" v="1"/>
        <pc:sldMkLst>
          <pc:docMk/>
          <pc:sldMk cId="1121628382" sldId="288"/>
        </pc:sldMkLst>
        <pc:spChg chg="add mod">
          <ac:chgData name="PS3 天野 学/Amano, Gaku (NTT DATA)" userId="cb64374a-b8ae-459f-8218-8fe0a6ba244e" providerId="ADAL" clId="{D11B0B6E-B536-465D-989F-9C53E44D9774}" dt="2026-05-26T10:28:15.656" v="1"/>
          <ac:spMkLst>
            <pc:docMk/>
            <pc:sldMk cId="1121628382" sldId="288"/>
            <ac:spMk id="5" creationId="{6BCA195C-25E8-2856-A8AE-915A730197F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dirty="0">
              <a:latin typeface="+mn-ea"/>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BDCB57-7B26-864A-85AB-1FE6E8A71097}" type="datetimeFigureOut">
              <a:rPr kumimoji="1" lang="ja-JP" altLang="en-US" smtClean="0">
                <a:latin typeface="+mn-ea"/>
              </a:rPr>
              <a:t>2026/5/29</a:t>
            </a:fld>
            <a:endParaRPr kumimoji="1" lang="ja-JP" altLang="en-US">
              <a:latin typeface="+mn-ea"/>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latin typeface="+mn-ea"/>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41B73B-8F91-6845-8B45-1448A7A46D6E}" type="slidenum">
              <a:rPr kumimoji="1" lang="ja-JP" altLang="en-US" smtClean="0">
                <a:latin typeface="+mn-ea"/>
              </a:rPr>
              <a:t>‹#›</a:t>
            </a:fld>
            <a:endParaRPr kumimoji="1" lang="ja-JP" altLang="en-US">
              <a:latin typeface="+mn-ea"/>
            </a:endParaRPr>
          </a:p>
        </p:txBody>
      </p:sp>
    </p:spTree>
    <p:extLst>
      <p:ext uri="{BB962C8B-B14F-4D97-AF65-F5344CB8AC3E}">
        <p14:creationId xmlns:p14="http://schemas.microsoft.com/office/powerpoint/2010/main" val="17740855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7B8588-1665-0A4A-AD47-68FFFFC620D1}" type="datetimeFigureOut">
              <a:rPr kumimoji="1" lang="ja-JP" altLang="en-US" smtClean="0"/>
              <a:t>2026/5/29</a:t>
            </a:fld>
            <a:endParaRPr kumimoji="1" lang="ja-JP" altLang="en-US"/>
          </a:p>
        </p:txBody>
      </p:sp>
      <p:sp>
        <p:nvSpPr>
          <p:cNvPr id="4" name="スライド イメージ プレースホルダー 3"/>
          <p:cNvSpPr>
            <a:spLocks noGrp="1" noRot="1" noChangeAspect="1"/>
          </p:cNvSpPr>
          <p:nvPr>
            <p:ph type="sldImg" idx="2"/>
          </p:nvPr>
        </p:nvSpPr>
        <p:spPr>
          <a:xfrm>
            <a:off x="685800" y="630237"/>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3887785"/>
            <a:ext cx="5486400" cy="4625977"/>
          </a:xfrm>
          <a:prstGeom prst="rect">
            <a:avLst/>
          </a:prstGeom>
        </p:spPr>
        <p:txBody>
          <a:bodyPr vert="horz" lIns="91440" tIns="45720" rIns="91440" bIns="45720" rtlCol="0"/>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AAED7-EB68-B44B-A29A-E9CFE7A1147D}" type="slidenum">
              <a:rPr kumimoji="1" lang="ja-JP" altLang="en-US" smtClean="0"/>
              <a:t>‹#›</a:t>
            </a:fld>
            <a:endParaRPr kumimoji="1" lang="ja-JP" altLang="en-US"/>
          </a:p>
        </p:txBody>
      </p:sp>
    </p:spTree>
    <p:extLst>
      <p:ext uri="{BB962C8B-B14F-4D97-AF65-F5344CB8AC3E}">
        <p14:creationId xmlns:p14="http://schemas.microsoft.com/office/powerpoint/2010/main" val="2413940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ea"/>
        <a:ea typeface="+mn-ea"/>
        <a:cs typeface="+mn-cs"/>
      </a:defRPr>
    </a:lvl1pPr>
    <a:lvl2pPr marL="457200" algn="l" defTabSz="914400" rtl="0" eaLnBrk="1" latinLnBrk="0" hangingPunct="1">
      <a:defRPr kumimoji="1" sz="1200" kern="1200">
        <a:solidFill>
          <a:schemeClr val="tx1"/>
        </a:solidFill>
        <a:latin typeface="+mn-ea"/>
        <a:ea typeface="+mn-ea"/>
        <a:cs typeface="+mn-cs"/>
      </a:defRPr>
    </a:lvl2pPr>
    <a:lvl3pPr marL="914400" algn="l" defTabSz="914400" rtl="0" eaLnBrk="1" latinLnBrk="0" hangingPunct="1">
      <a:defRPr kumimoji="1" sz="1200" kern="1200">
        <a:solidFill>
          <a:schemeClr val="tx1"/>
        </a:solidFill>
        <a:latin typeface="+mn-ea"/>
        <a:ea typeface="+mn-ea"/>
        <a:cs typeface="+mn-cs"/>
      </a:defRPr>
    </a:lvl3pPr>
    <a:lvl4pPr marL="1371600" algn="l" defTabSz="914400" rtl="0" eaLnBrk="1" latinLnBrk="0" hangingPunct="1">
      <a:defRPr kumimoji="1" sz="1200" kern="1200">
        <a:solidFill>
          <a:schemeClr val="tx1"/>
        </a:solidFill>
        <a:latin typeface="+mn-ea"/>
        <a:ea typeface="+mn-ea"/>
        <a:cs typeface="+mn-cs"/>
      </a:defRPr>
    </a:lvl4pPr>
    <a:lvl5pPr marL="1828800" algn="l" defTabSz="914400" rtl="0" eaLnBrk="1" latinLnBrk="0" hangingPunct="1">
      <a:defRPr kumimoji="1" sz="1200" kern="1200">
        <a:solidFill>
          <a:schemeClr val="tx1"/>
        </a:solidFill>
        <a:latin typeface="+mn-ea"/>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g"/><Relationship Id="rId1" Type="http://schemas.openxmlformats.org/officeDocument/2006/relationships/slideMaster" Target="../slideMasters/slideMaster5.xml"/><Relationship Id="rId4" Type="http://schemas.openxmlformats.org/officeDocument/2006/relationships/image" Target="../media/image9.gi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g"/><Relationship Id="rId1" Type="http://schemas.openxmlformats.org/officeDocument/2006/relationships/slideMaster" Target="../slideMasters/slideMaster5.xml"/><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9" name="Innovation Curve">
            <a:extLst>
              <a:ext uri="{FF2B5EF4-FFF2-40B4-BE49-F238E27FC236}">
                <a16:creationId xmlns:a16="http://schemas.microsoft.com/office/drawing/2014/main" id="{C7D758E2-2981-8964-2DBD-5E4C29B7658D}"/>
              </a:ext>
              <a:ext uri="{C183D7F6-B498-43B3-948B-1728B52AA6E4}">
                <adec:decorative xmlns:adec="http://schemas.microsoft.com/office/drawing/2017/decorative" val="1"/>
              </a:ext>
            </a:extLst>
          </p:cNvPr>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5316000" y="0"/>
            <a:ext cx="6876000" cy="6876000"/>
          </a:xfrm>
          <a:prstGeom prst="rect">
            <a:avLst/>
          </a:prstGeom>
        </p:spPr>
      </p:pic>
      <p:sp>
        <p:nvSpPr>
          <p:cNvPr id="3" name="タイトル 2">
            <a:extLst>
              <a:ext uri="{FF2B5EF4-FFF2-40B4-BE49-F238E27FC236}">
                <a16:creationId xmlns:a16="http://schemas.microsoft.com/office/drawing/2014/main" id="{28E88A40-63CF-7644-EB56-0F82D8E1B9A2}"/>
              </a:ext>
            </a:extLst>
          </p:cNvPr>
          <p:cNvSpPr>
            <a:spLocks noGrp="1"/>
          </p:cNvSpPr>
          <p:nvPr>
            <p:ph type="title" hasCustomPrompt="1"/>
          </p:nvPr>
        </p:nvSpPr>
        <p:spPr>
          <a:xfrm>
            <a:off x="381600" y="864000"/>
            <a:ext cx="4842000" cy="795600"/>
          </a:xfrm>
          <a:prstGeom prst="rect">
            <a:avLst/>
          </a:prstGeom>
        </p:spPr>
        <p:txBody>
          <a:bodyPr lIns="0" rIns="0" anchor="b" anchorCtr="0"/>
          <a:lstStyle/>
          <a:p>
            <a:pPr lvl="0"/>
            <a:r>
              <a:rPr kumimoji="1" lang="ja-JP" altLang="en-US" dirty="0"/>
              <a:t>○○○○御中</a:t>
            </a:r>
          </a:p>
        </p:txBody>
      </p:sp>
      <p:sp>
        <p:nvSpPr>
          <p:cNvPr id="6" name="テキスト プレースホルダー 6">
            <a:extLst>
              <a:ext uri="{FF2B5EF4-FFF2-40B4-BE49-F238E27FC236}">
                <a16:creationId xmlns:a16="http://schemas.microsoft.com/office/drawing/2014/main" id="{F1A176CE-1C9E-473C-DA2D-5CF9AA7285F5}"/>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dirty="0"/>
              <a:t>［タイトル］</a:t>
            </a:r>
          </a:p>
        </p:txBody>
      </p:sp>
      <p:sp>
        <p:nvSpPr>
          <p:cNvPr id="8" name="テキスト プレースホルダー 10">
            <a:extLst>
              <a:ext uri="{FF2B5EF4-FFF2-40B4-BE49-F238E27FC236}">
                <a16:creationId xmlns:a16="http://schemas.microsoft.com/office/drawing/2014/main" id="{93FE156B-F772-D01E-4372-4120E52784D7}"/>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dirty="0"/>
              <a:t>2024</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1676540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sp>
        <p:nvSpPr>
          <p:cNvPr id="9" name="タイトル 2">
            <a:extLst>
              <a:ext uri="{FF2B5EF4-FFF2-40B4-BE49-F238E27FC236}">
                <a16:creationId xmlns:a16="http://schemas.microsoft.com/office/drawing/2014/main" id="{27DE0808-0ED8-A79F-3641-F6EE9429DF97}"/>
              </a:ext>
            </a:extLst>
          </p:cNvPr>
          <p:cNvSpPr>
            <a:spLocks noGrp="1"/>
          </p:cNvSpPr>
          <p:nvPr>
            <p:ph type="title" hasCustomPrompt="1"/>
          </p:nvPr>
        </p:nvSpPr>
        <p:spPr>
          <a:xfrm>
            <a:off x="381600" y="1450800"/>
            <a:ext cx="7185600" cy="795600"/>
          </a:xfrm>
          <a:prstGeom prst="rect">
            <a:avLst/>
          </a:prstGeom>
        </p:spPr>
        <p:txBody>
          <a:bodyPr lIns="0" rIns="0" anchor="b" anchorCtr="0"/>
          <a:lstStyle/>
          <a:p>
            <a:pPr lvl="0"/>
            <a:r>
              <a:rPr kumimoji="1" lang="ja-JP" altLang="en-US" dirty="0"/>
              <a:t>○○○○御中</a:t>
            </a:r>
          </a:p>
        </p:txBody>
      </p:sp>
      <p:sp>
        <p:nvSpPr>
          <p:cNvPr id="5" name="テキスト プレースホルダー 6">
            <a:extLst>
              <a:ext uri="{FF2B5EF4-FFF2-40B4-BE49-F238E27FC236}">
                <a16:creationId xmlns:a16="http://schemas.microsoft.com/office/drawing/2014/main" id="{C2C070B2-9499-0BB6-29F4-690002F8C381}"/>
              </a:ext>
            </a:extLst>
          </p:cNvPr>
          <p:cNvSpPr>
            <a:spLocks noGrp="1"/>
          </p:cNvSpPr>
          <p:nvPr>
            <p:ph type="body" sz="quarter" idx="11" hasCustomPrompt="1"/>
          </p:nvPr>
        </p:nvSpPr>
        <p:spPr>
          <a:xfrm>
            <a:off x="381600" y="2246399"/>
            <a:ext cx="7185600" cy="2346865"/>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dirty="0"/>
              <a:t>［タイトル］</a:t>
            </a:r>
          </a:p>
        </p:txBody>
      </p:sp>
      <p:sp>
        <p:nvSpPr>
          <p:cNvPr id="7" name="テキスト プレースホルダー 10">
            <a:extLst>
              <a:ext uri="{FF2B5EF4-FFF2-40B4-BE49-F238E27FC236}">
                <a16:creationId xmlns:a16="http://schemas.microsoft.com/office/drawing/2014/main" id="{009BF352-2699-13FB-9385-B1041D550802}"/>
              </a:ext>
            </a:extLst>
          </p:cNvPr>
          <p:cNvSpPr>
            <a:spLocks noGrp="1"/>
          </p:cNvSpPr>
          <p:nvPr>
            <p:ph type="body" sz="quarter" idx="13" hasCustomPrompt="1"/>
          </p:nvPr>
        </p:nvSpPr>
        <p:spPr>
          <a:xfrm>
            <a:off x="381600" y="5191200"/>
            <a:ext cx="71856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dirty="0"/>
              <a:t>2024</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pic>
        <p:nvPicPr>
          <p:cNvPr id="3" name="Innovation Curve">
            <a:extLst>
              <a:ext uri="{FF2B5EF4-FFF2-40B4-BE49-F238E27FC236}">
                <a16:creationId xmlns:a16="http://schemas.microsoft.com/office/drawing/2014/main" id="{EAAB32FC-8847-D6EB-B4CF-97DB854F7966}"/>
              </a:ext>
              <a:ext uri="{C183D7F6-B498-43B3-948B-1728B52AA6E4}">
                <adec:decorative xmlns:adec="http://schemas.microsoft.com/office/drawing/2017/decorative" val="1"/>
              </a:ext>
            </a:extLst>
          </p:cNvPr>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7616952" y="0"/>
            <a:ext cx="4602549" cy="6876288"/>
          </a:xfrm>
          <a:prstGeom prst="rect">
            <a:avLst/>
          </a:prstGeom>
        </p:spPr>
      </p:pic>
    </p:spTree>
    <p:extLst>
      <p:ext uri="{BB962C8B-B14F-4D97-AF65-F5344CB8AC3E}">
        <p14:creationId xmlns:p14="http://schemas.microsoft.com/office/powerpoint/2010/main" val="668788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sp>
        <p:nvSpPr>
          <p:cNvPr id="8" name="タイトル 2">
            <a:extLst>
              <a:ext uri="{FF2B5EF4-FFF2-40B4-BE49-F238E27FC236}">
                <a16:creationId xmlns:a16="http://schemas.microsoft.com/office/drawing/2014/main" id="{A3D5047C-C1BE-4A97-3D30-4818BC0783BA}"/>
              </a:ext>
            </a:extLst>
          </p:cNvPr>
          <p:cNvSpPr>
            <a:spLocks noGrp="1"/>
          </p:cNvSpPr>
          <p:nvPr>
            <p:ph type="title" hasCustomPrompt="1"/>
          </p:nvPr>
        </p:nvSpPr>
        <p:spPr>
          <a:xfrm>
            <a:off x="381600" y="1450800"/>
            <a:ext cx="11440800" cy="795600"/>
          </a:xfrm>
          <a:prstGeom prst="rect">
            <a:avLst/>
          </a:prstGeom>
        </p:spPr>
        <p:txBody>
          <a:bodyPr lIns="0" rIns="0" anchor="b" anchorCtr="0"/>
          <a:lstStyle/>
          <a:p>
            <a:pPr lvl="0"/>
            <a:r>
              <a:rPr kumimoji="1" lang="ja-JP" altLang="en-US" dirty="0"/>
              <a:t>○○○○御中</a:t>
            </a:r>
          </a:p>
        </p:txBody>
      </p:sp>
      <p:sp>
        <p:nvSpPr>
          <p:cNvPr id="4" name="テキスト プレースホルダー 6">
            <a:extLst>
              <a:ext uri="{FF2B5EF4-FFF2-40B4-BE49-F238E27FC236}">
                <a16:creationId xmlns:a16="http://schemas.microsoft.com/office/drawing/2014/main" id="{180CAA48-C9FC-9FB9-00D4-FB6ED53D8DB3}"/>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68E6879D-7AAE-B9F3-790D-BB85BE746EB6}"/>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dirty="0"/>
              <a:t>2024</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665905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FB7B2A75-74AE-F062-439F-A95954EBE583}"/>
              </a:ext>
            </a:extLst>
          </p:cNvPr>
          <p:cNvPicPr>
            <a:picLocks noChangeAspect="1"/>
          </p:cNvPicPr>
          <p:nvPr userDrawn="1"/>
        </p:nvPicPr>
        <p:blipFill rotWithShape="1">
          <a:blip r:embed="rId2"/>
          <a:srcRect l="21608" t="8744" r="2060" b="52192"/>
          <a:stretch/>
        </p:blipFill>
        <p:spPr>
          <a:xfrm>
            <a:off x="0" y="3351600"/>
            <a:ext cx="12193200" cy="3510000"/>
          </a:xfrm>
          <a:prstGeom prst="rect">
            <a:avLst/>
          </a:prstGeom>
        </p:spPr>
      </p:pic>
      <p:sp>
        <p:nvSpPr>
          <p:cNvPr id="8" name="タイトル 2">
            <a:extLst>
              <a:ext uri="{FF2B5EF4-FFF2-40B4-BE49-F238E27FC236}">
                <a16:creationId xmlns:a16="http://schemas.microsoft.com/office/drawing/2014/main" id="{D5207BED-C451-AA8A-BEC8-1DBBC55EB27E}"/>
              </a:ext>
            </a:extLst>
          </p:cNvPr>
          <p:cNvSpPr>
            <a:spLocks noGrp="1"/>
          </p:cNvSpPr>
          <p:nvPr>
            <p:ph type="title" hasCustomPrompt="1"/>
          </p:nvPr>
        </p:nvSpPr>
        <p:spPr>
          <a:xfrm>
            <a:off x="370800" y="752400"/>
            <a:ext cx="11440800" cy="396000"/>
          </a:xfrm>
          <a:prstGeom prst="rect">
            <a:avLst/>
          </a:prstGeom>
        </p:spPr>
        <p:txBody>
          <a:bodyPr lIns="0" rIns="0" anchor="b" anchorCtr="0"/>
          <a:lstStyle/>
          <a:p>
            <a:pPr lvl="0"/>
            <a:r>
              <a:rPr kumimoji="1" lang="ja-JP" altLang="en-US" dirty="0"/>
              <a:t>○○○○御中</a:t>
            </a:r>
          </a:p>
        </p:txBody>
      </p:sp>
      <p:sp>
        <p:nvSpPr>
          <p:cNvPr id="4" name="テキスト プレースホルダー 6">
            <a:extLst>
              <a:ext uri="{FF2B5EF4-FFF2-40B4-BE49-F238E27FC236}">
                <a16:creationId xmlns:a16="http://schemas.microsoft.com/office/drawing/2014/main" id="{6D1013E2-8F90-20CA-6004-C9D6A65332FD}"/>
              </a:ext>
            </a:extLst>
          </p:cNvPr>
          <p:cNvSpPr>
            <a:spLocks noGrp="1"/>
          </p:cNvSpPr>
          <p:nvPr>
            <p:ph type="body" sz="quarter" idx="11" hasCustomPrompt="1"/>
          </p:nvPr>
        </p:nvSpPr>
        <p:spPr>
          <a:xfrm>
            <a:off x="370800" y="1143727"/>
            <a:ext cx="11440800" cy="1422244"/>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5B0EF5B0-BD1D-106F-C4E1-D30AB815AAC8}"/>
              </a:ext>
            </a:extLst>
          </p:cNvPr>
          <p:cNvSpPr>
            <a:spLocks noGrp="1"/>
          </p:cNvSpPr>
          <p:nvPr>
            <p:ph type="body" sz="quarter" idx="13" hasCustomPrompt="1"/>
          </p:nvPr>
        </p:nvSpPr>
        <p:spPr>
          <a:xfrm>
            <a:off x="370800" y="2565971"/>
            <a:ext cx="11440800" cy="375900"/>
          </a:xfrm>
          <a:prstGeom prst="rect">
            <a:avLst/>
          </a:prstGeom>
        </p:spPr>
        <p:txBody>
          <a:bodyPr lIns="0" tIns="46800" rIns="0"/>
          <a:lstStyle>
            <a:lvl1pPr>
              <a:defRPr>
                <a:solidFill>
                  <a:schemeClr val="accent1"/>
                </a:solidFill>
              </a:defRPr>
            </a:lvl1pPr>
            <a:lvl5pPr marL="2438216" indent="0">
              <a:buNone/>
              <a:defRPr/>
            </a:lvl5pPr>
          </a:lstStyle>
          <a:p>
            <a:pPr lvl="0"/>
            <a:r>
              <a:rPr kumimoji="1" lang="en-US" altLang="ja-JP" dirty="0"/>
              <a:t>2024</a:t>
            </a:r>
            <a:r>
              <a:rPr kumimoji="1" lang="ja-JP" altLang="en-US" dirty="0"/>
              <a:t>年〇月〇日　株式会社</a:t>
            </a:r>
            <a:r>
              <a:rPr kumimoji="1" lang="en-US" altLang="ja-JP" dirty="0"/>
              <a:t>NTT</a:t>
            </a:r>
            <a:r>
              <a:rPr kumimoji="1" lang="ja-JP" altLang="en-US" dirty="0"/>
              <a:t>データ ○○○○○○</a:t>
            </a:r>
          </a:p>
        </p:txBody>
      </p:sp>
      <p:pic>
        <p:nvPicPr>
          <p:cNvPr id="9" name="図 8">
            <a:extLst>
              <a:ext uri="{FF2B5EF4-FFF2-40B4-BE49-F238E27FC236}">
                <a16:creationId xmlns:a16="http://schemas.microsoft.com/office/drawing/2014/main" id="{57B54130-C13B-014A-F9F3-0C8FCD6D2437}"/>
              </a:ext>
            </a:extLst>
          </p:cNvPr>
          <p:cNvPicPr>
            <a:picLocks noChangeAspect="1"/>
          </p:cNvPicPr>
          <p:nvPr userDrawn="1"/>
        </p:nvPicPr>
        <p:blipFill>
          <a:blip r:embed="rId3"/>
          <a:stretch>
            <a:fillRect/>
          </a:stretch>
        </p:blipFill>
        <p:spPr>
          <a:xfrm>
            <a:off x="9068400" y="3733200"/>
            <a:ext cx="2743200" cy="2743200"/>
          </a:xfrm>
          <a:prstGeom prst="rect">
            <a:avLst/>
          </a:prstGeom>
        </p:spPr>
      </p:pic>
      <p:sp>
        <p:nvSpPr>
          <p:cNvPr id="10" name="テキスト ボックス 9">
            <a:extLst>
              <a:ext uri="{FF2B5EF4-FFF2-40B4-BE49-F238E27FC236}">
                <a16:creationId xmlns:a16="http://schemas.microsoft.com/office/drawing/2014/main" id="{8D0D95E3-21F4-A71F-7D73-FE15E156422C}"/>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
        <p:nvSpPr>
          <p:cNvPr id="11" name="テキスト ボックス 10">
            <a:extLst>
              <a:ext uri="{FF2B5EF4-FFF2-40B4-BE49-F238E27FC236}">
                <a16:creationId xmlns:a16="http://schemas.microsoft.com/office/drawing/2014/main" id="{4D9542F4-2785-BB77-7E12-1225021C408C}"/>
              </a:ext>
            </a:extLst>
          </p:cNvPr>
          <p:cNvSpPr txBox="1"/>
          <p:nvPr userDrawn="1"/>
        </p:nvSpPr>
        <p:spPr>
          <a:xfrm>
            <a:off x="370800" y="31464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2026 NTT DATA Japan Corporation</a:t>
            </a:r>
          </a:p>
        </p:txBody>
      </p:sp>
    </p:spTree>
    <p:extLst>
      <p:ext uri="{BB962C8B-B14F-4D97-AF65-F5344CB8AC3E}">
        <p14:creationId xmlns:p14="http://schemas.microsoft.com/office/powerpoint/2010/main" val="132063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279E55B6-184B-9445-3C84-3C51FFA63D1B}"/>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2" name="タイトル 1">
            <a:extLst>
              <a:ext uri="{FF2B5EF4-FFF2-40B4-BE49-F238E27FC236}">
                <a16:creationId xmlns:a16="http://schemas.microsoft.com/office/drawing/2014/main" id="{D8C3003A-1C0D-B582-B3BE-CA14C4D8AE89}"/>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dirty="0"/>
              <a:t>01</a:t>
            </a:r>
            <a:endParaRPr kumimoji="1" lang="ja-JP" altLang="en-US"/>
          </a:p>
        </p:txBody>
      </p:sp>
      <p:sp>
        <p:nvSpPr>
          <p:cNvPr id="5" name="テキスト プレースホルダー 8">
            <a:extLst>
              <a:ext uri="{FF2B5EF4-FFF2-40B4-BE49-F238E27FC236}">
                <a16:creationId xmlns:a16="http://schemas.microsoft.com/office/drawing/2014/main" id="{FFDB246B-7466-9829-C733-D7C8F366017A}"/>
              </a:ext>
            </a:extLst>
          </p:cNvPr>
          <p:cNvSpPr>
            <a:spLocks noGrp="1"/>
          </p:cNvSpPr>
          <p:nvPr>
            <p:ph type="body" sz="quarter" idx="16" hasCustomPrompt="1"/>
          </p:nvPr>
        </p:nvSpPr>
        <p:spPr>
          <a:xfrm>
            <a:off x="4496400" y="2286000"/>
            <a:ext cx="7315200" cy="3952800"/>
          </a:xfrm>
          <a:prstGeom prst="rect">
            <a:avLst/>
          </a:prstGeom>
        </p:spPr>
        <p:txBody>
          <a:bodyPr lIns="0" tIns="0" rIns="0" bIns="0"/>
          <a:lstStyle>
            <a:lvl1pPr>
              <a:defRPr sz="4800" b="1">
                <a:solidFill>
                  <a:schemeClr val="accent1"/>
                </a:solidFill>
              </a:defRPr>
            </a:lvl1pPr>
          </a:lstStyle>
          <a:p>
            <a:pPr lvl="0"/>
            <a:r>
              <a:rPr kumimoji="1" lang="ja-JP" altLang="en-US"/>
              <a:t>中扉タイトル</a:t>
            </a:r>
          </a:p>
        </p:txBody>
      </p:sp>
      <p:sp>
        <p:nvSpPr>
          <p:cNvPr id="9" name="テキスト ボックス 8">
            <a:extLst>
              <a:ext uri="{FF2B5EF4-FFF2-40B4-BE49-F238E27FC236}">
                <a16:creationId xmlns:a16="http://schemas.microsoft.com/office/drawing/2014/main" id="{4E856B16-CC7F-D18A-5F95-82F6F68027FD}"/>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
        <p:nvSpPr>
          <p:cNvPr id="7" name="正方形/長方形 6">
            <a:extLst>
              <a:ext uri="{FF2B5EF4-FFF2-40B4-BE49-F238E27FC236}">
                <a16:creationId xmlns:a16="http://schemas.microsoft.com/office/drawing/2014/main" id="{B78BC61F-DFF6-D0AA-091E-65340A8F721F}"/>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0" name="テキスト ボックス 9">
            <a:extLst>
              <a:ext uri="{FF2B5EF4-FFF2-40B4-BE49-F238E27FC236}">
                <a16:creationId xmlns:a16="http://schemas.microsoft.com/office/drawing/2014/main" id="{D5163610-4754-0AB2-758B-6FFD6261400E}"/>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2026 NTT DATA Japan Corporation</a:t>
            </a:r>
          </a:p>
        </p:txBody>
      </p:sp>
      <p:sp>
        <p:nvSpPr>
          <p:cNvPr id="3" name="テキスト ボックス 2">
            <a:extLst>
              <a:ext uri="{FF2B5EF4-FFF2-40B4-BE49-F238E27FC236}">
                <a16:creationId xmlns:a16="http://schemas.microsoft.com/office/drawing/2014/main" id="{A743C299-B1D8-32E7-0665-7030EF319DF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1845279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70798" y="687601"/>
            <a:ext cx="7315200" cy="1447199"/>
          </a:xfrm>
          <a:prstGeom prst="rect">
            <a:avLst/>
          </a:prstGeom>
        </p:spPr>
        <p:txBody>
          <a:bodyPr/>
          <a:lstStyle/>
          <a:p>
            <a:r>
              <a:rPr kumimoji="1" lang="en-US" altLang="ja-JP" dirty="0"/>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70800" y="2286000"/>
            <a:ext cx="7315200" cy="3888000"/>
          </a:xfrm>
          <a:prstGeom prst="rect">
            <a:avLst/>
          </a:prstGeom>
        </p:spPr>
        <p:txBody>
          <a:bodyPr lIns="0" tIns="0" rIns="0" bIns="0"/>
          <a:lstStyle>
            <a:lvl1pPr>
              <a:defRPr sz="4000" b="1">
                <a:solidFill>
                  <a:schemeClr val="accent1"/>
                </a:solidFill>
              </a:defRPr>
            </a:lvl1pPr>
          </a:lstStyle>
          <a:p>
            <a:pPr lvl="0"/>
            <a:r>
              <a:rPr kumimoji="1" lang="ja-JP" altLang="en-US"/>
              <a:t>中扉タイトル</a:t>
            </a:r>
          </a:p>
        </p:txBody>
      </p:sp>
      <p:pic>
        <p:nvPicPr>
          <p:cNvPr id="4" name="Picture 6">
            <a:extLst>
              <a:ext uri="{FF2B5EF4-FFF2-40B4-BE49-F238E27FC236}">
                <a16:creationId xmlns:a16="http://schemas.microsoft.com/office/drawing/2014/main" id="{EB864475-214E-676F-1057-8A4E44927EF7}"/>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tretch>
            <a:fillRect/>
          </a:stretch>
        </p:blipFill>
        <p:spPr>
          <a:xfrm>
            <a:off x="8070773" y="2431973"/>
            <a:ext cx="3740227" cy="3740227"/>
          </a:xfrm>
          <a:prstGeom prst="rect">
            <a:avLst/>
          </a:prstGeom>
        </p:spPr>
      </p:pic>
      <p:sp>
        <p:nvSpPr>
          <p:cNvPr id="5" name="テキスト ボックス 4">
            <a:extLst>
              <a:ext uri="{FF2B5EF4-FFF2-40B4-BE49-F238E27FC236}">
                <a16:creationId xmlns:a16="http://schemas.microsoft.com/office/drawing/2014/main" id="{442CEE08-CDC8-97A0-0539-B8FAF99A176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1412629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写真入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01CCA0-7E92-7FFB-2532-8D8D86CBBF3B}"/>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dirty="0"/>
              <a:t>01</a:t>
            </a:r>
            <a:endParaRPr kumimoji="1" lang="ja-JP" altLang="en-US"/>
          </a:p>
        </p:txBody>
      </p:sp>
      <p:pic>
        <p:nvPicPr>
          <p:cNvPr id="3" name="Picture 6">
            <a:extLst>
              <a:ext uri="{FF2B5EF4-FFF2-40B4-BE49-F238E27FC236}">
                <a16:creationId xmlns:a16="http://schemas.microsoft.com/office/drawing/2014/main" id="{38FD529D-5FF6-E828-CE3E-B79F0DF687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94575" y="2447060"/>
            <a:ext cx="3718800" cy="3718800"/>
          </a:xfrm>
          <a:prstGeom prst="rect">
            <a:avLst/>
          </a:prstGeom>
        </p:spPr>
      </p:pic>
      <p:sp>
        <p:nvSpPr>
          <p:cNvPr id="5" name="テキスト プレースホルダー 8">
            <a:extLst>
              <a:ext uri="{FF2B5EF4-FFF2-40B4-BE49-F238E27FC236}">
                <a16:creationId xmlns:a16="http://schemas.microsoft.com/office/drawing/2014/main" id="{E10C1EF1-42DC-CE53-8902-8E322B4352D3}"/>
              </a:ext>
            </a:extLst>
          </p:cNvPr>
          <p:cNvSpPr>
            <a:spLocks noGrp="1"/>
          </p:cNvSpPr>
          <p:nvPr>
            <p:ph type="body" sz="quarter" idx="16" hasCustomPrompt="1"/>
          </p:nvPr>
        </p:nvSpPr>
        <p:spPr>
          <a:xfrm>
            <a:off x="4496400" y="2433600"/>
            <a:ext cx="7315200" cy="3740400"/>
          </a:xfrm>
          <a:prstGeom prst="rect">
            <a:avLst/>
          </a:prstGeom>
        </p:spPr>
        <p:txBody>
          <a:bodyPr lIns="0" tIns="0" rIns="0" bIns="0"/>
          <a:lstStyle>
            <a:lvl1pPr>
              <a:defRPr sz="4000" b="1">
                <a:solidFill>
                  <a:schemeClr val="accent1"/>
                </a:solidFill>
              </a:defRPr>
            </a:lvl1pPr>
          </a:lstStyle>
          <a:p>
            <a:pPr lvl="0"/>
            <a:r>
              <a:rPr kumimoji="1" lang="ja-JP" altLang="en-US" dirty="0"/>
              <a:t>中扉タイトル</a:t>
            </a:r>
          </a:p>
        </p:txBody>
      </p:sp>
      <p:sp>
        <p:nvSpPr>
          <p:cNvPr id="6" name="テキスト ボックス 5">
            <a:extLst>
              <a:ext uri="{FF2B5EF4-FFF2-40B4-BE49-F238E27FC236}">
                <a16:creationId xmlns:a16="http://schemas.microsoft.com/office/drawing/2014/main" id="{53785BB8-9BEF-6511-73A0-EFF55EDD2267}"/>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
        <p:nvSpPr>
          <p:cNvPr id="4" name="テキスト ボックス 3">
            <a:extLst>
              <a:ext uri="{FF2B5EF4-FFF2-40B4-BE49-F238E27FC236}">
                <a16:creationId xmlns:a16="http://schemas.microsoft.com/office/drawing/2014/main" id="{5AFADF36-0739-4336-5F19-36F99723999B}"/>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pic>
        <p:nvPicPr>
          <p:cNvPr id="8" name="図プレースホルダー 15">
            <a:extLst>
              <a:ext uri="{FF2B5EF4-FFF2-40B4-BE49-F238E27FC236}">
                <a16:creationId xmlns:a16="http://schemas.microsoft.com/office/drawing/2014/main" id="{7A73D8A7-ECC3-BBC6-EF06-B230921C7B4E}"/>
              </a:ext>
            </a:extLst>
          </p:cNvPr>
          <p:cNvPicPr>
            <a:picLocks noChangeAspect="1"/>
          </p:cNvPicPr>
          <p:nvPr userDrawn="1"/>
        </p:nvPicPr>
        <p:blipFill rotWithShape="1">
          <a:blip r:embed="rId3"/>
          <a:srcRect l="40504" r="3246"/>
          <a:stretch/>
        </p:blipFill>
        <p:spPr>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p:spPr>
      </p:pic>
    </p:spTree>
    <p:extLst>
      <p:ext uri="{BB962C8B-B14F-4D97-AF65-F5344CB8AC3E}">
        <p14:creationId xmlns:p14="http://schemas.microsoft.com/office/powerpoint/2010/main" val="1310426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08251914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1302DF2-0499-A7F0-F9C3-E5E071AA87A1}"/>
              </a:ext>
            </a:extLst>
          </p:cNvPr>
          <p:cNvSpPr/>
          <p:nvPr userDrawn="1"/>
        </p:nvSpPr>
        <p:spPr>
          <a:xfrm>
            <a:off x="0" y="0"/>
            <a:ext cx="12192000" cy="7308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bg1"/>
              </a:solidFill>
            </a:endParaRPr>
          </a:p>
        </p:txBody>
      </p:sp>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0"/>
            <a:ext cx="11448000" cy="730800"/>
          </a:xfrm>
        </p:spPr>
        <p:txBody>
          <a:bodyPr tIns="0" bIns="0" anchor="ctr">
            <a:noAutofit/>
          </a:bodyPr>
          <a:lstStyle>
            <a:lvl1pPr>
              <a:defRPr sz="2600">
                <a:solidFill>
                  <a:schemeClr val="bg1"/>
                </a:solidFill>
              </a:defRPr>
            </a:lvl1pPr>
          </a:lstStyle>
          <a:p>
            <a:r>
              <a:rPr kumimoji="1" lang="ja-JP" altLang="en-US" dirty="0"/>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99290230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08336317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217967863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spAutoFit/>
          </a:bodyPr>
          <a:lstStyle>
            <a:lvl1pPr>
              <a:defRPr sz="2600">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350789134"/>
      </p:ext>
    </p:extLst>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6618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561363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F524A762-DD3D-0F30-6F39-0BAD647C733D}"/>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5E3F105C-816B-C4B5-FF44-9C78401DC345}"/>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E6A7D226-AA1D-4565-296E-260FC63988D9}"/>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1" name="テキスト ボックス 10">
            <a:extLst>
              <a:ext uri="{FF2B5EF4-FFF2-40B4-BE49-F238E27FC236}">
                <a16:creationId xmlns:a16="http://schemas.microsoft.com/office/drawing/2014/main" id="{25F7EA9B-E085-E004-36B4-F14995B0339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12" name="テキスト ボックス 11">
            <a:extLst>
              <a:ext uri="{FF2B5EF4-FFF2-40B4-BE49-F238E27FC236}">
                <a16:creationId xmlns:a16="http://schemas.microsoft.com/office/drawing/2014/main" id="{C56F1922-EBFD-0984-2464-4DD07C5D3F5B}"/>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8C3FB7A8-16FC-BD93-A0B4-62A3FCF37C5A}"/>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3400063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BA8380C3-23D1-332E-5763-4E45DE28D8B2}"/>
              </a:ext>
            </a:extLst>
          </p:cNvPr>
          <p:cNvPicPr>
            <a:picLocks noChangeAspect="1"/>
          </p:cNvPicPr>
          <p:nvPr userDrawn="1"/>
        </p:nvPicPr>
        <p:blipFill rotWithShape="1">
          <a:blip r:embed="rId2"/>
          <a:srcRect l="58440" r="8440"/>
          <a:stretch/>
        </p:blipFill>
        <p:spPr>
          <a:xfrm>
            <a:off x="81534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
        <p:nvSpPr>
          <p:cNvPr id="9" name="正方形/長方形 8">
            <a:extLst>
              <a:ext uri="{FF2B5EF4-FFF2-40B4-BE49-F238E27FC236}">
                <a16:creationId xmlns:a16="http://schemas.microsoft.com/office/drawing/2014/main" id="{CA853D6E-6D9F-5F51-58ED-3ED1FABFD06D}"/>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10" name="図 9">
            <a:extLst>
              <a:ext uri="{FF2B5EF4-FFF2-40B4-BE49-F238E27FC236}">
                <a16:creationId xmlns:a16="http://schemas.microsoft.com/office/drawing/2014/main" id="{231878D8-FF4D-F5B8-7D51-A27150395E67}"/>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5" name="テキスト ボックス 4">
            <a:extLst>
              <a:ext uri="{FF2B5EF4-FFF2-40B4-BE49-F238E27FC236}">
                <a16:creationId xmlns:a16="http://schemas.microsoft.com/office/drawing/2014/main" id="{4C55398C-909F-71D0-49CD-60754A59BD4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40721690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12BB1B84-3873-592B-346A-382DA695B2B2}"/>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8" name="テキスト ボックス 7">
            <a:extLst>
              <a:ext uri="{FF2B5EF4-FFF2-40B4-BE49-F238E27FC236}">
                <a16:creationId xmlns:a16="http://schemas.microsoft.com/office/drawing/2014/main" id="{F2A10DC3-739F-B3F0-BA1B-B970F391658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
        <p:nvSpPr>
          <p:cNvPr id="4" name="正方形/長方形 3">
            <a:extLst>
              <a:ext uri="{FF2B5EF4-FFF2-40B4-BE49-F238E27FC236}">
                <a16:creationId xmlns:a16="http://schemas.microsoft.com/office/drawing/2014/main" id="{6F909204-40F4-08DA-5F77-8CD9CC767A5B}"/>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9" name="テキスト ボックス 8">
            <a:extLst>
              <a:ext uri="{FF2B5EF4-FFF2-40B4-BE49-F238E27FC236}">
                <a16:creationId xmlns:a16="http://schemas.microsoft.com/office/drawing/2014/main" id="{DF1F4A7B-797E-8774-7A15-00748447B4EA}"/>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2026 NTT DATA Japan Corporation</a:t>
            </a:r>
          </a:p>
        </p:txBody>
      </p:sp>
      <p:sp>
        <p:nvSpPr>
          <p:cNvPr id="5" name="テキスト ボックス 4">
            <a:extLst>
              <a:ext uri="{FF2B5EF4-FFF2-40B4-BE49-F238E27FC236}">
                <a16:creationId xmlns:a16="http://schemas.microsoft.com/office/drawing/2014/main" id="{C722009A-DED3-7073-83CB-04DBCF9C572B}"/>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4935579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C2044BA7-36F7-9477-3C85-FA967B223BAA}"/>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6" name="正方形/長方形 5">
            <a:extLst>
              <a:ext uri="{FF2B5EF4-FFF2-40B4-BE49-F238E27FC236}">
                <a16:creationId xmlns:a16="http://schemas.microsoft.com/office/drawing/2014/main" id="{9C900E81-5532-6F3F-3DCC-003C90BA5ECB}"/>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9" name="図 8">
            <a:extLst>
              <a:ext uri="{FF2B5EF4-FFF2-40B4-BE49-F238E27FC236}">
                <a16:creationId xmlns:a16="http://schemas.microsoft.com/office/drawing/2014/main" id="{AE17DA24-7E4F-696A-F536-1C16C913B80D}"/>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6A05FF2A-BCBB-15AB-3787-FE03495E6FCB}"/>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13" name="テキスト ボックス 12">
            <a:extLst>
              <a:ext uri="{FF2B5EF4-FFF2-40B4-BE49-F238E27FC236}">
                <a16:creationId xmlns:a16="http://schemas.microsoft.com/office/drawing/2014/main" id="{8BBC1440-FAD9-794A-1B15-7B7A1614395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18655178-DE12-7246-7FDA-793D4F72C04F}"/>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4168147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dirty="0" err="1"/>
              <a:t>クリックして画像を追加してください</a:t>
            </a:r>
            <a:r>
              <a:rPr lang="en-US" dirty="0"/>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dirty="0" err="1"/>
              <a:t>クリックして画像を追加してください</a:t>
            </a:r>
            <a:r>
              <a:rPr lang="en-US" dirty="0"/>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dirty="0" err="1"/>
              <a:t>クリックして画像を追加してください</a:t>
            </a:r>
            <a:r>
              <a:rPr lang="en-US" dirty="0"/>
              <a:t>。</a:t>
            </a:r>
          </a:p>
        </p:txBody>
      </p:sp>
    </p:spTree>
    <p:extLst>
      <p:ext uri="{BB962C8B-B14F-4D97-AF65-F5344CB8AC3E}">
        <p14:creationId xmlns:p14="http://schemas.microsoft.com/office/powerpoint/2010/main" val="5360333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8" name="テキスト ボックス 7">
            <a:extLst>
              <a:ext uri="{FF2B5EF4-FFF2-40B4-BE49-F238E27FC236}">
                <a16:creationId xmlns:a16="http://schemas.microsoft.com/office/drawing/2014/main" id="{C76A7A10-7575-DD29-07D8-321ECD75E9AA}"/>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2738338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D5407A4A-3DB7-4C09-9159-4E2F57E6F3A7}"/>
              </a:ext>
            </a:extLst>
          </p:cNvPr>
          <p:cNvPicPr>
            <a:picLocks noChangeAspect="1"/>
          </p:cNvPicPr>
          <p:nvPr userDrawn="1"/>
        </p:nvPicPr>
        <p:blipFill>
          <a:blip r:embed="rId2"/>
          <a:srcRect/>
          <a:stretch/>
        </p:blipFill>
        <p:spPr>
          <a:xfrm>
            <a:off x="3877768" y="2865911"/>
            <a:ext cx="4436464" cy="1126177"/>
          </a:xfrm>
          <a:prstGeom prst="rect">
            <a:avLst/>
          </a:prstGeom>
        </p:spPr>
      </p:pic>
    </p:spTree>
    <p:extLst>
      <p:ext uri="{BB962C8B-B14F-4D97-AF65-F5344CB8AC3E}">
        <p14:creationId xmlns:p14="http://schemas.microsoft.com/office/powerpoint/2010/main" val="11673992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12191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2"/>
            <a:ext cx="12192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885475" y="2865911"/>
            <a:ext cx="4421049" cy="1126177"/>
          </a:xfrm>
          <a:prstGeom prst="rect">
            <a:avLst/>
          </a:prstGeom>
        </p:spPr>
      </p:pic>
    </p:spTree>
    <p:extLst>
      <p:ext uri="{BB962C8B-B14F-4D97-AF65-F5344CB8AC3E}">
        <p14:creationId xmlns:p14="http://schemas.microsoft.com/office/powerpoint/2010/main" val="3348986222"/>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914A62E0-557E-B957-9899-5EBF45E3EA8C}"/>
              </a:ext>
            </a:extLst>
          </p:cNvPr>
          <p:cNvPicPr>
            <a:picLocks noChangeAspect="1"/>
          </p:cNvPicPr>
          <p:nvPr userDrawn="1"/>
        </p:nvPicPr>
        <p:blipFill>
          <a:blip r:embed="rId2"/>
          <a:srcRect/>
          <a:stretch/>
        </p:blipFill>
        <p:spPr>
          <a:xfrm>
            <a:off x="1" y="-1"/>
            <a:ext cx="12191998" cy="6857999"/>
          </a:xfrm>
          <a:prstGeom prst="rect">
            <a:avLst/>
          </a:prstGeom>
        </p:spPr>
      </p:pic>
      <p:sp>
        <p:nvSpPr>
          <p:cNvPr id="15" name="正方形/長方形 14">
            <a:extLst>
              <a:ext uri="{FF2B5EF4-FFF2-40B4-BE49-F238E27FC236}">
                <a16:creationId xmlns:a16="http://schemas.microsoft.com/office/drawing/2014/main" id="{B21D845A-6F22-B3AA-CB2B-CE570ECB54DA}"/>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14" name="図 13">
            <a:extLst>
              <a:ext uri="{FF2B5EF4-FFF2-40B4-BE49-F238E27FC236}">
                <a16:creationId xmlns:a16="http://schemas.microsoft.com/office/drawing/2014/main" id="{293D96B2-6F5E-EE7E-9F24-93B0B654C8F0}"/>
              </a:ext>
            </a:extLst>
          </p:cNvPr>
          <p:cNvPicPr>
            <a:picLocks noChangeAspect="1"/>
          </p:cNvPicPr>
          <p:nvPr userDrawn="1"/>
        </p:nvPicPr>
        <p:blipFill>
          <a:blip r:embed="rId3"/>
          <a:stretch>
            <a:fillRect/>
          </a:stretch>
        </p:blipFill>
        <p:spPr>
          <a:xfrm>
            <a:off x="5354200" y="0"/>
            <a:ext cx="6837800" cy="6876000"/>
          </a:xfrm>
          <a:prstGeom prst="rect">
            <a:avLst/>
          </a:prstGeom>
        </p:spPr>
      </p:pic>
      <p:pic>
        <p:nvPicPr>
          <p:cNvPr id="7" name="図 6">
            <a:extLst>
              <a:ext uri="{FF2B5EF4-FFF2-40B4-BE49-F238E27FC236}">
                <a16:creationId xmlns:a16="http://schemas.microsoft.com/office/drawing/2014/main" id="{306268F2-28E0-79B7-DA6F-57A7B640AE86}"/>
              </a:ext>
            </a:extLst>
          </p:cNvPr>
          <p:cNvPicPr>
            <a:picLocks noChangeAspect="1"/>
          </p:cNvPicPr>
          <p:nvPr userDrawn="1"/>
        </p:nvPicPr>
        <p:blipFill>
          <a:blip r:embed="rId4"/>
          <a:srcRect/>
          <a:stretch/>
        </p:blipFill>
        <p:spPr>
          <a:xfrm>
            <a:off x="231864" y="191534"/>
            <a:ext cx="2237123" cy="569864"/>
          </a:xfrm>
          <a:prstGeom prst="rect">
            <a:avLst/>
          </a:prstGeom>
        </p:spPr>
      </p:pic>
      <p:sp>
        <p:nvSpPr>
          <p:cNvPr id="17" name="テキスト ボックス 16">
            <a:extLst>
              <a:ext uri="{FF2B5EF4-FFF2-40B4-BE49-F238E27FC236}">
                <a16:creationId xmlns:a16="http://schemas.microsoft.com/office/drawing/2014/main" id="{638584A2-F12B-7FC9-C3A1-97D2EFB00B41}"/>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2" name="タイトル 2">
            <a:extLst>
              <a:ext uri="{FF2B5EF4-FFF2-40B4-BE49-F238E27FC236}">
                <a16:creationId xmlns:a16="http://schemas.microsoft.com/office/drawing/2014/main" id="{9FFE2739-2E04-47EE-56DD-BB294EDAFE24}"/>
              </a:ext>
            </a:extLst>
          </p:cNvPr>
          <p:cNvSpPr>
            <a:spLocks noGrp="1"/>
          </p:cNvSpPr>
          <p:nvPr>
            <p:ph type="title" hasCustomPrompt="1"/>
          </p:nvPr>
        </p:nvSpPr>
        <p:spPr>
          <a:xfrm>
            <a:off x="381600" y="864000"/>
            <a:ext cx="4842000"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9" name="テキスト プレースホルダー 6">
            <a:extLst>
              <a:ext uri="{FF2B5EF4-FFF2-40B4-BE49-F238E27FC236}">
                <a16:creationId xmlns:a16="http://schemas.microsoft.com/office/drawing/2014/main" id="{F837CDFA-F63F-E633-A624-CDB5B06CAF47}"/>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dirty="0"/>
              <a:t>［タイトル］</a:t>
            </a:r>
          </a:p>
        </p:txBody>
      </p:sp>
      <p:sp>
        <p:nvSpPr>
          <p:cNvPr id="10" name="テキスト プレースホルダー 10">
            <a:extLst>
              <a:ext uri="{FF2B5EF4-FFF2-40B4-BE49-F238E27FC236}">
                <a16:creationId xmlns:a16="http://schemas.microsoft.com/office/drawing/2014/main" id="{C902823D-1000-9AD4-A5D1-BC7E7F7ABDBA}"/>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dirty="0"/>
              <a:t>2024</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34610233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pic>
        <p:nvPicPr>
          <p:cNvPr id="3" name="Picture Placeholder 8">
            <a:extLst>
              <a:ext uri="{FF2B5EF4-FFF2-40B4-BE49-F238E27FC236}">
                <a16:creationId xmlns:a16="http://schemas.microsoft.com/office/drawing/2014/main" id="{135D64F4-1CA0-56CF-8C07-767DED8AAB1A}"/>
              </a:ext>
            </a:extLst>
          </p:cNvPr>
          <p:cNvPicPr>
            <a:picLocks noChangeAspect="1"/>
          </p:cNvPicPr>
          <p:nvPr userDrawn="1"/>
        </p:nvPicPr>
        <p:blipFill>
          <a:blip r:embed="rId2"/>
          <a:srcRect/>
          <a:stretch/>
        </p:blipFill>
        <p:spPr>
          <a:xfrm>
            <a:off x="1" y="-1"/>
            <a:ext cx="12191998" cy="6857999"/>
          </a:xfrm>
          <a:prstGeom prst="rect">
            <a:avLst/>
          </a:prstGeom>
        </p:spPr>
      </p:pic>
      <p:sp>
        <p:nvSpPr>
          <p:cNvPr id="8" name="正方形/長方形 7">
            <a:extLst>
              <a:ext uri="{FF2B5EF4-FFF2-40B4-BE49-F238E27FC236}">
                <a16:creationId xmlns:a16="http://schemas.microsoft.com/office/drawing/2014/main" id="{297923DD-A187-436F-BFDF-933B5E40DE59}"/>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5" name="図 4">
            <a:extLst>
              <a:ext uri="{FF2B5EF4-FFF2-40B4-BE49-F238E27FC236}">
                <a16:creationId xmlns:a16="http://schemas.microsoft.com/office/drawing/2014/main" id="{1F0B3FE2-7046-025F-1030-28927CDF7940}"/>
              </a:ext>
            </a:extLst>
          </p:cNvPr>
          <p:cNvPicPr>
            <a:picLocks noChangeAspect="1"/>
          </p:cNvPicPr>
          <p:nvPr userDrawn="1"/>
        </p:nvPicPr>
        <p:blipFill>
          <a:blip r:embed="rId3"/>
          <a:srcRect/>
          <a:stretch/>
        </p:blipFill>
        <p:spPr>
          <a:xfrm>
            <a:off x="231864" y="191534"/>
            <a:ext cx="2237123" cy="569864"/>
          </a:xfrm>
          <a:prstGeom prst="rect">
            <a:avLst/>
          </a:prstGeom>
        </p:spPr>
      </p:pic>
      <p:pic>
        <p:nvPicPr>
          <p:cNvPr id="7" name="図 6">
            <a:extLst>
              <a:ext uri="{FF2B5EF4-FFF2-40B4-BE49-F238E27FC236}">
                <a16:creationId xmlns:a16="http://schemas.microsoft.com/office/drawing/2014/main" id="{C26356CC-4A55-00B4-4C29-4C4FF9AC3E50}"/>
              </a:ext>
            </a:extLst>
          </p:cNvPr>
          <p:cNvPicPr>
            <a:picLocks noChangeAspect="1"/>
          </p:cNvPicPr>
          <p:nvPr userDrawn="1"/>
        </p:nvPicPr>
        <p:blipFill>
          <a:blip r:embed="rId4"/>
          <a:stretch>
            <a:fillRect/>
          </a:stretch>
        </p:blipFill>
        <p:spPr>
          <a:xfrm>
            <a:off x="7628966" y="0"/>
            <a:ext cx="4558534" cy="6876000"/>
          </a:xfrm>
          <a:prstGeom prst="rect">
            <a:avLst/>
          </a:prstGeom>
        </p:spPr>
      </p:pic>
      <p:sp>
        <p:nvSpPr>
          <p:cNvPr id="10" name="テキスト ボックス 9">
            <a:extLst>
              <a:ext uri="{FF2B5EF4-FFF2-40B4-BE49-F238E27FC236}">
                <a16:creationId xmlns:a16="http://schemas.microsoft.com/office/drawing/2014/main" id="{253D2BDA-26EA-370D-2084-F7F1C3809C6A}"/>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4" name="テキスト ボックス 3">
            <a:extLst>
              <a:ext uri="{FF2B5EF4-FFF2-40B4-BE49-F238E27FC236}">
                <a16:creationId xmlns:a16="http://schemas.microsoft.com/office/drawing/2014/main" id="{0C97F027-0343-7668-5879-F7126DF17584}"/>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
        <p:nvSpPr>
          <p:cNvPr id="2" name="タイトル 2">
            <a:extLst>
              <a:ext uri="{FF2B5EF4-FFF2-40B4-BE49-F238E27FC236}">
                <a16:creationId xmlns:a16="http://schemas.microsoft.com/office/drawing/2014/main" id="{FDC3CA59-45BD-B018-FE26-B50D0990128D}"/>
              </a:ext>
            </a:extLst>
          </p:cNvPr>
          <p:cNvSpPr>
            <a:spLocks noGrp="1"/>
          </p:cNvSpPr>
          <p:nvPr>
            <p:ph type="title" hasCustomPrompt="1"/>
          </p:nvPr>
        </p:nvSpPr>
        <p:spPr>
          <a:xfrm>
            <a:off x="381600" y="1450800"/>
            <a:ext cx="7185600"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12" name="テキスト プレースホルダー 6">
            <a:extLst>
              <a:ext uri="{FF2B5EF4-FFF2-40B4-BE49-F238E27FC236}">
                <a16:creationId xmlns:a16="http://schemas.microsoft.com/office/drawing/2014/main" id="{2704D472-D7F1-5C17-D2C9-89CA9C7E6E83}"/>
              </a:ext>
            </a:extLst>
          </p:cNvPr>
          <p:cNvSpPr>
            <a:spLocks noGrp="1"/>
          </p:cNvSpPr>
          <p:nvPr>
            <p:ph type="body" sz="quarter" idx="11" hasCustomPrompt="1"/>
          </p:nvPr>
        </p:nvSpPr>
        <p:spPr>
          <a:xfrm>
            <a:off x="381600" y="2246399"/>
            <a:ext cx="7185600" cy="2346865"/>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dirty="0"/>
              <a:t>［タイトル］</a:t>
            </a:r>
          </a:p>
        </p:txBody>
      </p:sp>
      <p:sp>
        <p:nvSpPr>
          <p:cNvPr id="13" name="テキスト プレースホルダー 10">
            <a:extLst>
              <a:ext uri="{FF2B5EF4-FFF2-40B4-BE49-F238E27FC236}">
                <a16:creationId xmlns:a16="http://schemas.microsoft.com/office/drawing/2014/main" id="{FF2F9E31-F480-6E30-B7CC-0D2A360E0E4D}"/>
              </a:ext>
            </a:extLst>
          </p:cNvPr>
          <p:cNvSpPr>
            <a:spLocks noGrp="1"/>
          </p:cNvSpPr>
          <p:nvPr>
            <p:ph type="body" sz="quarter" idx="13" hasCustomPrompt="1"/>
          </p:nvPr>
        </p:nvSpPr>
        <p:spPr>
          <a:xfrm>
            <a:off x="381600" y="5191200"/>
            <a:ext cx="71856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dirty="0"/>
              <a:t>2024</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35058765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10AAF6A0-9426-1792-5BF0-ADD639497155}"/>
              </a:ext>
            </a:extLst>
          </p:cNvPr>
          <p:cNvPicPr>
            <a:picLocks noChangeAspect="1"/>
          </p:cNvPicPr>
          <p:nvPr userDrawn="1"/>
        </p:nvPicPr>
        <p:blipFill>
          <a:blip r:embed="rId2"/>
          <a:srcRect/>
          <a:stretch/>
        </p:blipFill>
        <p:spPr>
          <a:xfrm>
            <a:off x="1" y="-1"/>
            <a:ext cx="12191998" cy="6857999"/>
          </a:xfrm>
          <a:prstGeom prst="rect">
            <a:avLst/>
          </a:prstGeom>
        </p:spPr>
      </p:pic>
      <p:sp>
        <p:nvSpPr>
          <p:cNvPr id="4" name="正方形/長方形 3">
            <a:extLst>
              <a:ext uri="{FF2B5EF4-FFF2-40B4-BE49-F238E27FC236}">
                <a16:creationId xmlns:a16="http://schemas.microsoft.com/office/drawing/2014/main" id="{770D6933-50FC-7553-7845-69CEDA1C00C5}"/>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3" name="図 2">
            <a:extLst>
              <a:ext uri="{FF2B5EF4-FFF2-40B4-BE49-F238E27FC236}">
                <a16:creationId xmlns:a16="http://schemas.microsoft.com/office/drawing/2014/main" id="{14FF15F3-493A-8C15-9F64-F0766961604A}"/>
              </a:ext>
            </a:extLst>
          </p:cNvPr>
          <p:cNvPicPr>
            <a:picLocks noChangeAspect="1"/>
          </p:cNvPicPr>
          <p:nvPr userDrawn="1"/>
        </p:nvPicPr>
        <p:blipFill>
          <a:blip r:embed="rId3"/>
          <a:srcRect/>
          <a:stretch/>
        </p:blipFill>
        <p:spPr>
          <a:xfrm>
            <a:off x="231864" y="191534"/>
            <a:ext cx="2237123" cy="569864"/>
          </a:xfrm>
          <a:prstGeom prst="rect">
            <a:avLst/>
          </a:prstGeom>
        </p:spPr>
      </p:pic>
      <p:sp>
        <p:nvSpPr>
          <p:cNvPr id="6" name="テキスト ボックス 5">
            <a:extLst>
              <a:ext uri="{FF2B5EF4-FFF2-40B4-BE49-F238E27FC236}">
                <a16:creationId xmlns:a16="http://schemas.microsoft.com/office/drawing/2014/main" id="{E6AA3F11-2310-C251-1D68-4B8F48D5014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8" name="テキスト ボックス 7">
            <a:extLst>
              <a:ext uri="{FF2B5EF4-FFF2-40B4-BE49-F238E27FC236}">
                <a16:creationId xmlns:a16="http://schemas.microsoft.com/office/drawing/2014/main" id="{A6C1596D-A3C7-4FF6-6DFA-9626A8F84014}"/>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
        <p:nvSpPr>
          <p:cNvPr id="7" name="タイトル 2">
            <a:extLst>
              <a:ext uri="{FF2B5EF4-FFF2-40B4-BE49-F238E27FC236}">
                <a16:creationId xmlns:a16="http://schemas.microsoft.com/office/drawing/2014/main" id="{8D564593-F08C-BEC6-7F51-ED1F5CE1271B}"/>
              </a:ext>
            </a:extLst>
          </p:cNvPr>
          <p:cNvSpPr>
            <a:spLocks noGrp="1"/>
          </p:cNvSpPr>
          <p:nvPr>
            <p:ph type="title" hasCustomPrompt="1"/>
          </p:nvPr>
        </p:nvSpPr>
        <p:spPr>
          <a:xfrm>
            <a:off x="381600" y="1450800"/>
            <a:ext cx="11440800"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11" name="テキスト プレースホルダー 6">
            <a:extLst>
              <a:ext uri="{FF2B5EF4-FFF2-40B4-BE49-F238E27FC236}">
                <a16:creationId xmlns:a16="http://schemas.microsoft.com/office/drawing/2014/main" id="{0B4BDF00-A209-76C8-BB25-F0D0D8A5CF53}"/>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2" name="テキスト プレースホルダー 10">
            <a:extLst>
              <a:ext uri="{FF2B5EF4-FFF2-40B4-BE49-F238E27FC236}">
                <a16:creationId xmlns:a16="http://schemas.microsoft.com/office/drawing/2014/main" id="{07CC41DA-AB1D-B096-5118-CDEB9ED3AACC}"/>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dirty="0"/>
              <a:t>2024</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10336534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5" name="図プレースホルダー 11">
            <a:extLst>
              <a:ext uri="{FF2B5EF4-FFF2-40B4-BE49-F238E27FC236}">
                <a16:creationId xmlns:a16="http://schemas.microsoft.com/office/drawing/2014/main" id="{A3393BEA-233F-245F-0129-ADDB8158110C}"/>
              </a:ext>
            </a:extLst>
          </p:cNvPr>
          <p:cNvPicPr>
            <a:picLocks noChangeAspect="1"/>
          </p:cNvPicPr>
          <p:nvPr userDrawn="1"/>
        </p:nvPicPr>
        <p:blipFill rotWithShape="1">
          <a:blip r:embed="rId2"/>
          <a:srcRect l="21608" t="8744" r="2060" b="52192"/>
          <a:stretch/>
        </p:blipFill>
        <p:spPr>
          <a:xfrm>
            <a:off x="0" y="3351600"/>
            <a:ext cx="12193200" cy="3510000"/>
          </a:xfrm>
          <a:prstGeom prst="rect">
            <a:avLst/>
          </a:prstGeom>
        </p:spPr>
      </p:pic>
      <p:pic>
        <p:nvPicPr>
          <p:cNvPr id="10" name="図 9">
            <a:extLst>
              <a:ext uri="{FF2B5EF4-FFF2-40B4-BE49-F238E27FC236}">
                <a16:creationId xmlns:a16="http://schemas.microsoft.com/office/drawing/2014/main" id="{4E76937A-BEA1-17BD-51FF-75828A894647}"/>
              </a:ext>
            </a:extLst>
          </p:cNvPr>
          <p:cNvPicPr>
            <a:picLocks noChangeAspect="1"/>
          </p:cNvPicPr>
          <p:nvPr userDrawn="1"/>
        </p:nvPicPr>
        <p:blipFill>
          <a:blip r:embed="rId3"/>
          <a:stretch>
            <a:fillRect/>
          </a:stretch>
        </p:blipFill>
        <p:spPr>
          <a:xfrm>
            <a:off x="9068400" y="3733200"/>
            <a:ext cx="2743200" cy="2743200"/>
          </a:xfrm>
          <a:prstGeom prst="rect">
            <a:avLst/>
          </a:prstGeom>
        </p:spPr>
      </p:pic>
      <p:sp>
        <p:nvSpPr>
          <p:cNvPr id="12" name="テキスト ボックス 11">
            <a:extLst>
              <a:ext uri="{FF2B5EF4-FFF2-40B4-BE49-F238E27FC236}">
                <a16:creationId xmlns:a16="http://schemas.microsoft.com/office/drawing/2014/main" id="{CC6F50BD-6D4E-93A3-94F5-CD0A6C075F68}"/>
              </a:ext>
            </a:extLst>
          </p:cNvPr>
          <p:cNvSpPr txBox="1"/>
          <p:nvPr userDrawn="1"/>
        </p:nvSpPr>
        <p:spPr>
          <a:xfrm>
            <a:off x="370800" y="31464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7" name="テキスト ボックス 6">
            <a:extLst>
              <a:ext uri="{FF2B5EF4-FFF2-40B4-BE49-F238E27FC236}">
                <a16:creationId xmlns:a16="http://schemas.microsoft.com/office/drawing/2014/main" id="{5FFAB0DC-12F1-0A0D-5E05-98EABE352010}"/>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
        <p:nvSpPr>
          <p:cNvPr id="2" name="タイトル 2">
            <a:extLst>
              <a:ext uri="{FF2B5EF4-FFF2-40B4-BE49-F238E27FC236}">
                <a16:creationId xmlns:a16="http://schemas.microsoft.com/office/drawing/2014/main" id="{F5B93878-EB0F-DF28-452A-99587B3CF9AF}"/>
              </a:ext>
            </a:extLst>
          </p:cNvPr>
          <p:cNvSpPr>
            <a:spLocks noGrp="1"/>
          </p:cNvSpPr>
          <p:nvPr>
            <p:ph type="title" hasCustomPrompt="1"/>
          </p:nvPr>
        </p:nvSpPr>
        <p:spPr>
          <a:xfrm>
            <a:off x="370800" y="752400"/>
            <a:ext cx="11440800" cy="3960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3" name="テキスト プレースホルダー 6">
            <a:extLst>
              <a:ext uri="{FF2B5EF4-FFF2-40B4-BE49-F238E27FC236}">
                <a16:creationId xmlns:a16="http://schemas.microsoft.com/office/drawing/2014/main" id="{5893501C-E04B-3D7E-860E-2A66FEF8D7C9}"/>
              </a:ext>
            </a:extLst>
          </p:cNvPr>
          <p:cNvSpPr>
            <a:spLocks noGrp="1"/>
          </p:cNvSpPr>
          <p:nvPr>
            <p:ph type="body" sz="quarter" idx="11" hasCustomPrompt="1"/>
          </p:nvPr>
        </p:nvSpPr>
        <p:spPr>
          <a:xfrm>
            <a:off x="370800" y="1143727"/>
            <a:ext cx="11440800" cy="1422244"/>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4" name="テキスト プレースホルダー 10">
            <a:extLst>
              <a:ext uri="{FF2B5EF4-FFF2-40B4-BE49-F238E27FC236}">
                <a16:creationId xmlns:a16="http://schemas.microsoft.com/office/drawing/2014/main" id="{8ADA0CC1-B34F-2866-9154-43C9EABF8BF5}"/>
              </a:ext>
            </a:extLst>
          </p:cNvPr>
          <p:cNvSpPr>
            <a:spLocks noGrp="1"/>
          </p:cNvSpPr>
          <p:nvPr>
            <p:ph type="body" sz="quarter" idx="13" hasCustomPrompt="1"/>
          </p:nvPr>
        </p:nvSpPr>
        <p:spPr>
          <a:xfrm>
            <a:off x="370800" y="2565971"/>
            <a:ext cx="11440800" cy="375900"/>
          </a:xfrm>
          <a:prstGeom prst="rect">
            <a:avLst/>
          </a:prstGeom>
        </p:spPr>
        <p:txBody>
          <a:bodyPr lIns="0" tIns="46800" rIns="0"/>
          <a:lstStyle>
            <a:lvl1pPr>
              <a:defRPr>
                <a:solidFill>
                  <a:schemeClr val="bg1"/>
                </a:solidFill>
              </a:defRPr>
            </a:lvl1pPr>
            <a:lvl5pPr marL="2438216" indent="0">
              <a:buNone/>
              <a:defRPr/>
            </a:lvl5pPr>
          </a:lstStyle>
          <a:p>
            <a:pPr lvl="0"/>
            <a:r>
              <a:rPr kumimoji="1" lang="en-US" altLang="ja-JP" dirty="0"/>
              <a:t>2024</a:t>
            </a:r>
            <a:r>
              <a:rPr kumimoji="1" lang="ja-JP" altLang="en-US" dirty="0"/>
              <a:t>年〇月〇日　株式会社</a:t>
            </a:r>
            <a:r>
              <a:rPr kumimoji="1" lang="en-US" altLang="ja-JP" dirty="0"/>
              <a:t>NTT</a:t>
            </a:r>
            <a:r>
              <a:rPr kumimoji="1" lang="ja-JP" altLang="en-US" dirty="0"/>
              <a:t>データ ○○○○○○</a:t>
            </a:r>
          </a:p>
        </p:txBody>
      </p:sp>
    </p:spTree>
    <p:extLst>
      <p:ext uri="{BB962C8B-B14F-4D97-AF65-F5344CB8AC3E}">
        <p14:creationId xmlns:p14="http://schemas.microsoft.com/office/powerpoint/2010/main" val="8006712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4" name="Picture Placeholder 8">
            <a:extLst>
              <a:ext uri="{FF2B5EF4-FFF2-40B4-BE49-F238E27FC236}">
                <a16:creationId xmlns:a16="http://schemas.microsoft.com/office/drawing/2014/main" id="{4CF74755-19E7-052E-D6BE-AE04C9B65B9E}"/>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2" name="タイトル 1">
            <a:extLst>
              <a:ext uri="{FF2B5EF4-FFF2-40B4-BE49-F238E27FC236}">
                <a16:creationId xmlns:a16="http://schemas.microsoft.com/office/drawing/2014/main" id="{D8C3003A-1C0D-B582-B3BE-CA14C4D8AE89}"/>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dirty="0"/>
              <a:t>01</a:t>
            </a:r>
            <a:endParaRPr kumimoji="1" lang="ja-JP" altLang="en-US"/>
          </a:p>
        </p:txBody>
      </p:sp>
      <p:sp>
        <p:nvSpPr>
          <p:cNvPr id="5" name="テキスト プレースホルダー 8">
            <a:extLst>
              <a:ext uri="{FF2B5EF4-FFF2-40B4-BE49-F238E27FC236}">
                <a16:creationId xmlns:a16="http://schemas.microsoft.com/office/drawing/2014/main" id="{FFDB246B-7466-9829-C733-D7C8F366017A}"/>
              </a:ext>
            </a:extLst>
          </p:cNvPr>
          <p:cNvSpPr>
            <a:spLocks noGrp="1"/>
          </p:cNvSpPr>
          <p:nvPr>
            <p:ph type="body" sz="quarter" idx="16" hasCustomPrompt="1"/>
          </p:nvPr>
        </p:nvSpPr>
        <p:spPr>
          <a:xfrm>
            <a:off x="4496400" y="2286000"/>
            <a:ext cx="7315200" cy="3952800"/>
          </a:xfrm>
          <a:prstGeom prst="rect">
            <a:avLst/>
          </a:prstGeom>
        </p:spPr>
        <p:txBody>
          <a:bodyPr lIns="0" tIns="0" rIns="0" bIns="0"/>
          <a:lstStyle>
            <a:lvl1pPr>
              <a:defRPr sz="4800" b="1">
                <a:solidFill>
                  <a:schemeClr val="bg1"/>
                </a:solidFill>
              </a:defRPr>
            </a:lvl1pPr>
          </a:lstStyle>
          <a:p>
            <a:pPr lvl="0"/>
            <a:r>
              <a:rPr kumimoji="1" lang="ja-JP" altLang="en-US"/>
              <a:t>中扉タイトル</a:t>
            </a:r>
          </a:p>
        </p:txBody>
      </p:sp>
      <p:sp>
        <p:nvSpPr>
          <p:cNvPr id="9" name="テキスト ボックス 8">
            <a:extLst>
              <a:ext uri="{FF2B5EF4-FFF2-40B4-BE49-F238E27FC236}">
                <a16:creationId xmlns:a16="http://schemas.microsoft.com/office/drawing/2014/main" id="{CBB76971-86FF-83F8-9E8E-FF04E7792ABB}"/>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7" name="正方形/長方形 6">
            <a:extLst>
              <a:ext uri="{FF2B5EF4-FFF2-40B4-BE49-F238E27FC236}">
                <a16:creationId xmlns:a16="http://schemas.microsoft.com/office/drawing/2014/main" id="{9CFA8725-4E9D-1A8D-75CB-0BBF9E663993}"/>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0" name="テキスト ボックス 9">
            <a:extLst>
              <a:ext uri="{FF2B5EF4-FFF2-40B4-BE49-F238E27FC236}">
                <a16:creationId xmlns:a16="http://schemas.microsoft.com/office/drawing/2014/main" id="{CA9355A0-2A70-15E3-7B93-39F5C7005529}"/>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3" name="テキスト ボックス 2">
            <a:extLst>
              <a:ext uri="{FF2B5EF4-FFF2-40B4-BE49-F238E27FC236}">
                <a16:creationId xmlns:a16="http://schemas.microsoft.com/office/drawing/2014/main" id="{DD2ECDF7-C73E-11AF-9E8E-8C6D93EE20FD}"/>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753095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70798" y="687601"/>
            <a:ext cx="7315200" cy="1447199"/>
          </a:xfrm>
          <a:prstGeom prst="rect">
            <a:avLst/>
          </a:prstGeom>
        </p:spPr>
        <p:txBody>
          <a:bodyPr/>
          <a:lstStyle/>
          <a:p>
            <a:r>
              <a:rPr kumimoji="1" lang="en-US" altLang="ja-JP" dirty="0"/>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70800" y="2286000"/>
            <a:ext cx="7315200" cy="3888000"/>
          </a:xfrm>
          <a:prstGeom prst="rect">
            <a:avLst/>
          </a:prstGeom>
        </p:spPr>
        <p:txBody>
          <a:bodyPr lIns="0" tIns="0" rIns="0" bIns="0"/>
          <a:lstStyle>
            <a:lvl1pPr>
              <a:defRPr sz="4000" b="1">
                <a:solidFill>
                  <a:schemeClr val="bg1"/>
                </a:solidFill>
              </a:defRPr>
            </a:lvl1pPr>
          </a:lstStyle>
          <a:p>
            <a:pPr lvl="0"/>
            <a:r>
              <a:rPr kumimoji="1" lang="ja-JP" altLang="en-US"/>
              <a:t>中扉タイトル</a:t>
            </a:r>
          </a:p>
        </p:txBody>
      </p:sp>
      <p:pic>
        <p:nvPicPr>
          <p:cNvPr id="6" name="Innovationcurve">
            <a:extLst>
              <a:ext uri="{FF2B5EF4-FFF2-40B4-BE49-F238E27FC236}">
                <a16:creationId xmlns:a16="http://schemas.microsoft.com/office/drawing/2014/main" id="{7CF64CB9-660F-8471-3C6F-4FD9FD6E3B9E}"/>
              </a:ext>
            </a:extLst>
          </p:cNvPr>
          <p:cNvPicPr>
            <a:picLocks noChangeAspect="1"/>
          </p:cNvPicPr>
          <p:nvPr userDrawn="1"/>
        </p:nvPicPr>
        <p:blipFill>
          <a:blip r:embed="rId2"/>
          <a:stretch>
            <a:fillRect/>
          </a:stretch>
        </p:blipFill>
        <p:spPr>
          <a:xfrm>
            <a:off x="8091600" y="2433600"/>
            <a:ext cx="3729600" cy="3739975"/>
          </a:xfrm>
          <a:prstGeom prst="rect">
            <a:avLst/>
          </a:prstGeom>
        </p:spPr>
      </p:pic>
      <p:sp>
        <p:nvSpPr>
          <p:cNvPr id="8" name="テキスト ボックス 7">
            <a:extLst>
              <a:ext uri="{FF2B5EF4-FFF2-40B4-BE49-F238E27FC236}">
                <a16:creationId xmlns:a16="http://schemas.microsoft.com/office/drawing/2014/main" id="{943F721B-F20E-EF98-7C7E-D4DD73191926}"/>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26173633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写真入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01CCA0-7E92-7FFB-2532-8D8D86CBBF3B}"/>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dirty="0"/>
              <a:t>01</a:t>
            </a:r>
            <a:endParaRPr kumimoji="1" lang="ja-JP" altLang="en-US"/>
          </a:p>
        </p:txBody>
      </p:sp>
      <p:pic>
        <p:nvPicPr>
          <p:cNvPr id="3" name="Picture 6">
            <a:extLst>
              <a:ext uri="{FF2B5EF4-FFF2-40B4-BE49-F238E27FC236}">
                <a16:creationId xmlns:a16="http://schemas.microsoft.com/office/drawing/2014/main" id="{38FD529D-5FF6-E828-CE3E-B79F0DF687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94575" y="2447060"/>
            <a:ext cx="3718800" cy="3718800"/>
          </a:xfrm>
          <a:prstGeom prst="rect">
            <a:avLst/>
          </a:prstGeom>
        </p:spPr>
      </p:pic>
      <p:sp>
        <p:nvSpPr>
          <p:cNvPr id="5" name="テキスト プレースホルダー 8">
            <a:extLst>
              <a:ext uri="{FF2B5EF4-FFF2-40B4-BE49-F238E27FC236}">
                <a16:creationId xmlns:a16="http://schemas.microsoft.com/office/drawing/2014/main" id="{E10C1EF1-42DC-CE53-8902-8E322B4352D3}"/>
              </a:ext>
            </a:extLst>
          </p:cNvPr>
          <p:cNvSpPr>
            <a:spLocks noGrp="1"/>
          </p:cNvSpPr>
          <p:nvPr>
            <p:ph type="body" sz="quarter" idx="16" hasCustomPrompt="1"/>
          </p:nvPr>
        </p:nvSpPr>
        <p:spPr>
          <a:xfrm>
            <a:off x="4496400" y="2433600"/>
            <a:ext cx="7315200" cy="3740400"/>
          </a:xfrm>
          <a:prstGeom prst="rect">
            <a:avLst/>
          </a:prstGeom>
        </p:spPr>
        <p:txBody>
          <a:bodyPr lIns="0" tIns="0" rIns="0" bIns="0"/>
          <a:lstStyle>
            <a:lvl1pPr>
              <a:defRPr sz="4000" b="1">
                <a:solidFill>
                  <a:schemeClr val="bg1"/>
                </a:solidFill>
              </a:defRPr>
            </a:lvl1pPr>
          </a:lstStyle>
          <a:p>
            <a:pPr lvl="0"/>
            <a:r>
              <a:rPr kumimoji="1" lang="ja-JP" altLang="en-US"/>
              <a:t>中扉タイトル</a:t>
            </a:r>
          </a:p>
        </p:txBody>
      </p:sp>
      <p:sp>
        <p:nvSpPr>
          <p:cNvPr id="6" name="テキスト ボックス 5">
            <a:extLst>
              <a:ext uri="{FF2B5EF4-FFF2-40B4-BE49-F238E27FC236}">
                <a16:creationId xmlns:a16="http://schemas.microsoft.com/office/drawing/2014/main" id="{53785BB8-9BEF-6511-73A0-EFF55EDD2267}"/>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63EDD009-B7C6-2FAB-6C6C-D361E024042A}"/>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pic>
        <p:nvPicPr>
          <p:cNvPr id="7" name="図プレースホルダー 15">
            <a:extLst>
              <a:ext uri="{FF2B5EF4-FFF2-40B4-BE49-F238E27FC236}">
                <a16:creationId xmlns:a16="http://schemas.microsoft.com/office/drawing/2014/main" id="{B62A01C9-0B30-0082-9D00-73A4244F836E}"/>
              </a:ext>
            </a:extLst>
          </p:cNvPr>
          <p:cNvPicPr>
            <a:picLocks noChangeAspect="1"/>
          </p:cNvPicPr>
          <p:nvPr userDrawn="1"/>
        </p:nvPicPr>
        <p:blipFill rotWithShape="1">
          <a:blip r:embed="rId3"/>
          <a:srcRect l="40504" r="3246"/>
          <a:stretch/>
        </p:blipFill>
        <p:spPr>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p:spPr>
      </p:pic>
    </p:spTree>
    <p:extLst>
      <p:ext uri="{BB962C8B-B14F-4D97-AF65-F5344CB8AC3E}">
        <p14:creationId xmlns:p14="http://schemas.microsoft.com/office/powerpoint/2010/main" val="28711666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275175858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4055790626"/>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76973317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10419515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noAutofit/>
          </a:bodyPr>
          <a:lstStyle>
            <a:lvl1pPr>
              <a:defRPr sz="2600">
                <a:solidFill>
                  <a:schemeClr val="bg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bg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4119084297"/>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1753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21335728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284A47DF-598D-4484-FC4C-BB3F7796E5E5}"/>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17BFC142-EE3C-1097-DFF9-406290BF82E8}"/>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53006D64-E6DC-EC14-0869-CFFA4F407720}"/>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0" name="テキスト ボックス 9">
            <a:extLst>
              <a:ext uri="{FF2B5EF4-FFF2-40B4-BE49-F238E27FC236}">
                <a16:creationId xmlns:a16="http://schemas.microsoft.com/office/drawing/2014/main" id="{982FFD09-936A-AF7C-CD3D-13DA700D6B37}"/>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11" name="テキスト ボックス 10">
            <a:extLst>
              <a:ext uri="{FF2B5EF4-FFF2-40B4-BE49-F238E27FC236}">
                <a16:creationId xmlns:a16="http://schemas.microsoft.com/office/drawing/2014/main" id="{F630E21C-D3DA-C1C9-6335-53E0F302CA3F}"/>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1ED76DD1-6CF3-67A2-ABEE-C68044278951}"/>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36142673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364C7304-EA79-3047-AAB3-5F36CE9C49DE}"/>
              </a:ext>
            </a:extLst>
          </p:cNvPr>
          <p:cNvPicPr>
            <a:picLocks noChangeAspect="1"/>
          </p:cNvPicPr>
          <p:nvPr userDrawn="1"/>
        </p:nvPicPr>
        <p:blipFill rotWithShape="1">
          <a:blip r:embed="rId2"/>
          <a:srcRect l="58440" r="8440"/>
          <a:stretch/>
        </p:blipFill>
        <p:spPr>
          <a:xfrm>
            <a:off x="81528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9" name="正方形/長方形 8">
            <a:extLst>
              <a:ext uri="{FF2B5EF4-FFF2-40B4-BE49-F238E27FC236}">
                <a16:creationId xmlns:a16="http://schemas.microsoft.com/office/drawing/2014/main" id="{7B12F8C5-0E88-DAD9-ABAF-0068EAED006A}"/>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10" name="図 9">
            <a:extLst>
              <a:ext uri="{FF2B5EF4-FFF2-40B4-BE49-F238E27FC236}">
                <a16:creationId xmlns:a16="http://schemas.microsoft.com/office/drawing/2014/main" id="{1511AB2B-344F-4945-B779-70D998A016D8}"/>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5" name="テキスト ボックス 4">
            <a:extLst>
              <a:ext uri="{FF2B5EF4-FFF2-40B4-BE49-F238E27FC236}">
                <a16:creationId xmlns:a16="http://schemas.microsoft.com/office/drawing/2014/main" id="{E362071F-A70C-04A3-5591-E26AA3F70795}"/>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6531070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A5C280F5-C8A3-ED0C-C7A4-8D18EBF140D0}"/>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9" name="テキスト ボックス 8">
            <a:extLst>
              <a:ext uri="{FF2B5EF4-FFF2-40B4-BE49-F238E27FC236}">
                <a16:creationId xmlns:a16="http://schemas.microsoft.com/office/drawing/2014/main" id="{7B9BBD56-FDC8-781A-F41D-9973F313B29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4" name="正方形/長方形 3">
            <a:extLst>
              <a:ext uri="{FF2B5EF4-FFF2-40B4-BE49-F238E27FC236}">
                <a16:creationId xmlns:a16="http://schemas.microsoft.com/office/drawing/2014/main" id="{D3B0CE17-A075-1981-B937-98723C53A715}"/>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 name="テキスト ボックス 7">
            <a:extLst>
              <a:ext uri="{FF2B5EF4-FFF2-40B4-BE49-F238E27FC236}">
                <a16:creationId xmlns:a16="http://schemas.microsoft.com/office/drawing/2014/main" id="{7CCDB277-94A0-134B-3BE0-C7631A608D43}"/>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5" name="テキスト ボックス 4">
            <a:extLst>
              <a:ext uri="{FF2B5EF4-FFF2-40B4-BE49-F238E27FC236}">
                <a16:creationId xmlns:a16="http://schemas.microsoft.com/office/drawing/2014/main" id="{FE3BD25D-ABBB-6D2D-8F6B-16DB936E7872}"/>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36514606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2" name="図プレースホルダー 11">
            <a:extLst>
              <a:ext uri="{FF2B5EF4-FFF2-40B4-BE49-F238E27FC236}">
                <a16:creationId xmlns:a16="http://schemas.microsoft.com/office/drawing/2014/main" id="{9A370874-D6E7-8236-0AEC-2B707CC0DA41}"/>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7" name="正方形/長方形 6">
            <a:extLst>
              <a:ext uri="{FF2B5EF4-FFF2-40B4-BE49-F238E27FC236}">
                <a16:creationId xmlns:a16="http://schemas.microsoft.com/office/drawing/2014/main" id="{C3712D3F-0A14-B965-583E-18E6FCE4A735}"/>
              </a:ext>
            </a:extLst>
          </p:cNvPr>
          <p:cNvSpPr/>
          <p:nvPr userDrawn="1"/>
        </p:nvSpPr>
        <p:spPr>
          <a:xfrm>
            <a:off x="1200" y="5205601"/>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8" name="図 7">
            <a:extLst>
              <a:ext uri="{FF2B5EF4-FFF2-40B4-BE49-F238E27FC236}">
                <a16:creationId xmlns:a16="http://schemas.microsoft.com/office/drawing/2014/main" id="{84D7E9EC-CF46-317F-6A0E-F6BDEEB785B0}"/>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EFD602CA-4EF9-5AA1-3EE4-33973263E24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13" name="テキスト ボックス 12">
            <a:extLst>
              <a:ext uri="{FF2B5EF4-FFF2-40B4-BE49-F238E27FC236}">
                <a16:creationId xmlns:a16="http://schemas.microsoft.com/office/drawing/2014/main" id="{AE93AE18-67FE-0AB9-197B-5A29BB657E46}"/>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8A8B6262-DDC9-FD06-5613-CDCB22E48DDD}"/>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10117659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dirty="0" err="1"/>
              <a:t>クリックして画像を追加してください</a:t>
            </a:r>
            <a:r>
              <a:rPr lang="en-US" dirty="0"/>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dirty="0" err="1"/>
              <a:t>クリックして画像を追加してください</a:t>
            </a:r>
            <a:r>
              <a:rPr lang="en-US" dirty="0"/>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dirty="0" err="1"/>
              <a:t>クリックして画像を追加してください</a:t>
            </a:r>
            <a:r>
              <a:rPr lang="en-US" dirty="0"/>
              <a:t>。</a:t>
            </a:r>
          </a:p>
        </p:txBody>
      </p:sp>
    </p:spTree>
    <p:extLst>
      <p:ext uri="{BB962C8B-B14F-4D97-AF65-F5344CB8AC3E}">
        <p14:creationId xmlns:p14="http://schemas.microsoft.com/office/powerpoint/2010/main" val="15742990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6" name="テキスト ボックス 5">
            <a:extLst>
              <a:ext uri="{FF2B5EF4-FFF2-40B4-BE49-F238E27FC236}">
                <a16:creationId xmlns:a16="http://schemas.microsoft.com/office/drawing/2014/main" id="{9BE84247-9F18-8E6D-E1A4-05326A6BB13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36639927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D5407A4A-3DB7-4C09-9159-4E2F57E6F3A7}"/>
              </a:ext>
            </a:extLst>
          </p:cNvPr>
          <p:cNvPicPr>
            <a:picLocks noChangeAspect="1"/>
          </p:cNvPicPr>
          <p:nvPr userDrawn="1"/>
        </p:nvPicPr>
        <p:blipFill>
          <a:blip r:embed="rId2"/>
          <a:srcRect/>
          <a:stretch/>
        </p:blipFill>
        <p:spPr>
          <a:xfrm>
            <a:off x="3885475" y="2865911"/>
            <a:ext cx="4421049" cy="1126177"/>
          </a:xfrm>
          <a:prstGeom prst="rect">
            <a:avLst/>
          </a:prstGeom>
        </p:spPr>
      </p:pic>
    </p:spTree>
    <p:extLst>
      <p:ext uri="{BB962C8B-B14F-4D97-AF65-F5344CB8AC3E}">
        <p14:creationId xmlns:p14="http://schemas.microsoft.com/office/powerpoint/2010/main" val="14759751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12191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1"/>
            <a:ext cx="12192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885475" y="2865911"/>
            <a:ext cx="4421049" cy="1126177"/>
          </a:xfrm>
          <a:prstGeom prst="rect">
            <a:avLst/>
          </a:prstGeom>
        </p:spPr>
      </p:pic>
      <p:sp>
        <p:nvSpPr>
          <p:cNvPr id="3" name="テキスト ボックス 2">
            <a:extLst>
              <a:ext uri="{FF2B5EF4-FFF2-40B4-BE49-F238E27FC236}">
                <a16:creationId xmlns:a16="http://schemas.microsoft.com/office/drawing/2014/main" id="{81BDF2C6-C064-BC40-82E9-4D1BAEA155C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146985945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image" Target="../media/image1.png"/><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image" Target="../media/image9.gif"/><Relationship Id="rId5" Type="http://schemas.openxmlformats.org/officeDocument/2006/relationships/theme" Target="../theme/theme5.xml"/><Relationship Id="rId4" Type="http://schemas.openxmlformats.org/officeDocument/2006/relationships/slideLayout" Target="../slideLayouts/slideLayout26.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5" Type="http://schemas.openxmlformats.org/officeDocument/2006/relationships/image" Target="../media/image9.gif"/><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image" Target="../media/image9.gif"/><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44.xml"/><Relationship Id="rId1"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6"/>
          <a:stretch>
            <a:fillRect/>
          </a:stretch>
        </p:blipFill>
        <p:spPr>
          <a:xfrm>
            <a:off x="227967" y="191534"/>
            <a:ext cx="2244917" cy="569864"/>
          </a:xfrm>
          <a:prstGeom prst="rect">
            <a:avLst/>
          </a:prstGeom>
        </p:spPr>
      </p:pic>
      <p:sp>
        <p:nvSpPr>
          <p:cNvPr id="2" name="テキスト ボックス 1">
            <a:extLst>
              <a:ext uri="{FF2B5EF4-FFF2-40B4-BE49-F238E27FC236}">
                <a16:creationId xmlns:a16="http://schemas.microsoft.com/office/drawing/2014/main" id="{99FFB214-AC1C-6625-D288-FF1B7FC90CA1}"/>
              </a:ext>
            </a:extLst>
          </p:cNvPr>
          <p:cNvSpPr txBox="1"/>
          <p:nvPr userDrawn="1"/>
        </p:nvSpPr>
        <p:spPr>
          <a:xfrm>
            <a:off x="690926" y="7065341"/>
            <a:ext cx="10810147" cy="329192"/>
          </a:xfrm>
          <a:prstGeom prst="rect">
            <a:avLst/>
          </a:prstGeom>
          <a:noFill/>
        </p:spPr>
        <p:txBody>
          <a:bodyPr wrap="none" lIns="0" rIns="0" rtlCol="0">
            <a:noAutofit/>
          </a:bodyPr>
          <a:lstStyle/>
          <a:p>
            <a:pPr algn="ctr" defTabSz="288000"/>
            <a:r>
              <a:rPr kumimoji="1" lang="ja-JP" altLang="en-US">
                <a:solidFill>
                  <a:srgbClr val="C00000"/>
                </a:solidFill>
                <a:latin typeface="+mn-ea"/>
              </a:rPr>
              <a:t>コピーライトを修正するときは、ホームタブの「置換」から、文字列を</a:t>
            </a:r>
            <a:r>
              <a:rPr kumimoji="1" lang="ja-JP" altLang="en-US" b="1">
                <a:solidFill>
                  <a:srgbClr val="C00000"/>
                </a:solidFill>
                <a:latin typeface="+mn-ea"/>
              </a:rPr>
              <a:t>すべて置換</a:t>
            </a:r>
            <a:r>
              <a:rPr kumimoji="1" lang="ja-JP" altLang="en-US">
                <a:solidFill>
                  <a:srgbClr val="C00000"/>
                </a:solidFill>
                <a:latin typeface="+mn-ea"/>
              </a:rPr>
              <a:t>してください。</a:t>
            </a:r>
          </a:p>
        </p:txBody>
      </p:sp>
      <p:sp>
        <p:nvSpPr>
          <p:cNvPr id="12" name="テキスト ボックス 11">
            <a:extLst>
              <a:ext uri="{FF2B5EF4-FFF2-40B4-BE49-F238E27FC236}">
                <a16:creationId xmlns:a16="http://schemas.microsoft.com/office/drawing/2014/main" id="{8E0B27DF-CFBE-A4A8-9EB1-3609B2C2EB77}"/>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2026 NTT DATA Japan Corporation</a:t>
            </a:r>
          </a:p>
        </p:txBody>
      </p:sp>
    </p:spTree>
    <p:extLst>
      <p:ext uri="{BB962C8B-B14F-4D97-AF65-F5344CB8AC3E}">
        <p14:creationId xmlns:p14="http://schemas.microsoft.com/office/powerpoint/2010/main" val="2903117392"/>
      </p:ext>
    </p:extLst>
  </p:cSld>
  <p:clrMap bg1="lt1" tx1="dk1" bg2="lt2" tx2="dk2" accent1="accent1" accent2="accent2" accent3="accent3" accent4="accent4" accent5="accent5" accent6="accent6" hlink="hlink" folHlink="folHlink"/>
  <p:sldLayoutIdLst>
    <p:sldLayoutId id="2147484009" r:id="rId1"/>
    <p:sldLayoutId id="2147483931" r:id="rId2"/>
    <p:sldLayoutId id="2147483932" r:id="rId3"/>
    <p:sldLayoutId id="2147483934" r:id="rId4"/>
  </p:sldLayoutIdLst>
  <p:hf hdr="0" dt="0"/>
  <p:txStyles>
    <p:titleStyle>
      <a:lvl1pPr algn="l" defTabSz="609555" rtl="0" eaLnBrk="1" fontAlgn="base" hangingPunct="1">
        <a:spcBef>
          <a:spcPct val="0"/>
        </a:spcBef>
        <a:spcAft>
          <a:spcPct val="0"/>
        </a:spcAft>
        <a:defRPr kumimoji="1" sz="2000" b="0" i="0" kern="1200" spc="0" baseline="0">
          <a:solidFill>
            <a:schemeClr val="accent1"/>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pos="3840" userDrawn="1">
          <p15:clr>
            <a:srgbClr val="F26B43"/>
          </p15:clr>
        </p15:guide>
        <p15:guide id="4" pos="7446" userDrawn="1">
          <p15:clr>
            <a:srgbClr val="F26B43"/>
          </p15:clr>
        </p15:guide>
        <p15:guide id="6" orient="horz" pos="4201">
          <p15:clr>
            <a:srgbClr val="F26B43"/>
          </p15:clr>
        </p15:guide>
        <p15:guide id="11" orient="horz" pos="2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2EB1D28-97C8-BB72-8C7A-7FCA119F5F07}"/>
              </a:ext>
            </a:extLst>
          </p:cNvPr>
          <p:cNvPicPr>
            <a:picLocks noChangeAspect="1"/>
          </p:cNvPicPr>
          <p:nvPr userDrawn="1"/>
        </p:nvPicPr>
        <p:blipFill>
          <a:blip r:embed="rId5"/>
          <a:srcRect/>
          <a:stretch/>
        </p:blipFill>
        <p:spPr>
          <a:xfrm>
            <a:off x="10741025" y="6425921"/>
            <a:ext cx="1152894" cy="292657"/>
          </a:xfrm>
          <a:prstGeom prst="rect">
            <a:avLst/>
          </a:prstGeom>
        </p:spPr>
      </p:pic>
      <p:sp>
        <p:nvSpPr>
          <p:cNvPr id="4" name="テキスト ボックス 3">
            <a:extLst>
              <a:ext uri="{FF2B5EF4-FFF2-40B4-BE49-F238E27FC236}">
                <a16:creationId xmlns:a16="http://schemas.microsoft.com/office/drawing/2014/main" id="{32A0D56C-E1F5-E3B7-AD07-B9E1E5DD0E11}"/>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2026 NTT DATA Japan Corporation</a:t>
            </a:r>
          </a:p>
        </p:txBody>
      </p:sp>
    </p:spTree>
    <p:extLst>
      <p:ext uri="{BB962C8B-B14F-4D97-AF65-F5344CB8AC3E}">
        <p14:creationId xmlns:p14="http://schemas.microsoft.com/office/powerpoint/2010/main" val="2428608009"/>
      </p:ext>
    </p:extLst>
  </p:cSld>
  <p:clrMap bg1="lt1" tx1="dk1" bg2="lt2" tx2="dk2" accent1="accent1" accent2="accent2" accent3="accent3" accent4="accent4" accent5="accent5" accent6="accent6" hlink="hlink" folHlink="folHlink"/>
  <p:sldLayoutIdLst>
    <p:sldLayoutId id="2147483994" r:id="rId1"/>
    <p:sldLayoutId id="2147483973" r:id="rId2"/>
    <p:sldLayoutId id="2147483974" r:id="rId3"/>
  </p:sldLayoutIdLst>
  <p:hf hdr="0" dt="0"/>
  <p:txStyles>
    <p:titleStyle>
      <a:lvl1pPr algn="l" defTabSz="609555" rtl="0" eaLnBrk="1" fontAlgn="base" hangingPunct="1">
        <a:spcBef>
          <a:spcPct val="0"/>
        </a:spcBef>
        <a:spcAft>
          <a:spcPct val="0"/>
        </a:spcAft>
        <a:defRPr kumimoji="1" sz="9600" b="1" i="0" kern="1200" spc="200" baseline="0">
          <a:solidFill>
            <a:schemeClr val="accent2"/>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420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5"/>
          <a:srcRect/>
          <a:stretch/>
        </p:blipFill>
        <p:spPr>
          <a:xfrm>
            <a:off x="10741025" y="6469051"/>
            <a:ext cx="1152894" cy="292657"/>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2026 NTT DATA Japan Corporation</a:t>
            </a:r>
          </a:p>
        </p:txBody>
      </p:sp>
    </p:spTree>
    <p:extLst>
      <p:ext uri="{BB962C8B-B14F-4D97-AF65-F5344CB8AC3E}">
        <p14:creationId xmlns:p14="http://schemas.microsoft.com/office/powerpoint/2010/main" val="697237"/>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 id="2147483987" r:id="rId12"/>
    <p:sldLayoutId id="2147484010" r:id="rId13"/>
  </p:sldLayoutIdLst>
  <p:hf hdr="0" dt="0"/>
  <p:txStyles>
    <p:title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4" orient="horz" pos="2160">
          <p15:clr>
            <a:srgbClr val="F26B43"/>
          </p15:clr>
        </p15:guide>
        <p15:guide id="6" orient="horz" pos="640" userDrawn="1">
          <p15:clr>
            <a:srgbClr val="F26B43"/>
          </p15:clr>
        </p15:guide>
        <p15:guide id="7" pos="3840">
          <p15:clr>
            <a:srgbClr val="F26B43"/>
          </p15:clr>
        </p15:guide>
        <p15:guide id="8" pos="7446" userDrawn="1">
          <p15:clr>
            <a:srgbClr val="F26B43"/>
          </p15:clr>
        </p15:guide>
        <p15:guide id="10" orient="horz" pos="459" userDrawn="1">
          <p15:clr>
            <a:srgbClr val="F26B43"/>
          </p15:clr>
        </p15:guide>
        <p15:guide id="12" orient="horz" pos="408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2970830"/>
      </p:ext>
    </p:extLst>
  </p:cSld>
  <p:clrMap bg1="lt1" tx1="dk1" bg2="lt2" tx2="dk2" accent1="accent1" accent2="accent2" accent3="accent3" accent4="accent4" accent5="accent5" accent6="accent6" hlink="hlink" folHlink="folHlink"/>
  <p:sldLayoutIdLst>
    <p:sldLayoutId id="2147483990" r:id="rId1"/>
    <p:sldLayoutId id="2147483991" r:id="rId2"/>
  </p:sldLayoutIdLst>
  <p:hf hdr="0" dt="0"/>
  <p:txStyles>
    <p:titleStyle>
      <a:lvl1pPr algn="l" defTabSz="609555" rtl="0" eaLnBrk="1" fontAlgn="base" hangingPunct="1">
        <a:spcBef>
          <a:spcPct val="0"/>
        </a:spcBef>
        <a:spcAft>
          <a:spcPct val="0"/>
        </a:spcAft>
        <a:defRPr kumimoji="1" sz="2400" b="1" i="0" kern="1200" spc="200" baseline="0">
          <a:solidFill>
            <a:schemeClr val="tx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6"/>
          <a:srcRect/>
          <a:stretch/>
        </p:blipFill>
        <p:spPr>
          <a:xfrm>
            <a:off x="231864" y="191534"/>
            <a:ext cx="2237123" cy="569864"/>
          </a:xfrm>
          <a:prstGeom prst="rect">
            <a:avLst/>
          </a:prstGeom>
        </p:spPr>
      </p:pic>
      <p:sp>
        <p:nvSpPr>
          <p:cNvPr id="6" name="テキスト ボックス 5">
            <a:extLst>
              <a:ext uri="{FF2B5EF4-FFF2-40B4-BE49-F238E27FC236}">
                <a16:creationId xmlns:a16="http://schemas.microsoft.com/office/drawing/2014/main" id="{B01BF0E7-CA3F-2C26-0703-F0CB01EA9A9E}"/>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Tree>
    <p:extLst>
      <p:ext uri="{BB962C8B-B14F-4D97-AF65-F5344CB8AC3E}">
        <p14:creationId xmlns:p14="http://schemas.microsoft.com/office/powerpoint/2010/main" val="3635597696"/>
      </p:ext>
    </p:extLst>
  </p:cSld>
  <p:clrMap bg1="lt1" tx1="dk1" bg2="lt2" tx2="dk2" accent1="accent1" accent2="accent2" accent3="accent3" accent4="accent4" accent5="accent5" accent6="accent6" hlink="hlink" folHlink="folHlink"/>
  <p:sldLayoutIdLst>
    <p:sldLayoutId id="2147484002" r:id="rId1"/>
    <p:sldLayoutId id="2147484017" r:id="rId2"/>
    <p:sldLayoutId id="2147484016" r:id="rId3"/>
    <p:sldLayoutId id="2147484008" r:id="rId4"/>
  </p:sldLayoutIdLst>
  <p:hf hdr="0" dt="0"/>
  <p:txStyles>
    <p:titleStyle>
      <a:lvl1pPr algn="l" defTabSz="609555" rtl="0" eaLnBrk="1" fontAlgn="base" hangingPunct="1">
        <a:spcBef>
          <a:spcPct val="0"/>
        </a:spcBef>
        <a:spcAft>
          <a:spcPct val="0"/>
        </a:spcAft>
        <a:defRPr kumimoji="1" sz="2000" b="0" i="0" kern="1200" spc="0" baseline="0">
          <a:solidFill>
            <a:srgbClr val="F8F8F8"/>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pos="3840" userDrawn="1">
          <p15:clr>
            <a:srgbClr val="F26B43"/>
          </p15:clr>
        </p15:guide>
        <p15:guide id="4" pos="7446" userDrawn="1">
          <p15:clr>
            <a:srgbClr val="F26B43"/>
          </p15:clr>
        </p15:guide>
        <p15:guide id="6" orient="horz" pos="4201">
          <p15:clr>
            <a:srgbClr val="F26B43"/>
          </p15:clr>
        </p15:guide>
        <p15:guide id="11" orient="horz" pos="21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2EB1D28-97C8-BB72-8C7A-7FCA119F5F07}"/>
              </a:ext>
            </a:extLst>
          </p:cNvPr>
          <p:cNvPicPr>
            <a:picLocks noChangeAspect="1"/>
          </p:cNvPicPr>
          <p:nvPr userDrawn="1"/>
        </p:nvPicPr>
        <p:blipFill>
          <a:blip r:embed="rId5"/>
          <a:srcRect/>
          <a:stretch/>
        </p:blipFill>
        <p:spPr>
          <a:xfrm>
            <a:off x="10743028" y="6425921"/>
            <a:ext cx="1148887" cy="292657"/>
          </a:xfrm>
          <a:prstGeom prst="rect">
            <a:avLst/>
          </a:prstGeom>
        </p:spPr>
      </p:pic>
      <p:sp>
        <p:nvSpPr>
          <p:cNvPr id="3" name="テキスト ボックス 2">
            <a:extLst>
              <a:ext uri="{FF2B5EF4-FFF2-40B4-BE49-F238E27FC236}">
                <a16:creationId xmlns:a16="http://schemas.microsoft.com/office/drawing/2014/main" id="{C8C1424A-EE89-C720-553C-1637224A6A99}"/>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Tree>
    <p:extLst>
      <p:ext uri="{BB962C8B-B14F-4D97-AF65-F5344CB8AC3E}">
        <p14:creationId xmlns:p14="http://schemas.microsoft.com/office/powerpoint/2010/main" val="827340354"/>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Lst>
  <p:hf hdr="0" dt="0"/>
  <p:txStyles>
    <p:titleStyle>
      <a:lvl1pPr algn="l" defTabSz="609555" rtl="0" eaLnBrk="1" fontAlgn="base" hangingPunct="1">
        <a:spcBef>
          <a:spcPct val="0"/>
        </a:spcBef>
        <a:spcAft>
          <a:spcPct val="0"/>
        </a:spcAft>
        <a:defRPr kumimoji="1" sz="9600" b="1" i="0" kern="1200" spc="200" baseline="0">
          <a:solidFill>
            <a:schemeClr val="bg2"/>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420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5"/>
          <a:srcRect/>
          <a:stretch/>
        </p:blipFill>
        <p:spPr>
          <a:xfrm>
            <a:off x="10743026" y="6425921"/>
            <a:ext cx="1148891" cy="292658"/>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テキスト ボックス 3">
            <a:extLst>
              <a:ext uri="{FF2B5EF4-FFF2-40B4-BE49-F238E27FC236}">
                <a16:creationId xmlns:a16="http://schemas.microsoft.com/office/drawing/2014/main" id="{CD1C27BE-E0A7-BBB4-DB0E-D4D404FF82A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Tree>
    <p:extLst>
      <p:ext uri="{BB962C8B-B14F-4D97-AF65-F5344CB8AC3E}">
        <p14:creationId xmlns:p14="http://schemas.microsoft.com/office/powerpoint/2010/main" val="3713879408"/>
      </p:ext>
    </p:extLst>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4" r:id="rId8"/>
    <p:sldLayoutId id="2147483947" r:id="rId9"/>
    <p:sldLayoutId id="2147483948" r:id="rId10"/>
    <p:sldLayoutId id="2147484018" r:id="rId11"/>
    <p:sldLayoutId id="2147483951" r:id="rId12"/>
    <p:sldLayoutId id="2147484011" r:id="rId13"/>
  </p:sldLayoutIdLst>
  <p:hf hdr="0" dt="0"/>
  <p:txStyles>
    <p:titleStyle>
      <a:lvl1pPr algn="l" defTabSz="609555" rtl="0" eaLnBrk="1" fontAlgn="base" hangingPunct="1">
        <a:spcBef>
          <a:spcPct val="0"/>
        </a:spcBef>
        <a:spcAft>
          <a:spcPct val="0"/>
        </a:spcAft>
        <a:defRPr kumimoji="1" sz="2400" b="1" i="0" kern="1200" spc="0" baseline="0">
          <a:solidFill>
            <a:schemeClr val="bg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bg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4" orient="horz" pos="2160">
          <p15:clr>
            <a:srgbClr val="F26B43"/>
          </p15:clr>
        </p15:guide>
        <p15:guide id="6" orient="horz" pos="663" userDrawn="1">
          <p15:clr>
            <a:srgbClr val="F26B43"/>
          </p15:clr>
        </p15:guide>
        <p15:guide id="7" pos="3840">
          <p15:clr>
            <a:srgbClr val="F26B43"/>
          </p15:clr>
        </p15:guide>
        <p15:guide id="8" pos="7446" userDrawn="1">
          <p15:clr>
            <a:srgbClr val="F26B43"/>
          </p15:clr>
        </p15:guide>
        <p15:guide id="9" orient="horz" pos="3929" userDrawn="1">
          <p15:clr>
            <a:srgbClr val="F26B43"/>
          </p15:clr>
        </p15:guide>
        <p15:guide id="10" orient="horz" pos="210" userDrawn="1">
          <p15:clr>
            <a:srgbClr val="F26B43"/>
          </p15:clr>
        </p15:guide>
        <p15:guide id="12" orient="horz" pos="4201"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014743"/>
      </p:ext>
    </p:extLst>
  </p:cSld>
  <p:clrMap bg1="lt1" tx1="dk1" bg2="lt2" tx2="dk2" accent1="accent1" accent2="accent2" accent3="accent3" accent4="accent4" accent5="accent5" accent6="accent6" hlink="hlink" folHlink="folHlink"/>
  <p:sldLayoutIdLst>
    <p:sldLayoutId id="2147483648" r:id="rId1"/>
    <p:sldLayoutId id="2147483649" r:id="rId2"/>
  </p:sldLayoutIdLst>
  <p:hf hdr="0" dt="0"/>
  <p:txStyles>
    <p:titleStyle>
      <a:lvl1pPr algn="l" defTabSz="609555" rtl="0" eaLnBrk="1" fontAlgn="base" hangingPunct="1">
        <a:spcBef>
          <a:spcPct val="0"/>
        </a:spcBef>
        <a:spcAft>
          <a:spcPct val="0"/>
        </a:spcAft>
        <a:defRPr kumimoji="1" sz="2400" b="1" i="0" kern="1200" spc="200" baseline="0">
          <a:solidFill>
            <a:schemeClr val="tx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home.groupwide.net/nttdata/gsd/terasoluna/about/index.asp" TargetMode="External"/><Relationship Id="rId2" Type="http://schemas.openxmlformats.org/officeDocument/2006/relationships/image" Target="../media/image13.png"/><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svg"/><Relationship Id="rId1" Type="http://schemas.openxmlformats.org/officeDocument/2006/relationships/slideLayout" Target="../slideLayouts/slideLayout9.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8.xml.rels><?xml version="1.0" encoding="UTF-8" standalone="yes"?>
<Relationships xmlns="http://schemas.openxmlformats.org/package/2006/relationships"><Relationship Id="rId2" Type="http://schemas.openxmlformats.org/officeDocument/2006/relationships/hyperlink" Target="https://www.jstqb.jp/dl/JSTQB-SyllabusFoundation_VersionV40.J02.pdf" TargetMode="Externa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1.svg"/><Relationship Id="rId2" Type="http://schemas.openxmlformats.org/officeDocument/2006/relationships/image" Target="../media/image17.svg"/><Relationship Id="rId1" Type="http://schemas.openxmlformats.org/officeDocument/2006/relationships/slideLayout" Target="../slideLayouts/slideLayout9.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20.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17.sv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4.png"/><Relationship Id="rId1" Type="http://schemas.openxmlformats.org/officeDocument/2006/relationships/slideLayout" Target="../slideLayouts/slideLayout9.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9.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0.png"/><Relationship Id="rId1" Type="http://schemas.openxmlformats.org/officeDocument/2006/relationships/slideLayout" Target="../slideLayouts/slideLayout9.xml"/><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svg"/><Relationship Id="rId1" Type="http://schemas.openxmlformats.org/officeDocument/2006/relationships/slideLayout" Target="../slideLayouts/slideLayout9.xml"/><Relationship Id="rId5" Type="http://schemas.openxmlformats.org/officeDocument/2006/relationships/image" Target="../media/image47.svg"/><Relationship Id="rId4" Type="http://schemas.openxmlformats.org/officeDocument/2006/relationships/image" Target="../media/image46.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junit.org/" TargetMode="External"/><Relationship Id="rId1" Type="http://schemas.openxmlformats.org/officeDocument/2006/relationships/slideLayout" Target="../slideLayouts/slideLayout9.xml"/><Relationship Id="rId4" Type="http://schemas.openxmlformats.org/officeDocument/2006/relationships/image" Target="../media/image49.svg"/></Relationships>
</file>

<file path=ppt/slides/_rels/slide46.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hyperlink" Target="https://www.amazon.co.jp/%E5%8D%98%E4%BD%93%E3%83%86%E3%82%B9%E3%83%88%E3%81%AE%E8%80%83%E3%81%88%E6%96%B9-%E4%BD%BF%E3%81%84%E6%96%B9-Vladimir-Khorikov/dp/4839981728" TargetMode="External"/><Relationship Id="rId1" Type="http://schemas.openxmlformats.org/officeDocument/2006/relationships/slideLayout" Target="../slideLayouts/slideLayout9.xml"/><Relationship Id="rId5" Type="http://schemas.openxmlformats.org/officeDocument/2006/relationships/hyperlink" Target="https://home.groupwide.net/nttdata/gsd/terasoluna/dev/terasoluna.asp" TargetMode="External"/><Relationship Id="rId4" Type="http://schemas.openxmlformats.org/officeDocument/2006/relationships/hyperlink" Target="https://www.jstqb.jp/dl/JSTQB-SyllabusFoundation_VersionV40.J02.pdf"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364265A2-61B5-45D8-6463-6418F44F076D}"/>
              </a:ext>
            </a:extLst>
          </p:cNvPr>
          <p:cNvSpPr>
            <a:spLocks noGrp="1"/>
          </p:cNvSpPr>
          <p:nvPr>
            <p:ph type="body" sz="quarter" idx="12"/>
          </p:nvPr>
        </p:nvSpPr>
        <p:spPr>
          <a:xfrm>
            <a:off x="381599" y="2188800"/>
            <a:ext cx="11438926" cy="2412000"/>
          </a:xfrm>
        </p:spPr>
        <p:txBody>
          <a:bodyPr/>
          <a:lstStyle/>
          <a:p>
            <a:r>
              <a:rPr lang="en-US" altLang="ja-JP" dirty="0"/>
              <a:t>【AI</a:t>
            </a:r>
            <a:r>
              <a:rPr lang="ja-JP" altLang="en-US" dirty="0"/>
              <a:t> </a:t>
            </a:r>
            <a:r>
              <a:rPr lang="en-US" altLang="ja-JP"/>
              <a:t>Native</a:t>
            </a:r>
            <a:r>
              <a:rPr lang="ja-JP" altLang="en-US"/>
              <a:t>研修 </a:t>
            </a:r>
            <a:r>
              <a:rPr lang="en-US" altLang="ja-JP" dirty="0"/>
              <a:t>– </a:t>
            </a:r>
            <a:r>
              <a:rPr lang="ja-JP" altLang="en-US" dirty="0"/>
              <a:t>バイブコーディング</a:t>
            </a:r>
            <a:r>
              <a:rPr lang="en-US" altLang="ja-JP" dirty="0"/>
              <a:t>】</a:t>
            </a:r>
          </a:p>
          <a:p>
            <a:r>
              <a:rPr lang="ja-JP" altLang="en-US" dirty="0"/>
              <a:t>単体テストと</a:t>
            </a:r>
            <a:r>
              <a:rPr lang="en-US" altLang="ja-JP" dirty="0"/>
              <a:t>JUnit</a:t>
            </a:r>
          </a:p>
          <a:p>
            <a:endParaRPr lang="ja-JP" altLang="en-US" dirty="0"/>
          </a:p>
        </p:txBody>
      </p:sp>
      <p:sp>
        <p:nvSpPr>
          <p:cNvPr id="4" name="テキスト プレースホルダー 3">
            <a:extLst>
              <a:ext uri="{FF2B5EF4-FFF2-40B4-BE49-F238E27FC236}">
                <a16:creationId xmlns:a16="http://schemas.microsoft.com/office/drawing/2014/main" id="{DCF65AA0-1FFF-132D-52B8-6DB3C5784AF4}"/>
              </a:ext>
            </a:extLst>
          </p:cNvPr>
          <p:cNvSpPr>
            <a:spLocks noGrp="1"/>
          </p:cNvSpPr>
          <p:nvPr>
            <p:ph type="body" sz="quarter" idx="14"/>
          </p:nvPr>
        </p:nvSpPr>
        <p:spPr/>
        <p:txBody>
          <a:bodyPr/>
          <a:lstStyle/>
          <a:p>
            <a:r>
              <a:rPr lang="en-US" altLang="ja-JP" dirty="0"/>
              <a:t>2026</a:t>
            </a:r>
            <a:r>
              <a:rPr lang="ja-JP" altLang="en-US" dirty="0"/>
              <a:t>年</a:t>
            </a:r>
            <a:r>
              <a:rPr lang="en-US" altLang="ja-JP" dirty="0"/>
              <a:t>6</a:t>
            </a:r>
            <a:r>
              <a:rPr lang="ja-JP" altLang="en-US" dirty="0"/>
              <a:t>月</a:t>
            </a:r>
          </a:p>
        </p:txBody>
      </p:sp>
      <p:sp>
        <p:nvSpPr>
          <p:cNvPr id="5" name="テキスト ボックス 4">
            <a:extLst>
              <a:ext uri="{FF2B5EF4-FFF2-40B4-BE49-F238E27FC236}">
                <a16:creationId xmlns:a16="http://schemas.microsoft.com/office/drawing/2014/main" id="{6BCA195C-25E8-2856-A8AE-915A730197FC}"/>
              </a:ext>
            </a:extLst>
          </p:cNvPr>
          <p:cNvSpPr txBox="1"/>
          <p:nvPr/>
        </p:nvSpPr>
        <p:spPr>
          <a:xfrm>
            <a:off x="9649098" y="85135"/>
            <a:ext cx="2360022" cy="483211"/>
          </a:xfrm>
          <a:prstGeom prst="rect">
            <a:avLst/>
          </a:prstGeom>
          <a:noFill/>
          <a:ln>
            <a:solidFill>
              <a:schemeClr val="accent6">
                <a:lumMod val="40000"/>
                <a:lumOff val="60000"/>
              </a:schemeClr>
            </a:solidFill>
          </a:ln>
        </p:spPr>
        <p:txBody>
          <a:bodyPr wrap="square" lIns="90000" rIns="90000" rtlCol="0" anchor="ctr" anchorCtr="0">
            <a:noAutofit/>
          </a:bodyPr>
          <a:lstStyle/>
          <a:p>
            <a:r>
              <a:rPr lang="ja-JP" altLang="en-US" sz="700" dirty="0">
                <a:solidFill>
                  <a:schemeClr val="accent6">
                    <a:lumMod val="40000"/>
                    <a:lumOff val="60000"/>
                  </a:schemeClr>
                </a:solidFill>
              </a:rPr>
              <a:t>情 報 種 別 ： </a:t>
            </a:r>
            <a:r>
              <a:rPr lang="en-US" altLang="ja-JP" sz="700" dirty="0">
                <a:solidFill>
                  <a:schemeClr val="accent6">
                    <a:lumMod val="40000"/>
                    <a:lumOff val="60000"/>
                  </a:schemeClr>
                </a:solidFill>
              </a:rPr>
              <a:t>G</a:t>
            </a:r>
            <a:r>
              <a:rPr lang="ja-JP" altLang="en-US" sz="700" dirty="0">
                <a:solidFill>
                  <a:schemeClr val="accent6">
                    <a:lumMod val="40000"/>
                    <a:lumOff val="60000"/>
                  </a:schemeClr>
                </a:solidFill>
              </a:rPr>
              <a:t>外秘</a:t>
            </a:r>
            <a:r>
              <a:rPr lang="en-US" altLang="ja-JP" sz="700" dirty="0">
                <a:solidFill>
                  <a:schemeClr val="accent6">
                    <a:lumMod val="40000"/>
                    <a:lumOff val="60000"/>
                  </a:schemeClr>
                </a:solidFill>
              </a:rPr>
              <a:t>(</a:t>
            </a:r>
            <a:r>
              <a:rPr lang="ja-JP" altLang="en-US" sz="700" dirty="0">
                <a:solidFill>
                  <a:schemeClr val="accent6">
                    <a:lumMod val="40000"/>
                    <a:lumOff val="60000"/>
                  </a:schemeClr>
                </a:solidFill>
              </a:rPr>
              <a:t>社員限り</a:t>
            </a:r>
            <a:r>
              <a:rPr lang="en-US" altLang="ja-JP" sz="700" dirty="0">
                <a:solidFill>
                  <a:schemeClr val="accent6">
                    <a:lumMod val="40000"/>
                    <a:lumOff val="60000"/>
                  </a:schemeClr>
                </a:solidFill>
              </a:rPr>
              <a:t>)</a:t>
            </a:r>
            <a:br>
              <a:rPr lang="ja-JP" altLang="en-US" sz="700" dirty="0">
                <a:solidFill>
                  <a:schemeClr val="accent6">
                    <a:lumMod val="40000"/>
                    <a:lumOff val="60000"/>
                  </a:schemeClr>
                </a:solidFill>
              </a:rPr>
            </a:br>
            <a:r>
              <a:rPr lang="ja-JP" altLang="en-US" sz="700" dirty="0">
                <a:solidFill>
                  <a:schemeClr val="accent6">
                    <a:lumMod val="40000"/>
                    <a:lumOff val="60000"/>
                  </a:schemeClr>
                </a:solidFill>
              </a:rPr>
              <a:t>会　 社　 名 ： </a:t>
            </a:r>
            <a:r>
              <a:rPr lang="en-US" altLang="ja-JP" sz="700" dirty="0">
                <a:solidFill>
                  <a:schemeClr val="accent6">
                    <a:lumMod val="40000"/>
                    <a:lumOff val="60000"/>
                  </a:schemeClr>
                </a:solidFill>
              </a:rPr>
              <a:t>NTT DATA JAPAN CORP.</a:t>
            </a:r>
            <a:br>
              <a:rPr lang="ja-JP" altLang="en-US" sz="700" dirty="0">
                <a:solidFill>
                  <a:schemeClr val="accent6">
                    <a:lumMod val="40000"/>
                    <a:lumOff val="60000"/>
                  </a:schemeClr>
                </a:solidFill>
              </a:rPr>
            </a:br>
            <a:r>
              <a:rPr lang="ja-JP" altLang="en-US" sz="700" dirty="0">
                <a:solidFill>
                  <a:schemeClr val="accent6">
                    <a:lumMod val="40000"/>
                    <a:lumOff val="60000"/>
                  </a:schemeClr>
                </a:solidFill>
              </a:rPr>
              <a:t>情報所有者 ：第三公共事業本部 デジタルソサエティ事業部</a:t>
            </a:r>
            <a:endParaRPr lang="en-US" altLang="ja-JP" sz="700" dirty="0">
              <a:solidFill>
                <a:schemeClr val="accent6">
                  <a:lumMod val="40000"/>
                  <a:lumOff val="60000"/>
                </a:schemeClr>
              </a:solidFill>
            </a:endParaRPr>
          </a:p>
        </p:txBody>
      </p:sp>
    </p:spTree>
    <p:extLst>
      <p:ext uri="{BB962C8B-B14F-4D97-AF65-F5344CB8AC3E}">
        <p14:creationId xmlns:p14="http://schemas.microsoft.com/office/powerpoint/2010/main" val="1121628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99BBD7-A6ED-52CC-A350-A2C0243C0203}"/>
              </a:ext>
            </a:extLst>
          </p:cNvPr>
          <p:cNvSpPr>
            <a:spLocks noGrp="1"/>
          </p:cNvSpPr>
          <p:nvPr>
            <p:ph type="title"/>
          </p:nvPr>
        </p:nvSpPr>
        <p:spPr/>
        <p:txBody>
          <a:bodyPr/>
          <a:lstStyle/>
          <a:p>
            <a:r>
              <a:rPr lang="ja-JP" altLang="en-US" dirty="0"/>
              <a:t>講義の目的</a:t>
            </a:r>
            <a:endParaRPr kumimoji="1" lang="ja-JP" altLang="en-US" dirty="0"/>
          </a:p>
        </p:txBody>
      </p:sp>
      <p:sp>
        <p:nvSpPr>
          <p:cNvPr id="3" name="コンテンツ プレースホルダー 2">
            <a:extLst>
              <a:ext uri="{FF2B5EF4-FFF2-40B4-BE49-F238E27FC236}">
                <a16:creationId xmlns:a16="http://schemas.microsoft.com/office/drawing/2014/main" id="{FAE86DCD-505D-9C04-D1AF-AEF50C61D393}"/>
              </a:ext>
            </a:extLst>
          </p:cNvPr>
          <p:cNvSpPr>
            <a:spLocks noGrp="1"/>
          </p:cNvSpPr>
          <p:nvPr>
            <p:ph sz="quarter" idx="10"/>
          </p:nvPr>
        </p:nvSpPr>
        <p:spPr/>
        <p:txBody>
          <a:bodyPr/>
          <a:lstStyle/>
          <a:p>
            <a:pPr marL="285750" indent="-285750">
              <a:buFont typeface="Arial" panose="020B0604020202020204" pitchFamily="34" charset="0"/>
              <a:buChar char="•"/>
            </a:pPr>
            <a:r>
              <a:rPr kumimoji="1" lang="ja-JP" altLang="en-US" sz="2400" b="1" u="sng" dirty="0"/>
              <a:t>テストの目的を理解する</a:t>
            </a:r>
            <a:endParaRPr kumimoji="1" lang="en-US" altLang="ja-JP" sz="2400" b="1" u="sng" dirty="0"/>
          </a:p>
          <a:p>
            <a:pPr marL="645750" lvl="1" indent="-285750"/>
            <a:r>
              <a:rPr lang="ja-JP" altLang="en-US" sz="2400" dirty="0"/>
              <a:t>システム開発工程におけるテスト</a:t>
            </a:r>
            <a:endParaRPr lang="en-US" altLang="ja-JP" sz="2400" dirty="0"/>
          </a:p>
          <a:p>
            <a:pPr marL="645750" lvl="1" indent="-285750"/>
            <a:r>
              <a:rPr kumimoji="1" lang="ja-JP" altLang="en-US" sz="2400" dirty="0"/>
              <a:t>テストとは</a:t>
            </a:r>
            <a:endParaRPr kumimoji="1" lang="en-US" altLang="ja-JP" sz="2400" dirty="0"/>
          </a:p>
          <a:p>
            <a:pPr marL="285750" indent="-285750">
              <a:buFont typeface="Arial" panose="020B0604020202020204" pitchFamily="34" charset="0"/>
              <a:buChar char="•"/>
            </a:pPr>
            <a:endParaRPr lang="en-US" altLang="ja-JP" sz="2400" dirty="0"/>
          </a:p>
          <a:p>
            <a:pPr marL="285750" indent="-285750">
              <a:buFont typeface="Arial" panose="020B0604020202020204" pitchFamily="34" charset="0"/>
              <a:buChar char="•"/>
            </a:pPr>
            <a:r>
              <a:rPr lang="ja-JP" altLang="en-US" sz="2400" b="1" u="sng" dirty="0"/>
              <a:t>単体テストの手法を理解する</a:t>
            </a:r>
            <a:endParaRPr lang="en-US" altLang="ja-JP" sz="2400" b="1" u="sng" dirty="0"/>
          </a:p>
          <a:p>
            <a:pPr marL="645750" lvl="1" indent="-285750"/>
            <a:r>
              <a:rPr kumimoji="1" lang="ja-JP" altLang="en-US" sz="2400" dirty="0"/>
              <a:t>単体テストの設計</a:t>
            </a:r>
            <a:endParaRPr kumimoji="1" lang="en-US" altLang="ja-JP" sz="2400" dirty="0"/>
          </a:p>
          <a:p>
            <a:pPr marL="645750" lvl="1" indent="-285750"/>
            <a:r>
              <a:rPr kumimoji="1" lang="ja-JP" altLang="en-US" sz="2400" dirty="0"/>
              <a:t>単体テストの技法</a:t>
            </a:r>
            <a:endParaRPr kumimoji="1" lang="en-US" altLang="ja-JP" sz="2400" dirty="0"/>
          </a:p>
          <a:p>
            <a:pPr marL="645750" lvl="1" indent="-285750"/>
            <a:r>
              <a:rPr lang="en-US" altLang="ja-JP" sz="2400" dirty="0"/>
              <a:t>JUnit</a:t>
            </a:r>
            <a:r>
              <a:rPr lang="ja-JP" altLang="en-US" sz="2400" dirty="0"/>
              <a:t>によるテスト実施</a:t>
            </a:r>
            <a:endParaRPr lang="en-US" altLang="ja-JP" sz="2400" dirty="0"/>
          </a:p>
        </p:txBody>
      </p:sp>
    </p:spTree>
    <p:extLst>
      <p:ext uri="{BB962C8B-B14F-4D97-AF65-F5344CB8AC3E}">
        <p14:creationId xmlns:p14="http://schemas.microsoft.com/office/powerpoint/2010/main" val="1323623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5F46D-11F3-53A2-119F-D5ABC7EB458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84F74A3-DB68-BC0F-4605-47BDD3766F67}"/>
              </a:ext>
            </a:extLst>
          </p:cNvPr>
          <p:cNvSpPr/>
          <p:nvPr/>
        </p:nvSpPr>
        <p:spPr>
          <a:xfrm>
            <a:off x="803503" y="1938842"/>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BE0AEC8F-2A3A-F400-4433-FFFE61699EB6}"/>
              </a:ext>
            </a:extLst>
          </p:cNvPr>
          <p:cNvSpPr>
            <a:spLocks noGrp="1"/>
          </p:cNvSpPr>
          <p:nvPr>
            <p:ph type="title"/>
          </p:nvPr>
        </p:nvSpPr>
        <p:spPr/>
        <p:txBody>
          <a:bodyPr/>
          <a:lstStyle/>
          <a:p>
            <a:r>
              <a:rPr kumimoji="1" lang="ja-JP" altLang="en-US" dirty="0"/>
              <a:t>目次</a:t>
            </a:r>
          </a:p>
        </p:txBody>
      </p:sp>
      <p:sp>
        <p:nvSpPr>
          <p:cNvPr id="10" name="テキスト ボックス 9">
            <a:extLst>
              <a:ext uri="{FF2B5EF4-FFF2-40B4-BE49-F238E27FC236}">
                <a16:creationId xmlns:a16="http://schemas.microsoft.com/office/drawing/2014/main" id="{17976133-6702-2E8F-C1F6-B15B68FC5616}"/>
              </a:ext>
            </a:extLst>
          </p:cNvPr>
          <p:cNvSpPr txBox="1"/>
          <p:nvPr/>
        </p:nvSpPr>
        <p:spPr>
          <a:xfrm>
            <a:off x="803503" y="1315875"/>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dirty="0">
                <a:solidFill>
                  <a:schemeClr val="bg1"/>
                </a:solidFill>
                <a:latin typeface="+mn-ea"/>
              </a:rPr>
              <a:t>1</a:t>
            </a:r>
            <a:endParaRPr kumimoji="1" lang="ja-JP" altLang="en-US" sz="3600" b="1" dirty="0">
              <a:solidFill>
                <a:schemeClr val="bg1"/>
              </a:solidFill>
              <a:latin typeface="+mn-ea"/>
            </a:endParaRPr>
          </a:p>
        </p:txBody>
      </p:sp>
      <p:sp>
        <p:nvSpPr>
          <p:cNvPr id="12" name="コンテンツ プレースホルダー 2">
            <a:extLst>
              <a:ext uri="{FF2B5EF4-FFF2-40B4-BE49-F238E27FC236}">
                <a16:creationId xmlns:a16="http://schemas.microsoft.com/office/drawing/2014/main" id="{F133F92E-A15B-E77C-1760-46370191C0B0}"/>
              </a:ext>
            </a:extLst>
          </p:cNvPr>
          <p:cNvSpPr txBox="1">
            <a:spLocks/>
          </p:cNvSpPr>
          <p:nvPr/>
        </p:nvSpPr>
        <p:spPr>
          <a:xfrm>
            <a:off x="1722664" y="1431995"/>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800" b="1" dirty="0">
                <a:solidFill>
                  <a:schemeClr val="tx1"/>
                </a:solidFill>
              </a:rPr>
              <a:t>システム開発における</a:t>
            </a:r>
            <a:r>
              <a:rPr lang="en-US" altLang="ja-JP" sz="2800" b="1" dirty="0">
                <a:solidFill>
                  <a:schemeClr val="tx1"/>
                </a:solidFill>
              </a:rPr>
              <a:t>“</a:t>
            </a:r>
            <a:r>
              <a:rPr lang="ja-JP" altLang="en-US" sz="2800" b="1" dirty="0">
                <a:solidFill>
                  <a:schemeClr val="tx1"/>
                </a:solidFill>
              </a:rPr>
              <a:t>テスト</a:t>
            </a:r>
            <a:r>
              <a:rPr lang="en-US" altLang="ja-JP" sz="2800" b="1" dirty="0">
                <a:solidFill>
                  <a:schemeClr val="tx1"/>
                </a:solidFill>
              </a:rPr>
              <a:t>”</a:t>
            </a:r>
          </a:p>
        </p:txBody>
      </p:sp>
      <p:sp>
        <p:nvSpPr>
          <p:cNvPr id="4" name="テキスト ボックス 3">
            <a:extLst>
              <a:ext uri="{FF2B5EF4-FFF2-40B4-BE49-F238E27FC236}">
                <a16:creationId xmlns:a16="http://schemas.microsoft.com/office/drawing/2014/main" id="{AFA376A8-1728-FA8E-9FB5-3473BC393CD6}"/>
              </a:ext>
            </a:extLst>
          </p:cNvPr>
          <p:cNvSpPr txBox="1"/>
          <p:nvPr/>
        </p:nvSpPr>
        <p:spPr>
          <a:xfrm>
            <a:off x="1577984" y="2071280"/>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1-1</a:t>
            </a:r>
            <a:endParaRPr kumimoji="1" lang="ja-JP" altLang="en-US" sz="2400" b="1" dirty="0">
              <a:solidFill>
                <a:schemeClr val="accent2"/>
              </a:solidFill>
              <a:latin typeface="+mn-ea"/>
            </a:endParaRPr>
          </a:p>
        </p:txBody>
      </p:sp>
      <p:sp>
        <p:nvSpPr>
          <p:cNvPr id="5" name="コンテンツ プレースホルダー 2">
            <a:extLst>
              <a:ext uri="{FF2B5EF4-FFF2-40B4-BE49-F238E27FC236}">
                <a16:creationId xmlns:a16="http://schemas.microsoft.com/office/drawing/2014/main" id="{28863F16-59FE-38EE-B55E-32440A6CD610}"/>
              </a:ext>
            </a:extLst>
          </p:cNvPr>
          <p:cNvSpPr txBox="1">
            <a:spLocks/>
          </p:cNvSpPr>
          <p:nvPr/>
        </p:nvSpPr>
        <p:spPr>
          <a:xfrm>
            <a:off x="2604406" y="2018454"/>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tx1"/>
                </a:solidFill>
              </a:rPr>
              <a:t>テストとは</a:t>
            </a:r>
            <a:endParaRPr lang="en-US" altLang="ja-JP" sz="2000" b="1" dirty="0">
              <a:solidFill>
                <a:schemeClr val="tx1"/>
              </a:solidFill>
            </a:endParaRPr>
          </a:p>
        </p:txBody>
      </p:sp>
      <p:sp>
        <p:nvSpPr>
          <p:cNvPr id="11" name="正方形/長方形 10">
            <a:extLst>
              <a:ext uri="{FF2B5EF4-FFF2-40B4-BE49-F238E27FC236}">
                <a16:creationId xmlns:a16="http://schemas.microsoft.com/office/drawing/2014/main" id="{876DC2CA-15B3-05A1-A0E5-529952CD4FC1}"/>
              </a:ext>
            </a:extLst>
          </p:cNvPr>
          <p:cNvSpPr/>
          <p:nvPr/>
        </p:nvSpPr>
        <p:spPr>
          <a:xfrm>
            <a:off x="804184" y="4137865"/>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3" name="テキスト ボックス 12">
            <a:extLst>
              <a:ext uri="{FF2B5EF4-FFF2-40B4-BE49-F238E27FC236}">
                <a16:creationId xmlns:a16="http://schemas.microsoft.com/office/drawing/2014/main" id="{6BF0EB53-5CE5-0E1F-8516-3BB5B4744622}"/>
              </a:ext>
            </a:extLst>
          </p:cNvPr>
          <p:cNvSpPr txBox="1"/>
          <p:nvPr/>
        </p:nvSpPr>
        <p:spPr>
          <a:xfrm>
            <a:off x="804184" y="3514898"/>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dirty="0">
                <a:solidFill>
                  <a:schemeClr val="bg1"/>
                </a:solidFill>
                <a:latin typeface="+mn-ea"/>
              </a:rPr>
              <a:t>2</a:t>
            </a:r>
            <a:endParaRPr kumimoji="1" lang="ja-JP" altLang="en-US" sz="3600" b="1" dirty="0">
              <a:solidFill>
                <a:schemeClr val="bg1"/>
              </a:solidFill>
              <a:latin typeface="+mn-ea"/>
            </a:endParaRPr>
          </a:p>
        </p:txBody>
      </p:sp>
      <p:sp>
        <p:nvSpPr>
          <p:cNvPr id="14" name="コンテンツ プレースホルダー 2">
            <a:extLst>
              <a:ext uri="{FF2B5EF4-FFF2-40B4-BE49-F238E27FC236}">
                <a16:creationId xmlns:a16="http://schemas.microsoft.com/office/drawing/2014/main" id="{5C1653E5-1E3A-01D0-D562-4947D6EE4B38}"/>
              </a:ext>
            </a:extLst>
          </p:cNvPr>
          <p:cNvSpPr txBox="1">
            <a:spLocks/>
          </p:cNvSpPr>
          <p:nvPr/>
        </p:nvSpPr>
        <p:spPr>
          <a:xfrm>
            <a:off x="1723345" y="3631018"/>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800" b="1" dirty="0">
                <a:solidFill>
                  <a:schemeClr val="tx1"/>
                </a:solidFill>
              </a:rPr>
              <a:t>単体テスト</a:t>
            </a:r>
            <a:endParaRPr lang="en-US" altLang="ja-JP" sz="2800" b="1" dirty="0">
              <a:solidFill>
                <a:schemeClr val="tx1"/>
              </a:solidFill>
            </a:endParaRPr>
          </a:p>
        </p:txBody>
      </p:sp>
      <p:sp>
        <p:nvSpPr>
          <p:cNvPr id="23" name="テキスト ボックス 22">
            <a:extLst>
              <a:ext uri="{FF2B5EF4-FFF2-40B4-BE49-F238E27FC236}">
                <a16:creationId xmlns:a16="http://schemas.microsoft.com/office/drawing/2014/main" id="{DE93353A-CA92-749E-C16D-68FD43D8ACC0}"/>
              </a:ext>
            </a:extLst>
          </p:cNvPr>
          <p:cNvSpPr txBox="1"/>
          <p:nvPr/>
        </p:nvSpPr>
        <p:spPr>
          <a:xfrm>
            <a:off x="1574817" y="4296143"/>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2-1</a:t>
            </a:r>
            <a:endParaRPr kumimoji="1" lang="ja-JP" altLang="en-US" sz="2400" b="1" dirty="0">
              <a:solidFill>
                <a:schemeClr val="accent2"/>
              </a:solidFill>
              <a:latin typeface="+mn-ea"/>
            </a:endParaRPr>
          </a:p>
        </p:txBody>
      </p:sp>
      <p:sp>
        <p:nvSpPr>
          <p:cNvPr id="24" name="コンテンツ プレースホルダー 2">
            <a:extLst>
              <a:ext uri="{FF2B5EF4-FFF2-40B4-BE49-F238E27FC236}">
                <a16:creationId xmlns:a16="http://schemas.microsoft.com/office/drawing/2014/main" id="{DC6E080A-952D-CC77-6A51-ECD048027239}"/>
              </a:ext>
            </a:extLst>
          </p:cNvPr>
          <p:cNvSpPr txBox="1">
            <a:spLocks/>
          </p:cNvSpPr>
          <p:nvPr/>
        </p:nvSpPr>
        <p:spPr>
          <a:xfrm>
            <a:off x="2601239" y="4243317"/>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tx1"/>
                </a:solidFill>
              </a:rPr>
              <a:t>単体テストとは</a:t>
            </a:r>
            <a:endParaRPr lang="en-US" altLang="ja-JP" sz="2000" b="1" dirty="0">
              <a:solidFill>
                <a:schemeClr val="tx1"/>
              </a:solidFill>
            </a:endParaRPr>
          </a:p>
        </p:txBody>
      </p:sp>
      <p:sp>
        <p:nvSpPr>
          <p:cNvPr id="25" name="テキスト ボックス 24">
            <a:extLst>
              <a:ext uri="{FF2B5EF4-FFF2-40B4-BE49-F238E27FC236}">
                <a16:creationId xmlns:a16="http://schemas.microsoft.com/office/drawing/2014/main" id="{06C1381A-4B68-A641-EF81-4B1040B93172}"/>
              </a:ext>
            </a:extLst>
          </p:cNvPr>
          <p:cNvSpPr txBox="1"/>
          <p:nvPr/>
        </p:nvSpPr>
        <p:spPr>
          <a:xfrm>
            <a:off x="1577984" y="4767733"/>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2-2</a:t>
            </a:r>
            <a:endParaRPr kumimoji="1" lang="ja-JP" altLang="en-US" sz="2400" b="1" dirty="0">
              <a:solidFill>
                <a:schemeClr val="accent2"/>
              </a:solidFill>
              <a:latin typeface="+mn-ea"/>
            </a:endParaRPr>
          </a:p>
        </p:txBody>
      </p:sp>
      <p:sp>
        <p:nvSpPr>
          <p:cNvPr id="26" name="コンテンツ プレースホルダー 2">
            <a:extLst>
              <a:ext uri="{FF2B5EF4-FFF2-40B4-BE49-F238E27FC236}">
                <a16:creationId xmlns:a16="http://schemas.microsoft.com/office/drawing/2014/main" id="{B137FC81-8290-6485-D151-A09A39B9FA6D}"/>
              </a:ext>
            </a:extLst>
          </p:cNvPr>
          <p:cNvSpPr txBox="1">
            <a:spLocks/>
          </p:cNvSpPr>
          <p:nvPr/>
        </p:nvSpPr>
        <p:spPr>
          <a:xfrm>
            <a:off x="2604406" y="4706517"/>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dirty="0">
                <a:solidFill>
                  <a:schemeClr val="tx1"/>
                </a:solidFill>
              </a:rPr>
              <a:t>JUnit</a:t>
            </a:r>
          </a:p>
        </p:txBody>
      </p:sp>
    </p:spTree>
    <p:extLst>
      <p:ext uri="{BB962C8B-B14F-4D97-AF65-F5344CB8AC3E}">
        <p14:creationId xmlns:p14="http://schemas.microsoft.com/office/powerpoint/2010/main" val="1565203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1C275-B165-D25F-1CB2-1B12E3B2C86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DACD1AD-5062-EEEC-6CF2-A434087F2BBD}"/>
              </a:ext>
            </a:extLst>
          </p:cNvPr>
          <p:cNvSpPr/>
          <p:nvPr/>
        </p:nvSpPr>
        <p:spPr>
          <a:xfrm>
            <a:off x="803503" y="1938842"/>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8D81BB4C-CADD-CC09-6E9A-06336257788A}"/>
              </a:ext>
            </a:extLst>
          </p:cNvPr>
          <p:cNvSpPr>
            <a:spLocks noGrp="1"/>
          </p:cNvSpPr>
          <p:nvPr>
            <p:ph type="title"/>
          </p:nvPr>
        </p:nvSpPr>
        <p:spPr/>
        <p:txBody>
          <a:bodyPr/>
          <a:lstStyle/>
          <a:p>
            <a:r>
              <a:rPr kumimoji="1" lang="ja-JP" altLang="en-US" dirty="0"/>
              <a:t>目次</a:t>
            </a:r>
          </a:p>
        </p:txBody>
      </p:sp>
      <p:sp>
        <p:nvSpPr>
          <p:cNvPr id="10" name="テキスト ボックス 9">
            <a:extLst>
              <a:ext uri="{FF2B5EF4-FFF2-40B4-BE49-F238E27FC236}">
                <a16:creationId xmlns:a16="http://schemas.microsoft.com/office/drawing/2014/main" id="{0C7F10EE-9EB4-B204-52D0-2EC93F8AC476}"/>
              </a:ext>
            </a:extLst>
          </p:cNvPr>
          <p:cNvSpPr txBox="1"/>
          <p:nvPr/>
        </p:nvSpPr>
        <p:spPr>
          <a:xfrm>
            <a:off x="803503" y="1315875"/>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dirty="0">
                <a:solidFill>
                  <a:schemeClr val="bg1"/>
                </a:solidFill>
                <a:latin typeface="+mn-ea"/>
              </a:rPr>
              <a:t>1</a:t>
            </a:r>
            <a:endParaRPr kumimoji="1" lang="ja-JP" altLang="en-US" sz="3600" b="1" dirty="0">
              <a:solidFill>
                <a:schemeClr val="bg1"/>
              </a:solidFill>
              <a:latin typeface="+mn-ea"/>
            </a:endParaRPr>
          </a:p>
        </p:txBody>
      </p:sp>
      <p:sp>
        <p:nvSpPr>
          <p:cNvPr id="12" name="コンテンツ プレースホルダー 2">
            <a:extLst>
              <a:ext uri="{FF2B5EF4-FFF2-40B4-BE49-F238E27FC236}">
                <a16:creationId xmlns:a16="http://schemas.microsoft.com/office/drawing/2014/main" id="{12AA92A1-8E2F-B513-87E7-C2D56C3AC076}"/>
              </a:ext>
            </a:extLst>
          </p:cNvPr>
          <p:cNvSpPr txBox="1">
            <a:spLocks/>
          </p:cNvSpPr>
          <p:nvPr/>
        </p:nvSpPr>
        <p:spPr>
          <a:xfrm>
            <a:off x="1722664" y="1431995"/>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800" b="1" dirty="0">
                <a:solidFill>
                  <a:schemeClr val="tx1"/>
                </a:solidFill>
              </a:rPr>
              <a:t>システム開発における</a:t>
            </a:r>
            <a:r>
              <a:rPr lang="en-US" altLang="ja-JP" sz="2800" b="1" dirty="0">
                <a:solidFill>
                  <a:schemeClr val="tx1"/>
                </a:solidFill>
              </a:rPr>
              <a:t>“</a:t>
            </a:r>
            <a:r>
              <a:rPr lang="ja-JP" altLang="en-US" sz="2800" b="1" dirty="0">
                <a:solidFill>
                  <a:schemeClr val="tx1"/>
                </a:solidFill>
              </a:rPr>
              <a:t>テスト</a:t>
            </a:r>
            <a:r>
              <a:rPr lang="en-US" altLang="ja-JP" sz="2800" b="1" dirty="0">
                <a:solidFill>
                  <a:schemeClr val="tx1"/>
                </a:solidFill>
              </a:rPr>
              <a:t>”</a:t>
            </a:r>
          </a:p>
        </p:txBody>
      </p:sp>
      <p:sp>
        <p:nvSpPr>
          <p:cNvPr id="4" name="テキスト ボックス 3">
            <a:extLst>
              <a:ext uri="{FF2B5EF4-FFF2-40B4-BE49-F238E27FC236}">
                <a16:creationId xmlns:a16="http://schemas.microsoft.com/office/drawing/2014/main" id="{F91F7C7D-C716-ADB5-2D15-75EA2CA6669E}"/>
              </a:ext>
            </a:extLst>
          </p:cNvPr>
          <p:cNvSpPr txBox="1"/>
          <p:nvPr/>
        </p:nvSpPr>
        <p:spPr>
          <a:xfrm>
            <a:off x="1577984" y="2071280"/>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1-1</a:t>
            </a:r>
            <a:endParaRPr kumimoji="1" lang="ja-JP" altLang="en-US" sz="2400" b="1" dirty="0">
              <a:solidFill>
                <a:schemeClr val="accent2"/>
              </a:solidFill>
              <a:latin typeface="+mn-ea"/>
            </a:endParaRPr>
          </a:p>
        </p:txBody>
      </p:sp>
      <p:sp>
        <p:nvSpPr>
          <p:cNvPr id="5" name="コンテンツ プレースホルダー 2">
            <a:extLst>
              <a:ext uri="{FF2B5EF4-FFF2-40B4-BE49-F238E27FC236}">
                <a16:creationId xmlns:a16="http://schemas.microsoft.com/office/drawing/2014/main" id="{CC4573E5-7050-99BF-7981-472A88AB1C27}"/>
              </a:ext>
            </a:extLst>
          </p:cNvPr>
          <p:cNvSpPr txBox="1">
            <a:spLocks/>
          </p:cNvSpPr>
          <p:nvPr/>
        </p:nvSpPr>
        <p:spPr>
          <a:xfrm>
            <a:off x="2604406" y="2018454"/>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tx1"/>
                </a:solidFill>
              </a:rPr>
              <a:t>テストとは</a:t>
            </a:r>
            <a:endParaRPr lang="en-US" altLang="ja-JP" sz="2000" b="1" dirty="0">
              <a:solidFill>
                <a:schemeClr val="tx1"/>
              </a:solidFill>
            </a:endParaRPr>
          </a:p>
        </p:txBody>
      </p:sp>
      <p:sp>
        <p:nvSpPr>
          <p:cNvPr id="6" name="正方形/長方形 5">
            <a:extLst>
              <a:ext uri="{FF2B5EF4-FFF2-40B4-BE49-F238E27FC236}">
                <a16:creationId xmlns:a16="http://schemas.microsoft.com/office/drawing/2014/main" id="{A5F1BAD9-9CD5-024C-1963-15DE8FD25167}"/>
              </a:ext>
            </a:extLst>
          </p:cNvPr>
          <p:cNvSpPr/>
          <p:nvPr/>
        </p:nvSpPr>
        <p:spPr>
          <a:xfrm flipV="1">
            <a:off x="1546834" y="2076818"/>
            <a:ext cx="8256669" cy="439512"/>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 name="正方形/長方形 6">
            <a:extLst>
              <a:ext uri="{FF2B5EF4-FFF2-40B4-BE49-F238E27FC236}">
                <a16:creationId xmlns:a16="http://schemas.microsoft.com/office/drawing/2014/main" id="{7A683593-31E7-E071-890D-FC4520A4530B}"/>
              </a:ext>
            </a:extLst>
          </p:cNvPr>
          <p:cNvSpPr/>
          <p:nvPr/>
        </p:nvSpPr>
        <p:spPr>
          <a:xfrm>
            <a:off x="804184" y="4137865"/>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 name="テキスト ボックス 7">
            <a:extLst>
              <a:ext uri="{FF2B5EF4-FFF2-40B4-BE49-F238E27FC236}">
                <a16:creationId xmlns:a16="http://schemas.microsoft.com/office/drawing/2014/main" id="{C4B94C9C-5676-82A4-CEF6-9C5770396E60}"/>
              </a:ext>
            </a:extLst>
          </p:cNvPr>
          <p:cNvSpPr txBox="1"/>
          <p:nvPr/>
        </p:nvSpPr>
        <p:spPr>
          <a:xfrm>
            <a:off x="804184" y="3514898"/>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dirty="0">
                <a:solidFill>
                  <a:schemeClr val="bg1"/>
                </a:solidFill>
                <a:latin typeface="+mn-ea"/>
              </a:rPr>
              <a:t>2</a:t>
            </a:r>
            <a:endParaRPr kumimoji="1" lang="ja-JP" altLang="en-US" sz="3600" b="1" dirty="0">
              <a:solidFill>
                <a:schemeClr val="bg1"/>
              </a:solidFill>
              <a:latin typeface="+mn-ea"/>
            </a:endParaRPr>
          </a:p>
        </p:txBody>
      </p:sp>
      <p:sp>
        <p:nvSpPr>
          <p:cNvPr id="15" name="コンテンツ プレースホルダー 2">
            <a:extLst>
              <a:ext uri="{FF2B5EF4-FFF2-40B4-BE49-F238E27FC236}">
                <a16:creationId xmlns:a16="http://schemas.microsoft.com/office/drawing/2014/main" id="{C933EE4D-D86F-A0C5-F59C-7C3E68D97E8B}"/>
              </a:ext>
            </a:extLst>
          </p:cNvPr>
          <p:cNvSpPr txBox="1">
            <a:spLocks/>
          </p:cNvSpPr>
          <p:nvPr/>
        </p:nvSpPr>
        <p:spPr>
          <a:xfrm>
            <a:off x="1723345" y="3631018"/>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800" b="1" dirty="0">
                <a:solidFill>
                  <a:schemeClr val="tx1"/>
                </a:solidFill>
              </a:rPr>
              <a:t>単体テスト</a:t>
            </a:r>
            <a:endParaRPr lang="en-US" altLang="ja-JP" sz="2800" b="1" dirty="0">
              <a:solidFill>
                <a:schemeClr val="tx1"/>
              </a:solidFill>
            </a:endParaRPr>
          </a:p>
        </p:txBody>
      </p:sp>
      <p:sp>
        <p:nvSpPr>
          <p:cNvPr id="16" name="テキスト ボックス 15">
            <a:extLst>
              <a:ext uri="{FF2B5EF4-FFF2-40B4-BE49-F238E27FC236}">
                <a16:creationId xmlns:a16="http://schemas.microsoft.com/office/drawing/2014/main" id="{B89DFE45-CB92-8007-E139-B29EC4A02C7B}"/>
              </a:ext>
            </a:extLst>
          </p:cNvPr>
          <p:cNvSpPr txBox="1"/>
          <p:nvPr/>
        </p:nvSpPr>
        <p:spPr>
          <a:xfrm>
            <a:off x="1574817" y="4296143"/>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2-1</a:t>
            </a:r>
            <a:endParaRPr kumimoji="1" lang="ja-JP" altLang="en-US" sz="2400" b="1" dirty="0">
              <a:solidFill>
                <a:schemeClr val="accent2"/>
              </a:solidFill>
              <a:latin typeface="+mn-ea"/>
            </a:endParaRPr>
          </a:p>
        </p:txBody>
      </p:sp>
      <p:sp>
        <p:nvSpPr>
          <p:cNvPr id="17" name="コンテンツ プレースホルダー 2">
            <a:extLst>
              <a:ext uri="{FF2B5EF4-FFF2-40B4-BE49-F238E27FC236}">
                <a16:creationId xmlns:a16="http://schemas.microsoft.com/office/drawing/2014/main" id="{25511AC7-4D74-C855-75D5-8B4F349A0A71}"/>
              </a:ext>
            </a:extLst>
          </p:cNvPr>
          <p:cNvSpPr txBox="1">
            <a:spLocks/>
          </p:cNvSpPr>
          <p:nvPr/>
        </p:nvSpPr>
        <p:spPr>
          <a:xfrm>
            <a:off x="2601239" y="4243317"/>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tx1"/>
                </a:solidFill>
              </a:rPr>
              <a:t>単体テストとは</a:t>
            </a:r>
            <a:endParaRPr lang="en-US" altLang="ja-JP" sz="2000" b="1" dirty="0">
              <a:solidFill>
                <a:schemeClr val="tx1"/>
              </a:solidFill>
            </a:endParaRPr>
          </a:p>
        </p:txBody>
      </p:sp>
      <p:sp>
        <p:nvSpPr>
          <p:cNvPr id="18" name="テキスト ボックス 17">
            <a:extLst>
              <a:ext uri="{FF2B5EF4-FFF2-40B4-BE49-F238E27FC236}">
                <a16:creationId xmlns:a16="http://schemas.microsoft.com/office/drawing/2014/main" id="{8EB4DCFA-C7AC-8B11-AC81-91F89D835798}"/>
              </a:ext>
            </a:extLst>
          </p:cNvPr>
          <p:cNvSpPr txBox="1"/>
          <p:nvPr/>
        </p:nvSpPr>
        <p:spPr>
          <a:xfrm>
            <a:off x="1577984" y="4767733"/>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2-2</a:t>
            </a:r>
            <a:endParaRPr kumimoji="1" lang="ja-JP" altLang="en-US" sz="2400" b="1" dirty="0">
              <a:solidFill>
                <a:schemeClr val="accent2"/>
              </a:solidFill>
              <a:latin typeface="+mn-ea"/>
            </a:endParaRPr>
          </a:p>
        </p:txBody>
      </p:sp>
      <p:sp>
        <p:nvSpPr>
          <p:cNvPr id="19" name="コンテンツ プレースホルダー 2">
            <a:extLst>
              <a:ext uri="{FF2B5EF4-FFF2-40B4-BE49-F238E27FC236}">
                <a16:creationId xmlns:a16="http://schemas.microsoft.com/office/drawing/2014/main" id="{3FB9F44A-5709-12DB-D8C9-7063DB44C2E7}"/>
              </a:ext>
            </a:extLst>
          </p:cNvPr>
          <p:cNvSpPr txBox="1">
            <a:spLocks/>
          </p:cNvSpPr>
          <p:nvPr/>
        </p:nvSpPr>
        <p:spPr>
          <a:xfrm>
            <a:off x="2604406" y="4706517"/>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dirty="0">
                <a:solidFill>
                  <a:schemeClr val="tx1"/>
                </a:solidFill>
              </a:rPr>
              <a:t>JUnit</a:t>
            </a:r>
          </a:p>
        </p:txBody>
      </p:sp>
    </p:spTree>
    <p:extLst>
      <p:ext uri="{BB962C8B-B14F-4D97-AF65-F5344CB8AC3E}">
        <p14:creationId xmlns:p14="http://schemas.microsoft.com/office/powerpoint/2010/main" val="3995187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9EBF3B-CBDE-43DC-51BD-DCBF55AAE97C}"/>
              </a:ext>
            </a:extLst>
          </p:cNvPr>
          <p:cNvSpPr>
            <a:spLocks noGrp="1"/>
          </p:cNvSpPr>
          <p:nvPr>
            <p:ph type="title"/>
          </p:nvPr>
        </p:nvSpPr>
        <p:spPr/>
        <p:txBody>
          <a:bodyPr anchor="ctr"/>
          <a:lstStyle/>
          <a:p>
            <a:r>
              <a:rPr lang="en-US" altLang="ja-JP" dirty="0"/>
              <a:t>TERASOLUNA </a:t>
            </a:r>
            <a:r>
              <a:rPr lang="ja-JP" altLang="en-US" dirty="0"/>
              <a:t>開発手順　</a:t>
            </a:r>
            <a:r>
              <a:rPr lang="en-US" altLang="ja-JP" dirty="0"/>
              <a:t> ※</a:t>
            </a:r>
            <a:r>
              <a:rPr lang="ja-JP" altLang="en-US" dirty="0"/>
              <a:t>再掲</a:t>
            </a:r>
            <a:endParaRPr kumimoji="1" lang="ja-JP" altLang="en-US" dirty="0"/>
          </a:p>
        </p:txBody>
      </p:sp>
      <p:sp>
        <p:nvSpPr>
          <p:cNvPr id="4" name="四角形: 角を丸くする 3">
            <a:extLst>
              <a:ext uri="{FF2B5EF4-FFF2-40B4-BE49-F238E27FC236}">
                <a16:creationId xmlns:a16="http://schemas.microsoft.com/office/drawing/2014/main" id="{3540B571-050E-EB62-D0E7-D25D79CDF54E}"/>
              </a:ext>
            </a:extLst>
          </p:cNvPr>
          <p:cNvSpPr/>
          <p:nvPr/>
        </p:nvSpPr>
        <p:spPr>
          <a:xfrm>
            <a:off x="371475" y="2058855"/>
            <a:ext cx="11128076" cy="3893371"/>
          </a:xfrm>
          <a:prstGeom prst="roundRect">
            <a:avLst>
              <a:gd name="adj" fmla="val 8922"/>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 name="コンテンツ プレースホルダー 2">
            <a:extLst>
              <a:ext uri="{FF2B5EF4-FFF2-40B4-BE49-F238E27FC236}">
                <a16:creationId xmlns:a16="http://schemas.microsoft.com/office/drawing/2014/main" id="{E4E3DA68-240F-4D8A-DE76-E12A07572A61}"/>
              </a:ext>
            </a:extLst>
          </p:cNvPr>
          <p:cNvSpPr txBox="1">
            <a:spLocks/>
          </p:cNvSpPr>
          <p:nvPr/>
        </p:nvSpPr>
        <p:spPr>
          <a:xfrm>
            <a:off x="372000" y="1038386"/>
            <a:ext cx="11448000" cy="82620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dirty="0"/>
              <a:t>当社が提供するオープン系システム開発のための総合ソリューション</a:t>
            </a:r>
            <a:r>
              <a:rPr lang="ja-JP" altLang="en-US" sz="2400" b="1" dirty="0"/>
              <a:t>「</a:t>
            </a:r>
            <a:r>
              <a:rPr lang="en-US" altLang="ja-JP" sz="2400" b="1" dirty="0"/>
              <a:t>TERASOLUNA</a:t>
            </a:r>
            <a:r>
              <a:rPr lang="ja-JP" altLang="en-US" sz="2400" b="1" dirty="0"/>
              <a:t>」</a:t>
            </a:r>
            <a:r>
              <a:rPr lang="ja-JP" altLang="en-US" dirty="0"/>
              <a:t>の１つ。</a:t>
            </a:r>
            <a:endParaRPr lang="en-US" altLang="ja-JP" dirty="0"/>
          </a:p>
          <a:p>
            <a:r>
              <a:rPr lang="ja-JP" altLang="en-US" dirty="0"/>
              <a:t>要求定義フェーズから受入テストフェーズまでを対象とした開発手順で、品質確保のために</a:t>
            </a:r>
            <a:r>
              <a:rPr lang="en-US" altLang="ja-JP" sz="2400" b="1" dirty="0"/>
              <a:t>V</a:t>
            </a:r>
            <a:r>
              <a:rPr lang="ja-JP" altLang="en-US" sz="2400" b="1" dirty="0"/>
              <a:t>字モデル</a:t>
            </a:r>
            <a:r>
              <a:rPr lang="ja-JP" altLang="en-US" dirty="0"/>
              <a:t>を採用している。</a:t>
            </a:r>
          </a:p>
        </p:txBody>
      </p:sp>
      <p:grpSp>
        <p:nvGrpSpPr>
          <p:cNvPr id="6" name="グループ化 5">
            <a:extLst>
              <a:ext uri="{FF2B5EF4-FFF2-40B4-BE49-F238E27FC236}">
                <a16:creationId xmlns:a16="http://schemas.microsoft.com/office/drawing/2014/main" id="{3EAAE7DF-AC68-62CF-628A-AA5C50424201}"/>
              </a:ext>
            </a:extLst>
          </p:cNvPr>
          <p:cNvGrpSpPr/>
          <p:nvPr/>
        </p:nvGrpSpPr>
        <p:grpSpPr>
          <a:xfrm>
            <a:off x="1086537" y="2756795"/>
            <a:ext cx="10194212" cy="3397153"/>
            <a:chOff x="2495660" y="2548687"/>
            <a:chExt cx="10194212" cy="3397153"/>
          </a:xfrm>
        </p:grpSpPr>
        <p:pic>
          <p:nvPicPr>
            <p:cNvPr id="7" name="図 6" descr="ダイアグラム&#10;&#10;AI によって生成されたコンテンツは間違っている可能性があります。">
              <a:extLst>
                <a:ext uri="{FF2B5EF4-FFF2-40B4-BE49-F238E27FC236}">
                  <a16:creationId xmlns:a16="http://schemas.microsoft.com/office/drawing/2014/main" id="{48FABC72-3903-BD37-5BB9-DDC52A6A6BE3}"/>
                </a:ext>
              </a:extLst>
            </p:cNvPr>
            <p:cNvPicPr>
              <a:picLocks noChangeAspect="1"/>
            </p:cNvPicPr>
            <p:nvPr/>
          </p:nvPicPr>
          <p:blipFill>
            <a:blip r:embed="rId2"/>
            <a:srcRect l="982" r="982"/>
            <a:stretch/>
          </p:blipFill>
          <p:spPr>
            <a:xfrm>
              <a:off x="2495660" y="2548687"/>
              <a:ext cx="5739365" cy="2248801"/>
            </a:xfrm>
            <a:prstGeom prst="rect">
              <a:avLst/>
            </a:prstGeom>
          </p:spPr>
        </p:pic>
        <p:sp>
          <p:nvSpPr>
            <p:cNvPr id="8" name="コンテンツ プレースホルダー 2">
              <a:extLst>
                <a:ext uri="{FF2B5EF4-FFF2-40B4-BE49-F238E27FC236}">
                  <a16:creationId xmlns:a16="http://schemas.microsoft.com/office/drawing/2014/main" id="{5D9814B2-C4EB-6EE4-CC6A-721071B5D98A}"/>
                </a:ext>
              </a:extLst>
            </p:cNvPr>
            <p:cNvSpPr txBox="1">
              <a:spLocks/>
            </p:cNvSpPr>
            <p:nvPr/>
          </p:nvSpPr>
          <p:spPr>
            <a:xfrm>
              <a:off x="8936739" y="5738003"/>
              <a:ext cx="3753133" cy="207837"/>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pPr algn="r"/>
              <a:r>
                <a:rPr lang="ja-JP" altLang="en-US" sz="1200" dirty="0"/>
                <a:t>引用：</a:t>
              </a:r>
              <a:r>
                <a:rPr lang="en-US" altLang="ja-JP" sz="1200" dirty="0">
                  <a:hlinkClick r:id="rId3"/>
                </a:rPr>
                <a:t>TERASOLUNA FAÇADE TERASOLUNA</a:t>
              </a:r>
              <a:r>
                <a:rPr lang="ja-JP" altLang="en-US" sz="1200" dirty="0">
                  <a:hlinkClick r:id="rId3"/>
                </a:rPr>
                <a:t>について</a:t>
              </a:r>
              <a:endParaRPr lang="ja-JP" altLang="en-US" sz="1200" dirty="0"/>
            </a:p>
          </p:txBody>
        </p:sp>
      </p:grpSp>
      <p:sp>
        <p:nvSpPr>
          <p:cNvPr id="9" name="四角形: 角を丸くする 8">
            <a:extLst>
              <a:ext uri="{FF2B5EF4-FFF2-40B4-BE49-F238E27FC236}">
                <a16:creationId xmlns:a16="http://schemas.microsoft.com/office/drawing/2014/main" id="{113F4B5A-6D06-FA9C-6631-2C2C146D16E7}"/>
              </a:ext>
            </a:extLst>
          </p:cNvPr>
          <p:cNvSpPr/>
          <p:nvPr/>
        </p:nvSpPr>
        <p:spPr>
          <a:xfrm>
            <a:off x="2003294" y="5054850"/>
            <a:ext cx="2991990" cy="786271"/>
          </a:xfrm>
          <a:prstGeom prst="round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前半の講義で紹介された</a:t>
            </a:r>
            <a:endParaRPr lang="en-US" altLang="ja-JP" sz="1400" dirty="0">
              <a:solidFill>
                <a:schemeClr val="tx1"/>
              </a:solidFill>
            </a:endParaRPr>
          </a:p>
          <a:p>
            <a:pPr algn="ctr"/>
            <a:r>
              <a:rPr lang="en-US" altLang="ja-JP" sz="1400" dirty="0">
                <a:solidFill>
                  <a:schemeClr val="tx1"/>
                </a:solidFill>
              </a:rPr>
              <a:t>TERASOLUNA</a:t>
            </a:r>
            <a:r>
              <a:rPr lang="ja-JP" altLang="en-US" sz="1400" dirty="0">
                <a:solidFill>
                  <a:schemeClr val="tx1"/>
                </a:solidFill>
              </a:rPr>
              <a:t>フレームワークはここ</a:t>
            </a:r>
            <a:endParaRPr kumimoji="1" lang="ja-JP" altLang="en-US" sz="1400" dirty="0">
              <a:solidFill>
                <a:schemeClr val="tx1"/>
              </a:solidFill>
            </a:endParaRPr>
          </a:p>
        </p:txBody>
      </p:sp>
      <p:sp>
        <p:nvSpPr>
          <p:cNvPr id="10" name="正方形/長方形 9">
            <a:extLst>
              <a:ext uri="{FF2B5EF4-FFF2-40B4-BE49-F238E27FC236}">
                <a16:creationId xmlns:a16="http://schemas.microsoft.com/office/drawing/2014/main" id="{C9AB5B2E-74E4-2923-986F-7D0AF76E047D}"/>
              </a:ext>
            </a:extLst>
          </p:cNvPr>
          <p:cNvSpPr/>
          <p:nvPr/>
        </p:nvSpPr>
        <p:spPr>
          <a:xfrm>
            <a:off x="623785" y="2240502"/>
            <a:ext cx="2770606" cy="57888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本資料で紹介する</a:t>
            </a:r>
            <a:r>
              <a:rPr lang="ja-JP" altLang="en-US" sz="1600" b="1" u="sng" dirty="0">
                <a:solidFill>
                  <a:schemeClr val="tx1"/>
                </a:solidFill>
              </a:rPr>
              <a:t>開発手順</a:t>
            </a:r>
            <a:r>
              <a:rPr lang="ja-JP" altLang="en-US" sz="1400" dirty="0">
                <a:solidFill>
                  <a:schemeClr val="tx1"/>
                </a:solidFill>
              </a:rPr>
              <a:t>はここ</a:t>
            </a:r>
            <a:endParaRPr kumimoji="1" lang="ja-JP" altLang="en-US" sz="1400" dirty="0">
              <a:solidFill>
                <a:schemeClr val="tx1"/>
              </a:solidFill>
            </a:endParaRPr>
          </a:p>
        </p:txBody>
      </p:sp>
      <p:grpSp>
        <p:nvGrpSpPr>
          <p:cNvPr id="11" name="グループ化 10">
            <a:extLst>
              <a:ext uri="{FF2B5EF4-FFF2-40B4-BE49-F238E27FC236}">
                <a16:creationId xmlns:a16="http://schemas.microsoft.com/office/drawing/2014/main" id="{803D05C3-E5FE-B54F-7056-DCB47213A125}"/>
              </a:ext>
            </a:extLst>
          </p:cNvPr>
          <p:cNvGrpSpPr/>
          <p:nvPr/>
        </p:nvGrpSpPr>
        <p:grpSpPr>
          <a:xfrm>
            <a:off x="6637926" y="3736099"/>
            <a:ext cx="4526048" cy="1999173"/>
            <a:chOff x="6686249" y="3996412"/>
            <a:chExt cx="4526048" cy="1999173"/>
          </a:xfrm>
        </p:grpSpPr>
        <p:pic>
          <p:nvPicPr>
            <p:cNvPr id="12" name="図 11" descr="カレンダー が含まれている画像&#10;&#10;AI によって生成されたコンテンツは間違っている可能性があります。">
              <a:extLst>
                <a:ext uri="{FF2B5EF4-FFF2-40B4-BE49-F238E27FC236}">
                  <a16:creationId xmlns:a16="http://schemas.microsoft.com/office/drawing/2014/main" id="{6272BC26-4901-C985-771B-CF64ADAA2448}"/>
                </a:ext>
              </a:extLst>
            </p:cNvPr>
            <p:cNvPicPr>
              <a:picLocks noChangeAspect="1"/>
            </p:cNvPicPr>
            <p:nvPr/>
          </p:nvPicPr>
          <p:blipFill>
            <a:blip r:embed="rId4"/>
            <a:stretch>
              <a:fillRect/>
            </a:stretch>
          </p:blipFill>
          <p:spPr>
            <a:xfrm>
              <a:off x="7336977" y="3996412"/>
              <a:ext cx="3875320" cy="1999173"/>
            </a:xfrm>
            <a:prstGeom prst="rect">
              <a:avLst/>
            </a:prstGeom>
            <a:ln>
              <a:noFill/>
            </a:ln>
          </p:spPr>
        </p:pic>
        <p:cxnSp>
          <p:nvCxnSpPr>
            <p:cNvPr id="13" name="直線コネクタ 12">
              <a:extLst>
                <a:ext uri="{FF2B5EF4-FFF2-40B4-BE49-F238E27FC236}">
                  <a16:creationId xmlns:a16="http://schemas.microsoft.com/office/drawing/2014/main" id="{EDF342C5-C5B9-90C4-2F7A-96E008B9C7F6}"/>
                </a:ext>
              </a:extLst>
            </p:cNvPr>
            <p:cNvCxnSpPr>
              <a:cxnSpLocks/>
              <a:endCxn id="12" idx="1"/>
            </p:cNvCxnSpPr>
            <p:nvPr/>
          </p:nvCxnSpPr>
          <p:spPr>
            <a:xfrm>
              <a:off x="6686249" y="4877367"/>
              <a:ext cx="650728" cy="118632"/>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14" name="正方形/長方形 13">
            <a:extLst>
              <a:ext uri="{FF2B5EF4-FFF2-40B4-BE49-F238E27FC236}">
                <a16:creationId xmlns:a16="http://schemas.microsoft.com/office/drawing/2014/main" id="{2698FA40-FACE-C447-DEA5-5DB194D93179}"/>
              </a:ext>
            </a:extLst>
          </p:cNvPr>
          <p:cNvSpPr/>
          <p:nvPr/>
        </p:nvSpPr>
        <p:spPr>
          <a:xfrm>
            <a:off x="925781" y="2725838"/>
            <a:ext cx="2141840" cy="1081821"/>
          </a:xfrm>
          <a:prstGeom prst="rect">
            <a:avLst/>
          </a:prstGeom>
          <a:noFill/>
          <a:ln w="28575">
            <a:solidFill>
              <a:schemeClr val="tx1"/>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15" name="直線矢印コネクタ 14">
            <a:extLst>
              <a:ext uri="{FF2B5EF4-FFF2-40B4-BE49-F238E27FC236}">
                <a16:creationId xmlns:a16="http://schemas.microsoft.com/office/drawing/2014/main" id="{8FC77DBF-D9A8-BBAA-3FF1-CD6E528B6EF6}"/>
              </a:ext>
            </a:extLst>
          </p:cNvPr>
          <p:cNvCxnSpPr>
            <a:cxnSpLocks/>
          </p:cNvCxnSpPr>
          <p:nvPr/>
        </p:nvCxnSpPr>
        <p:spPr>
          <a:xfrm flipH="1" flipV="1">
            <a:off x="2255703" y="4942002"/>
            <a:ext cx="115084" cy="257856"/>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0812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865D5-0E82-F17F-AFB3-29ACD0D358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9228978-5E12-17F4-0919-833D0003C23C}"/>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再掲</a:t>
            </a:r>
            <a:endParaRPr kumimoji="1" lang="ja-JP" altLang="en-US" dirty="0"/>
          </a:p>
        </p:txBody>
      </p:sp>
      <p:pic>
        <p:nvPicPr>
          <p:cNvPr id="6" name="図 5" descr="ダイアグラム&#10;&#10;AI によって生成されたコンテンツは間違っている可能性があります。">
            <a:extLst>
              <a:ext uri="{FF2B5EF4-FFF2-40B4-BE49-F238E27FC236}">
                <a16:creationId xmlns:a16="http://schemas.microsoft.com/office/drawing/2014/main" id="{F2215F23-805E-FB5F-CAC4-39F0C205F1BC}"/>
              </a:ext>
            </a:extLst>
          </p:cNvPr>
          <p:cNvPicPr>
            <a:picLocks noChangeAspect="1"/>
          </p:cNvPicPr>
          <p:nvPr/>
        </p:nvPicPr>
        <p:blipFill>
          <a:blip r:embed="rId2"/>
          <a:srcRect b="4453"/>
          <a:stretch/>
        </p:blipFill>
        <p:spPr>
          <a:xfrm>
            <a:off x="2547198" y="1864593"/>
            <a:ext cx="7097604" cy="3890997"/>
          </a:xfrm>
          <a:prstGeom prst="rect">
            <a:avLst/>
          </a:prstGeom>
          <a:ln>
            <a:noFill/>
          </a:ln>
        </p:spPr>
      </p:pic>
      <p:sp>
        <p:nvSpPr>
          <p:cNvPr id="5" name="コンテンツ プレースホルダー 2">
            <a:extLst>
              <a:ext uri="{FF2B5EF4-FFF2-40B4-BE49-F238E27FC236}">
                <a16:creationId xmlns:a16="http://schemas.microsoft.com/office/drawing/2014/main" id="{E1736328-2586-AA6B-C914-FA1C3DE8ED4E}"/>
              </a:ext>
            </a:extLst>
          </p:cNvPr>
          <p:cNvSpPr txBox="1">
            <a:spLocks/>
          </p:cNvSpPr>
          <p:nvPr/>
        </p:nvSpPr>
        <p:spPr>
          <a:xfrm>
            <a:off x="372000" y="1038386"/>
            <a:ext cx="11448000" cy="82620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dirty="0"/>
              <a:t>V</a:t>
            </a:r>
            <a:r>
              <a:rPr lang="ja-JP" altLang="en-US" dirty="0"/>
              <a:t>字モデルとは</a:t>
            </a:r>
            <a:r>
              <a:rPr kumimoji="1" lang="ja-JP" altLang="en-US" dirty="0"/>
              <a:t>、</a:t>
            </a:r>
            <a:r>
              <a:rPr lang="ja-JP" altLang="en-US" dirty="0"/>
              <a:t> </a:t>
            </a:r>
            <a:r>
              <a:rPr lang="ja-JP" altLang="en-US" sz="2000" b="1" dirty="0"/>
              <a:t>「設計工程」と「製造・テスト工程」</a:t>
            </a:r>
            <a:r>
              <a:rPr kumimoji="1" lang="ja-JP" altLang="en-US" sz="2000" b="1" dirty="0"/>
              <a:t>の対応関係を視覚的に表現したモデル</a:t>
            </a:r>
            <a:r>
              <a:rPr lang="ja-JP" altLang="en-US" dirty="0"/>
              <a:t>で</a:t>
            </a:r>
            <a:r>
              <a:rPr kumimoji="1" lang="ja-JP" altLang="en-US" dirty="0"/>
              <a:t>ある。</a:t>
            </a:r>
            <a:endParaRPr kumimoji="1" lang="en-US" altLang="ja-JP" dirty="0"/>
          </a:p>
          <a:p>
            <a:r>
              <a:rPr lang="en-US" altLang="ja-JP" dirty="0"/>
              <a:t>TERASOLUNA </a:t>
            </a:r>
            <a:r>
              <a:rPr lang="ja-JP" altLang="en-US" dirty="0"/>
              <a:t>開発手順では、以下の８つのフェーズを対象に</a:t>
            </a:r>
            <a:r>
              <a:rPr lang="en-US" altLang="ja-JP" dirty="0"/>
              <a:t>V</a:t>
            </a:r>
            <a:r>
              <a:rPr lang="ja-JP" altLang="en-US" dirty="0"/>
              <a:t>字モデルを採用している。</a:t>
            </a:r>
            <a:endParaRPr kumimoji="1" lang="ja-JP" altLang="en-US" dirty="0"/>
          </a:p>
          <a:p>
            <a:endParaRPr kumimoji="1" lang="ja-JP" altLang="en-US" dirty="0"/>
          </a:p>
        </p:txBody>
      </p:sp>
      <p:sp>
        <p:nvSpPr>
          <p:cNvPr id="3" name="正方形/長方形 2">
            <a:extLst>
              <a:ext uri="{FF2B5EF4-FFF2-40B4-BE49-F238E27FC236}">
                <a16:creationId xmlns:a16="http://schemas.microsoft.com/office/drawing/2014/main" id="{56560456-AECA-498E-573D-FA83F5DB5D66}"/>
              </a:ext>
            </a:extLst>
          </p:cNvPr>
          <p:cNvSpPr/>
          <p:nvPr/>
        </p:nvSpPr>
        <p:spPr>
          <a:xfrm>
            <a:off x="1517743" y="2061170"/>
            <a:ext cx="4320000" cy="3960000"/>
          </a:xfrm>
          <a:prstGeom prst="rect">
            <a:avLst/>
          </a:prstGeom>
          <a:noFill/>
          <a:ln w="57150">
            <a:solidFill>
              <a:srgbClr val="FFC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 name="正方形/長方形 3">
            <a:extLst>
              <a:ext uri="{FF2B5EF4-FFF2-40B4-BE49-F238E27FC236}">
                <a16:creationId xmlns:a16="http://schemas.microsoft.com/office/drawing/2014/main" id="{7D0203E8-131B-99CE-CB8C-175FCDD54691}"/>
              </a:ext>
            </a:extLst>
          </p:cNvPr>
          <p:cNvSpPr/>
          <p:nvPr/>
        </p:nvSpPr>
        <p:spPr>
          <a:xfrm>
            <a:off x="1517743" y="2061170"/>
            <a:ext cx="504000" cy="3960000"/>
          </a:xfrm>
          <a:prstGeom prst="rect">
            <a:avLst/>
          </a:prstGeom>
          <a:solidFill>
            <a:srgbClr val="FFC000"/>
          </a:solidFill>
          <a:ln w="57150">
            <a:solidFill>
              <a:srgbClr val="FFC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algn="ctr"/>
            <a:r>
              <a:rPr kumimoji="1" lang="ja-JP" altLang="en-US" sz="1600" b="1" dirty="0">
                <a:solidFill>
                  <a:schemeClr val="bg1"/>
                </a:solidFill>
              </a:rPr>
              <a:t>設計</a:t>
            </a:r>
          </a:p>
        </p:txBody>
      </p:sp>
      <p:sp>
        <p:nvSpPr>
          <p:cNvPr id="7" name="正方形/長方形 6">
            <a:extLst>
              <a:ext uri="{FF2B5EF4-FFF2-40B4-BE49-F238E27FC236}">
                <a16:creationId xmlns:a16="http://schemas.microsoft.com/office/drawing/2014/main" id="{D1D54DFB-1EE1-E9D2-A10B-432E7EFC6825}"/>
              </a:ext>
            </a:extLst>
          </p:cNvPr>
          <p:cNvSpPr/>
          <p:nvPr/>
        </p:nvSpPr>
        <p:spPr>
          <a:xfrm>
            <a:off x="6181724" y="2061170"/>
            <a:ext cx="4320000" cy="3960000"/>
          </a:xfrm>
          <a:prstGeom prst="rect">
            <a:avLst/>
          </a:prstGeom>
          <a:noFill/>
          <a:ln w="5715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 name="正方形/長方形 7">
            <a:extLst>
              <a:ext uri="{FF2B5EF4-FFF2-40B4-BE49-F238E27FC236}">
                <a16:creationId xmlns:a16="http://schemas.microsoft.com/office/drawing/2014/main" id="{F578A224-0954-14F0-B571-2EEEEDB727B6}"/>
              </a:ext>
            </a:extLst>
          </p:cNvPr>
          <p:cNvSpPr/>
          <p:nvPr/>
        </p:nvSpPr>
        <p:spPr>
          <a:xfrm>
            <a:off x="9997724" y="2061170"/>
            <a:ext cx="504000" cy="3960000"/>
          </a:xfrm>
          <a:prstGeom prst="rect">
            <a:avLst/>
          </a:prstGeom>
          <a:solidFill>
            <a:srgbClr val="92D050"/>
          </a:solidFill>
          <a:ln w="5715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algn="ctr"/>
            <a:r>
              <a:rPr kumimoji="1" lang="ja-JP" altLang="en-US" sz="1600" b="1" dirty="0">
                <a:solidFill>
                  <a:schemeClr val="bg1"/>
                </a:solidFill>
              </a:rPr>
              <a:t>製造・テスト</a:t>
            </a:r>
          </a:p>
        </p:txBody>
      </p:sp>
    </p:spTree>
    <p:extLst>
      <p:ext uri="{BB962C8B-B14F-4D97-AF65-F5344CB8AC3E}">
        <p14:creationId xmlns:p14="http://schemas.microsoft.com/office/powerpoint/2010/main" val="563977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200E5-F5A8-EF6B-6326-ED61E8AC8F32}"/>
            </a:ext>
          </a:extLst>
        </p:cNvPr>
        <p:cNvGrpSpPr/>
        <p:nvPr/>
      </p:nvGrpSpPr>
      <p:grpSpPr>
        <a:xfrm>
          <a:off x="0" y="0"/>
          <a:ext cx="0" cy="0"/>
          <a:chOff x="0" y="0"/>
          <a:chExt cx="0" cy="0"/>
        </a:xfrm>
      </p:grpSpPr>
      <p:sp>
        <p:nvSpPr>
          <p:cNvPr id="41" name="四角形: 角を丸くする 40">
            <a:extLst>
              <a:ext uri="{FF2B5EF4-FFF2-40B4-BE49-F238E27FC236}">
                <a16:creationId xmlns:a16="http://schemas.microsoft.com/office/drawing/2014/main" id="{63243A25-7A10-D489-3CC5-127AE2D972C2}"/>
              </a:ext>
            </a:extLst>
          </p:cNvPr>
          <p:cNvSpPr/>
          <p:nvPr/>
        </p:nvSpPr>
        <p:spPr>
          <a:xfrm>
            <a:off x="6771166" y="2306940"/>
            <a:ext cx="3389356" cy="3046989"/>
          </a:xfrm>
          <a:prstGeom prst="roundRect">
            <a:avLst>
              <a:gd name="adj" fmla="val 5343"/>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2" name="タイトル 1">
            <a:extLst>
              <a:ext uri="{FF2B5EF4-FFF2-40B4-BE49-F238E27FC236}">
                <a16:creationId xmlns:a16="http://schemas.microsoft.com/office/drawing/2014/main" id="{AE40D1BF-64C8-98EF-7FDE-F4753E5BC7F8}"/>
              </a:ext>
            </a:extLst>
          </p:cNvPr>
          <p:cNvSpPr>
            <a:spLocks noGrp="1"/>
          </p:cNvSpPr>
          <p:nvPr>
            <p:ph type="title"/>
          </p:nvPr>
        </p:nvSpPr>
        <p:spPr/>
        <p:txBody>
          <a:bodyPr anchor="ctr"/>
          <a:lstStyle/>
          <a:p>
            <a:r>
              <a:rPr kumimoji="1" lang="ja-JP" altLang="en-US" dirty="0"/>
              <a:t>テストとは</a:t>
            </a:r>
          </a:p>
        </p:txBody>
      </p:sp>
      <p:sp>
        <p:nvSpPr>
          <p:cNvPr id="7" name="コンテンツ プレースホルダー 2">
            <a:extLst>
              <a:ext uri="{FF2B5EF4-FFF2-40B4-BE49-F238E27FC236}">
                <a16:creationId xmlns:a16="http://schemas.microsoft.com/office/drawing/2014/main" id="{DD11163B-50A4-3EE0-F6B0-5D773F17E255}"/>
              </a:ext>
            </a:extLst>
          </p:cNvPr>
          <p:cNvSpPr>
            <a:spLocks noGrp="1"/>
          </p:cNvSpPr>
          <p:nvPr>
            <p:ph sz="quarter" idx="10"/>
          </p:nvPr>
        </p:nvSpPr>
        <p:spPr>
          <a:xfrm>
            <a:off x="371474" y="1038386"/>
            <a:ext cx="11730330" cy="5196814"/>
          </a:xfrm>
        </p:spPr>
        <p:txBody>
          <a:bodyPr/>
          <a:lstStyle/>
          <a:p>
            <a:r>
              <a:rPr lang="ja-JP" altLang="en-US" dirty="0"/>
              <a:t>テスト</a:t>
            </a:r>
            <a:r>
              <a:rPr kumimoji="1" lang="ja-JP" altLang="en-US" dirty="0"/>
              <a:t>とは、</a:t>
            </a:r>
            <a:endParaRPr kumimoji="1" lang="en-US" altLang="ja-JP" dirty="0"/>
          </a:p>
          <a:p>
            <a:r>
              <a:rPr lang="ja-JP" altLang="en-US" sz="2000" i="0" u="sng" dirty="0">
                <a:solidFill>
                  <a:schemeClr val="tx1"/>
                </a:solidFill>
                <a:effectLst/>
                <a:latin typeface="__Inter_a184c8"/>
              </a:rPr>
              <a:t>開発したシステム内に</a:t>
            </a:r>
            <a:r>
              <a:rPr lang="ja-JP" altLang="en-US" sz="2000" u="sng" dirty="0">
                <a:solidFill>
                  <a:schemeClr val="tx1"/>
                </a:solidFill>
                <a:latin typeface="__Inter_a184c8"/>
              </a:rPr>
              <a:t>、</a:t>
            </a:r>
            <a:r>
              <a:rPr lang="ja-JP" altLang="en-US" sz="2400" b="1" i="0" u="sng" dirty="0">
                <a:solidFill>
                  <a:schemeClr val="tx1"/>
                </a:solidFill>
                <a:effectLst/>
                <a:latin typeface="__Inter_a184c8"/>
              </a:rPr>
              <a:t>顧客と合意した要件にない振る舞いまたは欠陥（バグ）</a:t>
            </a:r>
            <a:r>
              <a:rPr lang="ja-JP" altLang="en-US" sz="2000" u="sng" dirty="0">
                <a:solidFill>
                  <a:schemeClr val="tx1"/>
                </a:solidFill>
                <a:latin typeface="__Inter_a184c8"/>
              </a:rPr>
              <a:t>を見つけ出す</a:t>
            </a:r>
            <a:r>
              <a:rPr lang="ja-JP" altLang="en-US" sz="2000" i="0" u="sng" dirty="0">
                <a:solidFill>
                  <a:schemeClr val="tx1"/>
                </a:solidFill>
                <a:effectLst/>
                <a:latin typeface="__Inter_a184c8"/>
              </a:rPr>
              <a:t>作業</a:t>
            </a:r>
            <a:r>
              <a:rPr kumimoji="1" lang="ja-JP" altLang="en-US" dirty="0"/>
              <a:t>である。</a:t>
            </a:r>
            <a:endParaRPr kumimoji="1" lang="en-US" altLang="ja-JP" dirty="0"/>
          </a:p>
          <a:p>
            <a:endParaRPr lang="en-US" altLang="ja-JP" dirty="0"/>
          </a:p>
          <a:p>
            <a:r>
              <a:rPr lang="en-US" altLang="ja-JP" dirty="0"/>
              <a:t>	</a:t>
            </a:r>
            <a:endParaRPr kumimoji="1" lang="en-US" altLang="ja-JP" dirty="0"/>
          </a:p>
          <a:p>
            <a:endParaRPr kumimoji="1" lang="ja-JP" altLang="en-US" dirty="0"/>
          </a:p>
        </p:txBody>
      </p:sp>
      <p:sp>
        <p:nvSpPr>
          <p:cNvPr id="22" name="矢印: 右 21">
            <a:extLst>
              <a:ext uri="{FF2B5EF4-FFF2-40B4-BE49-F238E27FC236}">
                <a16:creationId xmlns:a16="http://schemas.microsoft.com/office/drawing/2014/main" id="{95C58ECC-784F-4BCC-5CF1-1D3D83DD13B7}"/>
              </a:ext>
            </a:extLst>
          </p:cNvPr>
          <p:cNvSpPr/>
          <p:nvPr/>
        </p:nvSpPr>
        <p:spPr>
          <a:xfrm>
            <a:off x="4553172" y="3292014"/>
            <a:ext cx="404037" cy="903767"/>
          </a:xfrm>
          <a:prstGeom prst="rightArrow">
            <a:avLst/>
          </a:prstGeom>
          <a:solidFill>
            <a:schemeClr val="bg1">
              <a:lumMod val="75000"/>
            </a:schemeClr>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3" name="四角形: 角を丸くする 22">
            <a:extLst>
              <a:ext uri="{FF2B5EF4-FFF2-40B4-BE49-F238E27FC236}">
                <a16:creationId xmlns:a16="http://schemas.microsoft.com/office/drawing/2014/main" id="{EFBE9B18-B296-6A29-3E83-9EB216DE4C2E}"/>
              </a:ext>
            </a:extLst>
          </p:cNvPr>
          <p:cNvSpPr/>
          <p:nvPr/>
        </p:nvSpPr>
        <p:spPr>
          <a:xfrm>
            <a:off x="4959175" y="2111341"/>
            <a:ext cx="404038" cy="3244199"/>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2000" dirty="0">
                <a:solidFill>
                  <a:schemeClr val="bg1"/>
                </a:solidFill>
              </a:rPr>
              <a:t>設計</a:t>
            </a:r>
          </a:p>
        </p:txBody>
      </p:sp>
      <p:sp>
        <p:nvSpPr>
          <p:cNvPr id="24" name="矢印: 右 23">
            <a:extLst>
              <a:ext uri="{FF2B5EF4-FFF2-40B4-BE49-F238E27FC236}">
                <a16:creationId xmlns:a16="http://schemas.microsoft.com/office/drawing/2014/main" id="{E2538808-508C-8C61-BAA6-899E4255213D}"/>
              </a:ext>
            </a:extLst>
          </p:cNvPr>
          <p:cNvSpPr/>
          <p:nvPr/>
        </p:nvSpPr>
        <p:spPr>
          <a:xfrm>
            <a:off x="5400621" y="3292014"/>
            <a:ext cx="404037" cy="903767"/>
          </a:xfrm>
          <a:prstGeom prst="rightArrow">
            <a:avLst/>
          </a:prstGeom>
          <a:solidFill>
            <a:schemeClr val="bg1">
              <a:lumMod val="75000"/>
            </a:schemeClr>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5" name="四角形: 角を丸くする 24">
            <a:extLst>
              <a:ext uri="{FF2B5EF4-FFF2-40B4-BE49-F238E27FC236}">
                <a16:creationId xmlns:a16="http://schemas.microsoft.com/office/drawing/2014/main" id="{85DCC205-D4B9-2955-A9C5-948AEDBD909F}"/>
              </a:ext>
            </a:extLst>
          </p:cNvPr>
          <p:cNvSpPr/>
          <p:nvPr/>
        </p:nvSpPr>
        <p:spPr>
          <a:xfrm>
            <a:off x="5806624" y="2111341"/>
            <a:ext cx="404038" cy="3244199"/>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2000" dirty="0">
                <a:solidFill>
                  <a:schemeClr val="bg1"/>
                </a:solidFill>
              </a:rPr>
              <a:t>製造</a:t>
            </a:r>
          </a:p>
        </p:txBody>
      </p:sp>
      <p:sp>
        <p:nvSpPr>
          <p:cNvPr id="26" name="矢印: 右 25">
            <a:extLst>
              <a:ext uri="{FF2B5EF4-FFF2-40B4-BE49-F238E27FC236}">
                <a16:creationId xmlns:a16="http://schemas.microsoft.com/office/drawing/2014/main" id="{96C0F5E5-FCF3-BF2C-F903-ED9ABFC1D903}"/>
              </a:ext>
            </a:extLst>
          </p:cNvPr>
          <p:cNvSpPr/>
          <p:nvPr/>
        </p:nvSpPr>
        <p:spPr>
          <a:xfrm>
            <a:off x="6244914" y="3287133"/>
            <a:ext cx="404037" cy="903767"/>
          </a:xfrm>
          <a:prstGeom prst="rightArrow">
            <a:avLst/>
          </a:prstGeom>
          <a:solidFill>
            <a:schemeClr val="bg1">
              <a:lumMod val="75000"/>
            </a:schemeClr>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8" name="四角形: 角を丸くする 27">
            <a:extLst>
              <a:ext uri="{FF2B5EF4-FFF2-40B4-BE49-F238E27FC236}">
                <a16:creationId xmlns:a16="http://schemas.microsoft.com/office/drawing/2014/main" id="{0D5EEF45-11C3-4EAC-317C-A1E3DE55B0BC}"/>
              </a:ext>
            </a:extLst>
          </p:cNvPr>
          <p:cNvSpPr/>
          <p:nvPr/>
        </p:nvSpPr>
        <p:spPr>
          <a:xfrm>
            <a:off x="638983" y="2308551"/>
            <a:ext cx="3866756" cy="3046989"/>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30" name="矢印: 右 29">
            <a:extLst>
              <a:ext uri="{FF2B5EF4-FFF2-40B4-BE49-F238E27FC236}">
                <a16:creationId xmlns:a16="http://schemas.microsoft.com/office/drawing/2014/main" id="{5A577FE6-DCF1-787E-7185-CD4C5FCD88BF}"/>
              </a:ext>
            </a:extLst>
          </p:cNvPr>
          <p:cNvSpPr/>
          <p:nvPr/>
        </p:nvSpPr>
        <p:spPr>
          <a:xfrm>
            <a:off x="10328273" y="3292014"/>
            <a:ext cx="404037" cy="903767"/>
          </a:xfrm>
          <a:prstGeom prst="rightArrow">
            <a:avLst/>
          </a:prstGeom>
          <a:solidFill>
            <a:schemeClr val="bg1"/>
          </a:solidFill>
          <a:ln w="1270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1" name="四角形: 角を丸くする 30">
            <a:extLst>
              <a:ext uri="{FF2B5EF4-FFF2-40B4-BE49-F238E27FC236}">
                <a16:creationId xmlns:a16="http://schemas.microsoft.com/office/drawing/2014/main" id="{D20726C4-0A79-CF21-9CAB-867C573CEC7F}"/>
              </a:ext>
            </a:extLst>
          </p:cNvPr>
          <p:cNvSpPr/>
          <p:nvPr/>
        </p:nvSpPr>
        <p:spPr>
          <a:xfrm>
            <a:off x="10779743" y="2111341"/>
            <a:ext cx="404038" cy="3244199"/>
          </a:xfrm>
          <a:prstGeom prst="roundRect">
            <a:avLst/>
          </a:prstGeom>
          <a:solidFill>
            <a:schemeClr val="bg1"/>
          </a:solidFill>
          <a:ln w="1270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2000" dirty="0">
                <a:solidFill>
                  <a:schemeClr val="tx1"/>
                </a:solidFill>
              </a:rPr>
              <a:t>リリース</a:t>
            </a:r>
          </a:p>
        </p:txBody>
      </p:sp>
      <p:grpSp>
        <p:nvGrpSpPr>
          <p:cNvPr id="43" name="グループ化 42">
            <a:extLst>
              <a:ext uri="{FF2B5EF4-FFF2-40B4-BE49-F238E27FC236}">
                <a16:creationId xmlns:a16="http://schemas.microsoft.com/office/drawing/2014/main" id="{0C792632-4179-2A7D-B881-4B80AEF86F0B}"/>
              </a:ext>
            </a:extLst>
          </p:cNvPr>
          <p:cNvGrpSpPr/>
          <p:nvPr/>
        </p:nvGrpSpPr>
        <p:grpSpPr>
          <a:xfrm>
            <a:off x="773947" y="2811002"/>
            <a:ext cx="525455" cy="724887"/>
            <a:chOff x="1412191" y="3584554"/>
            <a:chExt cx="525455" cy="724887"/>
          </a:xfrm>
        </p:grpSpPr>
        <p:pic>
          <p:nvPicPr>
            <p:cNvPr id="33" name="グラフィックス 32" descr="ユーザー 単色塗りつぶし">
              <a:extLst>
                <a:ext uri="{FF2B5EF4-FFF2-40B4-BE49-F238E27FC236}">
                  <a16:creationId xmlns:a16="http://schemas.microsoft.com/office/drawing/2014/main" id="{7FDA0F34-51FD-9DC7-D33A-461B4705791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12191" y="3584554"/>
              <a:ext cx="525455" cy="525455"/>
            </a:xfrm>
            <a:prstGeom prst="rect">
              <a:avLst/>
            </a:prstGeom>
          </p:spPr>
        </p:pic>
        <p:sp>
          <p:nvSpPr>
            <p:cNvPr id="34" name="テキスト ボックス 33">
              <a:extLst>
                <a:ext uri="{FF2B5EF4-FFF2-40B4-BE49-F238E27FC236}">
                  <a16:creationId xmlns:a16="http://schemas.microsoft.com/office/drawing/2014/main" id="{1101B75D-5109-0E18-54DF-8EDA4EDDAED3}"/>
                </a:ext>
              </a:extLst>
            </p:cNvPr>
            <p:cNvSpPr txBox="1"/>
            <p:nvPr/>
          </p:nvSpPr>
          <p:spPr>
            <a:xfrm>
              <a:off x="1486218" y="4005290"/>
              <a:ext cx="377401" cy="304151"/>
            </a:xfrm>
            <a:prstGeom prst="rect">
              <a:avLst/>
            </a:prstGeom>
            <a:noFill/>
          </p:spPr>
          <p:txBody>
            <a:bodyPr wrap="square" lIns="0" rIns="0" rtlCol="0">
              <a:noAutofit/>
            </a:bodyPr>
            <a:lstStyle/>
            <a:p>
              <a:pPr algn="ctr" defTabSz="288000"/>
              <a:r>
                <a:rPr lang="ja-JP" altLang="en-US" sz="1200" dirty="0">
                  <a:latin typeface="+mn-ea"/>
                </a:rPr>
                <a:t>顧客</a:t>
              </a:r>
              <a:endParaRPr kumimoji="1" lang="ja-JP" altLang="en-US" sz="1200" dirty="0">
                <a:latin typeface="+mn-ea"/>
              </a:endParaRPr>
            </a:p>
          </p:txBody>
        </p:sp>
      </p:grpSp>
      <p:pic>
        <p:nvPicPr>
          <p:cNvPr id="36" name="グラフィックス 35" descr="ユーザー 単色塗りつぶし">
            <a:extLst>
              <a:ext uri="{FF2B5EF4-FFF2-40B4-BE49-F238E27FC236}">
                <a16:creationId xmlns:a16="http://schemas.microsoft.com/office/drawing/2014/main" id="{1779AF19-E491-54F6-0E4A-6EDA24453E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61652" y="2627337"/>
            <a:ext cx="525455" cy="525455"/>
          </a:xfrm>
          <a:prstGeom prst="rect">
            <a:avLst/>
          </a:prstGeom>
        </p:spPr>
      </p:pic>
      <p:sp>
        <p:nvSpPr>
          <p:cNvPr id="37" name="吹き出し: 角を丸めた四角形 36">
            <a:extLst>
              <a:ext uri="{FF2B5EF4-FFF2-40B4-BE49-F238E27FC236}">
                <a16:creationId xmlns:a16="http://schemas.microsoft.com/office/drawing/2014/main" id="{A724AB0A-F798-4E83-FAAF-AD866F61669F}"/>
              </a:ext>
            </a:extLst>
          </p:cNvPr>
          <p:cNvSpPr/>
          <p:nvPr/>
        </p:nvSpPr>
        <p:spPr>
          <a:xfrm>
            <a:off x="1545952" y="2714606"/>
            <a:ext cx="2056144" cy="456735"/>
          </a:xfrm>
          <a:prstGeom prst="wedgeRoundRectCallout">
            <a:avLst>
              <a:gd name="adj1" fmla="val -62094"/>
              <a:gd name="adj2" fmla="val 39063"/>
              <a:gd name="adj3" fmla="val 16667"/>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○○なシステムが欲しい</a:t>
            </a:r>
            <a:endParaRPr kumimoji="1" lang="en-US" altLang="ja-JP" sz="1400" dirty="0">
              <a:solidFill>
                <a:schemeClr val="tx1"/>
              </a:solidFill>
            </a:endParaRPr>
          </a:p>
        </p:txBody>
      </p:sp>
      <p:sp>
        <p:nvSpPr>
          <p:cNvPr id="38" name="吹き出し: 角を丸めた四角形 37">
            <a:extLst>
              <a:ext uri="{FF2B5EF4-FFF2-40B4-BE49-F238E27FC236}">
                <a16:creationId xmlns:a16="http://schemas.microsoft.com/office/drawing/2014/main" id="{B4449C64-D374-F9E9-BAA7-BD0E9AF04751}"/>
              </a:ext>
            </a:extLst>
          </p:cNvPr>
          <p:cNvSpPr/>
          <p:nvPr/>
        </p:nvSpPr>
        <p:spPr>
          <a:xfrm>
            <a:off x="1512921" y="4356353"/>
            <a:ext cx="2656467" cy="398274"/>
          </a:xfrm>
          <a:prstGeom prst="wedgeRoundRectCallout">
            <a:avLst>
              <a:gd name="adj1" fmla="val -56221"/>
              <a:gd name="adj2" fmla="val -51826"/>
              <a:gd name="adj3" fmla="val 16667"/>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よし！そのシステムをお願いしよう！</a:t>
            </a:r>
            <a:endParaRPr kumimoji="1" lang="en-US" altLang="ja-JP" sz="1400" dirty="0">
              <a:solidFill>
                <a:schemeClr val="tx1"/>
              </a:solidFill>
            </a:endParaRPr>
          </a:p>
        </p:txBody>
      </p:sp>
      <p:sp>
        <p:nvSpPr>
          <p:cNvPr id="39" name="四角形: 角を丸くする 38">
            <a:extLst>
              <a:ext uri="{FF2B5EF4-FFF2-40B4-BE49-F238E27FC236}">
                <a16:creationId xmlns:a16="http://schemas.microsoft.com/office/drawing/2014/main" id="{DA029CA3-F85F-8DE6-03E9-FBB1A289FE29}"/>
              </a:ext>
            </a:extLst>
          </p:cNvPr>
          <p:cNvSpPr/>
          <p:nvPr/>
        </p:nvSpPr>
        <p:spPr>
          <a:xfrm>
            <a:off x="638983" y="2061727"/>
            <a:ext cx="3866756" cy="46800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要件定義</a:t>
            </a:r>
          </a:p>
        </p:txBody>
      </p:sp>
      <p:sp>
        <p:nvSpPr>
          <p:cNvPr id="40" name="四角形: 角を丸くする 39">
            <a:extLst>
              <a:ext uri="{FF2B5EF4-FFF2-40B4-BE49-F238E27FC236}">
                <a16:creationId xmlns:a16="http://schemas.microsoft.com/office/drawing/2014/main" id="{8BB9489F-125B-8AFC-8B07-A12434D99E7B}"/>
              </a:ext>
            </a:extLst>
          </p:cNvPr>
          <p:cNvSpPr/>
          <p:nvPr/>
        </p:nvSpPr>
        <p:spPr>
          <a:xfrm>
            <a:off x="6771166" y="2060115"/>
            <a:ext cx="3389356" cy="46800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a:t>
            </a:r>
          </a:p>
        </p:txBody>
      </p:sp>
      <p:sp>
        <p:nvSpPr>
          <p:cNvPr id="44" name="吹き出し: 角を丸めた四角形 43">
            <a:extLst>
              <a:ext uri="{FF2B5EF4-FFF2-40B4-BE49-F238E27FC236}">
                <a16:creationId xmlns:a16="http://schemas.microsoft.com/office/drawing/2014/main" id="{5561ED87-1DFA-CB05-931E-F2C33E6A09C9}"/>
              </a:ext>
            </a:extLst>
          </p:cNvPr>
          <p:cNvSpPr/>
          <p:nvPr/>
        </p:nvSpPr>
        <p:spPr>
          <a:xfrm>
            <a:off x="1352399" y="3287168"/>
            <a:ext cx="2363873" cy="895288"/>
          </a:xfrm>
          <a:prstGeom prst="wedgeRoundRectCallout">
            <a:avLst>
              <a:gd name="adj1" fmla="val 56420"/>
              <a:gd name="adj2" fmla="val -32317"/>
              <a:gd name="adj3" fmla="val 16667"/>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400" dirty="0">
                <a:solidFill>
                  <a:schemeClr val="tx1"/>
                </a:solidFill>
              </a:rPr>
              <a:t>△△なシステムでどうでしょうか</a:t>
            </a:r>
            <a:endParaRPr kumimoji="1" lang="en-US" altLang="ja-JP" sz="1400" dirty="0">
              <a:solidFill>
                <a:schemeClr val="tx1"/>
              </a:solidFill>
            </a:endParaRPr>
          </a:p>
        </p:txBody>
      </p:sp>
      <p:pic>
        <p:nvPicPr>
          <p:cNvPr id="46" name="グラフィックス 45" descr="ドキュメント 枠線">
            <a:extLst>
              <a:ext uri="{FF2B5EF4-FFF2-40B4-BE49-F238E27FC236}">
                <a16:creationId xmlns:a16="http://schemas.microsoft.com/office/drawing/2014/main" id="{88AC450D-D4D3-D256-E9D1-14BF094D05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72028" y="3628953"/>
            <a:ext cx="504000" cy="504000"/>
          </a:xfrm>
          <a:prstGeom prst="rect">
            <a:avLst/>
          </a:prstGeom>
        </p:spPr>
      </p:pic>
      <p:pic>
        <p:nvPicPr>
          <p:cNvPr id="54" name="グラフィックス 53" descr="フローチャート 枠線">
            <a:extLst>
              <a:ext uri="{FF2B5EF4-FFF2-40B4-BE49-F238E27FC236}">
                <a16:creationId xmlns:a16="http://schemas.microsoft.com/office/drawing/2014/main" id="{77FD7018-1A35-B7F7-2306-129B53C977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12121" y="3618978"/>
            <a:ext cx="523950" cy="523950"/>
          </a:xfrm>
          <a:prstGeom prst="rect">
            <a:avLst/>
          </a:prstGeom>
        </p:spPr>
      </p:pic>
      <p:sp>
        <p:nvSpPr>
          <p:cNvPr id="35" name="楕円 34">
            <a:extLst>
              <a:ext uri="{FF2B5EF4-FFF2-40B4-BE49-F238E27FC236}">
                <a16:creationId xmlns:a16="http://schemas.microsoft.com/office/drawing/2014/main" id="{F4C2BE38-5182-93A1-C6AB-134E31FC668C}"/>
              </a:ext>
            </a:extLst>
          </p:cNvPr>
          <p:cNvSpPr/>
          <p:nvPr/>
        </p:nvSpPr>
        <p:spPr>
          <a:xfrm>
            <a:off x="2512121" y="4730975"/>
            <a:ext cx="1796613" cy="461666"/>
          </a:xfrm>
          <a:prstGeom prst="ellipse">
            <a:avLst/>
          </a:prstGeom>
          <a:solidFill>
            <a:srgbClr val="FFC400"/>
          </a:solidFill>
          <a:ln w="3175">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b="1" dirty="0">
                <a:solidFill>
                  <a:schemeClr val="tx1"/>
                </a:solidFill>
              </a:rPr>
              <a:t>要件</a:t>
            </a:r>
            <a:r>
              <a:rPr kumimoji="1" lang="en-US" altLang="ja-JP" sz="1600" b="1" baseline="30000" dirty="0">
                <a:solidFill>
                  <a:schemeClr val="tx1"/>
                </a:solidFill>
              </a:rPr>
              <a:t>※</a:t>
            </a:r>
            <a:r>
              <a:rPr kumimoji="1" lang="ja-JP" altLang="en-US" sz="1600" b="1" dirty="0">
                <a:solidFill>
                  <a:schemeClr val="tx1"/>
                </a:solidFill>
              </a:rPr>
              <a:t>の合意</a:t>
            </a:r>
          </a:p>
        </p:txBody>
      </p:sp>
      <p:sp>
        <p:nvSpPr>
          <p:cNvPr id="57" name="吹き出し: 角を丸めた四角形 56">
            <a:extLst>
              <a:ext uri="{FF2B5EF4-FFF2-40B4-BE49-F238E27FC236}">
                <a16:creationId xmlns:a16="http://schemas.microsoft.com/office/drawing/2014/main" id="{5809F390-D103-C9D1-5050-613957DEAD41}"/>
              </a:ext>
            </a:extLst>
          </p:cNvPr>
          <p:cNvSpPr/>
          <p:nvPr/>
        </p:nvSpPr>
        <p:spPr>
          <a:xfrm>
            <a:off x="7504418" y="2681838"/>
            <a:ext cx="2457656" cy="570922"/>
          </a:xfrm>
          <a:prstGeom prst="wedgeRoundRectCallout">
            <a:avLst>
              <a:gd name="adj1" fmla="val -57308"/>
              <a:gd name="adj2" fmla="val 13883"/>
              <a:gd name="adj3" fmla="val 16667"/>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要件にない振る舞いや、</a:t>
            </a:r>
            <a:endParaRPr kumimoji="1" lang="en-US" altLang="ja-JP" sz="1400" dirty="0">
              <a:solidFill>
                <a:schemeClr val="tx1"/>
              </a:solidFill>
            </a:endParaRPr>
          </a:p>
          <a:p>
            <a:pPr algn="ctr"/>
            <a:r>
              <a:rPr lang="ja-JP" altLang="en-US" sz="1400" dirty="0">
                <a:solidFill>
                  <a:schemeClr val="tx1"/>
                </a:solidFill>
              </a:rPr>
              <a:t>欠陥があるか</a:t>
            </a:r>
            <a:r>
              <a:rPr kumimoji="1" lang="ja-JP" altLang="en-US" sz="1400" dirty="0">
                <a:solidFill>
                  <a:schemeClr val="tx1"/>
                </a:solidFill>
              </a:rPr>
              <a:t>確認しよう</a:t>
            </a:r>
            <a:endParaRPr kumimoji="1" lang="en-US" altLang="ja-JP" sz="1400" dirty="0">
              <a:solidFill>
                <a:schemeClr val="tx1"/>
              </a:solidFill>
            </a:endParaRPr>
          </a:p>
        </p:txBody>
      </p:sp>
      <p:sp>
        <p:nvSpPr>
          <p:cNvPr id="29" name="四角形: 角を丸くする 28">
            <a:extLst>
              <a:ext uri="{FF2B5EF4-FFF2-40B4-BE49-F238E27FC236}">
                <a16:creationId xmlns:a16="http://schemas.microsoft.com/office/drawing/2014/main" id="{697B3E4B-B2C8-669A-B413-4A09675431F1}"/>
              </a:ext>
            </a:extLst>
          </p:cNvPr>
          <p:cNvSpPr/>
          <p:nvPr/>
        </p:nvSpPr>
        <p:spPr>
          <a:xfrm>
            <a:off x="6693435" y="1982880"/>
            <a:ext cx="3564000" cy="3500319"/>
          </a:xfrm>
          <a:prstGeom prst="roundRect">
            <a:avLst>
              <a:gd name="adj" fmla="val 5110"/>
            </a:avLst>
          </a:prstGeom>
          <a:noFill/>
          <a:ln w="571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pic>
        <p:nvPicPr>
          <p:cNvPr id="68" name="グラフィックス 67" descr="ユーザー 単色塗りつぶし">
            <a:extLst>
              <a:ext uri="{FF2B5EF4-FFF2-40B4-BE49-F238E27FC236}">
                <a16:creationId xmlns:a16="http://schemas.microsoft.com/office/drawing/2014/main" id="{FF22DB8F-F6C8-F57C-6ECB-5962778020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3947" y="4077798"/>
            <a:ext cx="525455" cy="525455"/>
          </a:xfrm>
          <a:prstGeom prst="rect">
            <a:avLst/>
          </a:prstGeom>
        </p:spPr>
      </p:pic>
      <p:grpSp>
        <p:nvGrpSpPr>
          <p:cNvPr id="110" name="グループ化 109">
            <a:extLst>
              <a:ext uri="{FF2B5EF4-FFF2-40B4-BE49-F238E27FC236}">
                <a16:creationId xmlns:a16="http://schemas.microsoft.com/office/drawing/2014/main" id="{0468B429-6152-B237-008B-FFA0A4AE0993}"/>
              </a:ext>
            </a:extLst>
          </p:cNvPr>
          <p:cNvGrpSpPr/>
          <p:nvPr/>
        </p:nvGrpSpPr>
        <p:grpSpPr>
          <a:xfrm>
            <a:off x="6953092" y="3363536"/>
            <a:ext cx="3075612" cy="1878003"/>
            <a:chOff x="7038817" y="3351222"/>
            <a:chExt cx="3075612" cy="1878003"/>
          </a:xfrm>
        </p:grpSpPr>
        <p:sp>
          <p:nvSpPr>
            <p:cNvPr id="64" name="四角形: 角を丸くする 63">
              <a:extLst>
                <a:ext uri="{FF2B5EF4-FFF2-40B4-BE49-F238E27FC236}">
                  <a16:creationId xmlns:a16="http://schemas.microsoft.com/office/drawing/2014/main" id="{B8A384FF-62C2-E885-7FF2-900F1989410B}"/>
                </a:ext>
              </a:extLst>
            </p:cNvPr>
            <p:cNvSpPr/>
            <p:nvPr/>
          </p:nvSpPr>
          <p:spPr>
            <a:xfrm>
              <a:off x="7038817" y="3351222"/>
              <a:ext cx="3075612" cy="1878003"/>
            </a:xfrm>
            <a:prstGeom prst="roundRect">
              <a:avLst>
                <a:gd name="adj" fmla="val 9423"/>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5" name="正方形/長方形 64">
              <a:extLst>
                <a:ext uri="{FF2B5EF4-FFF2-40B4-BE49-F238E27FC236}">
                  <a16:creationId xmlns:a16="http://schemas.microsoft.com/office/drawing/2014/main" id="{E3684250-E37C-B8C4-2D7D-D1DC2362AAC9}"/>
                </a:ext>
              </a:extLst>
            </p:cNvPr>
            <p:cNvSpPr/>
            <p:nvPr/>
          </p:nvSpPr>
          <p:spPr>
            <a:xfrm>
              <a:off x="9238464" y="3673463"/>
              <a:ext cx="683447" cy="1277887"/>
            </a:xfrm>
            <a:prstGeom prst="rect">
              <a:avLst/>
            </a:prstGeom>
            <a:solidFill>
              <a:schemeClr val="bg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59" name="グラフィックス 58" descr="Web デザイン 枠線">
              <a:extLst>
                <a:ext uri="{FF2B5EF4-FFF2-40B4-BE49-F238E27FC236}">
                  <a16:creationId xmlns:a16="http://schemas.microsoft.com/office/drawing/2014/main" id="{5EEF043A-32B1-ADF2-AA09-13A22803ACA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09429" y="3693396"/>
              <a:ext cx="324000" cy="324000"/>
            </a:xfrm>
            <a:prstGeom prst="rect">
              <a:avLst/>
            </a:prstGeom>
          </p:spPr>
        </p:pic>
        <p:sp>
          <p:nvSpPr>
            <p:cNvPr id="3" name="正方形/長方形 2">
              <a:extLst>
                <a:ext uri="{FF2B5EF4-FFF2-40B4-BE49-F238E27FC236}">
                  <a16:creationId xmlns:a16="http://schemas.microsoft.com/office/drawing/2014/main" id="{3CEE9E32-F8B7-7E06-F801-D252F22826B3}"/>
                </a:ext>
              </a:extLst>
            </p:cNvPr>
            <p:cNvSpPr/>
            <p:nvPr/>
          </p:nvSpPr>
          <p:spPr>
            <a:xfrm>
              <a:off x="7310410" y="3539872"/>
              <a:ext cx="1021676" cy="1498312"/>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9" name="グループ化 8">
              <a:extLst>
                <a:ext uri="{FF2B5EF4-FFF2-40B4-BE49-F238E27FC236}">
                  <a16:creationId xmlns:a16="http://schemas.microsoft.com/office/drawing/2014/main" id="{2F334E2A-C622-9420-C6F9-2F74121338C9}"/>
                </a:ext>
              </a:extLst>
            </p:cNvPr>
            <p:cNvGrpSpPr/>
            <p:nvPr/>
          </p:nvGrpSpPr>
          <p:grpSpPr>
            <a:xfrm>
              <a:off x="7412293" y="3759686"/>
              <a:ext cx="1000734" cy="294991"/>
              <a:chOff x="7324116" y="3726722"/>
              <a:chExt cx="1000734" cy="294991"/>
            </a:xfrm>
          </p:grpSpPr>
          <p:sp>
            <p:nvSpPr>
              <p:cNvPr id="6" name="正方形/長方形 5">
                <a:extLst>
                  <a:ext uri="{FF2B5EF4-FFF2-40B4-BE49-F238E27FC236}">
                    <a16:creationId xmlns:a16="http://schemas.microsoft.com/office/drawing/2014/main" id="{23DF4D25-2324-52A5-4FEB-11224F2AEEBA}"/>
                  </a:ext>
                </a:extLst>
              </p:cNvPr>
              <p:cNvSpPr/>
              <p:nvPr/>
            </p:nvSpPr>
            <p:spPr>
              <a:xfrm>
                <a:off x="7324116" y="3802217"/>
                <a:ext cx="144000" cy="14400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 name="テキスト ボックス 7">
                <a:extLst>
                  <a:ext uri="{FF2B5EF4-FFF2-40B4-BE49-F238E27FC236}">
                    <a16:creationId xmlns:a16="http://schemas.microsoft.com/office/drawing/2014/main" id="{F669ACEA-5930-71D7-8C34-1AC8BE91B771}"/>
                  </a:ext>
                </a:extLst>
              </p:cNvPr>
              <p:cNvSpPr txBox="1"/>
              <p:nvPr/>
            </p:nvSpPr>
            <p:spPr>
              <a:xfrm>
                <a:off x="7615154" y="3726722"/>
                <a:ext cx="709696" cy="294991"/>
              </a:xfrm>
              <a:prstGeom prst="rect">
                <a:avLst/>
              </a:prstGeom>
              <a:noFill/>
            </p:spPr>
            <p:txBody>
              <a:bodyPr wrap="square" lIns="0" rIns="0" rtlCol="0" anchor="ctr">
                <a:noAutofit/>
              </a:bodyPr>
              <a:lstStyle/>
              <a:p>
                <a:pPr algn="l" defTabSz="288000"/>
                <a:r>
                  <a:rPr lang="ja-JP" altLang="en-US" sz="1050" dirty="0">
                    <a:latin typeface="+mn-ea"/>
                  </a:rPr>
                  <a:t>□□□</a:t>
                </a:r>
                <a:endParaRPr kumimoji="1" lang="ja-JP" altLang="en-US" sz="1050" dirty="0">
                  <a:latin typeface="+mn-ea"/>
                </a:endParaRPr>
              </a:p>
            </p:txBody>
          </p:sp>
        </p:grpSp>
        <p:grpSp>
          <p:nvGrpSpPr>
            <p:cNvPr id="10" name="グループ化 9">
              <a:extLst>
                <a:ext uri="{FF2B5EF4-FFF2-40B4-BE49-F238E27FC236}">
                  <a16:creationId xmlns:a16="http://schemas.microsoft.com/office/drawing/2014/main" id="{DFCA0549-668E-874B-1A48-506CD1AEFFBD}"/>
                </a:ext>
              </a:extLst>
            </p:cNvPr>
            <p:cNvGrpSpPr/>
            <p:nvPr/>
          </p:nvGrpSpPr>
          <p:grpSpPr>
            <a:xfrm>
              <a:off x="7412293" y="3980801"/>
              <a:ext cx="1000734" cy="294991"/>
              <a:chOff x="7324116" y="3726722"/>
              <a:chExt cx="1000734" cy="294991"/>
            </a:xfrm>
          </p:grpSpPr>
          <p:sp>
            <p:nvSpPr>
              <p:cNvPr id="11" name="正方形/長方形 10">
                <a:extLst>
                  <a:ext uri="{FF2B5EF4-FFF2-40B4-BE49-F238E27FC236}">
                    <a16:creationId xmlns:a16="http://schemas.microsoft.com/office/drawing/2014/main" id="{4769C937-89CE-164F-B6B3-27913C5ABE99}"/>
                  </a:ext>
                </a:extLst>
              </p:cNvPr>
              <p:cNvSpPr/>
              <p:nvPr/>
            </p:nvSpPr>
            <p:spPr>
              <a:xfrm>
                <a:off x="7324116" y="3802217"/>
                <a:ext cx="144000" cy="14400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2" name="テキスト ボックス 11">
                <a:extLst>
                  <a:ext uri="{FF2B5EF4-FFF2-40B4-BE49-F238E27FC236}">
                    <a16:creationId xmlns:a16="http://schemas.microsoft.com/office/drawing/2014/main" id="{03960599-7E2E-10CD-24A3-61092A41BCFF}"/>
                  </a:ext>
                </a:extLst>
              </p:cNvPr>
              <p:cNvSpPr txBox="1"/>
              <p:nvPr/>
            </p:nvSpPr>
            <p:spPr>
              <a:xfrm>
                <a:off x="7615154" y="3726722"/>
                <a:ext cx="709696" cy="294991"/>
              </a:xfrm>
              <a:prstGeom prst="rect">
                <a:avLst/>
              </a:prstGeom>
              <a:noFill/>
            </p:spPr>
            <p:txBody>
              <a:bodyPr wrap="square" lIns="0" rIns="0" rtlCol="0" anchor="ctr">
                <a:noAutofit/>
              </a:bodyPr>
              <a:lstStyle/>
              <a:p>
                <a:pPr algn="l" defTabSz="288000"/>
                <a:r>
                  <a:rPr kumimoji="1" lang="ja-JP" altLang="en-US" sz="1050" dirty="0">
                    <a:latin typeface="+mn-ea"/>
                  </a:rPr>
                  <a:t>●●●</a:t>
                </a:r>
              </a:p>
            </p:txBody>
          </p:sp>
        </p:grpSp>
        <p:grpSp>
          <p:nvGrpSpPr>
            <p:cNvPr id="13" name="グループ化 12">
              <a:extLst>
                <a:ext uri="{FF2B5EF4-FFF2-40B4-BE49-F238E27FC236}">
                  <a16:creationId xmlns:a16="http://schemas.microsoft.com/office/drawing/2014/main" id="{7EA10352-7B03-14EE-26F5-6B07EB94C2CB}"/>
                </a:ext>
              </a:extLst>
            </p:cNvPr>
            <p:cNvGrpSpPr/>
            <p:nvPr/>
          </p:nvGrpSpPr>
          <p:grpSpPr>
            <a:xfrm>
              <a:off x="7412293" y="4201916"/>
              <a:ext cx="1000734" cy="294991"/>
              <a:chOff x="7324116" y="3726722"/>
              <a:chExt cx="1000734" cy="294991"/>
            </a:xfrm>
          </p:grpSpPr>
          <p:sp>
            <p:nvSpPr>
              <p:cNvPr id="14" name="正方形/長方形 13">
                <a:extLst>
                  <a:ext uri="{FF2B5EF4-FFF2-40B4-BE49-F238E27FC236}">
                    <a16:creationId xmlns:a16="http://schemas.microsoft.com/office/drawing/2014/main" id="{9C2C4A1F-BEA8-F101-8224-E1FCC6E65872}"/>
                  </a:ext>
                </a:extLst>
              </p:cNvPr>
              <p:cNvSpPr/>
              <p:nvPr/>
            </p:nvSpPr>
            <p:spPr>
              <a:xfrm>
                <a:off x="7324116" y="3802217"/>
                <a:ext cx="144000" cy="14400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5" name="テキスト ボックス 14">
                <a:extLst>
                  <a:ext uri="{FF2B5EF4-FFF2-40B4-BE49-F238E27FC236}">
                    <a16:creationId xmlns:a16="http://schemas.microsoft.com/office/drawing/2014/main" id="{1824541B-71D2-DCCC-6EED-C32A3DD9C55F}"/>
                  </a:ext>
                </a:extLst>
              </p:cNvPr>
              <p:cNvSpPr txBox="1"/>
              <p:nvPr/>
            </p:nvSpPr>
            <p:spPr>
              <a:xfrm>
                <a:off x="7615154" y="3726722"/>
                <a:ext cx="709696" cy="294991"/>
              </a:xfrm>
              <a:prstGeom prst="rect">
                <a:avLst/>
              </a:prstGeom>
              <a:noFill/>
            </p:spPr>
            <p:txBody>
              <a:bodyPr wrap="square" lIns="0" rIns="0" rtlCol="0" anchor="ctr">
                <a:noAutofit/>
              </a:bodyPr>
              <a:lstStyle/>
              <a:p>
                <a:pPr algn="l" defTabSz="288000"/>
                <a:r>
                  <a:rPr kumimoji="1" lang="ja-JP" altLang="en-US" sz="1050" dirty="0">
                    <a:latin typeface="+mn-ea"/>
                  </a:rPr>
                  <a:t>△△△</a:t>
                </a:r>
              </a:p>
            </p:txBody>
          </p:sp>
        </p:grpSp>
        <p:grpSp>
          <p:nvGrpSpPr>
            <p:cNvPr id="16" name="グループ化 15">
              <a:extLst>
                <a:ext uri="{FF2B5EF4-FFF2-40B4-BE49-F238E27FC236}">
                  <a16:creationId xmlns:a16="http://schemas.microsoft.com/office/drawing/2014/main" id="{7341FF41-ED72-8742-7974-9B60532B9F70}"/>
                </a:ext>
              </a:extLst>
            </p:cNvPr>
            <p:cNvGrpSpPr/>
            <p:nvPr/>
          </p:nvGrpSpPr>
          <p:grpSpPr>
            <a:xfrm>
              <a:off x="7412293" y="4423031"/>
              <a:ext cx="1000734" cy="294991"/>
              <a:chOff x="7324116" y="3726722"/>
              <a:chExt cx="1000734" cy="294991"/>
            </a:xfrm>
          </p:grpSpPr>
          <p:sp>
            <p:nvSpPr>
              <p:cNvPr id="17" name="正方形/長方形 16">
                <a:extLst>
                  <a:ext uri="{FF2B5EF4-FFF2-40B4-BE49-F238E27FC236}">
                    <a16:creationId xmlns:a16="http://schemas.microsoft.com/office/drawing/2014/main" id="{DB1BF9BE-6089-AE5C-2D59-8A8BF33B0287}"/>
                  </a:ext>
                </a:extLst>
              </p:cNvPr>
              <p:cNvSpPr/>
              <p:nvPr/>
            </p:nvSpPr>
            <p:spPr>
              <a:xfrm>
                <a:off x="7324116" y="3802217"/>
                <a:ext cx="144000" cy="14400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テキスト ボックス 17">
                <a:extLst>
                  <a:ext uri="{FF2B5EF4-FFF2-40B4-BE49-F238E27FC236}">
                    <a16:creationId xmlns:a16="http://schemas.microsoft.com/office/drawing/2014/main" id="{C36C7AEA-3787-4C11-2373-CDD5287B2F46}"/>
                  </a:ext>
                </a:extLst>
              </p:cNvPr>
              <p:cNvSpPr txBox="1"/>
              <p:nvPr/>
            </p:nvSpPr>
            <p:spPr>
              <a:xfrm>
                <a:off x="7615154" y="3726722"/>
                <a:ext cx="709696" cy="294991"/>
              </a:xfrm>
              <a:prstGeom prst="rect">
                <a:avLst/>
              </a:prstGeom>
              <a:noFill/>
            </p:spPr>
            <p:txBody>
              <a:bodyPr wrap="square" lIns="0" rIns="0" rtlCol="0" anchor="ctr">
                <a:noAutofit/>
              </a:bodyPr>
              <a:lstStyle/>
              <a:p>
                <a:pPr algn="l" defTabSz="288000"/>
                <a:r>
                  <a:rPr kumimoji="1" lang="ja-JP" altLang="en-US" sz="1050" dirty="0">
                    <a:latin typeface="+mn-ea"/>
                  </a:rPr>
                  <a:t>■■■</a:t>
                </a:r>
              </a:p>
            </p:txBody>
          </p:sp>
        </p:grpSp>
        <p:sp>
          <p:nvSpPr>
            <p:cNvPr id="19" name="テキスト ボックス 18">
              <a:extLst>
                <a:ext uri="{FF2B5EF4-FFF2-40B4-BE49-F238E27FC236}">
                  <a16:creationId xmlns:a16="http://schemas.microsoft.com/office/drawing/2014/main" id="{A884FC63-8E79-C23B-6D81-88310462977D}"/>
                </a:ext>
              </a:extLst>
            </p:cNvPr>
            <p:cNvSpPr txBox="1"/>
            <p:nvPr/>
          </p:nvSpPr>
          <p:spPr>
            <a:xfrm rot="5400000">
              <a:off x="7609022" y="4730020"/>
              <a:ext cx="474869" cy="379960"/>
            </a:xfrm>
            <a:prstGeom prst="rect">
              <a:avLst/>
            </a:prstGeom>
            <a:noFill/>
          </p:spPr>
          <p:txBody>
            <a:bodyPr wrap="square" lIns="0" rIns="0" rtlCol="0" anchor="ctr">
              <a:noAutofit/>
            </a:bodyPr>
            <a:lstStyle/>
            <a:p>
              <a:pPr algn="l" defTabSz="288000"/>
              <a:r>
                <a:rPr kumimoji="1" lang="ja-JP" altLang="en-US" sz="1100" dirty="0">
                  <a:latin typeface="+mn-ea"/>
                </a:rPr>
                <a:t>・・・</a:t>
              </a:r>
            </a:p>
          </p:txBody>
        </p:sp>
        <p:cxnSp>
          <p:nvCxnSpPr>
            <p:cNvPr id="27" name="直線矢印コネクタ 26">
              <a:extLst>
                <a:ext uri="{FF2B5EF4-FFF2-40B4-BE49-F238E27FC236}">
                  <a16:creationId xmlns:a16="http://schemas.microsoft.com/office/drawing/2014/main" id="{E820A393-7A72-3168-FA2D-8496CD5409F0}"/>
                </a:ext>
              </a:extLst>
            </p:cNvPr>
            <p:cNvCxnSpPr>
              <a:cxnSpLocks/>
            </p:cNvCxnSpPr>
            <p:nvPr/>
          </p:nvCxnSpPr>
          <p:spPr>
            <a:xfrm flipV="1">
              <a:off x="8372591" y="3859556"/>
              <a:ext cx="1008000" cy="1"/>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0" name="正方形/長方形 49">
              <a:extLst>
                <a:ext uri="{FF2B5EF4-FFF2-40B4-BE49-F238E27FC236}">
                  <a16:creationId xmlns:a16="http://schemas.microsoft.com/office/drawing/2014/main" id="{B65CA866-8E10-923D-5F39-BCD618C3D3BC}"/>
                </a:ext>
              </a:extLst>
            </p:cNvPr>
            <p:cNvSpPr/>
            <p:nvPr/>
          </p:nvSpPr>
          <p:spPr>
            <a:xfrm>
              <a:off x="7641995" y="3488622"/>
              <a:ext cx="339456" cy="10800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1" name="楕円 50">
              <a:extLst>
                <a:ext uri="{FF2B5EF4-FFF2-40B4-BE49-F238E27FC236}">
                  <a16:creationId xmlns:a16="http://schemas.microsoft.com/office/drawing/2014/main" id="{BB415EA7-F843-9C01-CD57-AECC28419940}"/>
                </a:ext>
              </a:extLst>
            </p:cNvPr>
            <p:cNvSpPr/>
            <p:nvPr/>
          </p:nvSpPr>
          <p:spPr>
            <a:xfrm>
              <a:off x="7777738" y="3503682"/>
              <a:ext cx="72000" cy="72000"/>
            </a:xfrm>
            <a:prstGeom prst="ellipse">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2" name="テキスト ボックス 51">
              <a:extLst>
                <a:ext uri="{FF2B5EF4-FFF2-40B4-BE49-F238E27FC236}">
                  <a16:creationId xmlns:a16="http://schemas.microsoft.com/office/drawing/2014/main" id="{ACB71A39-8342-0711-7FC8-CF2EC154506F}"/>
                </a:ext>
              </a:extLst>
            </p:cNvPr>
            <p:cNvSpPr txBox="1"/>
            <p:nvPr/>
          </p:nvSpPr>
          <p:spPr>
            <a:xfrm>
              <a:off x="8366031" y="3574942"/>
              <a:ext cx="1033572" cy="365749"/>
            </a:xfrm>
            <a:prstGeom prst="rect">
              <a:avLst/>
            </a:prstGeom>
            <a:noFill/>
          </p:spPr>
          <p:txBody>
            <a:bodyPr wrap="square" lIns="0" rIns="0" rtlCol="0" anchor="ctr">
              <a:noAutofit/>
            </a:bodyPr>
            <a:lstStyle/>
            <a:p>
              <a:pPr algn="ctr" defTabSz="288000"/>
              <a:r>
                <a:rPr lang="ja-JP" altLang="en-US" sz="1000" dirty="0">
                  <a:latin typeface="+mn-ea"/>
                </a:rPr>
                <a:t>動作確認</a:t>
              </a:r>
              <a:endParaRPr kumimoji="1" lang="ja-JP" altLang="en-US" sz="1000" dirty="0">
                <a:latin typeface="+mn-ea"/>
              </a:endParaRPr>
            </a:p>
          </p:txBody>
        </p:sp>
        <p:pic>
          <p:nvPicPr>
            <p:cNvPr id="53" name="グラフィックス 52" descr="Web デザイン 枠線">
              <a:extLst>
                <a:ext uri="{FF2B5EF4-FFF2-40B4-BE49-F238E27FC236}">
                  <a16:creationId xmlns:a16="http://schemas.microsoft.com/office/drawing/2014/main" id="{1EB421E1-5917-54B6-5C85-87BE0BE01D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09429" y="3915479"/>
              <a:ext cx="324000" cy="324000"/>
            </a:xfrm>
            <a:prstGeom prst="rect">
              <a:avLst/>
            </a:prstGeom>
          </p:spPr>
        </p:pic>
        <p:cxnSp>
          <p:nvCxnSpPr>
            <p:cNvPr id="55" name="直線矢印コネクタ 54">
              <a:extLst>
                <a:ext uri="{FF2B5EF4-FFF2-40B4-BE49-F238E27FC236}">
                  <a16:creationId xmlns:a16="http://schemas.microsoft.com/office/drawing/2014/main" id="{D919B382-6757-BCCA-3658-603703AEB713}"/>
                </a:ext>
              </a:extLst>
            </p:cNvPr>
            <p:cNvCxnSpPr>
              <a:cxnSpLocks/>
            </p:cNvCxnSpPr>
            <p:nvPr/>
          </p:nvCxnSpPr>
          <p:spPr>
            <a:xfrm flipV="1">
              <a:off x="8372591" y="4081639"/>
              <a:ext cx="1008000" cy="1"/>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58" name="グラフィックス 57" descr="Web デザイン 枠線">
              <a:extLst>
                <a:ext uri="{FF2B5EF4-FFF2-40B4-BE49-F238E27FC236}">
                  <a16:creationId xmlns:a16="http://schemas.microsoft.com/office/drawing/2014/main" id="{1E587E26-345C-4AAD-EEDD-9C24AAEC2B3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09429" y="4137562"/>
              <a:ext cx="324000" cy="324000"/>
            </a:xfrm>
            <a:prstGeom prst="rect">
              <a:avLst/>
            </a:prstGeom>
          </p:spPr>
        </p:pic>
        <p:cxnSp>
          <p:nvCxnSpPr>
            <p:cNvPr id="61" name="直線矢印コネクタ 60">
              <a:extLst>
                <a:ext uri="{FF2B5EF4-FFF2-40B4-BE49-F238E27FC236}">
                  <a16:creationId xmlns:a16="http://schemas.microsoft.com/office/drawing/2014/main" id="{83C21455-6641-33C9-2939-63AF4ACEC786}"/>
                </a:ext>
              </a:extLst>
            </p:cNvPr>
            <p:cNvCxnSpPr>
              <a:cxnSpLocks/>
            </p:cNvCxnSpPr>
            <p:nvPr/>
          </p:nvCxnSpPr>
          <p:spPr>
            <a:xfrm flipV="1">
              <a:off x="8372591" y="4303722"/>
              <a:ext cx="1008000" cy="1"/>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62" name="グラフィックス 61" descr="Web デザイン 枠線">
              <a:extLst>
                <a:ext uri="{FF2B5EF4-FFF2-40B4-BE49-F238E27FC236}">
                  <a16:creationId xmlns:a16="http://schemas.microsoft.com/office/drawing/2014/main" id="{B1BA6712-0AD0-0940-ECE0-86F5F970A2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09429" y="4359645"/>
              <a:ext cx="324000" cy="324000"/>
            </a:xfrm>
            <a:prstGeom prst="rect">
              <a:avLst/>
            </a:prstGeom>
          </p:spPr>
        </p:pic>
        <p:cxnSp>
          <p:nvCxnSpPr>
            <p:cNvPr id="63" name="直線矢印コネクタ 62">
              <a:extLst>
                <a:ext uri="{FF2B5EF4-FFF2-40B4-BE49-F238E27FC236}">
                  <a16:creationId xmlns:a16="http://schemas.microsoft.com/office/drawing/2014/main" id="{A9C58B65-0902-4841-DC26-6D9DA3829578}"/>
                </a:ext>
              </a:extLst>
            </p:cNvPr>
            <p:cNvCxnSpPr>
              <a:cxnSpLocks/>
            </p:cNvCxnSpPr>
            <p:nvPr/>
          </p:nvCxnSpPr>
          <p:spPr>
            <a:xfrm flipV="1">
              <a:off x="8372591" y="4525805"/>
              <a:ext cx="1008000" cy="1"/>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6" name="テキスト ボックス 65">
              <a:extLst>
                <a:ext uri="{FF2B5EF4-FFF2-40B4-BE49-F238E27FC236}">
                  <a16:creationId xmlns:a16="http://schemas.microsoft.com/office/drawing/2014/main" id="{87A9663C-5E78-E304-AC9F-FAEB597FD148}"/>
                </a:ext>
              </a:extLst>
            </p:cNvPr>
            <p:cNvSpPr txBox="1"/>
            <p:nvPr/>
          </p:nvSpPr>
          <p:spPr>
            <a:xfrm>
              <a:off x="9238463" y="4585601"/>
              <a:ext cx="683447" cy="365749"/>
            </a:xfrm>
            <a:prstGeom prst="rect">
              <a:avLst/>
            </a:prstGeom>
            <a:noFill/>
          </p:spPr>
          <p:txBody>
            <a:bodyPr wrap="square" lIns="0" rIns="0" rtlCol="0" anchor="ctr">
              <a:noAutofit/>
            </a:bodyPr>
            <a:lstStyle/>
            <a:p>
              <a:pPr algn="ctr" defTabSz="288000"/>
              <a:r>
                <a:rPr lang="ja-JP" altLang="en-US" sz="1000" dirty="0">
                  <a:latin typeface="+mn-ea"/>
                </a:rPr>
                <a:t>成果物</a:t>
              </a:r>
              <a:endParaRPr kumimoji="1" lang="ja-JP" altLang="en-US" sz="1000" dirty="0">
                <a:latin typeface="+mn-ea"/>
              </a:endParaRPr>
            </a:p>
          </p:txBody>
        </p:sp>
        <p:sp>
          <p:nvSpPr>
            <p:cNvPr id="87" name="十字形 86">
              <a:extLst>
                <a:ext uri="{FF2B5EF4-FFF2-40B4-BE49-F238E27FC236}">
                  <a16:creationId xmlns:a16="http://schemas.microsoft.com/office/drawing/2014/main" id="{2F58A393-B795-B5C5-39AD-7B5BFAC2E17F}"/>
                </a:ext>
              </a:extLst>
            </p:cNvPr>
            <p:cNvSpPr/>
            <p:nvPr/>
          </p:nvSpPr>
          <p:spPr>
            <a:xfrm rot="2647068">
              <a:off x="7433625" y="4525493"/>
              <a:ext cx="108000" cy="108000"/>
            </a:xfrm>
            <a:prstGeom prst="plus">
              <a:avLst>
                <a:gd name="adj" fmla="val 43221"/>
              </a:avLst>
            </a:prstGeom>
            <a:solidFill>
              <a:schemeClr val="accent1">
                <a:lumMod val="50000"/>
                <a:lumOff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2" name="円: 塗りつぶしなし 81">
              <a:extLst>
                <a:ext uri="{FF2B5EF4-FFF2-40B4-BE49-F238E27FC236}">
                  <a16:creationId xmlns:a16="http://schemas.microsoft.com/office/drawing/2014/main" id="{F315A317-D203-396F-9FF9-73A97ACFFC79}"/>
                </a:ext>
              </a:extLst>
            </p:cNvPr>
            <p:cNvSpPr/>
            <p:nvPr/>
          </p:nvSpPr>
          <p:spPr>
            <a:xfrm>
              <a:off x="7433625" y="3861656"/>
              <a:ext cx="108000" cy="108000"/>
            </a:xfrm>
            <a:prstGeom prst="donut">
              <a:avLst>
                <a:gd name="adj" fmla="val 12477"/>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4" name="円: 塗りつぶしなし 83">
              <a:extLst>
                <a:ext uri="{FF2B5EF4-FFF2-40B4-BE49-F238E27FC236}">
                  <a16:creationId xmlns:a16="http://schemas.microsoft.com/office/drawing/2014/main" id="{F324CF1B-1141-2DA3-4283-F3FD317FAABD}"/>
                </a:ext>
              </a:extLst>
            </p:cNvPr>
            <p:cNvSpPr/>
            <p:nvPr/>
          </p:nvSpPr>
          <p:spPr>
            <a:xfrm>
              <a:off x="7433625" y="4296631"/>
              <a:ext cx="108000" cy="108000"/>
            </a:xfrm>
            <a:prstGeom prst="donut">
              <a:avLst>
                <a:gd name="adj" fmla="val 12477"/>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6" name="円: 塗りつぶしなし 85">
              <a:extLst>
                <a:ext uri="{FF2B5EF4-FFF2-40B4-BE49-F238E27FC236}">
                  <a16:creationId xmlns:a16="http://schemas.microsoft.com/office/drawing/2014/main" id="{5680DB9A-D5E1-FD1A-422A-382CC74B779F}"/>
                </a:ext>
              </a:extLst>
            </p:cNvPr>
            <p:cNvSpPr/>
            <p:nvPr/>
          </p:nvSpPr>
          <p:spPr>
            <a:xfrm>
              <a:off x="7433625" y="4074381"/>
              <a:ext cx="108000" cy="108000"/>
            </a:xfrm>
            <a:prstGeom prst="donut">
              <a:avLst>
                <a:gd name="adj" fmla="val 12477"/>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91" name="正方形/長方形 90">
              <a:extLst>
                <a:ext uri="{FF2B5EF4-FFF2-40B4-BE49-F238E27FC236}">
                  <a16:creationId xmlns:a16="http://schemas.microsoft.com/office/drawing/2014/main" id="{07954454-5344-E6EA-2388-5E4A70EA8C78}"/>
                </a:ext>
              </a:extLst>
            </p:cNvPr>
            <p:cNvSpPr/>
            <p:nvPr/>
          </p:nvSpPr>
          <p:spPr>
            <a:xfrm>
              <a:off x="7868123" y="4634131"/>
              <a:ext cx="683446" cy="286783"/>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050" dirty="0">
                  <a:solidFill>
                    <a:schemeClr val="tx1"/>
                  </a:solidFill>
                </a:rPr>
                <a:t>欠陥あり</a:t>
              </a:r>
            </a:p>
          </p:txBody>
        </p:sp>
        <p:sp>
          <p:nvSpPr>
            <p:cNvPr id="100" name="テキスト ボックス 99">
              <a:extLst>
                <a:ext uri="{FF2B5EF4-FFF2-40B4-BE49-F238E27FC236}">
                  <a16:creationId xmlns:a16="http://schemas.microsoft.com/office/drawing/2014/main" id="{2500AEEA-9DE4-5DFD-17AC-BBB7410FDAE6}"/>
                </a:ext>
              </a:extLst>
            </p:cNvPr>
            <p:cNvSpPr txBox="1"/>
            <p:nvPr/>
          </p:nvSpPr>
          <p:spPr>
            <a:xfrm>
              <a:off x="7308020" y="3612769"/>
              <a:ext cx="1033572" cy="164699"/>
            </a:xfrm>
            <a:prstGeom prst="rect">
              <a:avLst/>
            </a:prstGeom>
            <a:noFill/>
          </p:spPr>
          <p:txBody>
            <a:bodyPr wrap="square" lIns="0" rIns="0" rtlCol="0" anchor="ctr">
              <a:noAutofit/>
            </a:bodyPr>
            <a:lstStyle/>
            <a:p>
              <a:pPr algn="ctr" defTabSz="288000"/>
              <a:r>
                <a:rPr lang="ja-JP" altLang="en-US" sz="1000" u="sng" dirty="0">
                  <a:latin typeface="+mn-ea"/>
                </a:rPr>
                <a:t>チェックリスト</a:t>
              </a:r>
              <a:endParaRPr kumimoji="1" lang="ja-JP" altLang="en-US" sz="1000" u="sng" dirty="0">
                <a:latin typeface="+mn-ea"/>
              </a:endParaRPr>
            </a:p>
          </p:txBody>
        </p:sp>
        <p:sp>
          <p:nvSpPr>
            <p:cNvPr id="103" name="楕円 102">
              <a:extLst>
                <a:ext uri="{FF2B5EF4-FFF2-40B4-BE49-F238E27FC236}">
                  <a16:creationId xmlns:a16="http://schemas.microsoft.com/office/drawing/2014/main" id="{40F05D45-E8A0-69E1-EFF3-409963FA66C7}"/>
                </a:ext>
              </a:extLst>
            </p:cNvPr>
            <p:cNvSpPr/>
            <p:nvPr/>
          </p:nvSpPr>
          <p:spPr>
            <a:xfrm>
              <a:off x="7267575" y="4441432"/>
              <a:ext cx="1116000" cy="252000"/>
            </a:xfrm>
            <a:prstGeom prst="ellipse">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20" name="テキスト ボックス 19">
            <a:extLst>
              <a:ext uri="{FF2B5EF4-FFF2-40B4-BE49-F238E27FC236}">
                <a16:creationId xmlns:a16="http://schemas.microsoft.com/office/drawing/2014/main" id="{DE7DD80A-38CB-413D-EFCD-A4343138295A}"/>
              </a:ext>
            </a:extLst>
          </p:cNvPr>
          <p:cNvSpPr txBox="1"/>
          <p:nvPr/>
        </p:nvSpPr>
        <p:spPr>
          <a:xfrm>
            <a:off x="1264306" y="5353929"/>
            <a:ext cx="3563999" cy="253916"/>
          </a:xfrm>
          <a:prstGeom prst="rect">
            <a:avLst/>
          </a:prstGeom>
          <a:noFill/>
        </p:spPr>
        <p:txBody>
          <a:bodyPr wrap="square">
            <a:spAutoFit/>
          </a:bodyPr>
          <a:lstStyle/>
          <a:p>
            <a:r>
              <a:rPr lang="en-US" altLang="ja-JP" sz="1050" dirty="0"/>
              <a:t>※</a:t>
            </a:r>
            <a:r>
              <a:rPr lang="ja-JP" altLang="en-US" sz="1050" dirty="0"/>
              <a:t>顧客の期待する結果を得るために</a:t>
            </a:r>
            <a:r>
              <a:rPr kumimoji="1" lang="ja-JP" altLang="en-US" sz="1050" dirty="0">
                <a:solidFill>
                  <a:schemeClr val="tx1"/>
                </a:solidFill>
              </a:rPr>
              <a:t>システムに必要となる機能</a:t>
            </a:r>
            <a:endParaRPr lang="ja-JP" altLang="en-US" sz="1050" dirty="0"/>
          </a:p>
        </p:txBody>
      </p:sp>
      <p:pic>
        <p:nvPicPr>
          <p:cNvPr id="45" name="グラフィックス 44" descr="ユーザー 単色塗りつぶし">
            <a:extLst>
              <a:ext uri="{FF2B5EF4-FFF2-40B4-BE49-F238E27FC236}">
                <a16:creationId xmlns:a16="http://schemas.microsoft.com/office/drawing/2014/main" id="{EA6E2490-E8AA-7211-F580-58FE03355FA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69013" y="3067266"/>
            <a:ext cx="598160" cy="598160"/>
          </a:xfrm>
          <a:prstGeom prst="rect">
            <a:avLst/>
          </a:prstGeom>
        </p:spPr>
      </p:pic>
      <p:sp>
        <p:nvSpPr>
          <p:cNvPr id="47" name="テキスト ボックス 46">
            <a:extLst>
              <a:ext uri="{FF2B5EF4-FFF2-40B4-BE49-F238E27FC236}">
                <a16:creationId xmlns:a16="http://schemas.microsoft.com/office/drawing/2014/main" id="{587499F6-5141-7336-4C33-948E8B70408A}"/>
              </a:ext>
            </a:extLst>
          </p:cNvPr>
          <p:cNvSpPr txBox="1"/>
          <p:nvPr/>
        </p:nvSpPr>
        <p:spPr>
          <a:xfrm>
            <a:off x="3995313" y="3516118"/>
            <a:ext cx="377401" cy="304151"/>
          </a:xfrm>
          <a:prstGeom prst="rect">
            <a:avLst/>
          </a:prstGeom>
          <a:noFill/>
        </p:spPr>
        <p:txBody>
          <a:bodyPr wrap="square" lIns="0" rIns="0" rtlCol="0">
            <a:noAutofit/>
          </a:bodyPr>
          <a:lstStyle/>
          <a:p>
            <a:pPr algn="ctr" defTabSz="288000"/>
            <a:r>
              <a:rPr lang="en-US" altLang="ja-JP" sz="1200" dirty="0">
                <a:latin typeface="+mn-ea"/>
              </a:rPr>
              <a:t>SIer</a:t>
            </a:r>
            <a:r>
              <a:rPr lang="ja-JP" altLang="en-US" sz="1200" dirty="0">
                <a:latin typeface="+mn-ea"/>
              </a:rPr>
              <a:t>企業</a:t>
            </a:r>
            <a:endParaRPr kumimoji="1" lang="ja-JP" altLang="en-US" sz="1200" dirty="0">
              <a:latin typeface="+mn-ea"/>
            </a:endParaRPr>
          </a:p>
        </p:txBody>
      </p:sp>
      <p:sp>
        <p:nvSpPr>
          <p:cNvPr id="32" name="テキスト ボックス 31">
            <a:extLst>
              <a:ext uri="{FF2B5EF4-FFF2-40B4-BE49-F238E27FC236}">
                <a16:creationId xmlns:a16="http://schemas.microsoft.com/office/drawing/2014/main" id="{9E6BB435-FBB6-87A6-4EFF-FFE2221CACF0}"/>
              </a:ext>
            </a:extLst>
          </p:cNvPr>
          <p:cNvSpPr txBox="1"/>
          <p:nvPr/>
        </p:nvSpPr>
        <p:spPr>
          <a:xfrm>
            <a:off x="6861024" y="3042104"/>
            <a:ext cx="541400" cy="304151"/>
          </a:xfrm>
          <a:prstGeom prst="rect">
            <a:avLst/>
          </a:prstGeom>
          <a:noFill/>
        </p:spPr>
        <p:txBody>
          <a:bodyPr wrap="square" lIns="0" rIns="0" rtlCol="0">
            <a:noAutofit/>
          </a:bodyPr>
          <a:lstStyle/>
          <a:p>
            <a:pPr algn="ctr" defTabSz="288000"/>
            <a:r>
              <a:rPr lang="ja-JP" altLang="en-US" sz="1000" dirty="0">
                <a:latin typeface="+mn-ea"/>
              </a:rPr>
              <a:t>テスト</a:t>
            </a:r>
            <a:endParaRPr lang="en-US" altLang="ja-JP" sz="1000" dirty="0">
              <a:latin typeface="+mn-ea"/>
            </a:endParaRPr>
          </a:p>
          <a:p>
            <a:pPr algn="ctr" defTabSz="288000"/>
            <a:r>
              <a:rPr lang="ja-JP" altLang="en-US" sz="1000" dirty="0">
                <a:latin typeface="+mn-ea"/>
              </a:rPr>
              <a:t>担当者</a:t>
            </a:r>
            <a:endParaRPr kumimoji="1" lang="ja-JP" altLang="en-US" sz="1000" dirty="0">
              <a:latin typeface="+mn-ea"/>
            </a:endParaRPr>
          </a:p>
        </p:txBody>
      </p:sp>
      <p:sp>
        <p:nvSpPr>
          <p:cNvPr id="48" name="吹き出し: 角を丸めた四角形 47">
            <a:extLst>
              <a:ext uri="{FF2B5EF4-FFF2-40B4-BE49-F238E27FC236}">
                <a16:creationId xmlns:a16="http://schemas.microsoft.com/office/drawing/2014/main" id="{0D23D1B6-00EA-1F8E-CFFD-A77FF7FC11CA}"/>
              </a:ext>
            </a:extLst>
          </p:cNvPr>
          <p:cNvSpPr/>
          <p:nvPr/>
        </p:nvSpPr>
        <p:spPr>
          <a:xfrm>
            <a:off x="3995313" y="5631502"/>
            <a:ext cx="8058260" cy="765918"/>
          </a:xfrm>
          <a:prstGeom prst="wedgeRoundRectCallout">
            <a:avLst>
              <a:gd name="adj1" fmla="val -9553"/>
              <a:gd name="adj2" fmla="val -100504"/>
              <a:gd name="adj3" fmla="val 16667"/>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「要件を満たしているか」を確認するだけでは、要件に書かれていない部分</a:t>
            </a:r>
            <a:r>
              <a:rPr lang="ja-JP" altLang="en-US" sz="1400" dirty="0">
                <a:solidFill>
                  <a:schemeClr val="tx1"/>
                </a:solidFill>
              </a:rPr>
              <a:t>にある</a:t>
            </a:r>
            <a:r>
              <a:rPr kumimoji="1" lang="ja-JP" altLang="en-US" sz="1400" dirty="0">
                <a:solidFill>
                  <a:schemeClr val="tx1"/>
                </a:solidFill>
              </a:rPr>
              <a:t>欠陥（バグ）は見つけられない。</a:t>
            </a:r>
            <a:endParaRPr kumimoji="1" lang="en-US" altLang="ja-JP" sz="1400" dirty="0">
              <a:solidFill>
                <a:schemeClr val="tx1"/>
              </a:solidFill>
            </a:endParaRPr>
          </a:p>
          <a:p>
            <a:pPr algn="ctr"/>
            <a:r>
              <a:rPr lang="ja-JP" altLang="en-US" sz="1600" b="1" dirty="0">
                <a:solidFill>
                  <a:srgbClr val="FF0000"/>
                </a:solidFill>
              </a:rPr>
              <a:t>「欠陥（バグ）を見つける」</a:t>
            </a:r>
            <a:r>
              <a:rPr lang="ja-JP" altLang="en-US" sz="1400" dirty="0">
                <a:solidFill>
                  <a:schemeClr val="tx1"/>
                </a:solidFill>
              </a:rPr>
              <a:t>ことが大切！</a:t>
            </a:r>
            <a:endParaRPr kumimoji="1" lang="ja-JP" altLang="en-US" sz="1400" dirty="0">
              <a:solidFill>
                <a:schemeClr val="tx1"/>
              </a:solidFill>
            </a:endParaRPr>
          </a:p>
        </p:txBody>
      </p:sp>
    </p:spTree>
    <p:extLst>
      <p:ext uri="{BB962C8B-B14F-4D97-AF65-F5344CB8AC3E}">
        <p14:creationId xmlns:p14="http://schemas.microsoft.com/office/powerpoint/2010/main" val="1870700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FFDCF-2C62-0B9B-D61B-60699082DCD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B4C13F6-FE5A-5DDD-BA3E-534550D4F7F1}"/>
              </a:ext>
            </a:extLst>
          </p:cNvPr>
          <p:cNvSpPr/>
          <p:nvPr/>
        </p:nvSpPr>
        <p:spPr>
          <a:xfrm>
            <a:off x="371474" y="1514474"/>
            <a:ext cx="9592035" cy="399600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6899C453-32BE-5F4F-F243-39899A921A3F}"/>
              </a:ext>
            </a:extLst>
          </p:cNvPr>
          <p:cNvSpPr>
            <a:spLocks noGrp="1"/>
          </p:cNvSpPr>
          <p:nvPr>
            <p:ph type="title"/>
          </p:nvPr>
        </p:nvSpPr>
        <p:spPr/>
        <p:txBody>
          <a:bodyPr anchor="ctr"/>
          <a:lstStyle/>
          <a:p>
            <a:r>
              <a:rPr kumimoji="1" lang="ja-JP" altLang="en-US" dirty="0"/>
              <a:t>テストの目的</a:t>
            </a:r>
          </a:p>
        </p:txBody>
      </p:sp>
      <p:sp>
        <p:nvSpPr>
          <p:cNvPr id="46" name="コンテンツ プレースホルダー 45">
            <a:extLst>
              <a:ext uri="{FF2B5EF4-FFF2-40B4-BE49-F238E27FC236}">
                <a16:creationId xmlns:a16="http://schemas.microsoft.com/office/drawing/2014/main" id="{05D1291C-8766-CD82-154F-6E5A55D87272}"/>
              </a:ext>
            </a:extLst>
          </p:cNvPr>
          <p:cNvSpPr>
            <a:spLocks noGrp="1"/>
          </p:cNvSpPr>
          <p:nvPr>
            <p:ph sz="quarter" idx="10"/>
          </p:nvPr>
        </p:nvSpPr>
        <p:spPr>
          <a:xfrm>
            <a:off x="371474" y="1038386"/>
            <a:ext cx="11448000" cy="396000"/>
          </a:xfrm>
        </p:spPr>
        <p:txBody>
          <a:bodyPr/>
          <a:lstStyle/>
          <a:p>
            <a:r>
              <a:rPr lang="ja-JP" altLang="en-US" dirty="0">
                <a:solidFill>
                  <a:schemeClr val="tx1"/>
                </a:solidFill>
              </a:rPr>
              <a:t>テストの目的について、</a:t>
            </a:r>
            <a:r>
              <a:rPr lang="en-US" altLang="ja-JP" dirty="0">
                <a:solidFill>
                  <a:schemeClr val="tx1"/>
                </a:solidFill>
              </a:rPr>
              <a:t>JSTQB</a:t>
            </a:r>
            <a:r>
              <a:rPr lang="en-US" altLang="ja-JP" baseline="30000" dirty="0">
                <a:solidFill>
                  <a:schemeClr val="tx1"/>
                </a:solidFill>
              </a:rPr>
              <a:t>※1</a:t>
            </a:r>
            <a:r>
              <a:rPr lang="ja-JP" altLang="en-US" dirty="0">
                <a:solidFill>
                  <a:schemeClr val="tx1"/>
                </a:solidFill>
              </a:rPr>
              <a:t>（</a:t>
            </a:r>
            <a:r>
              <a:rPr lang="ja-JP" altLang="en-US" b="0" i="0" dirty="0">
                <a:solidFill>
                  <a:schemeClr val="tx1"/>
                </a:solidFill>
                <a:effectLst/>
                <a:latin typeface="Arial" panose="020B0604020202020204" pitchFamily="34" charset="0"/>
              </a:rPr>
              <a:t>ソフトウェアテスト技術振興協会</a:t>
            </a:r>
            <a:r>
              <a:rPr lang="ja-JP" altLang="en-US" dirty="0">
                <a:solidFill>
                  <a:schemeClr val="tx1"/>
                </a:solidFill>
              </a:rPr>
              <a:t>）は以下の９個を挙げている。</a:t>
            </a:r>
          </a:p>
        </p:txBody>
      </p:sp>
      <p:sp>
        <p:nvSpPr>
          <p:cNvPr id="50" name="テキスト ボックス 49">
            <a:extLst>
              <a:ext uri="{FF2B5EF4-FFF2-40B4-BE49-F238E27FC236}">
                <a16:creationId xmlns:a16="http://schemas.microsoft.com/office/drawing/2014/main" id="{B98FEC09-9FE8-664A-ABED-C9062FD237BC}"/>
              </a:ext>
            </a:extLst>
          </p:cNvPr>
          <p:cNvSpPr txBox="1"/>
          <p:nvPr/>
        </p:nvSpPr>
        <p:spPr>
          <a:xfrm>
            <a:off x="371474" y="1736015"/>
            <a:ext cx="11821200" cy="3062120"/>
          </a:xfrm>
          <a:prstGeom prst="rect">
            <a:avLst/>
          </a:prstGeom>
          <a:noFill/>
          <a:ln>
            <a:noFill/>
          </a:ln>
        </p:spPr>
        <p:txBody>
          <a:bodyPr wrap="square">
            <a:spAutoFit/>
          </a:bodyPr>
          <a:lstStyle/>
          <a:p>
            <a:pPr marL="285750" indent="-285750">
              <a:lnSpc>
                <a:spcPts val="2600"/>
              </a:lnSpc>
              <a:buFont typeface="Arial" panose="020B0604020202020204" pitchFamily="34" charset="0"/>
              <a:buChar char="•"/>
            </a:pPr>
            <a:r>
              <a:rPr lang="ja-JP" altLang="en-US" dirty="0"/>
              <a:t>要件、ユーザーストーリー、設計、およびコードなどの作業成果物を</a:t>
            </a:r>
            <a:r>
              <a:rPr lang="ja-JP" altLang="en-US" sz="2000" b="1" dirty="0"/>
              <a:t>評価</a:t>
            </a:r>
            <a:r>
              <a:rPr lang="ja-JP" altLang="en-US" dirty="0"/>
              <a:t>する。 </a:t>
            </a:r>
            <a:endParaRPr lang="en-US" altLang="ja-JP" dirty="0"/>
          </a:p>
          <a:p>
            <a:pPr marL="285750" indent="-285750">
              <a:lnSpc>
                <a:spcPts val="2600"/>
              </a:lnSpc>
              <a:buFont typeface="Arial" panose="020B0604020202020204" pitchFamily="34" charset="0"/>
              <a:buChar char="•"/>
            </a:pPr>
            <a:r>
              <a:rPr lang="ja-JP" altLang="en-US" dirty="0"/>
              <a:t>故障を引き起こし、</a:t>
            </a:r>
            <a:r>
              <a:rPr lang="ja-JP" altLang="en-US" sz="2000" b="1" dirty="0">
                <a:solidFill>
                  <a:srgbClr val="FF0000"/>
                </a:solidFill>
              </a:rPr>
              <a:t>欠陥を発見</a:t>
            </a:r>
            <a:r>
              <a:rPr lang="ja-JP" altLang="en-US" dirty="0"/>
              <a:t>する。 </a:t>
            </a:r>
            <a:endParaRPr lang="en-US" altLang="ja-JP" dirty="0"/>
          </a:p>
          <a:p>
            <a:pPr marL="285750" indent="-285750">
              <a:lnSpc>
                <a:spcPts val="2600"/>
              </a:lnSpc>
              <a:buFont typeface="Arial" panose="020B0604020202020204" pitchFamily="34" charset="0"/>
              <a:buChar char="•"/>
            </a:pPr>
            <a:r>
              <a:rPr lang="ja-JP" altLang="en-US" dirty="0"/>
              <a:t>求められるテスト対象の</a:t>
            </a:r>
            <a:r>
              <a:rPr lang="ja-JP" altLang="en-US" sz="2000" b="1" dirty="0"/>
              <a:t>カバレッジ（網羅率）を確保</a:t>
            </a:r>
            <a:r>
              <a:rPr lang="ja-JP" altLang="en-US" dirty="0"/>
              <a:t>する。 </a:t>
            </a:r>
            <a:endParaRPr lang="en-US" altLang="ja-JP" dirty="0"/>
          </a:p>
          <a:p>
            <a:pPr marL="285750" indent="-285750">
              <a:lnSpc>
                <a:spcPts val="2600"/>
              </a:lnSpc>
              <a:buFont typeface="Arial" panose="020B0604020202020204" pitchFamily="34" charset="0"/>
              <a:buChar char="•"/>
            </a:pPr>
            <a:r>
              <a:rPr lang="ja-JP" altLang="en-US" dirty="0"/>
              <a:t>ソフトウェア品質が不十分な場合の</a:t>
            </a:r>
            <a:r>
              <a:rPr lang="ja-JP" altLang="en-US" sz="2000" b="1" dirty="0"/>
              <a:t>リスクレベルを下げる</a:t>
            </a:r>
            <a:r>
              <a:rPr lang="ja-JP" altLang="en-US" dirty="0"/>
              <a:t>。 </a:t>
            </a:r>
            <a:endParaRPr lang="en-US" altLang="ja-JP" dirty="0"/>
          </a:p>
          <a:p>
            <a:pPr marL="285750" indent="-285750">
              <a:lnSpc>
                <a:spcPts val="2600"/>
              </a:lnSpc>
              <a:buFont typeface="Arial" panose="020B0604020202020204" pitchFamily="34" charset="0"/>
              <a:buChar char="•"/>
            </a:pPr>
            <a:r>
              <a:rPr lang="ja-JP" altLang="en-US" dirty="0"/>
              <a:t>仕様化した要件が満たされているかどうかを</a:t>
            </a:r>
            <a:r>
              <a:rPr lang="ja-JP" altLang="en-US" sz="2000" b="1" dirty="0"/>
              <a:t>検証</a:t>
            </a:r>
            <a:r>
              <a:rPr lang="ja-JP" altLang="en-US" dirty="0"/>
              <a:t>する。 </a:t>
            </a:r>
            <a:endParaRPr lang="en-US" altLang="ja-JP" dirty="0"/>
          </a:p>
          <a:p>
            <a:pPr marL="285750" indent="-285750">
              <a:lnSpc>
                <a:spcPts val="2600"/>
              </a:lnSpc>
              <a:buFont typeface="Arial" panose="020B0604020202020204" pitchFamily="34" charset="0"/>
              <a:buChar char="•"/>
            </a:pPr>
            <a:r>
              <a:rPr lang="ja-JP" altLang="en-US" dirty="0"/>
              <a:t>テスト対象が契約、法律、規制の要件に適合していることを</a:t>
            </a:r>
            <a:r>
              <a:rPr lang="ja-JP" altLang="en-US" sz="2000" b="1" dirty="0"/>
              <a:t>検証</a:t>
            </a:r>
            <a:r>
              <a:rPr lang="ja-JP" altLang="en-US" dirty="0"/>
              <a:t>する。 </a:t>
            </a:r>
            <a:endParaRPr lang="en-US" altLang="ja-JP" dirty="0"/>
          </a:p>
          <a:p>
            <a:pPr marL="285750" indent="-285750">
              <a:lnSpc>
                <a:spcPts val="2600"/>
              </a:lnSpc>
              <a:buFont typeface="Arial" panose="020B0604020202020204" pitchFamily="34" charset="0"/>
              <a:buChar char="•"/>
            </a:pPr>
            <a:r>
              <a:rPr lang="ja-JP" altLang="en-US" dirty="0"/>
              <a:t>ステークホルダーに根拠ある判断をしてもらうための</a:t>
            </a:r>
            <a:r>
              <a:rPr lang="ja-JP" altLang="en-US" sz="2000" b="1" dirty="0"/>
              <a:t>情報を提供</a:t>
            </a:r>
            <a:r>
              <a:rPr lang="ja-JP" altLang="en-US" dirty="0"/>
              <a:t>する。 </a:t>
            </a:r>
            <a:endParaRPr lang="en-US" altLang="ja-JP" dirty="0"/>
          </a:p>
          <a:p>
            <a:pPr marL="285750" indent="-285750">
              <a:lnSpc>
                <a:spcPts val="2600"/>
              </a:lnSpc>
              <a:buFont typeface="Arial" panose="020B0604020202020204" pitchFamily="34" charset="0"/>
              <a:buChar char="•"/>
            </a:pPr>
            <a:r>
              <a:rPr lang="ja-JP" altLang="en-US" dirty="0"/>
              <a:t>テスト対象の</a:t>
            </a:r>
            <a:r>
              <a:rPr lang="ja-JP" altLang="en-US" sz="2000" b="1" dirty="0"/>
              <a:t>品質に対する信頼</a:t>
            </a:r>
            <a:r>
              <a:rPr lang="ja-JP" altLang="en-US" dirty="0"/>
              <a:t>を積み上げる。 </a:t>
            </a:r>
            <a:endParaRPr lang="en-US" altLang="ja-JP" dirty="0"/>
          </a:p>
          <a:p>
            <a:pPr marL="285750" indent="-285750">
              <a:lnSpc>
                <a:spcPts val="2600"/>
              </a:lnSpc>
              <a:buFont typeface="Arial" panose="020B0604020202020204" pitchFamily="34" charset="0"/>
              <a:buChar char="•"/>
            </a:pPr>
            <a:r>
              <a:rPr lang="ja-JP" altLang="en-US" dirty="0"/>
              <a:t>テスト対象が完成し、ステークホルダーの期待通りに動作するかどうかの</a:t>
            </a:r>
            <a:r>
              <a:rPr lang="ja-JP" altLang="en-US" sz="2000" b="1" dirty="0"/>
              <a:t>妥当性確認</a:t>
            </a:r>
            <a:r>
              <a:rPr lang="ja-JP" altLang="en-US" dirty="0"/>
              <a:t>をする。</a:t>
            </a:r>
            <a:endParaRPr lang="en-US" altLang="ja-JP" dirty="0"/>
          </a:p>
        </p:txBody>
      </p:sp>
      <p:sp>
        <p:nvSpPr>
          <p:cNvPr id="6" name="テキスト ボックス 5">
            <a:extLst>
              <a:ext uri="{FF2B5EF4-FFF2-40B4-BE49-F238E27FC236}">
                <a16:creationId xmlns:a16="http://schemas.microsoft.com/office/drawing/2014/main" id="{B7E98473-DFFB-94D9-7EE5-2B571E1D038A}"/>
              </a:ext>
            </a:extLst>
          </p:cNvPr>
          <p:cNvSpPr txBox="1"/>
          <p:nvPr/>
        </p:nvSpPr>
        <p:spPr>
          <a:xfrm>
            <a:off x="4681873" y="5049328"/>
            <a:ext cx="5281635" cy="400110"/>
          </a:xfrm>
          <a:prstGeom prst="rect">
            <a:avLst/>
          </a:prstGeom>
          <a:noFill/>
        </p:spPr>
        <p:txBody>
          <a:bodyPr wrap="square">
            <a:spAutoFit/>
          </a:bodyPr>
          <a:lstStyle/>
          <a:p>
            <a:pPr>
              <a:lnSpc>
                <a:spcPts val="1200"/>
              </a:lnSpc>
            </a:pPr>
            <a:r>
              <a:rPr lang="ja-JP" altLang="en-US" sz="1050" dirty="0"/>
              <a:t>引用元：</a:t>
            </a:r>
            <a:r>
              <a:rPr lang="en-US" altLang="ja-JP" sz="1050" dirty="0"/>
              <a:t>ISTQB </a:t>
            </a:r>
            <a:r>
              <a:rPr lang="ja-JP" altLang="en-US" sz="1050" dirty="0"/>
              <a:t>テスト技術者資格制度 </a:t>
            </a:r>
            <a:r>
              <a:rPr lang="en-US" altLang="ja-JP" sz="1050" dirty="0"/>
              <a:t>Foundation Level </a:t>
            </a:r>
            <a:r>
              <a:rPr lang="ja-JP" altLang="en-US" sz="1050" dirty="0"/>
              <a:t>シラバス </a:t>
            </a:r>
            <a:r>
              <a:rPr lang="en-US" altLang="ja-JP" sz="1050" dirty="0"/>
              <a:t>Version 2023V4.0.J02</a:t>
            </a:r>
          </a:p>
          <a:p>
            <a:pPr>
              <a:lnSpc>
                <a:spcPts val="1200"/>
              </a:lnSpc>
            </a:pPr>
            <a:r>
              <a:rPr lang="ja-JP" altLang="en-US" sz="1050" dirty="0"/>
              <a:t>　　　　　   </a:t>
            </a:r>
            <a:r>
              <a:rPr lang="en-US" altLang="ja-JP" sz="1050" dirty="0">
                <a:hlinkClick r:id="rId2"/>
              </a:rPr>
              <a:t>https://www.jstqb.jp/dl/JSTQB-SyllabusFoundation_VersionV40.J02.pdf</a:t>
            </a:r>
            <a:endParaRPr lang="en-US" altLang="ja-JP" sz="1050" dirty="0"/>
          </a:p>
        </p:txBody>
      </p:sp>
      <p:sp>
        <p:nvSpPr>
          <p:cNvPr id="7" name="楕円 6">
            <a:extLst>
              <a:ext uri="{FF2B5EF4-FFF2-40B4-BE49-F238E27FC236}">
                <a16:creationId xmlns:a16="http://schemas.microsoft.com/office/drawing/2014/main" id="{B0E9F75D-5B46-C464-A516-2111E20E0F8E}"/>
              </a:ext>
            </a:extLst>
          </p:cNvPr>
          <p:cNvSpPr/>
          <p:nvPr/>
        </p:nvSpPr>
        <p:spPr>
          <a:xfrm>
            <a:off x="7011590" y="1903229"/>
            <a:ext cx="4886243" cy="1214868"/>
          </a:xfrm>
          <a:prstGeom prst="ellipse">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600" i="0" dirty="0">
                <a:solidFill>
                  <a:schemeClr val="tx1"/>
                </a:solidFill>
                <a:effectLst/>
                <a:latin typeface="__Inter_a184c8"/>
              </a:rPr>
              <a:t>開発したシステムを</a:t>
            </a:r>
            <a:r>
              <a:rPr lang="ja-JP" altLang="en-US" b="1" i="0" dirty="0">
                <a:solidFill>
                  <a:schemeClr val="tx1"/>
                </a:solidFill>
                <a:effectLst/>
                <a:latin typeface="__Inter_a184c8"/>
              </a:rPr>
              <a:t>検証・評価</a:t>
            </a:r>
            <a:r>
              <a:rPr lang="ja-JP" altLang="en-US" sz="1600" i="0" dirty="0">
                <a:solidFill>
                  <a:schemeClr val="tx1"/>
                </a:solidFill>
                <a:effectLst/>
                <a:latin typeface="__Inter_a184c8"/>
              </a:rPr>
              <a:t>し、</a:t>
            </a:r>
            <a:endParaRPr lang="en-US" altLang="ja-JP" sz="1600" i="0" dirty="0">
              <a:solidFill>
                <a:schemeClr val="tx1"/>
              </a:solidFill>
              <a:effectLst/>
              <a:latin typeface="__Inter_a184c8"/>
            </a:endParaRPr>
          </a:p>
          <a:p>
            <a:pPr algn="ctr"/>
            <a:r>
              <a:rPr lang="ja-JP" altLang="en-US" b="1" dirty="0">
                <a:solidFill>
                  <a:schemeClr val="tx1"/>
                </a:solidFill>
                <a:latin typeface="__Inter_a184c8"/>
              </a:rPr>
              <a:t>欠陥を発見</a:t>
            </a:r>
            <a:r>
              <a:rPr lang="ja-JP" altLang="en-US" sz="1600" dirty="0">
                <a:solidFill>
                  <a:schemeClr val="tx1"/>
                </a:solidFill>
                <a:latin typeface="__Inter_a184c8"/>
              </a:rPr>
              <a:t>することで、</a:t>
            </a:r>
            <a:endParaRPr lang="en-US" altLang="ja-JP" sz="1600" i="0" dirty="0">
              <a:solidFill>
                <a:schemeClr val="tx1"/>
              </a:solidFill>
              <a:effectLst/>
              <a:latin typeface="__Inter_a184c8"/>
            </a:endParaRPr>
          </a:p>
          <a:p>
            <a:pPr algn="ctr"/>
            <a:r>
              <a:rPr lang="ja-JP" altLang="en-US" b="1" i="0" dirty="0">
                <a:solidFill>
                  <a:schemeClr val="tx1"/>
                </a:solidFill>
                <a:effectLst/>
                <a:latin typeface="__Inter_a184c8"/>
              </a:rPr>
              <a:t>リスク低減と高品質を</a:t>
            </a:r>
            <a:r>
              <a:rPr lang="ja-JP" altLang="en-US" b="1" dirty="0">
                <a:solidFill>
                  <a:schemeClr val="tx1"/>
                </a:solidFill>
                <a:latin typeface="__Inter_a184c8"/>
              </a:rPr>
              <a:t>実現</a:t>
            </a:r>
            <a:r>
              <a:rPr lang="ja-JP" altLang="en-US" sz="1600" i="0" dirty="0">
                <a:solidFill>
                  <a:schemeClr val="tx1"/>
                </a:solidFill>
                <a:effectLst/>
                <a:latin typeface="__Inter_a184c8"/>
              </a:rPr>
              <a:t>する</a:t>
            </a:r>
            <a:endParaRPr lang="en-US" altLang="ja-JP" sz="1600" i="0" dirty="0">
              <a:solidFill>
                <a:schemeClr val="tx1"/>
              </a:solidFill>
              <a:effectLst/>
              <a:latin typeface="__Inter_a184c8"/>
            </a:endParaRPr>
          </a:p>
        </p:txBody>
      </p:sp>
      <p:sp>
        <p:nvSpPr>
          <p:cNvPr id="8" name="楕円 7">
            <a:extLst>
              <a:ext uri="{FF2B5EF4-FFF2-40B4-BE49-F238E27FC236}">
                <a16:creationId xmlns:a16="http://schemas.microsoft.com/office/drawing/2014/main" id="{04655C2C-0F71-6327-E151-A0A40D0E3387}"/>
              </a:ext>
            </a:extLst>
          </p:cNvPr>
          <p:cNvSpPr/>
          <p:nvPr/>
        </p:nvSpPr>
        <p:spPr>
          <a:xfrm>
            <a:off x="7011590" y="3198185"/>
            <a:ext cx="5059504" cy="1214868"/>
          </a:xfrm>
          <a:prstGeom prst="ellipse">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600" i="0" dirty="0">
                <a:solidFill>
                  <a:schemeClr val="tx1"/>
                </a:solidFill>
                <a:effectLst/>
                <a:latin typeface="__Inter_a184c8"/>
              </a:rPr>
              <a:t>システムの妥当性を確認した結果を</a:t>
            </a:r>
            <a:endParaRPr lang="en-US" altLang="ja-JP" sz="1600" i="0" dirty="0">
              <a:solidFill>
                <a:schemeClr val="tx1"/>
              </a:solidFill>
              <a:effectLst/>
              <a:latin typeface="__Inter_a184c8"/>
            </a:endParaRPr>
          </a:p>
          <a:p>
            <a:pPr algn="ctr"/>
            <a:r>
              <a:rPr lang="ja-JP" altLang="en-US" sz="1600" i="0" dirty="0">
                <a:solidFill>
                  <a:schemeClr val="tx1"/>
                </a:solidFill>
                <a:effectLst/>
                <a:latin typeface="__Inter_a184c8"/>
              </a:rPr>
              <a:t>ステークホルダーに</a:t>
            </a:r>
            <a:r>
              <a:rPr lang="ja-JP" altLang="en-US" b="1" i="0" dirty="0">
                <a:solidFill>
                  <a:schemeClr val="tx1"/>
                </a:solidFill>
                <a:effectLst/>
                <a:latin typeface="__Inter_a184c8"/>
              </a:rPr>
              <a:t>判断材料として提供</a:t>
            </a:r>
            <a:r>
              <a:rPr lang="ja-JP" altLang="en-US" sz="1600" i="0" dirty="0">
                <a:solidFill>
                  <a:schemeClr val="tx1"/>
                </a:solidFill>
                <a:effectLst/>
                <a:latin typeface="__Inter_a184c8"/>
              </a:rPr>
              <a:t>し、</a:t>
            </a:r>
            <a:endParaRPr lang="en-US" altLang="ja-JP" sz="1600" i="0" dirty="0">
              <a:solidFill>
                <a:schemeClr val="tx1"/>
              </a:solidFill>
              <a:effectLst/>
              <a:latin typeface="__Inter_a184c8"/>
            </a:endParaRPr>
          </a:p>
          <a:p>
            <a:pPr algn="ctr"/>
            <a:r>
              <a:rPr lang="ja-JP" altLang="en-US" b="1" dirty="0">
                <a:solidFill>
                  <a:schemeClr val="tx1"/>
                </a:solidFill>
                <a:latin typeface="__Inter_a184c8"/>
              </a:rPr>
              <a:t>品質に対する信頼</a:t>
            </a:r>
            <a:r>
              <a:rPr lang="ja-JP" altLang="en-US" sz="1600" dirty="0">
                <a:solidFill>
                  <a:schemeClr val="tx1"/>
                </a:solidFill>
                <a:latin typeface="__Inter_a184c8"/>
              </a:rPr>
              <a:t>を築く</a:t>
            </a:r>
            <a:endParaRPr lang="en-US" altLang="ja-JP" dirty="0">
              <a:solidFill>
                <a:schemeClr val="tx1"/>
              </a:solidFill>
            </a:endParaRPr>
          </a:p>
        </p:txBody>
      </p:sp>
      <p:sp>
        <p:nvSpPr>
          <p:cNvPr id="5" name="テキスト ボックス 4">
            <a:extLst>
              <a:ext uri="{FF2B5EF4-FFF2-40B4-BE49-F238E27FC236}">
                <a16:creationId xmlns:a16="http://schemas.microsoft.com/office/drawing/2014/main" id="{F5B9EF7C-C05B-A402-7E44-85794087BFCC}"/>
              </a:ext>
            </a:extLst>
          </p:cNvPr>
          <p:cNvSpPr txBox="1"/>
          <p:nvPr/>
        </p:nvSpPr>
        <p:spPr>
          <a:xfrm>
            <a:off x="370800" y="5759651"/>
            <a:ext cx="11700294" cy="466671"/>
          </a:xfrm>
          <a:prstGeom prst="rect">
            <a:avLst/>
          </a:prstGeom>
          <a:noFill/>
        </p:spPr>
        <p:txBody>
          <a:bodyPr wrap="square" lIns="0" rIns="0" rtlCol="0">
            <a:noAutofit/>
          </a:bodyPr>
          <a:lstStyle/>
          <a:p>
            <a:pPr algn="l" defTabSz="288000"/>
            <a:r>
              <a:rPr kumimoji="1" lang="en-US" altLang="ja-JP" sz="1200" dirty="0">
                <a:latin typeface="+mn-ea"/>
              </a:rPr>
              <a:t>※1</a:t>
            </a:r>
            <a:r>
              <a:rPr lang="ja-JP" altLang="en-US" sz="1200" dirty="0">
                <a:latin typeface="+mn-ea"/>
              </a:rPr>
              <a:t>　</a:t>
            </a:r>
            <a:r>
              <a:rPr lang="en-US" altLang="ja-JP" sz="1200" dirty="0"/>
              <a:t>JSTQB(Japan Software Testing Qualifications Board, </a:t>
            </a:r>
            <a:r>
              <a:rPr lang="ja-JP" altLang="en-US" sz="1200" dirty="0"/>
              <a:t>ソフトウェアテスト技術振興協会</a:t>
            </a:r>
            <a:r>
              <a:rPr lang="en-US" altLang="ja-JP" sz="1200" dirty="0"/>
              <a:t>)</a:t>
            </a:r>
            <a:r>
              <a:rPr lang="ja-JP" altLang="en-US" sz="1200" dirty="0"/>
              <a:t>：日本におけるソフトウェアテスト技術者資格認定の運営組織</a:t>
            </a:r>
            <a:endParaRPr kumimoji="1" lang="ja-JP" altLang="en-US" sz="1200" dirty="0">
              <a:latin typeface="+mn-ea"/>
            </a:endParaRPr>
          </a:p>
        </p:txBody>
      </p:sp>
    </p:spTree>
    <p:extLst>
      <p:ext uri="{BB962C8B-B14F-4D97-AF65-F5344CB8AC3E}">
        <p14:creationId xmlns:p14="http://schemas.microsoft.com/office/powerpoint/2010/main" val="70472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A0C06-5568-9870-6201-C4F9A790544B}"/>
            </a:ext>
          </a:extLst>
        </p:cNvPr>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1E177F5D-3F88-5D5E-3DA0-EC58133574FA}"/>
              </a:ext>
            </a:extLst>
          </p:cNvPr>
          <p:cNvSpPr/>
          <p:nvPr/>
        </p:nvSpPr>
        <p:spPr>
          <a:xfrm>
            <a:off x="8372774" y="1145390"/>
            <a:ext cx="3271555" cy="5207785"/>
          </a:xfrm>
          <a:prstGeom prst="rect">
            <a:avLst/>
          </a:prstGeom>
          <a:solidFill>
            <a:srgbClr val="F0F3F6"/>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200" u="sng" dirty="0">
              <a:solidFill>
                <a:schemeClr val="tx1"/>
              </a:solidFill>
            </a:endParaRPr>
          </a:p>
        </p:txBody>
      </p:sp>
      <p:sp>
        <p:nvSpPr>
          <p:cNvPr id="50" name="正方形/長方形 49">
            <a:extLst>
              <a:ext uri="{FF2B5EF4-FFF2-40B4-BE49-F238E27FC236}">
                <a16:creationId xmlns:a16="http://schemas.microsoft.com/office/drawing/2014/main" id="{F58AC8B0-7F20-613F-957A-32D124FAC839}"/>
              </a:ext>
            </a:extLst>
          </p:cNvPr>
          <p:cNvSpPr/>
          <p:nvPr/>
        </p:nvSpPr>
        <p:spPr>
          <a:xfrm>
            <a:off x="3923382" y="1145390"/>
            <a:ext cx="4301003" cy="5207785"/>
          </a:xfrm>
          <a:prstGeom prst="rect">
            <a:avLst/>
          </a:prstGeom>
          <a:solidFill>
            <a:srgbClr val="F0F3F6"/>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200" u="sng" dirty="0">
              <a:solidFill>
                <a:schemeClr val="tx1"/>
              </a:solidFill>
            </a:endParaRPr>
          </a:p>
        </p:txBody>
      </p:sp>
      <p:sp>
        <p:nvSpPr>
          <p:cNvPr id="47" name="正方形/長方形 46">
            <a:extLst>
              <a:ext uri="{FF2B5EF4-FFF2-40B4-BE49-F238E27FC236}">
                <a16:creationId xmlns:a16="http://schemas.microsoft.com/office/drawing/2014/main" id="{E3CFFDD2-414D-5644-190D-236FF7183E55}"/>
              </a:ext>
            </a:extLst>
          </p:cNvPr>
          <p:cNvSpPr/>
          <p:nvPr/>
        </p:nvSpPr>
        <p:spPr>
          <a:xfrm>
            <a:off x="846042" y="1145390"/>
            <a:ext cx="2940942" cy="5207785"/>
          </a:xfrm>
          <a:prstGeom prst="rect">
            <a:avLst/>
          </a:prstGeom>
          <a:solidFill>
            <a:srgbClr val="F0F3F6"/>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200" u="sng" dirty="0">
              <a:solidFill>
                <a:schemeClr val="tx1"/>
              </a:solidFill>
            </a:endParaRPr>
          </a:p>
        </p:txBody>
      </p:sp>
      <p:sp>
        <p:nvSpPr>
          <p:cNvPr id="2" name="タイトル 1">
            <a:extLst>
              <a:ext uri="{FF2B5EF4-FFF2-40B4-BE49-F238E27FC236}">
                <a16:creationId xmlns:a16="http://schemas.microsoft.com/office/drawing/2014/main" id="{444F781E-7DA2-787D-AAC9-DA90E0520F9D}"/>
              </a:ext>
            </a:extLst>
          </p:cNvPr>
          <p:cNvSpPr>
            <a:spLocks noGrp="1"/>
          </p:cNvSpPr>
          <p:nvPr>
            <p:ph type="title"/>
          </p:nvPr>
        </p:nvSpPr>
        <p:spPr/>
        <p:txBody>
          <a:bodyPr anchor="ctr"/>
          <a:lstStyle/>
          <a:p>
            <a:r>
              <a:rPr kumimoji="1" lang="ja-JP" altLang="en-US" dirty="0"/>
              <a:t>テストを実施しなかった場合</a:t>
            </a:r>
            <a:r>
              <a:rPr kumimoji="1" lang="en-US" altLang="ja-JP" dirty="0"/>
              <a:t>…</a:t>
            </a:r>
            <a:endParaRPr kumimoji="1" lang="ja-JP" altLang="en-US" dirty="0"/>
          </a:p>
        </p:txBody>
      </p:sp>
      <p:sp>
        <p:nvSpPr>
          <p:cNvPr id="3" name="四角形: 角を丸くする 2">
            <a:extLst>
              <a:ext uri="{FF2B5EF4-FFF2-40B4-BE49-F238E27FC236}">
                <a16:creationId xmlns:a16="http://schemas.microsoft.com/office/drawing/2014/main" id="{DC0BB8C9-4952-F626-05D1-2C6286DA9BD5}"/>
              </a:ext>
            </a:extLst>
          </p:cNvPr>
          <p:cNvSpPr/>
          <p:nvPr/>
        </p:nvSpPr>
        <p:spPr>
          <a:xfrm>
            <a:off x="4322108" y="1742548"/>
            <a:ext cx="3522582" cy="1368148"/>
          </a:xfrm>
          <a:prstGeom prst="roundRect">
            <a:avLst/>
          </a:prstGeom>
          <a:solidFill>
            <a:srgbClr val="FFFFFF"/>
          </a:solidFill>
          <a:ln w="12700">
            <a:solidFill>
              <a:schemeClr val="tx1"/>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200" dirty="0">
                <a:solidFill>
                  <a:schemeClr val="tx1"/>
                </a:solidFill>
              </a:rPr>
              <a:t>※</a:t>
            </a:r>
            <a:r>
              <a:rPr lang="ja-JP" altLang="en-US" sz="1200" dirty="0">
                <a:solidFill>
                  <a:schemeClr val="tx1"/>
                </a:solidFill>
              </a:rPr>
              <a:t>テスト工程なし</a:t>
            </a:r>
            <a:endParaRPr lang="en-US" altLang="ja-JP" sz="1200" dirty="0">
              <a:solidFill>
                <a:schemeClr val="tx1"/>
              </a:solidFill>
            </a:endParaRPr>
          </a:p>
          <a:p>
            <a:pPr algn="ctr"/>
            <a:endParaRPr lang="en-US" altLang="ja-JP" sz="1200" dirty="0">
              <a:solidFill>
                <a:schemeClr val="tx1"/>
              </a:solidFill>
            </a:endParaRPr>
          </a:p>
          <a:p>
            <a:pPr algn="ctr"/>
            <a:endParaRPr kumimoji="1" lang="en-US" altLang="ja-JP" sz="1200" dirty="0">
              <a:solidFill>
                <a:schemeClr val="tx1"/>
              </a:solidFill>
            </a:endParaRPr>
          </a:p>
          <a:p>
            <a:pPr algn="ctr"/>
            <a:endParaRPr kumimoji="1" lang="ja-JP" altLang="en-US" sz="1200" dirty="0" err="1">
              <a:solidFill>
                <a:schemeClr val="tx1"/>
              </a:solidFill>
            </a:endParaRPr>
          </a:p>
        </p:txBody>
      </p:sp>
      <p:pic>
        <p:nvPicPr>
          <p:cNvPr id="5" name="グラフィックス 4" descr="ユーザー 単色塗りつぶし">
            <a:extLst>
              <a:ext uri="{FF2B5EF4-FFF2-40B4-BE49-F238E27FC236}">
                <a16:creationId xmlns:a16="http://schemas.microsoft.com/office/drawing/2014/main" id="{DF97DA18-F948-7E92-CC36-43D8E52061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74464" y="1920650"/>
            <a:ext cx="525455" cy="525455"/>
          </a:xfrm>
          <a:prstGeom prst="rect">
            <a:avLst/>
          </a:prstGeom>
        </p:spPr>
      </p:pic>
      <p:pic>
        <p:nvPicPr>
          <p:cNvPr id="6" name="グラフィックス 5" descr="ユーザー 単色塗りつぶし">
            <a:extLst>
              <a:ext uri="{FF2B5EF4-FFF2-40B4-BE49-F238E27FC236}">
                <a16:creationId xmlns:a16="http://schemas.microsoft.com/office/drawing/2014/main" id="{C38B3852-3C28-E513-4A81-93C7713623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74464" y="2446105"/>
            <a:ext cx="525455" cy="525455"/>
          </a:xfrm>
          <a:prstGeom prst="rect">
            <a:avLst/>
          </a:prstGeom>
        </p:spPr>
      </p:pic>
      <p:sp>
        <p:nvSpPr>
          <p:cNvPr id="8" name="吹き出し: 角を丸めた四角形 7">
            <a:extLst>
              <a:ext uri="{FF2B5EF4-FFF2-40B4-BE49-F238E27FC236}">
                <a16:creationId xmlns:a16="http://schemas.microsoft.com/office/drawing/2014/main" id="{D0DAF193-9102-46A9-B36E-EDCBC568A870}"/>
              </a:ext>
            </a:extLst>
          </p:cNvPr>
          <p:cNvSpPr/>
          <p:nvPr/>
        </p:nvSpPr>
        <p:spPr>
          <a:xfrm>
            <a:off x="1797084" y="1982071"/>
            <a:ext cx="1538202" cy="361681"/>
          </a:xfrm>
          <a:prstGeom prst="wedgeRoundRectCallout">
            <a:avLst>
              <a:gd name="adj1" fmla="val -62534"/>
              <a:gd name="adj2" fmla="val -9195"/>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機能</a:t>
            </a:r>
            <a:r>
              <a:rPr kumimoji="1" lang="en-US" altLang="ja-JP" sz="1400" dirty="0">
                <a:solidFill>
                  <a:schemeClr val="tx1"/>
                </a:solidFill>
              </a:rPr>
              <a:t>A</a:t>
            </a:r>
            <a:r>
              <a:rPr kumimoji="1" lang="ja-JP" altLang="en-US" sz="1400" dirty="0">
                <a:solidFill>
                  <a:schemeClr val="tx1"/>
                </a:solidFill>
              </a:rPr>
              <a:t>を作ったよ</a:t>
            </a:r>
          </a:p>
        </p:txBody>
      </p:sp>
      <p:sp>
        <p:nvSpPr>
          <p:cNvPr id="9" name="吹き出し: 角を丸めた四角形 8">
            <a:extLst>
              <a:ext uri="{FF2B5EF4-FFF2-40B4-BE49-F238E27FC236}">
                <a16:creationId xmlns:a16="http://schemas.microsoft.com/office/drawing/2014/main" id="{2831440F-714F-822E-E5DA-C28F5041427F}"/>
              </a:ext>
            </a:extLst>
          </p:cNvPr>
          <p:cNvSpPr/>
          <p:nvPr/>
        </p:nvSpPr>
        <p:spPr>
          <a:xfrm>
            <a:off x="1797084" y="2527991"/>
            <a:ext cx="1538202" cy="361681"/>
          </a:xfrm>
          <a:prstGeom prst="wedgeRoundRectCallout">
            <a:avLst>
              <a:gd name="adj1" fmla="val -62534"/>
              <a:gd name="adj2" fmla="val -9195"/>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機能</a:t>
            </a:r>
            <a:r>
              <a:rPr kumimoji="1" lang="en-US" altLang="ja-JP" sz="1400" dirty="0">
                <a:solidFill>
                  <a:schemeClr val="tx1"/>
                </a:solidFill>
              </a:rPr>
              <a:t>B</a:t>
            </a:r>
            <a:r>
              <a:rPr kumimoji="1" lang="ja-JP" altLang="en-US" sz="1400" dirty="0">
                <a:solidFill>
                  <a:schemeClr val="tx1"/>
                </a:solidFill>
              </a:rPr>
              <a:t>を作ったよ</a:t>
            </a:r>
          </a:p>
        </p:txBody>
      </p:sp>
      <p:sp>
        <p:nvSpPr>
          <p:cNvPr id="10" name="矢印: 右 9">
            <a:extLst>
              <a:ext uri="{FF2B5EF4-FFF2-40B4-BE49-F238E27FC236}">
                <a16:creationId xmlns:a16="http://schemas.microsoft.com/office/drawing/2014/main" id="{0C3676A5-BF11-E70E-01BA-0C7616C69E11}"/>
              </a:ext>
            </a:extLst>
          </p:cNvPr>
          <p:cNvSpPr/>
          <p:nvPr/>
        </p:nvSpPr>
        <p:spPr>
          <a:xfrm>
            <a:off x="3702002" y="2116612"/>
            <a:ext cx="4710405" cy="790858"/>
          </a:xfrm>
          <a:prstGeom prst="rightArrow">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1" name="正方形/長方形 10">
            <a:extLst>
              <a:ext uri="{FF2B5EF4-FFF2-40B4-BE49-F238E27FC236}">
                <a16:creationId xmlns:a16="http://schemas.microsoft.com/office/drawing/2014/main" id="{38670192-23F1-A33A-C3EF-F7AD795D8900}"/>
              </a:ext>
            </a:extLst>
          </p:cNvPr>
          <p:cNvSpPr/>
          <p:nvPr/>
        </p:nvSpPr>
        <p:spPr>
          <a:xfrm>
            <a:off x="846043" y="956654"/>
            <a:ext cx="2940941" cy="297936"/>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製造工程</a:t>
            </a:r>
          </a:p>
        </p:txBody>
      </p:sp>
      <p:sp>
        <p:nvSpPr>
          <p:cNvPr id="12" name="正方形/長方形 11">
            <a:extLst>
              <a:ext uri="{FF2B5EF4-FFF2-40B4-BE49-F238E27FC236}">
                <a16:creationId xmlns:a16="http://schemas.microsoft.com/office/drawing/2014/main" id="{4C10353C-CACA-54F4-E933-8C9F9571267C}"/>
              </a:ext>
            </a:extLst>
          </p:cNvPr>
          <p:cNvSpPr/>
          <p:nvPr/>
        </p:nvSpPr>
        <p:spPr>
          <a:xfrm>
            <a:off x="3925207" y="955250"/>
            <a:ext cx="4291186" cy="297936"/>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rPr>
              <a:t>テスト</a:t>
            </a:r>
            <a:r>
              <a:rPr kumimoji="1" lang="ja-JP" altLang="en-US" sz="1400" dirty="0">
                <a:solidFill>
                  <a:schemeClr val="bg1"/>
                </a:solidFill>
              </a:rPr>
              <a:t>工程</a:t>
            </a:r>
          </a:p>
        </p:txBody>
      </p:sp>
      <p:sp>
        <p:nvSpPr>
          <p:cNvPr id="13" name="正方形/長方形 12">
            <a:extLst>
              <a:ext uri="{FF2B5EF4-FFF2-40B4-BE49-F238E27FC236}">
                <a16:creationId xmlns:a16="http://schemas.microsoft.com/office/drawing/2014/main" id="{A762600C-2865-AD40-D16E-9CDAAFD0FB40}"/>
              </a:ext>
            </a:extLst>
          </p:cNvPr>
          <p:cNvSpPr/>
          <p:nvPr/>
        </p:nvSpPr>
        <p:spPr>
          <a:xfrm>
            <a:off x="8369491" y="956654"/>
            <a:ext cx="3274838" cy="297936"/>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rPr>
              <a:t>リリース</a:t>
            </a:r>
            <a:endParaRPr kumimoji="1" lang="ja-JP" altLang="en-US" sz="1400" dirty="0">
              <a:solidFill>
                <a:schemeClr val="bg1"/>
              </a:solidFill>
            </a:endParaRPr>
          </a:p>
        </p:txBody>
      </p:sp>
      <p:pic>
        <p:nvPicPr>
          <p:cNvPr id="15" name="グラフィックス 14" descr="ユーザー 単色塗りつぶし">
            <a:extLst>
              <a:ext uri="{FF2B5EF4-FFF2-40B4-BE49-F238E27FC236}">
                <a16:creationId xmlns:a16="http://schemas.microsoft.com/office/drawing/2014/main" id="{E824B2B2-A3B5-6D52-43CA-D88066245B2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74464" y="4179068"/>
            <a:ext cx="525455" cy="525455"/>
          </a:xfrm>
          <a:prstGeom prst="rect">
            <a:avLst/>
          </a:prstGeom>
        </p:spPr>
      </p:pic>
      <p:pic>
        <p:nvPicPr>
          <p:cNvPr id="16" name="グラフィックス 15" descr="ユーザー 単色塗りつぶし">
            <a:extLst>
              <a:ext uri="{FF2B5EF4-FFF2-40B4-BE49-F238E27FC236}">
                <a16:creationId xmlns:a16="http://schemas.microsoft.com/office/drawing/2014/main" id="{1D6A6C97-0C89-0BB0-A2C6-A5F2A62D84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74464" y="4752148"/>
            <a:ext cx="525455" cy="525455"/>
          </a:xfrm>
          <a:prstGeom prst="rect">
            <a:avLst/>
          </a:prstGeom>
        </p:spPr>
      </p:pic>
      <p:sp>
        <p:nvSpPr>
          <p:cNvPr id="17" name="吹き出し: 角を丸めた四角形 16">
            <a:extLst>
              <a:ext uri="{FF2B5EF4-FFF2-40B4-BE49-F238E27FC236}">
                <a16:creationId xmlns:a16="http://schemas.microsoft.com/office/drawing/2014/main" id="{42BDB034-E1BE-ED76-65CB-6C112077290E}"/>
              </a:ext>
            </a:extLst>
          </p:cNvPr>
          <p:cNvSpPr/>
          <p:nvPr/>
        </p:nvSpPr>
        <p:spPr>
          <a:xfrm>
            <a:off x="1797084" y="4240489"/>
            <a:ext cx="1538202" cy="361681"/>
          </a:xfrm>
          <a:prstGeom prst="wedgeRoundRectCallout">
            <a:avLst>
              <a:gd name="adj1" fmla="val -62534"/>
              <a:gd name="adj2" fmla="val -9195"/>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機能</a:t>
            </a:r>
            <a:r>
              <a:rPr kumimoji="1" lang="en-US" altLang="ja-JP" sz="1400" dirty="0">
                <a:solidFill>
                  <a:schemeClr val="tx1"/>
                </a:solidFill>
              </a:rPr>
              <a:t>A</a:t>
            </a:r>
            <a:r>
              <a:rPr kumimoji="1" lang="ja-JP" altLang="en-US" sz="1400" dirty="0">
                <a:solidFill>
                  <a:schemeClr val="tx1"/>
                </a:solidFill>
              </a:rPr>
              <a:t>を作ったよ</a:t>
            </a:r>
          </a:p>
        </p:txBody>
      </p:sp>
      <p:sp>
        <p:nvSpPr>
          <p:cNvPr id="18" name="吹き出し: 角を丸めた四角形 17">
            <a:extLst>
              <a:ext uri="{FF2B5EF4-FFF2-40B4-BE49-F238E27FC236}">
                <a16:creationId xmlns:a16="http://schemas.microsoft.com/office/drawing/2014/main" id="{36F6D1A1-238A-38BF-B782-BFE873DF6E14}"/>
              </a:ext>
            </a:extLst>
          </p:cNvPr>
          <p:cNvSpPr/>
          <p:nvPr/>
        </p:nvSpPr>
        <p:spPr>
          <a:xfrm>
            <a:off x="1797084" y="4834034"/>
            <a:ext cx="1538202" cy="361681"/>
          </a:xfrm>
          <a:prstGeom prst="wedgeRoundRectCallout">
            <a:avLst>
              <a:gd name="adj1" fmla="val -62534"/>
              <a:gd name="adj2" fmla="val -9195"/>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機能</a:t>
            </a:r>
            <a:r>
              <a:rPr kumimoji="1" lang="en-US" altLang="ja-JP" sz="1400" dirty="0">
                <a:solidFill>
                  <a:schemeClr val="tx1"/>
                </a:solidFill>
              </a:rPr>
              <a:t>B</a:t>
            </a:r>
            <a:r>
              <a:rPr kumimoji="1" lang="ja-JP" altLang="en-US" sz="1400" dirty="0">
                <a:solidFill>
                  <a:schemeClr val="tx1"/>
                </a:solidFill>
              </a:rPr>
              <a:t>を作ったよ</a:t>
            </a:r>
          </a:p>
        </p:txBody>
      </p:sp>
      <p:sp>
        <p:nvSpPr>
          <p:cNvPr id="19" name="矢印: 右 18">
            <a:extLst>
              <a:ext uri="{FF2B5EF4-FFF2-40B4-BE49-F238E27FC236}">
                <a16:creationId xmlns:a16="http://schemas.microsoft.com/office/drawing/2014/main" id="{1EF1B72C-994B-0FC6-784C-F2E9754C1DAD}"/>
              </a:ext>
            </a:extLst>
          </p:cNvPr>
          <p:cNvSpPr/>
          <p:nvPr/>
        </p:nvSpPr>
        <p:spPr>
          <a:xfrm>
            <a:off x="3703889" y="4378777"/>
            <a:ext cx="620769" cy="514278"/>
          </a:xfrm>
          <a:prstGeom prst="rightArrow">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21" name="グラフィックス 20" descr="ユーザー 単色塗りつぶし">
            <a:extLst>
              <a:ext uri="{FF2B5EF4-FFF2-40B4-BE49-F238E27FC236}">
                <a16:creationId xmlns:a16="http://schemas.microsoft.com/office/drawing/2014/main" id="{0302337C-0DA9-1D3C-19D9-7B085FE289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82010" y="4198118"/>
            <a:ext cx="525455" cy="525455"/>
          </a:xfrm>
          <a:prstGeom prst="rect">
            <a:avLst/>
          </a:prstGeom>
        </p:spPr>
      </p:pic>
      <p:sp>
        <p:nvSpPr>
          <p:cNvPr id="22" name="吹き出し: 角を丸めた四角形 21">
            <a:extLst>
              <a:ext uri="{FF2B5EF4-FFF2-40B4-BE49-F238E27FC236}">
                <a16:creationId xmlns:a16="http://schemas.microsoft.com/office/drawing/2014/main" id="{810F8B2C-E78B-D7A3-D94D-A44B5FD1C600}"/>
              </a:ext>
            </a:extLst>
          </p:cNvPr>
          <p:cNvSpPr/>
          <p:nvPr/>
        </p:nvSpPr>
        <p:spPr>
          <a:xfrm>
            <a:off x="5166315" y="4117310"/>
            <a:ext cx="2369885" cy="560571"/>
          </a:xfrm>
          <a:prstGeom prst="wedgeRoundRectCallout">
            <a:avLst>
              <a:gd name="adj1" fmla="val -57486"/>
              <a:gd name="adj2" fmla="val -9195"/>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機能</a:t>
            </a:r>
            <a:r>
              <a:rPr kumimoji="1" lang="en-US" altLang="ja-JP" sz="1400" dirty="0">
                <a:solidFill>
                  <a:schemeClr val="tx1"/>
                </a:solidFill>
              </a:rPr>
              <a:t>A</a:t>
            </a:r>
            <a:r>
              <a:rPr kumimoji="1" lang="ja-JP" altLang="en-US" sz="1400" dirty="0">
                <a:solidFill>
                  <a:schemeClr val="tx1"/>
                </a:solidFill>
              </a:rPr>
              <a:t>が上手く動いていない</a:t>
            </a:r>
            <a:r>
              <a:rPr kumimoji="1" lang="en-US" altLang="ja-JP" sz="1400" dirty="0">
                <a:solidFill>
                  <a:schemeClr val="tx1"/>
                </a:solidFill>
              </a:rPr>
              <a:t>…</a:t>
            </a:r>
          </a:p>
          <a:p>
            <a:pPr algn="ctr"/>
            <a:r>
              <a:rPr kumimoji="1" lang="ja-JP" altLang="en-US" sz="1400" dirty="0">
                <a:solidFill>
                  <a:schemeClr val="tx1"/>
                </a:solidFill>
              </a:rPr>
              <a:t>修正しよう</a:t>
            </a:r>
          </a:p>
        </p:txBody>
      </p:sp>
      <p:pic>
        <p:nvPicPr>
          <p:cNvPr id="23" name="グラフィックス 22" descr="ユーザー 単色塗りつぶし">
            <a:extLst>
              <a:ext uri="{FF2B5EF4-FFF2-40B4-BE49-F238E27FC236}">
                <a16:creationId xmlns:a16="http://schemas.microsoft.com/office/drawing/2014/main" id="{97FF910C-0187-0036-19B8-E9DED36F420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93326" y="4787057"/>
            <a:ext cx="525455" cy="525455"/>
          </a:xfrm>
          <a:prstGeom prst="rect">
            <a:avLst/>
          </a:prstGeom>
        </p:spPr>
      </p:pic>
      <p:sp>
        <p:nvSpPr>
          <p:cNvPr id="24" name="吹き出し: 角を丸めた四角形 23">
            <a:extLst>
              <a:ext uri="{FF2B5EF4-FFF2-40B4-BE49-F238E27FC236}">
                <a16:creationId xmlns:a16="http://schemas.microsoft.com/office/drawing/2014/main" id="{5E45F45E-D2AF-DC0A-9C36-AC800E9C3FC7}"/>
              </a:ext>
            </a:extLst>
          </p:cNvPr>
          <p:cNvSpPr/>
          <p:nvPr/>
        </p:nvSpPr>
        <p:spPr>
          <a:xfrm>
            <a:off x="5166315" y="4857234"/>
            <a:ext cx="2386369" cy="407287"/>
          </a:xfrm>
          <a:prstGeom prst="wedgeRoundRectCallout">
            <a:avLst>
              <a:gd name="adj1" fmla="val -57486"/>
              <a:gd name="adj2" fmla="val -9195"/>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機能</a:t>
            </a:r>
            <a:r>
              <a:rPr kumimoji="1" lang="en-US" altLang="ja-JP" sz="1400" dirty="0">
                <a:solidFill>
                  <a:schemeClr val="tx1"/>
                </a:solidFill>
              </a:rPr>
              <a:t>B</a:t>
            </a:r>
            <a:r>
              <a:rPr lang="ja-JP" altLang="en-US" sz="1400" dirty="0">
                <a:solidFill>
                  <a:schemeClr val="tx1"/>
                </a:solidFill>
              </a:rPr>
              <a:t>は期待通り動いている！</a:t>
            </a:r>
            <a:endParaRPr kumimoji="1" lang="ja-JP" altLang="en-US" sz="1400" dirty="0">
              <a:solidFill>
                <a:schemeClr val="tx1"/>
              </a:solidFill>
            </a:endParaRPr>
          </a:p>
        </p:txBody>
      </p:sp>
      <p:pic>
        <p:nvPicPr>
          <p:cNvPr id="26" name="グラフィックス 25" descr="ユーザー 単色塗りつぶし">
            <a:extLst>
              <a:ext uri="{FF2B5EF4-FFF2-40B4-BE49-F238E27FC236}">
                <a16:creationId xmlns:a16="http://schemas.microsoft.com/office/drawing/2014/main" id="{5DCB7DE5-E732-8742-340E-42C637CF69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58631" y="1937088"/>
            <a:ext cx="525455" cy="525455"/>
          </a:xfrm>
          <a:prstGeom prst="rect">
            <a:avLst/>
          </a:prstGeom>
        </p:spPr>
      </p:pic>
      <p:sp>
        <p:nvSpPr>
          <p:cNvPr id="27" name="吹き出し: 角を丸めた四角形 26">
            <a:extLst>
              <a:ext uri="{FF2B5EF4-FFF2-40B4-BE49-F238E27FC236}">
                <a16:creationId xmlns:a16="http://schemas.microsoft.com/office/drawing/2014/main" id="{26055FD6-819F-CE20-D712-9BCA2EA82EC0}"/>
              </a:ext>
            </a:extLst>
          </p:cNvPr>
          <p:cNvSpPr/>
          <p:nvPr/>
        </p:nvSpPr>
        <p:spPr>
          <a:xfrm>
            <a:off x="9265621" y="2604518"/>
            <a:ext cx="1538202" cy="361681"/>
          </a:xfrm>
          <a:prstGeom prst="wedgeRoundRectCallout">
            <a:avLst>
              <a:gd name="adj1" fmla="val -62534"/>
              <a:gd name="adj2" fmla="val -9195"/>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すみません</a:t>
            </a:r>
            <a:r>
              <a:rPr lang="en-US" altLang="ja-JP" sz="1400" dirty="0">
                <a:solidFill>
                  <a:schemeClr val="tx1"/>
                </a:solidFill>
              </a:rPr>
              <a:t>….</a:t>
            </a:r>
            <a:endParaRPr kumimoji="1" lang="ja-JP" altLang="en-US" sz="1400" dirty="0">
              <a:solidFill>
                <a:schemeClr val="tx1"/>
              </a:solidFill>
            </a:endParaRPr>
          </a:p>
        </p:txBody>
      </p:sp>
      <p:sp>
        <p:nvSpPr>
          <p:cNvPr id="28" name="吹き出し: 角を丸めた四角形 27">
            <a:extLst>
              <a:ext uri="{FF2B5EF4-FFF2-40B4-BE49-F238E27FC236}">
                <a16:creationId xmlns:a16="http://schemas.microsoft.com/office/drawing/2014/main" id="{859CCDEA-1460-CC59-5920-CF56886D754A}"/>
              </a:ext>
            </a:extLst>
          </p:cNvPr>
          <p:cNvSpPr/>
          <p:nvPr/>
        </p:nvSpPr>
        <p:spPr>
          <a:xfrm>
            <a:off x="8783345" y="1714993"/>
            <a:ext cx="1951247" cy="750162"/>
          </a:xfrm>
          <a:prstGeom prst="wedgeRoundRectCallout">
            <a:avLst>
              <a:gd name="adj1" fmla="val 55496"/>
              <a:gd name="adj2" fmla="val 14329"/>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要件通りに動いていないじゃないか！！</a:t>
            </a:r>
            <a:endParaRPr kumimoji="1" lang="en-US" altLang="ja-JP" sz="1400" dirty="0">
              <a:solidFill>
                <a:schemeClr val="tx1"/>
              </a:solidFill>
            </a:endParaRPr>
          </a:p>
        </p:txBody>
      </p:sp>
      <p:pic>
        <p:nvPicPr>
          <p:cNvPr id="29" name="グラフィックス 28" descr="怒りマーク 単色塗りつぶし">
            <a:extLst>
              <a:ext uri="{FF2B5EF4-FFF2-40B4-BE49-F238E27FC236}">
                <a16:creationId xmlns:a16="http://schemas.microsoft.com/office/drawing/2014/main" id="{B8EB172C-9D7C-E40A-C504-60A3E4B216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77090" y="1725312"/>
            <a:ext cx="474504" cy="474504"/>
          </a:xfrm>
          <a:prstGeom prst="rect">
            <a:avLst/>
          </a:prstGeom>
        </p:spPr>
      </p:pic>
      <p:sp>
        <p:nvSpPr>
          <p:cNvPr id="30" name="矢印: 右 29">
            <a:extLst>
              <a:ext uri="{FF2B5EF4-FFF2-40B4-BE49-F238E27FC236}">
                <a16:creationId xmlns:a16="http://schemas.microsoft.com/office/drawing/2014/main" id="{77D181A9-3127-8BD3-1EDE-0272B86DA9CE}"/>
              </a:ext>
            </a:extLst>
          </p:cNvPr>
          <p:cNvSpPr/>
          <p:nvPr/>
        </p:nvSpPr>
        <p:spPr>
          <a:xfrm>
            <a:off x="7825640" y="4374314"/>
            <a:ext cx="586767" cy="514278"/>
          </a:xfrm>
          <a:prstGeom prst="rightArrow">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32" name="グラフィックス 31" descr="ユーザー 単色塗りつぶし">
            <a:extLst>
              <a:ext uri="{FF2B5EF4-FFF2-40B4-BE49-F238E27FC236}">
                <a16:creationId xmlns:a16="http://schemas.microsoft.com/office/drawing/2014/main" id="{AF650523-283C-995C-7238-2FF8BE88E0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58508" y="4032540"/>
            <a:ext cx="525455" cy="525455"/>
          </a:xfrm>
          <a:prstGeom prst="rect">
            <a:avLst/>
          </a:prstGeom>
        </p:spPr>
      </p:pic>
      <p:sp>
        <p:nvSpPr>
          <p:cNvPr id="33" name="吹き出し: 角を丸めた四角形 32">
            <a:extLst>
              <a:ext uri="{FF2B5EF4-FFF2-40B4-BE49-F238E27FC236}">
                <a16:creationId xmlns:a16="http://schemas.microsoft.com/office/drawing/2014/main" id="{6F6A379E-C5F8-A200-E54A-77B0A37C2944}"/>
              </a:ext>
            </a:extLst>
          </p:cNvPr>
          <p:cNvSpPr/>
          <p:nvPr/>
        </p:nvSpPr>
        <p:spPr>
          <a:xfrm>
            <a:off x="9149629" y="4555861"/>
            <a:ext cx="2042866" cy="689572"/>
          </a:xfrm>
          <a:prstGeom prst="wedgeRoundRectCallout">
            <a:avLst>
              <a:gd name="adj1" fmla="val -56077"/>
              <a:gd name="adj2" fmla="val -11010"/>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もちろんです！</a:t>
            </a:r>
            <a:endParaRPr kumimoji="1" lang="en-US" altLang="ja-JP" sz="1400" dirty="0">
              <a:solidFill>
                <a:schemeClr val="tx1"/>
              </a:solidFill>
            </a:endParaRPr>
          </a:p>
          <a:p>
            <a:pPr algn="ctr"/>
            <a:r>
              <a:rPr lang="ja-JP" altLang="en-US" sz="1400" dirty="0">
                <a:solidFill>
                  <a:schemeClr val="tx1"/>
                </a:solidFill>
              </a:rPr>
              <a:t>テストも実施したので、</a:t>
            </a:r>
            <a:endParaRPr lang="en-US" altLang="ja-JP" sz="1400" dirty="0">
              <a:solidFill>
                <a:schemeClr val="tx1"/>
              </a:solidFill>
            </a:endParaRPr>
          </a:p>
          <a:p>
            <a:pPr algn="ctr"/>
            <a:r>
              <a:rPr kumimoji="1" lang="ja-JP" altLang="en-US" sz="1400" dirty="0">
                <a:solidFill>
                  <a:schemeClr val="tx1"/>
                </a:solidFill>
              </a:rPr>
              <a:t>問題はありません！</a:t>
            </a:r>
            <a:endParaRPr kumimoji="1" lang="en-US" altLang="ja-JP" sz="1400" dirty="0">
              <a:solidFill>
                <a:schemeClr val="tx1"/>
              </a:solidFill>
            </a:endParaRPr>
          </a:p>
        </p:txBody>
      </p:sp>
      <p:sp>
        <p:nvSpPr>
          <p:cNvPr id="34" name="吹き出し: 角を丸めた四角形 33">
            <a:extLst>
              <a:ext uri="{FF2B5EF4-FFF2-40B4-BE49-F238E27FC236}">
                <a16:creationId xmlns:a16="http://schemas.microsoft.com/office/drawing/2014/main" id="{D851E8CD-FDC6-875B-4AFA-02BC725BB468}"/>
              </a:ext>
            </a:extLst>
          </p:cNvPr>
          <p:cNvSpPr/>
          <p:nvPr/>
        </p:nvSpPr>
        <p:spPr>
          <a:xfrm>
            <a:off x="8557512" y="3940777"/>
            <a:ext cx="2123649" cy="459940"/>
          </a:xfrm>
          <a:prstGeom prst="wedgeRoundRectCallout">
            <a:avLst>
              <a:gd name="adj1" fmla="val 56472"/>
              <a:gd name="adj2" fmla="val 29566"/>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要件</a:t>
            </a:r>
            <a:r>
              <a:rPr kumimoji="1" lang="ja-JP" altLang="en-US" sz="1400" dirty="0">
                <a:solidFill>
                  <a:schemeClr val="tx1"/>
                </a:solidFill>
              </a:rPr>
              <a:t>通りに動いているね！</a:t>
            </a:r>
          </a:p>
        </p:txBody>
      </p:sp>
      <p:pic>
        <p:nvPicPr>
          <p:cNvPr id="35" name="グラフィックス 34" descr="笑顔 (塗りつぶしなし) 単色塗りつぶし">
            <a:extLst>
              <a:ext uri="{FF2B5EF4-FFF2-40B4-BE49-F238E27FC236}">
                <a16:creationId xmlns:a16="http://schemas.microsoft.com/office/drawing/2014/main" id="{07054E71-55C9-FAE4-A887-2AF56D3702F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19302" y="3843840"/>
            <a:ext cx="377400" cy="377400"/>
          </a:xfrm>
          <a:prstGeom prst="rect">
            <a:avLst/>
          </a:prstGeom>
        </p:spPr>
      </p:pic>
      <p:sp>
        <p:nvSpPr>
          <p:cNvPr id="36" name="正方形/長方形 35">
            <a:extLst>
              <a:ext uri="{FF2B5EF4-FFF2-40B4-BE49-F238E27FC236}">
                <a16:creationId xmlns:a16="http://schemas.microsoft.com/office/drawing/2014/main" id="{0B63D248-B77E-3811-0B9E-02AD1B3EBDB4}"/>
              </a:ext>
            </a:extLst>
          </p:cNvPr>
          <p:cNvSpPr/>
          <p:nvPr/>
        </p:nvSpPr>
        <p:spPr>
          <a:xfrm>
            <a:off x="525407" y="1367206"/>
            <a:ext cx="320273" cy="2041862"/>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テスト工程なし</a:t>
            </a:r>
          </a:p>
        </p:txBody>
      </p:sp>
      <p:sp>
        <p:nvSpPr>
          <p:cNvPr id="37" name="正方形/長方形 36">
            <a:extLst>
              <a:ext uri="{FF2B5EF4-FFF2-40B4-BE49-F238E27FC236}">
                <a16:creationId xmlns:a16="http://schemas.microsoft.com/office/drawing/2014/main" id="{AF0CB971-7EA3-E5EF-3491-ABC09DE5DE47}"/>
              </a:ext>
            </a:extLst>
          </p:cNvPr>
          <p:cNvSpPr/>
          <p:nvPr/>
        </p:nvSpPr>
        <p:spPr>
          <a:xfrm>
            <a:off x="522789" y="3629490"/>
            <a:ext cx="320273" cy="2723684"/>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テスト工程あり</a:t>
            </a:r>
          </a:p>
        </p:txBody>
      </p:sp>
      <p:sp>
        <p:nvSpPr>
          <p:cNvPr id="38" name="テキスト ボックス 37">
            <a:extLst>
              <a:ext uri="{FF2B5EF4-FFF2-40B4-BE49-F238E27FC236}">
                <a16:creationId xmlns:a16="http://schemas.microsoft.com/office/drawing/2014/main" id="{9946F626-02A8-D732-AB73-DBAE1BCD5629}"/>
              </a:ext>
            </a:extLst>
          </p:cNvPr>
          <p:cNvSpPr txBox="1"/>
          <p:nvPr/>
        </p:nvSpPr>
        <p:spPr>
          <a:xfrm>
            <a:off x="1166079" y="1771547"/>
            <a:ext cx="542225" cy="304151"/>
          </a:xfrm>
          <a:prstGeom prst="rect">
            <a:avLst/>
          </a:prstGeom>
          <a:noFill/>
        </p:spPr>
        <p:txBody>
          <a:bodyPr wrap="square" lIns="0" rIns="0" rtlCol="0">
            <a:noAutofit/>
          </a:bodyPr>
          <a:lstStyle/>
          <a:p>
            <a:pPr algn="ctr" defTabSz="288000"/>
            <a:r>
              <a:rPr lang="ja-JP" altLang="en-US" sz="1200" dirty="0">
                <a:latin typeface="+mn-ea"/>
              </a:rPr>
              <a:t>開発者</a:t>
            </a:r>
            <a:endParaRPr kumimoji="1" lang="ja-JP" altLang="en-US" sz="1200" dirty="0">
              <a:latin typeface="+mn-ea"/>
            </a:endParaRPr>
          </a:p>
        </p:txBody>
      </p:sp>
      <p:sp>
        <p:nvSpPr>
          <p:cNvPr id="39" name="テキスト ボックス 38">
            <a:extLst>
              <a:ext uri="{FF2B5EF4-FFF2-40B4-BE49-F238E27FC236}">
                <a16:creationId xmlns:a16="http://schemas.microsoft.com/office/drawing/2014/main" id="{190132C2-6B49-70D0-F7DE-F6FA7778C47B}"/>
              </a:ext>
            </a:extLst>
          </p:cNvPr>
          <p:cNvSpPr txBox="1"/>
          <p:nvPr/>
        </p:nvSpPr>
        <p:spPr>
          <a:xfrm>
            <a:off x="10879203" y="2357824"/>
            <a:ext cx="377401" cy="304151"/>
          </a:xfrm>
          <a:prstGeom prst="rect">
            <a:avLst/>
          </a:prstGeom>
          <a:noFill/>
        </p:spPr>
        <p:txBody>
          <a:bodyPr wrap="square" lIns="0" rIns="0" rtlCol="0">
            <a:noAutofit/>
          </a:bodyPr>
          <a:lstStyle/>
          <a:p>
            <a:pPr algn="l" defTabSz="288000"/>
            <a:r>
              <a:rPr lang="ja-JP" altLang="en-US" sz="1200" dirty="0">
                <a:latin typeface="+mn-ea"/>
              </a:rPr>
              <a:t>顧客</a:t>
            </a:r>
            <a:endParaRPr kumimoji="1" lang="ja-JP" altLang="en-US" sz="1200" dirty="0">
              <a:latin typeface="+mn-ea"/>
            </a:endParaRPr>
          </a:p>
        </p:txBody>
      </p:sp>
      <p:sp>
        <p:nvSpPr>
          <p:cNvPr id="40" name="十字形 39">
            <a:extLst>
              <a:ext uri="{FF2B5EF4-FFF2-40B4-BE49-F238E27FC236}">
                <a16:creationId xmlns:a16="http://schemas.microsoft.com/office/drawing/2014/main" id="{6CFF81B7-B8D0-6BE6-AB75-0818B4DDE5FC}"/>
              </a:ext>
            </a:extLst>
          </p:cNvPr>
          <p:cNvSpPr/>
          <p:nvPr/>
        </p:nvSpPr>
        <p:spPr>
          <a:xfrm rot="2647068">
            <a:off x="7377950" y="4007062"/>
            <a:ext cx="313563" cy="307301"/>
          </a:xfrm>
          <a:prstGeom prst="plus">
            <a:avLst>
              <a:gd name="adj" fmla="val 43221"/>
            </a:avLst>
          </a:prstGeom>
          <a:solidFill>
            <a:schemeClr val="accent1">
              <a:lumMod val="50000"/>
              <a:lumOff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1" name="円: 塗りつぶしなし 40">
            <a:extLst>
              <a:ext uri="{FF2B5EF4-FFF2-40B4-BE49-F238E27FC236}">
                <a16:creationId xmlns:a16="http://schemas.microsoft.com/office/drawing/2014/main" id="{1A57859C-9B75-5D46-D697-B53EE781A1CB}"/>
              </a:ext>
            </a:extLst>
          </p:cNvPr>
          <p:cNvSpPr/>
          <p:nvPr/>
        </p:nvSpPr>
        <p:spPr>
          <a:xfrm>
            <a:off x="7377950" y="4731334"/>
            <a:ext cx="313563" cy="307301"/>
          </a:xfrm>
          <a:prstGeom prst="donut">
            <a:avLst>
              <a:gd name="adj" fmla="val 12477"/>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44" name="グラフィックス 43" descr="クリップボード: 部分的に横線 枠線">
            <a:extLst>
              <a:ext uri="{FF2B5EF4-FFF2-40B4-BE49-F238E27FC236}">
                <a16:creationId xmlns:a16="http://schemas.microsoft.com/office/drawing/2014/main" id="{1D144946-0006-54B6-519A-DF00E11A9C7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75091" y="5082048"/>
            <a:ext cx="407946" cy="407946"/>
          </a:xfrm>
          <a:prstGeom prst="rect">
            <a:avLst/>
          </a:prstGeom>
        </p:spPr>
      </p:pic>
      <p:cxnSp>
        <p:nvCxnSpPr>
          <p:cNvPr id="49" name="直線コネクタ 48">
            <a:extLst>
              <a:ext uri="{FF2B5EF4-FFF2-40B4-BE49-F238E27FC236}">
                <a16:creationId xmlns:a16="http://schemas.microsoft.com/office/drawing/2014/main" id="{B1EB312A-79A7-572F-A4D2-582F6A56C7E0}"/>
              </a:ext>
            </a:extLst>
          </p:cNvPr>
          <p:cNvCxnSpPr/>
          <p:nvPr/>
        </p:nvCxnSpPr>
        <p:spPr>
          <a:xfrm>
            <a:off x="522788" y="3513826"/>
            <a:ext cx="11232000"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楕円 6">
            <a:extLst>
              <a:ext uri="{FF2B5EF4-FFF2-40B4-BE49-F238E27FC236}">
                <a16:creationId xmlns:a16="http://schemas.microsoft.com/office/drawing/2014/main" id="{90E52CB2-7A62-F831-715B-C0D690AFA2C9}"/>
              </a:ext>
            </a:extLst>
          </p:cNvPr>
          <p:cNvSpPr/>
          <p:nvPr/>
        </p:nvSpPr>
        <p:spPr>
          <a:xfrm>
            <a:off x="4210672" y="5508597"/>
            <a:ext cx="3745454" cy="812679"/>
          </a:xfrm>
          <a:prstGeom prst="ellipse">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i="0" dirty="0">
                <a:solidFill>
                  <a:schemeClr val="tx1"/>
                </a:solidFill>
                <a:effectLst/>
                <a:latin typeface="__Inter_a184c8"/>
              </a:rPr>
              <a:t>開発したシステムを</a:t>
            </a:r>
            <a:r>
              <a:rPr lang="ja-JP" altLang="en-US" sz="1400" b="1" i="0" dirty="0">
                <a:solidFill>
                  <a:schemeClr val="tx1"/>
                </a:solidFill>
                <a:effectLst/>
                <a:latin typeface="__Inter_a184c8"/>
              </a:rPr>
              <a:t>検証・評価</a:t>
            </a:r>
            <a:r>
              <a:rPr lang="ja-JP" altLang="en-US" sz="1200" i="0" dirty="0">
                <a:solidFill>
                  <a:schemeClr val="tx1"/>
                </a:solidFill>
                <a:effectLst/>
                <a:latin typeface="__Inter_a184c8"/>
              </a:rPr>
              <a:t>し、</a:t>
            </a:r>
            <a:endParaRPr lang="en-US" altLang="ja-JP" sz="1200" i="0" dirty="0">
              <a:solidFill>
                <a:schemeClr val="tx1"/>
              </a:solidFill>
              <a:effectLst/>
              <a:latin typeface="__Inter_a184c8"/>
            </a:endParaRPr>
          </a:p>
          <a:p>
            <a:pPr algn="ctr"/>
            <a:r>
              <a:rPr lang="ja-JP" altLang="en-US" sz="1400" b="1" dirty="0">
                <a:solidFill>
                  <a:schemeClr val="tx1"/>
                </a:solidFill>
                <a:latin typeface="__Inter_a184c8"/>
              </a:rPr>
              <a:t>欠陥を発見</a:t>
            </a:r>
            <a:r>
              <a:rPr lang="ja-JP" altLang="en-US" sz="1200" dirty="0">
                <a:solidFill>
                  <a:schemeClr val="tx1"/>
                </a:solidFill>
                <a:latin typeface="__Inter_a184c8"/>
              </a:rPr>
              <a:t>することで、</a:t>
            </a:r>
            <a:endParaRPr lang="en-US" altLang="ja-JP" sz="1200" i="0" dirty="0">
              <a:solidFill>
                <a:schemeClr val="tx1"/>
              </a:solidFill>
              <a:effectLst/>
              <a:latin typeface="__Inter_a184c8"/>
            </a:endParaRPr>
          </a:p>
          <a:p>
            <a:pPr algn="ctr"/>
            <a:r>
              <a:rPr lang="ja-JP" altLang="en-US" sz="1400" b="1" i="0" dirty="0">
                <a:solidFill>
                  <a:schemeClr val="tx1"/>
                </a:solidFill>
                <a:effectLst/>
                <a:latin typeface="__Inter_a184c8"/>
              </a:rPr>
              <a:t>リスク低減と高品質を</a:t>
            </a:r>
            <a:r>
              <a:rPr lang="ja-JP" altLang="en-US" sz="1400" b="1" dirty="0">
                <a:solidFill>
                  <a:schemeClr val="tx1"/>
                </a:solidFill>
                <a:latin typeface="__Inter_a184c8"/>
              </a:rPr>
              <a:t>実現</a:t>
            </a:r>
            <a:r>
              <a:rPr lang="ja-JP" altLang="en-US" sz="1200" i="0" dirty="0">
                <a:solidFill>
                  <a:schemeClr val="tx1"/>
                </a:solidFill>
                <a:effectLst/>
                <a:latin typeface="__Inter_a184c8"/>
              </a:rPr>
              <a:t>する</a:t>
            </a:r>
            <a:endParaRPr lang="en-US" altLang="ja-JP" sz="1200" i="0" dirty="0">
              <a:solidFill>
                <a:schemeClr val="tx1"/>
              </a:solidFill>
              <a:effectLst/>
              <a:latin typeface="__Inter_a184c8"/>
            </a:endParaRPr>
          </a:p>
        </p:txBody>
      </p:sp>
      <p:sp>
        <p:nvSpPr>
          <p:cNvPr id="14" name="楕円 13">
            <a:extLst>
              <a:ext uri="{FF2B5EF4-FFF2-40B4-BE49-F238E27FC236}">
                <a16:creationId xmlns:a16="http://schemas.microsoft.com/office/drawing/2014/main" id="{BFFC3B6B-1F0F-3513-CBF4-28CE55854EBA}"/>
              </a:ext>
            </a:extLst>
          </p:cNvPr>
          <p:cNvSpPr/>
          <p:nvPr/>
        </p:nvSpPr>
        <p:spPr>
          <a:xfrm>
            <a:off x="8306010" y="5536380"/>
            <a:ext cx="3878264" cy="757113"/>
          </a:xfrm>
          <a:prstGeom prst="ellipse">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i="0" dirty="0">
                <a:solidFill>
                  <a:schemeClr val="tx1"/>
                </a:solidFill>
                <a:effectLst/>
                <a:latin typeface="__Inter_a184c8"/>
              </a:rPr>
              <a:t>システムの妥当性を確認した結果を</a:t>
            </a:r>
            <a:endParaRPr lang="en-US" altLang="ja-JP" sz="1200" i="0" dirty="0">
              <a:solidFill>
                <a:schemeClr val="tx1"/>
              </a:solidFill>
              <a:effectLst/>
              <a:latin typeface="__Inter_a184c8"/>
            </a:endParaRPr>
          </a:p>
          <a:p>
            <a:pPr algn="ctr"/>
            <a:r>
              <a:rPr lang="ja-JP" altLang="en-US" sz="1200" i="0" dirty="0">
                <a:solidFill>
                  <a:schemeClr val="tx1"/>
                </a:solidFill>
                <a:effectLst/>
                <a:latin typeface="__Inter_a184c8"/>
              </a:rPr>
              <a:t>ステークホルダーに</a:t>
            </a:r>
            <a:r>
              <a:rPr lang="ja-JP" altLang="en-US" sz="1400" b="1" i="0" dirty="0">
                <a:solidFill>
                  <a:schemeClr val="tx1"/>
                </a:solidFill>
                <a:effectLst/>
                <a:latin typeface="__Inter_a184c8"/>
              </a:rPr>
              <a:t>判断材料として提供</a:t>
            </a:r>
            <a:r>
              <a:rPr lang="ja-JP" altLang="en-US" sz="1200" i="0" dirty="0">
                <a:solidFill>
                  <a:schemeClr val="tx1"/>
                </a:solidFill>
                <a:effectLst/>
                <a:latin typeface="__Inter_a184c8"/>
              </a:rPr>
              <a:t>し、</a:t>
            </a:r>
            <a:endParaRPr lang="en-US" altLang="ja-JP" sz="1200" i="0" dirty="0">
              <a:solidFill>
                <a:schemeClr val="tx1"/>
              </a:solidFill>
              <a:effectLst/>
              <a:latin typeface="__Inter_a184c8"/>
            </a:endParaRPr>
          </a:p>
          <a:p>
            <a:pPr algn="ctr"/>
            <a:r>
              <a:rPr lang="ja-JP" altLang="en-US" sz="1400" b="1" dirty="0">
                <a:solidFill>
                  <a:schemeClr val="tx1"/>
                </a:solidFill>
                <a:latin typeface="__Inter_a184c8"/>
              </a:rPr>
              <a:t>品質に対する信頼</a:t>
            </a:r>
            <a:r>
              <a:rPr lang="ja-JP" altLang="en-US" sz="1200" dirty="0">
                <a:solidFill>
                  <a:schemeClr val="tx1"/>
                </a:solidFill>
                <a:latin typeface="__Inter_a184c8"/>
              </a:rPr>
              <a:t>を築く</a:t>
            </a:r>
            <a:endParaRPr lang="en-US" altLang="ja-JP" sz="1400" dirty="0">
              <a:solidFill>
                <a:schemeClr val="tx1"/>
              </a:solidFill>
            </a:endParaRPr>
          </a:p>
        </p:txBody>
      </p:sp>
      <p:pic>
        <p:nvPicPr>
          <p:cNvPr id="4" name="グラフィックス 3" descr="ユーザー 単色塗りつぶし">
            <a:extLst>
              <a:ext uri="{FF2B5EF4-FFF2-40B4-BE49-F238E27FC236}">
                <a16:creationId xmlns:a16="http://schemas.microsoft.com/office/drawing/2014/main" id="{19C9D6D9-8AF8-EC1B-93E7-EFC15B55A0F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21703" y="4555861"/>
            <a:ext cx="653731" cy="653731"/>
          </a:xfrm>
          <a:prstGeom prst="rect">
            <a:avLst/>
          </a:prstGeom>
        </p:spPr>
      </p:pic>
      <p:pic>
        <p:nvPicPr>
          <p:cNvPr id="20" name="グラフィックス 19" descr="ユーザー 単色塗りつぶし">
            <a:extLst>
              <a:ext uri="{FF2B5EF4-FFF2-40B4-BE49-F238E27FC236}">
                <a16:creationId xmlns:a16="http://schemas.microsoft.com/office/drawing/2014/main" id="{F55FCDA6-F31E-0341-024F-125CBD96CB8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48120" y="2547908"/>
            <a:ext cx="653731" cy="653731"/>
          </a:xfrm>
          <a:prstGeom prst="rect">
            <a:avLst/>
          </a:prstGeom>
        </p:spPr>
      </p:pic>
      <p:sp>
        <p:nvSpPr>
          <p:cNvPr id="25" name="テキスト ボックス 24">
            <a:extLst>
              <a:ext uri="{FF2B5EF4-FFF2-40B4-BE49-F238E27FC236}">
                <a16:creationId xmlns:a16="http://schemas.microsoft.com/office/drawing/2014/main" id="{0D05AA21-A6FA-04FE-E5A3-409D19667B53}"/>
              </a:ext>
            </a:extLst>
          </p:cNvPr>
          <p:cNvSpPr txBox="1"/>
          <p:nvPr/>
        </p:nvSpPr>
        <p:spPr>
          <a:xfrm>
            <a:off x="8473606" y="3012855"/>
            <a:ext cx="663958" cy="304151"/>
          </a:xfrm>
          <a:prstGeom prst="rect">
            <a:avLst/>
          </a:prstGeom>
          <a:noFill/>
        </p:spPr>
        <p:txBody>
          <a:bodyPr wrap="square" lIns="0" rIns="0" rtlCol="0">
            <a:noAutofit/>
          </a:bodyPr>
          <a:lstStyle/>
          <a:p>
            <a:pPr algn="ctr" defTabSz="288000"/>
            <a:r>
              <a:rPr lang="en-US" altLang="ja-JP" sz="1200" dirty="0">
                <a:latin typeface="+mn-ea"/>
              </a:rPr>
              <a:t>SIer</a:t>
            </a:r>
            <a:r>
              <a:rPr lang="ja-JP" altLang="en-US" sz="1200" dirty="0">
                <a:latin typeface="+mn-ea"/>
              </a:rPr>
              <a:t>企業</a:t>
            </a:r>
            <a:endParaRPr kumimoji="1" lang="ja-JP" altLang="en-US" sz="1200" dirty="0">
              <a:latin typeface="+mn-ea"/>
            </a:endParaRPr>
          </a:p>
        </p:txBody>
      </p:sp>
    </p:spTree>
    <p:extLst>
      <p:ext uri="{BB962C8B-B14F-4D97-AF65-F5344CB8AC3E}">
        <p14:creationId xmlns:p14="http://schemas.microsoft.com/office/powerpoint/2010/main" val="603053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正方形/長方形 91">
            <a:extLst>
              <a:ext uri="{FF2B5EF4-FFF2-40B4-BE49-F238E27FC236}">
                <a16:creationId xmlns:a16="http://schemas.microsoft.com/office/drawing/2014/main" id="{86CF9E1A-F286-81DD-DAD2-C12DC719942D}"/>
              </a:ext>
            </a:extLst>
          </p:cNvPr>
          <p:cNvSpPr/>
          <p:nvPr/>
        </p:nvSpPr>
        <p:spPr>
          <a:xfrm>
            <a:off x="6381290" y="2841222"/>
            <a:ext cx="1963444" cy="2781184"/>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200" u="sng" dirty="0">
                <a:solidFill>
                  <a:schemeClr val="tx1"/>
                </a:solidFill>
              </a:rPr>
              <a:t>テスト対象</a:t>
            </a:r>
          </a:p>
        </p:txBody>
      </p:sp>
      <p:sp>
        <p:nvSpPr>
          <p:cNvPr id="88" name="正方形/長方形 87">
            <a:extLst>
              <a:ext uri="{FF2B5EF4-FFF2-40B4-BE49-F238E27FC236}">
                <a16:creationId xmlns:a16="http://schemas.microsoft.com/office/drawing/2014/main" id="{E4073F68-773D-F205-9778-C32A76DB34A0}"/>
              </a:ext>
            </a:extLst>
          </p:cNvPr>
          <p:cNvSpPr/>
          <p:nvPr/>
        </p:nvSpPr>
        <p:spPr>
          <a:xfrm>
            <a:off x="709906" y="2841222"/>
            <a:ext cx="1963444" cy="2781184"/>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200" u="sng" dirty="0">
                <a:solidFill>
                  <a:schemeClr val="tx1"/>
                </a:solidFill>
              </a:rPr>
              <a:t>テスト対象</a:t>
            </a:r>
          </a:p>
        </p:txBody>
      </p:sp>
      <p:grpSp>
        <p:nvGrpSpPr>
          <p:cNvPr id="91" name="グループ化 90">
            <a:extLst>
              <a:ext uri="{FF2B5EF4-FFF2-40B4-BE49-F238E27FC236}">
                <a16:creationId xmlns:a16="http://schemas.microsoft.com/office/drawing/2014/main" id="{F6C90B29-6B16-AF49-0DD7-27F0D1CE3E9F}"/>
              </a:ext>
            </a:extLst>
          </p:cNvPr>
          <p:cNvGrpSpPr/>
          <p:nvPr/>
        </p:nvGrpSpPr>
        <p:grpSpPr>
          <a:xfrm>
            <a:off x="1142170" y="3305992"/>
            <a:ext cx="1098917" cy="2049881"/>
            <a:chOff x="1101012" y="3325532"/>
            <a:chExt cx="1098917" cy="2049881"/>
          </a:xfrm>
          <a:solidFill>
            <a:schemeClr val="bg1"/>
          </a:solidFill>
        </p:grpSpPr>
        <p:sp>
          <p:nvSpPr>
            <p:cNvPr id="25" name="正方形/長方形 24">
              <a:extLst>
                <a:ext uri="{FF2B5EF4-FFF2-40B4-BE49-F238E27FC236}">
                  <a16:creationId xmlns:a16="http://schemas.microsoft.com/office/drawing/2014/main" id="{9432A21C-A624-674C-71B3-3E48159F5EA2}"/>
                </a:ext>
              </a:extLst>
            </p:cNvPr>
            <p:cNvSpPr/>
            <p:nvPr/>
          </p:nvSpPr>
          <p:spPr>
            <a:xfrm>
              <a:off x="1105708" y="3325532"/>
              <a:ext cx="504000" cy="360000"/>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6" name="正方形/長方形 25">
              <a:extLst>
                <a:ext uri="{FF2B5EF4-FFF2-40B4-BE49-F238E27FC236}">
                  <a16:creationId xmlns:a16="http://schemas.microsoft.com/office/drawing/2014/main" id="{530545D4-4438-AF4D-F3B1-C8B3677B3BC3}"/>
                </a:ext>
              </a:extLst>
            </p:cNvPr>
            <p:cNvSpPr/>
            <p:nvPr/>
          </p:nvSpPr>
          <p:spPr>
            <a:xfrm>
              <a:off x="1695929" y="3325532"/>
              <a:ext cx="504000" cy="360000"/>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8" name="正方形/長方形 27">
              <a:extLst>
                <a:ext uri="{FF2B5EF4-FFF2-40B4-BE49-F238E27FC236}">
                  <a16:creationId xmlns:a16="http://schemas.microsoft.com/office/drawing/2014/main" id="{AE539A1C-DC21-7AD8-B8BB-C6FA90E8B169}"/>
                </a:ext>
              </a:extLst>
            </p:cNvPr>
            <p:cNvSpPr/>
            <p:nvPr/>
          </p:nvSpPr>
          <p:spPr>
            <a:xfrm>
              <a:off x="1105708" y="3751511"/>
              <a:ext cx="504000" cy="360000"/>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9" name="正方形/長方形 28">
              <a:extLst>
                <a:ext uri="{FF2B5EF4-FFF2-40B4-BE49-F238E27FC236}">
                  <a16:creationId xmlns:a16="http://schemas.microsoft.com/office/drawing/2014/main" id="{0BC106B8-35FD-6D5B-C49D-C8DE43DC70BC}"/>
                </a:ext>
              </a:extLst>
            </p:cNvPr>
            <p:cNvSpPr/>
            <p:nvPr/>
          </p:nvSpPr>
          <p:spPr>
            <a:xfrm>
              <a:off x="1695929" y="3751511"/>
              <a:ext cx="504000" cy="360000"/>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1" name="正方形/長方形 30">
              <a:extLst>
                <a:ext uri="{FF2B5EF4-FFF2-40B4-BE49-F238E27FC236}">
                  <a16:creationId xmlns:a16="http://schemas.microsoft.com/office/drawing/2014/main" id="{3CF7BFCA-D69E-5894-356D-6FDAB2190555}"/>
                </a:ext>
              </a:extLst>
            </p:cNvPr>
            <p:cNvSpPr/>
            <p:nvPr/>
          </p:nvSpPr>
          <p:spPr>
            <a:xfrm>
              <a:off x="1105708" y="4177490"/>
              <a:ext cx="504000" cy="360000"/>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2" name="正方形/長方形 31">
              <a:extLst>
                <a:ext uri="{FF2B5EF4-FFF2-40B4-BE49-F238E27FC236}">
                  <a16:creationId xmlns:a16="http://schemas.microsoft.com/office/drawing/2014/main" id="{FCBE5021-7AB4-B3CA-6618-EA7EA34B469F}"/>
                </a:ext>
              </a:extLst>
            </p:cNvPr>
            <p:cNvSpPr/>
            <p:nvPr/>
          </p:nvSpPr>
          <p:spPr>
            <a:xfrm>
              <a:off x="1695929" y="4177490"/>
              <a:ext cx="504000" cy="360000"/>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1" name="正方形/長方形 20">
              <a:extLst>
                <a:ext uri="{FF2B5EF4-FFF2-40B4-BE49-F238E27FC236}">
                  <a16:creationId xmlns:a16="http://schemas.microsoft.com/office/drawing/2014/main" id="{E000F4FA-E8B1-D9A6-5033-89717A36EAA7}"/>
                </a:ext>
              </a:extLst>
            </p:cNvPr>
            <p:cNvSpPr/>
            <p:nvPr/>
          </p:nvSpPr>
          <p:spPr>
            <a:xfrm>
              <a:off x="1101012" y="4589434"/>
              <a:ext cx="504000" cy="360000"/>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2" name="正方形/長方形 21">
              <a:extLst>
                <a:ext uri="{FF2B5EF4-FFF2-40B4-BE49-F238E27FC236}">
                  <a16:creationId xmlns:a16="http://schemas.microsoft.com/office/drawing/2014/main" id="{BC88F09E-2E89-861C-FA76-7C3ACF5A95F9}"/>
                </a:ext>
              </a:extLst>
            </p:cNvPr>
            <p:cNvSpPr/>
            <p:nvPr/>
          </p:nvSpPr>
          <p:spPr>
            <a:xfrm>
              <a:off x="1691233" y="4589434"/>
              <a:ext cx="504000" cy="360000"/>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3" name="正方形/長方形 22">
              <a:extLst>
                <a:ext uri="{FF2B5EF4-FFF2-40B4-BE49-F238E27FC236}">
                  <a16:creationId xmlns:a16="http://schemas.microsoft.com/office/drawing/2014/main" id="{1C82337C-9523-CECE-3A11-EFF4BC68E18E}"/>
                </a:ext>
              </a:extLst>
            </p:cNvPr>
            <p:cNvSpPr/>
            <p:nvPr/>
          </p:nvSpPr>
          <p:spPr>
            <a:xfrm>
              <a:off x="1101012" y="5015413"/>
              <a:ext cx="504000" cy="360000"/>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3" name="正方形/長方形 32">
              <a:extLst>
                <a:ext uri="{FF2B5EF4-FFF2-40B4-BE49-F238E27FC236}">
                  <a16:creationId xmlns:a16="http://schemas.microsoft.com/office/drawing/2014/main" id="{61580366-5863-7470-A2BD-B07E37CE8D37}"/>
                </a:ext>
              </a:extLst>
            </p:cNvPr>
            <p:cNvSpPr/>
            <p:nvPr/>
          </p:nvSpPr>
          <p:spPr>
            <a:xfrm>
              <a:off x="1691233" y="5015413"/>
              <a:ext cx="504000" cy="360000"/>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2" name="タイトル 1">
            <a:extLst>
              <a:ext uri="{FF2B5EF4-FFF2-40B4-BE49-F238E27FC236}">
                <a16:creationId xmlns:a16="http://schemas.microsoft.com/office/drawing/2014/main" id="{680D9FF8-AC84-65B1-1C55-ADF3DDDA25DB}"/>
              </a:ext>
            </a:extLst>
          </p:cNvPr>
          <p:cNvSpPr>
            <a:spLocks noGrp="1"/>
          </p:cNvSpPr>
          <p:nvPr>
            <p:ph type="title"/>
          </p:nvPr>
        </p:nvSpPr>
        <p:spPr/>
        <p:txBody>
          <a:bodyPr anchor="ctr"/>
          <a:lstStyle/>
          <a:p>
            <a:r>
              <a:rPr kumimoji="1" lang="ja-JP" altLang="en-US" dirty="0"/>
              <a:t>コラム：テストとデバッグ</a:t>
            </a:r>
          </a:p>
        </p:txBody>
      </p:sp>
      <p:sp>
        <p:nvSpPr>
          <p:cNvPr id="3" name="コンテンツ プレースホルダー 2">
            <a:extLst>
              <a:ext uri="{FF2B5EF4-FFF2-40B4-BE49-F238E27FC236}">
                <a16:creationId xmlns:a16="http://schemas.microsoft.com/office/drawing/2014/main" id="{F0EF5910-8A8D-1DAB-05FA-776CA3EC7C61}"/>
              </a:ext>
            </a:extLst>
          </p:cNvPr>
          <p:cNvSpPr>
            <a:spLocks noGrp="1"/>
          </p:cNvSpPr>
          <p:nvPr>
            <p:ph sz="quarter" idx="10"/>
          </p:nvPr>
        </p:nvSpPr>
        <p:spPr>
          <a:xfrm>
            <a:off x="371474" y="1017120"/>
            <a:ext cx="11448000" cy="321917"/>
          </a:xfrm>
        </p:spPr>
        <p:txBody>
          <a:bodyPr/>
          <a:lstStyle/>
          <a:p>
            <a:r>
              <a:rPr kumimoji="1" lang="ja-JP" altLang="en-US" dirty="0"/>
              <a:t>「テスト」と区別して理解すべきプロセスとして「デバッグ」が挙げられる。テストとデバッグは、</a:t>
            </a:r>
            <a:r>
              <a:rPr kumimoji="1" lang="ja-JP" altLang="en-US" sz="2000" b="1" u="sng" dirty="0"/>
              <a:t>実施</a:t>
            </a:r>
            <a:r>
              <a:rPr lang="ja-JP" altLang="en-US" sz="2000" b="1" u="sng" dirty="0"/>
              <a:t>する</a:t>
            </a:r>
            <a:r>
              <a:rPr kumimoji="1" lang="ja-JP" altLang="en-US" sz="2000" b="1" u="sng" dirty="0"/>
              <a:t>目的</a:t>
            </a:r>
            <a:r>
              <a:rPr kumimoji="1" lang="ja-JP" altLang="en-US" dirty="0"/>
              <a:t>が大きく異なる。</a:t>
            </a:r>
          </a:p>
        </p:txBody>
      </p:sp>
      <p:sp>
        <p:nvSpPr>
          <p:cNvPr id="4" name="正方形/長方形 3">
            <a:extLst>
              <a:ext uri="{FF2B5EF4-FFF2-40B4-BE49-F238E27FC236}">
                <a16:creationId xmlns:a16="http://schemas.microsoft.com/office/drawing/2014/main" id="{646F5D8A-015F-3B25-0495-F3D5D83FA3A8}"/>
              </a:ext>
            </a:extLst>
          </p:cNvPr>
          <p:cNvSpPr/>
          <p:nvPr/>
        </p:nvSpPr>
        <p:spPr>
          <a:xfrm>
            <a:off x="417910" y="1899170"/>
            <a:ext cx="5544000" cy="4032406"/>
          </a:xfrm>
          <a:prstGeom prst="rect">
            <a:avLst/>
          </a:prstGeom>
          <a:no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noFill/>
            </a:endParaRPr>
          </a:p>
        </p:txBody>
      </p:sp>
      <p:sp>
        <p:nvSpPr>
          <p:cNvPr id="5" name="正方形/長方形 4">
            <a:extLst>
              <a:ext uri="{FF2B5EF4-FFF2-40B4-BE49-F238E27FC236}">
                <a16:creationId xmlns:a16="http://schemas.microsoft.com/office/drawing/2014/main" id="{2E77A479-1196-2773-1D6F-C4321EC98793}"/>
              </a:ext>
            </a:extLst>
          </p:cNvPr>
          <p:cNvSpPr/>
          <p:nvPr/>
        </p:nvSpPr>
        <p:spPr>
          <a:xfrm>
            <a:off x="421600" y="1533293"/>
            <a:ext cx="5544000" cy="365877"/>
          </a:xfrm>
          <a:prstGeom prst="rect">
            <a:avLst/>
          </a:prstGeom>
          <a:solidFill>
            <a:schemeClr val="tx2"/>
          </a:solid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dirty="0">
                <a:solidFill>
                  <a:schemeClr val="bg1"/>
                </a:solidFill>
              </a:rPr>
              <a:t>テスト</a:t>
            </a:r>
            <a:endParaRPr kumimoji="1" lang="ja-JP" altLang="en-US" dirty="0">
              <a:solidFill>
                <a:schemeClr val="bg1"/>
              </a:solidFill>
            </a:endParaRPr>
          </a:p>
        </p:txBody>
      </p:sp>
      <p:sp>
        <p:nvSpPr>
          <p:cNvPr id="6" name="正方形/長方形 5">
            <a:extLst>
              <a:ext uri="{FF2B5EF4-FFF2-40B4-BE49-F238E27FC236}">
                <a16:creationId xmlns:a16="http://schemas.microsoft.com/office/drawing/2014/main" id="{26EEC1E6-076C-3CD2-EAE8-AC7866127342}"/>
              </a:ext>
            </a:extLst>
          </p:cNvPr>
          <p:cNvSpPr/>
          <p:nvPr/>
        </p:nvSpPr>
        <p:spPr>
          <a:xfrm>
            <a:off x="6036614" y="1899170"/>
            <a:ext cx="5544000" cy="4032406"/>
          </a:xfrm>
          <a:prstGeom prst="rect">
            <a:avLst/>
          </a:prstGeom>
          <a:no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noFill/>
            </a:endParaRPr>
          </a:p>
        </p:txBody>
      </p:sp>
      <p:sp>
        <p:nvSpPr>
          <p:cNvPr id="7" name="正方形/長方形 6">
            <a:extLst>
              <a:ext uri="{FF2B5EF4-FFF2-40B4-BE49-F238E27FC236}">
                <a16:creationId xmlns:a16="http://schemas.microsoft.com/office/drawing/2014/main" id="{0C3A2CC2-A9AC-5D6E-6E2A-6FCBCE3D9C20}"/>
              </a:ext>
            </a:extLst>
          </p:cNvPr>
          <p:cNvSpPr/>
          <p:nvPr/>
        </p:nvSpPr>
        <p:spPr>
          <a:xfrm>
            <a:off x="6036613" y="1533293"/>
            <a:ext cx="5544000" cy="365877"/>
          </a:xfrm>
          <a:prstGeom prst="rect">
            <a:avLst/>
          </a:prstGeom>
          <a:solidFill>
            <a:schemeClr val="tx2"/>
          </a:solid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デバッグ</a:t>
            </a:r>
          </a:p>
        </p:txBody>
      </p:sp>
      <p:sp>
        <p:nvSpPr>
          <p:cNvPr id="8" name="テキスト ボックス 7">
            <a:extLst>
              <a:ext uri="{FF2B5EF4-FFF2-40B4-BE49-F238E27FC236}">
                <a16:creationId xmlns:a16="http://schemas.microsoft.com/office/drawing/2014/main" id="{10708DE8-4B31-E027-429B-6514D94F08B1}"/>
              </a:ext>
            </a:extLst>
          </p:cNvPr>
          <p:cNvSpPr txBox="1"/>
          <p:nvPr/>
        </p:nvSpPr>
        <p:spPr>
          <a:xfrm>
            <a:off x="1063272" y="2083158"/>
            <a:ext cx="4824000" cy="523979"/>
          </a:xfrm>
          <a:prstGeom prst="rect">
            <a:avLst/>
          </a:prstGeom>
          <a:noFill/>
        </p:spPr>
        <p:txBody>
          <a:bodyPr wrap="square" lIns="0" rIns="0" rtlCol="0" anchor="ctr">
            <a:noAutofit/>
          </a:bodyPr>
          <a:lstStyle/>
          <a:p>
            <a:r>
              <a:rPr lang="ja-JP" altLang="en-US" sz="1600" b="0" i="0" dirty="0">
                <a:effectLst/>
                <a:latin typeface="__Inter_a184c8"/>
              </a:rPr>
              <a:t>　</a:t>
            </a:r>
            <a:r>
              <a:rPr lang="ja-JP" altLang="en-US" sz="1600" dirty="0"/>
              <a:t>テスト対象内で、</a:t>
            </a:r>
            <a:endParaRPr lang="en-US" altLang="ja-JP" sz="1600" dirty="0"/>
          </a:p>
          <a:p>
            <a:r>
              <a:rPr lang="ja-JP" altLang="en-US" sz="1600" b="1" dirty="0"/>
              <a:t>　</a:t>
            </a:r>
            <a:r>
              <a:rPr lang="ja-JP" altLang="en-US" b="1" dirty="0"/>
              <a:t>要件を満たしていない点がないかを探す</a:t>
            </a:r>
            <a:r>
              <a:rPr lang="ja-JP" altLang="en-US" sz="1600" dirty="0"/>
              <a:t>プロセス</a:t>
            </a:r>
          </a:p>
        </p:txBody>
      </p:sp>
      <p:sp>
        <p:nvSpPr>
          <p:cNvPr id="10" name="四角形: 角を丸くする 9">
            <a:extLst>
              <a:ext uri="{FF2B5EF4-FFF2-40B4-BE49-F238E27FC236}">
                <a16:creationId xmlns:a16="http://schemas.microsoft.com/office/drawing/2014/main" id="{616A8A1C-D757-5054-266D-4097CF14A2CD}"/>
              </a:ext>
            </a:extLst>
          </p:cNvPr>
          <p:cNvSpPr/>
          <p:nvPr/>
        </p:nvSpPr>
        <p:spPr>
          <a:xfrm>
            <a:off x="514709" y="2160925"/>
            <a:ext cx="606056" cy="377456"/>
          </a:xfrm>
          <a:prstGeom prst="roundRect">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定義</a:t>
            </a:r>
          </a:p>
        </p:txBody>
      </p:sp>
      <p:sp>
        <p:nvSpPr>
          <p:cNvPr id="11" name="テキスト ボックス 10">
            <a:extLst>
              <a:ext uri="{FF2B5EF4-FFF2-40B4-BE49-F238E27FC236}">
                <a16:creationId xmlns:a16="http://schemas.microsoft.com/office/drawing/2014/main" id="{A14E094D-1454-3B4E-3617-B2B5C7FD3941}"/>
              </a:ext>
            </a:extLst>
          </p:cNvPr>
          <p:cNvSpPr txBox="1"/>
          <p:nvPr/>
        </p:nvSpPr>
        <p:spPr>
          <a:xfrm>
            <a:off x="6681207" y="2159359"/>
            <a:ext cx="4824000" cy="377456"/>
          </a:xfrm>
          <a:prstGeom prst="rect">
            <a:avLst/>
          </a:prstGeom>
          <a:noFill/>
        </p:spPr>
        <p:txBody>
          <a:bodyPr wrap="square" lIns="0" rIns="0" rtlCol="0" anchor="ctr">
            <a:noAutofit/>
          </a:bodyPr>
          <a:lstStyle/>
          <a:p>
            <a:pPr algn="l" defTabSz="288000"/>
            <a:r>
              <a:rPr lang="ja-JP" altLang="en-US" sz="1600" b="0" i="0" dirty="0">
                <a:effectLst/>
                <a:latin typeface="+mj-ea"/>
                <a:ea typeface="+mj-ea"/>
              </a:rPr>
              <a:t>　テスト中に発見された</a:t>
            </a:r>
            <a:r>
              <a:rPr lang="ja-JP" altLang="en-US" sz="2000" b="1" i="0" dirty="0">
                <a:effectLst/>
                <a:latin typeface="+mj-ea"/>
                <a:ea typeface="+mj-ea"/>
              </a:rPr>
              <a:t>バグや問題を修正する</a:t>
            </a:r>
            <a:r>
              <a:rPr lang="ja-JP" altLang="en-US" sz="1600" b="0" i="0" dirty="0">
                <a:effectLst/>
                <a:latin typeface="+mj-ea"/>
                <a:ea typeface="+mj-ea"/>
              </a:rPr>
              <a:t>プロセス</a:t>
            </a:r>
          </a:p>
        </p:txBody>
      </p:sp>
      <p:sp>
        <p:nvSpPr>
          <p:cNvPr id="12" name="四角形: 角を丸くする 11">
            <a:extLst>
              <a:ext uri="{FF2B5EF4-FFF2-40B4-BE49-F238E27FC236}">
                <a16:creationId xmlns:a16="http://schemas.microsoft.com/office/drawing/2014/main" id="{BB4E911F-86FB-3C38-0735-846A5D2CF26A}"/>
              </a:ext>
            </a:extLst>
          </p:cNvPr>
          <p:cNvSpPr/>
          <p:nvPr/>
        </p:nvSpPr>
        <p:spPr>
          <a:xfrm>
            <a:off x="6139250" y="2159359"/>
            <a:ext cx="606056" cy="377456"/>
          </a:xfrm>
          <a:prstGeom prst="roundRect">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定義</a:t>
            </a:r>
          </a:p>
        </p:txBody>
      </p:sp>
      <p:sp>
        <p:nvSpPr>
          <p:cNvPr id="14" name="吹き出し: 角を丸めた四角形 13">
            <a:extLst>
              <a:ext uri="{FF2B5EF4-FFF2-40B4-BE49-F238E27FC236}">
                <a16:creationId xmlns:a16="http://schemas.microsoft.com/office/drawing/2014/main" id="{4F4D2927-8DCA-D373-7B0C-8E05417A87F8}"/>
              </a:ext>
            </a:extLst>
          </p:cNvPr>
          <p:cNvSpPr/>
          <p:nvPr/>
        </p:nvSpPr>
        <p:spPr>
          <a:xfrm>
            <a:off x="2588021" y="2981621"/>
            <a:ext cx="3166442" cy="2561438"/>
          </a:xfrm>
          <a:prstGeom prst="wedgeRoundRectCallout">
            <a:avLst>
              <a:gd name="adj1" fmla="val -60219"/>
              <a:gd name="adj2" fmla="val -9289"/>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5" name="正方形/長方形 34">
            <a:extLst>
              <a:ext uri="{FF2B5EF4-FFF2-40B4-BE49-F238E27FC236}">
                <a16:creationId xmlns:a16="http://schemas.microsoft.com/office/drawing/2014/main" id="{EAD3CB22-C599-8927-0E98-59D158BAA249}"/>
              </a:ext>
            </a:extLst>
          </p:cNvPr>
          <p:cNvSpPr/>
          <p:nvPr/>
        </p:nvSpPr>
        <p:spPr>
          <a:xfrm>
            <a:off x="7412537" y="3305992"/>
            <a:ext cx="504000" cy="360000"/>
          </a:xfrm>
          <a:prstGeom prst="rect">
            <a:avLst/>
          </a:prstGeom>
          <a:solidFill>
            <a:schemeClr val="bg1">
              <a:lumMod val="95000"/>
            </a:schemeClr>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1" name="十字形 40">
            <a:extLst>
              <a:ext uri="{FF2B5EF4-FFF2-40B4-BE49-F238E27FC236}">
                <a16:creationId xmlns:a16="http://schemas.microsoft.com/office/drawing/2014/main" id="{EEA1FAE6-6147-4224-6879-8C0F62D18724}"/>
              </a:ext>
            </a:extLst>
          </p:cNvPr>
          <p:cNvSpPr/>
          <p:nvPr/>
        </p:nvSpPr>
        <p:spPr>
          <a:xfrm rot="2647068">
            <a:off x="7538537" y="3350573"/>
            <a:ext cx="252000" cy="252000"/>
          </a:xfrm>
          <a:prstGeom prst="plus">
            <a:avLst>
              <a:gd name="adj" fmla="val 43221"/>
            </a:avLst>
          </a:prstGeom>
          <a:solidFill>
            <a:schemeClr val="accent1">
              <a:lumMod val="50000"/>
              <a:lumOff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6" name="吹き出し: 角を丸めた四角形 45">
            <a:extLst>
              <a:ext uri="{FF2B5EF4-FFF2-40B4-BE49-F238E27FC236}">
                <a16:creationId xmlns:a16="http://schemas.microsoft.com/office/drawing/2014/main" id="{56F4850B-612F-81D4-3247-5169B49A0FA4}"/>
              </a:ext>
            </a:extLst>
          </p:cNvPr>
          <p:cNvSpPr/>
          <p:nvPr/>
        </p:nvSpPr>
        <p:spPr>
          <a:xfrm>
            <a:off x="8262232" y="2972368"/>
            <a:ext cx="2952281" cy="2570692"/>
          </a:xfrm>
          <a:prstGeom prst="wedgeRoundRectCallout">
            <a:avLst>
              <a:gd name="adj1" fmla="val -64521"/>
              <a:gd name="adj2" fmla="val -30065"/>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9" name="四角形: 角を丸くする 48">
            <a:extLst>
              <a:ext uri="{FF2B5EF4-FFF2-40B4-BE49-F238E27FC236}">
                <a16:creationId xmlns:a16="http://schemas.microsoft.com/office/drawing/2014/main" id="{872895A5-7800-7BB2-6EE5-C70DAA6D6864}"/>
              </a:ext>
            </a:extLst>
          </p:cNvPr>
          <p:cNvSpPr/>
          <p:nvPr/>
        </p:nvSpPr>
        <p:spPr>
          <a:xfrm>
            <a:off x="8538222" y="3482966"/>
            <a:ext cx="2400300" cy="373789"/>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故障の再現</a:t>
            </a:r>
          </a:p>
        </p:txBody>
      </p:sp>
      <p:cxnSp>
        <p:nvCxnSpPr>
          <p:cNvPr id="51" name="直線矢印コネクタ 50">
            <a:extLst>
              <a:ext uri="{FF2B5EF4-FFF2-40B4-BE49-F238E27FC236}">
                <a16:creationId xmlns:a16="http://schemas.microsoft.com/office/drawing/2014/main" id="{ADD3B328-B61F-9EE2-E19C-08E61667C806}"/>
              </a:ext>
            </a:extLst>
          </p:cNvPr>
          <p:cNvCxnSpPr>
            <a:cxnSpLocks/>
            <a:stCxn id="49" idx="2"/>
          </p:cNvCxnSpPr>
          <p:nvPr/>
        </p:nvCxnSpPr>
        <p:spPr>
          <a:xfrm>
            <a:off x="9738372" y="3856755"/>
            <a:ext cx="0" cy="40402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2" name="四角形: 角を丸くする 51">
            <a:extLst>
              <a:ext uri="{FF2B5EF4-FFF2-40B4-BE49-F238E27FC236}">
                <a16:creationId xmlns:a16="http://schemas.microsoft.com/office/drawing/2014/main" id="{585CE856-F904-621D-A9C6-4CB3FB39F791}"/>
              </a:ext>
            </a:extLst>
          </p:cNvPr>
          <p:cNvSpPr/>
          <p:nvPr/>
        </p:nvSpPr>
        <p:spPr>
          <a:xfrm>
            <a:off x="8538222" y="4220442"/>
            <a:ext cx="2400300" cy="373789"/>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原因の診断</a:t>
            </a:r>
          </a:p>
        </p:txBody>
      </p:sp>
      <p:sp>
        <p:nvSpPr>
          <p:cNvPr id="53" name="四角形: 角を丸くする 52">
            <a:extLst>
              <a:ext uri="{FF2B5EF4-FFF2-40B4-BE49-F238E27FC236}">
                <a16:creationId xmlns:a16="http://schemas.microsoft.com/office/drawing/2014/main" id="{774CA5EA-D19B-B035-E235-562310187B73}"/>
              </a:ext>
            </a:extLst>
          </p:cNvPr>
          <p:cNvSpPr/>
          <p:nvPr/>
        </p:nvSpPr>
        <p:spPr>
          <a:xfrm>
            <a:off x="8546112" y="4957918"/>
            <a:ext cx="2400300" cy="373789"/>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原因の修正</a:t>
            </a:r>
          </a:p>
        </p:txBody>
      </p:sp>
      <p:cxnSp>
        <p:nvCxnSpPr>
          <p:cNvPr id="54" name="直線矢印コネクタ 53">
            <a:extLst>
              <a:ext uri="{FF2B5EF4-FFF2-40B4-BE49-F238E27FC236}">
                <a16:creationId xmlns:a16="http://schemas.microsoft.com/office/drawing/2014/main" id="{304DB7DF-2C3F-6FD9-744D-2AC253FAE0B0}"/>
              </a:ext>
            </a:extLst>
          </p:cNvPr>
          <p:cNvCxnSpPr>
            <a:cxnSpLocks/>
            <a:stCxn id="52" idx="2"/>
            <a:endCxn id="53" idx="0"/>
          </p:cNvCxnSpPr>
          <p:nvPr/>
        </p:nvCxnSpPr>
        <p:spPr>
          <a:xfrm>
            <a:off x="9738372" y="4594231"/>
            <a:ext cx="7890" cy="363687"/>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テキスト ボックス 68">
            <a:extLst>
              <a:ext uri="{FF2B5EF4-FFF2-40B4-BE49-F238E27FC236}">
                <a16:creationId xmlns:a16="http://schemas.microsoft.com/office/drawing/2014/main" id="{DCD33666-AAA8-0368-0A93-C6F061636C88}"/>
              </a:ext>
            </a:extLst>
          </p:cNvPr>
          <p:cNvSpPr txBox="1"/>
          <p:nvPr/>
        </p:nvSpPr>
        <p:spPr>
          <a:xfrm>
            <a:off x="8262232" y="2981621"/>
            <a:ext cx="2952281" cy="482840"/>
          </a:xfrm>
          <a:prstGeom prst="rect">
            <a:avLst/>
          </a:prstGeom>
          <a:noFill/>
        </p:spPr>
        <p:txBody>
          <a:bodyPr wrap="square" lIns="0" rIns="0" rtlCol="0" anchor="ctr">
            <a:noAutofit/>
          </a:bodyPr>
          <a:lstStyle/>
          <a:p>
            <a:pPr algn="ctr" defTabSz="288000"/>
            <a:r>
              <a:rPr kumimoji="1" lang="ja-JP" altLang="en-US" sz="1600" u="sng" dirty="0">
                <a:latin typeface="+mn-ea"/>
              </a:rPr>
              <a:t>デバッグ作業の流れ</a:t>
            </a:r>
          </a:p>
        </p:txBody>
      </p:sp>
      <p:sp>
        <p:nvSpPr>
          <p:cNvPr id="70" name="正方形/長方形 69">
            <a:extLst>
              <a:ext uri="{FF2B5EF4-FFF2-40B4-BE49-F238E27FC236}">
                <a16:creationId xmlns:a16="http://schemas.microsoft.com/office/drawing/2014/main" id="{D99B662E-9CC9-D73A-458C-BB7F89D688DE}"/>
              </a:ext>
            </a:extLst>
          </p:cNvPr>
          <p:cNvSpPr/>
          <p:nvPr/>
        </p:nvSpPr>
        <p:spPr>
          <a:xfrm>
            <a:off x="6816913" y="3305992"/>
            <a:ext cx="504000" cy="360000"/>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1" name="正方形/長方形 70">
            <a:extLst>
              <a:ext uri="{FF2B5EF4-FFF2-40B4-BE49-F238E27FC236}">
                <a16:creationId xmlns:a16="http://schemas.microsoft.com/office/drawing/2014/main" id="{45C048FD-3A9F-A351-51E8-225C5F47F8FF}"/>
              </a:ext>
            </a:extLst>
          </p:cNvPr>
          <p:cNvSpPr/>
          <p:nvPr/>
        </p:nvSpPr>
        <p:spPr>
          <a:xfrm>
            <a:off x="6816913" y="3731971"/>
            <a:ext cx="504000" cy="360000"/>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2" name="正方形/長方形 71">
            <a:extLst>
              <a:ext uri="{FF2B5EF4-FFF2-40B4-BE49-F238E27FC236}">
                <a16:creationId xmlns:a16="http://schemas.microsoft.com/office/drawing/2014/main" id="{FC751E98-5E1B-2931-F767-A8EA9D40F571}"/>
              </a:ext>
            </a:extLst>
          </p:cNvPr>
          <p:cNvSpPr/>
          <p:nvPr/>
        </p:nvSpPr>
        <p:spPr>
          <a:xfrm>
            <a:off x="7407134" y="3731971"/>
            <a:ext cx="504000" cy="360000"/>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3" name="正方形/長方形 72">
            <a:extLst>
              <a:ext uri="{FF2B5EF4-FFF2-40B4-BE49-F238E27FC236}">
                <a16:creationId xmlns:a16="http://schemas.microsoft.com/office/drawing/2014/main" id="{A04C39D3-AC0C-65F6-60EF-5301CA557AD0}"/>
              </a:ext>
            </a:extLst>
          </p:cNvPr>
          <p:cNvSpPr/>
          <p:nvPr/>
        </p:nvSpPr>
        <p:spPr>
          <a:xfrm>
            <a:off x="6816913" y="4157950"/>
            <a:ext cx="504000" cy="360000"/>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4" name="正方形/長方形 73">
            <a:extLst>
              <a:ext uri="{FF2B5EF4-FFF2-40B4-BE49-F238E27FC236}">
                <a16:creationId xmlns:a16="http://schemas.microsoft.com/office/drawing/2014/main" id="{6DDD190D-7B1E-7904-6259-6BD322FA6A47}"/>
              </a:ext>
            </a:extLst>
          </p:cNvPr>
          <p:cNvSpPr/>
          <p:nvPr/>
        </p:nvSpPr>
        <p:spPr>
          <a:xfrm>
            <a:off x="7407134" y="4157950"/>
            <a:ext cx="504000" cy="360000"/>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5" name="円: 塗りつぶしなし 74">
            <a:extLst>
              <a:ext uri="{FF2B5EF4-FFF2-40B4-BE49-F238E27FC236}">
                <a16:creationId xmlns:a16="http://schemas.microsoft.com/office/drawing/2014/main" id="{B878903B-EE89-30A5-B918-A19F46F8AA97}"/>
              </a:ext>
            </a:extLst>
          </p:cNvPr>
          <p:cNvSpPr/>
          <p:nvPr/>
        </p:nvSpPr>
        <p:spPr>
          <a:xfrm>
            <a:off x="6947498" y="3362893"/>
            <a:ext cx="252000" cy="252000"/>
          </a:xfrm>
          <a:prstGeom prst="donut">
            <a:avLst>
              <a:gd name="adj" fmla="val 12477"/>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6" name="正方形/長方形 75">
            <a:extLst>
              <a:ext uri="{FF2B5EF4-FFF2-40B4-BE49-F238E27FC236}">
                <a16:creationId xmlns:a16="http://schemas.microsoft.com/office/drawing/2014/main" id="{5A794B21-1720-E282-92C9-4879A5E21849}"/>
              </a:ext>
            </a:extLst>
          </p:cNvPr>
          <p:cNvSpPr/>
          <p:nvPr/>
        </p:nvSpPr>
        <p:spPr>
          <a:xfrm>
            <a:off x="6812217" y="4569894"/>
            <a:ext cx="504000" cy="360000"/>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7" name="正方形/長方形 76">
            <a:extLst>
              <a:ext uri="{FF2B5EF4-FFF2-40B4-BE49-F238E27FC236}">
                <a16:creationId xmlns:a16="http://schemas.microsoft.com/office/drawing/2014/main" id="{6FA85F2D-FBEE-9BB3-B623-6E687825AAFD}"/>
              </a:ext>
            </a:extLst>
          </p:cNvPr>
          <p:cNvSpPr/>
          <p:nvPr/>
        </p:nvSpPr>
        <p:spPr>
          <a:xfrm>
            <a:off x="7402438" y="4569894"/>
            <a:ext cx="504000" cy="360000"/>
          </a:xfrm>
          <a:prstGeom prst="rect">
            <a:avLst/>
          </a:prstGeom>
          <a:solidFill>
            <a:schemeClr val="bg1">
              <a:lumMod val="95000"/>
            </a:schemeClr>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8" name="正方形/長方形 77">
            <a:extLst>
              <a:ext uri="{FF2B5EF4-FFF2-40B4-BE49-F238E27FC236}">
                <a16:creationId xmlns:a16="http://schemas.microsoft.com/office/drawing/2014/main" id="{EBF0C531-8088-F8A1-C951-3105CF5978DA}"/>
              </a:ext>
            </a:extLst>
          </p:cNvPr>
          <p:cNvSpPr/>
          <p:nvPr/>
        </p:nvSpPr>
        <p:spPr>
          <a:xfrm>
            <a:off x="6812217" y="4995873"/>
            <a:ext cx="504000" cy="360000"/>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9" name="正方形/長方形 78">
            <a:extLst>
              <a:ext uri="{FF2B5EF4-FFF2-40B4-BE49-F238E27FC236}">
                <a16:creationId xmlns:a16="http://schemas.microsoft.com/office/drawing/2014/main" id="{7D2353B4-FF5E-ECC5-7B47-7184A0AA491A}"/>
              </a:ext>
            </a:extLst>
          </p:cNvPr>
          <p:cNvSpPr/>
          <p:nvPr/>
        </p:nvSpPr>
        <p:spPr>
          <a:xfrm>
            <a:off x="7402438" y="4995873"/>
            <a:ext cx="504000" cy="360000"/>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0" name="円: 塗りつぶしなし 79">
            <a:extLst>
              <a:ext uri="{FF2B5EF4-FFF2-40B4-BE49-F238E27FC236}">
                <a16:creationId xmlns:a16="http://schemas.microsoft.com/office/drawing/2014/main" id="{C6CFA42D-9030-F5E3-5E35-43BB89D84C6A}"/>
              </a:ext>
            </a:extLst>
          </p:cNvPr>
          <p:cNvSpPr/>
          <p:nvPr/>
        </p:nvSpPr>
        <p:spPr>
          <a:xfrm>
            <a:off x="6947498" y="3800121"/>
            <a:ext cx="252000" cy="252000"/>
          </a:xfrm>
          <a:prstGeom prst="donut">
            <a:avLst>
              <a:gd name="adj" fmla="val 12477"/>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1" name="円: 塗りつぶしなし 80">
            <a:extLst>
              <a:ext uri="{FF2B5EF4-FFF2-40B4-BE49-F238E27FC236}">
                <a16:creationId xmlns:a16="http://schemas.microsoft.com/office/drawing/2014/main" id="{8C14D365-66A0-9106-5161-0CCB044C2545}"/>
              </a:ext>
            </a:extLst>
          </p:cNvPr>
          <p:cNvSpPr/>
          <p:nvPr/>
        </p:nvSpPr>
        <p:spPr>
          <a:xfrm>
            <a:off x="6947498" y="4219104"/>
            <a:ext cx="252000" cy="252000"/>
          </a:xfrm>
          <a:prstGeom prst="donut">
            <a:avLst>
              <a:gd name="adj" fmla="val 12477"/>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2" name="円: 塗りつぶしなし 81">
            <a:extLst>
              <a:ext uri="{FF2B5EF4-FFF2-40B4-BE49-F238E27FC236}">
                <a16:creationId xmlns:a16="http://schemas.microsoft.com/office/drawing/2014/main" id="{FD94FF11-2C11-D8C2-8E9B-24942FB5F32D}"/>
              </a:ext>
            </a:extLst>
          </p:cNvPr>
          <p:cNvSpPr/>
          <p:nvPr/>
        </p:nvSpPr>
        <p:spPr>
          <a:xfrm>
            <a:off x="6947498" y="4630595"/>
            <a:ext cx="252000" cy="252000"/>
          </a:xfrm>
          <a:prstGeom prst="donut">
            <a:avLst>
              <a:gd name="adj" fmla="val 12477"/>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3" name="十字形 82">
            <a:extLst>
              <a:ext uri="{FF2B5EF4-FFF2-40B4-BE49-F238E27FC236}">
                <a16:creationId xmlns:a16="http://schemas.microsoft.com/office/drawing/2014/main" id="{657C94E9-76DD-D2FD-1071-F8AC49F089AE}"/>
              </a:ext>
            </a:extLst>
          </p:cNvPr>
          <p:cNvSpPr/>
          <p:nvPr/>
        </p:nvSpPr>
        <p:spPr>
          <a:xfrm rot="2647068">
            <a:off x="7534616" y="4618275"/>
            <a:ext cx="252000" cy="252000"/>
          </a:xfrm>
          <a:prstGeom prst="plus">
            <a:avLst>
              <a:gd name="adj" fmla="val 43221"/>
            </a:avLst>
          </a:prstGeom>
          <a:solidFill>
            <a:schemeClr val="accent1">
              <a:lumMod val="50000"/>
              <a:lumOff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4" name="円: 塗りつぶしなし 83">
            <a:extLst>
              <a:ext uri="{FF2B5EF4-FFF2-40B4-BE49-F238E27FC236}">
                <a16:creationId xmlns:a16="http://schemas.microsoft.com/office/drawing/2014/main" id="{0163B52F-17F6-988E-0ACE-392E84BDBA63}"/>
              </a:ext>
            </a:extLst>
          </p:cNvPr>
          <p:cNvSpPr/>
          <p:nvPr/>
        </p:nvSpPr>
        <p:spPr>
          <a:xfrm>
            <a:off x="6947498" y="5051823"/>
            <a:ext cx="252000" cy="252000"/>
          </a:xfrm>
          <a:prstGeom prst="donut">
            <a:avLst>
              <a:gd name="adj" fmla="val 12477"/>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5" name="円: 塗りつぶしなし 84">
            <a:extLst>
              <a:ext uri="{FF2B5EF4-FFF2-40B4-BE49-F238E27FC236}">
                <a16:creationId xmlns:a16="http://schemas.microsoft.com/office/drawing/2014/main" id="{8A417B8D-ABF8-BFEB-C91A-5F5FDA1647FC}"/>
              </a:ext>
            </a:extLst>
          </p:cNvPr>
          <p:cNvSpPr/>
          <p:nvPr/>
        </p:nvSpPr>
        <p:spPr>
          <a:xfrm>
            <a:off x="7534616" y="3803797"/>
            <a:ext cx="252000" cy="252000"/>
          </a:xfrm>
          <a:prstGeom prst="donut">
            <a:avLst>
              <a:gd name="adj" fmla="val 12477"/>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6" name="円: 塗りつぶしなし 85">
            <a:extLst>
              <a:ext uri="{FF2B5EF4-FFF2-40B4-BE49-F238E27FC236}">
                <a16:creationId xmlns:a16="http://schemas.microsoft.com/office/drawing/2014/main" id="{F3D30DD0-57A3-68E7-052D-052CCBD1D24C}"/>
              </a:ext>
            </a:extLst>
          </p:cNvPr>
          <p:cNvSpPr/>
          <p:nvPr/>
        </p:nvSpPr>
        <p:spPr>
          <a:xfrm>
            <a:off x="7534616" y="4219104"/>
            <a:ext cx="252000" cy="252000"/>
          </a:xfrm>
          <a:prstGeom prst="donut">
            <a:avLst>
              <a:gd name="adj" fmla="val 12477"/>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7" name="円: 塗りつぶしなし 86">
            <a:extLst>
              <a:ext uri="{FF2B5EF4-FFF2-40B4-BE49-F238E27FC236}">
                <a16:creationId xmlns:a16="http://schemas.microsoft.com/office/drawing/2014/main" id="{94D91791-2CEE-11DF-A3F2-43CA508AD22F}"/>
              </a:ext>
            </a:extLst>
          </p:cNvPr>
          <p:cNvSpPr/>
          <p:nvPr/>
        </p:nvSpPr>
        <p:spPr>
          <a:xfrm>
            <a:off x="7534616" y="5051823"/>
            <a:ext cx="252000" cy="252000"/>
          </a:xfrm>
          <a:prstGeom prst="donut">
            <a:avLst>
              <a:gd name="adj" fmla="val 12477"/>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円: 塗りつぶしなし 17">
            <a:extLst>
              <a:ext uri="{FF2B5EF4-FFF2-40B4-BE49-F238E27FC236}">
                <a16:creationId xmlns:a16="http://schemas.microsoft.com/office/drawing/2014/main" id="{036E9CF2-07A4-4D3C-C7A4-F872A239DE4B}"/>
              </a:ext>
            </a:extLst>
          </p:cNvPr>
          <p:cNvSpPr/>
          <p:nvPr/>
        </p:nvSpPr>
        <p:spPr>
          <a:xfrm>
            <a:off x="1280743" y="3362893"/>
            <a:ext cx="252000" cy="252000"/>
          </a:xfrm>
          <a:prstGeom prst="donut">
            <a:avLst>
              <a:gd name="adj" fmla="val 12477"/>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0" name="十字形 19">
            <a:extLst>
              <a:ext uri="{FF2B5EF4-FFF2-40B4-BE49-F238E27FC236}">
                <a16:creationId xmlns:a16="http://schemas.microsoft.com/office/drawing/2014/main" id="{11B7F2E4-2E6E-13E2-9201-A1F897C2DFBC}"/>
              </a:ext>
            </a:extLst>
          </p:cNvPr>
          <p:cNvSpPr/>
          <p:nvPr/>
        </p:nvSpPr>
        <p:spPr>
          <a:xfrm rot="2647068">
            <a:off x="1867861" y="3350573"/>
            <a:ext cx="252000" cy="252000"/>
          </a:xfrm>
          <a:prstGeom prst="plus">
            <a:avLst>
              <a:gd name="adj" fmla="val 43221"/>
            </a:avLst>
          </a:prstGeom>
          <a:solidFill>
            <a:schemeClr val="accent1">
              <a:lumMod val="50000"/>
              <a:lumOff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7" name="円: 塗りつぶしなし 56">
            <a:extLst>
              <a:ext uri="{FF2B5EF4-FFF2-40B4-BE49-F238E27FC236}">
                <a16:creationId xmlns:a16="http://schemas.microsoft.com/office/drawing/2014/main" id="{FEC1898B-4009-ED09-E32D-43EA95FC3B39}"/>
              </a:ext>
            </a:extLst>
          </p:cNvPr>
          <p:cNvSpPr/>
          <p:nvPr/>
        </p:nvSpPr>
        <p:spPr>
          <a:xfrm>
            <a:off x="1280743" y="3800121"/>
            <a:ext cx="252000" cy="252000"/>
          </a:xfrm>
          <a:prstGeom prst="donut">
            <a:avLst>
              <a:gd name="adj" fmla="val 12477"/>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9" name="円: 塗りつぶしなし 58">
            <a:extLst>
              <a:ext uri="{FF2B5EF4-FFF2-40B4-BE49-F238E27FC236}">
                <a16:creationId xmlns:a16="http://schemas.microsoft.com/office/drawing/2014/main" id="{C51A7A16-AA63-BC1A-06AD-3B4134852B23}"/>
              </a:ext>
            </a:extLst>
          </p:cNvPr>
          <p:cNvSpPr/>
          <p:nvPr/>
        </p:nvSpPr>
        <p:spPr>
          <a:xfrm>
            <a:off x="1280743" y="4219104"/>
            <a:ext cx="252000" cy="252000"/>
          </a:xfrm>
          <a:prstGeom prst="donut">
            <a:avLst>
              <a:gd name="adj" fmla="val 12477"/>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1" name="円: 塗りつぶしなし 60">
            <a:extLst>
              <a:ext uri="{FF2B5EF4-FFF2-40B4-BE49-F238E27FC236}">
                <a16:creationId xmlns:a16="http://schemas.microsoft.com/office/drawing/2014/main" id="{C1C269BD-5DF7-AF6B-5E3F-8EC3FC411082}"/>
              </a:ext>
            </a:extLst>
          </p:cNvPr>
          <p:cNvSpPr/>
          <p:nvPr/>
        </p:nvSpPr>
        <p:spPr>
          <a:xfrm>
            <a:off x="1280743" y="4630595"/>
            <a:ext cx="252000" cy="252000"/>
          </a:xfrm>
          <a:prstGeom prst="donut">
            <a:avLst>
              <a:gd name="adj" fmla="val 12477"/>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2" name="十字形 61">
            <a:extLst>
              <a:ext uri="{FF2B5EF4-FFF2-40B4-BE49-F238E27FC236}">
                <a16:creationId xmlns:a16="http://schemas.microsoft.com/office/drawing/2014/main" id="{DCAFD2AE-AE96-955B-CDE6-DB8C78D88ED1}"/>
              </a:ext>
            </a:extLst>
          </p:cNvPr>
          <p:cNvSpPr/>
          <p:nvPr/>
        </p:nvSpPr>
        <p:spPr>
          <a:xfrm rot="2647068">
            <a:off x="1867861" y="4618275"/>
            <a:ext cx="252000" cy="252000"/>
          </a:xfrm>
          <a:prstGeom prst="plus">
            <a:avLst>
              <a:gd name="adj" fmla="val 43221"/>
            </a:avLst>
          </a:prstGeom>
          <a:solidFill>
            <a:schemeClr val="accent1">
              <a:lumMod val="50000"/>
              <a:lumOff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3" name="円: 塗りつぶしなし 62">
            <a:extLst>
              <a:ext uri="{FF2B5EF4-FFF2-40B4-BE49-F238E27FC236}">
                <a16:creationId xmlns:a16="http://schemas.microsoft.com/office/drawing/2014/main" id="{1CAAAEDD-7398-D261-55D9-D71699E51D65}"/>
              </a:ext>
            </a:extLst>
          </p:cNvPr>
          <p:cNvSpPr/>
          <p:nvPr/>
        </p:nvSpPr>
        <p:spPr>
          <a:xfrm>
            <a:off x="1280743" y="5051823"/>
            <a:ext cx="252000" cy="252000"/>
          </a:xfrm>
          <a:prstGeom prst="donut">
            <a:avLst>
              <a:gd name="adj" fmla="val 12477"/>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5" name="円: 塗りつぶしなし 64">
            <a:extLst>
              <a:ext uri="{FF2B5EF4-FFF2-40B4-BE49-F238E27FC236}">
                <a16:creationId xmlns:a16="http://schemas.microsoft.com/office/drawing/2014/main" id="{80A7B216-7519-01BE-DCA6-F738425B986A}"/>
              </a:ext>
            </a:extLst>
          </p:cNvPr>
          <p:cNvSpPr/>
          <p:nvPr/>
        </p:nvSpPr>
        <p:spPr>
          <a:xfrm>
            <a:off x="1867861" y="3803797"/>
            <a:ext cx="252000" cy="252000"/>
          </a:xfrm>
          <a:prstGeom prst="donut">
            <a:avLst>
              <a:gd name="adj" fmla="val 12477"/>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7" name="円: 塗りつぶしなし 66">
            <a:extLst>
              <a:ext uri="{FF2B5EF4-FFF2-40B4-BE49-F238E27FC236}">
                <a16:creationId xmlns:a16="http://schemas.microsoft.com/office/drawing/2014/main" id="{34CF4B7D-4830-9E18-A67B-8BBD1BB27FF1}"/>
              </a:ext>
            </a:extLst>
          </p:cNvPr>
          <p:cNvSpPr/>
          <p:nvPr/>
        </p:nvSpPr>
        <p:spPr>
          <a:xfrm>
            <a:off x="1867861" y="4219104"/>
            <a:ext cx="252000" cy="252000"/>
          </a:xfrm>
          <a:prstGeom prst="donut">
            <a:avLst>
              <a:gd name="adj" fmla="val 12477"/>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8" name="円: 塗りつぶしなし 67">
            <a:extLst>
              <a:ext uri="{FF2B5EF4-FFF2-40B4-BE49-F238E27FC236}">
                <a16:creationId xmlns:a16="http://schemas.microsoft.com/office/drawing/2014/main" id="{11502D6B-FA39-7792-E74E-88656ED39F79}"/>
              </a:ext>
            </a:extLst>
          </p:cNvPr>
          <p:cNvSpPr/>
          <p:nvPr/>
        </p:nvSpPr>
        <p:spPr>
          <a:xfrm>
            <a:off x="1867861" y="5051823"/>
            <a:ext cx="252000" cy="252000"/>
          </a:xfrm>
          <a:prstGeom prst="donut">
            <a:avLst>
              <a:gd name="adj" fmla="val 12477"/>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93" name="テキスト ボックス 92">
            <a:extLst>
              <a:ext uri="{FF2B5EF4-FFF2-40B4-BE49-F238E27FC236}">
                <a16:creationId xmlns:a16="http://schemas.microsoft.com/office/drawing/2014/main" id="{51A11A4C-483F-F30B-B40A-E3CF83451F0F}"/>
              </a:ext>
            </a:extLst>
          </p:cNvPr>
          <p:cNvSpPr txBox="1"/>
          <p:nvPr/>
        </p:nvSpPr>
        <p:spPr>
          <a:xfrm>
            <a:off x="2585764" y="2981621"/>
            <a:ext cx="3036520" cy="482840"/>
          </a:xfrm>
          <a:prstGeom prst="rect">
            <a:avLst/>
          </a:prstGeom>
          <a:noFill/>
        </p:spPr>
        <p:txBody>
          <a:bodyPr wrap="square" lIns="0" rIns="0" rtlCol="0" anchor="ctr">
            <a:noAutofit/>
          </a:bodyPr>
          <a:lstStyle/>
          <a:p>
            <a:pPr algn="ctr" defTabSz="288000"/>
            <a:r>
              <a:rPr kumimoji="1" lang="ja-JP" altLang="en-US" sz="1600" u="sng" dirty="0">
                <a:latin typeface="+mn-ea"/>
              </a:rPr>
              <a:t>テスト作業の流れ</a:t>
            </a:r>
          </a:p>
        </p:txBody>
      </p:sp>
      <p:sp>
        <p:nvSpPr>
          <p:cNvPr id="13" name="四角形: 角を丸くする 12">
            <a:extLst>
              <a:ext uri="{FF2B5EF4-FFF2-40B4-BE49-F238E27FC236}">
                <a16:creationId xmlns:a16="http://schemas.microsoft.com/office/drawing/2014/main" id="{BEA68915-FD50-6167-76CF-D64D4B1B94BC}"/>
              </a:ext>
            </a:extLst>
          </p:cNvPr>
          <p:cNvSpPr/>
          <p:nvPr/>
        </p:nvSpPr>
        <p:spPr>
          <a:xfrm>
            <a:off x="2904144" y="3482966"/>
            <a:ext cx="2400300" cy="373789"/>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rPr>
              <a:t>テストの計画</a:t>
            </a:r>
            <a:endParaRPr kumimoji="1" lang="ja-JP" altLang="en-US" sz="1400" dirty="0">
              <a:solidFill>
                <a:schemeClr val="bg1"/>
              </a:solidFill>
            </a:endParaRPr>
          </a:p>
        </p:txBody>
      </p:sp>
      <p:cxnSp>
        <p:nvCxnSpPr>
          <p:cNvPr id="15" name="直線矢印コネクタ 14">
            <a:extLst>
              <a:ext uri="{FF2B5EF4-FFF2-40B4-BE49-F238E27FC236}">
                <a16:creationId xmlns:a16="http://schemas.microsoft.com/office/drawing/2014/main" id="{939A1BA8-48E0-C756-9EB2-D093DB0B17EB}"/>
              </a:ext>
            </a:extLst>
          </p:cNvPr>
          <p:cNvCxnSpPr>
            <a:cxnSpLocks/>
            <a:stCxn id="13" idx="2"/>
          </p:cNvCxnSpPr>
          <p:nvPr/>
        </p:nvCxnSpPr>
        <p:spPr>
          <a:xfrm>
            <a:off x="4104294" y="3856755"/>
            <a:ext cx="0" cy="40402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四角形: 角を丸くする 15">
            <a:extLst>
              <a:ext uri="{FF2B5EF4-FFF2-40B4-BE49-F238E27FC236}">
                <a16:creationId xmlns:a16="http://schemas.microsoft.com/office/drawing/2014/main" id="{A02979BB-9B51-C98D-4C2A-44AB434B1A77}"/>
              </a:ext>
            </a:extLst>
          </p:cNvPr>
          <p:cNvSpPr/>
          <p:nvPr/>
        </p:nvSpPr>
        <p:spPr>
          <a:xfrm>
            <a:off x="2904144" y="4220442"/>
            <a:ext cx="2400300" cy="373789"/>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テストの実施</a:t>
            </a:r>
          </a:p>
        </p:txBody>
      </p:sp>
      <p:sp>
        <p:nvSpPr>
          <p:cNvPr id="17" name="四角形: 角を丸くする 16">
            <a:extLst>
              <a:ext uri="{FF2B5EF4-FFF2-40B4-BE49-F238E27FC236}">
                <a16:creationId xmlns:a16="http://schemas.microsoft.com/office/drawing/2014/main" id="{D123A1EA-9CBE-442A-B834-9CA32BFA4EB9}"/>
              </a:ext>
            </a:extLst>
          </p:cNvPr>
          <p:cNvSpPr/>
          <p:nvPr/>
        </p:nvSpPr>
        <p:spPr>
          <a:xfrm>
            <a:off x="2912034" y="4957918"/>
            <a:ext cx="2400300" cy="373789"/>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結果の分析</a:t>
            </a:r>
          </a:p>
        </p:txBody>
      </p:sp>
      <p:cxnSp>
        <p:nvCxnSpPr>
          <p:cNvPr id="19" name="直線矢印コネクタ 18">
            <a:extLst>
              <a:ext uri="{FF2B5EF4-FFF2-40B4-BE49-F238E27FC236}">
                <a16:creationId xmlns:a16="http://schemas.microsoft.com/office/drawing/2014/main" id="{CC79F839-7BEA-7B81-E45E-7A6C42FC2177}"/>
              </a:ext>
            </a:extLst>
          </p:cNvPr>
          <p:cNvCxnSpPr>
            <a:cxnSpLocks/>
            <a:stCxn id="16" idx="2"/>
            <a:endCxn id="17" idx="0"/>
          </p:cNvCxnSpPr>
          <p:nvPr/>
        </p:nvCxnSpPr>
        <p:spPr>
          <a:xfrm>
            <a:off x="4104294" y="4594231"/>
            <a:ext cx="7890" cy="363687"/>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0" name="コネクタ: カギ線 39">
            <a:extLst>
              <a:ext uri="{FF2B5EF4-FFF2-40B4-BE49-F238E27FC236}">
                <a16:creationId xmlns:a16="http://schemas.microsoft.com/office/drawing/2014/main" id="{6D130E6B-884B-CFAA-63C2-623C3959EDA5}"/>
              </a:ext>
            </a:extLst>
          </p:cNvPr>
          <p:cNvCxnSpPr>
            <a:stCxn id="17" idx="3"/>
            <a:endCxn id="13" idx="3"/>
          </p:cNvCxnSpPr>
          <p:nvPr/>
        </p:nvCxnSpPr>
        <p:spPr>
          <a:xfrm flipH="1" flipV="1">
            <a:off x="5304444" y="3669861"/>
            <a:ext cx="7890" cy="1474952"/>
          </a:xfrm>
          <a:prstGeom prst="bentConnector3">
            <a:avLst>
              <a:gd name="adj1" fmla="val -2897338"/>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4773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41F0F-8E27-879C-EEDC-E71FC40195E7}"/>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BFC2D72-C3F6-0F48-AAA1-7B7228C89DD7}"/>
              </a:ext>
            </a:extLst>
          </p:cNvPr>
          <p:cNvSpPr/>
          <p:nvPr/>
        </p:nvSpPr>
        <p:spPr>
          <a:xfrm>
            <a:off x="803503" y="1938842"/>
            <a:ext cx="9000000" cy="90000"/>
          </a:xfrm>
          <a:prstGeom prst="rect">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92598EFD-BE3A-1181-5F46-519766690B2B}"/>
              </a:ext>
            </a:extLst>
          </p:cNvPr>
          <p:cNvSpPr>
            <a:spLocks noGrp="1"/>
          </p:cNvSpPr>
          <p:nvPr>
            <p:ph type="title"/>
          </p:nvPr>
        </p:nvSpPr>
        <p:spPr/>
        <p:txBody>
          <a:bodyPr/>
          <a:lstStyle/>
          <a:p>
            <a:r>
              <a:rPr kumimoji="1" lang="ja-JP" altLang="en-US" dirty="0"/>
              <a:t>目次</a:t>
            </a:r>
            <a:r>
              <a:rPr lang="ja-JP" altLang="en-US" dirty="0"/>
              <a:t>　</a:t>
            </a:r>
            <a:r>
              <a:rPr lang="en-US" altLang="ja-JP" dirty="0"/>
              <a:t>※</a:t>
            </a:r>
            <a:r>
              <a:rPr lang="ja-JP" altLang="en-US" dirty="0"/>
              <a:t>再掲</a:t>
            </a:r>
            <a:endParaRPr kumimoji="1" lang="ja-JP" altLang="en-US" dirty="0"/>
          </a:p>
        </p:txBody>
      </p:sp>
      <p:sp>
        <p:nvSpPr>
          <p:cNvPr id="10" name="テキスト ボックス 9">
            <a:extLst>
              <a:ext uri="{FF2B5EF4-FFF2-40B4-BE49-F238E27FC236}">
                <a16:creationId xmlns:a16="http://schemas.microsoft.com/office/drawing/2014/main" id="{CDE18FFF-5EBD-363E-3DAA-CF808A882363}"/>
              </a:ext>
            </a:extLst>
          </p:cNvPr>
          <p:cNvSpPr txBox="1"/>
          <p:nvPr/>
        </p:nvSpPr>
        <p:spPr>
          <a:xfrm>
            <a:off x="803503" y="1315875"/>
            <a:ext cx="710292" cy="712967"/>
          </a:xfrm>
          <a:prstGeom prst="rect">
            <a:avLst/>
          </a:prstGeom>
          <a:solidFill>
            <a:schemeClr val="bg1">
              <a:lumMod val="75000"/>
            </a:schemeClr>
          </a:solidFill>
        </p:spPr>
        <p:txBody>
          <a:bodyPr wrap="square" lIns="0" rIns="0" rtlCol="0" anchor="ctr">
            <a:noAutofit/>
          </a:bodyPr>
          <a:lstStyle/>
          <a:p>
            <a:pPr algn="ctr" defTabSz="288000"/>
            <a:r>
              <a:rPr kumimoji="1" lang="en-US" altLang="ja-JP" sz="3600" b="1" dirty="0">
                <a:solidFill>
                  <a:schemeClr val="bg1"/>
                </a:solidFill>
                <a:latin typeface="+mn-ea"/>
              </a:rPr>
              <a:t>1</a:t>
            </a:r>
            <a:endParaRPr kumimoji="1" lang="ja-JP" altLang="en-US" sz="3600" b="1" dirty="0">
              <a:solidFill>
                <a:schemeClr val="bg1"/>
              </a:solidFill>
              <a:latin typeface="+mn-ea"/>
            </a:endParaRPr>
          </a:p>
        </p:txBody>
      </p:sp>
      <p:sp>
        <p:nvSpPr>
          <p:cNvPr id="12" name="コンテンツ プレースホルダー 2">
            <a:extLst>
              <a:ext uri="{FF2B5EF4-FFF2-40B4-BE49-F238E27FC236}">
                <a16:creationId xmlns:a16="http://schemas.microsoft.com/office/drawing/2014/main" id="{E945E41A-D394-67B0-360B-C9C1F5FAA72E}"/>
              </a:ext>
            </a:extLst>
          </p:cNvPr>
          <p:cNvSpPr txBox="1">
            <a:spLocks/>
          </p:cNvSpPr>
          <p:nvPr/>
        </p:nvSpPr>
        <p:spPr>
          <a:xfrm>
            <a:off x="1722664" y="1431995"/>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800" b="1" dirty="0">
                <a:solidFill>
                  <a:schemeClr val="bg1">
                    <a:lumMod val="75000"/>
                  </a:schemeClr>
                </a:solidFill>
              </a:rPr>
              <a:t>システム開発における</a:t>
            </a:r>
            <a:r>
              <a:rPr lang="en-US" altLang="ja-JP" sz="2800" b="1" dirty="0">
                <a:solidFill>
                  <a:schemeClr val="bg1">
                    <a:lumMod val="75000"/>
                  </a:schemeClr>
                </a:solidFill>
              </a:rPr>
              <a:t>“</a:t>
            </a:r>
            <a:r>
              <a:rPr lang="ja-JP" altLang="en-US" sz="2800" b="1" dirty="0">
                <a:solidFill>
                  <a:schemeClr val="bg1">
                    <a:lumMod val="75000"/>
                  </a:schemeClr>
                </a:solidFill>
              </a:rPr>
              <a:t>テスト</a:t>
            </a:r>
            <a:r>
              <a:rPr lang="en-US" altLang="ja-JP" sz="2800" b="1" dirty="0">
                <a:solidFill>
                  <a:schemeClr val="bg1">
                    <a:lumMod val="75000"/>
                  </a:schemeClr>
                </a:solidFill>
              </a:rPr>
              <a:t>”</a:t>
            </a:r>
          </a:p>
        </p:txBody>
      </p:sp>
      <p:sp>
        <p:nvSpPr>
          <p:cNvPr id="4" name="テキスト ボックス 3">
            <a:extLst>
              <a:ext uri="{FF2B5EF4-FFF2-40B4-BE49-F238E27FC236}">
                <a16:creationId xmlns:a16="http://schemas.microsoft.com/office/drawing/2014/main" id="{EECB4861-8C0D-5BAC-12B0-369BBB9937EE}"/>
              </a:ext>
            </a:extLst>
          </p:cNvPr>
          <p:cNvSpPr txBox="1"/>
          <p:nvPr/>
        </p:nvSpPr>
        <p:spPr>
          <a:xfrm>
            <a:off x="1577984" y="2071280"/>
            <a:ext cx="1026422" cy="439512"/>
          </a:xfrm>
          <a:prstGeom prst="rect">
            <a:avLst/>
          </a:prstGeom>
          <a:noFill/>
        </p:spPr>
        <p:txBody>
          <a:bodyPr wrap="square" lIns="0" rIns="0" rtlCol="0" anchor="ctr">
            <a:noAutofit/>
          </a:bodyPr>
          <a:lstStyle/>
          <a:p>
            <a:pPr algn="ctr" defTabSz="288000"/>
            <a:r>
              <a:rPr lang="en-US" altLang="ja-JP" sz="2400" b="1" dirty="0">
                <a:solidFill>
                  <a:schemeClr val="bg1">
                    <a:lumMod val="75000"/>
                  </a:schemeClr>
                </a:solidFill>
                <a:latin typeface="+mn-ea"/>
              </a:rPr>
              <a:t>1-1</a:t>
            </a:r>
            <a:endParaRPr kumimoji="1" lang="ja-JP" altLang="en-US" sz="2400" b="1" dirty="0">
              <a:solidFill>
                <a:schemeClr val="bg1">
                  <a:lumMod val="75000"/>
                </a:schemeClr>
              </a:solidFill>
              <a:latin typeface="+mn-ea"/>
            </a:endParaRPr>
          </a:p>
        </p:txBody>
      </p:sp>
      <p:sp>
        <p:nvSpPr>
          <p:cNvPr id="5" name="コンテンツ プレースホルダー 2">
            <a:extLst>
              <a:ext uri="{FF2B5EF4-FFF2-40B4-BE49-F238E27FC236}">
                <a16:creationId xmlns:a16="http://schemas.microsoft.com/office/drawing/2014/main" id="{758DDA79-A355-22E0-5744-327CFFDBD0D2}"/>
              </a:ext>
            </a:extLst>
          </p:cNvPr>
          <p:cNvSpPr txBox="1">
            <a:spLocks/>
          </p:cNvSpPr>
          <p:nvPr/>
        </p:nvSpPr>
        <p:spPr>
          <a:xfrm>
            <a:off x="2604406" y="2018454"/>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bg1">
                    <a:lumMod val="75000"/>
                  </a:schemeClr>
                </a:solidFill>
              </a:rPr>
              <a:t>テストとは</a:t>
            </a:r>
            <a:endParaRPr lang="en-US" altLang="ja-JP" sz="2000" b="1" dirty="0">
              <a:solidFill>
                <a:schemeClr val="bg1">
                  <a:lumMod val="75000"/>
                </a:schemeClr>
              </a:solidFill>
            </a:endParaRPr>
          </a:p>
        </p:txBody>
      </p:sp>
      <p:sp>
        <p:nvSpPr>
          <p:cNvPr id="11" name="正方形/長方形 10">
            <a:extLst>
              <a:ext uri="{FF2B5EF4-FFF2-40B4-BE49-F238E27FC236}">
                <a16:creationId xmlns:a16="http://schemas.microsoft.com/office/drawing/2014/main" id="{CD440190-82E4-56EE-688C-42F0407139AE}"/>
              </a:ext>
            </a:extLst>
          </p:cNvPr>
          <p:cNvSpPr/>
          <p:nvPr/>
        </p:nvSpPr>
        <p:spPr>
          <a:xfrm>
            <a:off x="804184" y="4137865"/>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3" name="テキスト ボックス 12">
            <a:extLst>
              <a:ext uri="{FF2B5EF4-FFF2-40B4-BE49-F238E27FC236}">
                <a16:creationId xmlns:a16="http://schemas.microsoft.com/office/drawing/2014/main" id="{B7C10840-73C7-85C7-0FC3-61F0C7158CC2}"/>
              </a:ext>
            </a:extLst>
          </p:cNvPr>
          <p:cNvSpPr txBox="1"/>
          <p:nvPr/>
        </p:nvSpPr>
        <p:spPr>
          <a:xfrm>
            <a:off x="804184" y="3514898"/>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dirty="0">
                <a:solidFill>
                  <a:schemeClr val="bg1"/>
                </a:solidFill>
                <a:latin typeface="+mn-ea"/>
              </a:rPr>
              <a:t>2</a:t>
            </a:r>
            <a:endParaRPr kumimoji="1" lang="ja-JP" altLang="en-US" sz="3600" b="1" dirty="0">
              <a:solidFill>
                <a:schemeClr val="bg1"/>
              </a:solidFill>
              <a:latin typeface="+mn-ea"/>
            </a:endParaRPr>
          </a:p>
        </p:txBody>
      </p:sp>
      <p:sp>
        <p:nvSpPr>
          <p:cNvPr id="14" name="コンテンツ プレースホルダー 2">
            <a:extLst>
              <a:ext uri="{FF2B5EF4-FFF2-40B4-BE49-F238E27FC236}">
                <a16:creationId xmlns:a16="http://schemas.microsoft.com/office/drawing/2014/main" id="{565882F7-C8D9-6EE5-BBC2-BD4AF03A09E5}"/>
              </a:ext>
            </a:extLst>
          </p:cNvPr>
          <p:cNvSpPr txBox="1">
            <a:spLocks/>
          </p:cNvSpPr>
          <p:nvPr/>
        </p:nvSpPr>
        <p:spPr>
          <a:xfrm>
            <a:off x="1723345" y="3631018"/>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800" b="1" dirty="0">
                <a:solidFill>
                  <a:schemeClr val="tx1"/>
                </a:solidFill>
              </a:rPr>
              <a:t>単体テスト</a:t>
            </a:r>
            <a:endParaRPr lang="en-US" altLang="ja-JP" sz="2800" b="1" dirty="0">
              <a:solidFill>
                <a:schemeClr val="tx1"/>
              </a:solidFill>
            </a:endParaRPr>
          </a:p>
        </p:txBody>
      </p:sp>
      <p:sp>
        <p:nvSpPr>
          <p:cNvPr id="23" name="テキスト ボックス 22">
            <a:extLst>
              <a:ext uri="{FF2B5EF4-FFF2-40B4-BE49-F238E27FC236}">
                <a16:creationId xmlns:a16="http://schemas.microsoft.com/office/drawing/2014/main" id="{FE4E2A6B-E2CD-4CE7-9BCB-0B79AC04F169}"/>
              </a:ext>
            </a:extLst>
          </p:cNvPr>
          <p:cNvSpPr txBox="1"/>
          <p:nvPr/>
        </p:nvSpPr>
        <p:spPr>
          <a:xfrm>
            <a:off x="1574817" y="4296143"/>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2-1</a:t>
            </a:r>
            <a:endParaRPr kumimoji="1" lang="ja-JP" altLang="en-US" sz="2400" b="1" dirty="0">
              <a:solidFill>
                <a:schemeClr val="accent2"/>
              </a:solidFill>
              <a:latin typeface="+mn-ea"/>
            </a:endParaRPr>
          </a:p>
        </p:txBody>
      </p:sp>
      <p:sp>
        <p:nvSpPr>
          <p:cNvPr id="24" name="コンテンツ プレースホルダー 2">
            <a:extLst>
              <a:ext uri="{FF2B5EF4-FFF2-40B4-BE49-F238E27FC236}">
                <a16:creationId xmlns:a16="http://schemas.microsoft.com/office/drawing/2014/main" id="{4368C21B-06BF-AF8C-009A-5B2A4D1481E8}"/>
              </a:ext>
            </a:extLst>
          </p:cNvPr>
          <p:cNvSpPr txBox="1">
            <a:spLocks/>
          </p:cNvSpPr>
          <p:nvPr/>
        </p:nvSpPr>
        <p:spPr>
          <a:xfrm>
            <a:off x="2601239" y="4243317"/>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tx1"/>
                </a:solidFill>
              </a:rPr>
              <a:t>単体テストとは</a:t>
            </a:r>
            <a:endParaRPr lang="en-US" altLang="ja-JP" sz="2000" b="1" dirty="0">
              <a:solidFill>
                <a:schemeClr val="tx1"/>
              </a:solidFill>
            </a:endParaRPr>
          </a:p>
        </p:txBody>
      </p:sp>
      <p:sp>
        <p:nvSpPr>
          <p:cNvPr id="25" name="テキスト ボックス 24">
            <a:extLst>
              <a:ext uri="{FF2B5EF4-FFF2-40B4-BE49-F238E27FC236}">
                <a16:creationId xmlns:a16="http://schemas.microsoft.com/office/drawing/2014/main" id="{7993FD94-BB3B-54E5-66D4-F9A259601476}"/>
              </a:ext>
            </a:extLst>
          </p:cNvPr>
          <p:cNvSpPr txBox="1"/>
          <p:nvPr/>
        </p:nvSpPr>
        <p:spPr>
          <a:xfrm>
            <a:off x="1577984" y="4767733"/>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2-2</a:t>
            </a:r>
            <a:endParaRPr kumimoji="1" lang="ja-JP" altLang="en-US" sz="2400" b="1" dirty="0">
              <a:solidFill>
                <a:schemeClr val="accent2"/>
              </a:solidFill>
              <a:latin typeface="+mn-ea"/>
            </a:endParaRPr>
          </a:p>
        </p:txBody>
      </p:sp>
      <p:sp>
        <p:nvSpPr>
          <p:cNvPr id="26" name="コンテンツ プレースホルダー 2">
            <a:extLst>
              <a:ext uri="{FF2B5EF4-FFF2-40B4-BE49-F238E27FC236}">
                <a16:creationId xmlns:a16="http://schemas.microsoft.com/office/drawing/2014/main" id="{FD3049E4-F3E3-8094-6BF6-5D00ECF133BF}"/>
              </a:ext>
            </a:extLst>
          </p:cNvPr>
          <p:cNvSpPr txBox="1">
            <a:spLocks/>
          </p:cNvSpPr>
          <p:nvPr/>
        </p:nvSpPr>
        <p:spPr>
          <a:xfrm>
            <a:off x="2604406" y="4706517"/>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dirty="0">
                <a:solidFill>
                  <a:schemeClr val="tx1"/>
                </a:solidFill>
              </a:rPr>
              <a:t>JUnit</a:t>
            </a:r>
          </a:p>
        </p:txBody>
      </p:sp>
      <p:pic>
        <p:nvPicPr>
          <p:cNvPr id="3" name="グラフィックス 2" descr="バッジ: チェックマーク 1 単色塗りつぶし">
            <a:extLst>
              <a:ext uri="{FF2B5EF4-FFF2-40B4-BE49-F238E27FC236}">
                <a16:creationId xmlns:a16="http://schemas.microsoft.com/office/drawing/2014/main" id="{93BD6C67-3E2C-A83F-6333-1E586217ADE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95017" y="2057036"/>
            <a:ext cx="468000" cy="468000"/>
          </a:xfrm>
          <a:prstGeom prst="rect">
            <a:avLst/>
          </a:prstGeom>
        </p:spPr>
      </p:pic>
      <p:sp>
        <p:nvSpPr>
          <p:cNvPr id="7" name="正方形/長方形 6">
            <a:extLst>
              <a:ext uri="{FF2B5EF4-FFF2-40B4-BE49-F238E27FC236}">
                <a16:creationId xmlns:a16="http://schemas.microsoft.com/office/drawing/2014/main" id="{1CC3BD86-9931-4FF5-F9B1-D6614C8A192D}"/>
              </a:ext>
            </a:extLst>
          </p:cNvPr>
          <p:cNvSpPr/>
          <p:nvPr/>
        </p:nvSpPr>
        <p:spPr>
          <a:xfrm flipV="1">
            <a:off x="1546834" y="4296143"/>
            <a:ext cx="8256669" cy="439512"/>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Tree>
    <p:extLst>
      <p:ext uri="{BB962C8B-B14F-4D97-AF65-F5344CB8AC3E}">
        <p14:creationId xmlns:p14="http://schemas.microsoft.com/office/powerpoint/2010/main" val="2270727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4EED5-E020-A692-F77D-EB7740280B4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9A000D-3E9D-4B20-7AD3-BA38AE8272FC}"/>
              </a:ext>
            </a:extLst>
          </p:cNvPr>
          <p:cNvSpPr>
            <a:spLocks noGrp="1"/>
          </p:cNvSpPr>
          <p:nvPr>
            <p:ph type="title"/>
          </p:nvPr>
        </p:nvSpPr>
        <p:spPr/>
        <p:txBody>
          <a:bodyPr anchor="ctr"/>
          <a:lstStyle/>
          <a:p>
            <a:r>
              <a:rPr lang="ja-JP" altLang="en-US" dirty="0"/>
              <a:t>単体テスト（</a:t>
            </a:r>
            <a:r>
              <a:rPr lang="en-US" altLang="ja-JP" dirty="0"/>
              <a:t>Unit Test</a:t>
            </a:r>
            <a:r>
              <a:rPr lang="ja-JP" altLang="en-US" dirty="0"/>
              <a:t>）とは</a:t>
            </a:r>
            <a:endParaRPr kumimoji="1" lang="ja-JP" altLang="en-US" dirty="0"/>
          </a:p>
        </p:txBody>
      </p:sp>
      <p:sp>
        <p:nvSpPr>
          <p:cNvPr id="3" name="コンテンツ プレースホルダー 2">
            <a:extLst>
              <a:ext uri="{FF2B5EF4-FFF2-40B4-BE49-F238E27FC236}">
                <a16:creationId xmlns:a16="http://schemas.microsoft.com/office/drawing/2014/main" id="{4D4E589F-7483-FF96-F1F5-0A06DB0022EF}"/>
              </a:ext>
            </a:extLst>
          </p:cNvPr>
          <p:cNvSpPr>
            <a:spLocks noGrp="1"/>
          </p:cNvSpPr>
          <p:nvPr>
            <p:ph sz="quarter" idx="4294967295"/>
          </p:nvPr>
        </p:nvSpPr>
        <p:spPr>
          <a:xfrm>
            <a:off x="574158" y="1692779"/>
            <a:ext cx="8888819" cy="1253386"/>
          </a:xfrm>
        </p:spPr>
        <p:txBody>
          <a:bodyPr anchor="ctr"/>
          <a:lstStyle/>
          <a:p>
            <a:r>
              <a:rPr lang="ja-JP" altLang="en-US" dirty="0"/>
              <a:t>　　　</a:t>
            </a:r>
            <a:r>
              <a:rPr lang="en-US" altLang="ja-JP" dirty="0"/>
              <a:t>(1) </a:t>
            </a:r>
            <a:r>
              <a:rPr lang="ja-JP" altLang="en-US" dirty="0"/>
              <a:t>少量のコードを１単位（１ユニット）として、コードを検証する</a:t>
            </a:r>
            <a:endParaRPr lang="en-US" altLang="ja-JP" dirty="0"/>
          </a:p>
          <a:p>
            <a:r>
              <a:rPr lang="en-US" altLang="ja-JP" dirty="0"/>
              <a:t>	</a:t>
            </a:r>
            <a:r>
              <a:rPr lang="ja-JP" altLang="en-US" dirty="0"/>
              <a:t>　</a:t>
            </a:r>
            <a:r>
              <a:rPr lang="en-US" altLang="ja-JP" dirty="0"/>
              <a:t>(2) </a:t>
            </a:r>
            <a:r>
              <a:rPr lang="ja-JP" altLang="en-US" dirty="0"/>
              <a:t>実行時間が短い</a:t>
            </a:r>
            <a:endParaRPr lang="en-US" altLang="ja-JP" dirty="0"/>
          </a:p>
          <a:p>
            <a:r>
              <a:rPr kumimoji="1" lang="en-US" altLang="ja-JP" dirty="0"/>
              <a:t>	</a:t>
            </a:r>
            <a:r>
              <a:rPr kumimoji="1" lang="ja-JP" altLang="en-US" dirty="0"/>
              <a:t>　</a:t>
            </a:r>
            <a:r>
              <a:rPr lang="en-US" altLang="ja-JP" dirty="0"/>
              <a:t>(3) </a:t>
            </a:r>
            <a:r>
              <a:rPr kumimoji="1" lang="ja-JP" altLang="en-US" dirty="0"/>
              <a:t>隔離された状態で実行される</a:t>
            </a:r>
            <a:endParaRPr kumimoji="1" lang="en-US" altLang="ja-JP" dirty="0"/>
          </a:p>
        </p:txBody>
      </p:sp>
      <p:sp>
        <p:nvSpPr>
          <p:cNvPr id="19" name="四角形: 角を丸くする 18">
            <a:extLst>
              <a:ext uri="{FF2B5EF4-FFF2-40B4-BE49-F238E27FC236}">
                <a16:creationId xmlns:a16="http://schemas.microsoft.com/office/drawing/2014/main" id="{8CC39F6D-5506-3E6B-3B9C-06946A4E90E3}"/>
              </a:ext>
            </a:extLst>
          </p:cNvPr>
          <p:cNvSpPr/>
          <p:nvPr/>
        </p:nvSpPr>
        <p:spPr>
          <a:xfrm>
            <a:off x="574158" y="1621328"/>
            <a:ext cx="10696354" cy="1385631"/>
          </a:xfrm>
          <a:prstGeom prst="roundRect">
            <a:avLst>
              <a:gd name="adj" fmla="val 7459"/>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四角形: 角を丸くする 17">
            <a:extLst>
              <a:ext uri="{FF2B5EF4-FFF2-40B4-BE49-F238E27FC236}">
                <a16:creationId xmlns:a16="http://schemas.microsoft.com/office/drawing/2014/main" id="{332DF93F-19B0-D588-A0E8-EBB8EC6A6181}"/>
              </a:ext>
            </a:extLst>
          </p:cNvPr>
          <p:cNvSpPr/>
          <p:nvPr/>
        </p:nvSpPr>
        <p:spPr>
          <a:xfrm>
            <a:off x="371474" y="1408421"/>
            <a:ext cx="936331" cy="396000"/>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定義</a:t>
            </a:r>
          </a:p>
        </p:txBody>
      </p:sp>
      <p:sp>
        <p:nvSpPr>
          <p:cNvPr id="21" name="テキスト ボックス 20">
            <a:extLst>
              <a:ext uri="{FF2B5EF4-FFF2-40B4-BE49-F238E27FC236}">
                <a16:creationId xmlns:a16="http://schemas.microsoft.com/office/drawing/2014/main" id="{0BA1777A-4074-A4B6-D186-6C842447C9ED}"/>
              </a:ext>
            </a:extLst>
          </p:cNvPr>
          <p:cNvSpPr txBox="1"/>
          <p:nvPr/>
        </p:nvSpPr>
        <p:spPr>
          <a:xfrm>
            <a:off x="839639" y="3128263"/>
            <a:ext cx="6321056" cy="2585323"/>
          </a:xfrm>
          <a:prstGeom prst="rect">
            <a:avLst/>
          </a:prstGeom>
          <a:noFill/>
        </p:spPr>
        <p:txBody>
          <a:bodyPr wrap="square">
            <a:spAutoFit/>
          </a:bodyPr>
          <a:lstStyle/>
          <a:p>
            <a:r>
              <a:rPr kumimoji="1" lang="ja-JP" altLang="en-US" dirty="0"/>
              <a:t>■単体テストでのテスト設計</a:t>
            </a:r>
            <a:endParaRPr kumimoji="1" lang="en-US" altLang="ja-JP" dirty="0"/>
          </a:p>
          <a:p>
            <a:endParaRPr lang="en-US" altLang="ja-JP" dirty="0"/>
          </a:p>
          <a:p>
            <a:r>
              <a:rPr kumimoji="1" lang="ja-JP" altLang="en-US" dirty="0"/>
              <a:t>■単体テストで用いられるテスト技法</a:t>
            </a:r>
            <a:endParaRPr kumimoji="1" lang="en-US" altLang="ja-JP" dirty="0"/>
          </a:p>
          <a:p>
            <a:r>
              <a:rPr lang="ja-JP" altLang="en-US" dirty="0"/>
              <a:t>　　</a:t>
            </a:r>
            <a:r>
              <a:rPr lang="en-US" altLang="ja-JP" dirty="0"/>
              <a:t>JSTQB</a:t>
            </a:r>
            <a:r>
              <a:rPr lang="ja-JP" altLang="en-US" dirty="0"/>
              <a:t>では「テスト技法」を、以下の３つに分類している。</a:t>
            </a:r>
            <a:endParaRPr kumimoji="1" lang="en-US" altLang="ja-JP" dirty="0"/>
          </a:p>
          <a:p>
            <a:r>
              <a:rPr lang="ja-JP" altLang="en-US" dirty="0"/>
              <a:t>　　　</a:t>
            </a:r>
            <a:r>
              <a:rPr kumimoji="1" lang="ja-JP" altLang="en-US" dirty="0"/>
              <a:t>・ブラックボックステスト技法</a:t>
            </a:r>
            <a:endParaRPr kumimoji="1" lang="en-US" altLang="ja-JP" dirty="0"/>
          </a:p>
          <a:p>
            <a:r>
              <a:rPr kumimoji="1" lang="ja-JP" altLang="en-US" dirty="0"/>
              <a:t>　　　・ホワイトボックステスト技法</a:t>
            </a:r>
            <a:endParaRPr kumimoji="1" lang="en-US" altLang="ja-JP" dirty="0"/>
          </a:p>
          <a:p>
            <a:r>
              <a:rPr lang="ja-JP" altLang="en-US" dirty="0"/>
              <a:t>　　　・経験ベースのテスト技法</a:t>
            </a:r>
            <a:endParaRPr kumimoji="1" lang="en-US" altLang="ja-JP" dirty="0"/>
          </a:p>
          <a:p>
            <a:endParaRPr kumimoji="1" lang="en-US" altLang="ja-JP" dirty="0"/>
          </a:p>
          <a:p>
            <a:r>
              <a:rPr kumimoji="1" lang="ja-JP" altLang="en-US" dirty="0"/>
              <a:t>■</a:t>
            </a:r>
            <a:r>
              <a:rPr lang="ja-JP" altLang="en-US" dirty="0"/>
              <a:t>単体テストの実施方法</a:t>
            </a:r>
            <a:endParaRPr lang="en-US" altLang="ja-JP" dirty="0"/>
          </a:p>
        </p:txBody>
      </p:sp>
      <p:sp>
        <p:nvSpPr>
          <p:cNvPr id="5" name="コンテンツ プレースホルダー 2">
            <a:extLst>
              <a:ext uri="{FF2B5EF4-FFF2-40B4-BE49-F238E27FC236}">
                <a16:creationId xmlns:a16="http://schemas.microsoft.com/office/drawing/2014/main" id="{FBEC413D-3972-7F91-826F-C4D628884330}"/>
              </a:ext>
            </a:extLst>
          </p:cNvPr>
          <p:cNvSpPr txBox="1">
            <a:spLocks/>
          </p:cNvSpPr>
          <p:nvPr/>
        </p:nvSpPr>
        <p:spPr>
          <a:xfrm>
            <a:off x="371474" y="1012800"/>
            <a:ext cx="11448000" cy="258577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u="sng" dirty="0">
                <a:solidFill>
                  <a:schemeClr val="tx1"/>
                </a:solidFill>
              </a:rPr>
              <a:t>単体テスト</a:t>
            </a:r>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p:txBody>
      </p:sp>
      <p:sp>
        <p:nvSpPr>
          <p:cNvPr id="4" name="吹き出し: 角を丸めた四角形 3">
            <a:extLst>
              <a:ext uri="{FF2B5EF4-FFF2-40B4-BE49-F238E27FC236}">
                <a16:creationId xmlns:a16="http://schemas.microsoft.com/office/drawing/2014/main" id="{C52F8254-6172-B41B-247A-2D7BA37E55F4}"/>
              </a:ext>
            </a:extLst>
          </p:cNvPr>
          <p:cNvSpPr/>
          <p:nvPr/>
        </p:nvSpPr>
        <p:spPr>
          <a:xfrm>
            <a:off x="7757294" y="1712328"/>
            <a:ext cx="3816733" cy="479799"/>
          </a:xfrm>
          <a:prstGeom prst="wedgeRoundRectCallout">
            <a:avLst>
              <a:gd name="adj1" fmla="val -60394"/>
              <a:gd name="adj2" fmla="val -13343"/>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１ユニットごとにテストするから、</a:t>
            </a:r>
            <a:r>
              <a:rPr lang="en-US" altLang="ja-JP" sz="1400" dirty="0">
                <a:solidFill>
                  <a:schemeClr val="tx1"/>
                </a:solidFill>
              </a:rPr>
              <a:t>”</a:t>
            </a:r>
            <a:r>
              <a:rPr kumimoji="1" lang="ja-JP" altLang="en-US" sz="1400" dirty="0">
                <a:solidFill>
                  <a:schemeClr val="tx1"/>
                </a:solidFill>
              </a:rPr>
              <a:t>単体</a:t>
            </a:r>
            <a:r>
              <a:rPr kumimoji="1" lang="en-US" altLang="ja-JP" sz="1400" dirty="0">
                <a:solidFill>
                  <a:schemeClr val="tx1"/>
                </a:solidFill>
              </a:rPr>
              <a:t>”</a:t>
            </a:r>
            <a:r>
              <a:rPr kumimoji="1" lang="ja-JP" altLang="en-US" sz="1400" dirty="0">
                <a:solidFill>
                  <a:schemeClr val="tx1"/>
                </a:solidFill>
              </a:rPr>
              <a:t>テストと呼ぶ</a:t>
            </a:r>
          </a:p>
        </p:txBody>
      </p:sp>
    </p:spTree>
    <p:extLst>
      <p:ext uri="{BB962C8B-B14F-4D97-AF65-F5344CB8AC3E}">
        <p14:creationId xmlns:p14="http://schemas.microsoft.com/office/powerpoint/2010/main" val="756632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AA1E1-E39E-9F19-5446-3DBB2F0E037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32096A-7246-FE9A-ED5A-5C52C4D90378}"/>
              </a:ext>
            </a:extLst>
          </p:cNvPr>
          <p:cNvSpPr>
            <a:spLocks noGrp="1"/>
          </p:cNvSpPr>
          <p:nvPr>
            <p:ph type="title"/>
          </p:nvPr>
        </p:nvSpPr>
        <p:spPr/>
        <p:txBody>
          <a:bodyPr anchor="ctr"/>
          <a:lstStyle/>
          <a:p>
            <a:r>
              <a:rPr lang="ja-JP" altLang="en-US" dirty="0"/>
              <a:t>単体テスト（</a:t>
            </a:r>
            <a:r>
              <a:rPr lang="en-US" altLang="ja-JP" dirty="0"/>
              <a:t>Unit Test</a:t>
            </a:r>
            <a:r>
              <a:rPr lang="ja-JP" altLang="en-US" dirty="0"/>
              <a:t>）とは</a:t>
            </a:r>
            <a:endParaRPr kumimoji="1" lang="ja-JP" altLang="en-US" dirty="0"/>
          </a:p>
        </p:txBody>
      </p:sp>
      <p:sp>
        <p:nvSpPr>
          <p:cNvPr id="3" name="コンテンツ プレースホルダー 2">
            <a:extLst>
              <a:ext uri="{FF2B5EF4-FFF2-40B4-BE49-F238E27FC236}">
                <a16:creationId xmlns:a16="http://schemas.microsoft.com/office/drawing/2014/main" id="{94B5B967-02C5-0F40-E345-76FE3C171EF7}"/>
              </a:ext>
            </a:extLst>
          </p:cNvPr>
          <p:cNvSpPr>
            <a:spLocks noGrp="1"/>
          </p:cNvSpPr>
          <p:nvPr>
            <p:ph sz="quarter" idx="4294967295"/>
          </p:nvPr>
        </p:nvSpPr>
        <p:spPr>
          <a:xfrm>
            <a:off x="574158" y="1692779"/>
            <a:ext cx="8888819" cy="1253386"/>
          </a:xfrm>
        </p:spPr>
        <p:txBody>
          <a:bodyPr anchor="ctr"/>
          <a:lstStyle/>
          <a:p>
            <a:r>
              <a:rPr lang="ja-JP" altLang="en-US" dirty="0"/>
              <a:t>　　　</a:t>
            </a:r>
            <a:r>
              <a:rPr lang="en-US" altLang="ja-JP" dirty="0"/>
              <a:t>(1) </a:t>
            </a:r>
            <a:r>
              <a:rPr lang="ja-JP" altLang="en-US" dirty="0"/>
              <a:t>少量のコードを１単位（１ユニット）として、コードを検証する</a:t>
            </a:r>
            <a:endParaRPr lang="en-US" altLang="ja-JP" dirty="0"/>
          </a:p>
          <a:p>
            <a:r>
              <a:rPr lang="en-US" altLang="ja-JP" dirty="0"/>
              <a:t>	</a:t>
            </a:r>
            <a:r>
              <a:rPr lang="ja-JP" altLang="en-US" dirty="0"/>
              <a:t>　</a:t>
            </a:r>
            <a:r>
              <a:rPr lang="en-US" altLang="ja-JP" dirty="0"/>
              <a:t>(2) </a:t>
            </a:r>
            <a:r>
              <a:rPr lang="ja-JP" altLang="en-US" dirty="0"/>
              <a:t>実行時間が短い</a:t>
            </a:r>
            <a:endParaRPr lang="en-US" altLang="ja-JP" dirty="0"/>
          </a:p>
          <a:p>
            <a:r>
              <a:rPr kumimoji="1" lang="en-US" altLang="ja-JP" dirty="0"/>
              <a:t>	</a:t>
            </a:r>
            <a:r>
              <a:rPr kumimoji="1" lang="ja-JP" altLang="en-US" dirty="0"/>
              <a:t>　</a:t>
            </a:r>
            <a:r>
              <a:rPr lang="en-US" altLang="ja-JP" dirty="0"/>
              <a:t>(3) </a:t>
            </a:r>
            <a:r>
              <a:rPr kumimoji="1" lang="ja-JP" altLang="en-US" dirty="0"/>
              <a:t>隔離された状態で実行される</a:t>
            </a:r>
            <a:endParaRPr kumimoji="1" lang="en-US" altLang="ja-JP" dirty="0"/>
          </a:p>
        </p:txBody>
      </p:sp>
      <p:sp>
        <p:nvSpPr>
          <p:cNvPr id="19" name="四角形: 角を丸くする 18">
            <a:extLst>
              <a:ext uri="{FF2B5EF4-FFF2-40B4-BE49-F238E27FC236}">
                <a16:creationId xmlns:a16="http://schemas.microsoft.com/office/drawing/2014/main" id="{3FB18BD3-C927-467B-78F6-9D10EA72D098}"/>
              </a:ext>
            </a:extLst>
          </p:cNvPr>
          <p:cNvSpPr/>
          <p:nvPr/>
        </p:nvSpPr>
        <p:spPr>
          <a:xfrm>
            <a:off x="574158" y="1621328"/>
            <a:ext cx="10696354" cy="1385631"/>
          </a:xfrm>
          <a:prstGeom prst="roundRect">
            <a:avLst>
              <a:gd name="adj" fmla="val 7459"/>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四角形: 角を丸くする 17">
            <a:extLst>
              <a:ext uri="{FF2B5EF4-FFF2-40B4-BE49-F238E27FC236}">
                <a16:creationId xmlns:a16="http://schemas.microsoft.com/office/drawing/2014/main" id="{A819BC07-472E-80F6-48A1-8095E5F70FB6}"/>
              </a:ext>
            </a:extLst>
          </p:cNvPr>
          <p:cNvSpPr/>
          <p:nvPr/>
        </p:nvSpPr>
        <p:spPr>
          <a:xfrm>
            <a:off x="371474" y="1408421"/>
            <a:ext cx="936331" cy="396000"/>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定義</a:t>
            </a:r>
          </a:p>
        </p:txBody>
      </p:sp>
      <p:sp>
        <p:nvSpPr>
          <p:cNvPr id="21" name="テキスト ボックス 20">
            <a:extLst>
              <a:ext uri="{FF2B5EF4-FFF2-40B4-BE49-F238E27FC236}">
                <a16:creationId xmlns:a16="http://schemas.microsoft.com/office/drawing/2014/main" id="{53F67CC3-174F-9069-E499-E9334E74CD06}"/>
              </a:ext>
            </a:extLst>
          </p:cNvPr>
          <p:cNvSpPr txBox="1"/>
          <p:nvPr/>
        </p:nvSpPr>
        <p:spPr>
          <a:xfrm>
            <a:off x="839639" y="3128949"/>
            <a:ext cx="6321056" cy="2585323"/>
          </a:xfrm>
          <a:prstGeom prst="rect">
            <a:avLst/>
          </a:prstGeom>
          <a:noFill/>
        </p:spPr>
        <p:txBody>
          <a:bodyPr wrap="square">
            <a:spAutoFit/>
          </a:bodyPr>
          <a:lstStyle/>
          <a:p>
            <a:r>
              <a:rPr kumimoji="1" lang="ja-JP" altLang="en-US" dirty="0"/>
              <a:t>■単体テストでのテスト設計</a:t>
            </a:r>
            <a:endParaRPr kumimoji="1" lang="en-US" altLang="ja-JP" dirty="0"/>
          </a:p>
          <a:p>
            <a:endParaRPr lang="en-US" altLang="ja-JP" dirty="0"/>
          </a:p>
          <a:p>
            <a:r>
              <a:rPr kumimoji="1" lang="ja-JP" altLang="en-US" dirty="0">
                <a:solidFill>
                  <a:schemeClr val="bg1">
                    <a:lumMod val="75000"/>
                  </a:schemeClr>
                </a:solidFill>
              </a:rPr>
              <a:t>■単体テストで用いられるテスト技法</a:t>
            </a:r>
            <a:endParaRPr kumimoji="1" lang="en-US" altLang="ja-JP" dirty="0">
              <a:solidFill>
                <a:schemeClr val="bg1">
                  <a:lumMod val="75000"/>
                </a:schemeClr>
              </a:solidFill>
            </a:endParaRPr>
          </a:p>
          <a:p>
            <a:r>
              <a:rPr lang="ja-JP" altLang="en-US" dirty="0">
                <a:solidFill>
                  <a:schemeClr val="bg1">
                    <a:lumMod val="75000"/>
                  </a:schemeClr>
                </a:solidFill>
              </a:rPr>
              <a:t>　　</a:t>
            </a:r>
            <a:r>
              <a:rPr lang="en-US" altLang="ja-JP" dirty="0">
                <a:solidFill>
                  <a:schemeClr val="bg1">
                    <a:lumMod val="75000"/>
                  </a:schemeClr>
                </a:solidFill>
              </a:rPr>
              <a:t>JSTQB</a:t>
            </a:r>
            <a:r>
              <a:rPr lang="ja-JP" altLang="en-US" dirty="0">
                <a:solidFill>
                  <a:schemeClr val="bg1">
                    <a:lumMod val="75000"/>
                  </a:schemeClr>
                </a:solidFill>
              </a:rPr>
              <a:t>では「テスト技法」を、以下の３つに分類している。</a:t>
            </a:r>
            <a:endParaRPr kumimoji="1" lang="en-US" altLang="ja-JP" dirty="0">
              <a:solidFill>
                <a:schemeClr val="bg1">
                  <a:lumMod val="75000"/>
                </a:schemeClr>
              </a:solidFill>
            </a:endParaRPr>
          </a:p>
          <a:p>
            <a:r>
              <a:rPr lang="ja-JP" altLang="en-US" dirty="0">
                <a:solidFill>
                  <a:schemeClr val="bg1">
                    <a:lumMod val="75000"/>
                  </a:schemeClr>
                </a:solidFill>
              </a:rPr>
              <a:t>　　　</a:t>
            </a:r>
            <a:r>
              <a:rPr kumimoji="1" lang="ja-JP" altLang="en-US" dirty="0">
                <a:solidFill>
                  <a:schemeClr val="bg1">
                    <a:lumMod val="75000"/>
                  </a:schemeClr>
                </a:solidFill>
              </a:rPr>
              <a:t>・ブラックボックステスト技法</a:t>
            </a:r>
            <a:endParaRPr kumimoji="1" lang="en-US" altLang="ja-JP" dirty="0">
              <a:solidFill>
                <a:schemeClr val="bg1">
                  <a:lumMod val="75000"/>
                </a:schemeClr>
              </a:solidFill>
            </a:endParaRPr>
          </a:p>
          <a:p>
            <a:r>
              <a:rPr kumimoji="1" lang="ja-JP" altLang="en-US" dirty="0">
                <a:solidFill>
                  <a:schemeClr val="bg1">
                    <a:lumMod val="75000"/>
                  </a:schemeClr>
                </a:solidFill>
              </a:rPr>
              <a:t>　　　・ホワイトボックステスト技法</a:t>
            </a:r>
            <a:endParaRPr kumimoji="1" lang="en-US" altLang="ja-JP" dirty="0">
              <a:solidFill>
                <a:schemeClr val="bg1">
                  <a:lumMod val="75000"/>
                </a:schemeClr>
              </a:solidFill>
            </a:endParaRPr>
          </a:p>
          <a:p>
            <a:r>
              <a:rPr lang="ja-JP" altLang="en-US" dirty="0">
                <a:solidFill>
                  <a:schemeClr val="bg1">
                    <a:lumMod val="75000"/>
                  </a:schemeClr>
                </a:solidFill>
              </a:rPr>
              <a:t>　　　・経験ベースのテスト技法</a:t>
            </a:r>
            <a:endParaRPr kumimoji="1" lang="en-US" altLang="ja-JP" dirty="0">
              <a:solidFill>
                <a:schemeClr val="bg1">
                  <a:lumMod val="75000"/>
                </a:schemeClr>
              </a:solidFill>
            </a:endParaRPr>
          </a:p>
          <a:p>
            <a:endParaRPr kumimoji="1" lang="en-US" altLang="ja-JP" dirty="0">
              <a:solidFill>
                <a:schemeClr val="bg1">
                  <a:lumMod val="75000"/>
                </a:schemeClr>
              </a:solidFill>
            </a:endParaRPr>
          </a:p>
          <a:p>
            <a:r>
              <a:rPr kumimoji="1" lang="ja-JP" altLang="en-US" dirty="0">
                <a:solidFill>
                  <a:schemeClr val="bg1">
                    <a:lumMod val="75000"/>
                  </a:schemeClr>
                </a:solidFill>
              </a:rPr>
              <a:t>■</a:t>
            </a:r>
            <a:r>
              <a:rPr lang="ja-JP" altLang="en-US" dirty="0">
                <a:solidFill>
                  <a:schemeClr val="bg1">
                    <a:lumMod val="75000"/>
                  </a:schemeClr>
                </a:solidFill>
              </a:rPr>
              <a:t>単体テストの実施方法</a:t>
            </a:r>
            <a:endParaRPr lang="en-US" altLang="ja-JP" dirty="0">
              <a:solidFill>
                <a:schemeClr val="bg1">
                  <a:lumMod val="75000"/>
                </a:schemeClr>
              </a:solidFill>
            </a:endParaRPr>
          </a:p>
        </p:txBody>
      </p:sp>
      <p:sp>
        <p:nvSpPr>
          <p:cNvPr id="5" name="コンテンツ プレースホルダー 2">
            <a:extLst>
              <a:ext uri="{FF2B5EF4-FFF2-40B4-BE49-F238E27FC236}">
                <a16:creationId xmlns:a16="http://schemas.microsoft.com/office/drawing/2014/main" id="{2D3F3274-A4E3-F6A9-1992-1D027B97241A}"/>
              </a:ext>
            </a:extLst>
          </p:cNvPr>
          <p:cNvSpPr txBox="1">
            <a:spLocks/>
          </p:cNvSpPr>
          <p:nvPr/>
        </p:nvSpPr>
        <p:spPr>
          <a:xfrm>
            <a:off x="371474" y="1012800"/>
            <a:ext cx="11448000" cy="258577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u="sng" dirty="0">
                <a:solidFill>
                  <a:schemeClr val="tx1"/>
                </a:solidFill>
              </a:rPr>
              <a:t>単体テスト</a:t>
            </a:r>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p:txBody>
      </p:sp>
      <p:sp>
        <p:nvSpPr>
          <p:cNvPr id="7" name="正方形/長方形 6">
            <a:extLst>
              <a:ext uri="{FF2B5EF4-FFF2-40B4-BE49-F238E27FC236}">
                <a16:creationId xmlns:a16="http://schemas.microsoft.com/office/drawing/2014/main" id="{D0A71A89-7ACE-4DF3-E548-647316825E75}"/>
              </a:ext>
            </a:extLst>
          </p:cNvPr>
          <p:cNvSpPr/>
          <p:nvPr/>
        </p:nvSpPr>
        <p:spPr>
          <a:xfrm>
            <a:off x="681135" y="3068155"/>
            <a:ext cx="5980922" cy="547333"/>
          </a:xfrm>
          <a:prstGeom prst="rect">
            <a:avLst/>
          </a:prstGeom>
          <a:noFill/>
          <a:ln w="28575">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Tree>
    <p:extLst>
      <p:ext uri="{BB962C8B-B14F-4D97-AF65-F5344CB8AC3E}">
        <p14:creationId xmlns:p14="http://schemas.microsoft.com/office/powerpoint/2010/main" val="1465878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D9032-5346-1521-F43E-B45E7D999F9D}"/>
            </a:ext>
          </a:extLst>
        </p:cNvPr>
        <p:cNvGrpSpPr/>
        <p:nvPr/>
      </p:nvGrpSpPr>
      <p:grpSpPr>
        <a:xfrm>
          <a:off x="0" y="0"/>
          <a:ext cx="0" cy="0"/>
          <a:chOff x="0" y="0"/>
          <a:chExt cx="0" cy="0"/>
        </a:xfrm>
      </p:grpSpPr>
      <p:sp>
        <p:nvSpPr>
          <p:cNvPr id="215" name="正方形/長方形 214">
            <a:extLst>
              <a:ext uri="{FF2B5EF4-FFF2-40B4-BE49-F238E27FC236}">
                <a16:creationId xmlns:a16="http://schemas.microsoft.com/office/drawing/2014/main" id="{E3B3C074-4F03-48BE-3FB8-EF45DD0B8A91}"/>
              </a:ext>
            </a:extLst>
          </p:cNvPr>
          <p:cNvSpPr/>
          <p:nvPr/>
        </p:nvSpPr>
        <p:spPr>
          <a:xfrm>
            <a:off x="6641478" y="3686852"/>
            <a:ext cx="972000" cy="468000"/>
          </a:xfrm>
          <a:prstGeom prst="rect">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13" name="正方形/長方形 212">
            <a:extLst>
              <a:ext uri="{FF2B5EF4-FFF2-40B4-BE49-F238E27FC236}">
                <a16:creationId xmlns:a16="http://schemas.microsoft.com/office/drawing/2014/main" id="{0E71FF60-4447-6017-A8C0-0368507F8184}"/>
              </a:ext>
            </a:extLst>
          </p:cNvPr>
          <p:cNvSpPr/>
          <p:nvPr/>
        </p:nvSpPr>
        <p:spPr>
          <a:xfrm>
            <a:off x="4064370" y="5949310"/>
            <a:ext cx="1367279" cy="468000"/>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12" name="正方形/長方形 211">
            <a:extLst>
              <a:ext uri="{FF2B5EF4-FFF2-40B4-BE49-F238E27FC236}">
                <a16:creationId xmlns:a16="http://schemas.microsoft.com/office/drawing/2014/main" id="{9E337F6A-DF1B-3E59-A484-905162206AE4}"/>
              </a:ext>
            </a:extLst>
          </p:cNvPr>
          <p:cNvSpPr/>
          <p:nvPr/>
        </p:nvSpPr>
        <p:spPr>
          <a:xfrm>
            <a:off x="2547378" y="5949310"/>
            <a:ext cx="1367279" cy="468000"/>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2" name="四角形: 角を丸くする 21">
            <a:extLst>
              <a:ext uri="{FF2B5EF4-FFF2-40B4-BE49-F238E27FC236}">
                <a16:creationId xmlns:a16="http://schemas.microsoft.com/office/drawing/2014/main" id="{FA63D497-1EAE-5BA1-C765-F701B6B7FCAA}"/>
              </a:ext>
            </a:extLst>
          </p:cNvPr>
          <p:cNvSpPr/>
          <p:nvPr/>
        </p:nvSpPr>
        <p:spPr>
          <a:xfrm>
            <a:off x="1255070" y="3241137"/>
            <a:ext cx="2831959" cy="1837392"/>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2" name="タイトル 1">
            <a:extLst>
              <a:ext uri="{FF2B5EF4-FFF2-40B4-BE49-F238E27FC236}">
                <a16:creationId xmlns:a16="http://schemas.microsoft.com/office/drawing/2014/main" id="{952AA40E-7A6F-7E90-B2F2-9E76B1AE5C29}"/>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製造</a:t>
            </a:r>
            <a:r>
              <a:rPr lang="en-US" altLang="ja-JP" dirty="0"/>
              <a:t>/</a:t>
            </a:r>
            <a:r>
              <a:rPr lang="ja-JP" altLang="en-US" dirty="0"/>
              <a:t>単体テスト </a:t>
            </a:r>
            <a:r>
              <a:rPr lang="en-US" altLang="ja-JP" dirty="0"/>
              <a:t>–</a:t>
            </a:r>
            <a:r>
              <a:rPr lang="ja-JP" altLang="en-US" dirty="0"/>
              <a:t>　</a:t>
            </a:r>
            <a:r>
              <a:rPr lang="en-US" altLang="ja-JP" dirty="0"/>
              <a:t>※</a:t>
            </a:r>
            <a:r>
              <a:rPr lang="ja-JP" altLang="en-US" dirty="0"/>
              <a:t>再掲</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E335E490-2B17-741D-638C-6CEBA2DBB50D}"/>
              </a:ext>
            </a:extLst>
          </p:cNvPr>
          <p:cNvSpPr>
            <a:spLocks noGrp="1"/>
          </p:cNvSpPr>
          <p:nvPr>
            <p:ph sz="quarter" idx="4294967295"/>
          </p:nvPr>
        </p:nvSpPr>
        <p:spPr>
          <a:xfrm>
            <a:off x="481490" y="978298"/>
            <a:ext cx="11448000" cy="1664786"/>
          </a:xfrm>
        </p:spPr>
        <p:txBody>
          <a:bodyPr/>
          <a:lstStyle/>
          <a:p>
            <a:r>
              <a:rPr lang="ja-JP" altLang="en-US" u="sng" dirty="0">
                <a:solidFill>
                  <a:schemeClr val="tx1"/>
                </a:solidFill>
              </a:rPr>
              <a:t>製造</a:t>
            </a:r>
            <a:r>
              <a:rPr lang="en-US" altLang="ja-JP" u="sng" dirty="0">
                <a:solidFill>
                  <a:schemeClr val="tx1"/>
                </a:solidFill>
              </a:rPr>
              <a:t>/</a:t>
            </a:r>
            <a:r>
              <a:rPr lang="ja-JP" altLang="en-US" u="sng" dirty="0">
                <a:solidFill>
                  <a:schemeClr val="tx1"/>
                </a:solidFill>
              </a:rPr>
              <a:t>単体テスト（</a:t>
            </a:r>
            <a:r>
              <a:rPr lang="en-US" altLang="ja-JP" u="sng" dirty="0">
                <a:solidFill>
                  <a:schemeClr val="tx1"/>
                </a:solidFill>
              </a:rPr>
              <a:t>Construction and Unit Test</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rPr>
              <a:t>プログラムコードを作成し、アプリケーションが詳細設計通りに動作するかを確認するフェーズ</a:t>
            </a:r>
            <a:endParaRPr lang="en-US" altLang="ja-JP" u="sng" dirty="0">
              <a:solidFill>
                <a:schemeClr val="tx1"/>
              </a:solidFill>
            </a:endParaRPr>
          </a:p>
          <a:p>
            <a:r>
              <a:rPr lang="ja-JP" altLang="en-US" dirty="0">
                <a:solidFill>
                  <a:schemeClr val="tx1"/>
                </a:solidFill>
              </a:rPr>
              <a:t>■主な作業</a:t>
            </a:r>
            <a:endParaRPr lang="en-US" altLang="ja-JP" dirty="0">
              <a:solidFill>
                <a:schemeClr val="tx1"/>
              </a:solidFill>
            </a:endParaRPr>
          </a:p>
          <a:p>
            <a:r>
              <a:rPr lang="en-US" altLang="ja-JP" dirty="0">
                <a:solidFill>
                  <a:schemeClr val="tx1"/>
                </a:solidFill>
              </a:rPr>
              <a:t>	</a:t>
            </a:r>
            <a:r>
              <a:rPr lang="ja-JP" altLang="en-US" dirty="0">
                <a:solidFill>
                  <a:schemeClr val="tx1"/>
                </a:solidFill>
              </a:rPr>
              <a:t>・プログラムコード作成</a:t>
            </a:r>
            <a:endParaRPr lang="en-US" altLang="ja-JP" dirty="0">
              <a:solidFill>
                <a:schemeClr val="tx1"/>
              </a:solidFill>
            </a:endParaRPr>
          </a:p>
          <a:p>
            <a:r>
              <a:rPr lang="ja-JP" altLang="en-US" dirty="0">
                <a:solidFill>
                  <a:schemeClr val="tx1"/>
                </a:solidFill>
              </a:rPr>
              <a:t>　　・ユニットテスト</a:t>
            </a:r>
            <a:r>
              <a:rPr lang="en-US" altLang="ja-JP" dirty="0">
                <a:solidFill>
                  <a:schemeClr val="tx1"/>
                </a:solidFill>
              </a:rPr>
              <a:t>/</a:t>
            </a:r>
            <a:r>
              <a:rPr lang="ja-JP" altLang="en-US" dirty="0">
                <a:solidFill>
                  <a:schemeClr val="tx1"/>
                </a:solidFill>
              </a:rPr>
              <a:t>コンポーネントテストの計画、設計、実施</a:t>
            </a:r>
            <a:endParaRPr lang="en-US" altLang="ja-JP" dirty="0">
              <a:solidFill>
                <a:schemeClr val="tx1"/>
              </a:solidFill>
            </a:endParaRPr>
          </a:p>
          <a:p>
            <a:r>
              <a:rPr lang="en-US" altLang="ja-JP" dirty="0">
                <a:solidFill>
                  <a:schemeClr val="tx1"/>
                </a:solidFill>
              </a:rPr>
              <a:t>		</a:t>
            </a:r>
            <a:r>
              <a:rPr lang="ja-JP" altLang="en-US" sz="2000" b="1" dirty="0">
                <a:solidFill>
                  <a:schemeClr val="tx1"/>
                </a:solidFill>
              </a:rPr>
              <a:t>対応する設計フェーズ（ユニット設計</a:t>
            </a:r>
            <a:r>
              <a:rPr lang="en-US" altLang="ja-JP" sz="2000" b="1" dirty="0">
                <a:solidFill>
                  <a:schemeClr val="tx1"/>
                </a:solidFill>
              </a:rPr>
              <a:t>/</a:t>
            </a:r>
            <a:r>
              <a:rPr lang="ja-JP" altLang="en-US" sz="2000" b="1" dirty="0">
                <a:solidFill>
                  <a:schemeClr val="tx1"/>
                </a:solidFill>
              </a:rPr>
              <a:t>コンポーネント設計）の範囲</a:t>
            </a:r>
            <a:r>
              <a:rPr lang="ja-JP" altLang="en-US" dirty="0">
                <a:solidFill>
                  <a:schemeClr val="tx1"/>
                </a:solidFill>
              </a:rPr>
              <a:t>に対して、テストを実施する</a:t>
            </a:r>
            <a:r>
              <a:rPr lang="en-US" altLang="ja-JP" dirty="0">
                <a:solidFill>
                  <a:schemeClr val="tx1"/>
                </a:solidFill>
              </a:rPr>
              <a:t>		</a:t>
            </a:r>
          </a:p>
        </p:txBody>
      </p:sp>
      <p:grpSp>
        <p:nvGrpSpPr>
          <p:cNvPr id="5" name="グループ化 4">
            <a:extLst>
              <a:ext uri="{FF2B5EF4-FFF2-40B4-BE49-F238E27FC236}">
                <a16:creationId xmlns:a16="http://schemas.microsoft.com/office/drawing/2014/main" id="{CCC62FDD-7C75-8A0E-34AE-AC07AC35B412}"/>
              </a:ext>
            </a:extLst>
          </p:cNvPr>
          <p:cNvGrpSpPr/>
          <p:nvPr/>
        </p:nvGrpSpPr>
        <p:grpSpPr>
          <a:xfrm>
            <a:off x="8633867" y="152748"/>
            <a:ext cx="3295623" cy="1890892"/>
            <a:chOff x="8633867" y="152748"/>
            <a:chExt cx="3295623" cy="1890892"/>
          </a:xfrm>
        </p:grpSpPr>
        <p:pic>
          <p:nvPicPr>
            <p:cNvPr id="11" name="図 10" descr="ダイアグラム&#10;&#10;AI によって生成されたコンテンツは間違っている可能性があります。">
              <a:extLst>
                <a:ext uri="{FF2B5EF4-FFF2-40B4-BE49-F238E27FC236}">
                  <a16:creationId xmlns:a16="http://schemas.microsoft.com/office/drawing/2014/main" id="{5972469C-B10D-A55C-2587-6BAA0D069471}"/>
                </a:ext>
              </a:extLst>
            </p:cNvPr>
            <p:cNvPicPr>
              <a:picLocks noChangeAspect="1"/>
            </p:cNvPicPr>
            <p:nvPr/>
          </p:nvPicPr>
          <p:blipFill>
            <a:blip r:embed="rId2"/>
            <a:stretch>
              <a:fillRect/>
            </a:stretch>
          </p:blipFill>
          <p:spPr>
            <a:xfrm>
              <a:off x="8633867" y="152748"/>
              <a:ext cx="3295623" cy="1890892"/>
            </a:xfrm>
            <a:prstGeom prst="rect">
              <a:avLst/>
            </a:prstGeom>
            <a:ln>
              <a:solidFill>
                <a:schemeClr val="tx1"/>
              </a:solidFill>
            </a:ln>
          </p:spPr>
        </p:pic>
        <p:sp>
          <p:nvSpPr>
            <p:cNvPr id="12" name="正方形/長方形 11">
              <a:extLst>
                <a:ext uri="{FF2B5EF4-FFF2-40B4-BE49-F238E27FC236}">
                  <a16:creationId xmlns:a16="http://schemas.microsoft.com/office/drawing/2014/main" id="{D3DD0472-BECF-B446-55C0-C65F25D1FAAE}"/>
                </a:ext>
              </a:extLst>
            </p:cNvPr>
            <p:cNvSpPr/>
            <p:nvPr/>
          </p:nvSpPr>
          <p:spPr>
            <a:xfrm>
              <a:off x="10333169" y="1570811"/>
              <a:ext cx="900000" cy="396000"/>
            </a:xfrm>
            <a:prstGeom prst="rect">
              <a:avLst/>
            </a:prstGeom>
            <a:noFill/>
            <a:ln w="3810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2000" b="1" dirty="0">
                <a:solidFill>
                  <a:schemeClr val="bg1"/>
                </a:solidFill>
              </a:endParaRPr>
            </a:p>
          </p:txBody>
        </p:sp>
        <p:sp>
          <p:nvSpPr>
            <p:cNvPr id="33" name="矢印: 下 32">
              <a:extLst>
                <a:ext uri="{FF2B5EF4-FFF2-40B4-BE49-F238E27FC236}">
                  <a16:creationId xmlns:a16="http://schemas.microsoft.com/office/drawing/2014/main" id="{EA5D1124-9A7A-A7B2-E59B-E6F3CB6C05C1}"/>
                </a:ext>
              </a:extLst>
            </p:cNvPr>
            <p:cNvSpPr/>
            <p:nvPr/>
          </p:nvSpPr>
          <p:spPr>
            <a:xfrm rot="16200000" flipV="1">
              <a:off x="11329270" y="1596523"/>
              <a:ext cx="210790" cy="363894"/>
            </a:xfrm>
            <a:prstGeom prst="downArrow">
              <a:avLst/>
            </a:prstGeom>
            <a:solidFill>
              <a:srgbClr val="92D05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 name="正方形/長方形 3">
              <a:extLst>
                <a:ext uri="{FF2B5EF4-FFF2-40B4-BE49-F238E27FC236}">
                  <a16:creationId xmlns:a16="http://schemas.microsoft.com/office/drawing/2014/main" id="{6CD3B411-CB2E-9B23-8EC5-C3E4E42C4A44}"/>
                </a:ext>
              </a:extLst>
            </p:cNvPr>
            <p:cNvSpPr/>
            <p:nvPr/>
          </p:nvSpPr>
          <p:spPr>
            <a:xfrm>
              <a:off x="8706399" y="227956"/>
              <a:ext cx="1560933" cy="1740475"/>
            </a:xfrm>
            <a:prstGeom prst="rect">
              <a:avLst/>
            </a:prstGeom>
            <a:solidFill>
              <a:srgbClr val="D9D9D9">
                <a:alpha val="6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23" name="四角形: 角を丸くする 22">
            <a:extLst>
              <a:ext uri="{FF2B5EF4-FFF2-40B4-BE49-F238E27FC236}">
                <a16:creationId xmlns:a16="http://schemas.microsoft.com/office/drawing/2014/main" id="{54C02BBC-6960-8CEE-D803-57CA1EA6B46A}"/>
              </a:ext>
            </a:extLst>
          </p:cNvPr>
          <p:cNvSpPr/>
          <p:nvPr/>
        </p:nvSpPr>
        <p:spPr>
          <a:xfrm>
            <a:off x="4831484" y="3241137"/>
            <a:ext cx="6987316" cy="1971002"/>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6" name="四角形: 角を丸くする 5">
            <a:extLst>
              <a:ext uri="{FF2B5EF4-FFF2-40B4-BE49-F238E27FC236}">
                <a16:creationId xmlns:a16="http://schemas.microsoft.com/office/drawing/2014/main" id="{B9E26F9E-84CD-DD3E-FCBC-FB815CFFBEFC}"/>
              </a:ext>
            </a:extLst>
          </p:cNvPr>
          <p:cNvSpPr/>
          <p:nvPr/>
        </p:nvSpPr>
        <p:spPr>
          <a:xfrm>
            <a:off x="1255071" y="3090625"/>
            <a:ext cx="2831958" cy="311607"/>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ユニットテスト計画</a:t>
            </a:r>
          </a:p>
        </p:txBody>
      </p:sp>
      <p:sp>
        <p:nvSpPr>
          <p:cNvPr id="8" name="四角形: 角を丸くする 7">
            <a:extLst>
              <a:ext uri="{FF2B5EF4-FFF2-40B4-BE49-F238E27FC236}">
                <a16:creationId xmlns:a16="http://schemas.microsoft.com/office/drawing/2014/main" id="{D7E4036A-8F6D-C596-15E2-EC3C69013516}"/>
              </a:ext>
            </a:extLst>
          </p:cNvPr>
          <p:cNvSpPr/>
          <p:nvPr/>
        </p:nvSpPr>
        <p:spPr>
          <a:xfrm>
            <a:off x="4831484" y="3090623"/>
            <a:ext cx="6987315" cy="311607"/>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ユニットテスト設計</a:t>
            </a:r>
          </a:p>
        </p:txBody>
      </p:sp>
      <p:sp>
        <p:nvSpPr>
          <p:cNvPr id="129" name="テキスト ボックス 128">
            <a:extLst>
              <a:ext uri="{FF2B5EF4-FFF2-40B4-BE49-F238E27FC236}">
                <a16:creationId xmlns:a16="http://schemas.microsoft.com/office/drawing/2014/main" id="{FBCB6B27-1CE5-398D-C2DB-AAB4E89F274B}"/>
              </a:ext>
            </a:extLst>
          </p:cNvPr>
          <p:cNvSpPr txBox="1"/>
          <p:nvPr/>
        </p:nvSpPr>
        <p:spPr>
          <a:xfrm>
            <a:off x="1386393" y="3409528"/>
            <a:ext cx="2558574" cy="448867"/>
          </a:xfrm>
          <a:prstGeom prst="rect">
            <a:avLst/>
          </a:prstGeom>
          <a:noFill/>
        </p:spPr>
        <p:txBody>
          <a:bodyPr wrap="square" lIns="0" rIns="0" rtlCol="0">
            <a:noAutofit/>
          </a:bodyPr>
          <a:lstStyle/>
          <a:p>
            <a:pPr algn="l" defTabSz="288000"/>
            <a:r>
              <a:rPr kumimoji="1" lang="ja-JP" altLang="en-US" sz="1400" dirty="0">
                <a:latin typeface="+mn-ea"/>
              </a:rPr>
              <a:t> ・ユニットテストの</a:t>
            </a:r>
            <a:r>
              <a:rPr lang="ja-JP" altLang="en-US" sz="1400" b="0" i="0" dirty="0">
                <a:effectLst/>
                <a:latin typeface="Helvetica Neue"/>
              </a:rPr>
              <a:t>作業要領の作成</a:t>
            </a:r>
            <a:endParaRPr kumimoji="1" lang="ja-JP" altLang="en-US" sz="1400" dirty="0">
              <a:latin typeface="+mn-ea"/>
            </a:endParaRPr>
          </a:p>
        </p:txBody>
      </p:sp>
      <p:sp>
        <p:nvSpPr>
          <p:cNvPr id="130" name="正方形/長方形 129">
            <a:extLst>
              <a:ext uri="{FF2B5EF4-FFF2-40B4-BE49-F238E27FC236}">
                <a16:creationId xmlns:a16="http://schemas.microsoft.com/office/drawing/2014/main" id="{203641CA-A6E6-8423-015D-9F15086D34CF}"/>
              </a:ext>
            </a:extLst>
          </p:cNvPr>
          <p:cNvSpPr/>
          <p:nvPr/>
        </p:nvSpPr>
        <p:spPr>
          <a:xfrm>
            <a:off x="1871684" y="3815335"/>
            <a:ext cx="1613417" cy="967323"/>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200" u="sng" dirty="0">
                <a:solidFill>
                  <a:schemeClr val="tx1"/>
                </a:solidFill>
              </a:rPr>
              <a:t>テスト作業要領</a:t>
            </a:r>
            <a:endParaRPr lang="en-US" altLang="ja-JP" sz="1200" u="sng" dirty="0">
              <a:solidFill>
                <a:schemeClr val="tx1"/>
              </a:solidFill>
            </a:endParaRPr>
          </a:p>
          <a:p>
            <a:r>
              <a:rPr lang="ja-JP" altLang="en-US" sz="1200" dirty="0">
                <a:solidFill>
                  <a:schemeClr val="tx1"/>
                </a:solidFill>
              </a:rPr>
              <a:t>　・テスト対象</a:t>
            </a:r>
            <a:endParaRPr lang="en-US" altLang="ja-JP" sz="1200" dirty="0">
              <a:solidFill>
                <a:schemeClr val="tx1"/>
              </a:solidFill>
            </a:endParaRPr>
          </a:p>
          <a:p>
            <a:r>
              <a:rPr lang="ja-JP" altLang="en-US" sz="1200" dirty="0">
                <a:solidFill>
                  <a:schemeClr val="tx1"/>
                </a:solidFill>
              </a:rPr>
              <a:t>　・テスト実行環境</a:t>
            </a:r>
            <a:endParaRPr lang="en-US" altLang="ja-JP" sz="1200" dirty="0">
              <a:solidFill>
                <a:schemeClr val="tx1"/>
              </a:solidFill>
            </a:endParaRPr>
          </a:p>
          <a:p>
            <a:r>
              <a:rPr lang="ja-JP" altLang="en-US" sz="1200" dirty="0">
                <a:solidFill>
                  <a:schemeClr val="tx1"/>
                </a:solidFill>
              </a:rPr>
              <a:t>　・実施体制</a:t>
            </a:r>
            <a:endParaRPr lang="en-US" altLang="ja-JP" sz="1200" dirty="0">
              <a:solidFill>
                <a:schemeClr val="tx1"/>
              </a:solidFill>
            </a:endParaRPr>
          </a:p>
          <a:p>
            <a:pPr algn="r"/>
            <a:r>
              <a:rPr lang="ja-JP" altLang="en-US" sz="1200" dirty="0">
                <a:solidFill>
                  <a:schemeClr val="tx1"/>
                </a:solidFill>
              </a:rPr>
              <a:t>　など</a:t>
            </a:r>
            <a:endParaRPr lang="en-US" altLang="ja-JP" sz="1200" dirty="0">
              <a:solidFill>
                <a:schemeClr val="tx1"/>
              </a:solidFill>
            </a:endParaRPr>
          </a:p>
        </p:txBody>
      </p:sp>
      <p:sp>
        <p:nvSpPr>
          <p:cNvPr id="132" name="テキスト ボックス 131">
            <a:extLst>
              <a:ext uri="{FF2B5EF4-FFF2-40B4-BE49-F238E27FC236}">
                <a16:creationId xmlns:a16="http://schemas.microsoft.com/office/drawing/2014/main" id="{BB8B0308-44BD-8214-8885-0F755155BF94}"/>
              </a:ext>
            </a:extLst>
          </p:cNvPr>
          <p:cNvSpPr txBox="1"/>
          <p:nvPr/>
        </p:nvSpPr>
        <p:spPr>
          <a:xfrm>
            <a:off x="4951103" y="3415146"/>
            <a:ext cx="3891100" cy="448867"/>
          </a:xfrm>
          <a:prstGeom prst="rect">
            <a:avLst/>
          </a:prstGeom>
          <a:noFill/>
        </p:spPr>
        <p:txBody>
          <a:bodyPr wrap="square" lIns="0" rIns="0" rtlCol="0">
            <a:noAutofit/>
          </a:bodyPr>
          <a:lstStyle/>
          <a:p>
            <a:pPr algn="l" defTabSz="288000"/>
            <a:r>
              <a:rPr kumimoji="1" lang="ja-JP" altLang="en-US" sz="1400" dirty="0">
                <a:latin typeface="+mn-ea"/>
              </a:rPr>
              <a:t> ・ユニットテストの</a:t>
            </a:r>
            <a:r>
              <a:rPr lang="ja-JP" altLang="en-US" sz="1400" b="0" i="0" dirty="0">
                <a:effectLst/>
                <a:latin typeface="Helvetica Neue"/>
              </a:rPr>
              <a:t>テストケース表の作成</a:t>
            </a:r>
            <a:endParaRPr kumimoji="1" lang="ja-JP" altLang="en-US" sz="1400" dirty="0">
              <a:latin typeface="+mn-ea"/>
            </a:endParaRPr>
          </a:p>
        </p:txBody>
      </p:sp>
      <p:sp>
        <p:nvSpPr>
          <p:cNvPr id="153" name="矢印: 右 152">
            <a:extLst>
              <a:ext uri="{FF2B5EF4-FFF2-40B4-BE49-F238E27FC236}">
                <a16:creationId xmlns:a16="http://schemas.microsoft.com/office/drawing/2014/main" id="{194E58A7-D694-5E19-2976-7A5797629D16}"/>
              </a:ext>
            </a:extLst>
          </p:cNvPr>
          <p:cNvSpPr/>
          <p:nvPr/>
        </p:nvSpPr>
        <p:spPr>
          <a:xfrm>
            <a:off x="4236907" y="3675548"/>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54" name="正方形/長方形 153">
            <a:extLst>
              <a:ext uri="{FF2B5EF4-FFF2-40B4-BE49-F238E27FC236}">
                <a16:creationId xmlns:a16="http://schemas.microsoft.com/office/drawing/2014/main" id="{B3BE8F5E-0BE6-707A-0BFA-DA71E631F1B1}"/>
              </a:ext>
            </a:extLst>
          </p:cNvPr>
          <p:cNvSpPr/>
          <p:nvPr/>
        </p:nvSpPr>
        <p:spPr>
          <a:xfrm>
            <a:off x="5404521" y="4053026"/>
            <a:ext cx="1080000" cy="448867"/>
          </a:xfrm>
          <a:prstGeom prst="rect">
            <a:avLst/>
          </a:prstGeom>
          <a:solidFill>
            <a:schemeClr val="accent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テスト観点</a:t>
            </a:r>
          </a:p>
        </p:txBody>
      </p:sp>
      <p:sp>
        <p:nvSpPr>
          <p:cNvPr id="155" name="正方形/長方形 154">
            <a:extLst>
              <a:ext uri="{FF2B5EF4-FFF2-40B4-BE49-F238E27FC236}">
                <a16:creationId xmlns:a16="http://schemas.microsoft.com/office/drawing/2014/main" id="{528CAC51-E37A-BB88-DAE0-B7B718FD436C}"/>
              </a:ext>
            </a:extLst>
          </p:cNvPr>
          <p:cNvSpPr/>
          <p:nvPr/>
        </p:nvSpPr>
        <p:spPr>
          <a:xfrm>
            <a:off x="7711418" y="4053026"/>
            <a:ext cx="1080000" cy="448867"/>
          </a:xfrm>
          <a:prstGeom prst="rect">
            <a:avLst/>
          </a:prstGeom>
          <a:solidFill>
            <a:schemeClr val="accent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テスト項目</a:t>
            </a:r>
          </a:p>
        </p:txBody>
      </p:sp>
      <p:sp>
        <p:nvSpPr>
          <p:cNvPr id="156" name="正方形/長方形 155">
            <a:extLst>
              <a:ext uri="{FF2B5EF4-FFF2-40B4-BE49-F238E27FC236}">
                <a16:creationId xmlns:a16="http://schemas.microsoft.com/office/drawing/2014/main" id="{5F694D92-2BD0-338E-3F4B-2DF7BFE9C39E}"/>
              </a:ext>
            </a:extLst>
          </p:cNvPr>
          <p:cNvSpPr/>
          <p:nvPr/>
        </p:nvSpPr>
        <p:spPr>
          <a:xfrm>
            <a:off x="9897284" y="4053026"/>
            <a:ext cx="1080000" cy="448867"/>
          </a:xfrm>
          <a:prstGeom prst="rect">
            <a:avLst/>
          </a:prstGeom>
          <a:solidFill>
            <a:schemeClr val="accent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テストケース</a:t>
            </a:r>
          </a:p>
        </p:txBody>
      </p:sp>
      <p:cxnSp>
        <p:nvCxnSpPr>
          <p:cNvPr id="158" name="直線矢印コネクタ 157">
            <a:extLst>
              <a:ext uri="{FF2B5EF4-FFF2-40B4-BE49-F238E27FC236}">
                <a16:creationId xmlns:a16="http://schemas.microsoft.com/office/drawing/2014/main" id="{D62B4986-895A-7103-415B-100106348952}"/>
              </a:ext>
            </a:extLst>
          </p:cNvPr>
          <p:cNvCxnSpPr>
            <a:cxnSpLocks/>
            <a:stCxn id="154" idx="3"/>
            <a:endCxn id="155" idx="1"/>
          </p:cNvCxnSpPr>
          <p:nvPr/>
        </p:nvCxnSpPr>
        <p:spPr>
          <a:xfrm>
            <a:off x="6484521" y="4277460"/>
            <a:ext cx="1226897"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9" name="直線矢印コネクタ 158">
            <a:extLst>
              <a:ext uri="{FF2B5EF4-FFF2-40B4-BE49-F238E27FC236}">
                <a16:creationId xmlns:a16="http://schemas.microsoft.com/office/drawing/2014/main" id="{7947A68E-5A71-83C3-9C4C-5C171D4011E8}"/>
              </a:ext>
            </a:extLst>
          </p:cNvPr>
          <p:cNvCxnSpPr>
            <a:cxnSpLocks/>
            <a:stCxn id="155" idx="3"/>
            <a:endCxn id="156" idx="1"/>
          </p:cNvCxnSpPr>
          <p:nvPr/>
        </p:nvCxnSpPr>
        <p:spPr>
          <a:xfrm>
            <a:off x="8791418" y="4277460"/>
            <a:ext cx="1105866"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3" name="テキスト ボックス 162">
            <a:extLst>
              <a:ext uri="{FF2B5EF4-FFF2-40B4-BE49-F238E27FC236}">
                <a16:creationId xmlns:a16="http://schemas.microsoft.com/office/drawing/2014/main" id="{D1FDC486-8CCF-E8BA-6FD7-F72C96180A9B}"/>
              </a:ext>
            </a:extLst>
          </p:cNvPr>
          <p:cNvSpPr txBox="1"/>
          <p:nvPr/>
        </p:nvSpPr>
        <p:spPr>
          <a:xfrm>
            <a:off x="4951103" y="4499256"/>
            <a:ext cx="2508003" cy="448867"/>
          </a:xfrm>
          <a:prstGeom prst="rect">
            <a:avLst/>
          </a:prstGeom>
          <a:noFill/>
        </p:spPr>
        <p:txBody>
          <a:bodyPr wrap="square" lIns="0" rIns="0" rtlCol="0">
            <a:noAutofit/>
          </a:bodyPr>
          <a:lstStyle/>
          <a:p>
            <a:pPr algn="l" defTabSz="288000"/>
            <a:r>
              <a:rPr lang="ja-JP" altLang="en-US" sz="1200" b="0" i="0" dirty="0">
                <a:effectLst/>
                <a:latin typeface="__Inter_a184c8"/>
              </a:rPr>
              <a:t>テストを行うための基準や視点</a:t>
            </a:r>
            <a:endParaRPr lang="en-US" altLang="ja-JP" sz="1200" b="0" i="0" dirty="0">
              <a:effectLst/>
              <a:latin typeface="__Inter_a184c8"/>
            </a:endParaRPr>
          </a:p>
          <a:p>
            <a:pPr algn="l" defTabSz="288000"/>
            <a:r>
              <a:rPr kumimoji="1" lang="ja-JP" altLang="en-US" sz="1200" dirty="0">
                <a:latin typeface="__Inter_a184c8"/>
              </a:rPr>
              <a:t>テスト対象に依らない</a:t>
            </a:r>
            <a:endParaRPr kumimoji="1" lang="en-US" altLang="ja-JP" sz="1200" dirty="0">
              <a:latin typeface="__Inter_a184c8"/>
            </a:endParaRPr>
          </a:p>
          <a:p>
            <a:pPr algn="l" defTabSz="288000"/>
            <a:r>
              <a:rPr kumimoji="1" lang="ja-JP" altLang="en-US" sz="1200" dirty="0">
                <a:latin typeface="__Inter_a184c8"/>
              </a:rPr>
              <a:t>標準的な観点一覧を使用すべきである</a:t>
            </a:r>
            <a:endParaRPr kumimoji="1" lang="en-US" altLang="ja-JP" sz="1200" dirty="0">
              <a:latin typeface="+mn-ea"/>
            </a:endParaRPr>
          </a:p>
        </p:txBody>
      </p:sp>
      <p:sp>
        <p:nvSpPr>
          <p:cNvPr id="164" name="テキスト ボックス 163">
            <a:extLst>
              <a:ext uri="{FF2B5EF4-FFF2-40B4-BE49-F238E27FC236}">
                <a16:creationId xmlns:a16="http://schemas.microsoft.com/office/drawing/2014/main" id="{4E051163-D63A-F41D-B6BC-C80629376A3D}"/>
              </a:ext>
            </a:extLst>
          </p:cNvPr>
          <p:cNvSpPr txBox="1"/>
          <p:nvPr/>
        </p:nvSpPr>
        <p:spPr>
          <a:xfrm>
            <a:off x="7584594" y="4492636"/>
            <a:ext cx="1814594" cy="448867"/>
          </a:xfrm>
          <a:prstGeom prst="rect">
            <a:avLst/>
          </a:prstGeom>
          <a:noFill/>
        </p:spPr>
        <p:txBody>
          <a:bodyPr wrap="square" lIns="0" rIns="0" rtlCol="0">
            <a:noAutofit/>
          </a:bodyPr>
          <a:lstStyle/>
          <a:p>
            <a:pPr algn="l" defTabSz="288000"/>
            <a:r>
              <a:rPr lang="ja-JP" altLang="en-US" sz="1200" b="0" i="0" dirty="0">
                <a:effectLst/>
                <a:latin typeface="__Inter_a184c8"/>
              </a:rPr>
              <a:t>各テスト観点に基づき、</a:t>
            </a:r>
            <a:endParaRPr lang="en-US" altLang="ja-JP" sz="1200" b="0" i="0" dirty="0">
              <a:effectLst/>
              <a:latin typeface="__Inter_a184c8"/>
            </a:endParaRPr>
          </a:p>
          <a:p>
            <a:pPr algn="l" defTabSz="288000"/>
            <a:r>
              <a:rPr lang="ja-JP" altLang="en-US" sz="1200" b="0" i="0" dirty="0">
                <a:effectLst/>
                <a:latin typeface="__Inter_a184c8"/>
              </a:rPr>
              <a:t>具体的に評価するべき条件や機能を定義したもの</a:t>
            </a:r>
            <a:endParaRPr kumimoji="1" lang="ja-JP" altLang="en-US" sz="1200" dirty="0">
              <a:highlight>
                <a:srgbClr val="FFFF00"/>
              </a:highlight>
              <a:latin typeface="+mn-ea"/>
            </a:endParaRPr>
          </a:p>
        </p:txBody>
      </p:sp>
      <p:sp>
        <p:nvSpPr>
          <p:cNvPr id="165" name="テキスト ボックス 164">
            <a:extLst>
              <a:ext uri="{FF2B5EF4-FFF2-40B4-BE49-F238E27FC236}">
                <a16:creationId xmlns:a16="http://schemas.microsoft.com/office/drawing/2014/main" id="{BD519D19-4864-A3DB-228E-81E612446BA8}"/>
              </a:ext>
            </a:extLst>
          </p:cNvPr>
          <p:cNvSpPr txBox="1"/>
          <p:nvPr/>
        </p:nvSpPr>
        <p:spPr>
          <a:xfrm>
            <a:off x="9769699" y="4492636"/>
            <a:ext cx="1923614" cy="448867"/>
          </a:xfrm>
          <a:prstGeom prst="rect">
            <a:avLst/>
          </a:prstGeom>
          <a:noFill/>
        </p:spPr>
        <p:txBody>
          <a:bodyPr wrap="square" lIns="0" rIns="0" rtlCol="0">
            <a:noAutofit/>
          </a:bodyPr>
          <a:lstStyle/>
          <a:p>
            <a:pPr algn="l" defTabSz="288000"/>
            <a:r>
              <a:rPr kumimoji="1" lang="ja-JP" altLang="en-US" sz="1200" dirty="0">
                <a:latin typeface="+mn-ea"/>
              </a:rPr>
              <a:t>テスト項目の検証に必要となる</a:t>
            </a:r>
            <a:endParaRPr kumimoji="1" lang="en-US" altLang="ja-JP" sz="1200" dirty="0">
              <a:latin typeface="+mn-ea"/>
            </a:endParaRPr>
          </a:p>
          <a:p>
            <a:pPr algn="l" defTabSz="288000"/>
            <a:r>
              <a:rPr kumimoji="1" lang="ja-JP" altLang="en-US" sz="1200" dirty="0">
                <a:latin typeface="+mn-ea"/>
              </a:rPr>
              <a:t>具体的な手順やデータ</a:t>
            </a:r>
            <a:endParaRPr kumimoji="1" lang="en-US" altLang="ja-JP" sz="1200" dirty="0">
              <a:latin typeface="+mn-ea"/>
            </a:endParaRPr>
          </a:p>
          <a:p>
            <a:pPr algn="l" defTabSz="288000"/>
            <a:r>
              <a:rPr lang="ja-JP" altLang="en-US" sz="1200" dirty="0">
                <a:latin typeface="+mn-ea"/>
              </a:rPr>
              <a:t>（</a:t>
            </a:r>
            <a:r>
              <a:rPr kumimoji="1" lang="ja-JP" altLang="en-US" sz="1200" dirty="0">
                <a:latin typeface="+mn-ea"/>
              </a:rPr>
              <a:t>事前条件や期待結果など）</a:t>
            </a:r>
          </a:p>
        </p:txBody>
      </p:sp>
      <p:grpSp>
        <p:nvGrpSpPr>
          <p:cNvPr id="171" name="グループ化 170">
            <a:extLst>
              <a:ext uri="{FF2B5EF4-FFF2-40B4-BE49-F238E27FC236}">
                <a16:creationId xmlns:a16="http://schemas.microsoft.com/office/drawing/2014/main" id="{0DB9DE3E-8D42-F158-1FDC-54E3A0F36442}"/>
              </a:ext>
            </a:extLst>
          </p:cNvPr>
          <p:cNvGrpSpPr/>
          <p:nvPr/>
        </p:nvGrpSpPr>
        <p:grpSpPr>
          <a:xfrm>
            <a:off x="6695327" y="3716397"/>
            <a:ext cx="805561" cy="398274"/>
            <a:chOff x="7425037" y="6210019"/>
            <a:chExt cx="805561" cy="398274"/>
          </a:xfrm>
        </p:grpSpPr>
        <p:pic>
          <p:nvPicPr>
            <p:cNvPr id="172" name="グラフィックス 171" descr="ドキュメント 枠線">
              <a:extLst>
                <a:ext uri="{FF2B5EF4-FFF2-40B4-BE49-F238E27FC236}">
                  <a16:creationId xmlns:a16="http://schemas.microsoft.com/office/drawing/2014/main" id="{F85EAD6C-B9CE-2BE7-1648-D4BC7B2789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25037" y="6210019"/>
              <a:ext cx="396000" cy="396000"/>
            </a:xfrm>
            <a:prstGeom prst="rect">
              <a:avLst/>
            </a:prstGeom>
          </p:spPr>
        </p:pic>
        <p:sp>
          <p:nvSpPr>
            <p:cNvPr id="173" name="テキスト ボックス 172">
              <a:extLst>
                <a:ext uri="{FF2B5EF4-FFF2-40B4-BE49-F238E27FC236}">
                  <a16:creationId xmlns:a16="http://schemas.microsoft.com/office/drawing/2014/main" id="{6681BDCA-9CFB-2C31-263B-C0D5A27C569C}"/>
                </a:ext>
              </a:extLst>
            </p:cNvPr>
            <p:cNvSpPr txBox="1"/>
            <p:nvPr/>
          </p:nvSpPr>
          <p:spPr>
            <a:xfrm>
              <a:off x="7804577" y="6210019"/>
              <a:ext cx="426021" cy="398274"/>
            </a:xfrm>
            <a:prstGeom prst="rect">
              <a:avLst/>
            </a:prstGeom>
            <a:noFill/>
          </p:spPr>
          <p:txBody>
            <a:bodyPr wrap="square" lIns="0" rIns="0" rtlCol="0" anchor="ctr">
              <a:noAutofit/>
            </a:bodyPr>
            <a:lstStyle/>
            <a:p>
              <a:pPr algn="ctr" defTabSz="288000"/>
              <a:r>
                <a:rPr lang="ja-JP" altLang="en-US" sz="1100" dirty="0">
                  <a:latin typeface="+mn-ea"/>
                </a:rPr>
                <a:t>ユニット設計書</a:t>
              </a:r>
              <a:endParaRPr kumimoji="1" lang="ja-JP" altLang="en-US" sz="1100" dirty="0">
                <a:latin typeface="+mn-ea"/>
              </a:endParaRPr>
            </a:p>
          </p:txBody>
        </p:sp>
      </p:grpSp>
      <p:cxnSp>
        <p:nvCxnSpPr>
          <p:cNvPr id="175" name="直線矢印コネクタ 174">
            <a:extLst>
              <a:ext uri="{FF2B5EF4-FFF2-40B4-BE49-F238E27FC236}">
                <a16:creationId xmlns:a16="http://schemas.microsoft.com/office/drawing/2014/main" id="{11305EF9-1762-D5E5-5887-CF71AB19C189}"/>
              </a:ext>
            </a:extLst>
          </p:cNvPr>
          <p:cNvCxnSpPr/>
          <p:nvPr/>
        </p:nvCxnSpPr>
        <p:spPr>
          <a:xfrm>
            <a:off x="7127077" y="4134105"/>
            <a:ext cx="0" cy="14400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6" name="四角形: 角を丸くする 175">
            <a:extLst>
              <a:ext uri="{FF2B5EF4-FFF2-40B4-BE49-F238E27FC236}">
                <a16:creationId xmlns:a16="http://schemas.microsoft.com/office/drawing/2014/main" id="{2573FB71-71AB-C664-FF84-441EA7C05567}"/>
              </a:ext>
            </a:extLst>
          </p:cNvPr>
          <p:cNvSpPr/>
          <p:nvPr/>
        </p:nvSpPr>
        <p:spPr>
          <a:xfrm>
            <a:off x="1782647" y="5534692"/>
            <a:ext cx="4475491" cy="936000"/>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177" name="四角形: 角を丸くする 176">
            <a:extLst>
              <a:ext uri="{FF2B5EF4-FFF2-40B4-BE49-F238E27FC236}">
                <a16:creationId xmlns:a16="http://schemas.microsoft.com/office/drawing/2014/main" id="{D1C8BBAB-B496-4773-44C4-CEF725D4742F}"/>
              </a:ext>
            </a:extLst>
          </p:cNvPr>
          <p:cNvSpPr/>
          <p:nvPr/>
        </p:nvSpPr>
        <p:spPr>
          <a:xfrm>
            <a:off x="1782648" y="5299114"/>
            <a:ext cx="4475490" cy="311607"/>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ユニットテスト実装</a:t>
            </a:r>
          </a:p>
        </p:txBody>
      </p:sp>
      <p:grpSp>
        <p:nvGrpSpPr>
          <p:cNvPr id="186" name="グループ化 185">
            <a:extLst>
              <a:ext uri="{FF2B5EF4-FFF2-40B4-BE49-F238E27FC236}">
                <a16:creationId xmlns:a16="http://schemas.microsoft.com/office/drawing/2014/main" id="{6DBE8049-F98F-0A90-BC61-6409931C6D66}"/>
              </a:ext>
            </a:extLst>
          </p:cNvPr>
          <p:cNvGrpSpPr/>
          <p:nvPr/>
        </p:nvGrpSpPr>
        <p:grpSpPr>
          <a:xfrm>
            <a:off x="2657340" y="5977794"/>
            <a:ext cx="1214785" cy="410940"/>
            <a:chOff x="6052141" y="3993387"/>
            <a:chExt cx="1214785" cy="410940"/>
          </a:xfrm>
        </p:grpSpPr>
        <p:pic>
          <p:nvPicPr>
            <p:cNvPr id="187" name="グラフィックス 186" descr="Web デザイン 枠線">
              <a:extLst>
                <a:ext uri="{FF2B5EF4-FFF2-40B4-BE49-F238E27FC236}">
                  <a16:creationId xmlns:a16="http://schemas.microsoft.com/office/drawing/2014/main" id="{54D22F52-3C11-895C-AB17-98789FAE01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2141" y="4008327"/>
              <a:ext cx="396000" cy="396000"/>
            </a:xfrm>
            <a:prstGeom prst="rect">
              <a:avLst/>
            </a:prstGeom>
          </p:spPr>
        </p:pic>
        <p:sp>
          <p:nvSpPr>
            <p:cNvPr id="188" name="テキスト ボックス 187">
              <a:extLst>
                <a:ext uri="{FF2B5EF4-FFF2-40B4-BE49-F238E27FC236}">
                  <a16:creationId xmlns:a16="http://schemas.microsoft.com/office/drawing/2014/main" id="{CB1FE28C-3D87-D4EC-FFF4-88CB46C1C357}"/>
                </a:ext>
              </a:extLst>
            </p:cNvPr>
            <p:cNvSpPr txBox="1"/>
            <p:nvPr/>
          </p:nvSpPr>
          <p:spPr>
            <a:xfrm>
              <a:off x="6397049" y="3993387"/>
              <a:ext cx="869877" cy="398274"/>
            </a:xfrm>
            <a:prstGeom prst="rect">
              <a:avLst/>
            </a:prstGeom>
            <a:noFill/>
          </p:spPr>
          <p:txBody>
            <a:bodyPr wrap="square" lIns="0" rIns="0" rtlCol="0" anchor="ctr">
              <a:noAutofit/>
            </a:bodyPr>
            <a:lstStyle/>
            <a:p>
              <a:pPr algn="ctr" defTabSz="288000"/>
              <a:r>
                <a:rPr kumimoji="1" lang="ja-JP" altLang="en-US" sz="1100" dirty="0">
                  <a:latin typeface="+mn-ea"/>
                </a:rPr>
                <a:t>ユニットテストコード</a:t>
              </a:r>
            </a:p>
          </p:txBody>
        </p:sp>
      </p:grpSp>
      <p:sp>
        <p:nvSpPr>
          <p:cNvPr id="189" name="矢印: 右 188">
            <a:extLst>
              <a:ext uri="{FF2B5EF4-FFF2-40B4-BE49-F238E27FC236}">
                <a16:creationId xmlns:a16="http://schemas.microsoft.com/office/drawing/2014/main" id="{70493891-B0C0-7B06-354E-F1AB491CCBAF}"/>
              </a:ext>
            </a:extLst>
          </p:cNvPr>
          <p:cNvSpPr/>
          <p:nvPr/>
        </p:nvSpPr>
        <p:spPr>
          <a:xfrm>
            <a:off x="1255071" y="5534692"/>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190" name="グループ化 189">
            <a:extLst>
              <a:ext uri="{FF2B5EF4-FFF2-40B4-BE49-F238E27FC236}">
                <a16:creationId xmlns:a16="http://schemas.microsoft.com/office/drawing/2014/main" id="{E7B35986-1372-6C5A-95B7-2BAF23E0B0E6}"/>
              </a:ext>
            </a:extLst>
          </p:cNvPr>
          <p:cNvGrpSpPr/>
          <p:nvPr/>
        </p:nvGrpSpPr>
        <p:grpSpPr>
          <a:xfrm>
            <a:off x="4152273" y="5975690"/>
            <a:ext cx="1252248" cy="398274"/>
            <a:chOff x="7371872" y="6210019"/>
            <a:chExt cx="1252248" cy="398274"/>
          </a:xfrm>
        </p:grpSpPr>
        <p:pic>
          <p:nvPicPr>
            <p:cNvPr id="191" name="グラフィックス 190" descr="ドキュメント 枠線">
              <a:extLst>
                <a:ext uri="{FF2B5EF4-FFF2-40B4-BE49-F238E27FC236}">
                  <a16:creationId xmlns:a16="http://schemas.microsoft.com/office/drawing/2014/main" id="{80DB9DD6-CB85-DCA6-4C2A-4BCFC14998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71872" y="6210019"/>
              <a:ext cx="396000" cy="396000"/>
            </a:xfrm>
            <a:prstGeom prst="rect">
              <a:avLst/>
            </a:prstGeom>
          </p:spPr>
        </p:pic>
        <p:sp>
          <p:nvSpPr>
            <p:cNvPr id="192" name="テキスト ボックス 191">
              <a:extLst>
                <a:ext uri="{FF2B5EF4-FFF2-40B4-BE49-F238E27FC236}">
                  <a16:creationId xmlns:a16="http://schemas.microsoft.com/office/drawing/2014/main" id="{44540E87-FDF9-C4B6-4C61-6DC02645838A}"/>
                </a:ext>
              </a:extLst>
            </p:cNvPr>
            <p:cNvSpPr txBox="1"/>
            <p:nvPr/>
          </p:nvSpPr>
          <p:spPr>
            <a:xfrm>
              <a:off x="7687617" y="6210019"/>
              <a:ext cx="936503" cy="398274"/>
            </a:xfrm>
            <a:prstGeom prst="rect">
              <a:avLst/>
            </a:prstGeom>
            <a:noFill/>
          </p:spPr>
          <p:txBody>
            <a:bodyPr wrap="square" lIns="0" rIns="0" rtlCol="0" anchor="ctr">
              <a:noAutofit/>
            </a:bodyPr>
            <a:lstStyle/>
            <a:p>
              <a:pPr algn="ctr" defTabSz="288000"/>
              <a:r>
                <a:rPr lang="ja-JP" altLang="en-US" sz="1100" dirty="0">
                  <a:latin typeface="+mn-ea"/>
                </a:rPr>
                <a:t>ユニットテスト</a:t>
              </a:r>
              <a:endParaRPr lang="en-US" altLang="ja-JP" sz="1100" dirty="0">
                <a:latin typeface="+mn-ea"/>
              </a:endParaRPr>
            </a:p>
            <a:p>
              <a:pPr algn="ctr" defTabSz="288000"/>
              <a:r>
                <a:rPr lang="ja-JP" altLang="en-US" sz="1100" dirty="0">
                  <a:latin typeface="+mn-ea"/>
                </a:rPr>
                <a:t>手順書</a:t>
              </a:r>
              <a:endParaRPr kumimoji="1" lang="ja-JP" altLang="en-US" sz="1100" dirty="0">
                <a:latin typeface="+mn-ea"/>
              </a:endParaRPr>
            </a:p>
          </p:txBody>
        </p:sp>
      </p:grpSp>
      <p:sp>
        <p:nvSpPr>
          <p:cNvPr id="193" name="四角形: 角を丸くする 192">
            <a:extLst>
              <a:ext uri="{FF2B5EF4-FFF2-40B4-BE49-F238E27FC236}">
                <a16:creationId xmlns:a16="http://schemas.microsoft.com/office/drawing/2014/main" id="{3E7EA94A-C68D-2D40-B17F-CF6949F59593}"/>
              </a:ext>
            </a:extLst>
          </p:cNvPr>
          <p:cNvSpPr/>
          <p:nvPr/>
        </p:nvSpPr>
        <p:spPr>
          <a:xfrm>
            <a:off x="6968926" y="5651234"/>
            <a:ext cx="4095129" cy="720000"/>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194" name="四角形: 角を丸くする 193">
            <a:extLst>
              <a:ext uri="{FF2B5EF4-FFF2-40B4-BE49-F238E27FC236}">
                <a16:creationId xmlns:a16="http://schemas.microsoft.com/office/drawing/2014/main" id="{9C6384F1-88E5-FA6E-AE6E-7EED6CE00258}"/>
              </a:ext>
            </a:extLst>
          </p:cNvPr>
          <p:cNvSpPr/>
          <p:nvPr/>
        </p:nvSpPr>
        <p:spPr>
          <a:xfrm>
            <a:off x="6968927" y="5415656"/>
            <a:ext cx="4095128" cy="311607"/>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ユニットテスト実行</a:t>
            </a:r>
          </a:p>
        </p:txBody>
      </p:sp>
      <p:sp>
        <p:nvSpPr>
          <p:cNvPr id="209" name="矢印: 右 208">
            <a:extLst>
              <a:ext uri="{FF2B5EF4-FFF2-40B4-BE49-F238E27FC236}">
                <a16:creationId xmlns:a16="http://schemas.microsoft.com/office/drawing/2014/main" id="{47521AF3-8B39-D8B6-CA71-86B937455E57}"/>
              </a:ext>
            </a:extLst>
          </p:cNvPr>
          <p:cNvSpPr/>
          <p:nvPr/>
        </p:nvSpPr>
        <p:spPr>
          <a:xfrm>
            <a:off x="6406549" y="5534692"/>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10" name="テキスト ボックス 209">
            <a:extLst>
              <a:ext uri="{FF2B5EF4-FFF2-40B4-BE49-F238E27FC236}">
                <a16:creationId xmlns:a16="http://schemas.microsoft.com/office/drawing/2014/main" id="{C025A285-BC2D-32E4-E422-B04E5F0B36C1}"/>
              </a:ext>
            </a:extLst>
          </p:cNvPr>
          <p:cNvSpPr txBox="1"/>
          <p:nvPr/>
        </p:nvSpPr>
        <p:spPr>
          <a:xfrm>
            <a:off x="7082636" y="5801875"/>
            <a:ext cx="4211431" cy="448867"/>
          </a:xfrm>
          <a:prstGeom prst="rect">
            <a:avLst/>
          </a:prstGeom>
          <a:noFill/>
        </p:spPr>
        <p:txBody>
          <a:bodyPr wrap="square" lIns="0" rIns="0" rtlCol="0">
            <a:noAutofit/>
          </a:bodyPr>
          <a:lstStyle/>
          <a:p>
            <a:pPr algn="l" defTabSz="288000"/>
            <a:r>
              <a:rPr kumimoji="1" lang="ja-JP" altLang="en-US" sz="1400" dirty="0">
                <a:latin typeface="+mn-ea"/>
              </a:rPr>
              <a:t> ・ユニットテストを実行する</a:t>
            </a:r>
            <a:endParaRPr kumimoji="1" lang="en-US" altLang="ja-JP" sz="1400" dirty="0">
              <a:latin typeface="+mn-ea"/>
            </a:endParaRPr>
          </a:p>
          <a:p>
            <a:pPr algn="l" defTabSz="288000"/>
            <a:r>
              <a:rPr lang="ja-JP" altLang="en-US" sz="1400" dirty="0">
                <a:latin typeface="+mn-ea"/>
              </a:rPr>
              <a:t>　　</a:t>
            </a:r>
            <a:r>
              <a:rPr kumimoji="1" lang="ja-JP" altLang="en-US" sz="1400" dirty="0">
                <a:latin typeface="+mn-ea"/>
              </a:rPr>
              <a:t>故障が発生した場合は修正対応と再テストを行う</a:t>
            </a:r>
          </a:p>
        </p:txBody>
      </p:sp>
      <p:sp>
        <p:nvSpPr>
          <p:cNvPr id="211" name="テキスト ボックス 210">
            <a:extLst>
              <a:ext uri="{FF2B5EF4-FFF2-40B4-BE49-F238E27FC236}">
                <a16:creationId xmlns:a16="http://schemas.microsoft.com/office/drawing/2014/main" id="{4A99A29C-2A5B-2BE8-F57A-13D14C3AF939}"/>
              </a:ext>
            </a:extLst>
          </p:cNvPr>
          <p:cNvSpPr txBox="1"/>
          <p:nvPr/>
        </p:nvSpPr>
        <p:spPr>
          <a:xfrm>
            <a:off x="1887471" y="5645890"/>
            <a:ext cx="4370667" cy="448867"/>
          </a:xfrm>
          <a:prstGeom prst="rect">
            <a:avLst/>
          </a:prstGeom>
          <a:noFill/>
        </p:spPr>
        <p:txBody>
          <a:bodyPr wrap="square" lIns="0" rIns="0" rtlCol="0">
            <a:noAutofit/>
          </a:bodyPr>
          <a:lstStyle/>
          <a:p>
            <a:pPr algn="l" defTabSz="288000"/>
            <a:r>
              <a:rPr kumimoji="1" lang="ja-JP" altLang="en-US" sz="1400" dirty="0">
                <a:latin typeface="+mn-ea"/>
              </a:rPr>
              <a:t> ・ユニットテストを実行するための成果物（コード等）を作成</a:t>
            </a:r>
          </a:p>
        </p:txBody>
      </p:sp>
      <p:sp>
        <p:nvSpPr>
          <p:cNvPr id="9" name="正方形/長方形 8">
            <a:extLst>
              <a:ext uri="{FF2B5EF4-FFF2-40B4-BE49-F238E27FC236}">
                <a16:creationId xmlns:a16="http://schemas.microsoft.com/office/drawing/2014/main" id="{8B1D5A97-5A4A-3A72-9B99-698FA53DFB05}"/>
              </a:ext>
            </a:extLst>
          </p:cNvPr>
          <p:cNvSpPr/>
          <p:nvPr/>
        </p:nvSpPr>
        <p:spPr>
          <a:xfrm>
            <a:off x="4856596" y="3394042"/>
            <a:ext cx="6965255" cy="1809907"/>
          </a:xfrm>
          <a:prstGeom prst="rect">
            <a:avLst/>
          </a:prstGeom>
          <a:noFill/>
          <a:ln w="571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0" name="正方形/長方形 9">
            <a:extLst>
              <a:ext uri="{FF2B5EF4-FFF2-40B4-BE49-F238E27FC236}">
                <a16:creationId xmlns:a16="http://schemas.microsoft.com/office/drawing/2014/main" id="{33B6F51F-0EA0-8486-9B96-F581F5BEC48E}"/>
              </a:ext>
            </a:extLst>
          </p:cNvPr>
          <p:cNvSpPr/>
          <p:nvPr/>
        </p:nvSpPr>
        <p:spPr>
          <a:xfrm>
            <a:off x="9399188" y="3192798"/>
            <a:ext cx="2616143" cy="448867"/>
          </a:xfrm>
          <a:prstGeom prst="rect">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b="1" dirty="0">
                <a:solidFill>
                  <a:schemeClr val="bg1"/>
                </a:solidFill>
              </a:rPr>
              <a:t>テスト項目とテストケースの作成</a:t>
            </a:r>
          </a:p>
        </p:txBody>
      </p:sp>
    </p:spTree>
    <p:extLst>
      <p:ext uri="{BB962C8B-B14F-4D97-AF65-F5344CB8AC3E}">
        <p14:creationId xmlns:p14="http://schemas.microsoft.com/office/powerpoint/2010/main" val="121207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BAE45-F9C7-2CC0-9F9C-CEB473A83D27}"/>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625F84B5-9359-CD9E-8C79-66D6A8F4451A}"/>
              </a:ext>
            </a:extLst>
          </p:cNvPr>
          <p:cNvSpPr>
            <a:spLocks noGrp="1"/>
          </p:cNvSpPr>
          <p:nvPr>
            <p:ph sz="quarter" idx="4294967295"/>
          </p:nvPr>
        </p:nvSpPr>
        <p:spPr>
          <a:xfrm>
            <a:off x="371474" y="1012801"/>
            <a:ext cx="11448000" cy="519194"/>
          </a:xfrm>
        </p:spPr>
        <p:txBody>
          <a:bodyPr/>
          <a:lstStyle/>
          <a:p>
            <a:r>
              <a:rPr kumimoji="1" lang="ja-JP" altLang="en-US" u="sng" dirty="0">
                <a:solidFill>
                  <a:schemeClr val="tx1"/>
                </a:solidFill>
              </a:rPr>
              <a:t>テスト</a:t>
            </a:r>
            <a:r>
              <a:rPr lang="ja-JP" altLang="en-US" u="sng" dirty="0">
                <a:solidFill>
                  <a:schemeClr val="tx1"/>
                </a:solidFill>
              </a:rPr>
              <a:t>設計の流れ</a:t>
            </a:r>
            <a:endParaRPr lang="en-US" altLang="ja-JP" u="sng" dirty="0">
              <a:solidFill>
                <a:schemeClr val="tx1"/>
              </a:solidFill>
            </a:endParaRPr>
          </a:p>
          <a:p>
            <a:r>
              <a:rPr lang="ja-JP" altLang="en-US" dirty="0">
                <a:solidFill>
                  <a:schemeClr val="tx1"/>
                </a:solidFill>
              </a:rPr>
              <a:t>テストケースが作成されるまでの流れは以下の通りである。</a:t>
            </a:r>
            <a:endParaRPr kumimoji="1" lang="en-US" altLang="ja-JP" dirty="0">
              <a:solidFill>
                <a:schemeClr val="tx1"/>
              </a:solidFill>
            </a:endParaRPr>
          </a:p>
        </p:txBody>
      </p:sp>
      <p:sp>
        <p:nvSpPr>
          <p:cNvPr id="2" name="タイトル 1">
            <a:extLst>
              <a:ext uri="{FF2B5EF4-FFF2-40B4-BE49-F238E27FC236}">
                <a16:creationId xmlns:a16="http://schemas.microsoft.com/office/drawing/2014/main" id="{1F909C2C-8901-E9A3-DD8F-FDDE45A485EA}"/>
              </a:ext>
            </a:extLst>
          </p:cNvPr>
          <p:cNvSpPr>
            <a:spLocks noGrp="1"/>
          </p:cNvSpPr>
          <p:nvPr>
            <p:ph type="title"/>
          </p:nvPr>
        </p:nvSpPr>
        <p:spPr/>
        <p:txBody>
          <a:bodyPr anchor="ctr"/>
          <a:lstStyle/>
          <a:p>
            <a:r>
              <a:rPr kumimoji="1" lang="ja-JP" altLang="en-US" dirty="0"/>
              <a:t>テスト設計</a:t>
            </a:r>
          </a:p>
        </p:txBody>
      </p:sp>
      <p:sp>
        <p:nvSpPr>
          <p:cNvPr id="49" name="正方形/長方形 48">
            <a:extLst>
              <a:ext uri="{FF2B5EF4-FFF2-40B4-BE49-F238E27FC236}">
                <a16:creationId xmlns:a16="http://schemas.microsoft.com/office/drawing/2014/main" id="{07FA7D6A-AB80-6906-D5B2-92113864EAE3}"/>
              </a:ext>
            </a:extLst>
          </p:cNvPr>
          <p:cNvSpPr/>
          <p:nvPr/>
        </p:nvSpPr>
        <p:spPr>
          <a:xfrm>
            <a:off x="370800" y="1726163"/>
            <a:ext cx="10630575" cy="3144417"/>
          </a:xfrm>
          <a:prstGeom prst="rect">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7" name="正方形/長方形 26">
            <a:extLst>
              <a:ext uri="{FF2B5EF4-FFF2-40B4-BE49-F238E27FC236}">
                <a16:creationId xmlns:a16="http://schemas.microsoft.com/office/drawing/2014/main" id="{46FF61EB-3954-CFCE-68A4-5E9124B93C69}"/>
              </a:ext>
            </a:extLst>
          </p:cNvPr>
          <p:cNvSpPr/>
          <p:nvPr/>
        </p:nvSpPr>
        <p:spPr>
          <a:xfrm>
            <a:off x="1051354" y="3463995"/>
            <a:ext cx="1800000" cy="720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インプット</a:t>
            </a:r>
          </a:p>
        </p:txBody>
      </p:sp>
      <p:sp>
        <p:nvSpPr>
          <p:cNvPr id="28" name="正方形/長方形 27">
            <a:extLst>
              <a:ext uri="{FF2B5EF4-FFF2-40B4-BE49-F238E27FC236}">
                <a16:creationId xmlns:a16="http://schemas.microsoft.com/office/drawing/2014/main" id="{C0676E54-8938-F9DE-3863-D26BFDC60E44}"/>
              </a:ext>
            </a:extLst>
          </p:cNvPr>
          <p:cNvSpPr/>
          <p:nvPr/>
        </p:nvSpPr>
        <p:spPr>
          <a:xfrm>
            <a:off x="3353185" y="3463995"/>
            <a:ext cx="1800000" cy="720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テスト観点</a:t>
            </a:r>
            <a:endParaRPr kumimoji="1" lang="en-US" altLang="ja-JP" dirty="0">
              <a:solidFill>
                <a:schemeClr val="bg1"/>
              </a:solidFill>
            </a:endParaRPr>
          </a:p>
          <a:p>
            <a:pPr algn="ctr"/>
            <a:r>
              <a:rPr lang="ja-JP" altLang="en-US" dirty="0">
                <a:solidFill>
                  <a:schemeClr val="bg1"/>
                </a:solidFill>
              </a:rPr>
              <a:t>（カスタマイズ）</a:t>
            </a:r>
            <a:endParaRPr kumimoji="1" lang="ja-JP" altLang="en-US" dirty="0">
              <a:solidFill>
                <a:schemeClr val="bg1"/>
              </a:solidFill>
            </a:endParaRPr>
          </a:p>
        </p:txBody>
      </p:sp>
      <p:sp>
        <p:nvSpPr>
          <p:cNvPr id="30" name="正方形/長方形 29">
            <a:extLst>
              <a:ext uri="{FF2B5EF4-FFF2-40B4-BE49-F238E27FC236}">
                <a16:creationId xmlns:a16="http://schemas.microsoft.com/office/drawing/2014/main" id="{8418042E-A5D8-FD1C-253F-8A660B34FE20}"/>
              </a:ext>
            </a:extLst>
          </p:cNvPr>
          <p:cNvSpPr/>
          <p:nvPr/>
        </p:nvSpPr>
        <p:spPr>
          <a:xfrm>
            <a:off x="6094126" y="3436002"/>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テスト項目</a:t>
            </a:r>
          </a:p>
        </p:txBody>
      </p:sp>
      <p:sp>
        <p:nvSpPr>
          <p:cNvPr id="32" name="テキスト ボックス 99">
            <a:extLst>
              <a:ext uri="{FF2B5EF4-FFF2-40B4-BE49-F238E27FC236}">
                <a16:creationId xmlns:a16="http://schemas.microsoft.com/office/drawing/2014/main" id="{D46893BD-5F56-E4CC-831C-D1164AC9DB2B}"/>
              </a:ext>
            </a:extLst>
          </p:cNvPr>
          <p:cNvSpPr txBox="1"/>
          <p:nvPr/>
        </p:nvSpPr>
        <p:spPr>
          <a:xfrm>
            <a:off x="2844827" y="3513607"/>
            <a:ext cx="514885" cy="584775"/>
          </a:xfrm>
          <a:prstGeom prst="rect">
            <a:avLst/>
          </a:prstGeom>
          <a:noFill/>
        </p:spPr>
        <p:txBody>
          <a:bodyPr wrap="none" rtlCol="0">
            <a:spAutoFit/>
          </a:bodyPr>
          <a:lstStyle>
            <a:defPPr>
              <a:defRPr lang="ja-JP"/>
            </a:defPPr>
            <a:lvl1pPr marL="0" algn="l" defTabSz="925880" rtl="0" eaLnBrk="1" latinLnBrk="0" hangingPunct="1">
              <a:defRPr kumimoji="1" sz="1822" kern="1200">
                <a:solidFill>
                  <a:schemeClr val="tx1"/>
                </a:solidFill>
                <a:latin typeface="+mn-lt"/>
                <a:ea typeface="+mn-ea"/>
                <a:cs typeface="+mn-cs"/>
              </a:defRPr>
            </a:lvl1pPr>
            <a:lvl2pPr marL="462940" algn="l" defTabSz="925880" rtl="0" eaLnBrk="1" latinLnBrk="0" hangingPunct="1">
              <a:defRPr kumimoji="1" sz="1822" kern="1200">
                <a:solidFill>
                  <a:schemeClr val="tx1"/>
                </a:solidFill>
                <a:latin typeface="+mn-lt"/>
                <a:ea typeface="+mn-ea"/>
                <a:cs typeface="+mn-cs"/>
              </a:defRPr>
            </a:lvl2pPr>
            <a:lvl3pPr marL="925880" algn="l" defTabSz="925880" rtl="0" eaLnBrk="1" latinLnBrk="0" hangingPunct="1">
              <a:defRPr kumimoji="1" sz="1822" kern="1200">
                <a:solidFill>
                  <a:schemeClr val="tx1"/>
                </a:solidFill>
                <a:latin typeface="+mn-lt"/>
                <a:ea typeface="+mn-ea"/>
                <a:cs typeface="+mn-cs"/>
              </a:defRPr>
            </a:lvl3pPr>
            <a:lvl4pPr marL="1388820" algn="l" defTabSz="925880" rtl="0" eaLnBrk="1" latinLnBrk="0" hangingPunct="1">
              <a:defRPr kumimoji="1" sz="1822" kern="1200">
                <a:solidFill>
                  <a:schemeClr val="tx1"/>
                </a:solidFill>
                <a:latin typeface="+mn-lt"/>
                <a:ea typeface="+mn-ea"/>
                <a:cs typeface="+mn-cs"/>
              </a:defRPr>
            </a:lvl4pPr>
            <a:lvl5pPr marL="1851759" algn="l" defTabSz="925880" rtl="0" eaLnBrk="1" latinLnBrk="0" hangingPunct="1">
              <a:defRPr kumimoji="1" sz="1822" kern="1200">
                <a:solidFill>
                  <a:schemeClr val="tx1"/>
                </a:solidFill>
                <a:latin typeface="+mn-lt"/>
                <a:ea typeface="+mn-ea"/>
                <a:cs typeface="+mn-cs"/>
              </a:defRPr>
            </a:lvl5pPr>
            <a:lvl6pPr marL="2314699" algn="l" defTabSz="925880" rtl="0" eaLnBrk="1" latinLnBrk="0" hangingPunct="1">
              <a:defRPr kumimoji="1" sz="1822" kern="1200">
                <a:solidFill>
                  <a:schemeClr val="tx1"/>
                </a:solidFill>
                <a:latin typeface="+mn-lt"/>
                <a:ea typeface="+mn-ea"/>
                <a:cs typeface="+mn-cs"/>
              </a:defRPr>
            </a:lvl6pPr>
            <a:lvl7pPr marL="2777640" algn="l" defTabSz="925880" rtl="0" eaLnBrk="1" latinLnBrk="0" hangingPunct="1">
              <a:defRPr kumimoji="1" sz="1822" kern="1200">
                <a:solidFill>
                  <a:schemeClr val="tx1"/>
                </a:solidFill>
                <a:latin typeface="+mn-lt"/>
                <a:ea typeface="+mn-ea"/>
                <a:cs typeface="+mn-cs"/>
              </a:defRPr>
            </a:lvl7pPr>
            <a:lvl8pPr marL="3240579" algn="l" defTabSz="925880" rtl="0" eaLnBrk="1" latinLnBrk="0" hangingPunct="1">
              <a:defRPr kumimoji="1" sz="1822" kern="1200">
                <a:solidFill>
                  <a:schemeClr val="tx1"/>
                </a:solidFill>
                <a:latin typeface="+mn-lt"/>
                <a:ea typeface="+mn-ea"/>
                <a:cs typeface="+mn-cs"/>
              </a:defRPr>
            </a:lvl8pPr>
            <a:lvl9pPr marL="3703519" algn="l" defTabSz="925880" rtl="0" eaLnBrk="1" latinLnBrk="0" hangingPunct="1">
              <a:defRPr kumimoji="1" sz="1822" kern="1200">
                <a:solidFill>
                  <a:schemeClr val="tx1"/>
                </a:solidFill>
                <a:latin typeface="+mn-lt"/>
                <a:ea typeface="+mn-ea"/>
                <a:cs typeface="+mn-cs"/>
              </a:defRPr>
            </a:lvl9pPr>
          </a:lstStyle>
          <a:p>
            <a:r>
              <a:rPr kumimoji="1" lang="en-US" altLang="ja-JP" sz="3200" dirty="0"/>
              <a:t>×</a:t>
            </a:r>
            <a:endParaRPr kumimoji="1" lang="ja-JP" altLang="en-US" sz="3200" dirty="0"/>
          </a:p>
        </p:txBody>
      </p:sp>
      <p:sp>
        <p:nvSpPr>
          <p:cNvPr id="4" name="正方形/長方形 3">
            <a:extLst>
              <a:ext uri="{FF2B5EF4-FFF2-40B4-BE49-F238E27FC236}">
                <a16:creationId xmlns:a16="http://schemas.microsoft.com/office/drawing/2014/main" id="{AD024AF9-B4EC-FEAE-C0D4-2B0C9943477D}"/>
              </a:ext>
            </a:extLst>
          </p:cNvPr>
          <p:cNvSpPr/>
          <p:nvPr/>
        </p:nvSpPr>
        <p:spPr>
          <a:xfrm>
            <a:off x="3353185" y="2140817"/>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テスト観点</a:t>
            </a:r>
            <a:endParaRPr kumimoji="1" lang="en-US" altLang="ja-JP" dirty="0">
              <a:solidFill>
                <a:schemeClr val="bg1"/>
              </a:solidFill>
            </a:endParaRPr>
          </a:p>
          <a:p>
            <a:pPr algn="ctr"/>
            <a:r>
              <a:rPr lang="ja-JP" altLang="en-US" dirty="0">
                <a:solidFill>
                  <a:schemeClr val="bg1"/>
                </a:solidFill>
              </a:rPr>
              <a:t>（標準）</a:t>
            </a:r>
            <a:endParaRPr lang="en-US" altLang="ja-JP" dirty="0">
              <a:solidFill>
                <a:schemeClr val="bg1"/>
              </a:solidFill>
            </a:endParaRPr>
          </a:p>
        </p:txBody>
      </p:sp>
      <p:cxnSp>
        <p:nvCxnSpPr>
          <p:cNvPr id="5" name="直線矢印コネクタ 4">
            <a:extLst>
              <a:ext uri="{FF2B5EF4-FFF2-40B4-BE49-F238E27FC236}">
                <a16:creationId xmlns:a16="http://schemas.microsoft.com/office/drawing/2014/main" id="{2BC35A53-2FA4-0462-FA97-CB59C61EEFE2}"/>
              </a:ext>
            </a:extLst>
          </p:cNvPr>
          <p:cNvCxnSpPr>
            <a:cxnSpLocks/>
            <a:stCxn id="4" idx="2"/>
            <a:endCxn id="28" idx="0"/>
          </p:cNvCxnSpPr>
          <p:nvPr/>
        </p:nvCxnSpPr>
        <p:spPr>
          <a:xfrm>
            <a:off x="4253185" y="2860817"/>
            <a:ext cx="0" cy="603178"/>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44336EBE-A5DB-1301-C919-AEA234EEBB9F}"/>
              </a:ext>
            </a:extLst>
          </p:cNvPr>
          <p:cNvSpPr/>
          <p:nvPr/>
        </p:nvSpPr>
        <p:spPr>
          <a:xfrm>
            <a:off x="816270" y="3301876"/>
            <a:ext cx="4571998" cy="982395"/>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9" name="直線矢印コネクタ 8">
            <a:extLst>
              <a:ext uri="{FF2B5EF4-FFF2-40B4-BE49-F238E27FC236}">
                <a16:creationId xmlns:a16="http://schemas.microsoft.com/office/drawing/2014/main" id="{820ECAEA-C8ED-27E8-50F0-448E4FFFFB1D}"/>
              </a:ext>
            </a:extLst>
          </p:cNvPr>
          <p:cNvCxnSpPr>
            <a:cxnSpLocks/>
            <a:stCxn id="8" idx="3"/>
            <a:endCxn id="30" idx="1"/>
          </p:cNvCxnSpPr>
          <p:nvPr/>
        </p:nvCxnSpPr>
        <p:spPr>
          <a:xfrm>
            <a:off x="5388268" y="3793074"/>
            <a:ext cx="705858" cy="2928"/>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正方形/長方形 13">
            <a:extLst>
              <a:ext uri="{FF2B5EF4-FFF2-40B4-BE49-F238E27FC236}">
                <a16:creationId xmlns:a16="http://schemas.microsoft.com/office/drawing/2014/main" id="{FCE19BAE-2B8A-2F90-D8C7-B98B02692680}"/>
              </a:ext>
            </a:extLst>
          </p:cNvPr>
          <p:cNvSpPr/>
          <p:nvPr/>
        </p:nvSpPr>
        <p:spPr>
          <a:xfrm>
            <a:off x="8599984" y="3436002"/>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テストケース</a:t>
            </a:r>
          </a:p>
        </p:txBody>
      </p:sp>
      <p:cxnSp>
        <p:nvCxnSpPr>
          <p:cNvPr id="15" name="直線矢印コネクタ 14">
            <a:extLst>
              <a:ext uri="{FF2B5EF4-FFF2-40B4-BE49-F238E27FC236}">
                <a16:creationId xmlns:a16="http://schemas.microsoft.com/office/drawing/2014/main" id="{062B292D-E1B6-D345-BE13-D7D283843940}"/>
              </a:ext>
            </a:extLst>
          </p:cNvPr>
          <p:cNvCxnSpPr>
            <a:cxnSpLocks/>
            <a:endCxn id="14" idx="1"/>
          </p:cNvCxnSpPr>
          <p:nvPr/>
        </p:nvCxnSpPr>
        <p:spPr>
          <a:xfrm>
            <a:off x="7894126" y="3796002"/>
            <a:ext cx="705858"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400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19A5E-A5E9-575D-56F9-210CB6CEBEFB}"/>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865169E-5C46-F671-1461-3D9B0475CDB5}"/>
              </a:ext>
            </a:extLst>
          </p:cNvPr>
          <p:cNvSpPr>
            <a:spLocks noGrp="1"/>
          </p:cNvSpPr>
          <p:nvPr>
            <p:ph sz="quarter" idx="4294967295"/>
          </p:nvPr>
        </p:nvSpPr>
        <p:spPr>
          <a:xfrm>
            <a:off x="371474" y="1012801"/>
            <a:ext cx="11448000" cy="519194"/>
          </a:xfrm>
        </p:spPr>
        <p:txBody>
          <a:bodyPr/>
          <a:lstStyle/>
          <a:p>
            <a:r>
              <a:rPr kumimoji="1" lang="ja-JP" altLang="en-US" u="sng" dirty="0">
                <a:solidFill>
                  <a:schemeClr val="tx1"/>
                </a:solidFill>
              </a:rPr>
              <a:t>テスト</a:t>
            </a:r>
            <a:r>
              <a:rPr lang="ja-JP" altLang="en-US" u="sng" dirty="0">
                <a:solidFill>
                  <a:schemeClr val="tx1"/>
                </a:solidFill>
              </a:rPr>
              <a:t>設計の流れ</a:t>
            </a:r>
            <a:endParaRPr lang="en-US" altLang="ja-JP" u="sng" dirty="0">
              <a:solidFill>
                <a:schemeClr val="tx1"/>
              </a:solidFill>
            </a:endParaRPr>
          </a:p>
          <a:p>
            <a:r>
              <a:rPr lang="ja-JP" altLang="en-US" dirty="0">
                <a:solidFill>
                  <a:schemeClr val="tx1"/>
                </a:solidFill>
              </a:rPr>
              <a:t>テストケースが作成されるまでの流れは以下の通りである。</a:t>
            </a:r>
            <a:endParaRPr kumimoji="1" lang="en-US" altLang="ja-JP" dirty="0">
              <a:solidFill>
                <a:schemeClr val="tx1"/>
              </a:solidFill>
            </a:endParaRPr>
          </a:p>
        </p:txBody>
      </p:sp>
      <p:sp>
        <p:nvSpPr>
          <p:cNvPr id="2" name="タイトル 1">
            <a:extLst>
              <a:ext uri="{FF2B5EF4-FFF2-40B4-BE49-F238E27FC236}">
                <a16:creationId xmlns:a16="http://schemas.microsoft.com/office/drawing/2014/main" id="{A439B08F-9C6A-1068-CB81-7650B2E1F6D6}"/>
              </a:ext>
            </a:extLst>
          </p:cNvPr>
          <p:cNvSpPr>
            <a:spLocks noGrp="1"/>
          </p:cNvSpPr>
          <p:nvPr>
            <p:ph type="title"/>
          </p:nvPr>
        </p:nvSpPr>
        <p:spPr/>
        <p:txBody>
          <a:bodyPr anchor="ctr"/>
          <a:lstStyle/>
          <a:p>
            <a:r>
              <a:rPr kumimoji="1" lang="ja-JP" altLang="en-US" dirty="0"/>
              <a:t>テスト設計</a:t>
            </a:r>
          </a:p>
        </p:txBody>
      </p:sp>
      <p:sp>
        <p:nvSpPr>
          <p:cNvPr id="49" name="正方形/長方形 48">
            <a:extLst>
              <a:ext uri="{FF2B5EF4-FFF2-40B4-BE49-F238E27FC236}">
                <a16:creationId xmlns:a16="http://schemas.microsoft.com/office/drawing/2014/main" id="{7CFB7555-41F1-235B-F1F9-35D27F7BFD52}"/>
              </a:ext>
            </a:extLst>
          </p:cNvPr>
          <p:cNvSpPr/>
          <p:nvPr/>
        </p:nvSpPr>
        <p:spPr>
          <a:xfrm>
            <a:off x="370800" y="1726163"/>
            <a:ext cx="10630575" cy="3144417"/>
          </a:xfrm>
          <a:prstGeom prst="rect">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7" name="正方形/長方形 26">
            <a:extLst>
              <a:ext uri="{FF2B5EF4-FFF2-40B4-BE49-F238E27FC236}">
                <a16:creationId xmlns:a16="http://schemas.microsoft.com/office/drawing/2014/main" id="{1C118FD5-5E0E-4AEF-ADB4-F41D4F5734DA}"/>
              </a:ext>
            </a:extLst>
          </p:cNvPr>
          <p:cNvSpPr/>
          <p:nvPr/>
        </p:nvSpPr>
        <p:spPr>
          <a:xfrm>
            <a:off x="1051354" y="3463995"/>
            <a:ext cx="1800000" cy="720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インプット</a:t>
            </a:r>
          </a:p>
        </p:txBody>
      </p:sp>
      <p:sp>
        <p:nvSpPr>
          <p:cNvPr id="28" name="正方形/長方形 27">
            <a:extLst>
              <a:ext uri="{FF2B5EF4-FFF2-40B4-BE49-F238E27FC236}">
                <a16:creationId xmlns:a16="http://schemas.microsoft.com/office/drawing/2014/main" id="{4A85C2DE-50B6-A6CA-3450-81665D8EA84D}"/>
              </a:ext>
            </a:extLst>
          </p:cNvPr>
          <p:cNvSpPr/>
          <p:nvPr/>
        </p:nvSpPr>
        <p:spPr>
          <a:xfrm>
            <a:off x="3353185" y="3463995"/>
            <a:ext cx="1800000" cy="720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テスト観点</a:t>
            </a:r>
            <a:endParaRPr kumimoji="1" lang="en-US" altLang="ja-JP" dirty="0">
              <a:solidFill>
                <a:schemeClr val="bg1"/>
              </a:solidFill>
            </a:endParaRPr>
          </a:p>
          <a:p>
            <a:pPr algn="ctr"/>
            <a:r>
              <a:rPr lang="ja-JP" altLang="en-US" dirty="0">
                <a:solidFill>
                  <a:schemeClr val="bg1"/>
                </a:solidFill>
              </a:rPr>
              <a:t>（カスタマイズ）</a:t>
            </a:r>
            <a:endParaRPr kumimoji="1" lang="ja-JP" altLang="en-US" dirty="0">
              <a:solidFill>
                <a:schemeClr val="bg1"/>
              </a:solidFill>
            </a:endParaRPr>
          </a:p>
        </p:txBody>
      </p:sp>
      <p:sp>
        <p:nvSpPr>
          <p:cNvPr id="30" name="正方形/長方形 29">
            <a:extLst>
              <a:ext uri="{FF2B5EF4-FFF2-40B4-BE49-F238E27FC236}">
                <a16:creationId xmlns:a16="http://schemas.microsoft.com/office/drawing/2014/main" id="{FA25D7EC-4519-8BBA-52B3-78DCA48E89BE}"/>
              </a:ext>
            </a:extLst>
          </p:cNvPr>
          <p:cNvSpPr/>
          <p:nvPr/>
        </p:nvSpPr>
        <p:spPr>
          <a:xfrm>
            <a:off x="6094126" y="3436002"/>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テスト項目</a:t>
            </a:r>
          </a:p>
        </p:txBody>
      </p:sp>
      <p:sp>
        <p:nvSpPr>
          <p:cNvPr id="32" name="テキスト ボックス 99">
            <a:extLst>
              <a:ext uri="{FF2B5EF4-FFF2-40B4-BE49-F238E27FC236}">
                <a16:creationId xmlns:a16="http://schemas.microsoft.com/office/drawing/2014/main" id="{DC6C97A0-CADF-F941-32D9-03910A92D90C}"/>
              </a:ext>
            </a:extLst>
          </p:cNvPr>
          <p:cNvSpPr txBox="1"/>
          <p:nvPr/>
        </p:nvSpPr>
        <p:spPr>
          <a:xfrm>
            <a:off x="2844827" y="3513607"/>
            <a:ext cx="514885" cy="584775"/>
          </a:xfrm>
          <a:prstGeom prst="rect">
            <a:avLst/>
          </a:prstGeom>
          <a:noFill/>
        </p:spPr>
        <p:txBody>
          <a:bodyPr wrap="none" rtlCol="0">
            <a:spAutoFit/>
          </a:bodyPr>
          <a:lstStyle>
            <a:defPPr>
              <a:defRPr lang="ja-JP"/>
            </a:defPPr>
            <a:lvl1pPr marL="0" algn="l" defTabSz="925880" rtl="0" eaLnBrk="1" latinLnBrk="0" hangingPunct="1">
              <a:defRPr kumimoji="1" sz="1822" kern="1200">
                <a:solidFill>
                  <a:schemeClr val="tx1"/>
                </a:solidFill>
                <a:latin typeface="+mn-lt"/>
                <a:ea typeface="+mn-ea"/>
                <a:cs typeface="+mn-cs"/>
              </a:defRPr>
            </a:lvl1pPr>
            <a:lvl2pPr marL="462940" algn="l" defTabSz="925880" rtl="0" eaLnBrk="1" latinLnBrk="0" hangingPunct="1">
              <a:defRPr kumimoji="1" sz="1822" kern="1200">
                <a:solidFill>
                  <a:schemeClr val="tx1"/>
                </a:solidFill>
                <a:latin typeface="+mn-lt"/>
                <a:ea typeface="+mn-ea"/>
                <a:cs typeface="+mn-cs"/>
              </a:defRPr>
            </a:lvl2pPr>
            <a:lvl3pPr marL="925880" algn="l" defTabSz="925880" rtl="0" eaLnBrk="1" latinLnBrk="0" hangingPunct="1">
              <a:defRPr kumimoji="1" sz="1822" kern="1200">
                <a:solidFill>
                  <a:schemeClr val="tx1"/>
                </a:solidFill>
                <a:latin typeface="+mn-lt"/>
                <a:ea typeface="+mn-ea"/>
                <a:cs typeface="+mn-cs"/>
              </a:defRPr>
            </a:lvl3pPr>
            <a:lvl4pPr marL="1388820" algn="l" defTabSz="925880" rtl="0" eaLnBrk="1" latinLnBrk="0" hangingPunct="1">
              <a:defRPr kumimoji="1" sz="1822" kern="1200">
                <a:solidFill>
                  <a:schemeClr val="tx1"/>
                </a:solidFill>
                <a:latin typeface="+mn-lt"/>
                <a:ea typeface="+mn-ea"/>
                <a:cs typeface="+mn-cs"/>
              </a:defRPr>
            </a:lvl4pPr>
            <a:lvl5pPr marL="1851759" algn="l" defTabSz="925880" rtl="0" eaLnBrk="1" latinLnBrk="0" hangingPunct="1">
              <a:defRPr kumimoji="1" sz="1822" kern="1200">
                <a:solidFill>
                  <a:schemeClr val="tx1"/>
                </a:solidFill>
                <a:latin typeface="+mn-lt"/>
                <a:ea typeface="+mn-ea"/>
                <a:cs typeface="+mn-cs"/>
              </a:defRPr>
            </a:lvl5pPr>
            <a:lvl6pPr marL="2314699" algn="l" defTabSz="925880" rtl="0" eaLnBrk="1" latinLnBrk="0" hangingPunct="1">
              <a:defRPr kumimoji="1" sz="1822" kern="1200">
                <a:solidFill>
                  <a:schemeClr val="tx1"/>
                </a:solidFill>
                <a:latin typeface="+mn-lt"/>
                <a:ea typeface="+mn-ea"/>
                <a:cs typeface="+mn-cs"/>
              </a:defRPr>
            </a:lvl6pPr>
            <a:lvl7pPr marL="2777640" algn="l" defTabSz="925880" rtl="0" eaLnBrk="1" latinLnBrk="0" hangingPunct="1">
              <a:defRPr kumimoji="1" sz="1822" kern="1200">
                <a:solidFill>
                  <a:schemeClr val="tx1"/>
                </a:solidFill>
                <a:latin typeface="+mn-lt"/>
                <a:ea typeface="+mn-ea"/>
                <a:cs typeface="+mn-cs"/>
              </a:defRPr>
            </a:lvl7pPr>
            <a:lvl8pPr marL="3240579" algn="l" defTabSz="925880" rtl="0" eaLnBrk="1" latinLnBrk="0" hangingPunct="1">
              <a:defRPr kumimoji="1" sz="1822" kern="1200">
                <a:solidFill>
                  <a:schemeClr val="tx1"/>
                </a:solidFill>
                <a:latin typeface="+mn-lt"/>
                <a:ea typeface="+mn-ea"/>
                <a:cs typeface="+mn-cs"/>
              </a:defRPr>
            </a:lvl8pPr>
            <a:lvl9pPr marL="3703519" algn="l" defTabSz="925880" rtl="0" eaLnBrk="1" latinLnBrk="0" hangingPunct="1">
              <a:defRPr kumimoji="1" sz="1822" kern="1200">
                <a:solidFill>
                  <a:schemeClr val="tx1"/>
                </a:solidFill>
                <a:latin typeface="+mn-lt"/>
                <a:ea typeface="+mn-ea"/>
                <a:cs typeface="+mn-cs"/>
              </a:defRPr>
            </a:lvl9pPr>
          </a:lstStyle>
          <a:p>
            <a:r>
              <a:rPr kumimoji="1" lang="en-US" altLang="ja-JP" sz="3200" dirty="0"/>
              <a:t>×</a:t>
            </a:r>
            <a:endParaRPr kumimoji="1" lang="ja-JP" altLang="en-US" sz="3200" dirty="0"/>
          </a:p>
        </p:txBody>
      </p:sp>
      <p:sp>
        <p:nvSpPr>
          <p:cNvPr id="4" name="正方形/長方形 3">
            <a:extLst>
              <a:ext uri="{FF2B5EF4-FFF2-40B4-BE49-F238E27FC236}">
                <a16:creationId xmlns:a16="http://schemas.microsoft.com/office/drawing/2014/main" id="{B74B1AE8-7B02-B3CF-C007-37F4606F64DF}"/>
              </a:ext>
            </a:extLst>
          </p:cNvPr>
          <p:cNvSpPr/>
          <p:nvPr/>
        </p:nvSpPr>
        <p:spPr>
          <a:xfrm>
            <a:off x="3353185" y="2140817"/>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テスト観点</a:t>
            </a:r>
            <a:endParaRPr kumimoji="1" lang="en-US" altLang="ja-JP" dirty="0">
              <a:solidFill>
                <a:schemeClr val="bg1"/>
              </a:solidFill>
            </a:endParaRPr>
          </a:p>
          <a:p>
            <a:pPr algn="ctr"/>
            <a:r>
              <a:rPr lang="ja-JP" altLang="en-US" dirty="0">
                <a:solidFill>
                  <a:schemeClr val="bg1"/>
                </a:solidFill>
              </a:rPr>
              <a:t>（標準）</a:t>
            </a:r>
            <a:endParaRPr lang="en-US" altLang="ja-JP" dirty="0">
              <a:solidFill>
                <a:schemeClr val="bg1"/>
              </a:solidFill>
            </a:endParaRPr>
          </a:p>
        </p:txBody>
      </p:sp>
      <p:cxnSp>
        <p:nvCxnSpPr>
          <p:cNvPr id="5" name="直線矢印コネクタ 4">
            <a:extLst>
              <a:ext uri="{FF2B5EF4-FFF2-40B4-BE49-F238E27FC236}">
                <a16:creationId xmlns:a16="http://schemas.microsoft.com/office/drawing/2014/main" id="{FD9434E7-3F84-1B93-B400-F39FA749CC76}"/>
              </a:ext>
            </a:extLst>
          </p:cNvPr>
          <p:cNvCxnSpPr>
            <a:cxnSpLocks/>
            <a:stCxn id="4" idx="2"/>
            <a:endCxn id="28" idx="0"/>
          </p:cNvCxnSpPr>
          <p:nvPr/>
        </p:nvCxnSpPr>
        <p:spPr>
          <a:xfrm>
            <a:off x="4253185" y="2860817"/>
            <a:ext cx="0" cy="603178"/>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7DB122B9-BF67-0042-4E3C-C140343A0952}"/>
              </a:ext>
            </a:extLst>
          </p:cNvPr>
          <p:cNvSpPr/>
          <p:nvPr/>
        </p:nvSpPr>
        <p:spPr>
          <a:xfrm>
            <a:off x="816270" y="3301876"/>
            <a:ext cx="4571998" cy="982395"/>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9" name="直線矢印コネクタ 8">
            <a:extLst>
              <a:ext uri="{FF2B5EF4-FFF2-40B4-BE49-F238E27FC236}">
                <a16:creationId xmlns:a16="http://schemas.microsoft.com/office/drawing/2014/main" id="{34E74A1E-CBBA-E652-868F-1F318E2207E9}"/>
              </a:ext>
            </a:extLst>
          </p:cNvPr>
          <p:cNvCxnSpPr>
            <a:cxnSpLocks/>
            <a:stCxn id="8" idx="3"/>
            <a:endCxn id="30" idx="1"/>
          </p:cNvCxnSpPr>
          <p:nvPr/>
        </p:nvCxnSpPr>
        <p:spPr>
          <a:xfrm>
            <a:off x="5388268" y="3793074"/>
            <a:ext cx="705858" cy="2928"/>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正方形/長方形 13">
            <a:extLst>
              <a:ext uri="{FF2B5EF4-FFF2-40B4-BE49-F238E27FC236}">
                <a16:creationId xmlns:a16="http://schemas.microsoft.com/office/drawing/2014/main" id="{92FDDA95-2AF9-4B32-36E3-7E96FE38AA73}"/>
              </a:ext>
            </a:extLst>
          </p:cNvPr>
          <p:cNvSpPr/>
          <p:nvPr/>
        </p:nvSpPr>
        <p:spPr>
          <a:xfrm>
            <a:off x="8599984" y="3436002"/>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テストケース</a:t>
            </a:r>
          </a:p>
        </p:txBody>
      </p:sp>
      <p:cxnSp>
        <p:nvCxnSpPr>
          <p:cNvPr id="15" name="直線矢印コネクタ 14">
            <a:extLst>
              <a:ext uri="{FF2B5EF4-FFF2-40B4-BE49-F238E27FC236}">
                <a16:creationId xmlns:a16="http://schemas.microsoft.com/office/drawing/2014/main" id="{4FC214C5-F8A2-9795-5AFF-F9E93DFCE52E}"/>
              </a:ext>
            </a:extLst>
          </p:cNvPr>
          <p:cNvCxnSpPr>
            <a:cxnSpLocks/>
            <a:endCxn id="14" idx="1"/>
          </p:cNvCxnSpPr>
          <p:nvPr/>
        </p:nvCxnSpPr>
        <p:spPr>
          <a:xfrm>
            <a:off x="7894126" y="3796002"/>
            <a:ext cx="705858"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正方形/長方形 24">
            <a:extLst>
              <a:ext uri="{FF2B5EF4-FFF2-40B4-BE49-F238E27FC236}">
                <a16:creationId xmlns:a16="http://schemas.microsoft.com/office/drawing/2014/main" id="{898ECE96-362F-7D50-046A-08BAAD34E731}"/>
              </a:ext>
            </a:extLst>
          </p:cNvPr>
          <p:cNvSpPr/>
          <p:nvPr/>
        </p:nvSpPr>
        <p:spPr>
          <a:xfrm>
            <a:off x="3264674" y="2044035"/>
            <a:ext cx="1980000" cy="933592"/>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6" name="グループ化 5">
            <a:extLst>
              <a:ext uri="{FF2B5EF4-FFF2-40B4-BE49-F238E27FC236}">
                <a16:creationId xmlns:a16="http://schemas.microsoft.com/office/drawing/2014/main" id="{8C9A54E7-4B47-8BFD-98EC-6B4C08980F4F}"/>
              </a:ext>
            </a:extLst>
          </p:cNvPr>
          <p:cNvGrpSpPr/>
          <p:nvPr/>
        </p:nvGrpSpPr>
        <p:grpSpPr>
          <a:xfrm>
            <a:off x="2740153" y="3191318"/>
            <a:ext cx="9376516" cy="3246803"/>
            <a:chOff x="2669304" y="2825951"/>
            <a:chExt cx="9376516" cy="3246803"/>
          </a:xfrm>
        </p:grpSpPr>
        <p:sp>
          <p:nvSpPr>
            <p:cNvPr id="7" name="正方形/長方形 6">
              <a:extLst>
                <a:ext uri="{FF2B5EF4-FFF2-40B4-BE49-F238E27FC236}">
                  <a16:creationId xmlns:a16="http://schemas.microsoft.com/office/drawing/2014/main" id="{3FD84C39-48CA-C6FE-723A-13743A247915}"/>
                </a:ext>
              </a:extLst>
            </p:cNvPr>
            <p:cNvSpPr/>
            <p:nvPr/>
          </p:nvSpPr>
          <p:spPr>
            <a:xfrm>
              <a:off x="5507720" y="2870908"/>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テスト項目</a:t>
              </a:r>
            </a:p>
          </p:txBody>
        </p:sp>
        <p:cxnSp>
          <p:nvCxnSpPr>
            <p:cNvPr id="10" name="直線矢印コネクタ 9">
              <a:extLst>
                <a:ext uri="{FF2B5EF4-FFF2-40B4-BE49-F238E27FC236}">
                  <a16:creationId xmlns:a16="http://schemas.microsoft.com/office/drawing/2014/main" id="{95A3F6D7-BB66-6C19-DD43-EECB96547ADD}"/>
                </a:ext>
              </a:extLst>
            </p:cNvPr>
            <p:cNvCxnSpPr>
              <a:cxnSpLocks/>
              <a:endCxn id="7" idx="1"/>
            </p:cNvCxnSpPr>
            <p:nvPr/>
          </p:nvCxnSpPr>
          <p:spPr>
            <a:xfrm>
              <a:off x="4801862" y="3227980"/>
              <a:ext cx="705858" cy="2928"/>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270336C5-F51F-1EC9-CEA6-C2BDE6AF7E14}"/>
                </a:ext>
              </a:extLst>
            </p:cNvPr>
            <p:cNvSpPr/>
            <p:nvPr/>
          </p:nvSpPr>
          <p:spPr>
            <a:xfrm>
              <a:off x="8013578" y="2870908"/>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テストケース</a:t>
              </a:r>
            </a:p>
          </p:txBody>
        </p:sp>
        <p:cxnSp>
          <p:nvCxnSpPr>
            <p:cNvPr id="12" name="直線矢印コネクタ 11">
              <a:extLst>
                <a:ext uri="{FF2B5EF4-FFF2-40B4-BE49-F238E27FC236}">
                  <a16:creationId xmlns:a16="http://schemas.microsoft.com/office/drawing/2014/main" id="{C1FBC751-4BA0-F7F8-647E-659FD5678813}"/>
                </a:ext>
              </a:extLst>
            </p:cNvPr>
            <p:cNvCxnSpPr>
              <a:cxnSpLocks/>
              <a:endCxn id="11" idx="1"/>
            </p:cNvCxnSpPr>
            <p:nvPr/>
          </p:nvCxnSpPr>
          <p:spPr>
            <a:xfrm>
              <a:off x="7307720" y="3230908"/>
              <a:ext cx="705858"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四角形: 角を丸くする 12">
              <a:extLst>
                <a:ext uri="{FF2B5EF4-FFF2-40B4-BE49-F238E27FC236}">
                  <a16:creationId xmlns:a16="http://schemas.microsoft.com/office/drawing/2014/main" id="{031C5A90-2AF5-F812-7852-47F4E798C92A}"/>
                </a:ext>
              </a:extLst>
            </p:cNvPr>
            <p:cNvSpPr/>
            <p:nvPr/>
          </p:nvSpPr>
          <p:spPr>
            <a:xfrm>
              <a:off x="2669304" y="2825951"/>
              <a:ext cx="9376516" cy="3246803"/>
            </a:xfrm>
            <a:prstGeom prst="roundRect">
              <a:avLst>
                <a:gd name="adj" fmla="val 9195"/>
              </a:avLst>
            </a:prstGeom>
            <a:solidFill>
              <a:schemeClr val="bg1"/>
            </a:solid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16" name="図 15" descr="テーブル&#10;&#10;AI によって生成されたコンテンツは間違っている可能性があります。">
              <a:extLst>
                <a:ext uri="{FF2B5EF4-FFF2-40B4-BE49-F238E27FC236}">
                  <a16:creationId xmlns:a16="http://schemas.microsoft.com/office/drawing/2014/main" id="{921CF8FE-5E80-AB71-4FAA-A819BE14C295}"/>
                </a:ext>
              </a:extLst>
            </p:cNvPr>
            <p:cNvPicPr>
              <a:picLocks noChangeAspect="1"/>
            </p:cNvPicPr>
            <p:nvPr/>
          </p:nvPicPr>
          <p:blipFill>
            <a:blip r:embed="rId2"/>
            <a:srcRect t="10074" b="35831"/>
            <a:stretch/>
          </p:blipFill>
          <p:spPr>
            <a:xfrm>
              <a:off x="3508730" y="3907676"/>
              <a:ext cx="5543989" cy="2062692"/>
            </a:xfrm>
            <a:prstGeom prst="rect">
              <a:avLst/>
            </a:prstGeom>
          </p:spPr>
        </p:pic>
        <p:sp>
          <p:nvSpPr>
            <p:cNvPr id="17" name="テキスト ボックス 16">
              <a:extLst>
                <a:ext uri="{FF2B5EF4-FFF2-40B4-BE49-F238E27FC236}">
                  <a16:creationId xmlns:a16="http://schemas.microsoft.com/office/drawing/2014/main" id="{BE1DDE79-6662-B79A-278F-11D8FAC19B6E}"/>
                </a:ext>
              </a:extLst>
            </p:cNvPr>
            <p:cNvSpPr txBox="1"/>
            <p:nvPr/>
          </p:nvSpPr>
          <p:spPr>
            <a:xfrm>
              <a:off x="3000331" y="2962608"/>
              <a:ext cx="8232063" cy="400110"/>
            </a:xfrm>
            <a:prstGeom prst="rect">
              <a:avLst/>
            </a:prstGeom>
            <a:noFill/>
          </p:spPr>
          <p:txBody>
            <a:bodyPr wrap="square">
              <a:spAutoFit/>
            </a:bodyPr>
            <a:lstStyle/>
            <a:p>
              <a:r>
                <a:rPr lang="ja-JP" altLang="en-US" dirty="0">
                  <a:latin typeface="__Inter_a184c8"/>
                </a:rPr>
                <a:t>テスト観点を自力で洗い出そうとすると</a:t>
              </a:r>
              <a:r>
                <a:rPr kumimoji="1" lang="ja-JP" altLang="en-US" sz="1800" dirty="0">
                  <a:latin typeface="__Inter_a184c8"/>
                </a:rPr>
                <a:t>、どうしても</a:t>
              </a:r>
              <a:r>
                <a:rPr kumimoji="1" lang="ja-JP" altLang="en-US" sz="2000" b="1" dirty="0">
                  <a:latin typeface="__Inter_a184c8"/>
                </a:rPr>
                <a:t>観点漏れが発生してしまう</a:t>
              </a:r>
              <a:r>
                <a:rPr kumimoji="1" lang="en-US" altLang="ja-JP" sz="2000" b="1" dirty="0">
                  <a:latin typeface="__Inter_a184c8"/>
                </a:rPr>
                <a:t>…</a:t>
              </a:r>
              <a:endParaRPr lang="ja-JP" altLang="en-US" b="1" dirty="0"/>
            </a:p>
          </p:txBody>
        </p:sp>
        <p:sp>
          <p:nvSpPr>
            <p:cNvPr id="18" name="テキスト ボックス 17">
              <a:extLst>
                <a:ext uri="{FF2B5EF4-FFF2-40B4-BE49-F238E27FC236}">
                  <a16:creationId xmlns:a16="http://schemas.microsoft.com/office/drawing/2014/main" id="{4734CD6B-545D-E209-FEFF-33E9A703F58C}"/>
                </a:ext>
              </a:extLst>
            </p:cNvPr>
            <p:cNvSpPr txBox="1"/>
            <p:nvPr/>
          </p:nvSpPr>
          <p:spPr>
            <a:xfrm>
              <a:off x="3000333" y="3252802"/>
              <a:ext cx="8458407" cy="400110"/>
            </a:xfrm>
            <a:prstGeom prst="rect">
              <a:avLst/>
            </a:prstGeom>
            <a:noFill/>
          </p:spPr>
          <p:txBody>
            <a:bodyPr wrap="square">
              <a:spAutoFit/>
            </a:bodyPr>
            <a:lstStyle/>
            <a:p>
              <a:r>
                <a:rPr lang="ja-JP" altLang="en-US" dirty="0">
                  <a:latin typeface="__Inter_a184c8"/>
                </a:rPr>
                <a:t>　⇒ カスタマイズ元のテスト観点表に</a:t>
              </a:r>
              <a:r>
                <a:rPr kumimoji="1" lang="ja-JP" altLang="en-US" sz="2000" b="1" dirty="0">
                  <a:solidFill>
                    <a:srgbClr val="FF0000"/>
                  </a:solidFill>
                  <a:latin typeface="__Inter_a184c8"/>
                </a:rPr>
                <a:t>標準的なテスト観点表</a:t>
              </a:r>
              <a:r>
                <a:rPr kumimoji="1" lang="ja-JP" altLang="en-US" sz="1800" dirty="0">
                  <a:latin typeface="__Inter_a184c8"/>
                </a:rPr>
                <a:t>を用いて、網羅性を確保する</a:t>
              </a:r>
              <a:endParaRPr lang="ja-JP" altLang="en-US" b="1" dirty="0"/>
            </a:p>
          </p:txBody>
        </p:sp>
        <p:sp>
          <p:nvSpPr>
            <p:cNvPr id="19" name="四角形: 角を丸くする 18">
              <a:extLst>
                <a:ext uri="{FF2B5EF4-FFF2-40B4-BE49-F238E27FC236}">
                  <a16:creationId xmlns:a16="http://schemas.microsoft.com/office/drawing/2014/main" id="{0A9F187E-9BED-3D44-CA44-0CE48806B257}"/>
                </a:ext>
              </a:extLst>
            </p:cNvPr>
            <p:cNvSpPr/>
            <p:nvPr/>
          </p:nvSpPr>
          <p:spPr>
            <a:xfrm>
              <a:off x="5165706" y="3626474"/>
              <a:ext cx="2230037" cy="304800"/>
            </a:xfrm>
            <a:prstGeom prst="round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u="sng" dirty="0">
                  <a:solidFill>
                    <a:schemeClr val="tx1"/>
                  </a:solidFill>
                </a:rPr>
                <a:t>テスト観点表例（抜粋）</a:t>
              </a:r>
            </a:p>
          </p:txBody>
        </p:sp>
        <p:grpSp>
          <p:nvGrpSpPr>
            <p:cNvPr id="20" name="グループ化 19">
              <a:extLst>
                <a:ext uri="{FF2B5EF4-FFF2-40B4-BE49-F238E27FC236}">
                  <a16:creationId xmlns:a16="http://schemas.microsoft.com/office/drawing/2014/main" id="{0232AEE0-CB8B-D8F3-525D-194F0176A6FB}"/>
                </a:ext>
              </a:extLst>
            </p:cNvPr>
            <p:cNvGrpSpPr/>
            <p:nvPr/>
          </p:nvGrpSpPr>
          <p:grpSpPr>
            <a:xfrm>
              <a:off x="8722819" y="4229395"/>
              <a:ext cx="3093680" cy="627256"/>
              <a:chOff x="7935197" y="4627224"/>
              <a:chExt cx="3093680" cy="627256"/>
            </a:xfrm>
          </p:grpSpPr>
          <p:sp>
            <p:nvSpPr>
              <p:cNvPr id="23" name="四角形: 角を丸くする 22">
                <a:extLst>
                  <a:ext uri="{FF2B5EF4-FFF2-40B4-BE49-F238E27FC236}">
                    <a16:creationId xmlns:a16="http://schemas.microsoft.com/office/drawing/2014/main" id="{6C6A21B6-D52F-7EB4-879E-778D646807F3}"/>
                  </a:ext>
                </a:extLst>
              </p:cNvPr>
              <p:cNvSpPr/>
              <p:nvPr/>
            </p:nvSpPr>
            <p:spPr>
              <a:xfrm>
                <a:off x="7935197" y="4627224"/>
                <a:ext cx="3093680" cy="627256"/>
              </a:xfrm>
              <a:prstGeom prst="round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4" name="テキスト ボックス 23">
                <a:extLst>
                  <a:ext uri="{FF2B5EF4-FFF2-40B4-BE49-F238E27FC236}">
                    <a16:creationId xmlns:a16="http://schemas.microsoft.com/office/drawing/2014/main" id="{4A0C7B9A-2C52-77A7-8243-D9FAF12E71B3}"/>
                  </a:ext>
                </a:extLst>
              </p:cNvPr>
              <p:cNvSpPr txBox="1"/>
              <p:nvPr/>
            </p:nvSpPr>
            <p:spPr>
              <a:xfrm>
                <a:off x="8090272" y="4683981"/>
                <a:ext cx="2783531" cy="523220"/>
              </a:xfrm>
              <a:prstGeom prst="rect">
                <a:avLst/>
              </a:prstGeom>
              <a:noFill/>
            </p:spPr>
            <p:txBody>
              <a:bodyPr wrap="square">
                <a:spAutoFit/>
              </a:bodyPr>
              <a:lstStyle/>
              <a:p>
                <a:pPr algn="ctr"/>
                <a:r>
                  <a:rPr lang="ja-JP" altLang="en-US" sz="1400" dirty="0"/>
                  <a:t>テスト</a:t>
                </a:r>
                <a:r>
                  <a:rPr kumimoji="1" lang="ja-JP" altLang="en-US" sz="1400" dirty="0">
                    <a:solidFill>
                      <a:schemeClr val="tx1"/>
                    </a:solidFill>
                  </a:rPr>
                  <a:t>観点表の正解はないので、</a:t>
                </a:r>
              </a:p>
              <a:p>
                <a:pPr algn="ctr"/>
                <a:r>
                  <a:rPr kumimoji="1" lang="ja-JP" altLang="en-US" sz="1400" dirty="0">
                    <a:solidFill>
                      <a:schemeClr val="tx1"/>
                    </a:solidFill>
                  </a:rPr>
                  <a:t>標準的なものを使用する</a:t>
                </a:r>
                <a:endParaRPr kumimoji="1" lang="en-US" altLang="ja-JP" sz="1400" dirty="0">
                  <a:solidFill>
                    <a:schemeClr val="tx1"/>
                  </a:solidFill>
                </a:endParaRPr>
              </a:p>
            </p:txBody>
          </p:sp>
        </p:grpSp>
        <p:sp>
          <p:nvSpPr>
            <p:cNvPr id="21" name="テキスト ボックス 20">
              <a:extLst>
                <a:ext uri="{FF2B5EF4-FFF2-40B4-BE49-F238E27FC236}">
                  <a16:creationId xmlns:a16="http://schemas.microsoft.com/office/drawing/2014/main" id="{F140AD50-A4FF-8678-F2D7-1EEA7BFA6CD6}"/>
                </a:ext>
              </a:extLst>
            </p:cNvPr>
            <p:cNvSpPr txBox="1"/>
            <p:nvPr/>
          </p:nvSpPr>
          <p:spPr>
            <a:xfrm>
              <a:off x="9716326" y="4849484"/>
              <a:ext cx="2100173" cy="387025"/>
            </a:xfrm>
            <a:prstGeom prst="rect">
              <a:avLst/>
            </a:prstGeom>
            <a:noFill/>
          </p:spPr>
          <p:txBody>
            <a:bodyPr wrap="square" lIns="0" rIns="0" rtlCol="0">
              <a:noAutofit/>
            </a:bodyPr>
            <a:lstStyle/>
            <a:p>
              <a:pPr algn="l" defTabSz="288000"/>
              <a:r>
                <a:rPr kumimoji="1" lang="en-US" altLang="ja-JP" sz="1100" dirty="0">
                  <a:latin typeface="+mn-ea"/>
                </a:rPr>
                <a:t>※</a:t>
              </a:r>
              <a:r>
                <a:rPr kumimoji="1" lang="ja-JP" altLang="en-US" sz="1100" dirty="0">
                  <a:latin typeface="+mn-ea"/>
                </a:rPr>
                <a:t>一般的に、大手開発ベンダーは</a:t>
              </a:r>
              <a:endParaRPr kumimoji="1" lang="en-US" altLang="ja-JP" sz="1100" dirty="0">
                <a:latin typeface="+mn-ea"/>
              </a:endParaRPr>
            </a:p>
            <a:p>
              <a:pPr algn="l" defTabSz="288000"/>
              <a:r>
                <a:rPr lang="ja-JP" altLang="en-US" sz="1100" dirty="0">
                  <a:latin typeface="+mn-ea"/>
                </a:rPr>
                <a:t>　　</a:t>
              </a:r>
              <a:r>
                <a:rPr kumimoji="1" lang="ja-JP" altLang="en-US" sz="1100" dirty="0">
                  <a:latin typeface="+mn-ea"/>
                </a:rPr>
                <a:t>“標準観点”を持っている</a:t>
              </a:r>
            </a:p>
          </p:txBody>
        </p:sp>
        <p:sp>
          <p:nvSpPr>
            <p:cNvPr id="22" name="テキスト ボックス 21">
              <a:extLst>
                <a:ext uri="{FF2B5EF4-FFF2-40B4-BE49-F238E27FC236}">
                  <a16:creationId xmlns:a16="http://schemas.microsoft.com/office/drawing/2014/main" id="{5963D7CC-23B9-58B5-EFCE-2B6C7C2450C2}"/>
                </a:ext>
              </a:extLst>
            </p:cNvPr>
            <p:cNvSpPr txBox="1"/>
            <p:nvPr/>
          </p:nvSpPr>
          <p:spPr>
            <a:xfrm>
              <a:off x="9052719" y="5772284"/>
              <a:ext cx="2962672" cy="246221"/>
            </a:xfrm>
            <a:prstGeom prst="rect">
              <a:avLst/>
            </a:prstGeom>
            <a:noFill/>
          </p:spPr>
          <p:txBody>
            <a:bodyPr wrap="square">
              <a:spAutoFit/>
            </a:bodyPr>
            <a:lstStyle/>
            <a:p>
              <a:pPr>
                <a:lnSpc>
                  <a:spcPts val="1200"/>
                </a:lnSpc>
              </a:pPr>
              <a:r>
                <a:rPr lang="ja-JP" altLang="en-US" sz="1050" dirty="0"/>
                <a:t>引用元：</a:t>
              </a:r>
              <a:r>
                <a:rPr lang="en-US" altLang="ja-JP" sz="1050" dirty="0"/>
                <a:t>TERASOLUNA</a:t>
              </a:r>
              <a:r>
                <a:rPr lang="ja-JP" altLang="en-US" sz="1050" dirty="0"/>
                <a:t>開発手順　テスト観点表</a:t>
              </a:r>
              <a:endParaRPr lang="en-US" altLang="ja-JP" sz="1050" dirty="0"/>
            </a:p>
          </p:txBody>
        </p:sp>
      </p:grpSp>
      <p:cxnSp>
        <p:nvCxnSpPr>
          <p:cNvPr id="26" name="直線コネクタ 25">
            <a:extLst>
              <a:ext uri="{FF2B5EF4-FFF2-40B4-BE49-F238E27FC236}">
                <a16:creationId xmlns:a16="http://schemas.microsoft.com/office/drawing/2014/main" id="{511ECF31-87E9-B678-ED45-6073FC2A29A3}"/>
              </a:ext>
            </a:extLst>
          </p:cNvPr>
          <p:cNvCxnSpPr>
            <a:cxnSpLocks/>
          </p:cNvCxnSpPr>
          <p:nvPr/>
        </p:nvCxnSpPr>
        <p:spPr>
          <a:xfrm>
            <a:off x="3628175" y="2977627"/>
            <a:ext cx="96796" cy="197652"/>
          </a:xfrm>
          <a:prstGeom prst="line">
            <a:avLst/>
          </a:prstGeom>
          <a:ln w="19050">
            <a:solidFill>
              <a:srgbClr val="FF00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1155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96BD1-EFF0-6F27-788E-E8DAF3E17392}"/>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77F4F15-D224-60B5-F15A-52403CE22E35}"/>
              </a:ext>
            </a:extLst>
          </p:cNvPr>
          <p:cNvSpPr>
            <a:spLocks noGrp="1"/>
          </p:cNvSpPr>
          <p:nvPr>
            <p:ph sz="quarter" idx="4294967295"/>
          </p:nvPr>
        </p:nvSpPr>
        <p:spPr>
          <a:xfrm>
            <a:off x="371474" y="1012801"/>
            <a:ext cx="11448000" cy="519194"/>
          </a:xfrm>
        </p:spPr>
        <p:txBody>
          <a:bodyPr/>
          <a:lstStyle/>
          <a:p>
            <a:r>
              <a:rPr kumimoji="1" lang="ja-JP" altLang="en-US" u="sng" dirty="0">
                <a:solidFill>
                  <a:schemeClr val="tx1"/>
                </a:solidFill>
              </a:rPr>
              <a:t>テスト</a:t>
            </a:r>
            <a:r>
              <a:rPr lang="ja-JP" altLang="en-US" u="sng" dirty="0">
                <a:solidFill>
                  <a:schemeClr val="tx1"/>
                </a:solidFill>
              </a:rPr>
              <a:t>設計の流れ</a:t>
            </a:r>
            <a:endParaRPr lang="en-US" altLang="ja-JP" u="sng" dirty="0">
              <a:solidFill>
                <a:schemeClr val="tx1"/>
              </a:solidFill>
            </a:endParaRPr>
          </a:p>
          <a:p>
            <a:r>
              <a:rPr lang="ja-JP" altLang="en-US" dirty="0">
                <a:solidFill>
                  <a:schemeClr val="tx1"/>
                </a:solidFill>
              </a:rPr>
              <a:t>テストケースが作成されるまでの流れは以下の通りである。</a:t>
            </a:r>
            <a:endParaRPr kumimoji="1" lang="en-US" altLang="ja-JP" dirty="0">
              <a:solidFill>
                <a:schemeClr val="tx1"/>
              </a:solidFill>
            </a:endParaRPr>
          </a:p>
        </p:txBody>
      </p:sp>
      <p:sp>
        <p:nvSpPr>
          <p:cNvPr id="2" name="タイトル 1">
            <a:extLst>
              <a:ext uri="{FF2B5EF4-FFF2-40B4-BE49-F238E27FC236}">
                <a16:creationId xmlns:a16="http://schemas.microsoft.com/office/drawing/2014/main" id="{91CEAB85-13F7-DDC1-0A44-208D78E589F2}"/>
              </a:ext>
            </a:extLst>
          </p:cNvPr>
          <p:cNvSpPr>
            <a:spLocks noGrp="1"/>
          </p:cNvSpPr>
          <p:nvPr>
            <p:ph type="title"/>
          </p:nvPr>
        </p:nvSpPr>
        <p:spPr/>
        <p:txBody>
          <a:bodyPr anchor="ctr"/>
          <a:lstStyle/>
          <a:p>
            <a:r>
              <a:rPr kumimoji="1" lang="ja-JP" altLang="en-US" dirty="0"/>
              <a:t>テスト設計</a:t>
            </a:r>
          </a:p>
        </p:txBody>
      </p:sp>
      <p:sp>
        <p:nvSpPr>
          <p:cNvPr id="49" name="正方形/長方形 48">
            <a:extLst>
              <a:ext uri="{FF2B5EF4-FFF2-40B4-BE49-F238E27FC236}">
                <a16:creationId xmlns:a16="http://schemas.microsoft.com/office/drawing/2014/main" id="{4388DB84-1E92-7A6F-2921-34E7C2E827AC}"/>
              </a:ext>
            </a:extLst>
          </p:cNvPr>
          <p:cNvSpPr/>
          <p:nvPr/>
        </p:nvSpPr>
        <p:spPr>
          <a:xfrm>
            <a:off x="370800" y="1726163"/>
            <a:ext cx="10630575" cy="3144417"/>
          </a:xfrm>
          <a:prstGeom prst="rect">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7" name="正方形/長方形 26">
            <a:extLst>
              <a:ext uri="{FF2B5EF4-FFF2-40B4-BE49-F238E27FC236}">
                <a16:creationId xmlns:a16="http://schemas.microsoft.com/office/drawing/2014/main" id="{D675928E-2A97-A9E3-97C9-D4F56136CF9F}"/>
              </a:ext>
            </a:extLst>
          </p:cNvPr>
          <p:cNvSpPr/>
          <p:nvPr/>
        </p:nvSpPr>
        <p:spPr>
          <a:xfrm>
            <a:off x="1051354" y="3463995"/>
            <a:ext cx="1800000" cy="720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インプット</a:t>
            </a:r>
          </a:p>
        </p:txBody>
      </p:sp>
      <p:sp>
        <p:nvSpPr>
          <p:cNvPr id="28" name="正方形/長方形 27">
            <a:extLst>
              <a:ext uri="{FF2B5EF4-FFF2-40B4-BE49-F238E27FC236}">
                <a16:creationId xmlns:a16="http://schemas.microsoft.com/office/drawing/2014/main" id="{EBA266F7-D20B-8433-C827-297EB7A5D72A}"/>
              </a:ext>
            </a:extLst>
          </p:cNvPr>
          <p:cNvSpPr/>
          <p:nvPr/>
        </p:nvSpPr>
        <p:spPr>
          <a:xfrm>
            <a:off x="3353185" y="3463995"/>
            <a:ext cx="1800000" cy="720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テスト観点</a:t>
            </a:r>
            <a:endParaRPr kumimoji="1" lang="en-US" altLang="ja-JP" dirty="0">
              <a:solidFill>
                <a:schemeClr val="bg1"/>
              </a:solidFill>
            </a:endParaRPr>
          </a:p>
          <a:p>
            <a:pPr algn="ctr"/>
            <a:r>
              <a:rPr lang="ja-JP" altLang="en-US" dirty="0">
                <a:solidFill>
                  <a:schemeClr val="bg1"/>
                </a:solidFill>
              </a:rPr>
              <a:t>（カスタマイズ）</a:t>
            </a:r>
            <a:endParaRPr kumimoji="1" lang="ja-JP" altLang="en-US" dirty="0">
              <a:solidFill>
                <a:schemeClr val="bg1"/>
              </a:solidFill>
            </a:endParaRPr>
          </a:p>
        </p:txBody>
      </p:sp>
      <p:sp>
        <p:nvSpPr>
          <p:cNvPr id="30" name="正方形/長方形 29">
            <a:extLst>
              <a:ext uri="{FF2B5EF4-FFF2-40B4-BE49-F238E27FC236}">
                <a16:creationId xmlns:a16="http://schemas.microsoft.com/office/drawing/2014/main" id="{A0A3DD87-CD98-DBC1-AE16-6010E0105816}"/>
              </a:ext>
            </a:extLst>
          </p:cNvPr>
          <p:cNvSpPr/>
          <p:nvPr/>
        </p:nvSpPr>
        <p:spPr>
          <a:xfrm>
            <a:off x="6094126" y="3436002"/>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テスト項目</a:t>
            </a:r>
          </a:p>
        </p:txBody>
      </p:sp>
      <p:sp>
        <p:nvSpPr>
          <p:cNvPr id="32" name="テキスト ボックス 99">
            <a:extLst>
              <a:ext uri="{FF2B5EF4-FFF2-40B4-BE49-F238E27FC236}">
                <a16:creationId xmlns:a16="http://schemas.microsoft.com/office/drawing/2014/main" id="{72A62C8D-D06D-C0D2-7E98-0CAA2142DC0A}"/>
              </a:ext>
            </a:extLst>
          </p:cNvPr>
          <p:cNvSpPr txBox="1"/>
          <p:nvPr/>
        </p:nvSpPr>
        <p:spPr>
          <a:xfrm>
            <a:off x="2844827" y="3513607"/>
            <a:ext cx="514885" cy="584775"/>
          </a:xfrm>
          <a:prstGeom prst="rect">
            <a:avLst/>
          </a:prstGeom>
          <a:noFill/>
        </p:spPr>
        <p:txBody>
          <a:bodyPr wrap="none" rtlCol="0">
            <a:spAutoFit/>
          </a:bodyPr>
          <a:lstStyle>
            <a:defPPr>
              <a:defRPr lang="ja-JP"/>
            </a:defPPr>
            <a:lvl1pPr marL="0" algn="l" defTabSz="925880" rtl="0" eaLnBrk="1" latinLnBrk="0" hangingPunct="1">
              <a:defRPr kumimoji="1" sz="1822" kern="1200">
                <a:solidFill>
                  <a:schemeClr val="tx1"/>
                </a:solidFill>
                <a:latin typeface="+mn-lt"/>
                <a:ea typeface="+mn-ea"/>
                <a:cs typeface="+mn-cs"/>
              </a:defRPr>
            </a:lvl1pPr>
            <a:lvl2pPr marL="462940" algn="l" defTabSz="925880" rtl="0" eaLnBrk="1" latinLnBrk="0" hangingPunct="1">
              <a:defRPr kumimoji="1" sz="1822" kern="1200">
                <a:solidFill>
                  <a:schemeClr val="tx1"/>
                </a:solidFill>
                <a:latin typeface="+mn-lt"/>
                <a:ea typeface="+mn-ea"/>
                <a:cs typeface="+mn-cs"/>
              </a:defRPr>
            </a:lvl2pPr>
            <a:lvl3pPr marL="925880" algn="l" defTabSz="925880" rtl="0" eaLnBrk="1" latinLnBrk="0" hangingPunct="1">
              <a:defRPr kumimoji="1" sz="1822" kern="1200">
                <a:solidFill>
                  <a:schemeClr val="tx1"/>
                </a:solidFill>
                <a:latin typeface="+mn-lt"/>
                <a:ea typeface="+mn-ea"/>
                <a:cs typeface="+mn-cs"/>
              </a:defRPr>
            </a:lvl3pPr>
            <a:lvl4pPr marL="1388820" algn="l" defTabSz="925880" rtl="0" eaLnBrk="1" latinLnBrk="0" hangingPunct="1">
              <a:defRPr kumimoji="1" sz="1822" kern="1200">
                <a:solidFill>
                  <a:schemeClr val="tx1"/>
                </a:solidFill>
                <a:latin typeface="+mn-lt"/>
                <a:ea typeface="+mn-ea"/>
                <a:cs typeface="+mn-cs"/>
              </a:defRPr>
            </a:lvl4pPr>
            <a:lvl5pPr marL="1851759" algn="l" defTabSz="925880" rtl="0" eaLnBrk="1" latinLnBrk="0" hangingPunct="1">
              <a:defRPr kumimoji="1" sz="1822" kern="1200">
                <a:solidFill>
                  <a:schemeClr val="tx1"/>
                </a:solidFill>
                <a:latin typeface="+mn-lt"/>
                <a:ea typeface="+mn-ea"/>
                <a:cs typeface="+mn-cs"/>
              </a:defRPr>
            </a:lvl5pPr>
            <a:lvl6pPr marL="2314699" algn="l" defTabSz="925880" rtl="0" eaLnBrk="1" latinLnBrk="0" hangingPunct="1">
              <a:defRPr kumimoji="1" sz="1822" kern="1200">
                <a:solidFill>
                  <a:schemeClr val="tx1"/>
                </a:solidFill>
                <a:latin typeface="+mn-lt"/>
                <a:ea typeface="+mn-ea"/>
                <a:cs typeface="+mn-cs"/>
              </a:defRPr>
            </a:lvl6pPr>
            <a:lvl7pPr marL="2777640" algn="l" defTabSz="925880" rtl="0" eaLnBrk="1" latinLnBrk="0" hangingPunct="1">
              <a:defRPr kumimoji="1" sz="1822" kern="1200">
                <a:solidFill>
                  <a:schemeClr val="tx1"/>
                </a:solidFill>
                <a:latin typeface="+mn-lt"/>
                <a:ea typeface="+mn-ea"/>
                <a:cs typeface="+mn-cs"/>
              </a:defRPr>
            </a:lvl7pPr>
            <a:lvl8pPr marL="3240579" algn="l" defTabSz="925880" rtl="0" eaLnBrk="1" latinLnBrk="0" hangingPunct="1">
              <a:defRPr kumimoji="1" sz="1822" kern="1200">
                <a:solidFill>
                  <a:schemeClr val="tx1"/>
                </a:solidFill>
                <a:latin typeface="+mn-lt"/>
                <a:ea typeface="+mn-ea"/>
                <a:cs typeface="+mn-cs"/>
              </a:defRPr>
            </a:lvl8pPr>
            <a:lvl9pPr marL="3703519" algn="l" defTabSz="925880" rtl="0" eaLnBrk="1" latinLnBrk="0" hangingPunct="1">
              <a:defRPr kumimoji="1" sz="1822" kern="1200">
                <a:solidFill>
                  <a:schemeClr val="tx1"/>
                </a:solidFill>
                <a:latin typeface="+mn-lt"/>
                <a:ea typeface="+mn-ea"/>
                <a:cs typeface="+mn-cs"/>
              </a:defRPr>
            </a:lvl9pPr>
          </a:lstStyle>
          <a:p>
            <a:r>
              <a:rPr kumimoji="1" lang="en-US" altLang="ja-JP" sz="3200" dirty="0"/>
              <a:t>×</a:t>
            </a:r>
            <a:endParaRPr kumimoji="1" lang="ja-JP" altLang="en-US" sz="3200" dirty="0"/>
          </a:p>
        </p:txBody>
      </p:sp>
      <p:sp>
        <p:nvSpPr>
          <p:cNvPr id="4" name="正方形/長方形 3">
            <a:extLst>
              <a:ext uri="{FF2B5EF4-FFF2-40B4-BE49-F238E27FC236}">
                <a16:creationId xmlns:a16="http://schemas.microsoft.com/office/drawing/2014/main" id="{0056F74B-CEF2-736E-2F9D-8BFBE3E19523}"/>
              </a:ext>
            </a:extLst>
          </p:cNvPr>
          <p:cNvSpPr/>
          <p:nvPr/>
        </p:nvSpPr>
        <p:spPr>
          <a:xfrm>
            <a:off x="3353185" y="2140817"/>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テスト観点</a:t>
            </a:r>
            <a:endParaRPr kumimoji="1" lang="en-US" altLang="ja-JP" dirty="0">
              <a:solidFill>
                <a:schemeClr val="bg1"/>
              </a:solidFill>
            </a:endParaRPr>
          </a:p>
          <a:p>
            <a:pPr algn="ctr"/>
            <a:r>
              <a:rPr lang="ja-JP" altLang="en-US" dirty="0">
                <a:solidFill>
                  <a:schemeClr val="bg1"/>
                </a:solidFill>
              </a:rPr>
              <a:t>（標準）</a:t>
            </a:r>
            <a:endParaRPr lang="en-US" altLang="ja-JP" dirty="0">
              <a:solidFill>
                <a:schemeClr val="bg1"/>
              </a:solidFill>
            </a:endParaRPr>
          </a:p>
        </p:txBody>
      </p:sp>
      <p:sp>
        <p:nvSpPr>
          <p:cNvPr id="8" name="正方形/長方形 7">
            <a:extLst>
              <a:ext uri="{FF2B5EF4-FFF2-40B4-BE49-F238E27FC236}">
                <a16:creationId xmlns:a16="http://schemas.microsoft.com/office/drawing/2014/main" id="{83899AD7-67FF-5F1D-CC55-0E05F5EF559E}"/>
              </a:ext>
            </a:extLst>
          </p:cNvPr>
          <p:cNvSpPr/>
          <p:nvPr/>
        </p:nvSpPr>
        <p:spPr>
          <a:xfrm>
            <a:off x="816270" y="3301876"/>
            <a:ext cx="4571998" cy="982395"/>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9" name="直線矢印コネクタ 8">
            <a:extLst>
              <a:ext uri="{FF2B5EF4-FFF2-40B4-BE49-F238E27FC236}">
                <a16:creationId xmlns:a16="http://schemas.microsoft.com/office/drawing/2014/main" id="{42A07C04-713D-7B7C-55AC-E8E1F4741801}"/>
              </a:ext>
            </a:extLst>
          </p:cNvPr>
          <p:cNvCxnSpPr>
            <a:cxnSpLocks/>
            <a:stCxn id="8" idx="3"/>
            <a:endCxn id="30" idx="1"/>
          </p:cNvCxnSpPr>
          <p:nvPr/>
        </p:nvCxnSpPr>
        <p:spPr>
          <a:xfrm>
            <a:off x="5388268" y="3793074"/>
            <a:ext cx="705858" cy="2928"/>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正方形/長方形 13">
            <a:extLst>
              <a:ext uri="{FF2B5EF4-FFF2-40B4-BE49-F238E27FC236}">
                <a16:creationId xmlns:a16="http://schemas.microsoft.com/office/drawing/2014/main" id="{9390A963-E94E-8A40-69BF-B777E5A5A598}"/>
              </a:ext>
            </a:extLst>
          </p:cNvPr>
          <p:cNvSpPr/>
          <p:nvPr/>
        </p:nvSpPr>
        <p:spPr>
          <a:xfrm>
            <a:off x="8599984" y="3436002"/>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テストケース</a:t>
            </a:r>
          </a:p>
        </p:txBody>
      </p:sp>
      <p:cxnSp>
        <p:nvCxnSpPr>
          <p:cNvPr id="15" name="直線矢印コネクタ 14">
            <a:extLst>
              <a:ext uri="{FF2B5EF4-FFF2-40B4-BE49-F238E27FC236}">
                <a16:creationId xmlns:a16="http://schemas.microsoft.com/office/drawing/2014/main" id="{6749B7A9-4F43-6D62-25D5-FEE6AD87011A}"/>
              </a:ext>
            </a:extLst>
          </p:cNvPr>
          <p:cNvCxnSpPr>
            <a:cxnSpLocks/>
            <a:endCxn id="14" idx="1"/>
          </p:cNvCxnSpPr>
          <p:nvPr/>
        </p:nvCxnSpPr>
        <p:spPr>
          <a:xfrm>
            <a:off x="7894126" y="3796002"/>
            <a:ext cx="705858"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D9525F73-51C6-F5CD-5214-C5F4B6946BFC}"/>
              </a:ext>
            </a:extLst>
          </p:cNvPr>
          <p:cNvSpPr/>
          <p:nvPr/>
        </p:nvSpPr>
        <p:spPr>
          <a:xfrm>
            <a:off x="3264674" y="2042649"/>
            <a:ext cx="1980000" cy="2196000"/>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9" name="テキスト ボックス 28">
            <a:extLst>
              <a:ext uri="{FF2B5EF4-FFF2-40B4-BE49-F238E27FC236}">
                <a16:creationId xmlns:a16="http://schemas.microsoft.com/office/drawing/2014/main" id="{B4A0FD19-B58F-A031-A19C-0C696727CBCC}"/>
              </a:ext>
            </a:extLst>
          </p:cNvPr>
          <p:cNvSpPr txBox="1"/>
          <p:nvPr/>
        </p:nvSpPr>
        <p:spPr>
          <a:xfrm>
            <a:off x="5244673" y="2346022"/>
            <a:ext cx="5672141" cy="369332"/>
          </a:xfrm>
          <a:prstGeom prst="rect">
            <a:avLst/>
          </a:prstGeom>
          <a:noFill/>
        </p:spPr>
        <p:txBody>
          <a:bodyPr wrap="square">
            <a:spAutoFit/>
          </a:bodyPr>
          <a:lstStyle/>
          <a:p>
            <a:r>
              <a:rPr lang="ja-JP" altLang="en-US" b="1" dirty="0">
                <a:solidFill>
                  <a:srgbClr val="FF0000"/>
                </a:solidFill>
                <a:latin typeface="__Inter_a184c8"/>
              </a:rPr>
              <a:t>手順１：</a:t>
            </a:r>
            <a:r>
              <a:rPr kumimoji="1" lang="ja-JP" altLang="en-US" b="1" dirty="0">
                <a:solidFill>
                  <a:srgbClr val="FF0000"/>
                </a:solidFill>
                <a:latin typeface="__Inter_a184c8"/>
              </a:rPr>
              <a:t>テスト観点のテーラリング（カスタマイズ）</a:t>
            </a:r>
            <a:endParaRPr lang="ja-JP" altLang="en-US" b="1" dirty="0">
              <a:solidFill>
                <a:srgbClr val="FF0000"/>
              </a:solidFill>
            </a:endParaRPr>
          </a:p>
        </p:txBody>
      </p:sp>
      <p:cxnSp>
        <p:nvCxnSpPr>
          <p:cNvPr id="31" name="直線コネクタ 30">
            <a:extLst>
              <a:ext uri="{FF2B5EF4-FFF2-40B4-BE49-F238E27FC236}">
                <a16:creationId xmlns:a16="http://schemas.microsoft.com/office/drawing/2014/main" id="{DB694FE3-41EE-6604-D6AF-95327E99076A}"/>
              </a:ext>
            </a:extLst>
          </p:cNvPr>
          <p:cNvCxnSpPr>
            <a:cxnSpLocks/>
            <a:stCxn id="26" idx="2"/>
          </p:cNvCxnSpPr>
          <p:nvPr/>
        </p:nvCxnSpPr>
        <p:spPr>
          <a:xfrm>
            <a:off x="4254674" y="4238649"/>
            <a:ext cx="234094" cy="730922"/>
          </a:xfrm>
          <a:prstGeom prst="line">
            <a:avLst/>
          </a:prstGeom>
          <a:ln w="1905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33" name="テキスト ボックス 32">
            <a:extLst>
              <a:ext uri="{FF2B5EF4-FFF2-40B4-BE49-F238E27FC236}">
                <a16:creationId xmlns:a16="http://schemas.microsoft.com/office/drawing/2014/main" id="{F476206D-EA33-7416-2FE7-93D13337214C}"/>
              </a:ext>
            </a:extLst>
          </p:cNvPr>
          <p:cNvSpPr txBox="1"/>
          <p:nvPr/>
        </p:nvSpPr>
        <p:spPr>
          <a:xfrm>
            <a:off x="3096761" y="4969571"/>
            <a:ext cx="9397557" cy="369332"/>
          </a:xfrm>
          <a:prstGeom prst="rect">
            <a:avLst/>
          </a:prstGeom>
          <a:noFill/>
        </p:spPr>
        <p:txBody>
          <a:bodyPr wrap="square">
            <a:spAutoFit/>
          </a:bodyPr>
          <a:lstStyle/>
          <a:p>
            <a:r>
              <a:rPr lang="ja-JP" altLang="en-US" dirty="0">
                <a:latin typeface="__Inter_a184c8"/>
              </a:rPr>
              <a:t>標準的なテスト観点表は、開発システム</a:t>
            </a:r>
            <a:r>
              <a:rPr kumimoji="1" lang="ja-JP" altLang="en-US" sz="1800" dirty="0">
                <a:latin typeface="__Inter_a184c8"/>
              </a:rPr>
              <a:t>の特性</a:t>
            </a:r>
            <a:r>
              <a:rPr lang="ja-JP" altLang="en-US" dirty="0">
                <a:latin typeface="__Inter_a184c8"/>
              </a:rPr>
              <a:t>などが考慮されていないため、</a:t>
            </a:r>
            <a:endParaRPr lang="en-US" altLang="ja-JP" dirty="0">
              <a:latin typeface="__Inter_a184c8"/>
            </a:endParaRPr>
          </a:p>
        </p:txBody>
      </p:sp>
      <p:sp>
        <p:nvSpPr>
          <p:cNvPr id="34" name="テキスト ボックス 33">
            <a:extLst>
              <a:ext uri="{FF2B5EF4-FFF2-40B4-BE49-F238E27FC236}">
                <a16:creationId xmlns:a16="http://schemas.microsoft.com/office/drawing/2014/main" id="{868C7F81-53CC-A6B7-ABB1-E8E739CB1089}"/>
              </a:ext>
            </a:extLst>
          </p:cNvPr>
          <p:cNvSpPr txBox="1"/>
          <p:nvPr/>
        </p:nvSpPr>
        <p:spPr>
          <a:xfrm>
            <a:off x="3096760" y="5225340"/>
            <a:ext cx="9207057" cy="400110"/>
          </a:xfrm>
          <a:prstGeom prst="rect">
            <a:avLst/>
          </a:prstGeom>
          <a:noFill/>
        </p:spPr>
        <p:txBody>
          <a:bodyPr wrap="square">
            <a:spAutoFit/>
          </a:bodyPr>
          <a:lstStyle/>
          <a:p>
            <a:r>
              <a:rPr kumimoji="1" lang="ja-JP" altLang="en-US" sz="2000" b="1" dirty="0">
                <a:latin typeface="__Inter_a184c8"/>
              </a:rPr>
              <a:t>テーラリング（変更、削除、追加）</a:t>
            </a:r>
            <a:r>
              <a:rPr kumimoji="1" lang="ja-JP" altLang="en-US" sz="1800" dirty="0">
                <a:latin typeface="__Inter_a184c8"/>
              </a:rPr>
              <a:t>を行い、対象システム用のテスト観点表を作成する</a:t>
            </a:r>
          </a:p>
        </p:txBody>
      </p:sp>
      <p:grpSp>
        <p:nvGrpSpPr>
          <p:cNvPr id="35" name="グループ化 34">
            <a:extLst>
              <a:ext uri="{FF2B5EF4-FFF2-40B4-BE49-F238E27FC236}">
                <a16:creationId xmlns:a16="http://schemas.microsoft.com/office/drawing/2014/main" id="{AD021456-5966-A83A-754F-5ECC310C5985}"/>
              </a:ext>
            </a:extLst>
          </p:cNvPr>
          <p:cNvGrpSpPr/>
          <p:nvPr/>
        </p:nvGrpSpPr>
        <p:grpSpPr>
          <a:xfrm>
            <a:off x="3264674" y="5665139"/>
            <a:ext cx="8143984" cy="792000"/>
            <a:chOff x="2939613" y="5062355"/>
            <a:chExt cx="8143984" cy="792000"/>
          </a:xfrm>
        </p:grpSpPr>
        <p:sp>
          <p:nvSpPr>
            <p:cNvPr id="36" name="四角形: 角を丸くする 35">
              <a:extLst>
                <a:ext uri="{FF2B5EF4-FFF2-40B4-BE49-F238E27FC236}">
                  <a16:creationId xmlns:a16="http://schemas.microsoft.com/office/drawing/2014/main" id="{8CEB905A-F01F-0F2A-0968-BE9F42575A36}"/>
                </a:ext>
              </a:extLst>
            </p:cNvPr>
            <p:cNvSpPr/>
            <p:nvPr/>
          </p:nvSpPr>
          <p:spPr>
            <a:xfrm>
              <a:off x="2939613" y="5062355"/>
              <a:ext cx="8143984" cy="792000"/>
            </a:xfrm>
            <a:prstGeom prst="roundRect">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7" name="テキスト ボックス 36">
              <a:extLst>
                <a:ext uri="{FF2B5EF4-FFF2-40B4-BE49-F238E27FC236}">
                  <a16:creationId xmlns:a16="http://schemas.microsoft.com/office/drawing/2014/main" id="{945A7533-508F-F26B-3E73-4C2F701C392C}"/>
                </a:ext>
              </a:extLst>
            </p:cNvPr>
            <p:cNvSpPr txBox="1"/>
            <p:nvPr/>
          </p:nvSpPr>
          <p:spPr>
            <a:xfrm>
              <a:off x="3128819" y="5196745"/>
              <a:ext cx="7765571" cy="523220"/>
            </a:xfrm>
            <a:prstGeom prst="rect">
              <a:avLst/>
            </a:prstGeom>
            <a:noFill/>
          </p:spPr>
          <p:txBody>
            <a:bodyPr wrap="square">
              <a:spAutoFit/>
            </a:bodyPr>
            <a:lstStyle/>
            <a:p>
              <a:r>
                <a:rPr kumimoji="1" lang="ja-JP" altLang="en-US" sz="1400" dirty="0">
                  <a:solidFill>
                    <a:schemeClr val="tx1"/>
                  </a:solidFill>
                </a:rPr>
                <a:t>・テーラリングする場合は</a:t>
              </a:r>
              <a:r>
                <a:rPr kumimoji="1" lang="ja-JP" altLang="en-US" sz="1400" b="1" dirty="0">
                  <a:solidFill>
                    <a:schemeClr val="tx1"/>
                  </a:solidFill>
                </a:rPr>
                <a:t>必ず理由を明記して承認を受ける</a:t>
              </a:r>
              <a:r>
                <a:rPr kumimoji="1" lang="ja-JP" altLang="en-US" sz="1400" dirty="0">
                  <a:solidFill>
                    <a:schemeClr val="tx1"/>
                  </a:solidFill>
                </a:rPr>
                <a:t>こと</a:t>
              </a:r>
              <a:r>
                <a:rPr lang="ja-JP" altLang="en-US" sz="1400" dirty="0"/>
                <a:t>（</a:t>
              </a:r>
              <a:r>
                <a:rPr kumimoji="1" lang="ja-JP" altLang="en-US" sz="1400" b="1" dirty="0">
                  <a:solidFill>
                    <a:srgbClr val="FF0000"/>
                  </a:solidFill>
                  <a:effectLst/>
                  <a:latin typeface="Meiryo UI" panose="020B0604030504040204" pitchFamily="50" charset="-128"/>
                  <a:ea typeface="Meiryo UI" panose="020B0604030504040204" pitchFamily="50" charset="-128"/>
                </a:rPr>
                <a:t>恣意的・感覚的な</a:t>
              </a:r>
              <a:r>
                <a:rPr lang="ja-JP" altLang="en-US" sz="1400" b="1" dirty="0">
                  <a:solidFill>
                    <a:srgbClr val="FF0000"/>
                  </a:solidFill>
                </a:rPr>
                <a:t>テーラリングは</a:t>
              </a:r>
              <a:r>
                <a:rPr lang="en-US" altLang="ja-JP" sz="1400" b="1" dirty="0">
                  <a:solidFill>
                    <a:srgbClr val="FF0000"/>
                  </a:solidFill>
                </a:rPr>
                <a:t>NG</a:t>
              </a:r>
              <a:r>
                <a:rPr lang="ja-JP" altLang="en-US" sz="1400" dirty="0"/>
                <a:t>）</a:t>
              </a:r>
              <a:endParaRPr lang="en-US" altLang="ja-JP" sz="1400" dirty="0"/>
            </a:p>
            <a:p>
              <a:r>
                <a:rPr kumimoji="1" lang="ja-JP" altLang="en-US" sz="1400" dirty="0">
                  <a:solidFill>
                    <a:schemeClr val="tx1"/>
                  </a:solidFill>
                </a:rPr>
                <a:t>・</a:t>
              </a:r>
              <a:r>
                <a:rPr kumimoji="1" lang="ja-JP" altLang="en-US" sz="1400" b="1" dirty="0">
                  <a:latin typeface="Meiryo UI" panose="020B0604030504040204" pitchFamily="50" charset="-128"/>
                  <a:ea typeface="Meiryo UI" panose="020B0604030504040204" pitchFamily="50" charset="-128"/>
                </a:rPr>
                <a:t>業務特性</a:t>
              </a:r>
              <a:r>
                <a:rPr kumimoji="1" lang="ja-JP" altLang="en-US" sz="1400" dirty="0">
                  <a:latin typeface="Meiryo UI" panose="020B0604030504040204" pitchFamily="50" charset="-128"/>
                  <a:ea typeface="Meiryo UI" panose="020B0604030504040204" pitchFamily="50" charset="-128"/>
                </a:rPr>
                <a:t>や</a:t>
              </a:r>
              <a:r>
                <a:rPr kumimoji="1" lang="ja-JP" altLang="en-US" sz="1400" b="1" dirty="0">
                  <a:latin typeface="Meiryo UI" panose="020B0604030504040204" pitchFamily="50" charset="-128"/>
                  <a:ea typeface="Meiryo UI" panose="020B0604030504040204" pitchFamily="50" charset="-128"/>
                </a:rPr>
                <a:t>過去のバグ</a:t>
              </a:r>
              <a:r>
                <a:rPr kumimoji="1" lang="ja-JP" altLang="en-US" sz="1400" dirty="0">
                  <a:latin typeface="Meiryo UI" panose="020B0604030504040204" pitchFamily="50" charset="-128"/>
                  <a:ea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rPr>
                <a:t>インシデント</a:t>
              </a:r>
              <a:r>
                <a:rPr lang="ja-JP" altLang="en-US" sz="1400" dirty="0">
                  <a:latin typeface="Meiryo UI" panose="020B0604030504040204" pitchFamily="50" charset="-128"/>
                  <a:ea typeface="Meiryo UI" panose="020B0604030504040204" pitchFamily="50" charset="-128"/>
                </a:rPr>
                <a:t>などの</a:t>
              </a:r>
              <a:r>
                <a:rPr lang="ja-JP" altLang="en-US" sz="1400" b="1" dirty="0">
                  <a:latin typeface="Meiryo UI" panose="020B0604030504040204" pitchFamily="50" charset="-128"/>
                  <a:ea typeface="Meiryo UI" panose="020B0604030504040204" pitchFamily="50" charset="-128"/>
                </a:rPr>
                <a:t>教訓</a:t>
              </a:r>
              <a:r>
                <a:rPr lang="ja-JP" altLang="en-US" sz="1400" dirty="0">
                  <a:latin typeface="Meiryo UI" panose="020B0604030504040204" pitchFamily="50" charset="-128"/>
                  <a:ea typeface="Meiryo UI" panose="020B0604030504040204" pitchFamily="50" charset="-128"/>
                </a:rPr>
                <a:t>から</a:t>
              </a:r>
              <a:r>
                <a:rPr kumimoji="1" lang="ja-JP" altLang="en-US" sz="1400" dirty="0">
                  <a:latin typeface="Meiryo UI" panose="020B0604030504040204" pitchFamily="50" charset="-128"/>
                  <a:ea typeface="Meiryo UI" panose="020B0604030504040204" pitchFamily="50" charset="-128"/>
                </a:rPr>
                <a:t>重要な観点を</a:t>
              </a:r>
              <a:r>
                <a:rPr lang="ja-JP" altLang="en-US" sz="1400" dirty="0">
                  <a:latin typeface="Meiryo UI" panose="020B0604030504040204" pitchFamily="50" charset="-128"/>
                  <a:ea typeface="Meiryo UI" panose="020B0604030504040204" pitchFamily="50" charset="-128"/>
                </a:rPr>
                <a:t>追加すること</a:t>
              </a:r>
              <a:endParaRPr lang="ja-JP" altLang="en-US" sz="1400" dirty="0"/>
            </a:p>
          </p:txBody>
        </p:sp>
      </p:grpSp>
      <p:cxnSp>
        <p:nvCxnSpPr>
          <p:cNvPr id="5" name="直線矢印コネクタ 4">
            <a:extLst>
              <a:ext uri="{FF2B5EF4-FFF2-40B4-BE49-F238E27FC236}">
                <a16:creationId xmlns:a16="http://schemas.microsoft.com/office/drawing/2014/main" id="{2EE45654-AF47-BDC2-6F09-A913D65F78AC}"/>
              </a:ext>
            </a:extLst>
          </p:cNvPr>
          <p:cNvCxnSpPr>
            <a:cxnSpLocks/>
            <a:stCxn id="4" idx="2"/>
            <a:endCxn id="28" idx="0"/>
          </p:cNvCxnSpPr>
          <p:nvPr/>
        </p:nvCxnSpPr>
        <p:spPr>
          <a:xfrm>
            <a:off x="4253185" y="2860817"/>
            <a:ext cx="0" cy="603178"/>
          </a:xfrm>
          <a:prstGeom prst="straightConnector1">
            <a:avLst/>
          </a:prstGeom>
          <a:ln w="57150">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4027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BCC62-018F-C402-0A10-8C165196957A}"/>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4A5BC2F-5438-8C49-5E8B-BB1C8FD592EA}"/>
              </a:ext>
            </a:extLst>
          </p:cNvPr>
          <p:cNvSpPr>
            <a:spLocks noGrp="1"/>
          </p:cNvSpPr>
          <p:nvPr>
            <p:ph sz="quarter" idx="4294967295"/>
          </p:nvPr>
        </p:nvSpPr>
        <p:spPr>
          <a:xfrm>
            <a:off x="371474" y="1012801"/>
            <a:ext cx="11448000" cy="519194"/>
          </a:xfrm>
        </p:spPr>
        <p:txBody>
          <a:bodyPr/>
          <a:lstStyle/>
          <a:p>
            <a:r>
              <a:rPr kumimoji="1" lang="ja-JP" altLang="en-US" u="sng" dirty="0">
                <a:solidFill>
                  <a:schemeClr val="tx1"/>
                </a:solidFill>
              </a:rPr>
              <a:t>テスト</a:t>
            </a:r>
            <a:r>
              <a:rPr lang="ja-JP" altLang="en-US" u="sng" dirty="0">
                <a:solidFill>
                  <a:schemeClr val="tx1"/>
                </a:solidFill>
              </a:rPr>
              <a:t>設計の流れ</a:t>
            </a:r>
            <a:endParaRPr lang="en-US" altLang="ja-JP" u="sng" dirty="0">
              <a:solidFill>
                <a:schemeClr val="tx1"/>
              </a:solidFill>
            </a:endParaRPr>
          </a:p>
          <a:p>
            <a:r>
              <a:rPr lang="ja-JP" altLang="en-US" dirty="0">
                <a:solidFill>
                  <a:schemeClr val="tx1"/>
                </a:solidFill>
              </a:rPr>
              <a:t>テストケースが作成されるまでの流れは以下の通りである。</a:t>
            </a:r>
            <a:endParaRPr kumimoji="1" lang="en-US" altLang="ja-JP" dirty="0">
              <a:solidFill>
                <a:schemeClr val="tx1"/>
              </a:solidFill>
            </a:endParaRPr>
          </a:p>
        </p:txBody>
      </p:sp>
      <p:sp>
        <p:nvSpPr>
          <p:cNvPr id="2" name="タイトル 1">
            <a:extLst>
              <a:ext uri="{FF2B5EF4-FFF2-40B4-BE49-F238E27FC236}">
                <a16:creationId xmlns:a16="http://schemas.microsoft.com/office/drawing/2014/main" id="{E1FBDF32-979F-EF55-1388-1467CF464012}"/>
              </a:ext>
            </a:extLst>
          </p:cNvPr>
          <p:cNvSpPr>
            <a:spLocks noGrp="1"/>
          </p:cNvSpPr>
          <p:nvPr>
            <p:ph type="title"/>
          </p:nvPr>
        </p:nvSpPr>
        <p:spPr/>
        <p:txBody>
          <a:bodyPr anchor="ctr"/>
          <a:lstStyle/>
          <a:p>
            <a:r>
              <a:rPr kumimoji="1" lang="ja-JP" altLang="en-US" dirty="0"/>
              <a:t>テスト設計</a:t>
            </a:r>
          </a:p>
        </p:txBody>
      </p:sp>
      <p:sp>
        <p:nvSpPr>
          <p:cNvPr id="49" name="正方形/長方形 48">
            <a:extLst>
              <a:ext uri="{FF2B5EF4-FFF2-40B4-BE49-F238E27FC236}">
                <a16:creationId xmlns:a16="http://schemas.microsoft.com/office/drawing/2014/main" id="{F9A3653F-36AC-1459-ABD5-130F7E334F74}"/>
              </a:ext>
            </a:extLst>
          </p:cNvPr>
          <p:cNvSpPr/>
          <p:nvPr/>
        </p:nvSpPr>
        <p:spPr>
          <a:xfrm>
            <a:off x="370800" y="1726163"/>
            <a:ext cx="10630575" cy="3144417"/>
          </a:xfrm>
          <a:prstGeom prst="rect">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7" name="正方形/長方形 26">
            <a:extLst>
              <a:ext uri="{FF2B5EF4-FFF2-40B4-BE49-F238E27FC236}">
                <a16:creationId xmlns:a16="http://schemas.microsoft.com/office/drawing/2014/main" id="{142C9B4F-394F-C311-388F-2F5C5F2016CB}"/>
              </a:ext>
            </a:extLst>
          </p:cNvPr>
          <p:cNvSpPr/>
          <p:nvPr/>
        </p:nvSpPr>
        <p:spPr>
          <a:xfrm>
            <a:off x="1051354" y="3463995"/>
            <a:ext cx="1800000" cy="720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インプット</a:t>
            </a:r>
          </a:p>
        </p:txBody>
      </p:sp>
      <p:sp>
        <p:nvSpPr>
          <p:cNvPr id="28" name="正方形/長方形 27">
            <a:extLst>
              <a:ext uri="{FF2B5EF4-FFF2-40B4-BE49-F238E27FC236}">
                <a16:creationId xmlns:a16="http://schemas.microsoft.com/office/drawing/2014/main" id="{D4CBD931-BA8E-8F5C-201E-572EDA9B2435}"/>
              </a:ext>
            </a:extLst>
          </p:cNvPr>
          <p:cNvSpPr/>
          <p:nvPr/>
        </p:nvSpPr>
        <p:spPr>
          <a:xfrm>
            <a:off x="3353185" y="3463995"/>
            <a:ext cx="1800000" cy="720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テスト観点</a:t>
            </a:r>
            <a:endParaRPr kumimoji="1" lang="en-US" altLang="ja-JP" dirty="0">
              <a:solidFill>
                <a:schemeClr val="bg1"/>
              </a:solidFill>
            </a:endParaRPr>
          </a:p>
          <a:p>
            <a:pPr algn="ctr"/>
            <a:r>
              <a:rPr lang="ja-JP" altLang="en-US" dirty="0">
                <a:solidFill>
                  <a:schemeClr val="bg1"/>
                </a:solidFill>
              </a:rPr>
              <a:t>（カスタマイズ）</a:t>
            </a:r>
            <a:endParaRPr kumimoji="1" lang="ja-JP" altLang="en-US" dirty="0">
              <a:solidFill>
                <a:schemeClr val="bg1"/>
              </a:solidFill>
            </a:endParaRPr>
          </a:p>
        </p:txBody>
      </p:sp>
      <p:sp>
        <p:nvSpPr>
          <p:cNvPr id="30" name="正方形/長方形 29">
            <a:extLst>
              <a:ext uri="{FF2B5EF4-FFF2-40B4-BE49-F238E27FC236}">
                <a16:creationId xmlns:a16="http://schemas.microsoft.com/office/drawing/2014/main" id="{49FD5F75-1FCA-54F7-43CB-4C0C449A3E7E}"/>
              </a:ext>
            </a:extLst>
          </p:cNvPr>
          <p:cNvSpPr/>
          <p:nvPr/>
        </p:nvSpPr>
        <p:spPr>
          <a:xfrm>
            <a:off x="6094126" y="3436002"/>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テスト項目</a:t>
            </a:r>
          </a:p>
        </p:txBody>
      </p:sp>
      <p:sp>
        <p:nvSpPr>
          <p:cNvPr id="32" name="テキスト ボックス 99">
            <a:extLst>
              <a:ext uri="{FF2B5EF4-FFF2-40B4-BE49-F238E27FC236}">
                <a16:creationId xmlns:a16="http://schemas.microsoft.com/office/drawing/2014/main" id="{3B8DFE8C-E964-9501-C404-734B07A4D736}"/>
              </a:ext>
            </a:extLst>
          </p:cNvPr>
          <p:cNvSpPr txBox="1"/>
          <p:nvPr/>
        </p:nvSpPr>
        <p:spPr>
          <a:xfrm>
            <a:off x="2844827" y="3513607"/>
            <a:ext cx="514885" cy="584775"/>
          </a:xfrm>
          <a:prstGeom prst="rect">
            <a:avLst/>
          </a:prstGeom>
          <a:noFill/>
        </p:spPr>
        <p:txBody>
          <a:bodyPr wrap="none" rtlCol="0">
            <a:spAutoFit/>
          </a:bodyPr>
          <a:lstStyle>
            <a:defPPr>
              <a:defRPr lang="ja-JP"/>
            </a:defPPr>
            <a:lvl1pPr marL="0" algn="l" defTabSz="925880" rtl="0" eaLnBrk="1" latinLnBrk="0" hangingPunct="1">
              <a:defRPr kumimoji="1" sz="1822" kern="1200">
                <a:solidFill>
                  <a:schemeClr val="tx1"/>
                </a:solidFill>
                <a:latin typeface="+mn-lt"/>
                <a:ea typeface="+mn-ea"/>
                <a:cs typeface="+mn-cs"/>
              </a:defRPr>
            </a:lvl1pPr>
            <a:lvl2pPr marL="462940" algn="l" defTabSz="925880" rtl="0" eaLnBrk="1" latinLnBrk="0" hangingPunct="1">
              <a:defRPr kumimoji="1" sz="1822" kern="1200">
                <a:solidFill>
                  <a:schemeClr val="tx1"/>
                </a:solidFill>
                <a:latin typeface="+mn-lt"/>
                <a:ea typeface="+mn-ea"/>
                <a:cs typeface="+mn-cs"/>
              </a:defRPr>
            </a:lvl2pPr>
            <a:lvl3pPr marL="925880" algn="l" defTabSz="925880" rtl="0" eaLnBrk="1" latinLnBrk="0" hangingPunct="1">
              <a:defRPr kumimoji="1" sz="1822" kern="1200">
                <a:solidFill>
                  <a:schemeClr val="tx1"/>
                </a:solidFill>
                <a:latin typeface="+mn-lt"/>
                <a:ea typeface="+mn-ea"/>
                <a:cs typeface="+mn-cs"/>
              </a:defRPr>
            </a:lvl3pPr>
            <a:lvl4pPr marL="1388820" algn="l" defTabSz="925880" rtl="0" eaLnBrk="1" latinLnBrk="0" hangingPunct="1">
              <a:defRPr kumimoji="1" sz="1822" kern="1200">
                <a:solidFill>
                  <a:schemeClr val="tx1"/>
                </a:solidFill>
                <a:latin typeface="+mn-lt"/>
                <a:ea typeface="+mn-ea"/>
                <a:cs typeface="+mn-cs"/>
              </a:defRPr>
            </a:lvl4pPr>
            <a:lvl5pPr marL="1851759" algn="l" defTabSz="925880" rtl="0" eaLnBrk="1" latinLnBrk="0" hangingPunct="1">
              <a:defRPr kumimoji="1" sz="1822" kern="1200">
                <a:solidFill>
                  <a:schemeClr val="tx1"/>
                </a:solidFill>
                <a:latin typeface="+mn-lt"/>
                <a:ea typeface="+mn-ea"/>
                <a:cs typeface="+mn-cs"/>
              </a:defRPr>
            </a:lvl5pPr>
            <a:lvl6pPr marL="2314699" algn="l" defTabSz="925880" rtl="0" eaLnBrk="1" latinLnBrk="0" hangingPunct="1">
              <a:defRPr kumimoji="1" sz="1822" kern="1200">
                <a:solidFill>
                  <a:schemeClr val="tx1"/>
                </a:solidFill>
                <a:latin typeface="+mn-lt"/>
                <a:ea typeface="+mn-ea"/>
                <a:cs typeface="+mn-cs"/>
              </a:defRPr>
            </a:lvl6pPr>
            <a:lvl7pPr marL="2777640" algn="l" defTabSz="925880" rtl="0" eaLnBrk="1" latinLnBrk="0" hangingPunct="1">
              <a:defRPr kumimoji="1" sz="1822" kern="1200">
                <a:solidFill>
                  <a:schemeClr val="tx1"/>
                </a:solidFill>
                <a:latin typeface="+mn-lt"/>
                <a:ea typeface="+mn-ea"/>
                <a:cs typeface="+mn-cs"/>
              </a:defRPr>
            </a:lvl7pPr>
            <a:lvl8pPr marL="3240579" algn="l" defTabSz="925880" rtl="0" eaLnBrk="1" latinLnBrk="0" hangingPunct="1">
              <a:defRPr kumimoji="1" sz="1822" kern="1200">
                <a:solidFill>
                  <a:schemeClr val="tx1"/>
                </a:solidFill>
                <a:latin typeface="+mn-lt"/>
                <a:ea typeface="+mn-ea"/>
                <a:cs typeface="+mn-cs"/>
              </a:defRPr>
            </a:lvl8pPr>
            <a:lvl9pPr marL="3703519" algn="l" defTabSz="925880" rtl="0" eaLnBrk="1" latinLnBrk="0" hangingPunct="1">
              <a:defRPr kumimoji="1" sz="1822" kern="1200">
                <a:solidFill>
                  <a:schemeClr val="tx1"/>
                </a:solidFill>
                <a:latin typeface="+mn-lt"/>
                <a:ea typeface="+mn-ea"/>
                <a:cs typeface="+mn-cs"/>
              </a:defRPr>
            </a:lvl9pPr>
          </a:lstStyle>
          <a:p>
            <a:r>
              <a:rPr kumimoji="1" lang="en-US" altLang="ja-JP" sz="3200" dirty="0"/>
              <a:t>×</a:t>
            </a:r>
            <a:endParaRPr kumimoji="1" lang="ja-JP" altLang="en-US" sz="3200" dirty="0"/>
          </a:p>
        </p:txBody>
      </p:sp>
      <p:sp>
        <p:nvSpPr>
          <p:cNvPr id="4" name="正方形/長方形 3">
            <a:extLst>
              <a:ext uri="{FF2B5EF4-FFF2-40B4-BE49-F238E27FC236}">
                <a16:creationId xmlns:a16="http://schemas.microsoft.com/office/drawing/2014/main" id="{68EFBE7E-5784-AF9D-6CE0-4093DC3EB8F9}"/>
              </a:ext>
            </a:extLst>
          </p:cNvPr>
          <p:cNvSpPr/>
          <p:nvPr/>
        </p:nvSpPr>
        <p:spPr>
          <a:xfrm>
            <a:off x="3353185" y="2140817"/>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テスト観点</a:t>
            </a:r>
            <a:endParaRPr kumimoji="1" lang="en-US" altLang="ja-JP" dirty="0">
              <a:solidFill>
                <a:schemeClr val="bg1"/>
              </a:solidFill>
            </a:endParaRPr>
          </a:p>
          <a:p>
            <a:pPr algn="ctr"/>
            <a:r>
              <a:rPr lang="ja-JP" altLang="en-US" dirty="0">
                <a:solidFill>
                  <a:schemeClr val="bg1"/>
                </a:solidFill>
              </a:rPr>
              <a:t>（標準）</a:t>
            </a:r>
            <a:endParaRPr lang="en-US" altLang="ja-JP" dirty="0">
              <a:solidFill>
                <a:schemeClr val="bg1"/>
              </a:solidFill>
            </a:endParaRPr>
          </a:p>
        </p:txBody>
      </p:sp>
      <p:cxnSp>
        <p:nvCxnSpPr>
          <p:cNvPr id="5" name="直線矢印コネクタ 4">
            <a:extLst>
              <a:ext uri="{FF2B5EF4-FFF2-40B4-BE49-F238E27FC236}">
                <a16:creationId xmlns:a16="http://schemas.microsoft.com/office/drawing/2014/main" id="{928A96D7-F032-8CAB-20F6-D2A334AB7DF5}"/>
              </a:ext>
            </a:extLst>
          </p:cNvPr>
          <p:cNvCxnSpPr>
            <a:cxnSpLocks/>
            <a:stCxn id="4" idx="2"/>
            <a:endCxn id="28" idx="0"/>
          </p:cNvCxnSpPr>
          <p:nvPr/>
        </p:nvCxnSpPr>
        <p:spPr>
          <a:xfrm>
            <a:off x="4253185" y="2860817"/>
            <a:ext cx="0" cy="603178"/>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62876324-C0E0-8C4E-831B-3BD8D61AA2EC}"/>
              </a:ext>
            </a:extLst>
          </p:cNvPr>
          <p:cNvSpPr/>
          <p:nvPr/>
        </p:nvSpPr>
        <p:spPr>
          <a:xfrm>
            <a:off x="816270" y="3301876"/>
            <a:ext cx="4571998" cy="982395"/>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9" name="直線矢印コネクタ 8">
            <a:extLst>
              <a:ext uri="{FF2B5EF4-FFF2-40B4-BE49-F238E27FC236}">
                <a16:creationId xmlns:a16="http://schemas.microsoft.com/office/drawing/2014/main" id="{848D3F40-4EA4-6C05-E240-C387BA85D9E5}"/>
              </a:ext>
            </a:extLst>
          </p:cNvPr>
          <p:cNvCxnSpPr>
            <a:cxnSpLocks/>
            <a:stCxn id="8" idx="3"/>
            <a:endCxn id="30" idx="1"/>
          </p:cNvCxnSpPr>
          <p:nvPr/>
        </p:nvCxnSpPr>
        <p:spPr>
          <a:xfrm>
            <a:off x="5388268" y="3793074"/>
            <a:ext cx="705858" cy="2928"/>
          </a:xfrm>
          <a:prstGeom prst="straightConnector1">
            <a:avLst/>
          </a:prstGeom>
          <a:ln w="57150">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正方形/長方形 13">
            <a:extLst>
              <a:ext uri="{FF2B5EF4-FFF2-40B4-BE49-F238E27FC236}">
                <a16:creationId xmlns:a16="http://schemas.microsoft.com/office/drawing/2014/main" id="{F615D004-88BA-C076-5F70-505BD832B53A}"/>
              </a:ext>
            </a:extLst>
          </p:cNvPr>
          <p:cNvSpPr/>
          <p:nvPr/>
        </p:nvSpPr>
        <p:spPr>
          <a:xfrm>
            <a:off x="8599984" y="3436002"/>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テストケース</a:t>
            </a:r>
          </a:p>
        </p:txBody>
      </p:sp>
      <p:cxnSp>
        <p:nvCxnSpPr>
          <p:cNvPr id="15" name="直線矢印コネクタ 14">
            <a:extLst>
              <a:ext uri="{FF2B5EF4-FFF2-40B4-BE49-F238E27FC236}">
                <a16:creationId xmlns:a16="http://schemas.microsoft.com/office/drawing/2014/main" id="{BE6817C9-4220-DDCC-5246-6D23D27AC229}"/>
              </a:ext>
            </a:extLst>
          </p:cNvPr>
          <p:cNvCxnSpPr>
            <a:cxnSpLocks/>
            <a:endCxn id="14" idx="1"/>
          </p:cNvCxnSpPr>
          <p:nvPr/>
        </p:nvCxnSpPr>
        <p:spPr>
          <a:xfrm>
            <a:off x="7894126" y="3796002"/>
            <a:ext cx="705858"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正方形/長方形 20">
            <a:extLst>
              <a:ext uri="{FF2B5EF4-FFF2-40B4-BE49-F238E27FC236}">
                <a16:creationId xmlns:a16="http://schemas.microsoft.com/office/drawing/2014/main" id="{DA7687B5-3947-AE1C-0127-0EF92BBF4DDA}"/>
              </a:ext>
            </a:extLst>
          </p:cNvPr>
          <p:cNvSpPr/>
          <p:nvPr/>
        </p:nvSpPr>
        <p:spPr>
          <a:xfrm>
            <a:off x="705376" y="3225721"/>
            <a:ext cx="7365595" cy="1159660"/>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22" name="直線コネクタ 21">
            <a:extLst>
              <a:ext uri="{FF2B5EF4-FFF2-40B4-BE49-F238E27FC236}">
                <a16:creationId xmlns:a16="http://schemas.microsoft.com/office/drawing/2014/main" id="{4FEB2841-F541-0807-5CE9-77D0C7BDCC92}"/>
              </a:ext>
            </a:extLst>
          </p:cNvPr>
          <p:cNvCxnSpPr>
            <a:cxnSpLocks/>
            <a:stCxn id="27" idx="2"/>
            <a:endCxn id="23" idx="0"/>
          </p:cNvCxnSpPr>
          <p:nvPr/>
        </p:nvCxnSpPr>
        <p:spPr>
          <a:xfrm flipH="1">
            <a:off x="1750609" y="4183995"/>
            <a:ext cx="200745" cy="762812"/>
          </a:xfrm>
          <a:prstGeom prst="line">
            <a:avLst/>
          </a:prstGeom>
          <a:ln w="1905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4E831477-8D2A-FD0E-5B71-3278AF42395E}"/>
              </a:ext>
            </a:extLst>
          </p:cNvPr>
          <p:cNvSpPr txBox="1"/>
          <p:nvPr/>
        </p:nvSpPr>
        <p:spPr>
          <a:xfrm>
            <a:off x="701932" y="4946807"/>
            <a:ext cx="2097354" cy="584775"/>
          </a:xfrm>
          <a:prstGeom prst="rect">
            <a:avLst/>
          </a:prstGeom>
          <a:noFill/>
        </p:spPr>
        <p:txBody>
          <a:bodyPr wrap="square">
            <a:spAutoFit/>
          </a:bodyPr>
          <a:lstStyle/>
          <a:p>
            <a:r>
              <a:rPr kumimoji="1" lang="ja-JP" altLang="en-US" sz="1600" dirty="0">
                <a:latin typeface="__Inter_a184c8"/>
              </a:rPr>
              <a:t>設計工程で作成した</a:t>
            </a:r>
            <a:endParaRPr kumimoji="1" lang="en-US" altLang="ja-JP" sz="1600" dirty="0">
              <a:latin typeface="__Inter_a184c8"/>
            </a:endParaRPr>
          </a:p>
          <a:p>
            <a:r>
              <a:rPr lang="ja-JP" altLang="en-US" sz="1600" dirty="0">
                <a:latin typeface="__Inter_a184c8"/>
              </a:rPr>
              <a:t>設計</a:t>
            </a:r>
            <a:r>
              <a:rPr kumimoji="1" lang="ja-JP" altLang="en-US" sz="1600" dirty="0">
                <a:latin typeface="__Inter_a184c8"/>
              </a:rPr>
              <a:t>成果物</a:t>
            </a:r>
            <a:endParaRPr kumimoji="1" lang="en-US" altLang="ja-JP" sz="1600" dirty="0">
              <a:latin typeface="__Inter_a184c8"/>
            </a:endParaRPr>
          </a:p>
        </p:txBody>
      </p:sp>
      <p:grpSp>
        <p:nvGrpSpPr>
          <p:cNvPr id="24" name="グループ化 23">
            <a:extLst>
              <a:ext uri="{FF2B5EF4-FFF2-40B4-BE49-F238E27FC236}">
                <a16:creationId xmlns:a16="http://schemas.microsoft.com/office/drawing/2014/main" id="{4E365AE5-045E-B85E-58FC-FABB4C3C1B9E}"/>
              </a:ext>
            </a:extLst>
          </p:cNvPr>
          <p:cNvGrpSpPr/>
          <p:nvPr/>
        </p:nvGrpSpPr>
        <p:grpSpPr>
          <a:xfrm>
            <a:off x="1264609" y="5538931"/>
            <a:ext cx="972000" cy="468000"/>
            <a:chOff x="3914180" y="3728619"/>
            <a:chExt cx="972000" cy="468000"/>
          </a:xfrm>
        </p:grpSpPr>
        <p:sp>
          <p:nvSpPr>
            <p:cNvPr id="25" name="正方形/長方形 24">
              <a:extLst>
                <a:ext uri="{FF2B5EF4-FFF2-40B4-BE49-F238E27FC236}">
                  <a16:creationId xmlns:a16="http://schemas.microsoft.com/office/drawing/2014/main" id="{ED53B37B-F446-B196-8394-6593EDDA74EE}"/>
                </a:ext>
              </a:extLst>
            </p:cNvPr>
            <p:cNvSpPr/>
            <p:nvPr/>
          </p:nvSpPr>
          <p:spPr>
            <a:xfrm>
              <a:off x="3914180" y="3728619"/>
              <a:ext cx="972000" cy="468000"/>
            </a:xfrm>
            <a:prstGeom prst="rect">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38" name="グループ化 37">
              <a:extLst>
                <a:ext uri="{FF2B5EF4-FFF2-40B4-BE49-F238E27FC236}">
                  <a16:creationId xmlns:a16="http://schemas.microsoft.com/office/drawing/2014/main" id="{3DC1A870-1FF2-DFE7-DB60-6A7644938947}"/>
                </a:ext>
              </a:extLst>
            </p:cNvPr>
            <p:cNvGrpSpPr/>
            <p:nvPr/>
          </p:nvGrpSpPr>
          <p:grpSpPr>
            <a:xfrm>
              <a:off x="3968029" y="3758164"/>
              <a:ext cx="805561" cy="398274"/>
              <a:chOff x="7425037" y="6210019"/>
              <a:chExt cx="805561" cy="398274"/>
            </a:xfrm>
          </p:grpSpPr>
          <p:pic>
            <p:nvPicPr>
              <p:cNvPr id="39" name="グラフィックス 38" descr="ドキュメント 枠線">
                <a:extLst>
                  <a:ext uri="{FF2B5EF4-FFF2-40B4-BE49-F238E27FC236}">
                    <a16:creationId xmlns:a16="http://schemas.microsoft.com/office/drawing/2014/main" id="{6A445156-AAA3-AAB5-C56A-432D7BCA3F9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25037" y="6210019"/>
                <a:ext cx="396000" cy="396000"/>
              </a:xfrm>
              <a:prstGeom prst="rect">
                <a:avLst/>
              </a:prstGeom>
            </p:spPr>
          </p:pic>
          <p:sp>
            <p:nvSpPr>
              <p:cNvPr id="40" name="テキスト ボックス 39">
                <a:extLst>
                  <a:ext uri="{FF2B5EF4-FFF2-40B4-BE49-F238E27FC236}">
                    <a16:creationId xmlns:a16="http://schemas.microsoft.com/office/drawing/2014/main" id="{0806BFB3-D614-7872-852C-91C05AA85CD9}"/>
                  </a:ext>
                </a:extLst>
              </p:cNvPr>
              <p:cNvSpPr txBox="1"/>
              <p:nvPr/>
            </p:nvSpPr>
            <p:spPr>
              <a:xfrm>
                <a:off x="7804577" y="6210019"/>
                <a:ext cx="426021" cy="398274"/>
              </a:xfrm>
              <a:prstGeom prst="rect">
                <a:avLst/>
              </a:prstGeom>
              <a:noFill/>
            </p:spPr>
            <p:txBody>
              <a:bodyPr wrap="square" lIns="0" rIns="0" rtlCol="0" anchor="ctr">
                <a:noAutofit/>
              </a:bodyPr>
              <a:lstStyle/>
              <a:p>
                <a:pPr algn="ctr" defTabSz="288000"/>
                <a:r>
                  <a:rPr lang="ja-JP" altLang="en-US" sz="1100" dirty="0">
                    <a:latin typeface="+mn-ea"/>
                  </a:rPr>
                  <a:t>ユニット設計書</a:t>
                </a:r>
                <a:endParaRPr kumimoji="1" lang="ja-JP" altLang="en-US" sz="1100" dirty="0">
                  <a:latin typeface="+mn-ea"/>
                </a:endParaRPr>
              </a:p>
            </p:txBody>
          </p:sp>
        </p:grpSp>
      </p:grpSp>
      <p:cxnSp>
        <p:nvCxnSpPr>
          <p:cNvPr id="41" name="直線コネクタ 40">
            <a:extLst>
              <a:ext uri="{FF2B5EF4-FFF2-40B4-BE49-F238E27FC236}">
                <a16:creationId xmlns:a16="http://schemas.microsoft.com/office/drawing/2014/main" id="{BD113C7A-5940-DD28-F2E1-61C86D200150}"/>
              </a:ext>
            </a:extLst>
          </p:cNvPr>
          <p:cNvCxnSpPr>
            <a:cxnSpLocks/>
            <a:endCxn id="42" idx="1"/>
          </p:cNvCxnSpPr>
          <p:nvPr/>
        </p:nvCxnSpPr>
        <p:spPr>
          <a:xfrm>
            <a:off x="3953438" y="4391930"/>
            <a:ext cx="732832" cy="1055676"/>
          </a:xfrm>
          <a:prstGeom prst="line">
            <a:avLst/>
          </a:prstGeom>
          <a:ln w="1905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7E45000B-292F-DE90-0771-04F8EAC60C0F}"/>
              </a:ext>
            </a:extLst>
          </p:cNvPr>
          <p:cNvSpPr txBox="1"/>
          <p:nvPr/>
        </p:nvSpPr>
        <p:spPr>
          <a:xfrm>
            <a:off x="4686270" y="5247551"/>
            <a:ext cx="6629574" cy="400110"/>
          </a:xfrm>
          <a:prstGeom prst="rect">
            <a:avLst/>
          </a:prstGeom>
          <a:noFill/>
        </p:spPr>
        <p:txBody>
          <a:bodyPr wrap="square">
            <a:spAutoFit/>
          </a:bodyPr>
          <a:lstStyle/>
          <a:p>
            <a:r>
              <a:rPr kumimoji="1" lang="ja-JP" altLang="en-US" sz="1600" dirty="0">
                <a:latin typeface="__Inter_a184c8"/>
              </a:rPr>
              <a:t>テスト観点とインプットを掛け合わせて、</a:t>
            </a:r>
            <a:r>
              <a:rPr kumimoji="1" lang="ja-JP" altLang="en-US" sz="2000" b="1" dirty="0">
                <a:solidFill>
                  <a:srgbClr val="FF0000"/>
                </a:solidFill>
                <a:latin typeface="__Inter_a184c8"/>
              </a:rPr>
              <a:t>網羅的なテスト項目</a:t>
            </a:r>
            <a:r>
              <a:rPr kumimoji="1" lang="ja-JP" altLang="en-US" sz="1600" dirty="0">
                <a:latin typeface="__Inter_a184c8"/>
              </a:rPr>
              <a:t>を洗い出す</a:t>
            </a:r>
            <a:endParaRPr kumimoji="1" lang="en-US" altLang="ja-JP" sz="1600" dirty="0">
              <a:latin typeface="__Inter_a184c8"/>
            </a:endParaRPr>
          </a:p>
        </p:txBody>
      </p:sp>
      <p:sp>
        <p:nvSpPr>
          <p:cNvPr id="43" name="テキスト ボックス 42">
            <a:extLst>
              <a:ext uri="{FF2B5EF4-FFF2-40B4-BE49-F238E27FC236}">
                <a16:creationId xmlns:a16="http://schemas.microsoft.com/office/drawing/2014/main" id="{9510DFE5-5CAC-7654-D6D0-27708FB06EA0}"/>
              </a:ext>
            </a:extLst>
          </p:cNvPr>
          <p:cNvSpPr txBox="1"/>
          <p:nvPr/>
        </p:nvSpPr>
        <p:spPr>
          <a:xfrm>
            <a:off x="5234900" y="2849840"/>
            <a:ext cx="5672141" cy="369332"/>
          </a:xfrm>
          <a:prstGeom prst="rect">
            <a:avLst/>
          </a:prstGeom>
          <a:noFill/>
        </p:spPr>
        <p:txBody>
          <a:bodyPr wrap="square">
            <a:spAutoFit/>
          </a:bodyPr>
          <a:lstStyle/>
          <a:p>
            <a:r>
              <a:rPr lang="ja-JP" altLang="en-US" b="1" dirty="0">
                <a:solidFill>
                  <a:srgbClr val="FF0000"/>
                </a:solidFill>
                <a:latin typeface="__Inter_a184c8"/>
              </a:rPr>
              <a:t>手順２：</a:t>
            </a:r>
            <a:r>
              <a:rPr kumimoji="1" lang="ja-JP" altLang="en-US" b="1" dirty="0">
                <a:solidFill>
                  <a:srgbClr val="FF0000"/>
                </a:solidFill>
                <a:latin typeface="__Inter_a184c8"/>
              </a:rPr>
              <a:t>テスト項目の洗い出し</a:t>
            </a:r>
            <a:endParaRPr lang="ja-JP" altLang="en-US" sz="1600" b="1" dirty="0">
              <a:solidFill>
                <a:srgbClr val="FF0000"/>
              </a:solidFill>
            </a:endParaRPr>
          </a:p>
        </p:txBody>
      </p:sp>
      <p:grpSp>
        <p:nvGrpSpPr>
          <p:cNvPr id="54" name="グループ化 53">
            <a:extLst>
              <a:ext uri="{FF2B5EF4-FFF2-40B4-BE49-F238E27FC236}">
                <a16:creationId xmlns:a16="http://schemas.microsoft.com/office/drawing/2014/main" id="{8E3DAB24-5AE4-E8CD-1A89-1A7BFE77B222}"/>
              </a:ext>
            </a:extLst>
          </p:cNvPr>
          <p:cNvGrpSpPr/>
          <p:nvPr/>
        </p:nvGrpSpPr>
        <p:grpSpPr>
          <a:xfrm>
            <a:off x="6382724" y="5648948"/>
            <a:ext cx="5058233" cy="468000"/>
            <a:chOff x="2939613" y="5109010"/>
            <a:chExt cx="5058233" cy="468000"/>
          </a:xfrm>
        </p:grpSpPr>
        <p:sp>
          <p:nvSpPr>
            <p:cNvPr id="55" name="四角形: 角を丸くする 54">
              <a:extLst>
                <a:ext uri="{FF2B5EF4-FFF2-40B4-BE49-F238E27FC236}">
                  <a16:creationId xmlns:a16="http://schemas.microsoft.com/office/drawing/2014/main" id="{D7A3E3B3-E2BB-FE76-CCD2-B00B9C2CF08C}"/>
                </a:ext>
              </a:extLst>
            </p:cNvPr>
            <p:cNvSpPr/>
            <p:nvPr/>
          </p:nvSpPr>
          <p:spPr>
            <a:xfrm>
              <a:off x="2939613" y="5109010"/>
              <a:ext cx="5058232" cy="468000"/>
            </a:xfrm>
            <a:prstGeom prst="roundRect">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6" name="テキスト ボックス 55">
              <a:extLst>
                <a:ext uri="{FF2B5EF4-FFF2-40B4-BE49-F238E27FC236}">
                  <a16:creationId xmlns:a16="http://schemas.microsoft.com/office/drawing/2014/main" id="{F004E028-94BF-CC45-8A98-EDB208FE84A7}"/>
                </a:ext>
              </a:extLst>
            </p:cNvPr>
            <p:cNvSpPr txBox="1"/>
            <p:nvPr/>
          </p:nvSpPr>
          <p:spPr>
            <a:xfrm>
              <a:off x="3128820" y="5196745"/>
              <a:ext cx="4869026" cy="307777"/>
            </a:xfrm>
            <a:prstGeom prst="rect">
              <a:avLst/>
            </a:prstGeom>
            <a:noFill/>
          </p:spPr>
          <p:txBody>
            <a:bodyPr wrap="square">
              <a:spAutoFit/>
            </a:bodyPr>
            <a:lstStyle/>
            <a:p>
              <a:r>
                <a:rPr lang="ja-JP" altLang="en-US" sz="1400" dirty="0"/>
                <a:t>効率的な洗い出しを行うために、</a:t>
              </a:r>
              <a:r>
                <a:rPr lang="ja-JP" altLang="en-US" sz="1400" b="1" dirty="0"/>
                <a:t>テスト技法</a:t>
              </a:r>
              <a:r>
                <a:rPr lang="ja-JP" altLang="en-US" sz="1400" dirty="0"/>
                <a:t>（後述）を用いる</a:t>
              </a:r>
            </a:p>
          </p:txBody>
        </p:sp>
      </p:grpSp>
    </p:spTree>
    <p:extLst>
      <p:ext uri="{BB962C8B-B14F-4D97-AF65-F5344CB8AC3E}">
        <p14:creationId xmlns:p14="http://schemas.microsoft.com/office/powerpoint/2010/main" val="4016053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A1949-DA0A-A3C1-4927-E1225FCAE543}"/>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759C04D-B64D-B821-0233-25ACD1CE7302}"/>
              </a:ext>
            </a:extLst>
          </p:cNvPr>
          <p:cNvSpPr>
            <a:spLocks noGrp="1"/>
          </p:cNvSpPr>
          <p:nvPr>
            <p:ph sz="quarter" idx="4294967295"/>
          </p:nvPr>
        </p:nvSpPr>
        <p:spPr>
          <a:xfrm>
            <a:off x="371474" y="1012801"/>
            <a:ext cx="11448000" cy="519194"/>
          </a:xfrm>
        </p:spPr>
        <p:txBody>
          <a:bodyPr/>
          <a:lstStyle/>
          <a:p>
            <a:r>
              <a:rPr kumimoji="1" lang="ja-JP" altLang="en-US" u="sng" dirty="0">
                <a:solidFill>
                  <a:schemeClr val="tx1"/>
                </a:solidFill>
              </a:rPr>
              <a:t>テスト</a:t>
            </a:r>
            <a:r>
              <a:rPr lang="ja-JP" altLang="en-US" u="sng" dirty="0">
                <a:solidFill>
                  <a:schemeClr val="tx1"/>
                </a:solidFill>
              </a:rPr>
              <a:t>設計の流れ</a:t>
            </a:r>
            <a:endParaRPr lang="en-US" altLang="ja-JP" u="sng" dirty="0">
              <a:solidFill>
                <a:schemeClr val="tx1"/>
              </a:solidFill>
            </a:endParaRPr>
          </a:p>
          <a:p>
            <a:r>
              <a:rPr lang="ja-JP" altLang="en-US" dirty="0">
                <a:solidFill>
                  <a:schemeClr val="tx1"/>
                </a:solidFill>
              </a:rPr>
              <a:t>テストケースが作成されるまでの流れは以下の通りである。</a:t>
            </a:r>
            <a:endParaRPr kumimoji="1" lang="en-US" altLang="ja-JP" dirty="0">
              <a:solidFill>
                <a:schemeClr val="tx1"/>
              </a:solidFill>
            </a:endParaRPr>
          </a:p>
        </p:txBody>
      </p:sp>
      <p:sp>
        <p:nvSpPr>
          <p:cNvPr id="2" name="タイトル 1">
            <a:extLst>
              <a:ext uri="{FF2B5EF4-FFF2-40B4-BE49-F238E27FC236}">
                <a16:creationId xmlns:a16="http://schemas.microsoft.com/office/drawing/2014/main" id="{D11052FF-EEDD-70B9-CDB1-60FD6F881C2D}"/>
              </a:ext>
            </a:extLst>
          </p:cNvPr>
          <p:cNvSpPr>
            <a:spLocks noGrp="1"/>
          </p:cNvSpPr>
          <p:nvPr>
            <p:ph type="title"/>
          </p:nvPr>
        </p:nvSpPr>
        <p:spPr/>
        <p:txBody>
          <a:bodyPr anchor="ctr"/>
          <a:lstStyle/>
          <a:p>
            <a:r>
              <a:rPr kumimoji="1" lang="ja-JP" altLang="en-US" dirty="0"/>
              <a:t>テスト設計</a:t>
            </a:r>
          </a:p>
        </p:txBody>
      </p:sp>
      <p:sp>
        <p:nvSpPr>
          <p:cNvPr id="49" name="正方形/長方形 48">
            <a:extLst>
              <a:ext uri="{FF2B5EF4-FFF2-40B4-BE49-F238E27FC236}">
                <a16:creationId xmlns:a16="http://schemas.microsoft.com/office/drawing/2014/main" id="{F59FEFAE-8B2E-73C9-D466-431FEC207F16}"/>
              </a:ext>
            </a:extLst>
          </p:cNvPr>
          <p:cNvSpPr/>
          <p:nvPr/>
        </p:nvSpPr>
        <p:spPr>
          <a:xfrm>
            <a:off x="370800" y="1726163"/>
            <a:ext cx="10630575" cy="3144417"/>
          </a:xfrm>
          <a:prstGeom prst="rect">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7" name="正方形/長方形 26">
            <a:extLst>
              <a:ext uri="{FF2B5EF4-FFF2-40B4-BE49-F238E27FC236}">
                <a16:creationId xmlns:a16="http://schemas.microsoft.com/office/drawing/2014/main" id="{BE7592DE-FF41-1F1C-F766-20063D42C9C5}"/>
              </a:ext>
            </a:extLst>
          </p:cNvPr>
          <p:cNvSpPr/>
          <p:nvPr/>
        </p:nvSpPr>
        <p:spPr>
          <a:xfrm>
            <a:off x="1051354" y="3463995"/>
            <a:ext cx="1800000" cy="720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インプット</a:t>
            </a:r>
          </a:p>
        </p:txBody>
      </p:sp>
      <p:sp>
        <p:nvSpPr>
          <p:cNvPr id="28" name="正方形/長方形 27">
            <a:extLst>
              <a:ext uri="{FF2B5EF4-FFF2-40B4-BE49-F238E27FC236}">
                <a16:creationId xmlns:a16="http://schemas.microsoft.com/office/drawing/2014/main" id="{20CE29EC-14F9-86EE-1176-52C5E3B70369}"/>
              </a:ext>
            </a:extLst>
          </p:cNvPr>
          <p:cNvSpPr/>
          <p:nvPr/>
        </p:nvSpPr>
        <p:spPr>
          <a:xfrm>
            <a:off x="3353185" y="3463995"/>
            <a:ext cx="1800000" cy="720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テスト観点</a:t>
            </a:r>
            <a:endParaRPr kumimoji="1" lang="en-US" altLang="ja-JP" dirty="0">
              <a:solidFill>
                <a:schemeClr val="bg1"/>
              </a:solidFill>
            </a:endParaRPr>
          </a:p>
          <a:p>
            <a:pPr algn="ctr"/>
            <a:r>
              <a:rPr lang="ja-JP" altLang="en-US" dirty="0">
                <a:solidFill>
                  <a:schemeClr val="bg1"/>
                </a:solidFill>
              </a:rPr>
              <a:t>（カスタマイズ）</a:t>
            </a:r>
            <a:endParaRPr kumimoji="1" lang="ja-JP" altLang="en-US" dirty="0">
              <a:solidFill>
                <a:schemeClr val="bg1"/>
              </a:solidFill>
            </a:endParaRPr>
          </a:p>
        </p:txBody>
      </p:sp>
      <p:sp>
        <p:nvSpPr>
          <p:cNvPr id="30" name="正方形/長方形 29">
            <a:extLst>
              <a:ext uri="{FF2B5EF4-FFF2-40B4-BE49-F238E27FC236}">
                <a16:creationId xmlns:a16="http://schemas.microsoft.com/office/drawing/2014/main" id="{1A509CE0-A9D3-A7B1-9144-E2F73D9B7E01}"/>
              </a:ext>
            </a:extLst>
          </p:cNvPr>
          <p:cNvSpPr/>
          <p:nvPr/>
        </p:nvSpPr>
        <p:spPr>
          <a:xfrm>
            <a:off x="6094126" y="3436002"/>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テスト項目</a:t>
            </a:r>
          </a:p>
        </p:txBody>
      </p:sp>
      <p:sp>
        <p:nvSpPr>
          <p:cNvPr id="32" name="テキスト ボックス 99">
            <a:extLst>
              <a:ext uri="{FF2B5EF4-FFF2-40B4-BE49-F238E27FC236}">
                <a16:creationId xmlns:a16="http://schemas.microsoft.com/office/drawing/2014/main" id="{654E98A6-1611-3620-E3D8-D50DA6685642}"/>
              </a:ext>
            </a:extLst>
          </p:cNvPr>
          <p:cNvSpPr txBox="1"/>
          <p:nvPr/>
        </p:nvSpPr>
        <p:spPr>
          <a:xfrm>
            <a:off x="2844827" y="3513607"/>
            <a:ext cx="514885" cy="584775"/>
          </a:xfrm>
          <a:prstGeom prst="rect">
            <a:avLst/>
          </a:prstGeom>
          <a:noFill/>
        </p:spPr>
        <p:txBody>
          <a:bodyPr wrap="none" rtlCol="0">
            <a:spAutoFit/>
          </a:bodyPr>
          <a:lstStyle>
            <a:defPPr>
              <a:defRPr lang="ja-JP"/>
            </a:defPPr>
            <a:lvl1pPr marL="0" algn="l" defTabSz="925880" rtl="0" eaLnBrk="1" latinLnBrk="0" hangingPunct="1">
              <a:defRPr kumimoji="1" sz="1822" kern="1200">
                <a:solidFill>
                  <a:schemeClr val="tx1"/>
                </a:solidFill>
                <a:latin typeface="+mn-lt"/>
                <a:ea typeface="+mn-ea"/>
                <a:cs typeface="+mn-cs"/>
              </a:defRPr>
            </a:lvl1pPr>
            <a:lvl2pPr marL="462940" algn="l" defTabSz="925880" rtl="0" eaLnBrk="1" latinLnBrk="0" hangingPunct="1">
              <a:defRPr kumimoji="1" sz="1822" kern="1200">
                <a:solidFill>
                  <a:schemeClr val="tx1"/>
                </a:solidFill>
                <a:latin typeface="+mn-lt"/>
                <a:ea typeface="+mn-ea"/>
                <a:cs typeface="+mn-cs"/>
              </a:defRPr>
            </a:lvl2pPr>
            <a:lvl3pPr marL="925880" algn="l" defTabSz="925880" rtl="0" eaLnBrk="1" latinLnBrk="0" hangingPunct="1">
              <a:defRPr kumimoji="1" sz="1822" kern="1200">
                <a:solidFill>
                  <a:schemeClr val="tx1"/>
                </a:solidFill>
                <a:latin typeface="+mn-lt"/>
                <a:ea typeface="+mn-ea"/>
                <a:cs typeface="+mn-cs"/>
              </a:defRPr>
            </a:lvl3pPr>
            <a:lvl4pPr marL="1388820" algn="l" defTabSz="925880" rtl="0" eaLnBrk="1" latinLnBrk="0" hangingPunct="1">
              <a:defRPr kumimoji="1" sz="1822" kern="1200">
                <a:solidFill>
                  <a:schemeClr val="tx1"/>
                </a:solidFill>
                <a:latin typeface="+mn-lt"/>
                <a:ea typeface="+mn-ea"/>
                <a:cs typeface="+mn-cs"/>
              </a:defRPr>
            </a:lvl4pPr>
            <a:lvl5pPr marL="1851759" algn="l" defTabSz="925880" rtl="0" eaLnBrk="1" latinLnBrk="0" hangingPunct="1">
              <a:defRPr kumimoji="1" sz="1822" kern="1200">
                <a:solidFill>
                  <a:schemeClr val="tx1"/>
                </a:solidFill>
                <a:latin typeface="+mn-lt"/>
                <a:ea typeface="+mn-ea"/>
                <a:cs typeface="+mn-cs"/>
              </a:defRPr>
            </a:lvl5pPr>
            <a:lvl6pPr marL="2314699" algn="l" defTabSz="925880" rtl="0" eaLnBrk="1" latinLnBrk="0" hangingPunct="1">
              <a:defRPr kumimoji="1" sz="1822" kern="1200">
                <a:solidFill>
                  <a:schemeClr val="tx1"/>
                </a:solidFill>
                <a:latin typeface="+mn-lt"/>
                <a:ea typeface="+mn-ea"/>
                <a:cs typeface="+mn-cs"/>
              </a:defRPr>
            </a:lvl6pPr>
            <a:lvl7pPr marL="2777640" algn="l" defTabSz="925880" rtl="0" eaLnBrk="1" latinLnBrk="0" hangingPunct="1">
              <a:defRPr kumimoji="1" sz="1822" kern="1200">
                <a:solidFill>
                  <a:schemeClr val="tx1"/>
                </a:solidFill>
                <a:latin typeface="+mn-lt"/>
                <a:ea typeface="+mn-ea"/>
                <a:cs typeface="+mn-cs"/>
              </a:defRPr>
            </a:lvl7pPr>
            <a:lvl8pPr marL="3240579" algn="l" defTabSz="925880" rtl="0" eaLnBrk="1" latinLnBrk="0" hangingPunct="1">
              <a:defRPr kumimoji="1" sz="1822" kern="1200">
                <a:solidFill>
                  <a:schemeClr val="tx1"/>
                </a:solidFill>
                <a:latin typeface="+mn-lt"/>
                <a:ea typeface="+mn-ea"/>
                <a:cs typeface="+mn-cs"/>
              </a:defRPr>
            </a:lvl8pPr>
            <a:lvl9pPr marL="3703519" algn="l" defTabSz="925880" rtl="0" eaLnBrk="1" latinLnBrk="0" hangingPunct="1">
              <a:defRPr kumimoji="1" sz="1822" kern="1200">
                <a:solidFill>
                  <a:schemeClr val="tx1"/>
                </a:solidFill>
                <a:latin typeface="+mn-lt"/>
                <a:ea typeface="+mn-ea"/>
                <a:cs typeface="+mn-cs"/>
              </a:defRPr>
            </a:lvl9pPr>
          </a:lstStyle>
          <a:p>
            <a:r>
              <a:rPr kumimoji="1" lang="en-US" altLang="ja-JP" sz="3200" dirty="0"/>
              <a:t>×</a:t>
            </a:r>
            <a:endParaRPr kumimoji="1" lang="ja-JP" altLang="en-US" sz="3200" dirty="0"/>
          </a:p>
        </p:txBody>
      </p:sp>
      <p:sp>
        <p:nvSpPr>
          <p:cNvPr id="4" name="正方形/長方形 3">
            <a:extLst>
              <a:ext uri="{FF2B5EF4-FFF2-40B4-BE49-F238E27FC236}">
                <a16:creationId xmlns:a16="http://schemas.microsoft.com/office/drawing/2014/main" id="{80B95557-F295-2269-B819-1159D4ECE882}"/>
              </a:ext>
            </a:extLst>
          </p:cNvPr>
          <p:cNvSpPr/>
          <p:nvPr/>
        </p:nvSpPr>
        <p:spPr>
          <a:xfrm>
            <a:off x="3353185" y="2140817"/>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テスト観点</a:t>
            </a:r>
            <a:endParaRPr kumimoji="1" lang="en-US" altLang="ja-JP" dirty="0">
              <a:solidFill>
                <a:schemeClr val="bg1"/>
              </a:solidFill>
            </a:endParaRPr>
          </a:p>
          <a:p>
            <a:pPr algn="ctr"/>
            <a:r>
              <a:rPr lang="ja-JP" altLang="en-US" dirty="0">
                <a:solidFill>
                  <a:schemeClr val="bg1"/>
                </a:solidFill>
              </a:rPr>
              <a:t>（標準）</a:t>
            </a:r>
            <a:endParaRPr lang="en-US" altLang="ja-JP" dirty="0">
              <a:solidFill>
                <a:schemeClr val="bg1"/>
              </a:solidFill>
            </a:endParaRPr>
          </a:p>
        </p:txBody>
      </p:sp>
      <p:cxnSp>
        <p:nvCxnSpPr>
          <p:cNvPr id="5" name="直線矢印コネクタ 4">
            <a:extLst>
              <a:ext uri="{FF2B5EF4-FFF2-40B4-BE49-F238E27FC236}">
                <a16:creationId xmlns:a16="http://schemas.microsoft.com/office/drawing/2014/main" id="{31C69EA1-23E9-7974-7AA7-7D0D7D62526F}"/>
              </a:ext>
            </a:extLst>
          </p:cNvPr>
          <p:cNvCxnSpPr>
            <a:cxnSpLocks/>
            <a:stCxn id="4" idx="2"/>
            <a:endCxn id="28" idx="0"/>
          </p:cNvCxnSpPr>
          <p:nvPr/>
        </p:nvCxnSpPr>
        <p:spPr>
          <a:xfrm>
            <a:off x="4253185" y="2860817"/>
            <a:ext cx="0" cy="603178"/>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F6611B75-DBFB-1F59-2707-30A8E74E2D36}"/>
              </a:ext>
            </a:extLst>
          </p:cNvPr>
          <p:cNvSpPr/>
          <p:nvPr/>
        </p:nvSpPr>
        <p:spPr>
          <a:xfrm>
            <a:off x="816270" y="3301876"/>
            <a:ext cx="4571998" cy="982395"/>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9" name="直線矢印コネクタ 8">
            <a:extLst>
              <a:ext uri="{FF2B5EF4-FFF2-40B4-BE49-F238E27FC236}">
                <a16:creationId xmlns:a16="http://schemas.microsoft.com/office/drawing/2014/main" id="{EE1A8B22-9CB2-0226-8287-A74FD92FAF04}"/>
              </a:ext>
            </a:extLst>
          </p:cNvPr>
          <p:cNvCxnSpPr>
            <a:cxnSpLocks/>
            <a:stCxn id="8" idx="3"/>
            <a:endCxn id="30" idx="1"/>
          </p:cNvCxnSpPr>
          <p:nvPr/>
        </p:nvCxnSpPr>
        <p:spPr>
          <a:xfrm>
            <a:off x="5388268" y="3793074"/>
            <a:ext cx="705858" cy="2928"/>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正方形/長方形 13">
            <a:extLst>
              <a:ext uri="{FF2B5EF4-FFF2-40B4-BE49-F238E27FC236}">
                <a16:creationId xmlns:a16="http://schemas.microsoft.com/office/drawing/2014/main" id="{79DEEC6F-4750-88D3-9B01-464B643BABEC}"/>
              </a:ext>
            </a:extLst>
          </p:cNvPr>
          <p:cNvSpPr/>
          <p:nvPr/>
        </p:nvSpPr>
        <p:spPr>
          <a:xfrm>
            <a:off x="8599984" y="3436002"/>
            <a:ext cx="1800000" cy="720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テストケース</a:t>
            </a:r>
          </a:p>
        </p:txBody>
      </p:sp>
      <p:cxnSp>
        <p:nvCxnSpPr>
          <p:cNvPr id="15" name="直線矢印コネクタ 14">
            <a:extLst>
              <a:ext uri="{FF2B5EF4-FFF2-40B4-BE49-F238E27FC236}">
                <a16:creationId xmlns:a16="http://schemas.microsoft.com/office/drawing/2014/main" id="{6B496637-4E8A-DC51-0FBA-BA99DA8AE15B}"/>
              </a:ext>
            </a:extLst>
          </p:cNvPr>
          <p:cNvCxnSpPr>
            <a:cxnSpLocks/>
            <a:endCxn id="14" idx="1"/>
          </p:cNvCxnSpPr>
          <p:nvPr/>
        </p:nvCxnSpPr>
        <p:spPr>
          <a:xfrm>
            <a:off x="7894126" y="3796002"/>
            <a:ext cx="705858" cy="0"/>
          </a:xfrm>
          <a:prstGeom prst="straightConnector1">
            <a:avLst/>
          </a:prstGeom>
          <a:ln w="57150">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正方形/長方形 20">
            <a:extLst>
              <a:ext uri="{FF2B5EF4-FFF2-40B4-BE49-F238E27FC236}">
                <a16:creationId xmlns:a16="http://schemas.microsoft.com/office/drawing/2014/main" id="{7E118A3A-3DD9-EBFD-46A2-139930B4C367}"/>
              </a:ext>
            </a:extLst>
          </p:cNvPr>
          <p:cNvSpPr/>
          <p:nvPr/>
        </p:nvSpPr>
        <p:spPr>
          <a:xfrm flipH="1">
            <a:off x="5874262" y="3225721"/>
            <a:ext cx="4752000" cy="1159660"/>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41" name="直線コネクタ 40">
            <a:extLst>
              <a:ext uri="{FF2B5EF4-FFF2-40B4-BE49-F238E27FC236}">
                <a16:creationId xmlns:a16="http://schemas.microsoft.com/office/drawing/2014/main" id="{0F930AB4-0DE0-51DD-4DB6-8658CBBE6CB2}"/>
              </a:ext>
            </a:extLst>
          </p:cNvPr>
          <p:cNvCxnSpPr>
            <a:cxnSpLocks/>
          </p:cNvCxnSpPr>
          <p:nvPr/>
        </p:nvCxnSpPr>
        <p:spPr>
          <a:xfrm>
            <a:off x="6243488" y="4385381"/>
            <a:ext cx="250618" cy="627487"/>
          </a:xfrm>
          <a:prstGeom prst="line">
            <a:avLst/>
          </a:prstGeom>
          <a:ln w="1905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DAB887CD-056B-D1B2-7FA9-23AE323D5B91}"/>
              </a:ext>
            </a:extLst>
          </p:cNvPr>
          <p:cNvSpPr txBox="1"/>
          <p:nvPr/>
        </p:nvSpPr>
        <p:spPr>
          <a:xfrm>
            <a:off x="6494106" y="4919936"/>
            <a:ext cx="4289463" cy="369332"/>
          </a:xfrm>
          <a:prstGeom prst="rect">
            <a:avLst/>
          </a:prstGeom>
          <a:noFill/>
        </p:spPr>
        <p:txBody>
          <a:bodyPr wrap="square">
            <a:spAutoFit/>
          </a:bodyPr>
          <a:lstStyle/>
          <a:p>
            <a:r>
              <a:rPr kumimoji="1" lang="ja-JP" altLang="en-US" sz="1600" dirty="0">
                <a:latin typeface="__Inter_a184c8"/>
              </a:rPr>
              <a:t>テスト項目を</a:t>
            </a:r>
            <a:r>
              <a:rPr kumimoji="1" lang="ja-JP" altLang="en-US" b="1" dirty="0">
                <a:latin typeface="__Inter_a184c8"/>
              </a:rPr>
              <a:t>業務の流れに沿って</a:t>
            </a:r>
            <a:r>
              <a:rPr kumimoji="1" lang="ja-JP" altLang="en-US" sz="1600" dirty="0">
                <a:latin typeface="__Inter_a184c8"/>
              </a:rPr>
              <a:t>ケース化する</a:t>
            </a:r>
            <a:endParaRPr kumimoji="1" lang="en-US" altLang="ja-JP" sz="1600" dirty="0">
              <a:latin typeface="__Inter_a184c8"/>
            </a:endParaRPr>
          </a:p>
        </p:txBody>
      </p:sp>
      <p:sp>
        <p:nvSpPr>
          <p:cNvPr id="43" name="テキスト ボックス 42">
            <a:extLst>
              <a:ext uri="{FF2B5EF4-FFF2-40B4-BE49-F238E27FC236}">
                <a16:creationId xmlns:a16="http://schemas.microsoft.com/office/drawing/2014/main" id="{D4D70926-491F-6C8B-049C-60B648A6BB1E}"/>
              </a:ext>
            </a:extLst>
          </p:cNvPr>
          <p:cNvSpPr txBox="1"/>
          <p:nvPr/>
        </p:nvSpPr>
        <p:spPr>
          <a:xfrm>
            <a:off x="5771621" y="2849840"/>
            <a:ext cx="5135420" cy="369332"/>
          </a:xfrm>
          <a:prstGeom prst="rect">
            <a:avLst/>
          </a:prstGeom>
          <a:noFill/>
        </p:spPr>
        <p:txBody>
          <a:bodyPr wrap="square">
            <a:spAutoFit/>
          </a:bodyPr>
          <a:lstStyle/>
          <a:p>
            <a:r>
              <a:rPr lang="ja-JP" altLang="en-US" b="1" dirty="0">
                <a:solidFill>
                  <a:srgbClr val="FF0000"/>
                </a:solidFill>
                <a:latin typeface="__Inter_a184c8"/>
              </a:rPr>
              <a:t>手順３：</a:t>
            </a:r>
            <a:r>
              <a:rPr kumimoji="1" lang="ja-JP" altLang="en-US" b="1" dirty="0">
                <a:solidFill>
                  <a:srgbClr val="FF0000"/>
                </a:solidFill>
                <a:latin typeface="__Inter_a184c8"/>
              </a:rPr>
              <a:t>テストケースの作成</a:t>
            </a:r>
            <a:endParaRPr lang="ja-JP" altLang="en-US" sz="1600" b="1" dirty="0">
              <a:solidFill>
                <a:srgbClr val="FF0000"/>
              </a:solidFill>
            </a:endParaRPr>
          </a:p>
        </p:txBody>
      </p:sp>
      <p:grpSp>
        <p:nvGrpSpPr>
          <p:cNvPr id="16" name="グループ化 15">
            <a:extLst>
              <a:ext uri="{FF2B5EF4-FFF2-40B4-BE49-F238E27FC236}">
                <a16:creationId xmlns:a16="http://schemas.microsoft.com/office/drawing/2014/main" id="{A69EA271-85D8-917C-D929-20DDFC46E0B5}"/>
              </a:ext>
            </a:extLst>
          </p:cNvPr>
          <p:cNvGrpSpPr/>
          <p:nvPr/>
        </p:nvGrpSpPr>
        <p:grpSpPr>
          <a:xfrm>
            <a:off x="1728525" y="5354268"/>
            <a:ext cx="10463475" cy="981861"/>
            <a:chOff x="2939612" y="5062354"/>
            <a:chExt cx="10463475" cy="981861"/>
          </a:xfrm>
        </p:grpSpPr>
        <p:sp>
          <p:nvSpPr>
            <p:cNvPr id="17" name="四角形: 角を丸くする 16">
              <a:extLst>
                <a:ext uri="{FF2B5EF4-FFF2-40B4-BE49-F238E27FC236}">
                  <a16:creationId xmlns:a16="http://schemas.microsoft.com/office/drawing/2014/main" id="{77556F75-9BDB-9006-C8DF-30564AFD0B74}"/>
                </a:ext>
              </a:extLst>
            </p:cNvPr>
            <p:cNvSpPr/>
            <p:nvPr/>
          </p:nvSpPr>
          <p:spPr>
            <a:xfrm>
              <a:off x="2939612" y="5062354"/>
              <a:ext cx="10274267" cy="981861"/>
            </a:xfrm>
            <a:prstGeom prst="roundRect">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テキスト ボックス 17">
              <a:extLst>
                <a:ext uri="{FF2B5EF4-FFF2-40B4-BE49-F238E27FC236}">
                  <a16:creationId xmlns:a16="http://schemas.microsoft.com/office/drawing/2014/main" id="{6222CEDC-66DA-3978-2AFE-58873800B013}"/>
                </a:ext>
              </a:extLst>
            </p:cNvPr>
            <p:cNvSpPr txBox="1"/>
            <p:nvPr/>
          </p:nvSpPr>
          <p:spPr>
            <a:xfrm>
              <a:off x="3128819" y="5196745"/>
              <a:ext cx="10274268" cy="769441"/>
            </a:xfrm>
            <a:prstGeom prst="rect">
              <a:avLst/>
            </a:prstGeom>
            <a:noFill/>
          </p:spPr>
          <p:txBody>
            <a:bodyPr wrap="square">
              <a:spAutoFit/>
            </a:bodyPr>
            <a:lstStyle/>
            <a:p>
              <a:r>
                <a:rPr kumimoji="1" lang="ja-JP" altLang="en-US" sz="1400" dirty="0">
                  <a:solidFill>
                    <a:schemeClr val="tx1"/>
                  </a:solidFill>
                </a:rPr>
                <a:t>・「テスト項目」、「テストケース」という呼称は一例であるが、呼称に関わらず、</a:t>
              </a:r>
              <a:endParaRPr kumimoji="1" lang="en-US" altLang="ja-JP" sz="1400" dirty="0">
                <a:solidFill>
                  <a:schemeClr val="tx1"/>
                </a:solidFill>
              </a:endParaRPr>
            </a:p>
            <a:p>
              <a:r>
                <a:rPr lang="ja-JP" altLang="en-US" sz="1400" dirty="0"/>
                <a:t>　</a:t>
              </a:r>
              <a:r>
                <a:rPr kumimoji="1" lang="ja-JP" altLang="en-US" sz="1600" b="1" dirty="0">
                  <a:solidFill>
                    <a:srgbClr val="FF0000"/>
                  </a:solidFill>
                </a:rPr>
                <a:t>「インプット</a:t>
              </a:r>
              <a:r>
                <a:rPr kumimoji="1" lang="en-US" altLang="ja-JP" sz="1600" b="1" dirty="0">
                  <a:solidFill>
                    <a:srgbClr val="FF0000"/>
                  </a:solidFill>
                </a:rPr>
                <a:t>×</a:t>
              </a:r>
              <a:r>
                <a:rPr kumimoji="1" lang="ja-JP" altLang="en-US" sz="1600" b="1" dirty="0">
                  <a:solidFill>
                    <a:srgbClr val="FF0000"/>
                  </a:solidFill>
                </a:rPr>
                <a:t>テスト観点で網羅的に洗い出したもの」</a:t>
              </a:r>
              <a:r>
                <a:rPr kumimoji="1" lang="ja-JP" altLang="en-US" sz="1400" dirty="0">
                  <a:solidFill>
                    <a:schemeClr val="tx1"/>
                  </a:solidFill>
                </a:rPr>
                <a:t>と</a:t>
              </a:r>
              <a:r>
                <a:rPr kumimoji="1" lang="ja-JP" altLang="en-US" sz="1600" b="1" dirty="0">
                  <a:solidFill>
                    <a:srgbClr val="FF0000"/>
                  </a:solidFill>
                </a:rPr>
                <a:t>「業務の流れに沿ってケース化したもの」</a:t>
              </a:r>
              <a:r>
                <a:rPr kumimoji="1" lang="ja-JP" altLang="en-US" sz="1400" dirty="0">
                  <a:solidFill>
                    <a:schemeClr val="tx1"/>
                  </a:solidFill>
                </a:rPr>
                <a:t>を準備することが重要である</a:t>
              </a:r>
            </a:p>
            <a:p>
              <a:r>
                <a:rPr kumimoji="1" lang="ja-JP" altLang="en-US" sz="1400" dirty="0">
                  <a:solidFill>
                    <a:schemeClr val="tx1"/>
                  </a:solidFill>
                </a:rPr>
                <a:t>・</a:t>
              </a:r>
              <a:r>
                <a:rPr kumimoji="1" lang="ja-JP" altLang="en-US" sz="1400" dirty="0">
                  <a:latin typeface="Meiryo UI" panose="020B0604030504040204" pitchFamily="50" charset="-128"/>
                  <a:ea typeface="Meiryo UI" panose="020B0604030504040204" pitchFamily="50" charset="-128"/>
                </a:rPr>
                <a:t>テストケースの作成にも、</a:t>
              </a:r>
              <a:r>
                <a:rPr kumimoji="1" lang="ja-JP" altLang="en-US" sz="1400" b="1" dirty="0">
                  <a:latin typeface="Meiryo UI" panose="020B0604030504040204" pitchFamily="50" charset="-128"/>
                  <a:ea typeface="Meiryo UI" panose="020B0604030504040204" pitchFamily="50" charset="-128"/>
                </a:rPr>
                <a:t>テスト技法</a:t>
              </a:r>
              <a:r>
                <a:rPr kumimoji="1" lang="ja-JP" altLang="en-US" sz="1400" dirty="0">
                  <a:latin typeface="Meiryo UI" panose="020B0604030504040204" pitchFamily="50" charset="-128"/>
                  <a:ea typeface="Meiryo UI" panose="020B0604030504040204" pitchFamily="50" charset="-128"/>
                </a:rPr>
                <a:t>が活用される</a:t>
              </a:r>
              <a:endParaRPr lang="ja-JP" altLang="en-US" sz="1400" dirty="0"/>
            </a:p>
          </p:txBody>
        </p:sp>
      </p:grpSp>
    </p:spTree>
    <p:extLst>
      <p:ext uri="{BB962C8B-B14F-4D97-AF65-F5344CB8AC3E}">
        <p14:creationId xmlns:p14="http://schemas.microsoft.com/office/powerpoint/2010/main" val="2656318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85D2F-2469-B692-64D2-E9B44FB708A9}"/>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5EE8FCE-A440-6024-1700-35110DC307F0}"/>
              </a:ext>
            </a:extLst>
          </p:cNvPr>
          <p:cNvSpPr>
            <a:spLocks noGrp="1"/>
          </p:cNvSpPr>
          <p:nvPr>
            <p:ph sz="quarter" idx="4294967295"/>
          </p:nvPr>
        </p:nvSpPr>
        <p:spPr>
          <a:xfrm>
            <a:off x="371474" y="1012801"/>
            <a:ext cx="11448000" cy="519194"/>
          </a:xfrm>
        </p:spPr>
        <p:txBody>
          <a:bodyPr/>
          <a:lstStyle/>
          <a:p>
            <a:r>
              <a:rPr kumimoji="1" lang="ja-JP" altLang="en-US" u="sng" dirty="0">
                <a:solidFill>
                  <a:schemeClr val="tx1"/>
                </a:solidFill>
              </a:rPr>
              <a:t>テスト</a:t>
            </a:r>
            <a:r>
              <a:rPr lang="ja-JP" altLang="en-US" u="sng" dirty="0">
                <a:solidFill>
                  <a:schemeClr val="tx1"/>
                </a:solidFill>
              </a:rPr>
              <a:t>設計の例</a:t>
            </a:r>
            <a:endParaRPr lang="en-US" altLang="ja-JP" u="sng" dirty="0">
              <a:solidFill>
                <a:schemeClr val="tx1"/>
              </a:solidFill>
            </a:endParaRPr>
          </a:p>
          <a:p>
            <a:r>
              <a:rPr lang="ja-JP" altLang="en-US" b="1" dirty="0">
                <a:solidFill>
                  <a:schemeClr val="tx1"/>
                </a:solidFill>
              </a:rPr>
              <a:t>例：ツアー予約アプリケーション</a:t>
            </a:r>
          </a:p>
        </p:txBody>
      </p:sp>
      <p:sp>
        <p:nvSpPr>
          <p:cNvPr id="2" name="タイトル 1">
            <a:extLst>
              <a:ext uri="{FF2B5EF4-FFF2-40B4-BE49-F238E27FC236}">
                <a16:creationId xmlns:a16="http://schemas.microsoft.com/office/drawing/2014/main" id="{846F835B-E733-21D6-0E1A-166348E68B57}"/>
              </a:ext>
            </a:extLst>
          </p:cNvPr>
          <p:cNvSpPr>
            <a:spLocks noGrp="1"/>
          </p:cNvSpPr>
          <p:nvPr>
            <p:ph type="title"/>
          </p:nvPr>
        </p:nvSpPr>
        <p:spPr/>
        <p:txBody>
          <a:bodyPr anchor="ctr"/>
          <a:lstStyle/>
          <a:p>
            <a:r>
              <a:rPr kumimoji="1" lang="ja-JP" altLang="en-US" dirty="0"/>
              <a:t>テスト設計</a:t>
            </a:r>
          </a:p>
        </p:txBody>
      </p:sp>
      <p:pic>
        <p:nvPicPr>
          <p:cNvPr id="6" name="図 5" descr="グラフィカル ユーザー インターフェイス, テキスト, アプリケーション, メール&#10;&#10;AI によって生成されたコンテンツは間違っている可能性があります。">
            <a:extLst>
              <a:ext uri="{FF2B5EF4-FFF2-40B4-BE49-F238E27FC236}">
                <a16:creationId xmlns:a16="http://schemas.microsoft.com/office/drawing/2014/main" id="{25000706-5B8B-475C-AD53-26A55E6982C6}"/>
              </a:ext>
            </a:extLst>
          </p:cNvPr>
          <p:cNvPicPr>
            <a:picLocks noChangeAspect="1"/>
          </p:cNvPicPr>
          <p:nvPr/>
        </p:nvPicPr>
        <p:blipFill>
          <a:blip r:embed="rId2"/>
          <a:srcRect t="4243" r="51799" b="41224"/>
          <a:stretch/>
        </p:blipFill>
        <p:spPr>
          <a:xfrm>
            <a:off x="727215" y="1819094"/>
            <a:ext cx="5332636" cy="3739795"/>
          </a:xfrm>
          <a:prstGeom prst="rect">
            <a:avLst/>
          </a:prstGeom>
          <a:ln w="12700">
            <a:solidFill>
              <a:schemeClr val="accent1"/>
            </a:solidFill>
          </a:ln>
        </p:spPr>
      </p:pic>
      <p:pic>
        <p:nvPicPr>
          <p:cNvPr id="10" name="図 9"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B490151D-37FB-DE56-0879-C5FC7A22347A}"/>
              </a:ext>
            </a:extLst>
          </p:cNvPr>
          <p:cNvPicPr>
            <a:picLocks noChangeAspect="1"/>
          </p:cNvPicPr>
          <p:nvPr/>
        </p:nvPicPr>
        <p:blipFill>
          <a:blip r:embed="rId3"/>
          <a:srcRect t="4925" r="62175" b="60952"/>
          <a:stretch/>
        </p:blipFill>
        <p:spPr>
          <a:xfrm>
            <a:off x="7439794" y="4064339"/>
            <a:ext cx="4167487" cy="2340113"/>
          </a:xfrm>
          <a:prstGeom prst="rect">
            <a:avLst/>
          </a:prstGeom>
          <a:ln w="12700">
            <a:solidFill>
              <a:schemeClr val="accent1"/>
            </a:solidFill>
          </a:ln>
        </p:spPr>
      </p:pic>
      <p:cxnSp>
        <p:nvCxnSpPr>
          <p:cNvPr id="13" name="直線矢印コネクタ 12">
            <a:extLst>
              <a:ext uri="{FF2B5EF4-FFF2-40B4-BE49-F238E27FC236}">
                <a16:creationId xmlns:a16="http://schemas.microsoft.com/office/drawing/2014/main" id="{1FC38590-AE49-AE20-7056-926B4D3F409A}"/>
              </a:ext>
            </a:extLst>
          </p:cNvPr>
          <p:cNvCxnSpPr>
            <a:cxnSpLocks/>
          </p:cNvCxnSpPr>
          <p:nvPr/>
        </p:nvCxnSpPr>
        <p:spPr>
          <a:xfrm flipV="1">
            <a:off x="2547257" y="5388783"/>
            <a:ext cx="4860000" cy="0"/>
          </a:xfrm>
          <a:prstGeom prst="straightConnector1">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テキスト ボックス 13">
            <a:extLst>
              <a:ext uri="{FF2B5EF4-FFF2-40B4-BE49-F238E27FC236}">
                <a16:creationId xmlns:a16="http://schemas.microsoft.com/office/drawing/2014/main" id="{2D951631-B350-275B-B2FA-FC361F4B7517}"/>
              </a:ext>
            </a:extLst>
          </p:cNvPr>
          <p:cNvSpPr txBox="1"/>
          <p:nvPr/>
        </p:nvSpPr>
        <p:spPr>
          <a:xfrm>
            <a:off x="6212875" y="5048570"/>
            <a:ext cx="1073895" cy="401889"/>
          </a:xfrm>
          <a:prstGeom prst="rect">
            <a:avLst/>
          </a:prstGeom>
          <a:noFill/>
        </p:spPr>
        <p:txBody>
          <a:bodyPr wrap="square" lIns="0" rIns="0" rtlCol="0">
            <a:noAutofit/>
          </a:bodyPr>
          <a:lstStyle/>
          <a:p>
            <a:pPr algn="l" defTabSz="288000"/>
            <a:r>
              <a:rPr kumimoji="1" lang="ja-JP" altLang="en-US" sz="1400" dirty="0">
                <a:latin typeface="+mn-ea"/>
              </a:rPr>
              <a:t>予約成功時</a:t>
            </a:r>
          </a:p>
        </p:txBody>
      </p:sp>
      <p:grpSp>
        <p:nvGrpSpPr>
          <p:cNvPr id="17" name="グループ化 16">
            <a:extLst>
              <a:ext uri="{FF2B5EF4-FFF2-40B4-BE49-F238E27FC236}">
                <a16:creationId xmlns:a16="http://schemas.microsoft.com/office/drawing/2014/main" id="{CBCFCB45-1321-865E-5CA5-91B16C57E294}"/>
              </a:ext>
            </a:extLst>
          </p:cNvPr>
          <p:cNvGrpSpPr/>
          <p:nvPr/>
        </p:nvGrpSpPr>
        <p:grpSpPr>
          <a:xfrm>
            <a:off x="6544542" y="1603597"/>
            <a:ext cx="3170958" cy="1856792"/>
            <a:chOff x="6096673" y="1464906"/>
            <a:chExt cx="3170958" cy="1856792"/>
          </a:xfrm>
        </p:grpSpPr>
        <p:sp>
          <p:nvSpPr>
            <p:cNvPr id="15" name="四角形: 角を丸くする 14">
              <a:extLst>
                <a:ext uri="{FF2B5EF4-FFF2-40B4-BE49-F238E27FC236}">
                  <a16:creationId xmlns:a16="http://schemas.microsoft.com/office/drawing/2014/main" id="{CA2AF655-6346-EE85-AC14-0D0BC281C604}"/>
                </a:ext>
              </a:extLst>
            </p:cNvPr>
            <p:cNvSpPr/>
            <p:nvPr/>
          </p:nvSpPr>
          <p:spPr>
            <a:xfrm>
              <a:off x="6096673" y="1464906"/>
              <a:ext cx="3170957" cy="1856792"/>
            </a:xfrm>
            <a:prstGeom prst="roundRect">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6" name="テキスト ボックス 15">
              <a:extLst>
                <a:ext uri="{FF2B5EF4-FFF2-40B4-BE49-F238E27FC236}">
                  <a16:creationId xmlns:a16="http://schemas.microsoft.com/office/drawing/2014/main" id="{B47225C9-5D62-6593-E5BE-72713E45A105}"/>
                </a:ext>
              </a:extLst>
            </p:cNvPr>
            <p:cNvSpPr txBox="1"/>
            <p:nvPr/>
          </p:nvSpPr>
          <p:spPr>
            <a:xfrm>
              <a:off x="6351467" y="1583603"/>
              <a:ext cx="2916164" cy="1619398"/>
            </a:xfrm>
            <a:prstGeom prst="rect">
              <a:avLst/>
            </a:prstGeom>
            <a:noFill/>
          </p:spPr>
          <p:txBody>
            <a:bodyPr wrap="square" lIns="0" rIns="0" rtlCol="0">
              <a:noAutofit/>
            </a:bodyPr>
            <a:lstStyle/>
            <a:p>
              <a:pPr algn="l" defTabSz="288000"/>
              <a:r>
                <a:rPr lang="ja-JP" altLang="en-US" sz="1400" u="sng" dirty="0">
                  <a:latin typeface="+mn-ea"/>
                </a:rPr>
                <a:t>ルール</a:t>
              </a:r>
              <a:endParaRPr lang="en-US" altLang="ja-JP" sz="1400" u="sng" dirty="0">
                <a:latin typeface="+mn-ea"/>
              </a:endParaRPr>
            </a:p>
            <a:p>
              <a:pPr algn="l" defTabSz="288000"/>
              <a:r>
                <a:rPr lang="ja-JP" altLang="en-US" sz="1400" dirty="0">
                  <a:latin typeface="+mn-ea"/>
                </a:rPr>
                <a:t>　●</a:t>
              </a:r>
              <a:r>
                <a:rPr kumimoji="1" lang="ja-JP" altLang="en-US" sz="1400" dirty="0">
                  <a:latin typeface="+mn-ea"/>
                </a:rPr>
                <a:t>予約可否</a:t>
              </a:r>
              <a:endParaRPr kumimoji="1" lang="en-US" altLang="ja-JP" sz="1400" dirty="0">
                <a:latin typeface="+mn-ea"/>
              </a:endParaRPr>
            </a:p>
            <a:p>
              <a:pPr algn="l" defTabSz="288000"/>
              <a:r>
                <a:rPr lang="en-US" altLang="ja-JP" sz="1400" dirty="0">
                  <a:latin typeface="+mn-ea"/>
                </a:rPr>
                <a:t>	</a:t>
              </a:r>
              <a:r>
                <a:rPr lang="ja-JP" altLang="en-US" sz="1400" dirty="0">
                  <a:latin typeface="+mn-ea"/>
                </a:rPr>
                <a:t>　開始日：未来の日付</a:t>
              </a:r>
              <a:endParaRPr lang="en-US" altLang="ja-JP" sz="1400" dirty="0">
                <a:latin typeface="+mn-ea"/>
              </a:endParaRPr>
            </a:p>
            <a:p>
              <a:pPr algn="l" defTabSz="288000"/>
              <a:r>
                <a:rPr lang="en-US" altLang="ja-JP" sz="1400" dirty="0">
                  <a:latin typeface="+mn-ea"/>
                </a:rPr>
                <a:t>	</a:t>
              </a:r>
              <a:r>
                <a:rPr lang="ja-JP" altLang="en-US" sz="1400" dirty="0">
                  <a:latin typeface="+mn-ea"/>
                </a:rPr>
                <a:t>　申込</a:t>
              </a:r>
              <a:r>
                <a:rPr kumimoji="1" lang="ja-JP" altLang="en-US" sz="1400" dirty="0">
                  <a:latin typeface="+mn-ea"/>
                </a:rPr>
                <a:t>人数：</a:t>
              </a:r>
              <a:r>
                <a:rPr kumimoji="1" lang="en-US" altLang="ja-JP" sz="1400" dirty="0">
                  <a:latin typeface="+mn-ea"/>
                </a:rPr>
                <a:t>1</a:t>
              </a:r>
              <a:r>
                <a:rPr kumimoji="1" lang="ja-JP" altLang="en-US" sz="1400" dirty="0">
                  <a:latin typeface="+mn-ea"/>
                </a:rPr>
                <a:t>人以上</a:t>
              </a:r>
              <a:r>
                <a:rPr kumimoji="1" lang="en-US" altLang="ja-JP" sz="1400" dirty="0">
                  <a:latin typeface="+mn-ea"/>
                </a:rPr>
                <a:t>10</a:t>
              </a:r>
              <a:r>
                <a:rPr kumimoji="1" lang="ja-JP" altLang="en-US" sz="1400" dirty="0">
                  <a:latin typeface="+mn-ea"/>
                </a:rPr>
                <a:t>人以内</a:t>
              </a:r>
              <a:endParaRPr kumimoji="1" lang="en-US" altLang="ja-JP" sz="1400" dirty="0">
                <a:latin typeface="+mn-ea"/>
              </a:endParaRPr>
            </a:p>
            <a:p>
              <a:pPr algn="l" defTabSz="288000"/>
              <a:r>
                <a:rPr lang="ja-JP" altLang="en-US" sz="1400" dirty="0">
                  <a:latin typeface="+mn-ea"/>
                </a:rPr>
                <a:t>　●割引適用</a:t>
              </a:r>
              <a:endParaRPr lang="en-US" altLang="ja-JP" sz="1400" dirty="0">
                <a:latin typeface="+mn-ea"/>
              </a:endParaRPr>
            </a:p>
            <a:p>
              <a:pPr algn="l" defTabSz="288000"/>
              <a:r>
                <a:rPr lang="en-US" altLang="ja-JP" sz="1400" dirty="0">
                  <a:latin typeface="+mn-ea"/>
                </a:rPr>
                <a:t>	</a:t>
              </a:r>
              <a:r>
                <a:rPr lang="ja-JP" altLang="en-US" sz="1400" dirty="0">
                  <a:latin typeface="+mn-ea"/>
                </a:rPr>
                <a:t>　早期割：</a:t>
              </a:r>
              <a:r>
                <a:rPr lang="en-US" altLang="ja-JP" sz="1400" dirty="0">
                  <a:latin typeface="+mn-ea"/>
                </a:rPr>
                <a:t>30</a:t>
              </a:r>
              <a:r>
                <a:rPr lang="ja-JP" altLang="en-US" sz="1400" dirty="0">
                  <a:latin typeface="+mn-ea"/>
                </a:rPr>
                <a:t>日以上先</a:t>
              </a:r>
              <a:endParaRPr lang="en-US" altLang="ja-JP" sz="1400" dirty="0">
                <a:latin typeface="+mn-ea"/>
              </a:endParaRPr>
            </a:p>
            <a:p>
              <a:pPr algn="l" defTabSz="288000"/>
              <a:r>
                <a:rPr lang="en-US" altLang="ja-JP" sz="1400" dirty="0">
                  <a:latin typeface="+mn-ea"/>
                </a:rPr>
                <a:t>	</a:t>
              </a:r>
              <a:r>
                <a:rPr lang="ja-JP" altLang="en-US" sz="1400" dirty="0">
                  <a:latin typeface="+mn-ea"/>
                </a:rPr>
                <a:t>　</a:t>
              </a:r>
              <a:r>
                <a:rPr kumimoji="1" lang="ja-JP" altLang="en-US" sz="1400" dirty="0">
                  <a:latin typeface="+mn-ea"/>
                </a:rPr>
                <a:t>人数割：</a:t>
              </a:r>
              <a:r>
                <a:rPr kumimoji="1" lang="en-US" altLang="ja-JP" sz="1400" dirty="0">
                  <a:latin typeface="+mn-ea"/>
                </a:rPr>
                <a:t>5</a:t>
              </a:r>
              <a:r>
                <a:rPr kumimoji="1" lang="ja-JP" altLang="en-US" sz="1400" dirty="0">
                  <a:latin typeface="+mn-ea"/>
                </a:rPr>
                <a:t>人以上</a:t>
              </a:r>
            </a:p>
          </p:txBody>
        </p:sp>
      </p:grpSp>
    </p:spTree>
    <p:extLst>
      <p:ext uri="{BB962C8B-B14F-4D97-AF65-F5344CB8AC3E}">
        <p14:creationId xmlns:p14="http://schemas.microsoft.com/office/powerpoint/2010/main" val="1448443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77541-AD49-8524-B46B-F0E2FFEB205B}"/>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3DF89828-B3F7-EA83-4195-9B29D9B33402}"/>
              </a:ext>
            </a:extLst>
          </p:cNvPr>
          <p:cNvSpPr>
            <a:spLocks noGrp="1"/>
          </p:cNvSpPr>
          <p:nvPr>
            <p:ph sz="quarter" idx="4294967295"/>
          </p:nvPr>
        </p:nvSpPr>
        <p:spPr>
          <a:xfrm>
            <a:off x="371474" y="1012801"/>
            <a:ext cx="11448000" cy="519194"/>
          </a:xfrm>
        </p:spPr>
        <p:txBody>
          <a:bodyPr/>
          <a:lstStyle/>
          <a:p>
            <a:r>
              <a:rPr kumimoji="1" lang="ja-JP" altLang="en-US" u="sng" dirty="0">
                <a:solidFill>
                  <a:schemeClr val="tx1"/>
                </a:solidFill>
              </a:rPr>
              <a:t>テスト</a:t>
            </a:r>
            <a:r>
              <a:rPr lang="ja-JP" altLang="en-US" u="sng" dirty="0">
                <a:solidFill>
                  <a:schemeClr val="tx1"/>
                </a:solidFill>
              </a:rPr>
              <a:t>設計の例</a:t>
            </a:r>
            <a:endParaRPr lang="en-US" altLang="ja-JP" u="sng" dirty="0">
              <a:solidFill>
                <a:schemeClr val="tx1"/>
              </a:solidFill>
            </a:endParaRPr>
          </a:p>
          <a:p>
            <a:r>
              <a:rPr lang="ja-JP" altLang="en-US" b="1" dirty="0">
                <a:solidFill>
                  <a:schemeClr val="tx1"/>
                </a:solidFill>
                <a:latin typeface="__Inter_a184c8"/>
              </a:rPr>
              <a:t>手順１：</a:t>
            </a:r>
            <a:r>
              <a:rPr kumimoji="1" lang="ja-JP" altLang="en-US" b="1" dirty="0">
                <a:solidFill>
                  <a:schemeClr val="tx1"/>
                </a:solidFill>
                <a:latin typeface="__Inter_a184c8"/>
              </a:rPr>
              <a:t>テスト観点のテーラリング（カスタマイズ）</a:t>
            </a:r>
            <a:endParaRPr lang="ja-JP" altLang="en-US" b="1" dirty="0">
              <a:solidFill>
                <a:schemeClr val="tx1"/>
              </a:solidFill>
            </a:endParaRPr>
          </a:p>
        </p:txBody>
      </p:sp>
      <p:sp>
        <p:nvSpPr>
          <p:cNvPr id="2" name="タイトル 1">
            <a:extLst>
              <a:ext uri="{FF2B5EF4-FFF2-40B4-BE49-F238E27FC236}">
                <a16:creationId xmlns:a16="http://schemas.microsoft.com/office/drawing/2014/main" id="{975158B8-5C38-EB86-C911-9B7DDC7F82C0}"/>
              </a:ext>
            </a:extLst>
          </p:cNvPr>
          <p:cNvSpPr>
            <a:spLocks noGrp="1"/>
          </p:cNvSpPr>
          <p:nvPr>
            <p:ph type="title"/>
          </p:nvPr>
        </p:nvSpPr>
        <p:spPr/>
        <p:txBody>
          <a:bodyPr anchor="ctr"/>
          <a:lstStyle/>
          <a:p>
            <a:r>
              <a:rPr kumimoji="1" lang="ja-JP" altLang="en-US" dirty="0"/>
              <a:t>テスト設計</a:t>
            </a:r>
          </a:p>
        </p:txBody>
      </p:sp>
      <p:sp>
        <p:nvSpPr>
          <p:cNvPr id="4" name="正方形/長方形 3">
            <a:extLst>
              <a:ext uri="{FF2B5EF4-FFF2-40B4-BE49-F238E27FC236}">
                <a16:creationId xmlns:a16="http://schemas.microsoft.com/office/drawing/2014/main" id="{2DC07F5E-4BBB-55FC-6D54-499207F2EA82}"/>
              </a:ext>
            </a:extLst>
          </p:cNvPr>
          <p:cNvSpPr/>
          <p:nvPr/>
        </p:nvSpPr>
        <p:spPr>
          <a:xfrm>
            <a:off x="372147" y="1967774"/>
            <a:ext cx="4517093" cy="3621263"/>
          </a:xfrm>
          <a:prstGeom prst="rect">
            <a:avLst/>
          </a:prstGeom>
          <a:solidFill>
            <a:schemeClr val="bg1"/>
          </a:solidFill>
          <a:ln w="31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 name="正方形/長方形 5">
            <a:extLst>
              <a:ext uri="{FF2B5EF4-FFF2-40B4-BE49-F238E27FC236}">
                <a16:creationId xmlns:a16="http://schemas.microsoft.com/office/drawing/2014/main" id="{774B2EAE-F230-1284-571B-1E1609D70B08}"/>
              </a:ext>
            </a:extLst>
          </p:cNvPr>
          <p:cNvSpPr/>
          <p:nvPr/>
        </p:nvSpPr>
        <p:spPr>
          <a:xfrm>
            <a:off x="372148" y="1776727"/>
            <a:ext cx="1967410" cy="403028"/>
          </a:xfrm>
          <a:prstGeom prst="rect">
            <a:avLst/>
          </a:prstGeom>
          <a:solidFill>
            <a:schemeClr val="accent3"/>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bg1"/>
                </a:solidFill>
              </a:rPr>
              <a:t>テスト観点（標準）</a:t>
            </a:r>
            <a:endParaRPr lang="en-US" altLang="ja-JP" sz="1600" dirty="0">
              <a:solidFill>
                <a:schemeClr val="bg1"/>
              </a:solidFill>
            </a:endParaRPr>
          </a:p>
        </p:txBody>
      </p:sp>
      <p:pic>
        <p:nvPicPr>
          <p:cNvPr id="7" name="図 6" descr="テーブル&#10;&#10;AI によって生成されたコンテンツは間違っている可能性があります。">
            <a:extLst>
              <a:ext uri="{FF2B5EF4-FFF2-40B4-BE49-F238E27FC236}">
                <a16:creationId xmlns:a16="http://schemas.microsoft.com/office/drawing/2014/main" id="{39008435-BAD1-9CC7-CB36-18F16C2D09D1}"/>
              </a:ext>
            </a:extLst>
          </p:cNvPr>
          <p:cNvPicPr>
            <a:picLocks noChangeAspect="1"/>
          </p:cNvPicPr>
          <p:nvPr/>
        </p:nvPicPr>
        <p:blipFill>
          <a:blip r:embed="rId2"/>
          <a:srcRect l="4211" t="12258" r="31576" b="6201"/>
          <a:stretch/>
        </p:blipFill>
        <p:spPr>
          <a:xfrm>
            <a:off x="1021723" y="2991671"/>
            <a:ext cx="3216862" cy="2278083"/>
          </a:xfrm>
          <a:prstGeom prst="rect">
            <a:avLst/>
          </a:prstGeom>
        </p:spPr>
      </p:pic>
      <p:sp>
        <p:nvSpPr>
          <p:cNvPr id="12" name="矢印: 右 11">
            <a:extLst>
              <a:ext uri="{FF2B5EF4-FFF2-40B4-BE49-F238E27FC236}">
                <a16:creationId xmlns:a16="http://schemas.microsoft.com/office/drawing/2014/main" id="{C5F7D161-E469-0FCF-84FF-444D71C0D1BC}"/>
              </a:ext>
            </a:extLst>
          </p:cNvPr>
          <p:cNvSpPr/>
          <p:nvPr/>
        </p:nvSpPr>
        <p:spPr>
          <a:xfrm>
            <a:off x="5071863" y="2902840"/>
            <a:ext cx="475861" cy="1052320"/>
          </a:xfrm>
          <a:prstGeom prst="rightArrow">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3" name="正方形/長方形 12">
            <a:extLst>
              <a:ext uri="{FF2B5EF4-FFF2-40B4-BE49-F238E27FC236}">
                <a16:creationId xmlns:a16="http://schemas.microsoft.com/office/drawing/2014/main" id="{7A142010-75B1-D3BC-4C5E-63085F18ED03}"/>
              </a:ext>
            </a:extLst>
          </p:cNvPr>
          <p:cNvSpPr/>
          <p:nvPr/>
        </p:nvSpPr>
        <p:spPr>
          <a:xfrm>
            <a:off x="5683695" y="1967773"/>
            <a:ext cx="6228000" cy="4428000"/>
          </a:xfrm>
          <a:prstGeom prst="rect">
            <a:avLst/>
          </a:prstGeom>
          <a:solidFill>
            <a:schemeClr val="bg1"/>
          </a:solidFill>
          <a:ln w="31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4" name="正方形/長方形 13">
            <a:extLst>
              <a:ext uri="{FF2B5EF4-FFF2-40B4-BE49-F238E27FC236}">
                <a16:creationId xmlns:a16="http://schemas.microsoft.com/office/drawing/2014/main" id="{0BDE568B-BDA0-187F-C133-4848B97F760A}"/>
              </a:ext>
            </a:extLst>
          </p:cNvPr>
          <p:cNvSpPr/>
          <p:nvPr/>
        </p:nvSpPr>
        <p:spPr>
          <a:xfrm>
            <a:off x="5683695" y="1776727"/>
            <a:ext cx="2583230" cy="403028"/>
          </a:xfrm>
          <a:prstGeom prst="rect">
            <a:avLst/>
          </a:prstGeom>
          <a:solidFill>
            <a:schemeClr val="accent3"/>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bg1"/>
                </a:solidFill>
              </a:rPr>
              <a:t>テスト観点（カスタマイズ）</a:t>
            </a:r>
            <a:endParaRPr lang="en-US" altLang="ja-JP" sz="1600" dirty="0">
              <a:solidFill>
                <a:schemeClr val="bg1"/>
              </a:solidFill>
            </a:endParaRPr>
          </a:p>
        </p:txBody>
      </p:sp>
      <p:sp>
        <p:nvSpPr>
          <p:cNvPr id="15" name="テキスト ボックス 14">
            <a:extLst>
              <a:ext uri="{FF2B5EF4-FFF2-40B4-BE49-F238E27FC236}">
                <a16:creationId xmlns:a16="http://schemas.microsoft.com/office/drawing/2014/main" id="{7158476F-2C25-3E30-066C-7F6BDFD814D8}"/>
              </a:ext>
            </a:extLst>
          </p:cNvPr>
          <p:cNvSpPr txBox="1"/>
          <p:nvPr/>
        </p:nvSpPr>
        <p:spPr>
          <a:xfrm>
            <a:off x="688310" y="2281431"/>
            <a:ext cx="3883689" cy="519194"/>
          </a:xfrm>
          <a:prstGeom prst="rect">
            <a:avLst/>
          </a:prstGeom>
          <a:noFill/>
        </p:spPr>
        <p:txBody>
          <a:bodyPr wrap="square" lIns="0" rIns="0" rtlCol="0">
            <a:noAutofit/>
          </a:bodyPr>
          <a:lstStyle/>
          <a:p>
            <a:pPr algn="l" defTabSz="288000"/>
            <a:r>
              <a:rPr lang="ja-JP" altLang="en-US" dirty="0">
                <a:latin typeface="+mn-ea"/>
              </a:rPr>
              <a:t>・標準的なテスト観点</a:t>
            </a:r>
            <a:endParaRPr lang="en-US" altLang="ja-JP" dirty="0">
              <a:latin typeface="+mn-ea"/>
            </a:endParaRPr>
          </a:p>
          <a:p>
            <a:pPr algn="l" defTabSz="288000"/>
            <a:r>
              <a:rPr kumimoji="1" lang="ja-JP" altLang="en-US" dirty="0">
                <a:latin typeface="+mn-ea"/>
              </a:rPr>
              <a:t>　</a:t>
            </a:r>
            <a:r>
              <a:rPr lang="ja-JP" altLang="en-US" dirty="0">
                <a:latin typeface="+mn-ea"/>
              </a:rPr>
              <a:t>対象のシステムの特性に依らない観点</a:t>
            </a:r>
            <a:endParaRPr kumimoji="1" lang="ja-JP" altLang="en-US" dirty="0">
              <a:latin typeface="+mn-ea"/>
            </a:endParaRPr>
          </a:p>
        </p:txBody>
      </p:sp>
      <p:sp>
        <p:nvSpPr>
          <p:cNvPr id="18" name="テキスト ボックス 17">
            <a:extLst>
              <a:ext uri="{FF2B5EF4-FFF2-40B4-BE49-F238E27FC236}">
                <a16:creationId xmlns:a16="http://schemas.microsoft.com/office/drawing/2014/main" id="{66813CB6-9EA3-8964-CB60-4C5711AD48A1}"/>
              </a:ext>
            </a:extLst>
          </p:cNvPr>
          <p:cNvSpPr txBox="1"/>
          <p:nvPr/>
        </p:nvSpPr>
        <p:spPr>
          <a:xfrm>
            <a:off x="6000395" y="2281431"/>
            <a:ext cx="4477879" cy="519194"/>
          </a:xfrm>
          <a:prstGeom prst="rect">
            <a:avLst/>
          </a:prstGeom>
          <a:noFill/>
        </p:spPr>
        <p:txBody>
          <a:bodyPr wrap="square" lIns="0" rIns="0" rtlCol="0">
            <a:noAutofit/>
          </a:bodyPr>
          <a:lstStyle/>
          <a:p>
            <a:pPr algn="l" defTabSz="288000"/>
            <a:r>
              <a:rPr lang="ja-JP" altLang="en-US" dirty="0">
                <a:latin typeface="+mn-ea"/>
              </a:rPr>
              <a:t>・</a:t>
            </a:r>
            <a:r>
              <a:rPr lang="ja-JP" altLang="en-US" dirty="0">
                <a:latin typeface="__Inter_a184c8"/>
              </a:rPr>
              <a:t>開発システム</a:t>
            </a:r>
            <a:r>
              <a:rPr kumimoji="1" lang="ja-JP" altLang="en-US" sz="1800" dirty="0">
                <a:latin typeface="__Inter_a184c8"/>
              </a:rPr>
              <a:t>の特性</a:t>
            </a:r>
            <a:r>
              <a:rPr lang="ja-JP" altLang="en-US" dirty="0">
                <a:latin typeface="__Inter_a184c8"/>
              </a:rPr>
              <a:t>を踏まえて、</a:t>
            </a:r>
            <a:endParaRPr lang="en-US" altLang="ja-JP" dirty="0">
              <a:latin typeface="__Inter_a184c8"/>
            </a:endParaRPr>
          </a:p>
          <a:p>
            <a:pPr algn="l" defTabSz="288000"/>
            <a:r>
              <a:rPr kumimoji="1" lang="en-US" altLang="ja-JP" sz="1800" dirty="0">
                <a:latin typeface="__Inter_a184c8"/>
              </a:rPr>
              <a:t>  </a:t>
            </a:r>
            <a:r>
              <a:rPr kumimoji="1" lang="ja-JP" altLang="en-US" sz="1800" dirty="0">
                <a:latin typeface="__Inter_a184c8"/>
              </a:rPr>
              <a:t>テーラリング（変更、削除、追加）を行う</a:t>
            </a:r>
            <a:endParaRPr kumimoji="1" lang="ja-JP" altLang="en-US" dirty="0">
              <a:latin typeface="+mn-ea"/>
            </a:endParaRPr>
          </a:p>
        </p:txBody>
      </p:sp>
      <p:pic>
        <p:nvPicPr>
          <p:cNvPr id="19" name="図 18" descr="テーブル&#10;&#10;AI によって生成されたコンテンツは間違っている可能性があります。">
            <a:extLst>
              <a:ext uri="{FF2B5EF4-FFF2-40B4-BE49-F238E27FC236}">
                <a16:creationId xmlns:a16="http://schemas.microsoft.com/office/drawing/2014/main" id="{7A8343E5-5592-391B-6C11-C9B354986069}"/>
              </a:ext>
            </a:extLst>
          </p:cNvPr>
          <p:cNvPicPr>
            <a:picLocks noChangeAspect="1"/>
          </p:cNvPicPr>
          <p:nvPr/>
        </p:nvPicPr>
        <p:blipFill>
          <a:blip r:embed="rId2"/>
          <a:srcRect l="4211" t="12258" r="31576" b="6201"/>
          <a:stretch/>
        </p:blipFill>
        <p:spPr>
          <a:xfrm>
            <a:off x="6539228" y="2991672"/>
            <a:ext cx="3216862" cy="2278083"/>
          </a:xfrm>
          <a:prstGeom prst="rect">
            <a:avLst/>
          </a:prstGeom>
        </p:spPr>
      </p:pic>
      <p:sp>
        <p:nvSpPr>
          <p:cNvPr id="23" name="矢印: 右 22">
            <a:extLst>
              <a:ext uri="{FF2B5EF4-FFF2-40B4-BE49-F238E27FC236}">
                <a16:creationId xmlns:a16="http://schemas.microsoft.com/office/drawing/2014/main" id="{2C91FE7E-41DC-A102-4FE8-CAC1BF25C5B6}"/>
              </a:ext>
            </a:extLst>
          </p:cNvPr>
          <p:cNvSpPr/>
          <p:nvPr/>
        </p:nvSpPr>
        <p:spPr>
          <a:xfrm flipH="1">
            <a:off x="9535635" y="4207612"/>
            <a:ext cx="459570" cy="185172"/>
          </a:xfrm>
          <a:prstGeom prst="rightArrow">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4" name="正方形/長方形 23">
            <a:extLst>
              <a:ext uri="{FF2B5EF4-FFF2-40B4-BE49-F238E27FC236}">
                <a16:creationId xmlns:a16="http://schemas.microsoft.com/office/drawing/2014/main" id="{C60B815E-D0C1-CED2-D468-4676C6AD9A64}"/>
              </a:ext>
            </a:extLst>
          </p:cNvPr>
          <p:cNvSpPr/>
          <p:nvPr/>
        </p:nvSpPr>
        <p:spPr>
          <a:xfrm>
            <a:off x="9929967" y="4011794"/>
            <a:ext cx="1686645" cy="576807"/>
          </a:xfrm>
          <a:prstGeom prst="rect">
            <a:avLst/>
          </a:prstGeom>
          <a:solidFill>
            <a:srgbClr val="FFF1E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tx1"/>
                </a:solidFill>
              </a:rPr>
              <a:t>開発システムに合わせた</a:t>
            </a:r>
            <a:endParaRPr lang="en-US" altLang="ja-JP" sz="1200" dirty="0">
              <a:solidFill>
                <a:schemeClr val="tx1"/>
              </a:solidFill>
            </a:endParaRPr>
          </a:p>
          <a:p>
            <a:pPr algn="ctr"/>
            <a:r>
              <a:rPr lang="ja-JP" altLang="en-US" sz="1200" dirty="0">
                <a:solidFill>
                  <a:schemeClr val="tx1"/>
                </a:solidFill>
              </a:rPr>
              <a:t>観点の変更</a:t>
            </a:r>
            <a:r>
              <a:rPr lang="en-US" altLang="ja-JP" sz="1200" dirty="0">
                <a:solidFill>
                  <a:schemeClr val="tx1"/>
                </a:solidFill>
              </a:rPr>
              <a:t>/</a:t>
            </a:r>
            <a:r>
              <a:rPr lang="ja-JP" altLang="en-US" sz="1200" dirty="0">
                <a:solidFill>
                  <a:schemeClr val="tx1"/>
                </a:solidFill>
              </a:rPr>
              <a:t>削除</a:t>
            </a:r>
            <a:endParaRPr lang="en-US" altLang="ja-JP" sz="1200" dirty="0">
              <a:solidFill>
                <a:schemeClr val="tx1"/>
              </a:solidFill>
            </a:endParaRPr>
          </a:p>
        </p:txBody>
      </p:sp>
      <p:pic>
        <p:nvPicPr>
          <p:cNvPr id="26" name="図 25" descr="テーブル&#10;&#10;AI によって生成されたコンテンツは間違っている可能性があります。">
            <a:extLst>
              <a:ext uri="{FF2B5EF4-FFF2-40B4-BE49-F238E27FC236}">
                <a16:creationId xmlns:a16="http://schemas.microsoft.com/office/drawing/2014/main" id="{BA798A03-7681-40FD-5AF4-56F7269538ED}"/>
              </a:ext>
            </a:extLst>
          </p:cNvPr>
          <p:cNvPicPr>
            <a:picLocks noChangeAspect="1"/>
          </p:cNvPicPr>
          <p:nvPr/>
        </p:nvPicPr>
        <p:blipFill>
          <a:blip r:embed="rId3"/>
          <a:srcRect l="4193" t="82979" r="29367" b="4861"/>
          <a:stretch/>
        </p:blipFill>
        <p:spPr>
          <a:xfrm>
            <a:off x="6539227" y="5519544"/>
            <a:ext cx="3216861" cy="383742"/>
          </a:xfrm>
          <a:prstGeom prst="rect">
            <a:avLst/>
          </a:prstGeom>
        </p:spPr>
      </p:pic>
      <p:sp>
        <p:nvSpPr>
          <p:cNvPr id="22" name="正方形/長方形 21">
            <a:extLst>
              <a:ext uri="{FF2B5EF4-FFF2-40B4-BE49-F238E27FC236}">
                <a16:creationId xmlns:a16="http://schemas.microsoft.com/office/drawing/2014/main" id="{F68026BD-92E5-9E6D-3DEA-CC7A045C0867}"/>
              </a:ext>
            </a:extLst>
          </p:cNvPr>
          <p:cNvSpPr/>
          <p:nvPr/>
        </p:nvSpPr>
        <p:spPr>
          <a:xfrm>
            <a:off x="7105859" y="5970010"/>
            <a:ext cx="3216862" cy="706732"/>
          </a:xfrm>
          <a:prstGeom prst="rect">
            <a:avLst/>
          </a:prstGeom>
          <a:solidFill>
            <a:srgbClr val="FFF1E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200" dirty="0">
                <a:solidFill>
                  <a:schemeClr val="tx1"/>
                </a:solidFill>
              </a:rPr>
              <a:t>　開発システムに合わせた観点の追加</a:t>
            </a:r>
            <a:endParaRPr lang="en-US" altLang="ja-JP" sz="1200" dirty="0">
              <a:solidFill>
                <a:schemeClr val="tx1"/>
              </a:solidFill>
            </a:endParaRPr>
          </a:p>
          <a:p>
            <a:r>
              <a:rPr kumimoji="1" lang="ja-JP" altLang="en-US" sz="1200" dirty="0">
                <a:solidFill>
                  <a:schemeClr val="tx1"/>
                </a:solidFill>
              </a:rPr>
              <a:t>　例）・業務上確認が必要な観点</a:t>
            </a:r>
            <a:endParaRPr kumimoji="1" lang="en-US" altLang="ja-JP" sz="1200" dirty="0">
              <a:solidFill>
                <a:schemeClr val="tx1"/>
              </a:solidFill>
            </a:endParaRPr>
          </a:p>
          <a:p>
            <a:r>
              <a:rPr kumimoji="1" lang="ja-JP" altLang="en-US" sz="1200" dirty="0">
                <a:solidFill>
                  <a:schemeClr val="tx1"/>
                </a:solidFill>
              </a:rPr>
              <a:t>　　　　・過去のバグやインシデントに関わる観点</a:t>
            </a:r>
          </a:p>
        </p:txBody>
      </p:sp>
      <p:sp>
        <p:nvSpPr>
          <p:cNvPr id="21" name="十字形 20">
            <a:extLst>
              <a:ext uri="{FF2B5EF4-FFF2-40B4-BE49-F238E27FC236}">
                <a16:creationId xmlns:a16="http://schemas.microsoft.com/office/drawing/2014/main" id="{49709FF2-868B-4A8E-90C4-F3BA311F25B9}"/>
              </a:ext>
            </a:extLst>
          </p:cNvPr>
          <p:cNvSpPr/>
          <p:nvPr/>
        </p:nvSpPr>
        <p:spPr>
          <a:xfrm>
            <a:off x="8266925" y="5195544"/>
            <a:ext cx="324000" cy="324000"/>
          </a:xfrm>
          <a:prstGeom prst="plus">
            <a:avLst>
              <a:gd name="adj" fmla="val 45462"/>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Tree>
    <p:extLst>
      <p:ext uri="{BB962C8B-B14F-4D97-AF65-F5344CB8AC3E}">
        <p14:creationId xmlns:p14="http://schemas.microsoft.com/office/powerpoint/2010/main" val="3210210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06848-C60E-6EDD-09DB-692F5833E6AA}"/>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000C5329-01A9-4E91-0810-0B14C513D713}"/>
              </a:ext>
            </a:extLst>
          </p:cNvPr>
          <p:cNvSpPr/>
          <p:nvPr/>
        </p:nvSpPr>
        <p:spPr>
          <a:xfrm>
            <a:off x="372148" y="3743376"/>
            <a:ext cx="3665352" cy="2772000"/>
          </a:xfrm>
          <a:prstGeom prst="rect">
            <a:avLst/>
          </a:prstGeom>
          <a:solidFill>
            <a:schemeClr val="bg1"/>
          </a:solidFill>
          <a:ln w="31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38" name="図 37" descr="テーブル&#10;&#10;AI によって生成されたコンテンツは間違っている可能性があります。">
            <a:extLst>
              <a:ext uri="{FF2B5EF4-FFF2-40B4-BE49-F238E27FC236}">
                <a16:creationId xmlns:a16="http://schemas.microsoft.com/office/drawing/2014/main" id="{E78A9194-2A14-AE79-448F-5DF78AA539DF}"/>
              </a:ext>
            </a:extLst>
          </p:cNvPr>
          <p:cNvPicPr>
            <a:picLocks noChangeAspect="1"/>
          </p:cNvPicPr>
          <p:nvPr/>
        </p:nvPicPr>
        <p:blipFill>
          <a:blip r:embed="rId2"/>
          <a:srcRect l="4193" t="14703" r="29367" b="4861"/>
          <a:stretch/>
        </p:blipFill>
        <p:spPr>
          <a:xfrm>
            <a:off x="648813" y="4015380"/>
            <a:ext cx="3112022" cy="2455647"/>
          </a:xfrm>
          <a:prstGeom prst="rect">
            <a:avLst/>
          </a:prstGeom>
        </p:spPr>
      </p:pic>
      <p:sp>
        <p:nvSpPr>
          <p:cNvPr id="17" name="正方形/長方形 16">
            <a:extLst>
              <a:ext uri="{FF2B5EF4-FFF2-40B4-BE49-F238E27FC236}">
                <a16:creationId xmlns:a16="http://schemas.microsoft.com/office/drawing/2014/main" id="{54F70BA5-D263-BF63-D4F7-28CA578FAB4E}"/>
              </a:ext>
            </a:extLst>
          </p:cNvPr>
          <p:cNvSpPr/>
          <p:nvPr/>
        </p:nvSpPr>
        <p:spPr>
          <a:xfrm>
            <a:off x="5051865" y="1975135"/>
            <a:ext cx="6906895" cy="3028782"/>
          </a:xfrm>
          <a:prstGeom prst="rect">
            <a:avLst/>
          </a:prstGeom>
          <a:solidFill>
            <a:schemeClr val="bg1"/>
          </a:solidFill>
          <a:ln w="31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9" name="正方形/長方形 8">
            <a:extLst>
              <a:ext uri="{FF2B5EF4-FFF2-40B4-BE49-F238E27FC236}">
                <a16:creationId xmlns:a16="http://schemas.microsoft.com/office/drawing/2014/main" id="{1487C687-862F-69D4-A7AD-350370B64D0A}"/>
              </a:ext>
            </a:extLst>
          </p:cNvPr>
          <p:cNvSpPr/>
          <p:nvPr/>
        </p:nvSpPr>
        <p:spPr>
          <a:xfrm>
            <a:off x="372148" y="1964671"/>
            <a:ext cx="3665352" cy="1007706"/>
          </a:xfrm>
          <a:prstGeom prst="rect">
            <a:avLst/>
          </a:prstGeom>
          <a:solidFill>
            <a:schemeClr val="bg1"/>
          </a:solidFill>
          <a:ln w="31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 name="コンテンツ プレースホルダー 2">
            <a:extLst>
              <a:ext uri="{FF2B5EF4-FFF2-40B4-BE49-F238E27FC236}">
                <a16:creationId xmlns:a16="http://schemas.microsoft.com/office/drawing/2014/main" id="{E295EF0E-CECD-F90F-0161-28146AE6D844}"/>
              </a:ext>
            </a:extLst>
          </p:cNvPr>
          <p:cNvSpPr>
            <a:spLocks noGrp="1"/>
          </p:cNvSpPr>
          <p:nvPr>
            <p:ph sz="quarter" idx="4294967295"/>
          </p:nvPr>
        </p:nvSpPr>
        <p:spPr>
          <a:xfrm>
            <a:off x="371474" y="1012801"/>
            <a:ext cx="11448000" cy="519194"/>
          </a:xfrm>
        </p:spPr>
        <p:txBody>
          <a:bodyPr/>
          <a:lstStyle/>
          <a:p>
            <a:r>
              <a:rPr kumimoji="1" lang="ja-JP" altLang="en-US" u="sng" dirty="0">
                <a:solidFill>
                  <a:schemeClr val="tx1"/>
                </a:solidFill>
              </a:rPr>
              <a:t>テスト</a:t>
            </a:r>
            <a:r>
              <a:rPr lang="ja-JP" altLang="en-US" u="sng" dirty="0">
                <a:solidFill>
                  <a:schemeClr val="tx1"/>
                </a:solidFill>
              </a:rPr>
              <a:t>設計の例</a:t>
            </a:r>
            <a:endParaRPr lang="en-US" altLang="ja-JP" u="sng" dirty="0">
              <a:solidFill>
                <a:schemeClr val="tx1"/>
              </a:solidFill>
            </a:endParaRPr>
          </a:p>
          <a:p>
            <a:r>
              <a:rPr lang="ja-JP" altLang="en-US" b="1" dirty="0">
                <a:solidFill>
                  <a:schemeClr val="tx1"/>
                </a:solidFill>
                <a:latin typeface="__Inter_a184c8"/>
              </a:rPr>
              <a:t>手順２：</a:t>
            </a:r>
            <a:r>
              <a:rPr kumimoji="1" lang="ja-JP" altLang="en-US" b="1" dirty="0">
                <a:solidFill>
                  <a:schemeClr val="tx1"/>
                </a:solidFill>
                <a:latin typeface="__Inter_a184c8"/>
              </a:rPr>
              <a:t>テスト項目の洗い出し</a:t>
            </a:r>
            <a:endParaRPr lang="ja-JP" altLang="en-US" sz="1600" b="1" dirty="0">
              <a:solidFill>
                <a:schemeClr val="tx1"/>
              </a:solidFill>
            </a:endParaRPr>
          </a:p>
        </p:txBody>
      </p:sp>
      <p:sp>
        <p:nvSpPr>
          <p:cNvPr id="2" name="タイトル 1">
            <a:extLst>
              <a:ext uri="{FF2B5EF4-FFF2-40B4-BE49-F238E27FC236}">
                <a16:creationId xmlns:a16="http://schemas.microsoft.com/office/drawing/2014/main" id="{F542D4B4-D499-273D-1692-5356E53DE3EF}"/>
              </a:ext>
            </a:extLst>
          </p:cNvPr>
          <p:cNvSpPr>
            <a:spLocks noGrp="1"/>
          </p:cNvSpPr>
          <p:nvPr>
            <p:ph type="title"/>
          </p:nvPr>
        </p:nvSpPr>
        <p:spPr/>
        <p:txBody>
          <a:bodyPr anchor="ctr"/>
          <a:lstStyle/>
          <a:p>
            <a:r>
              <a:rPr kumimoji="1" lang="ja-JP" altLang="en-US" dirty="0"/>
              <a:t>テスト設計</a:t>
            </a:r>
          </a:p>
        </p:txBody>
      </p:sp>
      <p:sp>
        <p:nvSpPr>
          <p:cNvPr id="4" name="正方形/長方形 3">
            <a:extLst>
              <a:ext uri="{FF2B5EF4-FFF2-40B4-BE49-F238E27FC236}">
                <a16:creationId xmlns:a16="http://schemas.microsoft.com/office/drawing/2014/main" id="{B89E32A7-1170-1D82-CE20-7F646E5203F8}"/>
              </a:ext>
            </a:extLst>
          </p:cNvPr>
          <p:cNvSpPr/>
          <p:nvPr/>
        </p:nvSpPr>
        <p:spPr>
          <a:xfrm>
            <a:off x="372148" y="1773622"/>
            <a:ext cx="1245771" cy="403028"/>
          </a:xfrm>
          <a:prstGeom prst="rect">
            <a:avLst/>
          </a:prstGeom>
          <a:solidFill>
            <a:schemeClr val="accent3"/>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bg1"/>
                </a:solidFill>
              </a:rPr>
              <a:t>インプット</a:t>
            </a:r>
            <a:endParaRPr lang="en-US" altLang="ja-JP" sz="1600" dirty="0">
              <a:solidFill>
                <a:schemeClr val="bg1"/>
              </a:solidFill>
            </a:endParaRPr>
          </a:p>
        </p:txBody>
      </p:sp>
      <p:sp>
        <p:nvSpPr>
          <p:cNvPr id="5" name="テキスト ボックス 4">
            <a:extLst>
              <a:ext uri="{FF2B5EF4-FFF2-40B4-BE49-F238E27FC236}">
                <a16:creationId xmlns:a16="http://schemas.microsoft.com/office/drawing/2014/main" id="{EFF39366-1DC2-0246-0F73-9B018F7CA927}"/>
              </a:ext>
            </a:extLst>
          </p:cNvPr>
          <p:cNvSpPr txBox="1"/>
          <p:nvPr/>
        </p:nvSpPr>
        <p:spPr>
          <a:xfrm>
            <a:off x="688311" y="2234776"/>
            <a:ext cx="2531424" cy="519194"/>
          </a:xfrm>
          <a:prstGeom prst="rect">
            <a:avLst/>
          </a:prstGeom>
          <a:noFill/>
        </p:spPr>
        <p:txBody>
          <a:bodyPr wrap="square" lIns="0" rIns="0" rtlCol="0">
            <a:noAutofit/>
          </a:bodyPr>
          <a:lstStyle/>
          <a:p>
            <a:pPr algn="l" defTabSz="288000"/>
            <a:r>
              <a:rPr lang="ja-JP" altLang="en-US" dirty="0">
                <a:latin typeface="+mn-ea"/>
              </a:rPr>
              <a:t>・設計書</a:t>
            </a:r>
            <a:endParaRPr lang="en-US" altLang="ja-JP" dirty="0">
              <a:latin typeface="+mn-ea"/>
            </a:endParaRPr>
          </a:p>
          <a:p>
            <a:pPr algn="l" defTabSz="288000"/>
            <a:r>
              <a:rPr kumimoji="1" lang="ja-JP" altLang="en-US" dirty="0">
                <a:latin typeface="+mn-ea"/>
              </a:rPr>
              <a:t>　</a:t>
            </a:r>
            <a:r>
              <a:rPr lang="ja-JP" altLang="en-US" dirty="0">
                <a:latin typeface="+mn-ea"/>
              </a:rPr>
              <a:t>ツアー予約アプリケーション</a:t>
            </a:r>
            <a:endParaRPr kumimoji="1" lang="ja-JP" altLang="en-US" dirty="0">
              <a:latin typeface="+mn-ea"/>
            </a:endParaRPr>
          </a:p>
        </p:txBody>
      </p:sp>
      <p:sp>
        <p:nvSpPr>
          <p:cNvPr id="7" name="正方形/長方形 6">
            <a:extLst>
              <a:ext uri="{FF2B5EF4-FFF2-40B4-BE49-F238E27FC236}">
                <a16:creationId xmlns:a16="http://schemas.microsoft.com/office/drawing/2014/main" id="{DC8A9D0F-2FC3-6257-BA96-74E2CCAABD5B}"/>
              </a:ext>
            </a:extLst>
          </p:cNvPr>
          <p:cNvSpPr/>
          <p:nvPr/>
        </p:nvSpPr>
        <p:spPr>
          <a:xfrm>
            <a:off x="5051865" y="1773622"/>
            <a:ext cx="1245771" cy="403028"/>
          </a:xfrm>
          <a:prstGeom prst="rect">
            <a:avLst/>
          </a:prstGeom>
          <a:solidFill>
            <a:schemeClr val="accent3"/>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bg1"/>
                </a:solidFill>
              </a:rPr>
              <a:t>テスト項目</a:t>
            </a:r>
            <a:endParaRPr lang="en-US" altLang="ja-JP" sz="1600" dirty="0">
              <a:solidFill>
                <a:schemeClr val="bg1"/>
              </a:solidFill>
            </a:endParaRPr>
          </a:p>
        </p:txBody>
      </p:sp>
      <p:sp>
        <p:nvSpPr>
          <p:cNvPr id="12" name="正方形/長方形 11">
            <a:extLst>
              <a:ext uri="{FF2B5EF4-FFF2-40B4-BE49-F238E27FC236}">
                <a16:creationId xmlns:a16="http://schemas.microsoft.com/office/drawing/2014/main" id="{B51B9653-ABDD-E21B-AD30-2C542D11BDCB}"/>
              </a:ext>
            </a:extLst>
          </p:cNvPr>
          <p:cNvSpPr/>
          <p:nvPr/>
        </p:nvSpPr>
        <p:spPr>
          <a:xfrm>
            <a:off x="372148" y="3552329"/>
            <a:ext cx="2323427" cy="403028"/>
          </a:xfrm>
          <a:prstGeom prst="rect">
            <a:avLst/>
          </a:prstGeom>
          <a:solidFill>
            <a:schemeClr val="accent3"/>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bg1"/>
                </a:solidFill>
              </a:rPr>
              <a:t>テスト観点（カスタマイズ）</a:t>
            </a:r>
            <a:endParaRPr lang="en-US" altLang="ja-JP" sz="1600" dirty="0">
              <a:solidFill>
                <a:schemeClr val="bg1"/>
              </a:solidFill>
            </a:endParaRPr>
          </a:p>
        </p:txBody>
      </p:sp>
      <p:sp>
        <p:nvSpPr>
          <p:cNvPr id="16" name="乗算記号 15">
            <a:extLst>
              <a:ext uri="{FF2B5EF4-FFF2-40B4-BE49-F238E27FC236}">
                <a16:creationId xmlns:a16="http://schemas.microsoft.com/office/drawing/2014/main" id="{12F65612-D49B-2AAA-6B4B-3F331E373145}"/>
              </a:ext>
            </a:extLst>
          </p:cNvPr>
          <p:cNvSpPr/>
          <p:nvPr/>
        </p:nvSpPr>
        <p:spPr>
          <a:xfrm>
            <a:off x="1795518" y="2888178"/>
            <a:ext cx="877078" cy="756274"/>
          </a:xfrm>
          <a:prstGeom prst="mathMultiply">
            <a:avLst>
              <a:gd name="adj1" fmla="val 7481"/>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テキスト ボックス 17">
            <a:extLst>
              <a:ext uri="{FF2B5EF4-FFF2-40B4-BE49-F238E27FC236}">
                <a16:creationId xmlns:a16="http://schemas.microsoft.com/office/drawing/2014/main" id="{B91D9CE4-C177-A333-E692-7C09776C7A05}"/>
              </a:ext>
            </a:extLst>
          </p:cNvPr>
          <p:cNvSpPr txBox="1"/>
          <p:nvPr/>
        </p:nvSpPr>
        <p:spPr>
          <a:xfrm>
            <a:off x="5359236" y="2235910"/>
            <a:ext cx="4009592" cy="519194"/>
          </a:xfrm>
          <a:prstGeom prst="rect">
            <a:avLst/>
          </a:prstGeom>
          <a:noFill/>
        </p:spPr>
        <p:txBody>
          <a:bodyPr wrap="square" lIns="0" rIns="0" rtlCol="0">
            <a:noAutofit/>
          </a:bodyPr>
          <a:lstStyle/>
          <a:p>
            <a:pPr algn="l" defTabSz="288000"/>
            <a:r>
              <a:rPr lang="ja-JP" altLang="en-US" dirty="0">
                <a:latin typeface="+mn-ea"/>
              </a:rPr>
              <a:t>・取り扱うデータ：ツアー開始日</a:t>
            </a:r>
            <a:r>
              <a:rPr lang="en-US" altLang="ja-JP" dirty="0">
                <a:latin typeface="+mn-ea"/>
              </a:rPr>
              <a:t>, </a:t>
            </a:r>
            <a:r>
              <a:rPr lang="ja-JP" altLang="en-US" dirty="0">
                <a:latin typeface="+mn-ea"/>
              </a:rPr>
              <a:t>申込人数</a:t>
            </a:r>
            <a:endParaRPr kumimoji="1" lang="ja-JP" altLang="en-US" dirty="0">
              <a:latin typeface="+mn-ea"/>
            </a:endParaRPr>
          </a:p>
        </p:txBody>
      </p:sp>
      <p:grpSp>
        <p:nvGrpSpPr>
          <p:cNvPr id="25" name="グループ化 24">
            <a:extLst>
              <a:ext uri="{FF2B5EF4-FFF2-40B4-BE49-F238E27FC236}">
                <a16:creationId xmlns:a16="http://schemas.microsoft.com/office/drawing/2014/main" id="{AF818889-0CD4-FADD-37FE-5A6B8FB8B3A1}"/>
              </a:ext>
            </a:extLst>
          </p:cNvPr>
          <p:cNvGrpSpPr/>
          <p:nvPr/>
        </p:nvGrpSpPr>
        <p:grpSpPr>
          <a:xfrm>
            <a:off x="5335048" y="2726945"/>
            <a:ext cx="5760000" cy="1773729"/>
            <a:chOff x="5419152" y="3079735"/>
            <a:chExt cx="5760000" cy="1773729"/>
          </a:xfrm>
        </p:grpSpPr>
        <p:pic>
          <p:nvPicPr>
            <p:cNvPr id="23" name="図 22" descr="テーブル&#10;&#10;AI によって生成されたコンテンツは間違っている可能性があります。">
              <a:extLst>
                <a:ext uri="{FF2B5EF4-FFF2-40B4-BE49-F238E27FC236}">
                  <a16:creationId xmlns:a16="http://schemas.microsoft.com/office/drawing/2014/main" id="{D763C228-7DB2-9F1A-6E69-71A583B494D8}"/>
                </a:ext>
              </a:extLst>
            </p:cNvPr>
            <p:cNvPicPr>
              <a:picLocks noChangeAspect="1"/>
            </p:cNvPicPr>
            <p:nvPr/>
          </p:nvPicPr>
          <p:blipFill>
            <a:blip r:embed="rId3"/>
            <a:srcRect t="4895" r="17302" b="73322"/>
            <a:stretch/>
          </p:blipFill>
          <p:spPr>
            <a:xfrm>
              <a:off x="5419152" y="3348857"/>
              <a:ext cx="5760000" cy="1504607"/>
            </a:xfrm>
            <a:prstGeom prst="rect">
              <a:avLst/>
            </a:prstGeom>
          </p:spPr>
        </p:pic>
        <p:pic>
          <p:nvPicPr>
            <p:cNvPr id="24" name="図 23" descr="テーブル&#10;&#10;AI によって生成されたコンテンツは間違っている可能性があります。">
              <a:extLst>
                <a:ext uri="{FF2B5EF4-FFF2-40B4-BE49-F238E27FC236}">
                  <a16:creationId xmlns:a16="http://schemas.microsoft.com/office/drawing/2014/main" id="{B4B3EFEE-E37E-7769-F825-52A463375BB4}"/>
                </a:ext>
              </a:extLst>
            </p:cNvPr>
            <p:cNvPicPr>
              <a:picLocks noChangeAspect="1"/>
            </p:cNvPicPr>
            <p:nvPr/>
          </p:nvPicPr>
          <p:blipFill>
            <a:blip r:embed="rId3"/>
            <a:srcRect t="895" r="17302" b="95116"/>
            <a:stretch/>
          </p:blipFill>
          <p:spPr>
            <a:xfrm>
              <a:off x="5419152" y="3079735"/>
              <a:ext cx="5760000" cy="275540"/>
            </a:xfrm>
            <a:prstGeom prst="rect">
              <a:avLst/>
            </a:prstGeom>
          </p:spPr>
        </p:pic>
      </p:grpSp>
      <p:sp>
        <p:nvSpPr>
          <p:cNvPr id="26" name="矢印: 右 25">
            <a:extLst>
              <a:ext uri="{FF2B5EF4-FFF2-40B4-BE49-F238E27FC236}">
                <a16:creationId xmlns:a16="http://schemas.microsoft.com/office/drawing/2014/main" id="{DF787DB1-C6FF-D04A-4653-DCF43637CC66}"/>
              </a:ext>
            </a:extLst>
          </p:cNvPr>
          <p:cNvSpPr/>
          <p:nvPr/>
        </p:nvSpPr>
        <p:spPr>
          <a:xfrm>
            <a:off x="4236772" y="2952490"/>
            <a:ext cx="646828" cy="1052320"/>
          </a:xfrm>
          <a:prstGeom prst="rightArrow">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1" name="正方形/長方形 30">
            <a:extLst>
              <a:ext uri="{FF2B5EF4-FFF2-40B4-BE49-F238E27FC236}">
                <a16:creationId xmlns:a16="http://schemas.microsoft.com/office/drawing/2014/main" id="{3BD0CBB2-4DA9-EAF4-8C44-EE8229C55C4E}"/>
              </a:ext>
            </a:extLst>
          </p:cNvPr>
          <p:cNvSpPr/>
          <p:nvPr/>
        </p:nvSpPr>
        <p:spPr>
          <a:xfrm>
            <a:off x="544409" y="4225844"/>
            <a:ext cx="3433666" cy="233265"/>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2" name="吹き出し: 角を丸めた四角形 31">
            <a:extLst>
              <a:ext uri="{FF2B5EF4-FFF2-40B4-BE49-F238E27FC236}">
                <a16:creationId xmlns:a16="http://schemas.microsoft.com/office/drawing/2014/main" id="{6F3AC8B5-1E70-1BC3-AF7E-57DCD83BBC61}"/>
              </a:ext>
            </a:extLst>
          </p:cNvPr>
          <p:cNvSpPr/>
          <p:nvPr/>
        </p:nvSpPr>
        <p:spPr>
          <a:xfrm>
            <a:off x="1795518" y="5162157"/>
            <a:ext cx="4882508" cy="937951"/>
          </a:xfrm>
          <a:prstGeom prst="wedgeRoundRectCallout">
            <a:avLst>
              <a:gd name="adj1" fmla="val -33877"/>
              <a:gd name="adj2" fmla="val -119959"/>
              <a:gd name="adj3" fmla="val 16667"/>
            </a:avLst>
          </a:prstGeom>
          <a:solidFill>
            <a:schemeClr val="bg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defTabSz="288000"/>
            <a:r>
              <a:rPr lang="ja-JP" altLang="en-US" sz="1400" dirty="0">
                <a:solidFill>
                  <a:sysClr val="windowText" lastClr="000000"/>
                </a:solidFill>
                <a:latin typeface="+mn-ea"/>
              </a:rPr>
              <a:t>・入力バリデーションの網羅性</a:t>
            </a:r>
            <a:endParaRPr lang="en-US" altLang="ja-JP" sz="1400" dirty="0">
              <a:solidFill>
                <a:sysClr val="windowText" lastClr="000000"/>
              </a:solidFill>
              <a:latin typeface="+mn-ea"/>
            </a:endParaRPr>
          </a:p>
          <a:p>
            <a:pPr algn="l" defTabSz="288000"/>
            <a:r>
              <a:rPr kumimoji="1" lang="ja-JP" altLang="en-US" sz="1400" dirty="0">
                <a:solidFill>
                  <a:sysClr val="windowText" lastClr="000000"/>
                </a:solidFill>
                <a:latin typeface="+mn-ea"/>
              </a:rPr>
              <a:t>　　取り扱うデータについて、</a:t>
            </a:r>
            <a:endParaRPr kumimoji="1" lang="en-US" altLang="ja-JP" sz="1400" dirty="0">
              <a:solidFill>
                <a:sysClr val="windowText" lastClr="000000"/>
              </a:solidFill>
              <a:latin typeface="+mn-ea"/>
            </a:endParaRPr>
          </a:p>
          <a:p>
            <a:pPr algn="l" defTabSz="288000"/>
            <a:r>
              <a:rPr lang="ja-JP" altLang="en-US" sz="1400" dirty="0">
                <a:solidFill>
                  <a:sysClr val="windowText" lastClr="000000"/>
                </a:solidFill>
                <a:latin typeface="+mn-ea"/>
              </a:rPr>
              <a:t>　　</a:t>
            </a:r>
            <a:r>
              <a:rPr kumimoji="1" lang="ja-JP" altLang="en-US" sz="1400" dirty="0">
                <a:solidFill>
                  <a:sysClr val="windowText" lastClr="000000"/>
                </a:solidFill>
                <a:latin typeface="+mn-ea"/>
              </a:rPr>
              <a:t>バリエーション（有効な値、無効な値）を網羅的に確認する。</a:t>
            </a:r>
          </a:p>
        </p:txBody>
      </p:sp>
      <p:sp>
        <p:nvSpPr>
          <p:cNvPr id="39" name="右大かっこ 38">
            <a:extLst>
              <a:ext uri="{FF2B5EF4-FFF2-40B4-BE49-F238E27FC236}">
                <a16:creationId xmlns:a16="http://schemas.microsoft.com/office/drawing/2014/main" id="{727CE18F-3822-D452-0623-9E007151F218}"/>
              </a:ext>
            </a:extLst>
          </p:cNvPr>
          <p:cNvSpPr/>
          <p:nvPr/>
        </p:nvSpPr>
        <p:spPr>
          <a:xfrm>
            <a:off x="11145285" y="3026374"/>
            <a:ext cx="78685" cy="698509"/>
          </a:xfrm>
          <a:prstGeom prst="rightBracket">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C329F973-6088-DD1A-5C47-82A2FAF5D599}"/>
              </a:ext>
            </a:extLst>
          </p:cNvPr>
          <p:cNvSpPr txBox="1"/>
          <p:nvPr/>
        </p:nvSpPr>
        <p:spPr>
          <a:xfrm>
            <a:off x="11318731" y="3164663"/>
            <a:ext cx="545267" cy="313987"/>
          </a:xfrm>
          <a:prstGeom prst="rect">
            <a:avLst/>
          </a:prstGeom>
          <a:noFill/>
        </p:spPr>
        <p:txBody>
          <a:bodyPr wrap="square" lIns="0" rIns="0" rtlCol="0">
            <a:noAutofit/>
          </a:bodyPr>
          <a:lstStyle/>
          <a:p>
            <a:pPr algn="l" defTabSz="288000"/>
            <a:r>
              <a:rPr kumimoji="1" lang="ja-JP" altLang="en-US" sz="1200" dirty="0">
                <a:latin typeface="+mn-ea"/>
              </a:rPr>
              <a:t>ツアー</a:t>
            </a:r>
            <a:endParaRPr kumimoji="1" lang="en-US" altLang="ja-JP" sz="1200" dirty="0">
              <a:latin typeface="+mn-ea"/>
            </a:endParaRPr>
          </a:p>
          <a:p>
            <a:pPr algn="l" defTabSz="288000"/>
            <a:r>
              <a:rPr kumimoji="1" lang="ja-JP" altLang="en-US" sz="1200" dirty="0">
                <a:latin typeface="+mn-ea"/>
              </a:rPr>
              <a:t>開始日</a:t>
            </a:r>
          </a:p>
        </p:txBody>
      </p:sp>
      <p:sp>
        <p:nvSpPr>
          <p:cNvPr id="41" name="右大かっこ 40">
            <a:extLst>
              <a:ext uri="{FF2B5EF4-FFF2-40B4-BE49-F238E27FC236}">
                <a16:creationId xmlns:a16="http://schemas.microsoft.com/office/drawing/2014/main" id="{9B0A4819-7C5F-4875-34E7-A7259D77D1F0}"/>
              </a:ext>
            </a:extLst>
          </p:cNvPr>
          <p:cNvSpPr/>
          <p:nvPr/>
        </p:nvSpPr>
        <p:spPr>
          <a:xfrm>
            <a:off x="11145285" y="3794665"/>
            <a:ext cx="78685" cy="698509"/>
          </a:xfrm>
          <a:prstGeom prst="rightBracket">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D32CC437-32E0-200C-A91A-DB507F23CC90}"/>
              </a:ext>
            </a:extLst>
          </p:cNvPr>
          <p:cNvSpPr txBox="1"/>
          <p:nvPr/>
        </p:nvSpPr>
        <p:spPr>
          <a:xfrm>
            <a:off x="11318731" y="3933239"/>
            <a:ext cx="545267" cy="313987"/>
          </a:xfrm>
          <a:prstGeom prst="rect">
            <a:avLst/>
          </a:prstGeom>
          <a:noFill/>
        </p:spPr>
        <p:txBody>
          <a:bodyPr wrap="square" lIns="0" rIns="0" rtlCol="0">
            <a:noAutofit/>
          </a:bodyPr>
          <a:lstStyle/>
          <a:p>
            <a:pPr algn="l" defTabSz="288000"/>
            <a:r>
              <a:rPr kumimoji="1" lang="ja-JP" altLang="en-US" sz="1200" dirty="0">
                <a:latin typeface="+mn-ea"/>
              </a:rPr>
              <a:t>申込</a:t>
            </a:r>
            <a:endParaRPr kumimoji="1" lang="en-US" altLang="ja-JP" sz="1200" dirty="0">
              <a:latin typeface="+mn-ea"/>
            </a:endParaRPr>
          </a:p>
          <a:p>
            <a:pPr algn="l" defTabSz="288000"/>
            <a:r>
              <a:rPr kumimoji="1" lang="ja-JP" altLang="en-US" sz="1200" dirty="0">
                <a:latin typeface="+mn-ea"/>
              </a:rPr>
              <a:t>人数</a:t>
            </a:r>
          </a:p>
        </p:txBody>
      </p:sp>
    </p:spTree>
    <p:extLst>
      <p:ext uri="{BB962C8B-B14F-4D97-AF65-F5344CB8AC3E}">
        <p14:creationId xmlns:p14="http://schemas.microsoft.com/office/powerpoint/2010/main" val="4193642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34C64-9366-D696-58B1-B27008645043}"/>
            </a:ext>
          </a:extLst>
        </p:cNvPr>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56A6B379-310D-A6DB-1C7E-D01CC41426DD}"/>
              </a:ext>
            </a:extLst>
          </p:cNvPr>
          <p:cNvSpPr/>
          <p:nvPr/>
        </p:nvSpPr>
        <p:spPr>
          <a:xfrm>
            <a:off x="6225387" y="1975135"/>
            <a:ext cx="5785638" cy="4351020"/>
          </a:xfrm>
          <a:prstGeom prst="rect">
            <a:avLst/>
          </a:prstGeom>
          <a:solidFill>
            <a:schemeClr val="bg1"/>
          </a:solidFill>
          <a:ln w="31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36" name="図 35" descr="テキスト&#10;&#10;AI によって生成されたコンテンツは間違っている可能性があります。">
            <a:extLst>
              <a:ext uri="{FF2B5EF4-FFF2-40B4-BE49-F238E27FC236}">
                <a16:creationId xmlns:a16="http://schemas.microsoft.com/office/drawing/2014/main" id="{AB20EA9D-FE60-24B9-8F0F-3DC0B563570B}"/>
              </a:ext>
            </a:extLst>
          </p:cNvPr>
          <p:cNvPicPr>
            <a:picLocks noChangeAspect="1"/>
          </p:cNvPicPr>
          <p:nvPr/>
        </p:nvPicPr>
        <p:blipFill>
          <a:blip r:embed="rId2"/>
          <a:srcRect l="32829" t="1315" r="25832" b="77760"/>
          <a:stretch/>
        </p:blipFill>
        <p:spPr>
          <a:xfrm>
            <a:off x="6680207" y="2712421"/>
            <a:ext cx="5040000" cy="1131791"/>
          </a:xfrm>
          <a:prstGeom prst="rect">
            <a:avLst/>
          </a:prstGeom>
        </p:spPr>
      </p:pic>
      <p:sp>
        <p:nvSpPr>
          <p:cNvPr id="3" name="コンテンツ プレースホルダー 2">
            <a:extLst>
              <a:ext uri="{FF2B5EF4-FFF2-40B4-BE49-F238E27FC236}">
                <a16:creationId xmlns:a16="http://schemas.microsoft.com/office/drawing/2014/main" id="{CA64243D-AD15-EE1C-E7D5-5EB4E0E50702}"/>
              </a:ext>
            </a:extLst>
          </p:cNvPr>
          <p:cNvSpPr>
            <a:spLocks noGrp="1"/>
          </p:cNvSpPr>
          <p:nvPr>
            <p:ph sz="quarter" idx="4294967295"/>
          </p:nvPr>
        </p:nvSpPr>
        <p:spPr>
          <a:xfrm>
            <a:off x="371474" y="1012801"/>
            <a:ext cx="11448000" cy="519194"/>
          </a:xfrm>
        </p:spPr>
        <p:txBody>
          <a:bodyPr/>
          <a:lstStyle/>
          <a:p>
            <a:r>
              <a:rPr kumimoji="1" lang="ja-JP" altLang="en-US" u="sng" dirty="0">
                <a:solidFill>
                  <a:schemeClr val="tx1"/>
                </a:solidFill>
              </a:rPr>
              <a:t>テスト</a:t>
            </a:r>
            <a:r>
              <a:rPr lang="ja-JP" altLang="en-US" u="sng" dirty="0">
                <a:solidFill>
                  <a:schemeClr val="tx1"/>
                </a:solidFill>
              </a:rPr>
              <a:t>設計の例</a:t>
            </a:r>
            <a:endParaRPr lang="en-US" altLang="ja-JP" u="sng" dirty="0">
              <a:solidFill>
                <a:schemeClr val="tx1"/>
              </a:solidFill>
            </a:endParaRPr>
          </a:p>
          <a:p>
            <a:r>
              <a:rPr lang="ja-JP" altLang="en-US" b="1" dirty="0">
                <a:solidFill>
                  <a:schemeClr val="tx1"/>
                </a:solidFill>
                <a:latin typeface="__Inter_a184c8"/>
              </a:rPr>
              <a:t>手順３：</a:t>
            </a:r>
            <a:r>
              <a:rPr kumimoji="1" lang="ja-JP" altLang="en-US" b="1" dirty="0">
                <a:solidFill>
                  <a:schemeClr val="tx1"/>
                </a:solidFill>
                <a:latin typeface="__Inter_a184c8"/>
              </a:rPr>
              <a:t>テストケースの作成</a:t>
            </a:r>
            <a:endParaRPr lang="ja-JP" altLang="en-US" sz="1600" b="1" dirty="0">
              <a:solidFill>
                <a:schemeClr val="tx1"/>
              </a:solidFill>
            </a:endParaRPr>
          </a:p>
        </p:txBody>
      </p:sp>
      <p:sp>
        <p:nvSpPr>
          <p:cNvPr id="2" name="タイトル 1">
            <a:extLst>
              <a:ext uri="{FF2B5EF4-FFF2-40B4-BE49-F238E27FC236}">
                <a16:creationId xmlns:a16="http://schemas.microsoft.com/office/drawing/2014/main" id="{F500A00A-A5DC-2CBD-9CE3-07D003D2C216}"/>
              </a:ext>
            </a:extLst>
          </p:cNvPr>
          <p:cNvSpPr>
            <a:spLocks noGrp="1"/>
          </p:cNvSpPr>
          <p:nvPr>
            <p:ph type="title"/>
          </p:nvPr>
        </p:nvSpPr>
        <p:spPr/>
        <p:txBody>
          <a:bodyPr anchor="ctr"/>
          <a:lstStyle/>
          <a:p>
            <a:r>
              <a:rPr kumimoji="1" lang="ja-JP" altLang="en-US" dirty="0"/>
              <a:t>テスト設計</a:t>
            </a:r>
          </a:p>
        </p:txBody>
      </p:sp>
      <p:sp>
        <p:nvSpPr>
          <p:cNvPr id="13" name="正方形/長方形 12">
            <a:extLst>
              <a:ext uri="{FF2B5EF4-FFF2-40B4-BE49-F238E27FC236}">
                <a16:creationId xmlns:a16="http://schemas.microsoft.com/office/drawing/2014/main" id="{D4945FF3-2A8D-4B18-0710-8928A8B24E79}"/>
              </a:ext>
            </a:extLst>
          </p:cNvPr>
          <p:cNvSpPr/>
          <p:nvPr/>
        </p:nvSpPr>
        <p:spPr>
          <a:xfrm>
            <a:off x="370801" y="1975135"/>
            <a:ext cx="4928988" cy="2882615"/>
          </a:xfrm>
          <a:prstGeom prst="rect">
            <a:avLst/>
          </a:prstGeom>
          <a:solidFill>
            <a:schemeClr val="bg1"/>
          </a:solidFill>
          <a:ln w="31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4" name="正方形/長方形 13">
            <a:extLst>
              <a:ext uri="{FF2B5EF4-FFF2-40B4-BE49-F238E27FC236}">
                <a16:creationId xmlns:a16="http://schemas.microsoft.com/office/drawing/2014/main" id="{B8F5437E-E66D-28B0-AF17-749B8207516A}"/>
              </a:ext>
            </a:extLst>
          </p:cNvPr>
          <p:cNvSpPr/>
          <p:nvPr/>
        </p:nvSpPr>
        <p:spPr>
          <a:xfrm>
            <a:off x="370800" y="1773622"/>
            <a:ext cx="1245771" cy="403028"/>
          </a:xfrm>
          <a:prstGeom prst="rect">
            <a:avLst/>
          </a:prstGeom>
          <a:solidFill>
            <a:schemeClr val="accent3"/>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bg1"/>
                </a:solidFill>
              </a:rPr>
              <a:t>テスト項目</a:t>
            </a:r>
            <a:endParaRPr lang="en-US" altLang="ja-JP" sz="1600" dirty="0">
              <a:solidFill>
                <a:schemeClr val="bg1"/>
              </a:solidFill>
            </a:endParaRPr>
          </a:p>
        </p:txBody>
      </p:sp>
      <p:sp>
        <p:nvSpPr>
          <p:cNvPr id="21" name="正方形/長方形 20">
            <a:extLst>
              <a:ext uri="{FF2B5EF4-FFF2-40B4-BE49-F238E27FC236}">
                <a16:creationId xmlns:a16="http://schemas.microsoft.com/office/drawing/2014/main" id="{BCE3011B-1AA7-9FE6-EDF6-FD909F5A570A}"/>
              </a:ext>
            </a:extLst>
          </p:cNvPr>
          <p:cNvSpPr/>
          <p:nvPr/>
        </p:nvSpPr>
        <p:spPr>
          <a:xfrm>
            <a:off x="6225386" y="1773622"/>
            <a:ext cx="1245771" cy="403028"/>
          </a:xfrm>
          <a:prstGeom prst="rect">
            <a:avLst/>
          </a:prstGeom>
          <a:solidFill>
            <a:schemeClr val="accent3"/>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bg1"/>
                </a:solidFill>
              </a:rPr>
              <a:t>テストケース</a:t>
            </a:r>
            <a:endParaRPr lang="en-US" altLang="ja-JP" sz="1600" dirty="0">
              <a:solidFill>
                <a:schemeClr val="bg1"/>
              </a:solidFill>
            </a:endParaRPr>
          </a:p>
        </p:txBody>
      </p:sp>
      <p:sp>
        <p:nvSpPr>
          <p:cNvPr id="22" name="テキスト ボックス 21">
            <a:extLst>
              <a:ext uri="{FF2B5EF4-FFF2-40B4-BE49-F238E27FC236}">
                <a16:creationId xmlns:a16="http://schemas.microsoft.com/office/drawing/2014/main" id="{30E83E15-DB6F-D072-6BB8-51CA8E78AE91}"/>
              </a:ext>
            </a:extLst>
          </p:cNvPr>
          <p:cNvSpPr txBox="1"/>
          <p:nvPr/>
        </p:nvSpPr>
        <p:spPr>
          <a:xfrm>
            <a:off x="6532757" y="2235910"/>
            <a:ext cx="4009592" cy="519194"/>
          </a:xfrm>
          <a:prstGeom prst="rect">
            <a:avLst/>
          </a:prstGeom>
          <a:noFill/>
        </p:spPr>
        <p:txBody>
          <a:bodyPr wrap="square" lIns="0" rIns="0" rtlCol="0">
            <a:noAutofit/>
          </a:bodyPr>
          <a:lstStyle/>
          <a:p>
            <a:pPr algn="l" defTabSz="288000"/>
            <a:r>
              <a:rPr lang="ja-JP" altLang="en-US" dirty="0">
                <a:latin typeface="+mn-ea"/>
              </a:rPr>
              <a:t>・</a:t>
            </a:r>
            <a:r>
              <a:rPr kumimoji="1" lang="ja-JP" altLang="en-US" dirty="0">
                <a:latin typeface="__Inter_a184c8"/>
              </a:rPr>
              <a:t>業務の流れに沿ってケース化する</a:t>
            </a:r>
            <a:endParaRPr kumimoji="1" lang="ja-JP" altLang="en-US" dirty="0">
              <a:latin typeface="+mn-ea"/>
            </a:endParaRPr>
          </a:p>
        </p:txBody>
      </p:sp>
      <p:sp>
        <p:nvSpPr>
          <p:cNvPr id="23" name="矢印: 右 22">
            <a:extLst>
              <a:ext uri="{FF2B5EF4-FFF2-40B4-BE49-F238E27FC236}">
                <a16:creationId xmlns:a16="http://schemas.microsoft.com/office/drawing/2014/main" id="{9AAAED0C-6FC8-1AE6-DF43-5C86C3432A58}"/>
              </a:ext>
            </a:extLst>
          </p:cNvPr>
          <p:cNvSpPr/>
          <p:nvPr/>
        </p:nvSpPr>
        <p:spPr>
          <a:xfrm>
            <a:off x="5449172" y="2952490"/>
            <a:ext cx="646828" cy="1052320"/>
          </a:xfrm>
          <a:prstGeom prst="rightArrow">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7" name="テキスト ボックス 26">
            <a:extLst>
              <a:ext uri="{FF2B5EF4-FFF2-40B4-BE49-F238E27FC236}">
                <a16:creationId xmlns:a16="http://schemas.microsoft.com/office/drawing/2014/main" id="{B09B31BD-A09D-02A9-4872-9C37A1AF047E}"/>
              </a:ext>
            </a:extLst>
          </p:cNvPr>
          <p:cNvSpPr txBox="1"/>
          <p:nvPr/>
        </p:nvSpPr>
        <p:spPr>
          <a:xfrm>
            <a:off x="6680207" y="4061126"/>
            <a:ext cx="4703873" cy="519194"/>
          </a:xfrm>
          <a:prstGeom prst="rect">
            <a:avLst/>
          </a:prstGeom>
          <a:noFill/>
        </p:spPr>
        <p:txBody>
          <a:bodyPr wrap="square" lIns="0" rIns="0" rtlCol="0">
            <a:noAutofit/>
          </a:bodyPr>
          <a:lstStyle/>
          <a:p>
            <a:pPr algn="l" defTabSz="288000"/>
            <a:r>
              <a:rPr lang="ja-JP" altLang="en-US" sz="1600" u="sng" dirty="0">
                <a:latin typeface="+mn-ea"/>
              </a:rPr>
              <a:t>テストケースとして書くこと</a:t>
            </a:r>
            <a:endParaRPr lang="en-US" altLang="ja-JP" sz="1600" u="sng" dirty="0">
              <a:latin typeface="+mn-ea"/>
            </a:endParaRPr>
          </a:p>
          <a:p>
            <a:pPr algn="l" defTabSz="288000"/>
            <a:r>
              <a:rPr lang="ja-JP" altLang="en-US" sz="1600" dirty="0">
                <a:latin typeface="+mn-ea"/>
              </a:rPr>
              <a:t>・</a:t>
            </a:r>
            <a:r>
              <a:rPr lang="ja-JP" altLang="en-US" sz="1600" dirty="0">
                <a:latin typeface="__Inter_a184c8"/>
              </a:rPr>
              <a:t>事前条件</a:t>
            </a:r>
            <a:endParaRPr lang="en-US" altLang="ja-JP" sz="1600" dirty="0">
              <a:latin typeface="__Inter_a184c8"/>
            </a:endParaRPr>
          </a:p>
          <a:p>
            <a:pPr algn="l" defTabSz="288000"/>
            <a:r>
              <a:rPr lang="en-US" altLang="ja-JP" sz="1400" dirty="0">
                <a:latin typeface="__Inter_a184c8"/>
              </a:rPr>
              <a:t>	</a:t>
            </a:r>
            <a:r>
              <a:rPr lang="ja-JP" altLang="en-US" sz="1400" b="0" i="0" dirty="0">
                <a:effectLst/>
                <a:latin typeface="__Inter_a184c8"/>
              </a:rPr>
              <a:t>テストを実行する前に満たしておくべき条件や設定</a:t>
            </a:r>
            <a:endParaRPr lang="en-US" altLang="ja-JP" sz="1400" b="0" i="0" dirty="0">
              <a:effectLst/>
              <a:latin typeface="__Inter_a184c8"/>
            </a:endParaRPr>
          </a:p>
          <a:p>
            <a:pPr algn="l" defTabSz="288000"/>
            <a:r>
              <a:rPr lang="ja-JP" altLang="en-US" sz="1400" dirty="0">
                <a:latin typeface="__Inter_a184c8"/>
              </a:rPr>
              <a:t>　　　　例）</a:t>
            </a:r>
            <a:r>
              <a:rPr lang="ja-JP" altLang="en-US" sz="1400" b="0" i="0" dirty="0">
                <a:effectLst/>
                <a:latin typeface="__Inter_a184c8"/>
              </a:rPr>
              <a:t>ユーザーがログインしていること</a:t>
            </a:r>
            <a:endParaRPr lang="en-US" altLang="ja-JP" sz="1400" dirty="0">
              <a:latin typeface="__Inter_a184c8"/>
            </a:endParaRPr>
          </a:p>
          <a:p>
            <a:pPr algn="l" defTabSz="288000"/>
            <a:r>
              <a:rPr kumimoji="1" lang="ja-JP" altLang="en-US" sz="1600" dirty="0">
                <a:latin typeface="__Inter_a184c8"/>
              </a:rPr>
              <a:t>・入力値</a:t>
            </a:r>
            <a:endParaRPr kumimoji="1" lang="en-US" altLang="ja-JP" sz="1600" dirty="0">
              <a:latin typeface="__Inter_a184c8"/>
            </a:endParaRPr>
          </a:p>
          <a:p>
            <a:pPr algn="l" defTabSz="288000"/>
            <a:r>
              <a:rPr lang="ja-JP" altLang="en-US" sz="1600" dirty="0">
                <a:latin typeface="__Inter_a184c8"/>
              </a:rPr>
              <a:t>　　</a:t>
            </a:r>
            <a:r>
              <a:rPr lang="ja-JP" altLang="en-US" sz="1400" b="0" i="0" dirty="0">
                <a:effectLst/>
                <a:latin typeface="__Inter_a184c8"/>
              </a:rPr>
              <a:t>テスト実行時にシステムに入力する値やアクション</a:t>
            </a:r>
            <a:endParaRPr lang="en-US" altLang="ja-JP" sz="1600" dirty="0">
              <a:latin typeface="__Inter_a184c8"/>
            </a:endParaRPr>
          </a:p>
          <a:p>
            <a:pPr algn="l" defTabSz="288000"/>
            <a:r>
              <a:rPr lang="ja-JP" altLang="en-US" sz="1600" dirty="0">
                <a:latin typeface="__Inter_a184c8"/>
              </a:rPr>
              <a:t>・期待結果</a:t>
            </a:r>
            <a:endParaRPr lang="en-US" altLang="ja-JP" sz="1600" dirty="0">
              <a:latin typeface="__Inter_a184c8"/>
            </a:endParaRPr>
          </a:p>
          <a:p>
            <a:pPr algn="l" defTabSz="288000"/>
            <a:r>
              <a:rPr kumimoji="1" lang="ja-JP" altLang="en-US" sz="1400" dirty="0">
                <a:latin typeface="__Inter_a184c8"/>
              </a:rPr>
              <a:t>　　</a:t>
            </a:r>
            <a:r>
              <a:rPr lang="ja-JP" altLang="en-US" sz="1400" b="0" i="0" dirty="0">
                <a:effectLst/>
                <a:latin typeface="__Inter_a184c8"/>
              </a:rPr>
              <a:t>入力値に対してシステムが生成するべき結果</a:t>
            </a:r>
            <a:endParaRPr lang="en-US" altLang="ja-JP" sz="1400" b="0" i="0" dirty="0">
              <a:effectLst/>
              <a:latin typeface="__Inter_a184c8"/>
            </a:endParaRPr>
          </a:p>
          <a:p>
            <a:pPr algn="l" defTabSz="288000"/>
            <a:r>
              <a:rPr kumimoji="1" lang="ja-JP" altLang="en-US" sz="1400" dirty="0">
                <a:latin typeface="__Inter_a184c8"/>
              </a:rPr>
              <a:t>　　主観に依らず成功</a:t>
            </a:r>
            <a:r>
              <a:rPr kumimoji="1" lang="en-US" altLang="ja-JP" sz="1400" dirty="0">
                <a:latin typeface="__Inter_a184c8"/>
              </a:rPr>
              <a:t>/</a:t>
            </a:r>
            <a:r>
              <a:rPr kumimoji="1" lang="ja-JP" altLang="en-US" sz="1400" dirty="0">
                <a:latin typeface="__Inter_a184c8"/>
              </a:rPr>
              <a:t>失敗かの判断がつけられるような内容を書く</a:t>
            </a:r>
            <a:endParaRPr kumimoji="1" lang="ja-JP" altLang="en-US" sz="1400" dirty="0">
              <a:latin typeface="+mn-ea"/>
            </a:endParaRPr>
          </a:p>
        </p:txBody>
      </p:sp>
      <p:grpSp>
        <p:nvGrpSpPr>
          <p:cNvPr id="32" name="グループ化 31">
            <a:extLst>
              <a:ext uri="{FF2B5EF4-FFF2-40B4-BE49-F238E27FC236}">
                <a16:creationId xmlns:a16="http://schemas.microsoft.com/office/drawing/2014/main" id="{C2DE3398-7A17-E7C2-7FBB-646CE78977CB}"/>
              </a:ext>
            </a:extLst>
          </p:cNvPr>
          <p:cNvGrpSpPr/>
          <p:nvPr/>
        </p:nvGrpSpPr>
        <p:grpSpPr>
          <a:xfrm>
            <a:off x="541173" y="2275040"/>
            <a:ext cx="4680001" cy="2004377"/>
            <a:chOff x="7050861" y="3088460"/>
            <a:chExt cx="4680001" cy="2004377"/>
          </a:xfrm>
        </p:grpSpPr>
        <p:pic>
          <p:nvPicPr>
            <p:cNvPr id="33" name="図 32" descr="テーブル&#10;&#10;AI によって生成されたコンテンツは間違っている可能性があります。">
              <a:extLst>
                <a:ext uri="{FF2B5EF4-FFF2-40B4-BE49-F238E27FC236}">
                  <a16:creationId xmlns:a16="http://schemas.microsoft.com/office/drawing/2014/main" id="{6107721C-ED2B-A8FB-35C6-E3AE829F5BBA}"/>
                </a:ext>
              </a:extLst>
            </p:cNvPr>
            <p:cNvPicPr>
              <a:picLocks noChangeAspect="1"/>
            </p:cNvPicPr>
            <p:nvPr/>
          </p:nvPicPr>
          <p:blipFill>
            <a:blip r:embed="rId3"/>
            <a:srcRect l="23427" t="4895" r="17302" b="73322"/>
            <a:stretch/>
          </p:blipFill>
          <p:spPr>
            <a:xfrm>
              <a:off x="7050861" y="3387156"/>
              <a:ext cx="4680000" cy="1705681"/>
            </a:xfrm>
            <a:prstGeom prst="rect">
              <a:avLst/>
            </a:prstGeom>
          </p:spPr>
        </p:pic>
        <p:pic>
          <p:nvPicPr>
            <p:cNvPr id="34" name="図 33" descr="テーブル&#10;&#10;AI によって生成されたコンテンツは間違っている可能性があります。">
              <a:extLst>
                <a:ext uri="{FF2B5EF4-FFF2-40B4-BE49-F238E27FC236}">
                  <a16:creationId xmlns:a16="http://schemas.microsoft.com/office/drawing/2014/main" id="{DC0BCFF4-1A09-9FD7-DE59-E24235858958}"/>
                </a:ext>
              </a:extLst>
            </p:cNvPr>
            <p:cNvPicPr>
              <a:picLocks noChangeAspect="1"/>
            </p:cNvPicPr>
            <p:nvPr/>
          </p:nvPicPr>
          <p:blipFill>
            <a:blip r:embed="rId3"/>
            <a:srcRect l="23427" t="1022" r="17302" b="95116"/>
            <a:stretch/>
          </p:blipFill>
          <p:spPr>
            <a:xfrm>
              <a:off x="7050862" y="3088460"/>
              <a:ext cx="4680000" cy="302475"/>
            </a:xfrm>
            <a:prstGeom prst="rect">
              <a:avLst/>
            </a:prstGeom>
          </p:spPr>
        </p:pic>
      </p:grpSp>
      <p:sp>
        <p:nvSpPr>
          <p:cNvPr id="35" name="テキスト ボックス 34">
            <a:extLst>
              <a:ext uri="{FF2B5EF4-FFF2-40B4-BE49-F238E27FC236}">
                <a16:creationId xmlns:a16="http://schemas.microsoft.com/office/drawing/2014/main" id="{E9878AA7-A8BE-D61B-2302-6A35199FA605}"/>
              </a:ext>
            </a:extLst>
          </p:cNvPr>
          <p:cNvSpPr txBox="1"/>
          <p:nvPr/>
        </p:nvSpPr>
        <p:spPr>
          <a:xfrm rot="5400000">
            <a:off x="2434799" y="4373039"/>
            <a:ext cx="590550" cy="618667"/>
          </a:xfrm>
          <a:prstGeom prst="rect">
            <a:avLst/>
          </a:prstGeom>
          <a:noFill/>
        </p:spPr>
        <p:txBody>
          <a:bodyPr wrap="square" lIns="0" rIns="0" rtlCol="0">
            <a:noAutofit/>
          </a:bodyPr>
          <a:lstStyle/>
          <a:p>
            <a:pPr algn="l" defTabSz="288000"/>
            <a:r>
              <a:rPr kumimoji="1" lang="ja-JP" altLang="en-US" sz="1400" dirty="0">
                <a:latin typeface="+mn-ea"/>
              </a:rPr>
              <a:t>・・・</a:t>
            </a:r>
          </a:p>
        </p:txBody>
      </p:sp>
    </p:spTree>
    <p:extLst>
      <p:ext uri="{BB962C8B-B14F-4D97-AF65-F5344CB8AC3E}">
        <p14:creationId xmlns:p14="http://schemas.microsoft.com/office/powerpoint/2010/main" val="4001596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54712-BF9A-4280-7484-DEC5956A57AA}"/>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F2B5653-E2DC-CC89-C8EB-F9291E883BB7}"/>
              </a:ext>
            </a:extLst>
          </p:cNvPr>
          <p:cNvSpPr>
            <a:spLocks noGrp="1"/>
          </p:cNvSpPr>
          <p:nvPr>
            <p:ph sz="quarter" idx="4294967295"/>
          </p:nvPr>
        </p:nvSpPr>
        <p:spPr>
          <a:xfrm>
            <a:off x="371474" y="1012801"/>
            <a:ext cx="11448000" cy="519194"/>
          </a:xfrm>
        </p:spPr>
        <p:txBody>
          <a:bodyPr/>
          <a:lstStyle/>
          <a:p>
            <a:r>
              <a:rPr kumimoji="1" lang="ja-JP" altLang="en-US" u="sng" dirty="0">
                <a:solidFill>
                  <a:schemeClr val="tx1"/>
                </a:solidFill>
              </a:rPr>
              <a:t>テスト</a:t>
            </a:r>
            <a:r>
              <a:rPr lang="ja-JP" altLang="en-US" u="sng" dirty="0">
                <a:solidFill>
                  <a:schemeClr val="tx1"/>
                </a:solidFill>
              </a:rPr>
              <a:t>設計の例</a:t>
            </a:r>
            <a:endParaRPr lang="en-US" altLang="ja-JP" u="sng" dirty="0">
              <a:solidFill>
                <a:schemeClr val="tx1"/>
              </a:solidFill>
            </a:endParaRPr>
          </a:p>
        </p:txBody>
      </p:sp>
      <p:sp>
        <p:nvSpPr>
          <p:cNvPr id="2" name="タイトル 1">
            <a:extLst>
              <a:ext uri="{FF2B5EF4-FFF2-40B4-BE49-F238E27FC236}">
                <a16:creationId xmlns:a16="http://schemas.microsoft.com/office/drawing/2014/main" id="{737EBBCB-86DD-4C73-179A-49200138382D}"/>
              </a:ext>
            </a:extLst>
          </p:cNvPr>
          <p:cNvSpPr>
            <a:spLocks noGrp="1"/>
          </p:cNvSpPr>
          <p:nvPr>
            <p:ph type="title"/>
          </p:nvPr>
        </p:nvSpPr>
        <p:spPr/>
        <p:txBody>
          <a:bodyPr anchor="ctr"/>
          <a:lstStyle/>
          <a:p>
            <a:r>
              <a:rPr kumimoji="1" lang="ja-JP" altLang="en-US" dirty="0"/>
              <a:t>テスト設計</a:t>
            </a:r>
          </a:p>
        </p:txBody>
      </p:sp>
      <p:sp>
        <p:nvSpPr>
          <p:cNvPr id="8" name="吹き出し: 円形 7">
            <a:extLst>
              <a:ext uri="{FF2B5EF4-FFF2-40B4-BE49-F238E27FC236}">
                <a16:creationId xmlns:a16="http://schemas.microsoft.com/office/drawing/2014/main" id="{944A396F-00FF-F033-AF78-6BEEEF5F844E}"/>
              </a:ext>
            </a:extLst>
          </p:cNvPr>
          <p:cNvSpPr/>
          <p:nvPr/>
        </p:nvSpPr>
        <p:spPr>
          <a:xfrm>
            <a:off x="2198013" y="1531995"/>
            <a:ext cx="7716008" cy="986616"/>
          </a:xfrm>
          <a:prstGeom prst="wedgeEllipseCallout">
            <a:avLst>
              <a:gd name="adj1" fmla="val -54521"/>
              <a:gd name="adj2" fmla="val 26972"/>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600" dirty="0">
                <a:solidFill>
                  <a:schemeClr val="tx1"/>
                </a:solidFill>
              </a:rPr>
              <a:t>テスト項目やテストケースは十分なの？</a:t>
            </a:r>
            <a:endParaRPr lang="en-US" altLang="ja-JP" sz="1600" dirty="0">
              <a:solidFill>
                <a:schemeClr val="tx1"/>
              </a:solidFill>
            </a:endParaRPr>
          </a:p>
          <a:p>
            <a:pPr algn="ctr"/>
            <a:r>
              <a:rPr lang="ja-JP" altLang="en-US" sz="1600" dirty="0">
                <a:solidFill>
                  <a:schemeClr val="tx1"/>
                </a:solidFill>
              </a:rPr>
              <a:t>全部の値を確認しなくていいの？</a:t>
            </a:r>
            <a:endParaRPr kumimoji="1" lang="ja-JP" altLang="en-US" sz="1600" dirty="0">
              <a:solidFill>
                <a:schemeClr val="tx1"/>
              </a:solidFill>
            </a:endParaRPr>
          </a:p>
        </p:txBody>
      </p:sp>
      <p:pic>
        <p:nvPicPr>
          <p:cNvPr id="10" name="グラフィックス 9" descr="ユーザー 単色塗りつぶし">
            <a:extLst>
              <a:ext uri="{FF2B5EF4-FFF2-40B4-BE49-F238E27FC236}">
                <a16:creationId xmlns:a16="http://schemas.microsoft.com/office/drawing/2014/main" id="{C5FF589F-DED7-7A69-50C1-74775B60709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54263" y="1709633"/>
            <a:ext cx="889562" cy="889562"/>
          </a:xfrm>
          <a:prstGeom prst="rect">
            <a:avLst/>
          </a:prstGeom>
        </p:spPr>
      </p:pic>
      <p:pic>
        <p:nvPicPr>
          <p:cNvPr id="13" name="グラフィックス 12" descr="疑問符 単色塗りつぶし">
            <a:extLst>
              <a:ext uri="{FF2B5EF4-FFF2-40B4-BE49-F238E27FC236}">
                <a16:creationId xmlns:a16="http://schemas.microsoft.com/office/drawing/2014/main" id="{796C08A1-B5FD-9560-0EA1-82E3396C20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60013" y="1585995"/>
            <a:ext cx="324000" cy="324000"/>
          </a:xfrm>
          <a:prstGeom prst="rect">
            <a:avLst/>
          </a:prstGeom>
        </p:spPr>
      </p:pic>
      <p:sp>
        <p:nvSpPr>
          <p:cNvPr id="21" name="テキスト ボックス 20">
            <a:extLst>
              <a:ext uri="{FF2B5EF4-FFF2-40B4-BE49-F238E27FC236}">
                <a16:creationId xmlns:a16="http://schemas.microsoft.com/office/drawing/2014/main" id="{76AF40BC-D6B1-56CF-4E51-E04C63A12A3B}"/>
              </a:ext>
            </a:extLst>
          </p:cNvPr>
          <p:cNvSpPr txBox="1"/>
          <p:nvPr/>
        </p:nvSpPr>
        <p:spPr>
          <a:xfrm>
            <a:off x="1743825" y="2695522"/>
            <a:ext cx="7833312" cy="519194"/>
          </a:xfrm>
          <a:prstGeom prst="rect">
            <a:avLst/>
          </a:prstGeom>
          <a:noFill/>
        </p:spPr>
        <p:txBody>
          <a:bodyPr wrap="square" lIns="0" rIns="0" rtlCol="0">
            <a:noAutofit/>
          </a:bodyPr>
          <a:lstStyle/>
          <a:p>
            <a:pPr algn="l" defTabSz="288000"/>
            <a:r>
              <a:rPr lang="ja-JP" altLang="en-US" sz="1600" dirty="0">
                <a:latin typeface="+mn-ea"/>
              </a:rPr>
              <a:t>例えば・・・</a:t>
            </a:r>
            <a:endParaRPr lang="en-US" altLang="ja-JP" sz="1600" dirty="0">
              <a:latin typeface="+mn-ea"/>
            </a:endParaRPr>
          </a:p>
          <a:p>
            <a:pPr algn="l" defTabSz="288000"/>
            <a:r>
              <a:rPr lang="en-US" altLang="ja-JP" sz="1600" dirty="0">
                <a:latin typeface="+mn-ea"/>
              </a:rPr>
              <a:t>	</a:t>
            </a:r>
            <a:r>
              <a:rPr lang="ja-JP" altLang="en-US" sz="1600" dirty="0">
                <a:latin typeface="+mn-ea"/>
              </a:rPr>
              <a:t>　数値（</a:t>
            </a:r>
            <a:r>
              <a:rPr lang="en-US" altLang="ja-JP" sz="1600" dirty="0">
                <a:latin typeface="+mn-ea"/>
              </a:rPr>
              <a:t>int</a:t>
            </a:r>
            <a:r>
              <a:rPr lang="ja-JP" altLang="en-US" sz="1600" dirty="0">
                <a:latin typeface="+mn-ea"/>
              </a:rPr>
              <a:t>）について、</a:t>
            </a:r>
            <a:r>
              <a:rPr lang="ja-JP" altLang="en-US" sz="1600" b="1" dirty="0">
                <a:latin typeface="+mn-ea"/>
              </a:rPr>
              <a:t>全ての値を確認しようとする</a:t>
            </a:r>
            <a:r>
              <a:rPr lang="ja-JP" altLang="en-US" sz="1600" dirty="0">
                <a:latin typeface="+mn-ea"/>
              </a:rPr>
              <a:t>と、</a:t>
            </a:r>
            <a:endParaRPr lang="en-US" altLang="ja-JP" sz="1600" dirty="0">
              <a:latin typeface="+mn-ea"/>
            </a:endParaRPr>
          </a:p>
          <a:p>
            <a:pPr algn="l" defTabSz="288000"/>
            <a:r>
              <a:rPr kumimoji="1" lang="en-US" altLang="ja-JP" sz="1600" dirty="0">
                <a:latin typeface="+mn-ea"/>
              </a:rPr>
              <a:t>	</a:t>
            </a:r>
            <a:r>
              <a:rPr kumimoji="1" lang="ja-JP" altLang="en-US" sz="1600" dirty="0">
                <a:latin typeface="+mn-ea"/>
              </a:rPr>
              <a:t>　</a:t>
            </a:r>
            <a:r>
              <a:rPr lang="en-US" altLang="ja-JP" sz="1600" dirty="0">
                <a:latin typeface="+mn-ea"/>
              </a:rPr>
              <a:t>	</a:t>
            </a:r>
            <a:r>
              <a:rPr lang="ja-JP" altLang="en-US" sz="1600" dirty="0">
                <a:latin typeface="+mn-ea"/>
              </a:rPr>
              <a:t>　</a:t>
            </a:r>
            <a:r>
              <a:rPr kumimoji="1" lang="en-US" altLang="ja-JP" sz="1600" dirty="0">
                <a:latin typeface="+mn-ea"/>
              </a:rPr>
              <a:t>-2,147,483,648 </a:t>
            </a:r>
            <a:r>
              <a:rPr kumimoji="1" lang="ja-JP" altLang="en-US" sz="1600" dirty="0">
                <a:latin typeface="+mn-ea"/>
              </a:rPr>
              <a:t>～ </a:t>
            </a:r>
            <a:r>
              <a:rPr kumimoji="1" lang="en-US" altLang="ja-JP" sz="1600" dirty="0">
                <a:latin typeface="+mn-ea"/>
              </a:rPr>
              <a:t>2,147,483,647</a:t>
            </a:r>
            <a:r>
              <a:rPr kumimoji="1" lang="ja-JP" altLang="en-US" sz="1600" dirty="0">
                <a:latin typeface="+mn-ea"/>
              </a:rPr>
              <a:t>　の計</a:t>
            </a:r>
            <a:r>
              <a:rPr kumimoji="1" lang="en-US" altLang="ja-JP" sz="1600" dirty="0">
                <a:latin typeface="+mn-ea"/>
              </a:rPr>
              <a:t>4,294,967,296</a:t>
            </a:r>
            <a:r>
              <a:rPr kumimoji="1" lang="ja-JP" altLang="en-US" sz="1600" dirty="0">
                <a:latin typeface="+mn-ea"/>
              </a:rPr>
              <a:t>個</a:t>
            </a:r>
            <a:endParaRPr kumimoji="1" lang="en-US" altLang="ja-JP" sz="1600" dirty="0">
              <a:latin typeface="+mn-ea"/>
            </a:endParaRPr>
          </a:p>
          <a:p>
            <a:pPr algn="l" defTabSz="288000"/>
            <a:r>
              <a:rPr lang="en-US" altLang="ja-JP" sz="1600" dirty="0">
                <a:latin typeface="+mn-ea"/>
              </a:rPr>
              <a:t>	</a:t>
            </a:r>
            <a:r>
              <a:rPr lang="ja-JP" altLang="en-US" sz="1600" dirty="0">
                <a:latin typeface="+mn-ea"/>
              </a:rPr>
              <a:t>　</a:t>
            </a:r>
            <a:r>
              <a:rPr lang="en-US" altLang="ja-JP" sz="1600" dirty="0">
                <a:latin typeface="+mn-ea"/>
              </a:rPr>
              <a:t>	</a:t>
            </a:r>
            <a:r>
              <a:rPr lang="ja-JP" altLang="en-US" sz="1600" dirty="0">
                <a:latin typeface="+mn-ea"/>
              </a:rPr>
              <a:t>　　</a:t>
            </a:r>
            <a:r>
              <a:rPr lang="en-US" altLang="ja-JP" sz="1600" dirty="0">
                <a:latin typeface="+mn-ea"/>
              </a:rPr>
              <a:t>	</a:t>
            </a:r>
            <a:r>
              <a:rPr lang="ja-JP" altLang="en-US" sz="1600" dirty="0">
                <a:latin typeface="+mn-ea"/>
              </a:rPr>
              <a:t>　＋</a:t>
            </a:r>
            <a:endParaRPr lang="en-US" altLang="ja-JP" sz="1600" dirty="0">
              <a:latin typeface="+mn-ea"/>
            </a:endParaRPr>
          </a:p>
          <a:p>
            <a:pPr algn="l" defTabSz="288000"/>
            <a:r>
              <a:rPr lang="ja-JP" altLang="en-US" sz="1600" dirty="0">
                <a:latin typeface="+mn-ea"/>
              </a:rPr>
              <a:t>　　　　　数値以外の値が入る可能性もある</a:t>
            </a:r>
            <a:endParaRPr lang="en-US" altLang="ja-JP" sz="1600" dirty="0">
              <a:latin typeface="+mn-ea"/>
            </a:endParaRPr>
          </a:p>
          <a:p>
            <a:pPr algn="l" defTabSz="288000"/>
            <a:endParaRPr lang="en-US" altLang="ja-JP" sz="1600" dirty="0">
              <a:latin typeface="+mn-ea"/>
            </a:endParaRPr>
          </a:p>
          <a:p>
            <a:pPr algn="l" defTabSz="288000"/>
            <a:r>
              <a:rPr lang="en-US" altLang="ja-JP" sz="1600" dirty="0">
                <a:latin typeface="+mn-ea"/>
              </a:rPr>
              <a:t>	</a:t>
            </a:r>
            <a:r>
              <a:rPr lang="ja-JP" altLang="en-US" sz="1600" dirty="0">
                <a:latin typeface="+mn-ea"/>
              </a:rPr>
              <a:t>　さらに、他の入力項目との組み合わせを考えると、</a:t>
            </a:r>
            <a:r>
              <a:rPr lang="ja-JP" altLang="en-US" sz="1600" b="1" dirty="0">
                <a:latin typeface="+mn-ea"/>
              </a:rPr>
              <a:t>非常に多いテストが必要</a:t>
            </a:r>
            <a:r>
              <a:rPr lang="ja-JP" altLang="en-US" sz="1600" dirty="0">
                <a:latin typeface="+mn-ea"/>
              </a:rPr>
              <a:t>。</a:t>
            </a:r>
            <a:endParaRPr lang="en-US" altLang="ja-JP" sz="1600" dirty="0">
              <a:latin typeface="+mn-ea"/>
            </a:endParaRPr>
          </a:p>
          <a:p>
            <a:pPr algn="l" defTabSz="288000"/>
            <a:endParaRPr kumimoji="1" lang="en-US" altLang="ja-JP" sz="1600" dirty="0">
              <a:latin typeface="+mn-ea"/>
            </a:endParaRPr>
          </a:p>
          <a:p>
            <a:pPr algn="l" defTabSz="288000"/>
            <a:endParaRPr kumimoji="1" lang="en-US" altLang="ja-JP" sz="1600" dirty="0">
              <a:latin typeface="+mn-ea"/>
            </a:endParaRPr>
          </a:p>
        </p:txBody>
      </p:sp>
      <p:sp>
        <p:nvSpPr>
          <p:cNvPr id="27" name="テキスト ボックス 26">
            <a:extLst>
              <a:ext uri="{FF2B5EF4-FFF2-40B4-BE49-F238E27FC236}">
                <a16:creationId xmlns:a16="http://schemas.microsoft.com/office/drawing/2014/main" id="{513FA425-2E6B-76AA-0952-91FC1E94844E}"/>
              </a:ext>
            </a:extLst>
          </p:cNvPr>
          <p:cNvSpPr txBox="1"/>
          <p:nvPr/>
        </p:nvSpPr>
        <p:spPr>
          <a:xfrm>
            <a:off x="1363359" y="4889013"/>
            <a:ext cx="7968895" cy="415736"/>
          </a:xfrm>
          <a:prstGeom prst="rect">
            <a:avLst/>
          </a:prstGeom>
          <a:noFill/>
        </p:spPr>
        <p:txBody>
          <a:bodyPr wrap="square" lIns="0" rIns="0" rtlCol="0">
            <a:noAutofit/>
          </a:bodyPr>
          <a:lstStyle/>
          <a:p>
            <a:pPr algn="l" defTabSz="288000"/>
            <a:r>
              <a:rPr kumimoji="1" lang="ja-JP" altLang="en-US" dirty="0">
                <a:latin typeface="+mn-ea"/>
              </a:rPr>
              <a:t>⇒ 限られた工数で、</a:t>
            </a:r>
            <a:endParaRPr kumimoji="1" lang="en-US" altLang="ja-JP" dirty="0">
              <a:latin typeface="+mn-ea"/>
            </a:endParaRPr>
          </a:p>
          <a:p>
            <a:pPr algn="l" defTabSz="288000"/>
            <a:r>
              <a:rPr lang="ja-JP" altLang="en-US" dirty="0">
                <a:latin typeface="+mn-ea"/>
              </a:rPr>
              <a:t>　　　</a:t>
            </a:r>
            <a:r>
              <a:rPr kumimoji="1" lang="ja-JP" altLang="en-US" sz="2000" b="1" u="sng" dirty="0">
                <a:latin typeface="+mn-ea"/>
              </a:rPr>
              <a:t>効果的な（漏れがなく、多くのバグを検出できる）テスト</a:t>
            </a:r>
            <a:r>
              <a:rPr kumimoji="1" lang="ja-JP" altLang="en-US" dirty="0">
                <a:latin typeface="+mn-ea"/>
              </a:rPr>
              <a:t>を作成したい</a:t>
            </a:r>
            <a:endParaRPr kumimoji="1" lang="en-US" altLang="ja-JP" dirty="0">
              <a:latin typeface="+mn-ea"/>
            </a:endParaRPr>
          </a:p>
        </p:txBody>
      </p:sp>
      <p:sp>
        <p:nvSpPr>
          <p:cNvPr id="28" name="楕円 27">
            <a:extLst>
              <a:ext uri="{FF2B5EF4-FFF2-40B4-BE49-F238E27FC236}">
                <a16:creationId xmlns:a16="http://schemas.microsoft.com/office/drawing/2014/main" id="{065A4733-5583-9DAC-A0CC-8335E9BF8F93}"/>
              </a:ext>
            </a:extLst>
          </p:cNvPr>
          <p:cNvSpPr/>
          <p:nvPr/>
        </p:nvSpPr>
        <p:spPr>
          <a:xfrm>
            <a:off x="4030028" y="5622690"/>
            <a:ext cx="3132933" cy="729984"/>
          </a:xfrm>
          <a:prstGeom prst="ellipse">
            <a:avLst/>
          </a:prstGeom>
          <a:solidFill>
            <a:srgbClr val="FEF4C0"/>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b="1" dirty="0">
                <a:solidFill>
                  <a:srgbClr val="FF0000"/>
                </a:solidFill>
              </a:rPr>
              <a:t>テスト技法</a:t>
            </a:r>
            <a:r>
              <a:rPr kumimoji="1" lang="ja-JP" altLang="en-US" sz="1400" dirty="0">
                <a:solidFill>
                  <a:schemeClr val="tx1"/>
                </a:solidFill>
              </a:rPr>
              <a:t>の活用</a:t>
            </a:r>
          </a:p>
        </p:txBody>
      </p:sp>
      <p:cxnSp>
        <p:nvCxnSpPr>
          <p:cNvPr id="30" name="コネクタ: カギ線 29">
            <a:extLst>
              <a:ext uri="{FF2B5EF4-FFF2-40B4-BE49-F238E27FC236}">
                <a16:creationId xmlns:a16="http://schemas.microsoft.com/office/drawing/2014/main" id="{0B26BE27-5ABE-450B-32E0-14479DF45F6F}"/>
              </a:ext>
            </a:extLst>
          </p:cNvPr>
          <p:cNvCxnSpPr>
            <a:cxnSpLocks/>
          </p:cNvCxnSpPr>
          <p:nvPr/>
        </p:nvCxnSpPr>
        <p:spPr>
          <a:xfrm rot="16200000" flipH="1">
            <a:off x="3605450" y="5542310"/>
            <a:ext cx="432000" cy="360000"/>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57122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2910C-07DC-798E-36FD-C25D2A50EE0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2C92F02-200F-C49E-7275-73E4A494D008}"/>
              </a:ext>
            </a:extLst>
          </p:cNvPr>
          <p:cNvSpPr>
            <a:spLocks noGrp="1"/>
          </p:cNvSpPr>
          <p:nvPr>
            <p:ph type="title"/>
          </p:nvPr>
        </p:nvSpPr>
        <p:spPr/>
        <p:txBody>
          <a:bodyPr anchor="ctr"/>
          <a:lstStyle/>
          <a:p>
            <a:r>
              <a:rPr lang="ja-JP" altLang="en-US" dirty="0"/>
              <a:t>単体テスト（</a:t>
            </a:r>
            <a:r>
              <a:rPr lang="en-US" altLang="ja-JP" dirty="0"/>
              <a:t>Unit Test</a:t>
            </a:r>
            <a:r>
              <a:rPr lang="ja-JP" altLang="en-US" dirty="0"/>
              <a:t>）とは</a:t>
            </a:r>
            <a:endParaRPr kumimoji="1" lang="ja-JP" altLang="en-US" dirty="0"/>
          </a:p>
        </p:txBody>
      </p:sp>
      <p:sp>
        <p:nvSpPr>
          <p:cNvPr id="3" name="コンテンツ プレースホルダー 2">
            <a:extLst>
              <a:ext uri="{FF2B5EF4-FFF2-40B4-BE49-F238E27FC236}">
                <a16:creationId xmlns:a16="http://schemas.microsoft.com/office/drawing/2014/main" id="{A851256A-44DF-CBF9-6660-F6133D16F911}"/>
              </a:ext>
            </a:extLst>
          </p:cNvPr>
          <p:cNvSpPr>
            <a:spLocks noGrp="1"/>
          </p:cNvSpPr>
          <p:nvPr>
            <p:ph sz="quarter" idx="4294967295"/>
          </p:nvPr>
        </p:nvSpPr>
        <p:spPr>
          <a:xfrm>
            <a:off x="574158" y="1692779"/>
            <a:ext cx="8888819" cy="1253386"/>
          </a:xfrm>
        </p:spPr>
        <p:txBody>
          <a:bodyPr anchor="ctr"/>
          <a:lstStyle/>
          <a:p>
            <a:r>
              <a:rPr lang="ja-JP" altLang="en-US" dirty="0"/>
              <a:t>　　　</a:t>
            </a:r>
            <a:r>
              <a:rPr lang="en-US" altLang="ja-JP" dirty="0"/>
              <a:t>(1) </a:t>
            </a:r>
            <a:r>
              <a:rPr lang="ja-JP" altLang="en-US" dirty="0"/>
              <a:t>少量のコードを１単位（１ユニット）として、コードを検証する</a:t>
            </a:r>
            <a:endParaRPr lang="en-US" altLang="ja-JP" dirty="0"/>
          </a:p>
          <a:p>
            <a:r>
              <a:rPr lang="en-US" altLang="ja-JP" dirty="0"/>
              <a:t>	</a:t>
            </a:r>
            <a:r>
              <a:rPr lang="ja-JP" altLang="en-US" dirty="0"/>
              <a:t>　</a:t>
            </a:r>
            <a:r>
              <a:rPr lang="en-US" altLang="ja-JP" dirty="0"/>
              <a:t>(2) </a:t>
            </a:r>
            <a:r>
              <a:rPr lang="ja-JP" altLang="en-US" dirty="0"/>
              <a:t>実行時間が短い</a:t>
            </a:r>
            <a:endParaRPr lang="en-US" altLang="ja-JP" dirty="0"/>
          </a:p>
          <a:p>
            <a:r>
              <a:rPr kumimoji="1" lang="en-US" altLang="ja-JP" dirty="0"/>
              <a:t>	</a:t>
            </a:r>
            <a:r>
              <a:rPr kumimoji="1" lang="ja-JP" altLang="en-US" dirty="0"/>
              <a:t>　</a:t>
            </a:r>
            <a:r>
              <a:rPr lang="en-US" altLang="ja-JP" dirty="0"/>
              <a:t>(3) </a:t>
            </a:r>
            <a:r>
              <a:rPr kumimoji="1" lang="ja-JP" altLang="en-US" dirty="0"/>
              <a:t>隔離された状態で実行される</a:t>
            </a:r>
            <a:endParaRPr kumimoji="1" lang="en-US" altLang="ja-JP" dirty="0"/>
          </a:p>
        </p:txBody>
      </p:sp>
      <p:sp>
        <p:nvSpPr>
          <p:cNvPr id="19" name="四角形: 角を丸くする 18">
            <a:extLst>
              <a:ext uri="{FF2B5EF4-FFF2-40B4-BE49-F238E27FC236}">
                <a16:creationId xmlns:a16="http://schemas.microsoft.com/office/drawing/2014/main" id="{D3EB8760-2BD0-9D19-4D71-96D64DDF7CF1}"/>
              </a:ext>
            </a:extLst>
          </p:cNvPr>
          <p:cNvSpPr/>
          <p:nvPr/>
        </p:nvSpPr>
        <p:spPr>
          <a:xfrm>
            <a:off x="574158" y="1621328"/>
            <a:ext cx="10696354" cy="1385631"/>
          </a:xfrm>
          <a:prstGeom prst="roundRect">
            <a:avLst>
              <a:gd name="adj" fmla="val 7459"/>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四角形: 角を丸くする 17">
            <a:extLst>
              <a:ext uri="{FF2B5EF4-FFF2-40B4-BE49-F238E27FC236}">
                <a16:creationId xmlns:a16="http://schemas.microsoft.com/office/drawing/2014/main" id="{229D37AA-8E15-943C-105A-CB5F5F03F92C}"/>
              </a:ext>
            </a:extLst>
          </p:cNvPr>
          <p:cNvSpPr/>
          <p:nvPr/>
        </p:nvSpPr>
        <p:spPr>
          <a:xfrm>
            <a:off x="371474" y="1408421"/>
            <a:ext cx="936331" cy="396000"/>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定義</a:t>
            </a:r>
          </a:p>
        </p:txBody>
      </p:sp>
      <p:sp>
        <p:nvSpPr>
          <p:cNvPr id="21" name="テキスト ボックス 20">
            <a:extLst>
              <a:ext uri="{FF2B5EF4-FFF2-40B4-BE49-F238E27FC236}">
                <a16:creationId xmlns:a16="http://schemas.microsoft.com/office/drawing/2014/main" id="{F60B95CE-FA75-446C-B2B2-A6D2DAF1F1C8}"/>
              </a:ext>
            </a:extLst>
          </p:cNvPr>
          <p:cNvSpPr txBox="1"/>
          <p:nvPr/>
        </p:nvSpPr>
        <p:spPr>
          <a:xfrm>
            <a:off x="839639" y="3128949"/>
            <a:ext cx="6321056" cy="2585323"/>
          </a:xfrm>
          <a:prstGeom prst="rect">
            <a:avLst/>
          </a:prstGeom>
          <a:noFill/>
        </p:spPr>
        <p:txBody>
          <a:bodyPr wrap="square">
            <a:spAutoFit/>
          </a:bodyPr>
          <a:lstStyle/>
          <a:p>
            <a:r>
              <a:rPr kumimoji="1" lang="ja-JP" altLang="en-US" dirty="0">
                <a:solidFill>
                  <a:schemeClr val="bg1">
                    <a:lumMod val="75000"/>
                  </a:schemeClr>
                </a:solidFill>
              </a:rPr>
              <a:t>■単体テストでのテスト設計</a:t>
            </a:r>
            <a:endParaRPr kumimoji="1" lang="en-US" altLang="ja-JP" dirty="0">
              <a:solidFill>
                <a:schemeClr val="bg1">
                  <a:lumMod val="75000"/>
                </a:schemeClr>
              </a:solidFill>
            </a:endParaRPr>
          </a:p>
          <a:p>
            <a:endParaRPr lang="en-US" altLang="ja-JP" dirty="0"/>
          </a:p>
          <a:p>
            <a:r>
              <a:rPr kumimoji="1" lang="ja-JP" altLang="en-US" dirty="0"/>
              <a:t>■単体テストで用いられるテスト技法</a:t>
            </a:r>
            <a:endParaRPr kumimoji="1" lang="en-US" altLang="ja-JP" dirty="0"/>
          </a:p>
          <a:p>
            <a:r>
              <a:rPr lang="ja-JP" altLang="en-US" dirty="0"/>
              <a:t>　　</a:t>
            </a:r>
            <a:r>
              <a:rPr lang="en-US" altLang="ja-JP" dirty="0"/>
              <a:t>JSTQB</a:t>
            </a:r>
            <a:r>
              <a:rPr lang="ja-JP" altLang="en-US" dirty="0"/>
              <a:t>では「テスト技法」を、以下の３つに分類している。</a:t>
            </a:r>
            <a:endParaRPr kumimoji="1" lang="en-US" altLang="ja-JP" dirty="0"/>
          </a:p>
          <a:p>
            <a:r>
              <a:rPr lang="ja-JP" altLang="en-US" dirty="0"/>
              <a:t>　　　</a:t>
            </a:r>
            <a:r>
              <a:rPr kumimoji="1" lang="ja-JP" altLang="en-US" dirty="0"/>
              <a:t>・ブラックボックステスト技法</a:t>
            </a:r>
            <a:endParaRPr kumimoji="1" lang="en-US" altLang="ja-JP" dirty="0"/>
          </a:p>
          <a:p>
            <a:r>
              <a:rPr kumimoji="1" lang="ja-JP" altLang="en-US" dirty="0"/>
              <a:t>　　　・ホワイトボックステスト技法</a:t>
            </a:r>
            <a:endParaRPr kumimoji="1" lang="en-US" altLang="ja-JP" dirty="0"/>
          </a:p>
          <a:p>
            <a:r>
              <a:rPr lang="ja-JP" altLang="en-US" dirty="0"/>
              <a:t>　　　・経験ベースのテスト技法</a:t>
            </a:r>
            <a:endParaRPr kumimoji="1" lang="en-US" altLang="ja-JP" dirty="0"/>
          </a:p>
          <a:p>
            <a:endParaRPr kumimoji="1" lang="en-US" altLang="ja-JP" dirty="0"/>
          </a:p>
          <a:p>
            <a:r>
              <a:rPr kumimoji="1" lang="ja-JP" altLang="en-US" dirty="0">
                <a:solidFill>
                  <a:schemeClr val="bg1">
                    <a:lumMod val="75000"/>
                  </a:schemeClr>
                </a:solidFill>
              </a:rPr>
              <a:t>■</a:t>
            </a:r>
            <a:r>
              <a:rPr lang="ja-JP" altLang="en-US" dirty="0">
                <a:solidFill>
                  <a:schemeClr val="bg1">
                    <a:lumMod val="75000"/>
                  </a:schemeClr>
                </a:solidFill>
              </a:rPr>
              <a:t>単体テストの実施方法</a:t>
            </a:r>
            <a:endParaRPr lang="en-US" altLang="ja-JP" dirty="0">
              <a:solidFill>
                <a:schemeClr val="bg1">
                  <a:lumMod val="75000"/>
                </a:schemeClr>
              </a:solidFill>
            </a:endParaRPr>
          </a:p>
        </p:txBody>
      </p:sp>
      <p:sp>
        <p:nvSpPr>
          <p:cNvPr id="5" name="コンテンツ プレースホルダー 2">
            <a:extLst>
              <a:ext uri="{FF2B5EF4-FFF2-40B4-BE49-F238E27FC236}">
                <a16:creationId xmlns:a16="http://schemas.microsoft.com/office/drawing/2014/main" id="{98F32C6C-A6AD-0FEA-0D4D-DFC1C6FE7E09}"/>
              </a:ext>
            </a:extLst>
          </p:cNvPr>
          <p:cNvSpPr txBox="1">
            <a:spLocks/>
          </p:cNvSpPr>
          <p:nvPr/>
        </p:nvSpPr>
        <p:spPr>
          <a:xfrm>
            <a:off x="371474" y="1012800"/>
            <a:ext cx="11448000" cy="258577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u="sng" dirty="0">
                <a:solidFill>
                  <a:schemeClr val="tx1"/>
                </a:solidFill>
              </a:rPr>
              <a:t>単体テスト</a:t>
            </a:r>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p:txBody>
      </p:sp>
      <p:sp>
        <p:nvSpPr>
          <p:cNvPr id="8" name="正方形/長方形 7">
            <a:extLst>
              <a:ext uri="{FF2B5EF4-FFF2-40B4-BE49-F238E27FC236}">
                <a16:creationId xmlns:a16="http://schemas.microsoft.com/office/drawing/2014/main" id="{837CF1E9-6EF5-0DD4-E566-E84C99F77649}"/>
              </a:ext>
            </a:extLst>
          </p:cNvPr>
          <p:cNvSpPr/>
          <p:nvPr/>
        </p:nvSpPr>
        <p:spPr>
          <a:xfrm flipV="1">
            <a:off x="681135" y="3615488"/>
            <a:ext cx="5980922" cy="1649178"/>
          </a:xfrm>
          <a:prstGeom prst="rect">
            <a:avLst/>
          </a:prstGeom>
          <a:noFill/>
          <a:ln w="28575">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Tree>
    <p:extLst>
      <p:ext uri="{BB962C8B-B14F-4D97-AF65-F5344CB8AC3E}">
        <p14:creationId xmlns:p14="http://schemas.microsoft.com/office/powerpoint/2010/main" val="281935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FAD2F-172C-C865-A503-E7C0800C7152}"/>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2C5A97F-6BC9-5CB9-3B75-E43DCACD86E5}"/>
              </a:ext>
            </a:extLst>
          </p:cNvPr>
          <p:cNvSpPr>
            <a:spLocks noGrp="1"/>
          </p:cNvSpPr>
          <p:nvPr>
            <p:ph sz="quarter" idx="4294967295"/>
          </p:nvPr>
        </p:nvSpPr>
        <p:spPr>
          <a:xfrm>
            <a:off x="371474" y="1012800"/>
            <a:ext cx="11448000" cy="2585775"/>
          </a:xfrm>
        </p:spPr>
        <p:txBody>
          <a:bodyPr/>
          <a:lstStyle/>
          <a:p>
            <a:r>
              <a:rPr kumimoji="1" lang="ja-JP" altLang="en-US" u="sng" dirty="0">
                <a:solidFill>
                  <a:schemeClr val="tx1"/>
                </a:solidFill>
              </a:rPr>
              <a:t>ブラックボックステスト技法</a:t>
            </a:r>
            <a:endParaRPr kumimoji="1" lang="en-US" altLang="ja-JP" dirty="0">
              <a:solidFill>
                <a:schemeClr val="tx1"/>
              </a:solidFill>
            </a:endParaRPr>
          </a:p>
          <a:p>
            <a:r>
              <a:rPr kumimoji="1" lang="ja-JP" altLang="en-US" dirty="0">
                <a:solidFill>
                  <a:schemeClr val="tx1"/>
                </a:solidFill>
              </a:rPr>
              <a:t>テスト対象の内部構造を考慮せずに、振る舞いを検証するテスト技法</a:t>
            </a:r>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p:txBody>
      </p:sp>
      <p:sp>
        <p:nvSpPr>
          <p:cNvPr id="2" name="タイトル 1">
            <a:extLst>
              <a:ext uri="{FF2B5EF4-FFF2-40B4-BE49-F238E27FC236}">
                <a16:creationId xmlns:a16="http://schemas.microsoft.com/office/drawing/2014/main" id="{E1B7439C-7CCD-8A8A-649E-80E51A5B8E4A}"/>
              </a:ext>
            </a:extLst>
          </p:cNvPr>
          <p:cNvSpPr>
            <a:spLocks noGrp="1"/>
          </p:cNvSpPr>
          <p:nvPr>
            <p:ph type="title"/>
          </p:nvPr>
        </p:nvSpPr>
        <p:spPr/>
        <p:txBody>
          <a:bodyPr anchor="ctr"/>
          <a:lstStyle/>
          <a:p>
            <a:r>
              <a:rPr lang="ja-JP" altLang="en-US" dirty="0"/>
              <a:t>テスト技法 </a:t>
            </a:r>
            <a:r>
              <a:rPr lang="en-US" altLang="ja-JP" dirty="0"/>
              <a:t>– </a:t>
            </a:r>
            <a:r>
              <a:rPr lang="ja-JP" altLang="en-US" dirty="0"/>
              <a:t>ブラックボックステスト技法 </a:t>
            </a:r>
            <a:r>
              <a:rPr lang="en-US" altLang="ja-JP" dirty="0"/>
              <a:t>–</a:t>
            </a:r>
            <a:endParaRPr kumimoji="1" lang="ja-JP" altLang="en-US" dirty="0"/>
          </a:p>
        </p:txBody>
      </p:sp>
      <p:sp>
        <p:nvSpPr>
          <p:cNvPr id="66" name="直方体 65">
            <a:extLst>
              <a:ext uri="{FF2B5EF4-FFF2-40B4-BE49-F238E27FC236}">
                <a16:creationId xmlns:a16="http://schemas.microsoft.com/office/drawing/2014/main" id="{E820222A-A2B6-B803-2E4A-D65A8BCE8F7E}"/>
              </a:ext>
            </a:extLst>
          </p:cNvPr>
          <p:cNvSpPr/>
          <p:nvPr/>
        </p:nvSpPr>
        <p:spPr>
          <a:xfrm>
            <a:off x="3885452" y="1942848"/>
            <a:ext cx="3433666" cy="1492898"/>
          </a:xfrm>
          <a:prstGeom prst="cube">
            <a:avLst/>
          </a:prstGeom>
          <a:solidFill>
            <a:schemeClr val="tx1"/>
          </a:solidFill>
          <a:ln w="3175">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テスト対象</a:t>
            </a:r>
          </a:p>
        </p:txBody>
      </p:sp>
      <p:sp>
        <p:nvSpPr>
          <p:cNvPr id="76" name="矢印: 右 75">
            <a:extLst>
              <a:ext uri="{FF2B5EF4-FFF2-40B4-BE49-F238E27FC236}">
                <a16:creationId xmlns:a16="http://schemas.microsoft.com/office/drawing/2014/main" id="{2FC9D0F1-3F42-8C19-9B10-4AC36DCA72B8}"/>
              </a:ext>
            </a:extLst>
          </p:cNvPr>
          <p:cNvSpPr/>
          <p:nvPr/>
        </p:nvSpPr>
        <p:spPr>
          <a:xfrm>
            <a:off x="3222669" y="2454210"/>
            <a:ext cx="540000" cy="568907"/>
          </a:xfrm>
          <a:prstGeom prst="rightArrow">
            <a:avLst/>
          </a:prstGeom>
          <a:solidFill>
            <a:srgbClr val="FFC000"/>
          </a:solidFill>
          <a:ln w="3175">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7" name="矢印: 右 76">
            <a:extLst>
              <a:ext uri="{FF2B5EF4-FFF2-40B4-BE49-F238E27FC236}">
                <a16:creationId xmlns:a16="http://schemas.microsoft.com/office/drawing/2014/main" id="{D7BFB984-856B-1D97-7CDC-D3B90601262D}"/>
              </a:ext>
            </a:extLst>
          </p:cNvPr>
          <p:cNvSpPr/>
          <p:nvPr/>
        </p:nvSpPr>
        <p:spPr>
          <a:xfrm>
            <a:off x="7457554" y="2454210"/>
            <a:ext cx="540000" cy="568907"/>
          </a:xfrm>
          <a:prstGeom prst="rightArrow">
            <a:avLst/>
          </a:prstGeom>
          <a:solidFill>
            <a:srgbClr val="FFC000"/>
          </a:solidFill>
          <a:ln w="3175">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8" name="正方形/長方形 77">
            <a:extLst>
              <a:ext uri="{FF2B5EF4-FFF2-40B4-BE49-F238E27FC236}">
                <a16:creationId xmlns:a16="http://schemas.microsoft.com/office/drawing/2014/main" id="{7BDF4D70-C27A-45FF-71E9-10C40A01976A}"/>
              </a:ext>
            </a:extLst>
          </p:cNvPr>
          <p:cNvSpPr/>
          <p:nvPr/>
        </p:nvSpPr>
        <p:spPr>
          <a:xfrm>
            <a:off x="1653643" y="2239749"/>
            <a:ext cx="1446244" cy="1188747"/>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a:t>
            </a:r>
            <a:endParaRPr kumimoji="1" lang="ja-JP" altLang="en-US" sz="1400" dirty="0">
              <a:solidFill>
                <a:schemeClr val="tx1"/>
              </a:solidFill>
            </a:endParaRPr>
          </a:p>
        </p:txBody>
      </p:sp>
      <p:sp>
        <p:nvSpPr>
          <p:cNvPr id="79" name="テキスト ボックス 78">
            <a:extLst>
              <a:ext uri="{FF2B5EF4-FFF2-40B4-BE49-F238E27FC236}">
                <a16:creationId xmlns:a16="http://schemas.microsoft.com/office/drawing/2014/main" id="{C16A014E-8491-1E50-5D36-D869C9573AD0}"/>
              </a:ext>
            </a:extLst>
          </p:cNvPr>
          <p:cNvSpPr txBox="1"/>
          <p:nvPr/>
        </p:nvSpPr>
        <p:spPr>
          <a:xfrm>
            <a:off x="1653643" y="1935599"/>
            <a:ext cx="1446244" cy="304151"/>
          </a:xfrm>
          <a:prstGeom prst="rect">
            <a:avLst/>
          </a:prstGeom>
          <a:noFill/>
          <a:ln>
            <a:solidFill>
              <a:schemeClr val="tx1"/>
            </a:solidFill>
          </a:ln>
        </p:spPr>
        <p:txBody>
          <a:bodyPr wrap="square" lIns="0" rIns="0" rtlCol="0">
            <a:noAutofit/>
          </a:bodyPr>
          <a:lstStyle/>
          <a:p>
            <a:pPr algn="ctr" defTabSz="288000"/>
            <a:r>
              <a:rPr kumimoji="1" lang="ja-JP" altLang="en-US" sz="1400" dirty="0">
                <a:latin typeface="+mn-ea"/>
              </a:rPr>
              <a:t>入力</a:t>
            </a:r>
          </a:p>
        </p:txBody>
      </p:sp>
      <p:sp>
        <p:nvSpPr>
          <p:cNvPr id="80" name="正方形/長方形 79">
            <a:extLst>
              <a:ext uri="{FF2B5EF4-FFF2-40B4-BE49-F238E27FC236}">
                <a16:creationId xmlns:a16="http://schemas.microsoft.com/office/drawing/2014/main" id="{6B7EB9AB-BA08-F8E2-8ECC-7059BBAE6DEA}"/>
              </a:ext>
            </a:extLst>
          </p:cNvPr>
          <p:cNvSpPr/>
          <p:nvPr/>
        </p:nvSpPr>
        <p:spPr>
          <a:xfrm>
            <a:off x="8071359" y="2245572"/>
            <a:ext cx="1446244" cy="1188747"/>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a:t>
            </a:r>
          </a:p>
        </p:txBody>
      </p:sp>
      <p:sp>
        <p:nvSpPr>
          <p:cNvPr id="81" name="テキスト ボックス 80">
            <a:extLst>
              <a:ext uri="{FF2B5EF4-FFF2-40B4-BE49-F238E27FC236}">
                <a16:creationId xmlns:a16="http://schemas.microsoft.com/office/drawing/2014/main" id="{13DE880A-7E92-0807-879A-D7954BC57AA1}"/>
              </a:ext>
            </a:extLst>
          </p:cNvPr>
          <p:cNvSpPr txBox="1"/>
          <p:nvPr/>
        </p:nvSpPr>
        <p:spPr>
          <a:xfrm>
            <a:off x="8071359" y="1941422"/>
            <a:ext cx="1446244" cy="304151"/>
          </a:xfrm>
          <a:prstGeom prst="rect">
            <a:avLst/>
          </a:prstGeom>
          <a:noFill/>
          <a:ln>
            <a:solidFill>
              <a:schemeClr val="tx1"/>
            </a:solidFill>
          </a:ln>
        </p:spPr>
        <p:txBody>
          <a:bodyPr wrap="square" lIns="0" rIns="0" rtlCol="0">
            <a:noAutofit/>
          </a:bodyPr>
          <a:lstStyle/>
          <a:p>
            <a:pPr algn="ctr" defTabSz="288000"/>
            <a:r>
              <a:rPr lang="ja-JP" altLang="en-US" sz="1400" dirty="0">
                <a:latin typeface="+mn-ea"/>
              </a:rPr>
              <a:t>出</a:t>
            </a:r>
            <a:r>
              <a:rPr kumimoji="1" lang="ja-JP" altLang="en-US" sz="1400" dirty="0">
                <a:latin typeface="+mn-ea"/>
              </a:rPr>
              <a:t>力</a:t>
            </a:r>
          </a:p>
        </p:txBody>
      </p:sp>
      <p:sp>
        <p:nvSpPr>
          <p:cNvPr id="8" name="四角形: 角を丸くする 7">
            <a:extLst>
              <a:ext uri="{FF2B5EF4-FFF2-40B4-BE49-F238E27FC236}">
                <a16:creationId xmlns:a16="http://schemas.microsoft.com/office/drawing/2014/main" id="{6A65D5A7-3A42-22DE-5713-34D5A23935E3}"/>
              </a:ext>
            </a:extLst>
          </p:cNvPr>
          <p:cNvSpPr/>
          <p:nvPr/>
        </p:nvSpPr>
        <p:spPr>
          <a:xfrm>
            <a:off x="9243238" y="825255"/>
            <a:ext cx="2729023" cy="730800"/>
          </a:xfrm>
          <a:prstGeom prst="roundRect">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2000" b="1" u="sng" dirty="0">
                <a:solidFill>
                  <a:schemeClr val="tx1"/>
                </a:solidFill>
              </a:rPr>
              <a:t>仕様</a:t>
            </a:r>
            <a:r>
              <a:rPr kumimoji="1" lang="ja-JP" altLang="en-US" sz="2000" b="1" u="sng" dirty="0">
                <a:solidFill>
                  <a:schemeClr val="tx1"/>
                </a:solidFill>
              </a:rPr>
              <a:t>ベース</a:t>
            </a:r>
            <a:r>
              <a:rPr kumimoji="1" lang="ja-JP" altLang="en-US" dirty="0">
                <a:solidFill>
                  <a:schemeClr val="tx1"/>
                </a:solidFill>
              </a:rPr>
              <a:t>のテスト技法</a:t>
            </a:r>
          </a:p>
        </p:txBody>
      </p:sp>
      <p:sp>
        <p:nvSpPr>
          <p:cNvPr id="11" name="テキスト ボックス 10">
            <a:extLst>
              <a:ext uri="{FF2B5EF4-FFF2-40B4-BE49-F238E27FC236}">
                <a16:creationId xmlns:a16="http://schemas.microsoft.com/office/drawing/2014/main" id="{D2300029-F6F5-45FB-CCE7-6CB6916D2C7B}"/>
              </a:ext>
            </a:extLst>
          </p:cNvPr>
          <p:cNvSpPr txBox="1"/>
          <p:nvPr/>
        </p:nvSpPr>
        <p:spPr>
          <a:xfrm>
            <a:off x="365175" y="3719185"/>
            <a:ext cx="11607085" cy="2585323"/>
          </a:xfrm>
          <a:prstGeom prst="rect">
            <a:avLst/>
          </a:prstGeom>
          <a:noFill/>
        </p:spPr>
        <p:txBody>
          <a:bodyPr wrap="square">
            <a:spAutoFit/>
          </a:bodyPr>
          <a:lstStyle/>
          <a:p>
            <a:r>
              <a:rPr lang="ja-JP" altLang="en-US" dirty="0">
                <a:solidFill>
                  <a:schemeClr val="tx1"/>
                </a:solidFill>
              </a:rPr>
              <a:t>■種類</a:t>
            </a:r>
            <a:endParaRPr lang="en-US" altLang="ja-JP" dirty="0">
              <a:solidFill>
                <a:schemeClr val="tx1"/>
              </a:solidFill>
            </a:endParaRPr>
          </a:p>
          <a:p>
            <a:r>
              <a:rPr lang="ja-JP" altLang="en-US" dirty="0"/>
              <a:t>　</a:t>
            </a:r>
            <a:r>
              <a:rPr lang="ja-JP" altLang="en-US" dirty="0">
                <a:solidFill>
                  <a:schemeClr val="tx1"/>
                </a:solidFill>
              </a:rPr>
              <a:t>・同値分割法</a:t>
            </a:r>
            <a:endParaRPr lang="en-US" altLang="ja-JP" dirty="0"/>
          </a:p>
          <a:p>
            <a:r>
              <a:rPr lang="ja-JP" altLang="en-US" dirty="0">
                <a:solidFill>
                  <a:schemeClr val="tx1"/>
                </a:solidFill>
              </a:rPr>
              <a:t>　　　　入力値を同値クラス（</a:t>
            </a:r>
            <a:r>
              <a:rPr lang="ja-JP" altLang="en-US" dirty="0">
                <a:solidFill>
                  <a:schemeClr val="tx1"/>
                </a:solidFill>
                <a:latin typeface="__Inter_a184c8"/>
              </a:rPr>
              <a:t>テスト対象にて</a:t>
            </a:r>
            <a:r>
              <a:rPr lang="ja-JP" altLang="en-US" b="0" i="0" dirty="0">
                <a:solidFill>
                  <a:schemeClr val="tx1"/>
                </a:solidFill>
                <a:effectLst/>
                <a:latin typeface="__Inter_a184c8"/>
              </a:rPr>
              <a:t>同じ</a:t>
            </a:r>
            <a:r>
              <a:rPr lang="ja-JP" altLang="en-US" b="0" i="0" dirty="0">
                <a:effectLst/>
                <a:latin typeface="__Inter_a184c8"/>
              </a:rPr>
              <a:t>挙動</a:t>
            </a:r>
            <a:r>
              <a:rPr lang="ja-JP" altLang="en-US" b="0" i="0" dirty="0">
                <a:solidFill>
                  <a:schemeClr val="tx1"/>
                </a:solidFill>
                <a:effectLst/>
                <a:latin typeface="__Inter_a184c8"/>
              </a:rPr>
              <a:t>となる入力値のグループ</a:t>
            </a:r>
            <a:r>
              <a:rPr lang="ja-JP" altLang="en-US" dirty="0">
                <a:solidFill>
                  <a:schemeClr val="tx1"/>
                </a:solidFill>
              </a:rPr>
              <a:t>）に分割し、代表値を選んでテストを行う技法</a:t>
            </a:r>
            <a:endParaRPr lang="en-US" altLang="ja-JP" dirty="0">
              <a:solidFill>
                <a:schemeClr val="tx1"/>
              </a:solidFill>
            </a:endParaRPr>
          </a:p>
          <a:p>
            <a:r>
              <a:rPr lang="ja-JP" altLang="en-US" dirty="0">
                <a:solidFill>
                  <a:schemeClr val="tx1"/>
                </a:solidFill>
              </a:rPr>
              <a:t>　・境界値分析</a:t>
            </a:r>
            <a:endParaRPr lang="en-US" altLang="ja-JP" dirty="0">
              <a:solidFill>
                <a:schemeClr val="tx1"/>
              </a:solidFill>
            </a:endParaRPr>
          </a:p>
          <a:p>
            <a:r>
              <a:rPr lang="ja-JP" altLang="en-US" dirty="0">
                <a:solidFill>
                  <a:schemeClr val="tx1"/>
                </a:solidFill>
              </a:rPr>
              <a:t>　　　　各同値クラスに対して、その</a:t>
            </a:r>
            <a:r>
              <a:rPr lang="ja-JP" altLang="en-US" b="0" i="0" dirty="0">
                <a:solidFill>
                  <a:schemeClr val="tx1"/>
                </a:solidFill>
                <a:effectLst/>
                <a:latin typeface="__Inter_a184c8"/>
              </a:rPr>
              <a:t>境界値（範囲の端にある値）をテストする</a:t>
            </a:r>
            <a:r>
              <a:rPr lang="ja-JP" altLang="en-US" dirty="0">
                <a:latin typeface="__Inter_a184c8"/>
              </a:rPr>
              <a:t>技法</a:t>
            </a:r>
            <a:endParaRPr lang="en-US" altLang="ja-JP" dirty="0">
              <a:solidFill>
                <a:schemeClr val="tx1"/>
              </a:solidFill>
            </a:endParaRPr>
          </a:p>
          <a:p>
            <a:r>
              <a:rPr lang="ja-JP" altLang="en-US" dirty="0">
                <a:solidFill>
                  <a:schemeClr val="tx1"/>
                </a:solidFill>
              </a:rPr>
              <a:t>　・ディシジョンテーブルテスト</a:t>
            </a:r>
            <a:endParaRPr lang="en-US" altLang="ja-JP" dirty="0">
              <a:solidFill>
                <a:schemeClr val="tx1"/>
              </a:solidFill>
            </a:endParaRPr>
          </a:p>
          <a:p>
            <a:r>
              <a:rPr lang="ja-JP" altLang="en-US" dirty="0">
                <a:solidFill>
                  <a:schemeClr val="tx1"/>
                </a:solidFill>
              </a:rPr>
              <a:t>　　　　ディシジョンテーブル（条件とアクションの組み合わせを示す表）を利用して仕様を整理し、ビジネスルールを網羅する技法</a:t>
            </a:r>
            <a:endParaRPr lang="en-US" altLang="ja-JP" dirty="0">
              <a:solidFill>
                <a:schemeClr val="tx1"/>
              </a:solidFill>
            </a:endParaRPr>
          </a:p>
          <a:p>
            <a:r>
              <a:rPr lang="ja-JP" altLang="en-US" dirty="0"/>
              <a:t>　</a:t>
            </a:r>
            <a:r>
              <a:rPr lang="ja-JP" altLang="en-US" dirty="0">
                <a:solidFill>
                  <a:schemeClr val="tx1"/>
                </a:solidFill>
              </a:rPr>
              <a:t>・状態遷移テスト</a:t>
            </a:r>
            <a:endParaRPr lang="en-US" altLang="ja-JP" dirty="0">
              <a:solidFill>
                <a:schemeClr val="tx1"/>
              </a:solidFill>
            </a:endParaRPr>
          </a:p>
          <a:p>
            <a:r>
              <a:rPr lang="ja-JP" altLang="en-US" b="0" i="0" dirty="0">
                <a:solidFill>
                  <a:schemeClr val="tx1"/>
                </a:solidFill>
                <a:effectLst/>
                <a:latin typeface="__Inter_a184c8"/>
              </a:rPr>
              <a:t>　　　　システムが取りうる状態とその遷移をモデル化して、複数の状態間の遷移を網羅したテスト項目を作成する技法</a:t>
            </a:r>
          </a:p>
        </p:txBody>
      </p:sp>
    </p:spTree>
    <p:extLst>
      <p:ext uri="{BB962C8B-B14F-4D97-AF65-F5344CB8AC3E}">
        <p14:creationId xmlns:p14="http://schemas.microsoft.com/office/powerpoint/2010/main" val="983753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F0400-6D42-F4F2-18AD-0414EC95AABB}"/>
            </a:ext>
          </a:extLst>
        </p:cNvPr>
        <p:cNvGrpSpPr/>
        <p:nvPr/>
      </p:nvGrpSpPr>
      <p:grpSpPr>
        <a:xfrm>
          <a:off x="0" y="0"/>
          <a:ext cx="0" cy="0"/>
          <a:chOff x="0" y="0"/>
          <a:chExt cx="0" cy="0"/>
        </a:xfrm>
      </p:grpSpPr>
      <p:pic>
        <p:nvPicPr>
          <p:cNvPr id="20" name="図 19" descr="グラフィカル ユーザー インターフェイス, テキスト, アプリケーション, メール&#10;&#10;AI によって生成されたコンテンツは間違っている可能性があります。">
            <a:extLst>
              <a:ext uri="{FF2B5EF4-FFF2-40B4-BE49-F238E27FC236}">
                <a16:creationId xmlns:a16="http://schemas.microsoft.com/office/drawing/2014/main" id="{12923839-DA52-71F6-045E-2FFD2CA1CE31}"/>
              </a:ext>
            </a:extLst>
          </p:cNvPr>
          <p:cNvPicPr>
            <a:picLocks noChangeAspect="1"/>
          </p:cNvPicPr>
          <p:nvPr/>
        </p:nvPicPr>
        <p:blipFill>
          <a:blip r:embed="rId2"/>
          <a:srcRect l="1" t="11228" r="57566" b="41224"/>
          <a:stretch/>
        </p:blipFill>
        <p:spPr>
          <a:xfrm>
            <a:off x="374988" y="2699144"/>
            <a:ext cx="4694623" cy="3260767"/>
          </a:xfrm>
          <a:prstGeom prst="rect">
            <a:avLst/>
          </a:prstGeom>
        </p:spPr>
      </p:pic>
      <p:sp>
        <p:nvSpPr>
          <p:cNvPr id="2" name="タイトル 1">
            <a:extLst>
              <a:ext uri="{FF2B5EF4-FFF2-40B4-BE49-F238E27FC236}">
                <a16:creationId xmlns:a16="http://schemas.microsoft.com/office/drawing/2014/main" id="{6DC2C298-22D5-7444-FA5F-F25535C3415B}"/>
              </a:ext>
            </a:extLst>
          </p:cNvPr>
          <p:cNvSpPr>
            <a:spLocks noGrp="1"/>
          </p:cNvSpPr>
          <p:nvPr>
            <p:ph type="title"/>
          </p:nvPr>
        </p:nvSpPr>
        <p:spPr/>
        <p:txBody>
          <a:bodyPr/>
          <a:lstStyle/>
          <a:p>
            <a:r>
              <a:rPr kumimoji="1" lang="ja-JP" altLang="en-US" dirty="0"/>
              <a:t>ブラックボックステスト：同値分割法</a:t>
            </a:r>
          </a:p>
        </p:txBody>
      </p:sp>
      <p:sp>
        <p:nvSpPr>
          <p:cNvPr id="3" name="コンテンツ プレースホルダー 2">
            <a:extLst>
              <a:ext uri="{FF2B5EF4-FFF2-40B4-BE49-F238E27FC236}">
                <a16:creationId xmlns:a16="http://schemas.microsoft.com/office/drawing/2014/main" id="{164A57A4-FEEB-204D-D633-B23411417961}"/>
              </a:ext>
            </a:extLst>
          </p:cNvPr>
          <p:cNvSpPr>
            <a:spLocks noGrp="1"/>
          </p:cNvSpPr>
          <p:nvPr>
            <p:ph sz="quarter" idx="10"/>
          </p:nvPr>
        </p:nvSpPr>
        <p:spPr>
          <a:xfrm>
            <a:off x="371474" y="1038386"/>
            <a:ext cx="11448000" cy="5196814"/>
          </a:xfrm>
        </p:spPr>
        <p:txBody>
          <a:bodyPr/>
          <a:lstStyle/>
          <a:p>
            <a:r>
              <a:rPr lang="ja-JP" altLang="en-US" u="sng" dirty="0">
                <a:solidFill>
                  <a:schemeClr val="tx1"/>
                </a:solidFill>
              </a:rPr>
              <a:t>同値分割法</a:t>
            </a:r>
            <a:endParaRPr lang="en-US" altLang="ja-JP" u="sng" dirty="0"/>
          </a:p>
          <a:p>
            <a:r>
              <a:rPr lang="ja-JP" altLang="en-US" dirty="0">
                <a:solidFill>
                  <a:schemeClr val="tx1"/>
                </a:solidFill>
              </a:rPr>
              <a:t>入力値を</a:t>
            </a:r>
            <a:r>
              <a:rPr lang="ja-JP" altLang="en-US" sz="2000" b="1" dirty="0">
                <a:solidFill>
                  <a:schemeClr val="tx1"/>
                </a:solidFill>
              </a:rPr>
              <a:t>同値クラス</a:t>
            </a:r>
            <a:r>
              <a:rPr lang="ja-JP" altLang="en-US" dirty="0">
                <a:solidFill>
                  <a:schemeClr val="tx1"/>
                </a:solidFill>
              </a:rPr>
              <a:t>（</a:t>
            </a:r>
            <a:r>
              <a:rPr lang="ja-JP" altLang="en-US" dirty="0">
                <a:solidFill>
                  <a:schemeClr val="tx1"/>
                </a:solidFill>
                <a:latin typeface="__Inter_a184c8"/>
              </a:rPr>
              <a:t>テスト対象にて</a:t>
            </a:r>
            <a:r>
              <a:rPr lang="ja-JP" altLang="en-US" b="0" i="0" dirty="0">
                <a:solidFill>
                  <a:schemeClr val="tx1"/>
                </a:solidFill>
                <a:effectLst/>
                <a:latin typeface="__Inter_a184c8"/>
              </a:rPr>
              <a:t>同じ</a:t>
            </a:r>
            <a:r>
              <a:rPr lang="ja-JP" altLang="en-US" b="0" i="0" dirty="0">
                <a:effectLst/>
                <a:latin typeface="__Inter_a184c8"/>
              </a:rPr>
              <a:t>挙動</a:t>
            </a:r>
            <a:r>
              <a:rPr lang="ja-JP" altLang="en-US" b="0" i="0" dirty="0">
                <a:solidFill>
                  <a:schemeClr val="tx1"/>
                </a:solidFill>
                <a:effectLst/>
                <a:latin typeface="__Inter_a184c8"/>
              </a:rPr>
              <a:t>となる入力値のグループ</a:t>
            </a:r>
            <a:r>
              <a:rPr lang="ja-JP" altLang="en-US" dirty="0">
                <a:solidFill>
                  <a:schemeClr val="tx1"/>
                </a:solidFill>
              </a:rPr>
              <a:t>）に分割し、</a:t>
            </a:r>
            <a:r>
              <a:rPr lang="ja-JP" altLang="en-US" sz="2000" b="1" dirty="0">
                <a:solidFill>
                  <a:schemeClr val="tx1"/>
                </a:solidFill>
              </a:rPr>
              <a:t>代表値</a:t>
            </a:r>
            <a:r>
              <a:rPr lang="ja-JP" altLang="en-US" dirty="0">
                <a:solidFill>
                  <a:schemeClr val="tx1"/>
                </a:solidFill>
              </a:rPr>
              <a:t>を選んで</a:t>
            </a:r>
            <a:r>
              <a:rPr lang="ja-JP" altLang="en-US" b="0" i="0" dirty="0">
                <a:solidFill>
                  <a:schemeClr val="tx1"/>
                </a:solidFill>
                <a:effectLst/>
                <a:latin typeface="__Inter_a184c8"/>
              </a:rPr>
              <a:t>テスト項目やテストケースを作成する</a:t>
            </a:r>
            <a:r>
              <a:rPr lang="ja-JP" altLang="en-US" dirty="0">
                <a:latin typeface="__Inter_a184c8"/>
              </a:rPr>
              <a:t>技法</a:t>
            </a:r>
            <a:endParaRPr lang="en-US" altLang="ja-JP" dirty="0">
              <a:solidFill>
                <a:schemeClr val="tx1"/>
              </a:solidFill>
            </a:endParaRPr>
          </a:p>
          <a:p>
            <a:endParaRPr kumimoji="1" lang="en-US" altLang="ja-JP" dirty="0"/>
          </a:p>
          <a:p>
            <a:r>
              <a:rPr lang="ja-JP" altLang="en-US" dirty="0"/>
              <a:t>例）</a:t>
            </a:r>
            <a:endParaRPr kumimoji="1" lang="ja-JP" altLang="en-US" dirty="0"/>
          </a:p>
        </p:txBody>
      </p:sp>
      <p:cxnSp>
        <p:nvCxnSpPr>
          <p:cNvPr id="27" name="直線矢印コネクタ 26">
            <a:extLst>
              <a:ext uri="{FF2B5EF4-FFF2-40B4-BE49-F238E27FC236}">
                <a16:creationId xmlns:a16="http://schemas.microsoft.com/office/drawing/2014/main" id="{DBD74B6A-3094-06C8-9071-397A6F66570E}"/>
              </a:ext>
            </a:extLst>
          </p:cNvPr>
          <p:cNvCxnSpPr>
            <a:cxnSpLocks/>
          </p:cNvCxnSpPr>
          <p:nvPr/>
        </p:nvCxnSpPr>
        <p:spPr>
          <a:xfrm flipV="1">
            <a:off x="3497801" y="3552825"/>
            <a:ext cx="2203975" cy="836683"/>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FC5D2C5C-4BE8-135C-34C8-B7D2B80CC85F}"/>
              </a:ext>
            </a:extLst>
          </p:cNvPr>
          <p:cNvSpPr txBox="1"/>
          <p:nvPr/>
        </p:nvSpPr>
        <p:spPr>
          <a:xfrm>
            <a:off x="5944512" y="3294848"/>
            <a:ext cx="4012163" cy="447542"/>
          </a:xfrm>
          <a:prstGeom prst="rect">
            <a:avLst/>
          </a:prstGeom>
          <a:noFill/>
        </p:spPr>
        <p:txBody>
          <a:bodyPr wrap="square" lIns="0" rIns="0" rtlCol="0">
            <a:noAutofit/>
          </a:bodyPr>
          <a:lstStyle/>
          <a:p>
            <a:pPr algn="l" defTabSz="288000"/>
            <a:r>
              <a:rPr kumimoji="1" lang="ja-JP" altLang="en-US" dirty="0">
                <a:latin typeface="+mn-ea"/>
              </a:rPr>
              <a:t>「</a:t>
            </a:r>
            <a:r>
              <a:rPr lang="ja-JP" altLang="en-US" dirty="0">
                <a:latin typeface="+mn-ea"/>
              </a:rPr>
              <a:t>開始日</a:t>
            </a:r>
            <a:r>
              <a:rPr kumimoji="1" lang="ja-JP" altLang="en-US" dirty="0">
                <a:latin typeface="+mn-ea"/>
              </a:rPr>
              <a:t>」を同値分割する場合</a:t>
            </a:r>
            <a:r>
              <a:rPr lang="ja-JP" altLang="en-US" dirty="0">
                <a:latin typeface="+mn-ea"/>
              </a:rPr>
              <a:t>の例</a:t>
            </a:r>
            <a:endParaRPr kumimoji="1" lang="en-US" altLang="ja-JP" dirty="0">
              <a:latin typeface="+mn-ea"/>
            </a:endParaRPr>
          </a:p>
        </p:txBody>
      </p:sp>
      <p:sp>
        <p:nvSpPr>
          <p:cNvPr id="4" name="吹き出し: 角を丸めた四角形 3">
            <a:extLst>
              <a:ext uri="{FF2B5EF4-FFF2-40B4-BE49-F238E27FC236}">
                <a16:creationId xmlns:a16="http://schemas.microsoft.com/office/drawing/2014/main" id="{32F8F5B4-F784-9852-7A8A-ADF7748B2B36}"/>
              </a:ext>
            </a:extLst>
          </p:cNvPr>
          <p:cNvSpPr/>
          <p:nvPr/>
        </p:nvSpPr>
        <p:spPr>
          <a:xfrm>
            <a:off x="7613007" y="1923810"/>
            <a:ext cx="4358235" cy="660243"/>
          </a:xfrm>
          <a:prstGeom prst="wedgeRoundRectCallout">
            <a:avLst>
              <a:gd name="adj1" fmla="val -30269"/>
              <a:gd name="adj2" fmla="val -77869"/>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b="0" i="0" dirty="0">
                <a:solidFill>
                  <a:schemeClr val="tx1"/>
                </a:solidFill>
                <a:effectLst/>
                <a:latin typeface="__Inter_a184c8"/>
              </a:rPr>
              <a:t>同値クラスの代表値が正しく動作すれば、</a:t>
            </a:r>
            <a:endParaRPr lang="en-US" altLang="ja-JP" sz="1400" b="0" i="0" dirty="0">
              <a:solidFill>
                <a:schemeClr val="tx1"/>
              </a:solidFill>
              <a:effectLst/>
              <a:latin typeface="__Inter_a184c8"/>
            </a:endParaRPr>
          </a:p>
          <a:p>
            <a:pPr algn="ctr"/>
            <a:r>
              <a:rPr lang="ja-JP" altLang="en-US" sz="1400" b="0" i="0" dirty="0">
                <a:solidFill>
                  <a:schemeClr val="tx1"/>
                </a:solidFill>
                <a:effectLst/>
                <a:latin typeface="__Inter_a184c8"/>
              </a:rPr>
              <a:t>そのクラスに属する他の値も同じように正しく動作するはず</a:t>
            </a:r>
            <a:endParaRPr kumimoji="1" lang="ja-JP" altLang="en-US" sz="1400" dirty="0">
              <a:solidFill>
                <a:schemeClr val="tx1"/>
              </a:solidFill>
            </a:endParaRPr>
          </a:p>
        </p:txBody>
      </p:sp>
      <p:sp>
        <p:nvSpPr>
          <p:cNvPr id="29" name="四角形: 角を丸くする 28">
            <a:extLst>
              <a:ext uri="{FF2B5EF4-FFF2-40B4-BE49-F238E27FC236}">
                <a16:creationId xmlns:a16="http://schemas.microsoft.com/office/drawing/2014/main" id="{BC8065D9-EC86-7F83-802D-D25895657E16}"/>
              </a:ext>
            </a:extLst>
          </p:cNvPr>
          <p:cNvSpPr/>
          <p:nvPr/>
        </p:nvSpPr>
        <p:spPr>
          <a:xfrm>
            <a:off x="9651441" y="3901266"/>
            <a:ext cx="1809750" cy="983173"/>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t"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ja-JP" altLang="en-US" sz="1400" u="sng" dirty="0">
                <a:solidFill>
                  <a:schemeClr val="tx1"/>
                </a:solidFill>
              </a:rPr>
              <a:t>有効値</a:t>
            </a:r>
            <a:endParaRPr kumimoji="1" lang="en-US" altLang="ja-JP" sz="1400" u="sng" dirty="0">
              <a:solidFill>
                <a:schemeClr val="tx1"/>
              </a:solidFill>
            </a:endParaRPr>
          </a:p>
          <a:p>
            <a:pPr algn="ctr"/>
            <a:r>
              <a:rPr kumimoji="1" lang="ja-JP" altLang="en-US" sz="1400" dirty="0">
                <a:solidFill>
                  <a:schemeClr val="tx1"/>
                </a:solidFill>
              </a:rPr>
              <a:t>早期割あり</a:t>
            </a:r>
            <a:endParaRPr kumimoji="1" lang="en-US" altLang="ja-JP" sz="1400" dirty="0">
              <a:solidFill>
                <a:schemeClr val="tx1"/>
              </a:solidFill>
            </a:endParaRPr>
          </a:p>
        </p:txBody>
      </p:sp>
      <p:sp>
        <p:nvSpPr>
          <p:cNvPr id="30" name="四角形: 角を丸くする 29">
            <a:extLst>
              <a:ext uri="{FF2B5EF4-FFF2-40B4-BE49-F238E27FC236}">
                <a16:creationId xmlns:a16="http://schemas.microsoft.com/office/drawing/2014/main" id="{1892FE3A-D2EA-66F9-3247-8697C8878B31}"/>
              </a:ext>
            </a:extLst>
          </p:cNvPr>
          <p:cNvSpPr/>
          <p:nvPr/>
        </p:nvSpPr>
        <p:spPr>
          <a:xfrm>
            <a:off x="6026173" y="3898467"/>
            <a:ext cx="1800225" cy="993860"/>
          </a:xfrm>
          <a:prstGeom prst="roundRect">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t"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ja-JP" altLang="en-US" sz="1400" u="sng" dirty="0">
                <a:solidFill>
                  <a:schemeClr val="tx1"/>
                </a:solidFill>
              </a:rPr>
              <a:t>無効値</a:t>
            </a:r>
            <a:endParaRPr kumimoji="1" lang="en-US" altLang="ja-JP" sz="1400" u="sng" dirty="0">
              <a:solidFill>
                <a:schemeClr val="tx1"/>
              </a:solidFill>
            </a:endParaRPr>
          </a:p>
          <a:p>
            <a:pPr algn="ctr"/>
            <a:r>
              <a:rPr lang="ja-JP" altLang="en-US" sz="1400" dirty="0">
                <a:solidFill>
                  <a:schemeClr val="tx1"/>
                </a:solidFill>
              </a:rPr>
              <a:t>予約不可</a:t>
            </a:r>
            <a:endParaRPr kumimoji="1" lang="ja-JP" altLang="en-US" sz="1400" dirty="0">
              <a:solidFill>
                <a:schemeClr val="tx1"/>
              </a:solidFill>
            </a:endParaRPr>
          </a:p>
        </p:txBody>
      </p:sp>
      <p:sp>
        <p:nvSpPr>
          <p:cNvPr id="33" name="四角形: 角を丸くする 32">
            <a:extLst>
              <a:ext uri="{FF2B5EF4-FFF2-40B4-BE49-F238E27FC236}">
                <a16:creationId xmlns:a16="http://schemas.microsoft.com/office/drawing/2014/main" id="{A39CFA71-E35E-F7C7-5492-D8EA3113228C}"/>
              </a:ext>
            </a:extLst>
          </p:cNvPr>
          <p:cNvSpPr/>
          <p:nvPr/>
        </p:nvSpPr>
        <p:spPr>
          <a:xfrm>
            <a:off x="7835729" y="3899678"/>
            <a:ext cx="1809750" cy="983173"/>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t"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lang="ja-JP" altLang="en-US" sz="1400" u="sng" dirty="0">
                <a:solidFill>
                  <a:schemeClr val="tx1"/>
                </a:solidFill>
              </a:rPr>
              <a:t>有効値</a:t>
            </a:r>
            <a:endParaRPr lang="en-US" altLang="ja-JP" sz="1400" u="sng" dirty="0">
              <a:solidFill>
                <a:schemeClr val="tx1"/>
              </a:solidFill>
            </a:endParaRPr>
          </a:p>
          <a:p>
            <a:pPr algn="ctr"/>
            <a:r>
              <a:rPr kumimoji="1" lang="ja-JP" altLang="en-US" sz="1400" dirty="0">
                <a:solidFill>
                  <a:schemeClr val="tx1"/>
                </a:solidFill>
              </a:rPr>
              <a:t>早期割なし</a:t>
            </a:r>
          </a:p>
        </p:txBody>
      </p:sp>
      <p:sp>
        <p:nvSpPr>
          <p:cNvPr id="34" name="楕円 33">
            <a:extLst>
              <a:ext uri="{FF2B5EF4-FFF2-40B4-BE49-F238E27FC236}">
                <a16:creationId xmlns:a16="http://schemas.microsoft.com/office/drawing/2014/main" id="{B7C06843-3FC4-B093-29BA-D382A4AEC723}"/>
              </a:ext>
            </a:extLst>
          </p:cNvPr>
          <p:cNvSpPr/>
          <p:nvPr/>
        </p:nvSpPr>
        <p:spPr>
          <a:xfrm>
            <a:off x="7775598" y="4555632"/>
            <a:ext cx="101600" cy="104775"/>
          </a:xfrm>
          <a:prstGeom prst="ellipse">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400">
              <a:solidFill>
                <a:schemeClr val="tx1"/>
              </a:solidFill>
            </a:endParaRPr>
          </a:p>
        </p:txBody>
      </p:sp>
      <p:cxnSp>
        <p:nvCxnSpPr>
          <p:cNvPr id="35" name="直線コネクタ 34">
            <a:extLst>
              <a:ext uri="{FF2B5EF4-FFF2-40B4-BE49-F238E27FC236}">
                <a16:creationId xmlns:a16="http://schemas.microsoft.com/office/drawing/2014/main" id="{38FEA26B-95F5-B286-4BFC-C03DE41BD999}"/>
              </a:ext>
            </a:extLst>
          </p:cNvPr>
          <p:cNvCxnSpPr/>
          <p:nvPr/>
        </p:nvCxnSpPr>
        <p:spPr>
          <a:xfrm>
            <a:off x="7825004" y="4048424"/>
            <a:ext cx="0" cy="21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楕円 35">
            <a:extLst>
              <a:ext uri="{FF2B5EF4-FFF2-40B4-BE49-F238E27FC236}">
                <a16:creationId xmlns:a16="http://schemas.microsoft.com/office/drawing/2014/main" id="{AF0758C9-D865-0AA2-C825-DB71AF967D0B}"/>
              </a:ext>
            </a:extLst>
          </p:cNvPr>
          <p:cNvSpPr/>
          <p:nvPr/>
        </p:nvSpPr>
        <p:spPr>
          <a:xfrm>
            <a:off x="6472114" y="5529183"/>
            <a:ext cx="720725" cy="331788"/>
          </a:xfrm>
          <a:prstGeom prst="ellipse">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en-US" altLang="ja-JP" sz="1600">
                <a:solidFill>
                  <a:schemeClr val="tx1"/>
                </a:solidFill>
              </a:rPr>
              <a:t>6/1</a:t>
            </a:r>
            <a:endParaRPr kumimoji="1" lang="ja-JP" altLang="en-US" sz="1600">
              <a:solidFill>
                <a:schemeClr val="tx1"/>
              </a:solidFill>
            </a:endParaRPr>
          </a:p>
        </p:txBody>
      </p:sp>
      <p:sp>
        <p:nvSpPr>
          <p:cNvPr id="37" name="楕円 36">
            <a:extLst>
              <a:ext uri="{FF2B5EF4-FFF2-40B4-BE49-F238E27FC236}">
                <a16:creationId xmlns:a16="http://schemas.microsoft.com/office/drawing/2014/main" id="{BBA9ACD5-3A9D-771C-974B-06DC7139CC2E}"/>
              </a:ext>
            </a:extLst>
          </p:cNvPr>
          <p:cNvSpPr/>
          <p:nvPr/>
        </p:nvSpPr>
        <p:spPr>
          <a:xfrm>
            <a:off x="8375835" y="5529183"/>
            <a:ext cx="727075" cy="323850"/>
          </a:xfrm>
          <a:prstGeom prst="ellips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en-US" altLang="ja-JP" sz="1600">
                <a:solidFill>
                  <a:schemeClr val="tx1"/>
                </a:solidFill>
              </a:rPr>
              <a:t>6/18</a:t>
            </a:r>
            <a:endParaRPr kumimoji="1" lang="ja-JP" altLang="en-US" sz="1600">
              <a:solidFill>
                <a:schemeClr val="tx1"/>
              </a:solidFill>
            </a:endParaRPr>
          </a:p>
        </p:txBody>
      </p:sp>
      <p:cxnSp>
        <p:nvCxnSpPr>
          <p:cNvPr id="38" name="直線矢印コネクタ 37">
            <a:extLst>
              <a:ext uri="{FF2B5EF4-FFF2-40B4-BE49-F238E27FC236}">
                <a16:creationId xmlns:a16="http://schemas.microsoft.com/office/drawing/2014/main" id="{E93CA11D-6D83-B2CB-77C0-C8CD8FE21BEE}"/>
              </a:ext>
            </a:extLst>
          </p:cNvPr>
          <p:cNvCxnSpPr>
            <a:cxnSpLocks/>
          </p:cNvCxnSpPr>
          <p:nvPr/>
        </p:nvCxnSpPr>
        <p:spPr>
          <a:xfrm>
            <a:off x="6159329" y="4609607"/>
            <a:ext cx="5145087"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3" name="楕円 42">
            <a:extLst>
              <a:ext uri="{FF2B5EF4-FFF2-40B4-BE49-F238E27FC236}">
                <a16:creationId xmlns:a16="http://schemas.microsoft.com/office/drawing/2014/main" id="{5B5EEEBA-49CB-1B16-66A6-BE511A6383EC}"/>
              </a:ext>
            </a:extLst>
          </p:cNvPr>
          <p:cNvSpPr/>
          <p:nvPr/>
        </p:nvSpPr>
        <p:spPr>
          <a:xfrm>
            <a:off x="9586741" y="4561982"/>
            <a:ext cx="111125" cy="104775"/>
          </a:xfrm>
          <a:prstGeom prst="ellipse">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400">
              <a:solidFill>
                <a:schemeClr val="tx1"/>
              </a:solidFill>
            </a:endParaRPr>
          </a:p>
        </p:txBody>
      </p:sp>
      <p:cxnSp>
        <p:nvCxnSpPr>
          <p:cNvPr id="44" name="直線コネクタ 43">
            <a:extLst>
              <a:ext uri="{FF2B5EF4-FFF2-40B4-BE49-F238E27FC236}">
                <a16:creationId xmlns:a16="http://schemas.microsoft.com/office/drawing/2014/main" id="{9E79130C-7EF7-FE42-CC5E-2E8569298A9B}"/>
              </a:ext>
            </a:extLst>
          </p:cNvPr>
          <p:cNvCxnSpPr/>
          <p:nvPr/>
        </p:nvCxnSpPr>
        <p:spPr>
          <a:xfrm>
            <a:off x="9642110" y="4033265"/>
            <a:ext cx="0" cy="21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楕円 44">
            <a:extLst>
              <a:ext uri="{FF2B5EF4-FFF2-40B4-BE49-F238E27FC236}">
                <a16:creationId xmlns:a16="http://schemas.microsoft.com/office/drawing/2014/main" id="{34B2A97B-FEDB-1AD8-FD73-001AC35AEE8F}"/>
              </a:ext>
            </a:extLst>
          </p:cNvPr>
          <p:cNvSpPr/>
          <p:nvPr/>
        </p:nvSpPr>
        <p:spPr>
          <a:xfrm>
            <a:off x="10288860" y="5529183"/>
            <a:ext cx="715963" cy="312738"/>
          </a:xfrm>
          <a:prstGeom prst="ellips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en-US" altLang="ja-JP" sz="1600" dirty="0">
                <a:solidFill>
                  <a:schemeClr val="tx1"/>
                </a:solidFill>
              </a:rPr>
              <a:t>7/13</a:t>
            </a:r>
            <a:endParaRPr kumimoji="1" lang="ja-JP" altLang="en-US" sz="1600" dirty="0">
              <a:solidFill>
                <a:schemeClr val="tx1"/>
              </a:solidFill>
            </a:endParaRPr>
          </a:p>
        </p:txBody>
      </p:sp>
      <p:sp>
        <p:nvSpPr>
          <p:cNvPr id="46" name="テキスト ボックス 16">
            <a:extLst>
              <a:ext uri="{FF2B5EF4-FFF2-40B4-BE49-F238E27FC236}">
                <a16:creationId xmlns:a16="http://schemas.microsoft.com/office/drawing/2014/main" id="{E0BE2522-0160-BEF2-D559-9DDE644EECA9}"/>
              </a:ext>
            </a:extLst>
          </p:cNvPr>
          <p:cNvSpPr txBox="1"/>
          <p:nvPr/>
        </p:nvSpPr>
        <p:spPr>
          <a:xfrm>
            <a:off x="8328582" y="5829439"/>
            <a:ext cx="821580" cy="32385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1100" dirty="0"/>
              <a:t>15</a:t>
            </a:r>
            <a:r>
              <a:rPr kumimoji="1" lang="ja-JP" altLang="en-US" sz="1100" dirty="0"/>
              <a:t>日後</a:t>
            </a:r>
          </a:p>
        </p:txBody>
      </p:sp>
      <p:sp>
        <p:nvSpPr>
          <p:cNvPr id="53" name="テキスト ボックス 33">
            <a:extLst>
              <a:ext uri="{FF2B5EF4-FFF2-40B4-BE49-F238E27FC236}">
                <a16:creationId xmlns:a16="http://schemas.microsoft.com/office/drawing/2014/main" id="{E2FAE6E2-D409-44EB-AF0A-81D1DAC4452C}"/>
              </a:ext>
            </a:extLst>
          </p:cNvPr>
          <p:cNvSpPr txBox="1"/>
          <p:nvPr/>
        </p:nvSpPr>
        <p:spPr>
          <a:xfrm>
            <a:off x="10348142" y="5829439"/>
            <a:ext cx="619125" cy="32385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1100" dirty="0"/>
              <a:t>40</a:t>
            </a:r>
            <a:r>
              <a:rPr kumimoji="1" lang="ja-JP" altLang="en-US" sz="1100" dirty="0"/>
              <a:t>日後</a:t>
            </a:r>
          </a:p>
        </p:txBody>
      </p:sp>
      <p:sp>
        <p:nvSpPr>
          <p:cNvPr id="54" name="テキスト ボックス 34">
            <a:extLst>
              <a:ext uri="{FF2B5EF4-FFF2-40B4-BE49-F238E27FC236}">
                <a16:creationId xmlns:a16="http://schemas.microsoft.com/office/drawing/2014/main" id="{D0CFB933-A585-5C5F-3740-EABA3ADB07BE}"/>
              </a:ext>
            </a:extLst>
          </p:cNvPr>
          <p:cNvSpPr txBox="1"/>
          <p:nvPr/>
        </p:nvSpPr>
        <p:spPr>
          <a:xfrm>
            <a:off x="6518151" y="5829439"/>
            <a:ext cx="628650" cy="32385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1100" dirty="0"/>
              <a:t>2</a:t>
            </a:r>
            <a:r>
              <a:rPr kumimoji="1" lang="ja-JP" altLang="en-US" sz="1100" dirty="0"/>
              <a:t>日前</a:t>
            </a:r>
          </a:p>
        </p:txBody>
      </p:sp>
      <p:sp>
        <p:nvSpPr>
          <p:cNvPr id="55" name="テキスト ボックス 54">
            <a:extLst>
              <a:ext uri="{FF2B5EF4-FFF2-40B4-BE49-F238E27FC236}">
                <a16:creationId xmlns:a16="http://schemas.microsoft.com/office/drawing/2014/main" id="{EE3E9D3D-ED09-B9D2-F7BC-93565A30A73B}"/>
              </a:ext>
            </a:extLst>
          </p:cNvPr>
          <p:cNvSpPr txBox="1"/>
          <p:nvPr/>
        </p:nvSpPr>
        <p:spPr>
          <a:xfrm>
            <a:off x="7881768" y="4660407"/>
            <a:ext cx="352312" cy="258569"/>
          </a:xfrm>
          <a:prstGeom prst="rect">
            <a:avLst/>
          </a:prstGeom>
          <a:noFill/>
        </p:spPr>
        <p:txBody>
          <a:bodyPr wrap="square" lIns="0" rIns="0" rtlCol="0">
            <a:noAutofit/>
          </a:bodyPr>
          <a:lstStyle/>
          <a:p>
            <a:pPr algn="l" defTabSz="288000"/>
            <a:r>
              <a:rPr kumimoji="1" lang="en-US" altLang="ja-JP" sz="1100" dirty="0">
                <a:latin typeface="+mn-ea"/>
              </a:rPr>
              <a:t>6/</a:t>
            </a:r>
            <a:r>
              <a:rPr lang="en-US" altLang="ja-JP" sz="1100" dirty="0">
                <a:latin typeface="+mn-ea"/>
              </a:rPr>
              <a:t>4</a:t>
            </a:r>
            <a:endParaRPr kumimoji="1" lang="ja-JP" altLang="en-US" sz="1100" dirty="0">
              <a:latin typeface="+mn-ea"/>
            </a:endParaRPr>
          </a:p>
        </p:txBody>
      </p:sp>
      <p:cxnSp>
        <p:nvCxnSpPr>
          <p:cNvPr id="56" name="直線コネクタ 55">
            <a:extLst>
              <a:ext uri="{FF2B5EF4-FFF2-40B4-BE49-F238E27FC236}">
                <a16:creationId xmlns:a16="http://schemas.microsoft.com/office/drawing/2014/main" id="{CCE7BB09-8CA9-02FD-6CFE-8BCCF487FC16}"/>
              </a:ext>
            </a:extLst>
          </p:cNvPr>
          <p:cNvCxnSpPr/>
          <p:nvPr/>
        </p:nvCxnSpPr>
        <p:spPr>
          <a:xfrm>
            <a:off x="7950594" y="4527639"/>
            <a:ext cx="0" cy="170006"/>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7" name="テキスト ボックス 56">
            <a:extLst>
              <a:ext uri="{FF2B5EF4-FFF2-40B4-BE49-F238E27FC236}">
                <a16:creationId xmlns:a16="http://schemas.microsoft.com/office/drawing/2014/main" id="{E469B92A-A81A-81B4-21C4-32B41FA23458}"/>
              </a:ext>
            </a:extLst>
          </p:cNvPr>
          <p:cNvSpPr txBox="1"/>
          <p:nvPr/>
        </p:nvSpPr>
        <p:spPr>
          <a:xfrm>
            <a:off x="7548234" y="4663583"/>
            <a:ext cx="352312" cy="258569"/>
          </a:xfrm>
          <a:prstGeom prst="rect">
            <a:avLst/>
          </a:prstGeom>
          <a:noFill/>
        </p:spPr>
        <p:txBody>
          <a:bodyPr wrap="square" lIns="0" rIns="0" rtlCol="0">
            <a:noAutofit/>
          </a:bodyPr>
          <a:lstStyle/>
          <a:p>
            <a:pPr algn="l" defTabSz="288000"/>
            <a:r>
              <a:rPr kumimoji="1" lang="en-US" altLang="ja-JP" sz="1100" dirty="0">
                <a:latin typeface="+mn-ea"/>
              </a:rPr>
              <a:t>6/3</a:t>
            </a:r>
            <a:endParaRPr kumimoji="1" lang="ja-JP" altLang="en-US" sz="1100" dirty="0">
              <a:latin typeface="+mn-ea"/>
            </a:endParaRPr>
          </a:p>
        </p:txBody>
      </p:sp>
      <p:cxnSp>
        <p:nvCxnSpPr>
          <p:cNvPr id="58" name="直線コネクタ 57">
            <a:extLst>
              <a:ext uri="{FF2B5EF4-FFF2-40B4-BE49-F238E27FC236}">
                <a16:creationId xmlns:a16="http://schemas.microsoft.com/office/drawing/2014/main" id="{3EC6E88D-D103-A237-AE9C-7D70E8A33E39}"/>
              </a:ext>
            </a:extLst>
          </p:cNvPr>
          <p:cNvCxnSpPr/>
          <p:nvPr/>
        </p:nvCxnSpPr>
        <p:spPr>
          <a:xfrm>
            <a:off x="7701039" y="4530815"/>
            <a:ext cx="0" cy="170006"/>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9" name="テキスト ボックス 58">
            <a:extLst>
              <a:ext uri="{FF2B5EF4-FFF2-40B4-BE49-F238E27FC236}">
                <a16:creationId xmlns:a16="http://schemas.microsoft.com/office/drawing/2014/main" id="{52C3F0E1-E449-9774-1011-6980E0974E5A}"/>
              </a:ext>
            </a:extLst>
          </p:cNvPr>
          <p:cNvSpPr txBox="1"/>
          <p:nvPr/>
        </p:nvSpPr>
        <p:spPr>
          <a:xfrm>
            <a:off x="9378357" y="4691478"/>
            <a:ext cx="352312" cy="258569"/>
          </a:xfrm>
          <a:prstGeom prst="rect">
            <a:avLst/>
          </a:prstGeom>
          <a:noFill/>
        </p:spPr>
        <p:txBody>
          <a:bodyPr wrap="square" lIns="0" rIns="0" rtlCol="0">
            <a:noAutofit/>
          </a:bodyPr>
          <a:lstStyle/>
          <a:p>
            <a:pPr algn="l" defTabSz="288000"/>
            <a:r>
              <a:rPr lang="en-US" altLang="ja-JP" sz="1100" dirty="0">
                <a:latin typeface="+mn-ea"/>
              </a:rPr>
              <a:t>7/2</a:t>
            </a:r>
            <a:endParaRPr kumimoji="1" lang="ja-JP" altLang="en-US" sz="1100" dirty="0">
              <a:latin typeface="+mn-ea"/>
            </a:endParaRPr>
          </a:p>
        </p:txBody>
      </p:sp>
      <p:cxnSp>
        <p:nvCxnSpPr>
          <p:cNvPr id="60" name="直線コネクタ 59">
            <a:extLst>
              <a:ext uri="{FF2B5EF4-FFF2-40B4-BE49-F238E27FC236}">
                <a16:creationId xmlns:a16="http://schemas.microsoft.com/office/drawing/2014/main" id="{D3F22929-3250-D44D-0BB1-5369BF5039A2}"/>
              </a:ext>
            </a:extLst>
          </p:cNvPr>
          <p:cNvCxnSpPr/>
          <p:nvPr/>
        </p:nvCxnSpPr>
        <p:spPr>
          <a:xfrm>
            <a:off x="9503169" y="4540060"/>
            <a:ext cx="0" cy="170006"/>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1" name="テキスト ボックス 60">
            <a:extLst>
              <a:ext uri="{FF2B5EF4-FFF2-40B4-BE49-F238E27FC236}">
                <a16:creationId xmlns:a16="http://schemas.microsoft.com/office/drawing/2014/main" id="{F1D2D824-0E86-3FFB-F609-1B50971FE301}"/>
              </a:ext>
            </a:extLst>
          </p:cNvPr>
          <p:cNvSpPr txBox="1"/>
          <p:nvPr/>
        </p:nvSpPr>
        <p:spPr>
          <a:xfrm>
            <a:off x="9699377" y="4694782"/>
            <a:ext cx="352312" cy="258569"/>
          </a:xfrm>
          <a:prstGeom prst="rect">
            <a:avLst/>
          </a:prstGeom>
          <a:noFill/>
        </p:spPr>
        <p:txBody>
          <a:bodyPr wrap="square" lIns="0" rIns="0" rtlCol="0">
            <a:noAutofit/>
          </a:bodyPr>
          <a:lstStyle/>
          <a:p>
            <a:pPr algn="l" defTabSz="288000"/>
            <a:r>
              <a:rPr lang="en-US" altLang="ja-JP" sz="1100" dirty="0">
                <a:latin typeface="+mn-ea"/>
              </a:rPr>
              <a:t>7/3</a:t>
            </a:r>
            <a:endParaRPr kumimoji="1" lang="ja-JP" altLang="en-US" sz="1100" dirty="0">
              <a:latin typeface="+mn-ea"/>
            </a:endParaRPr>
          </a:p>
        </p:txBody>
      </p:sp>
      <p:cxnSp>
        <p:nvCxnSpPr>
          <p:cNvPr id="62" name="直線コネクタ 61">
            <a:extLst>
              <a:ext uri="{FF2B5EF4-FFF2-40B4-BE49-F238E27FC236}">
                <a16:creationId xmlns:a16="http://schemas.microsoft.com/office/drawing/2014/main" id="{EF712C78-23D3-FEAC-D3D8-D395DED106E1}"/>
              </a:ext>
            </a:extLst>
          </p:cNvPr>
          <p:cNvCxnSpPr/>
          <p:nvPr/>
        </p:nvCxnSpPr>
        <p:spPr>
          <a:xfrm>
            <a:off x="9768203" y="4543352"/>
            <a:ext cx="0" cy="170006"/>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8" name="テキスト ボックス 67">
            <a:extLst>
              <a:ext uri="{FF2B5EF4-FFF2-40B4-BE49-F238E27FC236}">
                <a16:creationId xmlns:a16="http://schemas.microsoft.com/office/drawing/2014/main" id="{9C0FFC2D-64E3-1533-A66F-1776E7E1AB56}"/>
              </a:ext>
            </a:extLst>
          </p:cNvPr>
          <p:cNvSpPr txBox="1"/>
          <p:nvPr/>
        </p:nvSpPr>
        <p:spPr>
          <a:xfrm>
            <a:off x="9308959" y="3471593"/>
            <a:ext cx="2494713" cy="258020"/>
          </a:xfrm>
          <a:prstGeom prst="rect">
            <a:avLst/>
          </a:prstGeom>
          <a:noFill/>
        </p:spPr>
        <p:txBody>
          <a:bodyPr wrap="square" lIns="0" rIns="0" rtlCol="0">
            <a:noAutofit/>
          </a:bodyPr>
          <a:lstStyle/>
          <a:p>
            <a:pPr algn="l" defTabSz="288000"/>
            <a:r>
              <a:rPr kumimoji="1" lang="en-US" altLang="ja-JP" sz="1200" dirty="0">
                <a:latin typeface="+mn-ea"/>
              </a:rPr>
              <a:t>※</a:t>
            </a:r>
            <a:r>
              <a:rPr kumimoji="1" lang="ja-JP" altLang="en-US" sz="1200" dirty="0">
                <a:latin typeface="+mn-ea"/>
              </a:rPr>
              <a:t>申込当日を</a:t>
            </a:r>
            <a:r>
              <a:rPr kumimoji="1" lang="en-US" altLang="ja-JP" sz="1200" dirty="0">
                <a:latin typeface="+mn-ea"/>
              </a:rPr>
              <a:t>6/3</a:t>
            </a:r>
            <a:r>
              <a:rPr kumimoji="1" lang="ja-JP" altLang="en-US" sz="1200" dirty="0">
                <a:latin typeface="+mn-ea"/>
              </a:rPr>
              <a:t>とする</a:t>
            </a:r>
          </a:p>
        </p:txBody>
      </p:sp>
      <p:cxnSp>
        <p:nvCxnSpPr>
          <p:cNvPr id="71" name="直線矢印コネクタ 70">
            <a:extLst>
              <a:ext uri="{FF2B5EF4-FFF2-40B4-BE49-F238E27FC236}">
                <a16:creationId xmlns:a16="http://schemas.microsoft.com/office/drawing/2014/main" id="{D307492E-6366-F544-CAE1-E27F4B858176}"/>
              </a:ext>
            </a:extLst>
          </p:cNvPr>
          <p:cNvCxnSpPr/>
          <p:nvPr/>
        </p:nvCxnSpPr>
        <p:spPr>
          <a:xfrm flipH="1">
            <a:off x="6838950" y="4786744"/>
            <a:ext cx="85725" cy="734942"/>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2" name="直線矢印コネクタ 71">
            <a:extLst>
              <a:ext uri="{FF2B5EF4-FFF2-40B4-BE49-F238E27FC236}">
                <a16:creationId xmlns:a16="http://schemas.microsoft.com/office/drawing/2014/main" id="{539100EE-D633-E770-8F78-DB16FCA0DF05}"/>
              </a:ext>
            </a:extLst>
          </p:cNvPr>
          <p:cNvCxnSpPr>
            <a:cxnSpLocks/>
            <a:endCxn id="37" idx="0"/>
          </p:cNvCxnSpPr>
          <p:nvPr/>
        </p:nvCxnSpPr>
        <p:spPr>
          <a:xfrm flipH="1">
            <a:off x="8739373" y="4786744"/>
            <a:ext cx="14117" cy="742439"/>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4" name="直線矢印コネクタ 73">
            <a:extLst>
              <a:ext uri="{FF2B5EF4-FFF2-40B4-BE49-F238E27FC236}">
                <a16:creationId xmlns:a16="http://schemas.microsoft.com/office/drawing/2014/main" id="{9ABDF7BD-C89F-E67C-907F-CB2D74F70EED}"/>
              </a:ext>
            </a:extLst>
          </p:cNvPr>
          <p:cNvCxnSpPr>
            <a:cxnSpLocks/>
          </p:cNvCxnSpPr>
          <p:nvPr/>
        </p:nvCxnSpPr>
        <p:spPr>
          <a:xfrm>
            <a:off x="10478941" y="4779129"/>
            <a:ext cx="167901" cy="742439"/>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7" name="テキスト ボックス 33">
            <a:extLst>
              <a:ext uri="{FF2B5EF4-FFF2-40B4-BE49-F238E27FC236}">
                <a16:creationId xmlns:a16="http://schemas.microsoft.com/office/drawing/2014/main" id="{1F74DAB7-7D65-7E3C-26B0-F73D4854432F}"/>
              </a:ext>
            </a:extLst>
          </p:cNvPr>
          <p:cNvSpPr txBox="1"/>
          <p:nvPr/>
        </p:nvSpPr>
        <p:spPr>
          <a:xfrm>
            <a:off x="9598492" y="4846945"/>
            <a:ext cx="619125" cy="32385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1100" dirty="0"/>
              <a:t>30</a:t>
            </a:r>
            <a:r>
              <a:rPr kumimoji="1" lang="ja-JP" altLang="en-US" sz="1100" dirty="0"/>
              <a:t>日後</a:t>
            </a:r>
          </a:p>
        </p:txBody>
      </p:sp>
    </p:spTree>
    <p:extLst>
      <p:ext uri="{BB962C8B-B14F-4D97-AF65-F5344CB8AC3E}">
        <p14:creationId xmlns:p14="http://schemas.microsoft.com/office/powerpoint/2010/main" val="146651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1AAD8-7139-6711-0ED9-20DF761BE3C3}"/>
            </a:ext>
          </a:extLst>
        </p:cNvPr>
        <p:cNvGrpSpPr/>
        <p:nvPr/>
      </p:nvGrpSpPr>
      <p:grpSpPr>
        <a:xfrm>
          <a:off x="0" y="0"/>
          <a:ext cx="0" cy="0"/>
          <a:chOff x="0" y="0"/>
          <a:chExt cx="0" cy="0"/>
        </a:xfrm>
      </p:grpSpPr>
      <p:pic>
        <p:nvPicPr>
          <p:cNvPr id="87" name="図 86" descr="グラフィカル ユーザー インターフェイス, アプリケーション, テーブル, Excel&#10;&#10;AI によって生成されたコンテンツは間違っている可能性があります。">
            <a:extLst>
              <a:ext uri="{FF2B5EF4-FFF2-40B4-BE49-F238E27FC236}">
                <a16:creationId xmlns:a16="http://schemas.microsoft.com/office/drawing/2014/main" id="{F5D0E6DE-B942-1B5E-1F90-9A44FC993F9E}"/>
              </a:ext>
            </a:extLst>
          </p:cNvPr>
          <p:cNvPicPr>
            <a:picLocks noChangeAspect="1"/>
          </p:cNvPicPr>
          <p:nvPr/>
        </p:nvPicPr>
        <p:blipFill>
          <a:blip r:embed="rId2"/>
          <a:srcRect l="32501" t="26667" r="25961" b="56335"/>
          <a:stretch/>
        </p:blipFill>
        <p:spPr>
          <a:xfrm>
            <a:off x="4094611" y="4325552"/>
            <a:ext cx="7724863" cy="2033721"/>
          </a:xfrm>
          <a:prstGeom prst="rect">
            <a:avLst/>
          </a:prstGeom>
        </p:spPr>
      </p:pic>
      <p:sp>
        <p:nvSpPr>
          <p:cNvPr id="2" name="タイトル 1">
            <a:extLst>
              <a:ext uri="{FF2B5EF4-FFF2-40B4-BE49-F238E27FC236}">
                <a16:creationId xmlns:a16="http://schemas.microsoft.com/office/drawing/2014/main" id="{298003F6-2451-1A55-5536-19F7AD1CB704}"/>
              </a:ext>
            </a:extLst>
          </p:cNvPr>
          <p:cNvSpPr>
            <a:spLocks noGrp="1"/>
          </p:cNvSpPr>
          <p:nvPr>
            <p:ph type="title"/>
          </p:nvPr>
        </p:nvSpPr>
        <p:spPr/>
        <p:txBody>
          <a:bodyPr/>
          <a:lstStyle/>
          <a:p>
            <a:r>
              <a:rPr kumimoji="1" lang="ja-JP" altLang="en-US" dirty="0"/>
              <a:t>ブラックボックステスト：同値分割法</a:t>
            </a:r>
          </a:p>
        </p:txBody>
      </p:sp>
      <p:sp>
        <p:nvSpPr>
          <p:cNvPr id="3" name="コンテンツ プレースホルダー 2">
            <a:extLst>
              <a:ext uri="{FF2B5EF4-FFF2-40B4-BE49-F238E27FC236}">
                <a16:creationId xmlns:a16="http://schemas.microsoft.com/office/drawing/2014/main" id="{E2F6FB3E-36BA-2FB9-2981-63D3E30F7428}"/>
              </a:ext>
            </a:extLst>
          </p:cNvPr>
          <p:cNvSpPr>
            <a:spLocks noGrp="1"/>
          </p:cNvSpPr>
          <p:nvPr>
            <p:ph sz="quarter" idx="10"/>
          </p:nvPr>
        </p:nvSpPr>
        <p:spPr>
          <a:xfrm>
            <a:off x="371474" y="1038386"/>
            <a:ext cx="11448000" cy="5196814"/>
          </a:xfrm>
        </p:spPr>
        <p:txBody>
          <a:bodyPr/>
          <a:lstStyle/>
          <a:p>
            <a:r>
              <a:rPr lang="ja-JP" altLang="en-US" u="sng" dirty="0">
                <a:solidFill>
                  <a:schemeClr val="tx1"/>
                </a:solidFill>
              </a:rPr>
              <a:t>同値分割法</a:t>
            </a:r>
            <a:endParaRPr lang="en-US" altLang="ja-JP" u="sng" dirty="0"/>
          </a:p>
          <a:p>
            <a:r>
              <a:rPr lang="ja-JP" altLang="en-US" dirty="0">
                <a:solidFill>
                  <a:schemeClr val="tx1"/>
                </a:solidFill>
              </a:rPr>
              <a:t>入力値を</a:t>
            </a:r>
            <a:r>
              <a:rPr lang="ja-JP" altLang="en-US" sz="2000" b="1" dirty="0">
                <a:solidFill>
                  <a:schemeClr val="tx1"/>
                </a:solidFill>
              </a:rPr>
              <a:t>同値クラス</a:t>
            </a:r>
            <a:r>
              <a:rPr lang="ja-JP" altLang="en-US" dirty="0">
                <a:solidFill>
                  <a:schemeClr val="tx1"/>
                </a:solidFill>
              </a:rPr>
              <a:t>（</a:t>
            </a:r>
            <a:r>
              <a:rPr lang="ja-JP" altLang="en-US" dirty="0">
                <a:solidFill>
                  <a:schemeClr val="tx1"/>
                </a:solidFill>
                <a:latin typeface="__Inter_a184c8"/>
              </a:rPr>
              <a:t>テスト対象にて</a:t>
            </a:r>
            <a:r>
              <a:rPr lang="ja-JP" altLang="en-US" b="0" i="0" dirty="0">
                <a:solidFill>
                  <a:schemeClr val="tx1"/>
                </a:solidFill>
                <a:effectLst/>
                <a:latin typeface="__Inter_a184c8"/>
              </a:rPr>
              <a:t>同じ</a:t>
            </a:r>
            <a:r>
              <a:rPr lang="ja-JP" altLang="en-US" b="0" i="0" dirty="0">
                <a:effectLst/>
                <a:latin typeface="__Inter_a184c8"/>
              </a:rPr>
              <a:t>挙動</a:t>
            </a:r>
            <a:r>
              <a:rPr lang="ja-JP" altLang="en-US" b="0" i="0" dirty="0">
                <a:solidFill>
                  <a:schemeClr val="tx1"/>
                </a:solidFill>
                <a:effectLst/>
                <a:latin typeface="__Inter_a184c8"/>
              </a:rPr>
              <a:t>となる入力値のグループ</a:t>
            </a:r>
            <a:r>
              <a:rPr lang="ja-JP" altLang="en-US" dirty="0">
                <a:solidFill>
                  <a:schemeClr val="tx1"/>
                </a:solidFill>
              </a:rPr>
              <a:t>）に分割し、</a:t>
            </a:r>
            <a:r>
              <a:rPr lang="ja-JP" altLang="en-US" sz="2000" b="1" dirty="0">
                <a:solidFill>
                  <a:schemeClr val="tx1"/>
                </a:solidFill>
              </a:rPr>
              <a:t>代表値</a:t>
            </a:r>
            <a:r>
              <a:rPr lang="ja-JP" altLang="en-US" dirty="0">
                <a:solidFill>
                  <a:schemeClr val="tx1"/>
                </a:solidFill>
              </a:rPr>
              <a:t>を選んで</a:t>
            </a:r>
            <a:r>
              <a:rPr lang="ja-JP" altLang="en-US" b="0" i="0" dirty="0">
                <a:solidFill>
                  <a:schemeClr val="tx1"/>
                </a:solidFill>
                <a:effectLst/>
                <a:latin typeface="__Inter_a184c8"/>
              </a:rPr>
              <a:t>テスト項目やテストケースを作成する</a:t>
            </a:r>
            <a:r>
              <a:rPr lang="ja-JP" altLang="en-US" dirty="0">
                <a:latin typeface="__Inter_a184c8"/>
              </a:rPr>
              <a:t>技法</a:t>
            </a:r>
            <a:endParaRPr lang="en-US" altLang="ja-JP" dirty="0">
              <a:solidFill>
                <a:schemeClr val="tx1"/>
              </a:solidFill>
            </a:endParaRPr>
          </a:p>
          <a:p>
            <a:endParaRPr kumimoji="1" lang="en-US" altLang="ja-JP" dirty="0"/>
          </a:p>
          <a:p>
            <a:r>
              <a:rPr lang="ja-JP" altLang="en-US" dirty="0"/>
              <a:t>例）</a:t>
            </a:r>
            <a:endParaRPr kumimoji="1" lang="ja-JP" altLang="en-US" dirty="0"/>
          </a:p>
        </p:txBody>
      </p:sp>
      <p:grpSp>
        <p:nvGrpSpPr>
          <p:cNvPr id="6" name="グループ化 5">
            <a:extLst>
              <a:ext uri="{FF2B5EF4-FFF2-40B4-BE49-F238E27FC236}">
                <a16:creationId xmlns:a16="http://schemas.microsoft.com/office/drawing/2014/main" id="{9BDCCC13-9780-0C14-B205-191F4E587027}"/>
              </a:ext>
            </a:extLst>
          </p:cNvPr>
          <p:cNvGrpSpPr/>
          <p:nvPr/>
        </p:nvGrpSpPr>
        <p:grpSpPr>
          <a:xfrm>
            <a:off x="371474" y="2837958"/>
            <a:ext cx="5760000" cy="1021061"/>
            <a:chOff x="5419152" y="3079735"/>
            <a:chExt cx="5760000" cy="1021061"/>
          </a:xfrm>
        </p:grpSpPr>
        <p:pic>
          <p:nvPicPr>
            <p:cNvPr id="7" name="図 6" descr="テーブル&#10;&#10;AI によって生成されたコンテンツは間違っている可能性があります。">
              <a:extLst>
                <a:ext uri="{FF2B5EF4-FFF2-40B4-BE49-F238E27FC236}">
                  <a16:creationId xmlns:a16="http://schemas.microsoft.com/office/drawing/2014/main" id="{CE7F0156-77FB-FCAD-28AC-C4AAD20A8129}"/>
                </a:ext>
              </a:extLst>
            </p:cNvPr>
            <p:cNvPicPr>
              <a:picLocks noChangeAspect="1"/>
            </p:cNvPicPr>
            <p:nvPr/>
          </p:nvPicPr>
          <p:blipFill>
            <a:blip r:embed="rId3"/>
            <a:srcRect t="4895" r="17302" b="84219"/>
            <a:stretch/>
          </p:blipFill>
          <p:spPr>
            <a:xfrm>
              <a:off x="5419152" y="3348857"/>
              <a:ext cx="5760000" cy="751939"/>
            </a:xfrm>
            <a:prstGeom prst="rect">
              <a:avLst/>
            </a:prstGeom>
          </p:spPr>
        </p:pic>
        <p:pic>
          <p:nvPicPr>
            <p:cNvPr id="8" name="図 7" descr="テーブル&#10;&#10;AI によって生成されたコンテンツは間違っている可能性があります。">
              <a:extLst>
                <a:ext uri="{FF2B5EF4-FFF2-40B4-BE49-F238E27FC236}">
                  <a16:creationId xmlns:a16="http://schemas.microsoft.com/office/drawing/2014/main" id="{5A0A4C88-6F1C-7584-6AAE-0C49A07C65CE}"/>
                </a:ext>
              </a:extLst>
            </p:cNvPr>
            <p:cNvPicPr>
              <a:picLocks noChangeAspect="1"/>
            </p:cNvPicPr>
            <p:nvPr/>
          </p:nvPicPr>
          <p:blipFill>
            <a:blip r:embed="rId3"/>
            <a:srcRect t="895" r="17302" b="95116"/>
            <a:stretch/>
          </p:blipFill>
          <p:spPr>
            <a:xfrm>
              <a:off x="5419152" y="3079735"/>
              <a:ext cx="5760000" cy="275540"/>
            </a:xfrm>
            <a:prstGeom prst="rect">
              <a:avLst/>
            </a:prstGeom>
          </p:spPr>
        </p:pic>
      </p:grpSp>
      <p:sp>
        <p:nvSpPr>
          <p:cNvPr id="15" name="テキスト ボックス 14">
            <a:extLst>
              <a:ext uri="{FF2B5EF4-FFF2-40B4-BE49-F238E27FC236}">
                <a16:creationId xmlns:a16="http://schemas.microsoft.com/office/drawing/2014/main" id="{34BA1F92-0200-512A-6881-D01890012CB8}"/>
              </a:ext>
            </a:extLst>
          </p:cNvPr>
          <p:cNvSpPr txBox="1"/>
          <p:nvPr/>
        </p:nvSpPr>
        <p:spPr>
          <a:xfrm>
            <a:off x="5106619" y="2473222"/>
            <a:ext cx="1695450" cy="432128"/>
          </a:xfrm>
          <a:prstGeom prst="rect">
            <a:avLst/>
          </a:prstGeom>
          <a:noFill/>
        </p:spPr>
        <p:txBody>
          <a:bodyPr wrap="square" lIns="0" rIns="0" rtlCol="0">
            <a:noAutofit/>
          </a:bodyPr>
          <a:lstStyle/>
          <a:p>
            <a:pPr algn="l" defTabSz="288000"/>
            <a:r>
              <a:rPr kumimoji="1" lang="ja-JP" altLang="en-US" dirty="0">
                <a:solidFill>
                  <a:schemeClr val="accent3"/>
                </a:solidFill>
                <a:latin typeface="+mn-ea"/>
              </a:rPr>
              <a:t>同値クラスに分割</a:t>
            </a:r>
          </a:p>
        </p:txBody>
      </p:sp>
      <p:sp>
        <p:nvSpPr>
          <p:cNvPr id="17" name="テキスト ボックス 16">
            <a:extLst>
              <a:ext uri="{FF2B5EF4-FFF2-40B4-BE49-F238E27FC236}">
                <a16:creationId xmlns:a16="http://schemas.microsoft.com/office/drawing/2014/main" id="{6857EBAC-5538-5C17-64B6-66140225D747}"/>
              </a:ext>
            </a:extLst>
          </p:cNvPr>
          <p:cNvSpPr txBox="1"/>
          <p:nvPr/>
        </p:nvSpPr>
        <p:spPr>
          <a:xfrm>
            <a:off x="2288445" y="3928184"/>
            <a:ext cx="1767892" cy="432128"/>
          </a:xfrm>
          <a:prstGeom prst="rect">
            <a:avLst/>
          </a:prstGeom>
          <a:noFill/>
        </p:spPr>
        <p:txBody>
          <a:bodyPr wrap="square" lIns="0" rIns="0" rtlCol="0">
            <a:noAutofit/>
          </a:bodyPr>
          <a:lstStyle/>
          <a:p>
            <a:pPr algn="l" defTabSz="288000"/>
            <a:r>
              <a:rPr kumimoji="1" lang="ja-JP" altLang="en-US" dirty="0">
                <a:latin typeface="+mn-ea"/>
              </a:rPr>
              <a:t>代表値の</a:t>
            </a:r>
            <a:endParaRPr kumimoji="1" lang="en-US" altLang="ja-JP" dirty="0">
              <a:latin typeface="+mn-ea"/>
            </a:endParaRPr>
          </a:p>
          <a:p>
            <a:pPr algn="l" defTabSz="288000"/>
            <a:r>
              <a:rPr kumimoji="1" lang="ja-JP" altLang="en-US" dirty="0">
                <a:latin typeface="+mn-ea"/>
              </a:rPr>
              <a:t>テストケースを作成</a:t>
            </a:r>
          </a:p>
        </p:txBody>
      </p:sp>
      <p:cxnSp>
        <p:nvCxnSpPr>
          <p:cNvPr id="26" name="直線矢印コネクタ 25">
            <a:extLst>
              <a:ext uri="{FF2B5EF4-FFF2-40B4-BE49-F238E27FC236}">
                <a16:creationId xmlns:a16="http://schemas.microsoft.com/office/drawing/2014/main" id="{6CDA27E2-6D5C-741A-BBFC-37F7E7220B39}"/>
              </a:ext>
            </a:extLst>
          </p:cNvPr>
          <p:cNvCxnSpPr>
            <a:cxnSpLocks/>
            <a:stCxn id="4" idx="5"/>
          </p:cNvCxnSpPr>
          <p:nvPr/>
        </p:nvCxnSpPr>
        <p:spPr>
          <a:xfrm>
            <a:off x="3517012" y="3237277"/>
            <a:ext cx="1674806" cy="1528143"/>
          </a:xfrm>
          <a:prstGeom prst="straightConnector1">
            <a:avLst/>
          </a:prstGeom>
          <a:ln w="12700">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85" name="グループ化 84">
            <a:extLst>
              <a:ext uri="{FF2B5EF4-FFF2-40B4-BE49-F238E27FC236}">
                <a16:creationId xmlns:a16="http://schemas.microsoft.com/office/drawing/2014/main" id="{AAB65856-08EA-999C-F8AA-EADB65C07F49}"/>
              </a:ext>
            </a:extLst>
          </p:cNvPr>
          <p:cNvGrpSpPr/>
          <p:nvPr/>
        </p:nvGrpSpPr>
        <p:grpSpPr>
          <a:xfrm>
            <a:off x="7957042" y="2079435"/>
            <a:ext cx="4104000" cy="1692000"/>
            <a:chOff x="7336417" y="1796276"/>
            <a:chExt cx="4104000" cy="1692000"/>
          </a:xfrm>
        </p:grpSpPr>
        <p:sp>
          <p:nvSpPr>
            <p:cNvPr id="82" name="正方形/長方形 81">
              <a:extLst>
                <a:ext uri="{FF2B5EF4-FFF2-40B4-BE49-F238E27FC236}">
                  <a16:creationId xmlns:a16="http://schemas.microsoft.com/office/drawing/2014/main" id="{8ED22A36-3303-12DB-A868-3E6419ACE4BE}"/>
                </a:ext>
              </a:extLst>
            </p:cNvPr>
            <p:cNvSpPr/>
            <p:nvPr/>
          </p:nvSpPr>
          <p:spPr>
            <a:xfrm>
              <a:off x="7336417" y="1796276"/>
              <a:ext cx="4104000" cy="169200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84" name="図 83" descr="ダイアグラム が含まれている画像&#10;&#10;AI によって生成されたコンテンツは間違っている可能性があります。">
              <a:extLst>
                <a:ext uri="{FF2B5EF4-FFF2-40B4-BE49-F238E27FC236}">
                  <a16:creationId xmlns:a16="http://schemas.microsoft.com/office/drawing/2014/main" id="{313C0E64-557E-191B-DB3B-34177D4D4575}"/>
                </a:ext>
              </a:extLst>
            </p:cNvPr>
            <p:cNvPicPr>
              <a:picLocks noChangeAspect="1"/>
            </p:cNvPicPr>
            <p:nvPr/>
          </p:nvPicPr>
          <p:blipFill>
            <a:blip r:embed="rId4"/>
            <a:srcRect l="26631" t="40608" r="9334" b="17900"/>
            <a:stretch/>
          </p:blipFill>
          <p:spPr>
            <a:xfrm>
              <a:off x="7467777" y="1841621"/>
              <a:ext cx="3841281" cy="1601311"/>
            </a:xfrm>
            <a:prstGeom prst="rect">
              <a:avLst/>
            </a:prstGeom>
          </p:spPr>
        </p:pic>
      </p:grpSp>
      <p:sp>
        <p:nvSpPr>
          <p:cNvPr id="88" name="正方形/長方形 87">
            <a:extLst>
              <a:ext uri="{FF2B5EF4-FFF2-40B4-BE49-F238E27FC236}">
                <a16:creationId xmlns:a16="http://schemas.microsoft.com/office/drawing/2014/main" id="{87F94017-20A9-2F8C-FD2F-B9CB7C150031}"/>
              </a:ext>
            </a:extLst>
          </p:cNvPr>
          <p:cNvSpPr/>
          <p:nvPr/>
        </p:nvSpPr>
        <p:spPr>
          <a:xfrm>
            <a:off x="1981200" y="2975728"/>
            <a:ext cx="4150274" cy="883291"/>
          </a:xfrm>
          <a:prstGeom prst="rect">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90" name="四角形: 角を丸くする 89">
            <a:extLst>
              <a:ext uri="{FF2B5EF4-FFF2-40B4-BE49-F238E27FC236}">
                <a16:creationId xmlns:a16="http://schemas.microsoft.com/office/drawing/2014/main" id="{34F73082-B202-721F-7154-A689EA8160A2}"/>
              </a:ext>
            </a:extLst>
          </p:cNvPr>
          <p:cNvSpPr/>
          <p:nvPr/>
        </p:nvSpPr>
        <p:spPr>
          <a:xfrm>
            <a:off x="6180879" y="3086721"/>
            <a:ext cx="1440000" cy="252000"/>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solidFill>
                  <a:schemeClr val="tx1"/>
                </a:solidFill>
              </a:rPr>
              <a:t>有効値</a:t>
            </a:r>
            <a:r>
              <a:rPr lang="ja-JP" altLang="en-US" sz="1200" dirty="0">
                <a:solidFill>
                  <a:schemeClr val="tx1"/>
                </a:solidFill>
              </a:rPr>
              <a:t>：早期割なし</a:t>
            </a:r>
            <a:endParaRPr kumimoji="1" lang="en-US" altLang="ja-JP" sz="1200" dirty="0">
              <a:solidFill>
                <a:schemeClr val="tx1"/>
              </a:solidFill>
            </a:endParaRPr>
          </a:p>
        </p:txBody>
      </p:sp>
      <p:sp>
        <p:nvSpPr>
          <p:cNvPr id="91" name="四角形: 角を丸くする 90">
            <a:extLst>
              <a:ext uri="{FF2B5EF4-FFF2-40B4-BE49-F238E27FC236}">
                <a16:creationId xmlns:a16="http://schemas.microsoft.com/office/drawing/2014/main" id="{61EC792C-D38A-0C43-6499-E06105AA59BE}"/>
              </a:ext>
            </a:extLst>
          </p:cNvPr>
          <p:cNvSpPr/>
          <p:nvPr/>
        </p:nvSpPr>
        <p:spPr>
          <a:xfrm>
            <a:off x="6180879" y="3645435"/>
            <a:ext cx="1440000" cy="252000"/>
          </a:xfrm>
          <a:prstGeom prst="roundRect">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solidFill>
                  <a:schemeClr val="tx1"/>
                </a:solidFill>
              </a:rPr>
              <a:t>無効値</a:t>
            </a:r>
            <a:endParaRPr kumimoji="1" lang="en-US" altLang="ja-JP" sz="1200" dirty="0">
              <a:solidFill>
                <a:schemeClr val="tx1"/>
              </a:solidFill>
            </a:endParaRPr>
          </a:p>
        </p:txBody>
      </p:sp>
      <p:sp>
        <p:nvSpPr>
          <p:cNvPr id="92" name="四角形: 角を丸くする 91">
            <a:extLst>
              <a:ext uri="{FF2B5EF4-FFF2-40B4-BE49-F238E27FC236}">
                <a16:creationId xmlns:a16="http://schemas.microsoft.com/office/drawing/2014/main" id="{B0ABA39F-A9E7-C4DB-F611-B4409BD72447}"/>
              </a:ext>
            </a:extLst>
          </p:cNvPr>
          <p:cNvSpPr/>
          <p:nvPr/>
        </p:nvSpPr>
        <p:spPr>
          <a:xfrm>
            <a:off x="6180879" y="3366078"/>
            <a:ext cx="1440000" cy="252000"/>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lang="ja-JP" altLang="en-US" sz="1200" dirty="0">
                <a:solidFill>
                  <a:schemeClr val="tx1"/>
                </a:solidFill>
              </a:rPr>
              <a:t>有効値：早期割あり</a:t>
            </a:r>
            <a:endParaRPr lang="en-US" altLang="ja-JP" sz="1200" dirty="0">
              <a:solidFill>
                <a:schemeClr val="tx1"/>
              </a:solidFill>
            </a:endParaRPr>
          </a:p>
        </p:txBody>
      </p:sp>
      <p:sp>
        <p:nvSpPr>
          <p:cNvPr id="4" name="楕円 3">
            <a:extLst>
              <a:ext uri="{FF2B5EF4-FFF2-40B4-BE49-F238E27FC236}">
                <a16:creationId xmlns:a16="http://schemas.microsoft.com/office/drawing/2014/main" id="{FA0BCC88-89ED-192C-DEB3-6F25434998E2}"/>
              </a:ext>
            </a:extLst>
          </p:cNvPr>
          <p:cNvSpPr/>
          <p:nvPr/>
        </p:nvSpPr>
        <p:spPr>
          <a:xfrm>
            <a:off x="2922025" y="3066267"/>
            <a:ext cx="697071" cy="200351"/>
          </a:xfrm>
          <a:prstGeom prst="ellipse">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 name="楕円 4">
            <a:extLst>
              <a:ext uri="{FF2B5EF4-FFF2-40B4-BE49-F238E27FC236}">
                <a16:creationId xmlns:a16="http://schemas.microsoft.com/office/drawing/2014/main" id="{8EBE128D-3EA5-74C7-3D4E-44DF10CC3EBA}"/>
              </a:ext>
            </a:extLst>
          </p:cNvPr>
          <p:cNvSpPr/>
          <p:nvPr/>
        </p:nvSpPr>
        <p:spPr>
          <a:xfrm>
            <a:off x="5128350" y="4765325"/>
            <a:ext cx="560042" cy="212557"/>
          </a:xfrm>
          <a:prstGeom prst="ellipse">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Tree>
    <p:extLst>
      <p:ext uri="{BB962C8B-B14F-4D97-AF65-F5344CB8AC3E}">
        <p14:creationId xmlns:p14="http://schemas.microsoft.com/office/powerpoint/2010/main" val="27721477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E5AD8-7910-66A5-559C-CFE279D7FB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EF32885-3385-855D-7758-0C33ACC6993A}"/>
              </a:ext>
            </a:extLst>
          </p:cNvPr>
          <p:cNvSpPr>
            <a:spLocks noGrp="1"/>
          </p:cNvSpPr>
          <p:nvPr>
            <p:ph type="title"/>
          </p:nvPr>
        </p:nvSpPr>
        <p:spPr/>
        <p:txBody>
          <a:bodyPr/>
          <a:lstStyle/>
          <a:p>
            <a:r>
              <a:rPr kumimoji="1" lang="ja-JP" altLang="en-US" dirty="0"/>
              <a:t>ブラックボックステスト：</a:t>
            </a:r>
            <a:r>
              <a:rPr lang="ja-JP" altLang="en-US" dirty="0"/>
              <a:t>境界値分析</a:t>
            </a:r>
            <a:endParaRPr kumimoji="1" lang="ja-JP" altLang="en-US" dirty="0"/>
          </a:p>
        </p:txBody>
      </p:sp>
      <p:sp>
        <p:nvSpPr>
          <p:cNvPr id="3" name="コンテンツ プレースホルダー 2">
            <a:extLst>
              <a:ext uri="{FF2B5EF4-FFF2-40B4-BE49-F238E27FC236}">
                <a16:creationId xmlns:a16="http://schemas.microsoft.com/office/drawing/2014/main" id="{C466B237-25CE-DE62-154D-5E827C1A9275}"/>
              </a:ext>
            </a:extLst>
          </p:cNvPr>
          <p:cNvSpPr>
            <a:spLocks noGrp="1"/>
          </p:cNvSpPr>
          <p:nvPr>
            <p:ph sz="quarter" idx="10"/>
          </p:nvPr>
        </p:nvSpPr>
        <p:spPr>
          <a:xfrm>
            <a:off x="371474" y="1038386"/>
            <a:ext cx="11448000" cy="5196814"/>
          </a:xfrm>
        </p:spPr>
        <p:txBody>
          <a:bodyPr/>
          <a:lstStyle/>
          <a:p>
            <a:r>
              <a:rPr lang="ja-JP" altLang="en-US" u="sng" dirty="0">
                <a:solidFill>
                  <a:schemeClr val="tx1"/>
                </a:solidFill>
              </a:rPr>
              <a:t>境界値分析</a:t>
            </a:r>
            <a:endParaRPr lang="en-US" altLang="ja-JP" u="sng" dirty="0">
              <a:solidFill>
                <a:schemeClr val="tx1"/>
              </a:solidFill>
            </a:endParaRPr>
          </a:p>
          <a:p>
            <a:r>
              <a:rPr lang="ja-JP" altLang="en-US" dirty="0">
                <a:solidFill>
                  <a:schemeClr val="tx1"/>
                </a:solidFill>
              </a:rPr>
              <a:t>各同値クラスに対して、その</a:t>
            </a:r>
            <a:r>
              <a:rPr lang="ja-JP" altLang="en-US" sz="2000" b="1" i="0" dirty="0">
                <a:solidFill>
                  <a:schemeClr val="tx1"/>
                </a:solidFill>
                <a:effectLst/>
                <a:latin typeface="__Inter_a184c8"/>
              </a:rPr>
              <a:t>境界値</a:t>
            </a:r>
            <a:r>
              <a:rPr lang="ja-JP" altLang="en-US" b="0" i="0" dirty="0">
                <a:solidFill>
                  <a:schemeClr val="tx1"/>
                </a:solidFill>
                <a:effectLst/>
                <a:latin typeface="__Inter_a184c8"/>
              </a:rPr>
              <a:t>（範囲の端にある値）のテスト項目やテストケースを作成する</a:t>
            </a:r>
            <a:r>
              <a:rPr lang="ja-JP" altLang="en-US" dirty="0">
                <a:latin typeface="__Inter_a184c8"/>
              </a:rPr>
              <a:t>技法</a:t>
            </a:r>
            <a:endParaRPr lang="en-US" altLang="ja-JP" dirty="0">
              <a:latin typeface="__Inter_a184c8"/>
            </a:endParaRPr>
          </a:p>
          <a:p>
            <a:endParaRPr kumimoji="1" lang="en-US" altLang="ja-JP" dirty="0"/>
          </a:p>
          <a:p>
            <a:r>
              <a:rPr lang="ja-JP" altLang="en-US" dirty="0"/>
              <a:t>例）</a:t>
            </a:r>
            <a:endParaRPr kumimoji="1" lang="en-US" altLang="ja-JP" dirty="0"/>
          </a:p>
        </p:txBody>
      </p:sp>
      <p:sp>
        <p:nvSpPr>
          <p:cNvPr id="4" name="吹き出し: 角を丸めた四角形 3">
            <a:extLst>
              <a:ext uri="{FF2B5EF4-FFF2-40B4-BE49-F238E27FC236}">
                <a16:creationId xmlns:a16="http://schemas.microsoft.com/office/drawing/2014/main" id="{6C3747E8-4A72-54AF-2AC3-E425BF912CA4}"/>
              </a:ext>
            </a:extLst>
          </p:cNvPr>
          <p:cNvSpPr/>
          <p:nvPr/>
        </p:nvSpPr>
        <p:spPr>
          <a:xfrm>
            <a:off x="7579791" y="1756460"/>
            <a:ext cx="4358235" cy="564787"/>
          </a:xfrm>
          <a:prstGeom prst="wedgeRoundRectCallout">
            <a:avLst>
              <a:gd name="adj1" fmla="val -63453"/>
              <a:gd name="adj2" fmla="val -49605"/>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境界条件はエラーが発生しやすいので、</a:t>
            </a:r>
            <a:endParaRPr kumimoji="1" lang="en-US" altLang="ja-JP" sz="1400" dirty="0">
              <a:solidFill>
                <a:schemeClr val="tx1"/>
              </a:solidFill>
            </a:endParaRPr>
          </a:p>
          <a:p>
            <a:pPr algn="ctr"/>
            <a:r>
              <a:rPr lang="ja-JP" altLang="en-US" sz="1400" dirty="0">
                <a:solidFill>
                  <a:schemeClr val="tx1"/>
                </a:solidFill>
              </a:rPr>
              <a:t>テストケースに含めることで効率的なバグの発見が可能</a:t>
            </a:r>
            <a:endParaRPr kumimoji="1" lang="ja-JP" altLang="en-US" sz="1400" dirty="0">
              <a:solidFill>
                <a:schemeClr val="tx1"/>
              </a:solidFill>
            </a:endParaRPr>
          </a:p>
        </p:txBody>
      </p:sp>
      <p:pic>
        <p:nvPicPr>
          <p:cNvPr id="9" name="図 8" descr="グラフィカル ユーザー インターフェイス, テキスト, アプリケーション, メール&#10;&#10;AI によって生成されたコンテンツは間違っている可能性があります。">
            <a:extLst>
              <a:ext uri="{FF2B5EF4-FFF2-40B4-BE49-F238E27FC236}">
                <a16:creationId xmlns:a16="http://schemas.microsoft.com/office/drawing/2014/main" id="{82754EC9-712E-9050-64B1-F097DB720CAD}"/>
              </a:ext>
            </a:extLst>
          </p:cNvPr>
          <p:cNvPicPr>
            <a:picLocks noChangeAspect="1"/>
          </p:cNvPicPr>
          <p:nvPr/>
        </p:nvPicPr>
        <p:blipFill>
          <a:blip r:embed="rId2"/>
          <a:srcRect l="1" t="11228" r="57566" b="41224"/>
          <a:stretch/>
        </p:blipFill>
        <p:spPr>
          <a:xfrm>
            <a:off x="374988" y="2416424"/>
            <a:ext cx="4694623" cy="3260767"/>
          </a:xfrm>
          <a:prstGeom prst="rect">
            <a:avLst/>
          </a:prstGeom>
        </p:spPr>
      </p:pic>
      <p:cxnSp>
        <p:nvCxnSpPr>
          <p:cNvPr id="10" name="直線矢印コネクタ 9">
            <a:extLst>
              <a:ext uri="{FF2B5EF4-FFF2-40B4-BE49-F238E27FC236}">
                <a16:creationId xmlns:a16="http://schemas.microsoft.com/office/drawing/2014/main" id="{7D9389E0-B621-F547-FCB4-B65C8171A7ED}"/>
              </a:ext>
            </a:extLst>
          </p:cNvPr>
          <p:cNvCxnSpPr>
            <a:cxnSpLocks/>
          </p:cNvCxnSpPr>
          <p:nvPr/>
        </p:nvCxnSpPr>
        <p:spPr>
          <a:xfrm flipV="1">
            <a:off x="3497801" y="3270105"/>
            <a:ext cx="2203975" cy="836683"/>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F184C926-5165-6739-993C-5C1709CACB46}"/>
              </a:ext>
            </a:extLst>
          </p:cNvPr>
          <p:cNvSpPr txBox="1"/>
          <p:nvPr/>
        </p:nvSpPr>
        <p:spPr>
          <a:xfrm>
            <a:off x="5944512" y="3012128"/>
            <a:ext cx="4012163" cy="447542"/>
          </a:xfrm>
          <a:prstGeom prst="rect">
            <a:avLst/>
          </a:prstGeom>
          <a:noFill/>
        </p:spPr>
        <p:txBody>
          <a:bodyPr wrap="square" lIns="0" rIns="0" rtlCol="0">
            <a:noAutofit/>
          </a:bodyPr>
          <a:lstStyle/>
          <a:p>
            <a:pPr algn="l" defTabSz="288000"/>
            <a:r>
              <a:rPr kumimoji="1" lang="ja-JP" altLang="en-US" dirty="0">
                <a:latin typeface="+mn-ea"/>
              </a:rPr>
              <a:t>「</a:t>
            </a:r>
            <a:r>
              <a:rPr lang="ja-JP" altLang="en-US" dirty="0">
                <a:latin typeface="+mn-ea"/>
              </a:rPr>
              <a:t>開始日</a:t>
            </a:r>
            <a:r>
              <a:rPr kumimoji="1" lang="ja-JP" altLang="en-US" dirty="0">
                <a:latin typeface="+mn-ea"/>
              </a:rPr>
              <a:t>」を境界値分析する場合</a:t>
            </a:r>
            <a:r>
              <a:rPr lang="ja-JP" altLang="en-US" dirty="0">
                <a:latin typeface="+mn-ea"/>
              </a:rPr>
              <a:t>の例</a:t>
            </a:r>
            <a:endParaRPr kumimoji="1" lang="en-US" altLang="ja-JP" dirty="0">
              <a:latin typeface="+mn-ea"/>
            </a:endParaRPr>
          </a:p>
        </p:txBody>
      </p:sp>
      <p:sp>
        <p:nvSpPr>
          <p:cNvPr id="12" name="四角形: 角を丸くする 11">
            <a:extLst>
              <a:ext uri="{FF2B5EF4-FFF2-40B4-BE49-F238E27FC236}">
                <a16:creationId xmlns:a16="http://schemas.microsoft.com/office/drawing/2014/main" id="{BDE7854D-D4B7-A1C3-68B3-646AAF903882}"/>
              </a:ext>
            </a:extLst>
          </p:cNvPr>
          <p:cNvSpPr/>
          <p:nvPr/>
        </p:nvSpPr>
        <p:spPr>
          <a:xfrm>
            <a:off x="9651441" y="3694746"/>
            <a:ext cx="1809750" cy="983173"/>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t"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ja-JP" altLang="en-US" sz="1400" u="sng" dirty="0">
                <a:solidFill>
                  <a:schemeClr val="tx1"/>
                </a:solidFill>
              </a:rPr>
              <a:t>有効値</a:t>
            </a:r>
            <a:endParaRPr kumimoji="1" lang="en-US" altLang="ja-JP" sz="1400" u="sng" dirty="0">
              <a:solidFill>
                <a:schemeClr val="tx1"/>
              </a:solidFill>
            </a:endParaRPr>
          </a:p>
          <a:p>
            <a:pPr algn="ctr"/>
            <a:r>
              <a:rPr kumimoji="1" lang="ja-JP" altLang="en-US" sz="1400" dirty="0">
                <a:solidFill>
                  <a:schemeClr val="tx1"/>
                </a:solidFill>
              </a:rPr>
              <a:t>早期割あり</a:t>
            </a:r>
            <a:endParaRPr kumimoji="1" lang="en-US" altLang="ja-JP" sz="1400" dirty="0">
              <a:solidFill>
                <a:schemeClr val="tx1"/>
              </a:solidFill>
            </a:endParaRPr>
          </a:p>
        </p:txBody>
      </p:sp>
      <p:sp>
        <p:nvSpPr>
          <p:cNvPr id="13" name="四角形: 角を丸くする 12">
            <a:extLst>
              <a:ext uri="{FF2B5EF4-FFF2-40B4-BE49-F238E27FC236}">
                <a16:creationId xmlns:a16="http://schemas.microsoft.com/office/drawing/2014/main" id="{D3D09403-6BC2-56B6-9F70-51E776F5683C}"/>
              </a:ext>
            </a:extLst>
          </p:cNvPr>
          <p:cNvSpPr/>
          <p:nvPr/>
        </p:nvSpPr>
        <p:spPr>
          <a:xfrm>
            <a:off x="6026173" y="3691947"/>
            <a:ext cx="1800225" cy="993860"/>
          </a:xfrm>
          <a:prstGeom prst="roundRect">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t"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ja-JP" altLang="en-US" sz="1400" u="sng" dirty="0">
                <a:solidFill>
                  <a:schemeClr val="tx1"/>
                </a:solidFill>
              </a:rPr>
              <a:t>無効値</a:t>
            </a:r>
            <a:endParaRPr kumimoji="1" lang="en-US" altLang="ja-JP" sz="1400" u="sng" dirty="0">
              <a:solidFill>
                <a:schemeClr val="tx1"/>
              </a:solidFill>
            </a:endParaRPr>
          </a:p>
          <a:p>
            <a:pPr algn="ctr"/>
            <a:r>
              <a:rPr lang="ja-JP" altLang="en-US" sz="1400" dirty="0">
                <a:solidFill>
                  <a:schemeClr val="tx1"/>
                </a:solidFill>
              </a:rPr>
              <a:t>予約不可</a:t>
            </a:r>
            <a:endParaRPr kumimoji="1" lang="ja-JP" altLang="en-US" sz="1400" dirty="0">
              <a:solidFill>
                <a:schemeClr val="tx1"/>
              </a:solidFill>
            </a:endParaRPr>
          </a:p>
        </p:txBody>
      </p:sp>
      <p:sp>
        <p:nvSpPr>
          <p:cNvPr id="14" name="四角形: 角を丸くする 13">
            <a:extLst>
              <a:ext uri="{FF2B5EF4-FFF2-40B4-BE49-F238E27FC236}">
                <a16:creationId xmlns:a16="http://schemas.microsoft.com/office/drawing/2014/main" id="{B94DA91F-4C0D-2DC7-57F6-D7A8537D431B}"/>
              </a:ext>
            </a:extLst>
          </p:cNvPr>
          <p:cNvSpPr/>
          <p:nvPr/>
        </p:nvSpPr>
        <p:spPr>
          <a:xfrm>
            <a:off x="7835729" y="3693158"/>
            <a:ext cx="1809750" cy="983173"/>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t"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lang="ja-JP" altLang="en-US" sz="1400" u="sng" dirty="0">
                <a:solidFill>
                  <a:schemeClr val="tx1"/>
                </a:solidFill>
              </a:rPr>
              <a:t>有効値</a:t>
            </a:r>
            <a:endParaRPr lang="en-US" altLang="ja-JP" sz="1400" u="sng" dirty="0">
              <a:solidFill>
                <a:schemeClr val="tx1"/>
              </a:solidFill>
            </a:endParaRPr>
          </a:p>
          <a:p>
            <a:pPr algn="ctr"/>
            <a:r>
              <a:rPr kumimoji="1" lang="ja-JP" altLang="en-US" sz="1400" dirty="0">
                <a:solidFill>
                  <a:schemeClr val="tx1"/>
                </a:solidFill>
              </a:rPr>
              <a:t>早期割なし</a:t>
            </a:r>
          </a:p>
        </p:txBody>
      </p:sp>
      <p:sp>
        <p:nvSpPr>
          <p:cNvPr id="15" name="楕円 14">
            <a:extLst>
              <a:ext uri="{FF2B5EF4-FFF2-40B4-BE49-F238E27FC236}">
                <a16:creationId xmlns:a16="http://schemas.microsoft.com/office/drawing/2014/main" id="{3AA34EC8-D2A1-A5FB-2439-092B84953989}"/>
              </a:ext>
            </a:extLst>
          </p:cNvPr>
          <p:cNvSpPr/>
          <p:nvPr/>
        </p:nvSpPr>
        <p:spPr>
          <a:xfrm>
            <a:off x="7775598" y="4349112"/>
            <a:ext cx="101600" cy="104775"/>
          </a:xfrm>
          <a:prstGeom prst="ellipse">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400">
              <a:solidFill>
                <a:schemeClr val="tx1"/>
              </a:solidFill>
            </a:endParaRPr>
          </a:p>
        </p:txBody>
      </p:sp>
      <p:cxnSp>
        <p:nvCxnSpPr>
          <p:cNvPr id="16" name="直線コネクタ 15">
            <a:extLst>
              <a:ext uri="{FF2B5EF4-FFF2-40B4-BE49-F238E27FC236}">
                <a16:creationId xmlns:a16="http://schemas.microsoft.com/office/drawing/2014/main" id="{E05F9790-8F74-A2A5-2805-1CA6FAAAFCAD}"/>
              </a:ext>
            </a:extLst>
          </p:cNvPr>
          <p:cNvCxnSpPr/>
          <p:nvPr/>
        </p:nvCxnSpPr>
        <p:spPr>
          <a:xfrm>
            <a:off x="7825004" y="3841904"/>
            <a:ext cx="0" cy="21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95CF8947-DF01-3E72-EC95-9E00DA3FD294}"/>
              </a:ext>
            </a:extLst>
          </p:cNvPr>
          <p:cNvCxnSpPr>
            <a:cxnSpLocks/>
          </p:cNvCxnSpPr>
          <p:nvPr/>
        </p:nvCxnSpPr>
        <p:spPr>
          <a:xfrm>
            <a:off x="6159329" y="4403087"/>
            <a:ext cx="5145087"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楕円 19">
            <a:extLst>
              <a:ext uri="{FF2B5EF4-FFF2-40B4-BE49-F238E27FC236}">
                <a16:creationId xmlns:a16="http://schemas.microsoft.com/office/drawing/2014/main" id="{42F81587-0532-9D85-79F8-C2C60C3349F1}"/>
              </a:ext>
            </a:extLst>
          </p:cNvPr>
          <p:cNvSpPr/>
          <p:nvPr/>
        </p:nvSpPr>
        <p:spPr>
          <a:xfrm>
            <a:off x="9586741" y="4355462"/>
            <a:ext cx="111125" cy="104775"/>
          </a:xfrm>
          <a:prstGeom prst="ellipse">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400">
              <a:solidFill>
                <a:schemeClr val="tx1"/>
              </a:solidFill>
            </a:endParaRPr>
          </a:p>
        </p:txBody>
      </p:sp>
      <p:cxnSp>
        <p:nvCxnSpPr>
          <p:cNvPr id="21" name="直線コネクタ 20">
            <a:extLst>
              <a:ext uri="{FF2B5EF4-FFF2-40B4-BE49-F238E27FC236}">
                <a16:creationId xmlns:a16="http://schemas.microsoft.com/office/drawing/2014/main" id="{7878ABE2-0B36-3271-859B-1A21C1E3C90C}"/>
              </a:ext>
            </a:extLst>
          </p:cNvPr>
          <p:cNvCxnSpPr/>
          <p:nvPr/>
        </p:nvCxnSpPr>
        <p:spPr>
          <a:xfrm>
            <a:off x="9642110" y="3826745"/>
            <a:ext cx="0" cy="21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38EDB407-8740-73CF-1CCC-05FA2232CD1C}"/>
              </a:ext>
            </a:extLst>
          </p:cNvPr>
          <p:cNvCxnSpPr/>
          <p:nvPr/>
        </p:nvCxnSpPr>
        <p:spPr>
          <a:xfrm>
            <a:off x="7950594" y="4321119"/>
            <a:ext cx="0" cy="170006"/>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7504B6D5-8EB9-3584-055E-2611096CE033}"/>
              </a:ext>
            </a:extLst>
          </p:cNvPr>
          <p:cNvCxnSpPr/>
          <p:nvPr/>
        </p:nvCxnSpPr>
        <p:spPr>
          <a:xfrm>
            <a:off x="7701039" y="4324295"/>
            <a:ext cx="0" cy="170006"/>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D8017FB4-8922-4190-2102-594D05C1C425}"/>
              </a:ext>
            </a:extLst>
          </p:cNvPr>
          <p:cNvCxnSpPr/>
          <p:nvPr/>
        </p:nvCxnSpPr>
        <p:spPr>
          <a:xfrm>
            <a:off x="9503169" y="4333540"/>
            <a:ext cx="0" cy="170006"/>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53E59D35-91CF-8F01-188C-218530423AAE}"/>
              </a:ext>
            </a:extLst>
          </p:cNvPr>
          <p:cNvCxnSpPr/>
          <p:nvPr/>
        </p:nvCxnSpPr>
        <p:spPr>
          <a:xfrm>
            <a:off x="9768203" y="4336832"/>
            <a:ext cx="0" cy="170006"/>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5" name="テキスト ボックス 44">
            <a:extLst>
              <a:ext uri="{FF2B5EF4-FFF2-40B4-BE49-F238E27FC236}">
                <a16:creationId xmlns:a16="http://schemas.microsoft.com/office/drawing/2014/main" id="{B38D3582-EEF8-74F1-8B42-551FC0AC635F}"/>
              </a:ext>
            </a:extLst>
          </p:cNvPr>
          <p:cNvSpPr txBox="1"/>
          <p:nvPr/>
        </p:nvSpPr>
        <p:spPr>
          <a:xfrm>
            <a:off x="9308959" y="3284123"/>
            <a:ext cx="2494713" cy="258020"/>
          </a:xfrm>
          <a:prstGeom prst="rect">
            <a:avLst/>
          </a:prstGeom>
          <a:noFill/>
        </p:spPr>
        <p:txBody>
          <a:bodyPr wrap="square" lIns="0" rIns="0" rtlCol="0">
            <a:noAutofit/>
          </a:bodyPr>
          <a:lstStyle/>
          <a:p>
            <a:pPr algn="l" defTabSz="288000"/>
            <a:r>
              <a:rPr kumimoji="1" lang="en-US" altLang="ja-JP" sz="1200" dirty="0">
                <a:latin typeface="+mn-ea"/>
              </a:rPr>
              <a:t>※</a:t>
            </a:r>
            <a:r>
              <a:rPr kumimoji="1" lang="ja-JP" altLang="en-US" sz="1200" dirty="0">
                <a:latin typeface="+mn-ea"/>
              </a:rPr>
              <a:t>申込当日を</a:t>
            </a:r>
            <a:r>
              <a:rPr kumimoji="1" lang="en-US" altLang="ja-JP" sz="1200" dirty="0">
                <a:latin typeface="+mn-ea"/>
              </a:rPr>
              <a:t>6/3</a:t>
            </a:r>
            <a:r>
              <a:rPr kumimoji="1" lang="ja-JP" altLang="en-US" sz="1200" dirty="0">
                <a:latin typeface="+mn-ea"/>
              </a:rPr>
              <a:t>とする</a:t>
            </a:r>
          </a:p>
        </p:txBody>
      </p:sp>
      <p:sp>
        <p:nvSpPr>
          <p:cNvPr id="51" name="楕円 50">
            <a:extLst>
              <a:ext uri="{FF2B5EF4-FFF2-40B4-BE49-F238E27FC236}">
                <a16:creationId xmlns:a16="http://schemas.microsoft.com/office/drawing/2014/main" id="{6C3066B7-61CF-EAC1-302E-40E759CC036C}"/>
              </a:ext>
            </a:extLst>
          </p:cNvPr>
          <p:cNvSpPr/>
          <p:nvPr/>
        </p:nvSpPr>
        <p:spPr>
          <a:xfrm>
            <a:off x="7008813" y="5238250"/>
            <a:ext cx="717550" cy="330200"/>
          </a:xfrm>
          <a:prstGeom prst="ellipse">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en-US" altLang="ja-JP" sz="1600">
                <a:solidFill>
                  <a:schemeClr val="tx1"/>
                </a:solidFill>
              </a:rPr>
              <a:t>6/3</a:t>
            </a:r>
            <a:endParaRPr kumimoji="1" lang="ja-JP" altLang="en-US" sz="1600">
              <a:solidFill>
                <a:schemeClr val="tx1"/>
              </a:solidFill>
            </a:endParaRPr>
          </a:p>
        </p:txBody>
      </p:sp>
      <p:sp>
        <p:nvSpPr>
          <p:cNvPr id="52" name="楕円 51">
            <a:extLst>
              <a:ext uri="{FF2B5EF4-FFF2-40B4-BE49-F238E27FC236}">
                <a16:creationId xmlns:a16="http://schemas.microsoft.com/office/drawing/2014/main" id="{3560FE33-756F-85F8-6773-D9E3D303EFF5}"/>
              </a:ext>
            </a:extLst>
          </p:cNvPr>
          <p:cNvSpPr/>
          <p:nvPr/>
        </p:nvSpPr>
        <p:spPr>
          <a:xfrm>
            <a:off x="7870826" y="5238250"/>
            <a:ext cx="727075" cy="334962"/>
          </a:xfrm>
          <a:prstGeom prst="ellips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en-US" altLang="ja-JP" sz="1600">
                <a:solidFill>
                  <a:schemeClr val="tx1"/>
                </a:solidFill>
              </a:rPr>
              <a:t>6/4</a:t>
            </a:r>
            <a:endParaRPr kumimoji="1" lang="ja-JP" altLang="en-US" sz="1600">
              <a:solidFill>
                <a:schemeClr val="tx1"/>
              </a:solidFill>
            </a:endParaRPr>
          </a:p>
        </p:txBody>
      </p:sp>
      <p:sp>
        <p:nvSpPr>
          <p:cNvPr id="57" name="楕円 56">
            <a:extLst>
              <a:ext uri="{FF2B5EF4-FFF2-40B4-BE49-F238E27FC236}">
                <a16:creationId xmlns:a16="http://schemas.microsoft.com/office/drawing/2014/main" id="{ECEF0F8A-A8F8-1E7F-E420-757573AF6000}"/>
              </a:ext>
            </a:extLst>
          </p:cNvPr>
          <p:cNvSpPr/>
          <p:nvPr/>
        </p:nvSpPr>
        <p:spPr>
          <a:xfrm>
            <a:off x="9705976" y="5238250"/>
            <a:ext cx="730250" cy="328613"/>
          </a:xfrm>
          <a:prstGeom prst="ellips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en-US" altLang="ja-JP" sz="1600" dirty="0">
                <a:solidFill>
                  <a:schemeClr val="tx1"/>
                </a:solidFill>
              </a:rPr>
              <a:t>7/3</a:t>
            </a:r>
            <a:endParaRPr kumimoji="1" lang="ja-JP" altLang="en-US" sz="1600" dirty="0">
              <a:solidFill>
                <a:schemeClr val="tx1"/>
              </a:solidFill>
            </a:endParaRPr>
          </a:p>
        </p:txBody>
      </p:sp>
      <p:sp>
        <p:nvSpPr>
          <p:cNvPr id="58" name="楕円 57">
            <a:extLst>
              <a:ext uri="{FF2B5EF4-FFF2-40B4-BE49-F238E27FC236}">
                <a16:creationId xmlns:a16="http://schemas.microsoft.com/office/drawing/2014/main" id="{04030E87-91A9-7894-8870-84AB2F599B11}"/>
              </a:ext>
            </a:extLst>
          </p:cNvPr>
          <p:cNvSpPr/>
          <p:nvPr/>
        </p:nvSpPr>
        <p:spPr>
          <a:xfrm>
            <a:off x="8845551" y="5238250"/>
            <a:ext cx="727075" cy="330200"/>
          </a:xfrm>
          <a:prstGeom prst="ellips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en-US" altLang="ja-JP" sz="1600" dirty="0">
                <a:solidFill>
                  <a:schemeClr val="tx1"/>
                </a:solidFill>
              </a:rPr>
              <a:t>7/2</a:t>
            </a:r>
            <a:endParaRPr kumimoji="1" lang="ja-JP" altLang="en-US" sz="1600" dirty="0">
              <a:solidFill>
                <a:schemeClr val="tx1"/>
              </a:solidFill>
            </a:endParaRPr>
          </a:p>
        </p:txBody>
      </p:sp>
      <p:sp>
        <p:nvSpPr>
          <p:cNvPr id="73" name="テキスト ボックス 16">
            <a:extLst>
              <a:ext uri="{FF2B5EF4-FFF2-40B4-BE49-F238E27FC236}">
                <a16:creationId xmlns:a16="http://schemas.microsoft.com/office/drawing/2014/main" id="{32615A28-49F3-0DCD-46AD-6E54C8F288E3}"/>
              </a:ext>
            </a:extLst>
          </p:cNvPr>
          <p:cNvSpPr txBox="1"/>
          <p:nvPr/>
        </p:nvSpPr>
        <p:spPr>
          <a:xfrm>
            <a:off x="7826398" y="5591466"/>
            <a:ext cx="821580" cy="32385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1100" dirty="0"/>
              <a:t>1</a:t>
            </a:r>
            <a:r>
              <a:rPr kumimoji="1" lang="ja-JP" altLang="en-US" sz="1100" dirty="0"/>
              <a:t>日後</a:t>
            </a:r>
          </a:p>
        </p:txBody>
      </p:sp>
      <p:sp>
        <p:nvSpPr>
          <p:cNvPr id="74" name="テキスト ボックス 33">
            <a:extLst>
              <a:ext uri="{FF2B5EF4-FFF2-40B4-BE49-F238E27FC236}">
                <a16:creationId xmlns:a16="http://schemas.microsoft.com/office/drawing/2014/main" id="{92B2DE55-A1DD-BF33-9F03-BE92C908BF92}"/>
              </a:ext>
            </a:extLst>
          </p:cNvPr>
          <p:cNvSpPr txBox="1"/>
          <p:nvPr/>
        </p:nvSpPr>
        <p:spPr>
          <a:xfrm>
            <a:off x="8916817" y="5591466"/>
            <a:ext cx="619125" cy="32385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ja-JP" dirty="0"/>
              <a:t>29</a:t>
            </a:r>
            <a:r>
              <a:rPr kumimoji="1" lang="ja-JP" altLang="en-US" sz="1100" dirty="0"/>
              <a:t>日後</a:t>
            </a:r>
          </a:p>
        </p:txBody>
      </p:sp>
      <p:sp>
        <p:nvSpPr>
          <p:cNvPr id="75" name="テキスト ボックス 34">
            <a:extLst>
              <a:ext uri="{FF2B5EF4-FFF2-40B4-BE49-F238E27FC236}">
                <a16:creationId xmlns:a16="http://schemas.microsoft.com/office/drawing/2014/main" id="{34AA6313-B79F-B8BC-6449-87D8EC86476E}"/>
              </a:ext>
            </a:extLst>
          </p:cNvPr>
          <p:cNvSpPr txBox="1"/>
          <p:nvPr/>
        </p:nvSpPr>
        <p:spPr>
          <a:xfrm>
            <a:off x="7064478" y="5591466"/>
            <a:ext cx="628650" cy="32385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1100" dirty="0"/>
              <a:t>当日</a:t>
            </a:r>
          </a:p>
        </p:txBody>
      </p:sp>
      <p:sp>
        <p:nvSpPr>
          <p:cNvPr id="76" name="テキスト ボックス 33">
            <a:extLst>
              <a:ext uri="{FF2B5EF4-FFF2-40B4-BE49-F238E27FC236}">
                <a16:creationId xmlns:a16="http://schemas.microsoft.com/office/drawing/2014/main" id="{5F127E50-1CA4-00EB-C89F-76AC2C9687E4}"/>
              </a:ext>
            </a:extLst>
          </p:cNvPr>
          <p:cNvSpPr txBox="1"/>
          <p:nvPr/>
        </p:nvSpPr>
        <p:spPr>
          <a:xfrm>
            <a:off x="9758908" y="5591466"/>
            <a:ext cx="619125" cy="32385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ja-JP" dirty="0"/>
              <a:t>30</a:t>
            </a:r>
            <a:r>
              <a:rPr kumimoji="1" lang="ja-JP" altLang="en-US" sz="1100" dirty="0"/>
              <a:t>日後</a:t>
            </a:r>
          </a:p>
        </p:txBody>
      </p:sp>
      <p:cxnSp>
        <p:nvCxnSpPr>
          <p:cNvPr id="79" name="直線矢印コネクタ 78">
            <a:extLst>
              <a:ext uri="{FF2B5EF4-FFF2-40B4-BE49-F238E27FC236}">
                <a16:creationId xmlns:a16="http://schemas.microsoft.com/office/drawing/2014/main" id="{8A7A8297-748E-063D-DF9B-4C11A1DC3DD3}"/>
              </a:ext>
            </a:extLst>
          </p:cNvPr>
          <p:cNvCxnSpPr>
            <a:cxnSpLocks/>
          </p:cNvCxnSpPr>
          <p:nvPr/>
        </p:nvCxnSpPr>
        <p:spPr>
          <a:xfrm flipH="1">
            <a:off x="7375921" y="4546207"/>
            <a:ext cx="331539" cy="682567"/>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2" name="直線矢印コネクタ 81">
            <a:extLst>
              <a:ext uri="{FF2B5EF4-FFF2-40B4-BE49-F238E27FC236}">
                <a16:creationId xmlns:a16="http://schemas.microsoft.com/office/drawing/2014/main" id="{FC04C715-A926-85FB-282E-A5936F030D9A}"/>
              </a:ext>
            </a:extLst>
          </p:cNvPr>
          <p:cNvCxnSpPr>
            <a:cxnSpLocks/>
          </p:cNvCxnSpPr>
          <p:nvPr/>
        </p:nvCxnSpPr>
        <p:spPr>
          <a:xfrm flipH="1">
            <a:off x="9156167" y="4540247"/>
            <a:ext cx="331539" cy="682567"/>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3" name="直線矢印コネクタ 82">
            <a:extLst>
              <a:ext uri="{FF2B5EF4-FFF2-40B4-BE49-F238E27FC236}">
                <a16:creationId xmlns:a16="http://schemas.microsoft.com/office/drawing/2014/main" id="{EDF1D2A6-DC09-1252-6B15-8A2CF9936379}"/>
              </a:ext>
            </a:extLst>
          </p:cNvPr>
          <p:cNvCxnSpPr>
            <a:cxnSpLocks/>
            <a:endCxn id="57" idx="0"/>
          </p:cNvCxnSpPr>
          <p:nvPr/>
        </p:nvCxnSpPr>
        <p:spPr>
          <a:xfrm>
            <a:off x="9758908" y="4541548"/>
            <a:ext cx="312193" cy="696702"/>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6" name="直線矢印コネクタ 85">
            <a:extLst>
              <a:ext uri="{FF2B5EF4-FFF2-40B4-BE49-F238E27FC236}">
                <a16:creationId xmlns:a16="http://schemas.microsoft.com/office/drawing/2014/main" id="{9E0BA058-694F-2951-0BA4-9D7CF6CE635D}"/>
              </a:ext>
            </a:extLst>
          </p:cNvPr>
          <p:cNvCxnSpPr>
            <a:cxnSpLocks/>
          </p:cNvCxnSpPr>
          <p:nvPr/>
        </p:nvCxnSpPr>
        <p:spPr>
          <a:xfrm>
            <a:off x="7953118" y="4545100"/>
            <a:ext cx="312193" cy="696702"/>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28921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8824C-7B16-9F75-10A8-693585877DDE}"/>
            </a:ext>
          </a:extLst>
        </p:cNvPr>
        <p:cNvGrpSpPr/>
        <p:nvPr/>
      </p:nvGrpSpPr>
      <p:grpSpPr>
        <a:xfrm>
          <a:off x="0" y="0"/>
          <a:ext cx="0" cy="0"/>
          <a:chOff x="0" y="0"/>
          <a:chExt cx="0" cy="0"/>
        </a:xfrm>
      </p:grpSpPr>
      <p:sp>
        <p:nvSpPr>
          <p:cNvPr id="41" name="正方形/長方形 40">
            <a:extLst>
              <a:ext uri="{FF2B5EF4-FFF2-40B4-BE49-F238E27FC236}">
                <a16:creationId xmlns:a16="http://schemas.microsoft.com/office/drawing/2014/main" id="{7C62E16F-5397-AC52-B833-8291F03E31CE}"/>
              </a:ext>
            </a:extLst>
          </p:cNvPr>
          <p:cNvSpPr/>
          <p:nvPr/>
        </p:nvSpPr>
        <p:spPr>
          <a:xfrm>
            <a:off x="8363284" y="2079435"/>
            <a:ext cx="3697757" cy="169200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46" name="図 45" descr="ダイアグラム&#10;&#10;AI によって生成されたコンテンツは間違っている可能性があります。">
            <a:extLst>
              <a:ext uri="{FF2B5EF4-FFF2-40B4-BE49-F238E27FC236}">
                <a16:creationId xmlns:a16="http://schemas.microsoft.com/office/drawing/2014/main" id="{6C27FF53-9CB6-9E56-46B5-B1FA0B9D7FE8}"/>
              </a:ext>
            </a:extLst>
          </p:cNvPr>
          <p:cNvPicPr>
            <a:picLocks noChangeAspect="1"/>
          </p:cNvPicPr>
          <p:nvPr/>
        </p:nvPicPr>
        <p:blipFill>
          <a:blip r:embed="rId2"/>
          <a:srcRect l="26196" t="37500" r="9076" b="22222"/>
          <a:stretch/>
        </p:blipFill>
        <p:spPr>
          <a:xfrm>
            <a:off x="8421184" y="2145733"/>
            <a:ext cx="3638930" cy="1456788"/>
          </a:xfrm>
          <a:prstGeom prst="rect">
            <a:avLst/>
          </a:prstGeom>
        </p:spPr>
      </p:pic>
      <p:sp>
        <p:nvSpPr>
          <p:cNvPr id="2" name="タイトル 1">
            <a:extLst>
              <a:ext uri="{FF2B5EF4-FFF2-40B4-BE49-F238E27FC236}">
                <a16:creationId xmlns:a16="http://schemas.microsoft.com/office/drawing/2014/main" id="{54151969-CE89-BA45-9562-8D087EADBF42}"/>
              </a:ext>
            </a:extLst>
          </p:cNvPr>
          <p:cNvSpPr>
            <a:spLocks noGrp="1"/>
          </p:cNvSpPr>
          <p:nvPr>
            <p:ph type="title"/>
          </p:nvPr>
        </p:nvSpPr>
        <p:spPr/>
        <p:txBody>
          <a:bodyPr/>
          <a:lstStyle/>
          <a:p>
            <a:r>
              <a:rPr kumimoji="1" lang="ja-JP" altLang="en-US" dirty="0"/>
              <a:t>ブラックボックステスト：</a:t>
            </a:r>
            <a:r>
              <a:rPr lang="ja-JP" altLang="en-US" dirty="0"/>
              <a:t>境界値分析</a:t>
            </a:r>
            <a:endParaRPr kumimoji="1" lang="ja-JP" altLang="en-US" dirty="0"/>
          </a:p>
        </p:txBody>
      </p:sp>
      <p:sp>
        <p:nvSpPr>
          <p:cNvPr id="3" name="コンテンツ プレースホルダー 2">
            <a:extLst>
              <a:ext uri="{FF2B5EF4-FFF2-40B4-BE49-F238E27FC236}">
                <a16:creationId xmlns:a16="http://schemas.microsoft.com/office/drawing/2014/main" id="{1803C2A2-5D82-84DC-BFA3-F1847F912D72}"/>
              </a:ext>
            </a:extLst>
          </p:cNvPr>
          <p:cNvSpPr>
            <a:spLocks noGrp="1"/>
          </p:cNvSpPr>
          <p:nvPr>
            <p:ph sz="quarter" idx="10"/>
          </p:nvPr>
        </p:nvSpPr>
        <p:spPr>
          <a:xfrm>
            <a:off x="371474" y="1038386"/>
            <a:ext cx="11448000" cy="5196814"/>
          </a:xfrm>
        </p:spPr>
        <p:txBody>
          <a:bodyPr/>
          <a:lstStyle/>
          <a:p>
            <a:r>
              <a:rPr lang="ja-JP" altLang="en-US" u="sng" dirty="0">
                <a:solidFill>
                  <a:schemeClr val="tx1"/>
                </a:solidFill>
              </a:rPr>
              <a:t>境界値分析</a:t>
            </a:r>
            <a:endParaRPr lang="en-US" altLang="ja-JP" u="sng" dirty="0">
              <a:solidFill>
                <a:schemeClr val="tx1"/>
              </a:solidFill>
            </a:endParaRPr>
          </a:p>
          <a:p>
            <a:r>
              <a:rPr lang="ja-JP" altLang="en-US" dirty="0">
                <a:solidFill>
                  <a:schemeClr val="tx1"/>
                </a:solidFill>
              </a:rPr>
              <a:t>各同値クラスに対して、その</a:t>
            </a:r>
            <a:r>
              <a:rPr lang="ja-JP" altLang="en-US" sz="2000" b="1" i="0" dirty="0">
                <a:solidFill>
                  <a:schemeClr val="tx1"/>
                </a:solidFill>
                <a:effectLst/>
                <a:latin typeface="__Inter_a184c8"/>
              </a:rPr>
              <a:t>境界値</a:t>
            </a:r>
            <a:r>
              <a:rPr lang="ja-JP" altLang="en-US" b="0" i="0" dirty="0">
                <a:solidFill>
                  <a:schemeClr val="tx1"/>
                </a:solidFill>
                <a:effectLst/>
                <a:latin typeface="__Inter_a184c8"/>
              </a:rPr>
              <a:t>（範囲の端にある値）のテスト項目やテストケースを作成する</a:t>
            </a:r>
            <a:r>
              <a:rPr lang="ja-JP" altLang="en-US" dirty="0">
                <a:latin typeface="__Inter_a184c8"/>
              </a:rPr>
              <a:t>技法</a:t>
            </a:r>
            <a:endParaRPr lang="en-US" altLang="ja-JP" dirty="0">
              <a:latin typeface="__Inter_a184c8"/>
            </a:endParaRPr>
          </a:p>
          <a:p>
            <a:endParaRPr kumimoji="1" lang="en-US" altLang="ja-JP" dirty="0"/>
          </a:p>
          <a:p>
            <a:r>
              <a:rPr lang="ja-JP" altLang="en-US" dirty="0"/>
              <a:t>例）</a:t>
            </a:r>
            <a:endParaRPr kumimoji="1" lang="en-US" altLang="ja-JP" dirty="0"/>
          </a:p>
        </p:txBody>
      </p:sp>
      <p:grpSp>
        <p:nvGrpSpPr>
          <p:cNvPr id="59" name="グループ化 58">
            <a:extLst>
              <a:ext uri="{FF2B5EF4-FFF2-40B4-BE49-F238E27FC236}">
                <a16:creationId xmlns:a16="http://schemas.microsoft.com/office/drawing/2014/main" id="{AEF7CE64-54A4-FF9E-CF14-5ED4ED0FD20E}"/>
              </a:ext>
            </a:extLst>
          </p:cNvPr>
          <p:cNvGrpSpPr/>
          <p:nvPr/>
        </p:nvGrpSpPr>
        <p:grpSpPr>
          <a:xfrm>
            <a:off x="371474" y="2466483"/>
            <a:ext cx="5767538" cy="1293618"/>
            <a:chOff x="371474" y="2466483"/>
            <a:chExt cx="5767538" cy="1293618"/>
          </a:xfrm>
        </p:grpSpPr>
        <p:pic>
          <p:nvPicPr>
            <p:cNvPr id="56" name="図 55" descr="テーブル&#10;&#10;AI によって生成されたコンテンツは間違っている可能性があります。">
              <a:extLst>
                <a:ext uri="{FF2B5EF4-FFF2-40B4-BE49-F238E27FC236}">
                  <a16:creationId xmlns:a16="http://schemas.microsoft.com/office/drawing/2014/main" id="{8019D62B-7968-C7C3-56B3-281730FB84FC}"/>
                </a:ext>
              </a:extLst>
            </p:cNvPr>
            <p:cNvPicPr>
              <a:picLocks noChangeAspect="1"/>
            </p:cNvPicPr>
            <p:nvPr/>
          </p:nvPicPr>
          <p:blipFill>
            <a:blip r:embed="rId3"/>
            <a:srcRect l="3944" t="33888" r="16419" b="47308"/>
            <a:stretch/>
          </p:blipFill>
          <p:spPr>
            <a:xfrm>
              <a:off x="379012" y="2742023"/>
              <a:ext cx="5760000" cy="1018078"/>
            </a:xfrm>
            <a:prstGeom prst="rect">
              <a:avLst/>
            </a:prstGeom>
          </p:spPr>
        </p:pic>
        <p:pic>
          <p:nvPicPr>
            <p:cNvPr id="7" name="図 6" descr="テーブル&#10;&#10;AI によって生成されたコンテンツは間違っている可能性があります。">
              <a:extLst>
                <a:ext uri="{FF2B5EF4-FFF2-40B4-BE49-F238E27FC236}">
                  <a16:creationId xmlns:a16="http://schemas.microsoft.com/office/drawing/2014/main" id="{F0A758E6-4EB0-104F-B9DE-5203D1E828F4}"/>
                </a:ext>
              </a:extLst>
            </p:cNvPr>
            <p:cNvPicPr>
              <a:picLocks noChangeAspect="1"/>
            </p:cNvPicPr>
            <p:nvPr/>
          </p:nvPicPr>
          <p:blipFill>
            <a:blip r:embed="rId4"/>
            <a:srcRect t="895" r="17302" b="95116"/>
            <a:stretch/>
          </p:blipFill>
          <p:spPr>
            <a:xfrm>
              <a:off x="371474" y="2466483"/>
              <a:ext cx="5760000" cy="275540"/>
            </a:xfrm>
            <a:prstGeom prst="rect">
              <a:avLst/>
            </a:prstGeom>
          </p:spPr>
        </p:pic>
      </p:grpSp>
      <p:sp>
        <p:nvSpPr>
          <p:cNvPr id="30" name="テキスト ボックス 29">
            <a:extLst>
              <a:ext uri="{FF2B5EF4-FFF2-40B4-BE49-F238E27FC236}">
                <a16:creationId xmlns:a16="http://schemas.microsoft.com/office/drawing/2014/main" id="{9E813542-2CDC-EC1B-9619-B8A78F8B341E}"/>
              </a:ext>
            </a:extLst>
          </p:cNvPr>
          <p:cNvSpPr txBox="1"/>
          <p:nvPr/>
        </p:nvSpPr>
        <p:spPr>
          <a:xfrm>
            <a:off x="1638931" y="4489207"/>
            <a:ext cx="1767892" cy="432128"/>
          </a:xfrm>
          <a:prstGeom prst="rect">
            <a:avLst/>
          </a:prstGeom>
          <a:noFill/>
        </p:spPr>
        <p:txBody>
          <a:bodyPr wrap="square" lIns="0" rIns="0" rtlCol="0">
            <a:noAutofit/>
          </a:bodyPr>
          <a:lstStyle/>
          <a:p>
            <a:pPr algn="l" defTabSz="288000"/>
            <a:r>
              <a:rPr kumimoji="1" lang="ja-JP" altLang="en-US" dirty="0">
                <a:latin typeface="+mn-ea"/>
              </a:rPr>
              <a:t>テストケースを作成</a:t>
            </a:r>
          </a:p>
        </p:txBody>
      </p:sp>
      <p:sp>
        <p:nvSpPr>
          <p:cNvPr id="47" name="四角形: 角を丸くする 46">
            <a:extLst>
              <a:ext uri="{FF2B5EF4-FFF2-40B4-BE49-F238E27FC236}">
                <a16:creationId xmlns:a16="http://schemas.microsoft.com/office/drawing/2014/main" id="{8599A505-78D0-CBE0-86E9-E99A2513153B}"/>
              </a:ext>
            </a:extLst>
          </p:cNvPr>
          <p:cNvSpPr/>
          <p:nvPr/>
        </p:nvSpPr>
        <p:spPr>
          <a:xfrm>
            <a:off x="6180878" y="2974555"/>
            <a:ext cx="2086153" cy="252000"/>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solidFill>
                  <a:schemeClr val="tx1"/>
                </a:solidFill>
              </a:rPr>
              <a:t>有効値</a:t>
            </a:r>
            <a:r>
              <a:rPr lang="ja-JP" altLang="en-US" sz="1200" dirty="0">
                <a:solidFill>
                  <a:schemeClr val="tx1"/>
                </a:solidFill>
              </a:rPr>
              <a:t>：早期割なし（下限）</a:t>
            </a:r>
            <a:endParaRPr kumimoji="1" lang="en-US" altLang="ja-JP" sz="1200" dirty="0">
              <a:solidFill>
                <a:schemeClr val="tx1"/>
              </a:solidFill>
            </a:endParaRPr>
          </a:p>
        </p:txBody>
      </p:sp>
      <p:sp>
        <p:nvSpPr>
          <p:cNvPr id="48" name="四角形: 角を丸くする 47">
            <a:extLst>
              <a:ext uri="{FF2B5EF4-FFF2-40B4-BE49-F238E27FC236}">
                <a16:creationId xmlns:a16="http://schemas.microsoft.com/office/drawing/2014/main" id="{B7D632D0-2AD9-16B2-B541-77ECE3FFD8D9}"/>
              </a:ext>
            </a:extLst>
          </p:cNvPr>
          <p:cNvSpPr/>
          <p:nvPr/>
        </p:nvSpPr>
        <p:spPr>
          <a:xfrm>
            <a:off x="6180879" y="2695198"/>
            <a:ext cx="1440000" cy="252000"/>
          </a:xfrm>
          <a:prstGeom prst="roundRect">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solidFill>
                  <a:schemeClr val="tx1"/>
                </a:solidFill>
              </a:rPr>
              <a:t>無効値（上限）</a:t>
            </a:r>
            <a:endParaRPr kumimoji="1" lang="en-US" altLang="ja-JP" sz="1200" dirty="0">
              <a:solidFill>
                <a:schemeClr val="tx1"/>
              </a:solidFill>
            </a:endParaRPr>
          </a:p>
        </p:txBody>
      </p:sp>
      <p:sp>
        <p:nvSpPr>
          <p:cNvPr id="49" name="四角形: 角を丸くする 48">
            <a:extLst>
              <a:ext uri="{FF2B5EF4-FFF2-40B4-BE49-F238E27FC236}">
                <a16:creationId xmlns:a16="http://schemas.microsoft.com/office/drawing/2014/main" id="{D09149A4-73E9-C028-0AEC-D178E8ED841C}"/>
              </a:ext>
            </a:extLst>
          </p:cNvPr>
          <p:cNvSpPr/>
          <p:nvPr/>
        </p:nvSpPr>
        <p:spPr>
          <a:xfrm>
            <a:off x="6180879" y="3253912"/>
            <a:ext cx="2086152" cy="252000"/>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lang="ja-JP" altLang="en-US" sz="1200" dirty="0">
                <a:solidFill>
                  <a:schemeClr val="tx1"/>
                </a:solidFill>
              </a:rPr>
              <a:t>有効値：早期割なし（上限）</a:t>
            </a:r>
            <a:endParaRPr lang="en-US" altLang="ja-JP" sz="1200" dirty="0">
              <a:solidFill>
                <a:schemeClr val="tx1"/>
              </a:solidFill>
            </a:endParaRPr>
          </a:p>
        </p:txBody>
      </p:sp>
      <p:sp>
        <p:nvSpPr>
          <p:cNvPr id="53" name="四角形: 角を丸くする 52">
            <a:extLst>
              <a:ext uri="{FF2B5EF4-FFF2-40B4-BE49-F238E27FC236}">
                <a16:creationId xmlns:a16="http://schemas.microsoft.com/office/drawing/2014/main" id="{8C3ACE24-0EB7-FEFC-F059-50BA34E685B0}"/>
              </a:ext>
            </a:extLst>
          </p:cNvPr>
          <p:cNvSpPr/>
          <p:nvPr/>
        </p:nvSpPr>
        <p:spPr>
          <a:xfrm>
            <a:off x="6180879" y="3529672"/>
            <a:ext cx="2086152" cy="252000"/>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lang="ja-JP" altLang="en-US" sz="1200" dirty="0">
                <a:solidFill>
                  <a:schemeClr val="tx1"/>
                </a:solidFill>
              </a:rPr>
              <a:t>有効値：早期割あり（下限）</a:t>
            </a:r>
            <a:endParaRPr lang="en-US" altLang="ja-JP" sz="1200" dirty="0">
              <a:solidFill>
                <a:schemeClr val="tx1"/>
              </a:solidFill>
            </a:endParaRPr>
          </a:p>
        </p:txBody>
      </p:sp>
      <p:sp>
        <p:nvSpPr>
          <p:cNvPr id="54" name="矢印: 上向き折線 53">
            <a:extLst>
              <a:ext uri="{FF2B5EF4-FFF2-40B4-BE49-F238E27FC236}">
                <a16:creationId xmlns:a16="http://schemas.microsoft.com/office/drawing/2014/main" id="{240E5815-537C-B8E7-1979-023BFA005FAE}"/>
              </a:ext>
            </a:extLst>
          </p:cNvPr>
          <p:cNvSpPr/>
          <p:nvPr/>
        </p:nvSpPr>
        <p:spPr>
          <a:xfrm rot="5400000">
            <a:off x="2805177" y="3864146"/>
            <a:ext cx="638175" cy="611947"/>
          </a:xfrm>
          <a:prstGeom prst="bentUpArrow">
            <a:avLst/>
          </a:prstGeom>
          <a:solidFill>
            <a:schemeClr val="bg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64" name="グループ化 63">
            <a:extLst>
              <a:ext uri="{FF2B5EF4-FFF2-40B4-BE49-F238E27FC236}">
                <a16:creationId xmlns:a16="http://schemas.microsoft.com/office/drawing/2014/main" id="{26724672-4094-5FE9-C568-BFEDD4C1A86F}"/>
              </a:ext>
            </a:extLst>
          </p:cNvPr>
          <p:cNvGrpSpPr/>
          <p:nvPr/>
        </p:nvGrpSpPr>
        <p:grpSpPr>
          <a:xfrm>
            <a:off x="3544701" y="3893591"/>
            <a:ext cx="7560000" cy="2512940"/>
            <a:chOff x="3544701" y="3893591"/>
            <a:chExt cx="7560000" cy="2512940"/>
          </a:xfrm>
        </p:grpSpPr>
        <p:pic>
          <p:nvPicPr>
            <p:cNvPr id="8" name="図 7" descr="グラフィカル ユーザー インターフェイス, テキスト&#10;&#10;AI によって生成されたコンテンツは間違っている可能性があります。">
              <a:extLst>
                <a:ext uri="{FF2B5EF4-FFF2-40B4-BE49-F238E27FC236}">
                  <a16:creationId xmlns:a16="http://schemas.microsoft.com/office/drawing/2014/main" id="{1E25E51B-5955-152A-4C36-113C11D2C98F}"/>
                </a:ext>
              </a:extLst>
            </p:cNvPr>
            <p:cNvPicPr>
              <a:picLocks noChangeAspect="1"/>
            </p:cNvPicPr>
            <p:nvPr/>
          </p:nvPicPr>
          <p:blipFill>
            <a:blip r:embed="rId5"/>
            <a:srcRect l="43931" t="17652" r="783" b="79297"/>
            <a:stretch/>
          </p:blipFill>
          <p:spPr>
            <a:xfrm>
              <a:off x="3558591" y="3893591"/>
              <a:ext cx="7546110" cy="275760"/>
            </a:xfrm>
            <a:prstGeom prst="rect">
              <a:avLst/>
            </a:prstGeom>
          </p:spPr>
        </p:pic>
        <p:pic>
          <p:nvPicPr>
            <p:cNvPr id="63" name="図 62" descr="文字の書かれた紙&#10;&#10;AI によって生成されたコンテンツは間違っている可能性があります。">
              <a:extLst>
                <a:ext uri="{FF2B5EF4-FFF2-40B4-BE49-F238E27FC236}">
                  <a16:creationId xmlns:a16="http://schemas.microsoft.com/office/drawing/2014/main" id="{5979B111-4624-77DC-A1D1-50EA96AFB754}"/>
                </a:ext>
              </a:extLst>
            </p:cNvPr>
            <p:cNvPicPr>
              <a:picLocks noChangeAspect="1"/>
            </p:cNvPicPr>
            <p:nvPr/>
          </p:nvPicPr>
          <p:blipFill>
            <a:blip r:embed="rId6"/>
            <a:srcRect l="43100" t="2837" r="757" b="59301"/>
            <a:stretch/>
          </p:blipFill>
          <p:spPr>
            <a:xfrm>
              <a:off x="3544701" y="4159114"/>
              <a:ext cx="7560000" cy="2247417"/>
            </a:xfrm>
            <a:prstGeom prst="rect">
              <a:avLst/>
            </a:prstGeom>
          </p:spPr>
        </p:pic>
      </p:grpSp>
      <p:sp>
        <p:nvSpPr>
          <p:cNvPr id="5" name="正方形/長方形 4">
            <a:extLst>
              <a:ext uri="{FF2B5EF4-FFF2-40B4-BE49-F238E27FC236}">
                <a16:creationId xmlns:a16="http://schemas.microsoft.com/office/drawing/2014/main" id="{245D3F89-A014-6F47-B0D5-75FC63D6D155}"/>
              </a:ext>
            </a:extLst>
          </p:cNvPr>
          <p:cNvSpPr/>
          <p:nvPr/>
        </p:nvSpPr>
        <p:spPr>
          <a:xfrm>
            <a:off x="1981200" y="2625558"/>
            <a:ext cx="4150274" cy="1135272"/>
          </a:xfrm>
          <a:prstGeom prst="rect">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9" name="楕円 8">
            <a:extLst>
              <a:ext uri="{FF2B5EF4-FFF2-40B4-BE49-F238E27FC236}">
                <a16:creationId xmlns:a16="http://schemas.microsoft.com/office/drawing/2014/main" id="{C87BC00A-2834-BB12-D17E-F9965FDB8F97}"/>
              </a:ext>
            </a:extLst>
          </p:cNvPr>
          <p:cNvSpPr/>
          <p:nvPr/>
        </p:nvSpPr>
        <p:spPr>
          <a:xfrm>
            <a:off x="2906241" y="2711424"/>
            <a:ext cx="560042" cy="212557"/>
          </a:xfrm>
          <a:prstGeom prst="ellipse">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5" name="楕円 14">
            <a:extLst>
              <a:ext uri="{FF2B5EF4-FFF2-40B4-BE49-F238E27FC236}">
                <a16:creationId xmlns:a16="http://schemas.microsoft.com/office/drawing/2014/main" id="{C8585711-71B0-070F-7BE3-5DE0C196577C}"/>
              </a:ext>
            </a:extLst>
          </p:cNvPr>
          <p:cNvSpPr/>
          <p:nvPr/>
        </p:nvSpPr>
        <p:spPr>
          <a:xfrm>
            <a:off x="2906241" y="2954580"/>
            <a:ext cx="560042" cy="212557"/>
          </a:xfrm>
          <a:prstGeom prst="ellipse">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6" name="楕円 15">
            <a:extLst>
              <a:ext uri="{FF2B5EF4-FFF2-40B4-BE49-F238E27FC236}">
                <a16:creationId xmlns:a16="http://schemas.microsoft.com/office/drawing/2014/main" id="{5BC88084-12D4-1DA7-A91E-52C44462C898}"/>
              </a:ext>
            </a:extLst>
          </p:cNvPr>
          <p:cNvSpPr/>
          <p:nvPr/>
        </p:nvSpPr>
        <p:spPr>
          <a:xfrm>
            <a:off x="2906241" y="3210516"/>
            <a:ext cx="560042" cy="212557"/>
          </a:xfrm>
          <a:prstGeom prst="ellipse">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7" name="楕円 16">
            <a:extLst>
              <a:ext uri="{FF2B5EF4-FFF2-40B4-BE49-F238E27FC236}">
                <a16:creationId xmlns:a16="http://schemas.microsoft.com/office/drawing/2014/main" id="{7B12B72E-4DD6-E810-4666-6024F1D5C78D}"/>
              </a:ext>
            </a:extLst>
          </p:cNvPr>
          <p:cNvSpPr/>
          <p:nvPr/>
        </p:nvSpPr>
        <p:spPr>
          <a:xfrm>
            <a:off x="2906241" y="3457294"/>
            <a:ext cx="560042" cy="212557"/>
          </a:xfrm>
          <a:prstGeom prst="ellipse">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19" name="直線コネクタ 18">
            <a:extLst>
              <a:ext uri="{FF2B5EF4-FFF2-40B4-BE49-F238E27FC236}">
                <a16:creationId xmlns:a16="http://schemas.microsoft.com/office/drawing/2014/main" id="{557A3105-E278-F64F-2172-92CDD5AB8670}"/>
              </a:ext>
            </a:extLst>
          </p:cNvPr>
          <p:cNvCxnSpPr>
            <a:cxnSpLocks/>
          </p:cNvCxnSpPr>
          <p:nvPr/>
        </p:nvCxnSpPr>
        <p:spPr>
          <a:xfrm>
            <a:off x="9192119" y="3604077"/>
            <a:ext cx="320842" cy="0"/>
          </a:xfrm>
          <a:prstGeom prst="line">
            <a:avLst/>
          </a:prstGeom>
          <a:ln w="190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53BDD955-49B3-849B-3687-9700CF871538}"/>
              </a:ext>
            </a:extLst>
          </p:cNvPr>
          <p:cNvCxnSpPr>
            <a:cxnSpLocks/>
          </p:cNvCxnSpPr>
          <p:nvPr/>
        </p:nvCxnSpPr>
        <p:spPr>
          <a:xfrm>
            <a:off x="9761615" y="3604077"/>
            <a:ext cx="320842" cy="0"/>
          </a:xfrm>
          <a:prstGeom prst="line">
            <a:avLst/>
          </a:prstGeom>
          <a:ln w="190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96A54334-E767-129A-58A3-BB84132C2A40}"/>
              </a:ext>
            </a:extLst>
          </p:cNvPr>
          <p:cNvCxnSpPr>
            <a:cxnSpLocks/>
          </p:cNvCxnSpPr>
          <p:nvPr/>
        </p:nvCxnSpPr>
        <p:spPr>
          <a:xfrm>
            <a:off x="10368547" y="3604077"/>
            <a:ext cx="360000" cy="0"/>
          </a:xfrm>
          <a:prstGeom prst="line">
            <a:avLst/>
          </a:prstGeom>
          <a:ln w="190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1B8FBD7B-B643-A1EA-803F-9B43B8AD8C57}"/>
              </a:ext>
            </a:extLst>
          </p:cNvPr>
          <p:cNvCxnSpPr>
            <a:cxnSpLocks/>
          </p:cNvCxnSpPr>
          <p:nvPr/>
        </p:nvCxnSpPr>
        <p:spPr>
          <a:xfrm>
            <a:off x="10932695" y="3604077"/>
            <a:ext cx="360000" cy="0"/>
          </a:xfrm>
          <a:prstGeom prst="line">
            <a:avLst/>
          </a:prstGeom>
          <a:ln w="19050">
            <a:solidFill>
              <a:srgbClr val="FF00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56096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6649-CEAB-2B9B-1DD7-150DD37E3C4A}"/>
            </a:ext>
          </a:extLst>
        </p:cNvPr>
        <p:cNvGrpSpPr/>
        <p:nvPr/>
      </p:nvGrpSpPr>
      <p:grpSpPr>
        <a:xfrm>
          <a:off x="0" y="0"/>
          <a:ext cx="0" cy="0"/>
          <a:chOff x="0" y="0"/>
          <a:chExt cx="0" cy="0"/>
        </a:xfrm>
      </p:grpSpPr>
      <p:pic>
        <p:nvPicPr>
          <p:cNvPr id="37" name="図 36" descr="カレンダー&#10;&#10;AI によって生成されたコンテンツは間違っている可能性があります。">
            <a:extLst>
              <a:ext uri="{FF2B5EF4-FFF2-40B4-BE49-F238E27FC236}">
                <a16:creationId xmlns:a16="http://schemas.microsoft.com/office/drawing/2014/main" id="{1B81A9B0-5A0C-E391-99DA-6622B0465E38}"/>
              </a:ext>
            </a:extLst>
          </p:cNvPr>
          <p:cNvPicPr>
            <a:picLocks noChangeAspect="1"/>
          </p:cNvPicPr>
          <p:nvPr/>
        </p:nvPicPr>
        <p:blipFill>
          <a:blip r:embed="rId2"/>
          <a:srcRect l="1328" t="19867" r="32734" b="3777"/>
          <a:stretch/>
        </p:blipFill>
        <p:spPr>
          <a:xfrm>
            <a:off x="5134049" y="3318669"/>
            <a:ext cx="6741370" cy="2388237"/>
          </a:xfrm>
          <a:prstGeom prst="rect">
            <a:avLst/>
          </a:prstGeom>
        </p:spPr>
      </p:pic>
      <p:sp>
        <p:nvSpPr>
          <p:cNvPr id="2" name="タイトル 1">
            <a:extLst>
              <a:ext uri="{FF2B5EF4-FFF2-40B4-BE49-F238E27FC236}">
                <a16:creationId xmlns:a16="http://schemas.microsoft.com/office/drawing/2014/main" id="{8C107501-98E4-A002-7ADE-69F817D0FCE0}"/>
              </a:ext>
            </a:extLst>
          </p:cNvPr>
          <p:cNvSpPr>
            <a:spLocks noGrp="1"/>
          </p:cNvSpPr>
          <p:nvPr>
            <p:ph type="title"/>
          </p:nvPr>
        </p:nvSpPr>
        <p:spPr/>
        <p:txBody>
          <a:bodyPr/>
          <a:lstStyle/>
          <a:p>
            <a:r>
              <a:rPr kumimoji="1" lang="ja-JP" altLang="en-US" dirty="0"/>
              <a:t>ブラックボックステスト：</a:t>
            </a:r>
            <a:r>
              <a:rPr lang="ja-JP" altLang="en-US" dirty="0"/>
              <a:t>ディシジョンテーブルテスト</a:t>
            </a:r>
            <a:endParaRPr kumimoji="1" lang="ja-JP" altLang="en-US" dirty="0"/>
          </a:p>
        </p:txBody>
      </p:sp>
      <p:sp>
        <p:nvSpPr>
          <p:cNvPr id="3" name="コンテンツ プレースホルダー 2">
            <a:extLst>
              <a:ext uri="{FF2B5EF4-FFF2-40B4-BE49-F238E27FC236}">
                <a16:creationId xmlns:a16="http://schemas.microsoft.com/office/drawing/2014/main" id="{4A1FAF41-099A-C38D-69B6-BBFD9736C7C5}"/>
              </a:ext>
            </a:extLst>
          </p:cNvPr>
          <p:cNvSpPr>
            <a:spLocks noGrp="1"/>
          </p:cNvSpPr>
          <p:nvPr>
            <p:ph sz="quarter" idx="10"/>
          </p:nvPr>
        </p:nvSpPr>
        <p:spPr>
          <a:xfrm>
            <a:off x="392953" y="1038386"/>
            <a:ext cx="11448000" cy="5196814"/>
          </a:xfrm>
        </p:spPr>
        <p:txBody>
          <a:bodyPr/>
          <a:lstStyle/>
          <a:p>
            <a:r>
              <a:rPr lang="ja-JP" altLang="en-US" u="sng" dirty="0">
                <a:solidFill>
                  <a:schemeClr val="tx1"/>
                </a:solidFill>
              </a:rPr>
              <a:t>ディシジョンテーブルテスト</a:t>
            </a:r>
            <a:endParaRPr lang="en-US" altLang="ja-JP" u="sng" dirty="0">
              <a:solidFill>
                <a:schemeClr val="tx1"/>
              </a:solidFill>
            </a:endParaRPr>
          </a:p>
          <a:p>
            <a:r>
              <a:rPr lang="ja-JP" altLang="en-US" sz="2000" b="1" dirty="0">
                <a:solidFill>
                  <a:schemeClr val="tx1"/>
                </a:solidFill>
              </a:rPr>
              <a:t>ディシジョンテーブル</a:t>
            </a:r>
            <a:r>
              <a:rPr lang="ja-JP" altLang="en-US" dirty="0">
                <a:solidFill>
                  <a:schemeClr val="tx1"/>
                </a:solidFill>
              </a:rPr>
              <a:t>（条件と動作の組み合わせ表）を利用して</a:t>
            </a:r>
            <a:r>
              <a:rPr lang="ja-JP" altLang="en-US" sz="2000" b="1" dirty="0">
                <a:solidFill>
                  <a:schemeClr val="tx1"/>
                </a:solidFill>
              </a:rPr>
              <a:t>複雑な仕様を整理</a:t>
            </a:r>
            <a:r>
              <a:rPr lang="ja-JP" altLang="en-US" dirty="0">
                <a:solidFill>
                  <a:schemeClr val="tx1"/>
                </a:solidFill>
              </a:rPr>
              <a:t>し、テスト項目を作成・整理するときに利用する技法</a:t>
            </a:r>
            <a:endParaRPr lang="en-US" altLang="ja-JP" dirty="0">
              <a:solidFill>
                <a:schemeClr val="tx1"/>
              </a:solidFill>
            </a:endParaRPr>
          </a:p>
          <a:p>
            <a:endParaRPr kumimoji="1" lang="en-US" altLang="ja-JP" dirty="0">
              <a:solidFill>
                <a:schemeClr val="tx1"/>
              </a:solidFill>
            </a:endParaRPr>
          </a:p>
          <a:p>
            <a:r>
              <a:rPr lang="ja-JP" altLang="en-US" dirty="0">
                <a:solidFill>
                  <a:schemeClr val="tx1"/>
                </a:solidFill>
              </a:rPr>
              <a:t>例）</a:t>
            </a:r>
            <a:endParaRPr kumimoji="1" lang="ja-JP" altLang="en-US" dirty="0">
              <a:solidFill>
                <a:schemeClr val="tx1"/>
              </a:solidFill>
            </a:endParaRPr>
          </a:p>
        </p:txBody>
      </p:sp>
      <p:pic>
        <p:nvPicPr>
          <p:cNvPr id="11" name="図 10" descr="グラフィカル ユーザー インターフェイス, テキスト, アプリケーション, メール&#10;&#10;AI によって生成されたコンテンツは間違っている可能性があります。">
            <a:extLst>
              <a:ext uri="{FF2B5EF4-FFF2-40B4-BE49-F238E27FC236}">
                <a16:creationId xmlns:a16="http://schemas.microsoft.com/office/drawing/2014/main" id="{A47F313A-B70C-F6E1-0CD0-D04FBBF8ADB8}"/>
              </a:ext>
            </a:extLst>
          </p:cNvPr>
          <p:cNvPicPr>
            <a:picLocks noChangeAspect="1"/>
          </p:cNvPicPr>
          <p:nvPr/>
        </p:nvPicPr>
        <p:blipFill>
          <a:blip r:embed="rId3"/>
          <a:srcRect l="1" t="11228" r="57566" b="41224"/>
          <a:stretch/>
        </p:blipFill>
        <p:spPr>
          <a:xfrm>
            <a:off x="374988" y="2699144"/>
            <a:ext cx="4694623" cy="3260767"/>
          </a:xfrm>
          <a:prstGeom prst="rect">
            <a:avLst/>
          </a:prstGeom>
        </p:spPr>
      </p:pic>
      <p:sp>
        <p:nvSpPr>
          <p:cNvPr id="27" name="テキスト ボックス 26">
            <a:extLst>
              <a:ext uri="{FF2B5EF4-FFF2-40B4-BE49-F238E27FC236}">
                <a16:creationId xmlns:a16="http://schemas.microsoft.com/office/drawing/2014/main" id="{6E2B7FA0-315A-B97B-2CAE-4D707CB64844}"/>
              </a:ext>
            </a:extLst>
          </p:cNvPr>
          <p:cNvSpPr txBox="1"/>
          <p:nvPr/>
        </p:nvSpPr>
        <p:spPr>
          <a:xfrm>
            <a:off x="7170429" y="5770760"/>
            <a:ext cx="1817559" cy="611278"/>
          </a:xfrm>
          <a:prstGeom prst="wedgeRoundRectCallout">
            <a:avLst>
              <a:gd name="adj1" fmla="val 36524"/>
              <a:gd name="adj2" fmla="val 36520"/>
              <a:gd name="adj3" fmla="val 16667"/>
            </a:avLst>
          </a:prstGeom>
          <a:solidFill>
            <a:schemeClr val="bg1"/>
          </a:solidFill>
          <a:ln w="19050">
            <a:solidFill>
              <a:schemeClr val="bg2"/>
            </a:solidFill>
          </a:ln>
        </p:spPr>
        <p:txBody>
          <a:bodyPr wrap="square" lIns="0" rIns="0" rtlCol="0" anchor="ctr">
            <a:noAutofit/>
          </a:bodyPr>
          <a:lstStyle/>
          <a:p>
            <a:pPr algn="ctr" defTabSz="288000"/>
            <a:r>
              <a:rPr kumimoji="1" lang="ja-JP" altLang="en-US" sz="1400" u="sng" dirty="0">
                <a:latin typeface="+mn-ea"/>
              </a:rPr>
              <a:t>条件記述部</a:t>
            </a:r>
            <a:endParaRPr kumimoji="1" lang="en-US" altLang="ja-JP" sz="1400" u="sng" dirty="0">
              <a:latin typeface="+mn-ea"/>
            </a:endParaRPr>
          </a:p>
          <a:p>
            <a:pPr algn="ctr" defTabSz="288000"/>
            <a:r>
              <a:rPr kumimoji="1" lang="ja-JP" altLang="en-US" sz="1400" dirty="0">
                <a:latin typeface="+mn-ea"/>
              </a:rPr>
              <a:t>各条件の同値クラス</a:t>
            </a:r>
          </a:p>
        </p:txBody>
      </p:sp>
      <p:sp>
        <p:nvSpPr>
          <p:cNvPr id="29" name="テキスト ボックス 28">
            <a:extLst>
              <a:ext uri="{FF2B5EF4-FFF2-40B4-BE49-F238E27FC236}">
                <a16:creationId xmlns:a16="http://schemas.microsoft.com/office/drawing/2014/main" id="{5D3110FF-089B-0F14-11BE-E1D57BF6432C}"/>
              </a:ext>
            </a:extLst>
          </p:cNvPr>
          <p:cNvSpPr txBox="1"/>
          <p:nvPr/>
        </p:nvSpPr>
        <p:spPr>
          <a:xfrm>
            <a:off x="5465343" y="5770760"/>
            <a:ext cx="1595873" cy="611278"/>
          </a:xfrm>
          <a:prstGeom prst="roundRect">
            <a:avLst/>
          </a:prstGeom>
          <a:solidFill>
            <a:schemeClr val="bg1"/>
          </a:solidFill>
          <a:ln w="19050">
            <a:solidFill>
              <a:srgbClr val="FF7A00"/>
            </a:solidFill>
          </a:ln>
        </p:spPr>
        <p:txBody>
          <a:bodyPr wrap="square" lIns="0" rIns="0" rtlCol="0" anchor="ctr">
            <a:noAutofit/>
          </a:bodyPr>
          <a:lstStyle/>
          <a:p>
            <a:pPr algn="ctr" defTabSz="288000"/>
            <a:r>
              <a:rPr kumimoji="1" lang="ja-JP" altLang="en-US" sz="1400" u="sng" dirty="0">
                <a:latin typeface="+mn-ea"/>
              </a:rPr>
              <a:t>動作記述部</a:t>
            </a:r>
            <a:endParaRPr kumimoji="1" lang="en-US" altLang="ja-JP" sz="1400" u="sng" dirty="0">
              <a:latin typeface="+mn-ea"/>
            </a:endParaRPr>
          </a:p>
          <a:p>
            <a:pPr algn="ctr" defTabSz="288000"/>
            <a:r>
              <a:rPr kumimoji="1" lang="ja-JP" altLang="en-US" sz="1400" dirty="0">
                <a:latin typeface="+mn-ea"/>
              </a:rPr>
              <a:t>対応する動作</a:t>
            </a:r>
          </a:p>
        </p:txBody>
      </p:sp>
      <p:sp>
        <p:nvSpPr>
          <p:cNvPr id="30" name="テキスト ボックス 29">
            <a:extLst>
              <a:ext uri="{FF2B5EF4-FFF2-40B4-BE49-F238E27FC236}">
                <a16:creationId xmlns:a16="http://schemas.microsoft.com/office/drawing/2014/main" id="{77B48BAA-F15F-D328-1EA3-FA62C1854717}"/>
              </a:ext>
            </a:extLst>
          </p:cNvPr>
          <p:cNvSpPr txBox="1"/>
          <p:nvPr/>
        </p:nvSpPr>
        <p:spPr>
          <a:xfrm>
            <a:off x="10407752" y="2848012"/>
            <a:ext cx="1665859" cy="406803"/>
          </a:xfrm>
          <a:prstGeom prst="roundRect">
            <a:avLst/>
          </a:prstGeom>
          <a:solidFill>
            <a:schemeClr val="bg1"/>
          </a:solidFill>
          <a:ln w="28575">
            <a:solidFill>
              <a:srgbClr val="002060"/>
            </a:solidFill>
          </a:ln>
        </p:spPr>
        <p:txBody>
          <a:bodyPr wrap="square" lIns="0" rIns="0" rtlCol="0" anchor="ctr">
            <a:noAutofit/>
          </a:bodyPr>
          <a:lstStyle/>
          <a:p>
            <a:pPr algn="ctr" defTabSz="288000"/>
            <a:r>
              <a:rPr kumimoji="1" lang="ja-JP" altLang="en-US" sz="1400" dirty="0">
                <a:latin typeface="+mn-ea"/>
              </a:rPr>
              <a:t>条件</a:t>
            </a:r>
            <a:r>
              <a:rPr kumimoji="1" lang="en-US" altLang="ja-JP" sz="1400" dirty="0">
                <a:latin typeface="+mn-ea"/>
              </a:rPr>
              <a:t>/</a:t>
            </a:r>
            <a:r>
              <a:rPr kumimoji="1" lang="ja-JP" altLang="en-US" sz="1400" dirty="0">
                <a:latin typeface="+mn-ea"/>
              </a:rPr>
              <a:t>動作の指定</a:t>
            </a:r>
          </a:p>
        </p:txBody>
      </p:sp>
      <p:grpSp>
        <p:nvGrpSpPr>
          <p:cNvPr id="6" name="グループ化 5">
            <a:extLst>
              <a:ext uri="{FF2B5EF4-FFF2-40B4-BE49-F238E27FC236}">
                <a16:creationId xmlns:a16="http://schemas.microsoft.com/office/drawing/2014/main" id="{6FAC4E52-A3F4-147C-1CF5-038F2BF39F76}"/>
              </a:ext>
            </a:extLst>
          </p:cNvPr>
          <p:cNvGrpSpPr/>
          <p:nvPr/>
        </p:nvGrpSpPr>
        <p:grpSpPr>
          <a:xfrm>
            <a:off x="9185833" y="5768619"/>
            <a:ext cx="2880000" cy="504000"/>
            <a:chOff x="9185833" y="5768619"/>
            <a:chExt cx="2880000" cy="504000"/>
          </a:xfrm>
        </p:grpSpPr>
        <p:pic>
          <p:nvPicPr>
            <p:cNvPr id="5" name="図 4">
              <a:extLst>
                <a:ext uri="{FF2B5EF4-FFF2-40B4-BE49-F238E27FC236}">
                  <a16:creationId xmlns:a16="http://schemas.microsoft.com/office/drawing/2014/main" id="{638C6245-B86B-8A82-5BE7-BB294D432A42}"/>
                </a:ext>
              </a:extLst>
            </p:cNvPr>
            <p:cNvPicPr>
              <a:picLocks noChangeAspect="1"/>
            </p:cNvPicPr>
            <p:nvPr/>
          </p:nvPicPr>
          <p:blipFill>
            <a:blip r:embed="rId4"/>
            <a:srcRect l="68639" t="26098" r="2880" b="54124"/>
            <a:stretch/>
          </p:blipFill>
          <p:spPr>
            <a:xfrm>
              <a:off x="9202343" y="5773044"/>
              <a:ext cx="2846980" cy="495150"/>
            </a:xfrm>
            <a:prstGeom prst="rect">
              <a:avLst/>
            </a:prstGeom>
          </p:spPr>
        </p:pic>
        <p:sp>
          <p:nvSpPr>
            <p:cNvPr id="39" name="正方形/長方形 38">
              <a:extLst>
                <a:ext uri="{FF2B5EF4-FFF2-40B4-BE49-F238E27FC236}">
                  <a16:creationId xmlns:a16="http://schemas.microsoft.com/office/drawing/2014/main" id="{01FBE712-2111-A73A-96B1-F0C66B556E6D}"/>
                </a:ext>
              </a:extLst>
            </p:cNvPr>
            <p:cNvSpPr/>
            <p:nvPr/>
          </p:nvSpPr>
          <p:spPr>
            <a:xfrm>
              <a:off x="9185833" y="5768619"/>
              <a:ext cx="2880000" cy="50400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51" name="吹き出し: 角を丸めた四角形 50">
            <a:extLst>
              <a:ext uri="{FF2B5EF4-FFF2-40B4-BE49-F238E27FC236}">
                <a16:creationId xmlns:a16="http://schemas.microsoft.com/office/drawing/2014/main" id="{77D410F3-2BB2-649A-5D81-24018C9A49AB}"/>
              </a:ext>
            </a:extLst>
          </p:cNvPr>
          <p:cNvSpPr/>
          <p:nvPr/>
        </p:nvSpPr>
        <p:spPr>
          <a:xfrm>
            <a:off x="6800088" y="1927329"/>
            <a:ext cx="4909363" cy="648345"/>
          </a:xfrm>
          <a:prstGeom prst="wedgeRoundRectCallout">
            <a:avLst>
              <a:gd name="adj1" fmla="val -23055"/>
              <a:gd name="adj2" fmla="val -79441"/>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latin typeface="__Inter_a184c8"/>
              </a:rPr>
              <a:t>複数の条件の組み合わせで動作が決まるときに利用</a:t>
            </a:r>
            <a:endParaRPr lang="en-US" altLang="ja-JP" sz="1400" dirty="0">
              <a:solidFill>
                <a:schemeClr val="tx1"/>
              </a:solidFill>
              <a:latin typeface="__Inter_a184c8"/>
            </a:endParaRPr>
          </a:p>
          <a:p>
            <a:pPr algn="ctr"/>
            <a:r>
              <a:rPr lang="ja-JP" altLang="en-US" sz="1400" dirty="0">
                <a:solidFill>
                  <a:schemeClr val="tx1"/>
                </a:solidFill>
                <a:latin typeface="__Inter_a184c8"/>
              </a:rPr>
              <a:t>（簡単な仕様では、表を使わずともテスト項目をあげることが可能）</a:t>
            </a:r>
            <a:endParaRPr lang="en-US" altLang="ja-JP" sz="1400" dirty="0">
              <a:solidFill>
                <a:schemeClr val="tx1"/>
              </a:solidFill>
              <a:latin typeface="__Inter_a184c8"/>
            </a:endParaRPr>
          </a:p>
        </p:txBody>
      </p:sp>
      <p:cxnSp>
        <p:nvCxnSpPr>
          <p:cNvPr id="52" name="直線矢印コネクタ 51">
            <a:extLst>
              <a:ext uri="{FF2B5EF4-FFF2-40B4-BE49-F238E27FC236}">
                <a16:creationId xmlns:a16="http://schemas.microsoft.com/office/drawing/2014/main" id="{BD9E4EF9-6A7B-4F5C-01A7-367A8AEA8F27}"/>
              </a:ext>
            </a:extLst>
          </p:cNvPr>
          <p:cNvCxnSpPr>
            <a:cxnSpLocks/>
          </p:cNvCxnSpPr>
          <p:nvPr/>
        </p:nvCxnSpPr>
        <p:spPr>
          <a:xfrm flipV="1">
            <a:off x="3402551" y="4267200"/>
            <a:ext cx="1855249" cy="348302"/>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4" name="直線矢印コネクタ 53">
            <a:extLst>
              <a:ext uri="{FF2B5EF4-FFF2-40B4-BE49-F238E27FC236}">
                <a16:creationId xmlns:a16="http://schemas.microsoft.com/office/drawing/2014/main" id="{3F2D741E-80A4-326F-FE84-0F24FEDA2F02}"/>
              </a:ext>
            </a:extLst>
          </p:cNvPr>
          <p:cNvCxnSpPr>
            <a:cxnSpLocks/>
          </p:cNvCxnSpPr>
          <p:nvPr/>
        </p:nvCxnSpPr>
        <p:spPr>
          <a:xfrm flipV="1">
            <a:off x="3402551" y="4524375"/>
            <a:ext cx="1855249" cy="760458"/>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直線コネクタ 56">
            <a:extLst>
              <a:ext uri="{FF2B5EF4-FFF2-40B4-BE49-F238E27FC236}">
                <a16:creationId xmlns:a16="http://schemas.microsoft.com/office/drawing/2014/main" id="{CB428E7D-2962-05A5-1838-4EA0F1563EA4}"/>
              </a:ext>
            </a:extLst>
          </p:cNvPr>
          <p:cNvCxnSpPr>
            <a:cxnSpLocks/>
            <a:endCxn id="27" idx="0"/>
          </p:cNvCxnSpPr>
          <p:nvPr/>
        </p:nvCxnSpPr>
        <p:spPr>
          <a:xfrm flipH="1">
            <a:off x="8079209" y="4659785"/>
            <a:ext cx="100024" cy="1110975"/>
          </a:xfrm>
          <a:prstGeom prst="line">
            <a:avLst/>
          </a:prstGeom>
          <a:ln w="19050">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58" name="直線コネクタ 57">
            <a:extLst>
              <a:ext uri="{FF2B5EF4-FFF2-40B4-BE49-F238E27FC236}">
                <a16:creationId xmlns:a16="http://schemas.microsoft.com/office/drawing/2014/main" id="{43B25F90-7160-91BE-088F-FE2C17B0A044}"/>
              </a:ext>
            </a:extLst>
          </p:cNvPr>
          <p:cNvCxnSpPr>
            <a:cxnSpLocks/>
          </p:cNvCxnSpPr>
          <p:nvPr/>
        </p:nvCxnSpPr>
        <p:spPr>
          <a:xfrm flipH="1">
            <a:off x="6812190" y="5364635"/>
            <a:ext cx="210906" cy="406125"/>
          </a:xfrm>
          <a:prstGeom prst="line">
            <a:avLst/>
          </a:prstGeom>
          <a:ln w="19050">
            <a:solidFill>
              <a:srgbClr val="FF7A00"/>
            </a:solidFill>
          </a:ln>
          <a:effectLst/>
        </p:spPr>
        <p:style>
          <a:lnRef idx="2">
            <a:schemeClr val="accent1"/>
          </a:lnRef>
          <a:fillRef idx="0">
            <a:schemeClr val="accent1"/>
          </a:fillRef>
          <a:effectRef idx="1">
            <a:schemeClr val="accent1"/>
          </a:effectRef>
          <a:fontRef idx="minor">
            <a:schemeClr val="tx1"/>
          </a:fontRef>
        </p:style>
      </p:cxnSp>
      <p:cxnSp>
        <p:nvCxnSpPr>
          <p:cNvPr id="64" name="直線コネクタ 63">
            <a:extLst>
              <a:ext uri="{FF2B5EF4-FFF2-40B4-BE49-F238E27FC236}">
                <a16:creationId xmlns:a16="http://schemas.microsoft.com/office/drawing/2014/main" id="{D9F53279-29AC-CD23-223D-FA9D7E2CABDC}"/>
              </a:ext>
            </a:extLst>
          </p:cNvPr>
          <p:cNvCxnSpPr>
            <a:cxnSpLocks/>
          </p:cNvCxnSpPr>
          <p:nvPr/>
        </p:nvCxnSpPr>
        <p:spPr>
          <a:xfrm flipH="1">
            <a:off x="10810875" y="3246232"/>
            <a:ext cx="104775" cy="494423"/>
          </a:xfrm>
          <a:prstGeom prst="line">
            <a:avLst/>
          </a:prstGeom>
          <a:ln w="28575">
            <a:solidFill>
              <a:srgbClr val="002060"/>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BB6BE904-2535-0BA6-2647-31CCA793E2EF}"/>
              </a:ext>
            </a:extLst>
          </p:cNvPr>
          <p:cNvSpPr txBox="1"/>
          <p:nvPr/>
        </p:nvSpPr>
        <p:spPr>
          <a:xfrm>
            <a:off x="7170429" y="6382038"/>
            <a:ext cx="2941053" cy="345186"/>
          </a:xfrm>
          <a:prstGeom prst="rect">
            <a:avLst/>
          </a:prstGeom>
          <a:noFill/>
        </p:spPr>
        <p:txBody>
          <a:bodyPr wrap="square" lIns="0" rIns="0" rtlCol="0">
            <a:noAutofit/>
          </a:bodyPr>
          <a:lstStyle/>
          <a:p>
            <a:pPr algn="l" defTabSz="288000"/>
            <a:r>
              <a:rPr kumimoji="1" lang="en-US" altLang="ja-JP" sz="1050" dirty="0">
                <a:latin typeface="+mn-ea"/>
              </a:rPr>
              <a:t>※</a:t>
            </a:r>
            <a:r>
              <a:rPr kumimoji="1" lang="ja-JP" altLang="en-US" sz="1050" dirty="0">
                <a:latin typeface="+mn-ea"/>
              </a:rPr>
              <a:t>条件同士は互いに独立になるように設定</a:t>
            </a:r>
          </a:p>
        </p:txBody>
      </p:sp>
    </p:spTree>
    <p:extLst>
      <p:ext uri="{BB962C8B-B14F-4D97-AF65-F5344CB8AC3E}">
        <p14:creationId xmlns:p14="http://schemas.microsoft.com/office/powerpoint/2010/main" val="1196085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64949-11B4-4FA3-E059-819FF03B5A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675025-F145-1231-7486-524C15ACDD60}"/>
              </a:ext>
            </a:extLst>
          </p:cNvPr>
          <p:cNvSpPr>
            <a:spLocks noGrp="1"/>
          </p:cNvSpPr>
          <p:nvPr>
            <p:ph type="title"/>
          </p:nvPr>
        </p:nvSpPr>
        <p:spPr/>
        <p:txBody>
          <a:bodyPr/>
          <a:lstStyle/>
          <a:p>
            <a:r>
              <a:rPr kumimoji="1" lang="ja-JP" altLang="en-US" dirty="0"/>
              <a:t>ブラックボックステスト：</a:t>
            </a:r>
            <a:r>
              <a:rPr lang="ja-JP" altLang="en-US" dirty="0"/>
              <a:t>ディシジョンテーブルテスト</a:t>
            </a:r>
            <a:endParaRPr kumimoji="1" lang="ja-JP" altLang="en-US" dirty="0"/>
          </a:p>
        </p:txBody>
      </p:sp>
      <p:sp>
        <p:nvSpPr>
          <p:cNvPr id="3" name="コンテンツ プレースホルダー 2">
            <a:extLst>
              <a:ext uri="{FF2B5EF4-FFF2-40B4-BE49-F238E27FC236}">
                <a16:creationId xmlns:a16="http://schemas.microsoft.com/office/drawing/2014/main" id="{A4D68A67-EA0E-922E-CFB5-8B93B0FBA548}"/>
              </a:ext>
            </a:extLst>
          </p:cNvPr>
          <p:cNvSpPr>
            <a:spLocks noGrp="1"/>
          </p:cNvSpPr>
          <p:nvPr>
            <p:ph sz="quarter" idx="10"/>
          </p:nvPr>
        </p:nvSpPr>
        <p:spPr>
          <a:xfrm>
            <a:off x="392953" y="1038386"/>
            <a:ext cx="11448000" cy="440344"/>
          </a:xfrm>
        </p:spPr>
        <p:txBody>
          <a:bodyPr/>
          <a:lstStyle/>
          <a:p>
            <a:r>
              <a:rPr lang="ja-JP" altLang="en-US" u="sng" dirty="0">
                <a:solidFill>
                  <a:schemeClr val="tx1"/>
                </a:solidFill>
              </a:rPr>
              <a:t>ディシジョンテーブルの作り方</a:t>
            </a:r>
            <a:endParaRPr lang="en-US" altLang="ja-JP" u="sng" dirty="0">
              <a:solidFill>
                <a:schemeClr val="tx1"/>
              </a:solidFill>
            </a:endParaRPr>
          </a:p>
          <a:p>
            <a:endParaRPr kumimoji="1" lang="en-US" altLang="ja-JP" dirty="0">
              <a:solidFill>
                <a:schemeClr val="tx1"/>
              </a:solidFill>
            </a:endParaRPr>
          </a:p>
          <a:p>
            <a:endParaRPr lang="en-US" altLang="ja-JP" dirty="0">
              <a:solidFill>
                <a:schemeClr val="tx1"/>
              </a:solidFill>
            </a:endParaRPr>
          </a:p>
          <a:p>
            <a:endParaRPr kumimoji="1" lang="en-US" altLang="ja-JP" dirty="0">
              <a:solidFill>
                <a:schemeClr val="tx1"/>
              </a:solidFill>
            </a:endParaRPr>
          </a:p>
          <a:p>
            <a:endParaRPr kumimoji="1" lang="en-US" altLang="ja-JP" dirty="0">
              <a:solidFill>
                <a:schemeClr val="tx1"/>
              </a:solidFill>
            </a:endParaRPr>
          </a:p>
          <a:p>
            <a:endParaRPr lang="en-US" altLang="ja-JP" dirty="0">
              <a:solidFill>
                <a:schemeClr val="tx1"/>
              </a:solidFill>
            </a:endParaRPr>
          </a:p>
        </p:txBody>
      </p:sp>
      <p:pic>
        <p:nvPicPr>
          <p:cNvPr id="12" name="図 11" descr="カレンダー&#10;&#10;AI によって生成されたコンテンツは間違っている可能性があります。">
            <a:extLst>
              <a:ext uri="{FF2B5EF4-FFF2-40B4-BE49-F238E27FC236}">
                <a16:creationId xmlns:a16="http://schemas.microsoft.com/office/drawing/2014/main" id="{A98B1BE6-3539-F15C-FE9C-74F161755F16}"/>
              </a:ext>
            </a:extLst>
          </p:cNvPr>
          <p:cNvPicPr>
            <a:picLocks noChangeAspect="1"/>
          </p:cNvPicPr>
          <p:nvPr/>
        </p:nvPicPr>
        <p:blipFill>
          <a:blip r:embed="rId2"/>
          <a:srcRect l="1328" t="19867" r="32734" b="3777"/>
          <a:stretch/>
        </p:blipFill>
        <p:spPr>
          <a:xfrm>
            <a:off x="5762818" y="1691050"/>
            <a:ext cx="6262212" cy="2218488"/>
          </a:xfrm>
          <a:prstGeom prst="rect">
            <a:avLst/>
          </a:prstGeom>
        </p:spPr>
      </p:pic>
      <p:sp>
        <p:nvSpPr>
          <p:cNvPr id="16" name="正方形/長方形 15">
            <a:extLst>
              <a:ext uri="{FF2B5EF4-FFF2-40B4-BE49-F238E27FC236}">
                <a16:creationId xmlns:a16="http://schemas.microsoft.com/office/drawing/2014/main" id="{A2C0B56F-38B1-1405-7536-E0376CEFA268}"/>
              </a:ext>
            </a:extLst>
          </p:cNvPr>
          <p:cNvSpPr/>
          <p:nvPr/>
        </p:nvSpPr>
        <p:spPr>
          <a:xfrm>
            <a:off x="8974683" y="1987677"/>
            <a:ext cx="1703035" cy="1921861"/>
          </a:xfrm>
          <a:prstGeom prst="rect">
            <a:avLst/>
          </a:prstGeom>
          <a:noFill/>
          <a:ln w="285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7" name="正方形/長方形 16">
            <a:extLst>
              <a:ext uri="{FF2B5EF4-FFF2-40B4-BE49-F238E27FC236}">
                <a16:creationId xmlns:a16="http://schemas.microsoft.com/office/drawing/2014/main" id="{0B5608A2-CCB1-DC9B-ACBE-E46A85086664}"/>
              </a:ext>
            </a:extLst>
          </p:cNvPr>
          <p:cNvSpPr/>
          <p:nvPr/>
        </p:nvSpPr>
        <p:spPr>
          <a:xfrm>
            <a:off x="8801401" y="3381228"/>
            <a:ext cx="266700" cy="247650"/>
          </a:xfrm>
          <a:prstGeom prst="rect">
            <a:avLst/>
          </a:prstGeom>
          <a:solidFill>
            <a:schemeClr val="accent3"/>
          </a:solidFill>
          <a:ln w="31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①</a:t>
            </a:r>
          </a:p>
        </p:txBody>
      </p:sp>
      <p:grpSp>
        <p:nvGrpSpPr>
          <p:cNvPr id="8" name="グループ化 7">
            <a:extLst>
              <a:ext uri="{FF2B5EF4-FFF2-40B4-BE49-F238E27FC236}">
                <a16:creationId xmlns:a16="http://schemas.microsoft.com/office/drawing/2014/main" id="{DCA0E5A3-A031-57C3-F791-75407BB8569D}"/>
              </a:ext>
            </a:extLst>
          </p:cNvPr>
          <p:cNvGrpSpPr/>
          <p:nvPr/>
        </p:nvGrpSpPr>
        <p:grpSpPr>
          <a:xfrm>
            <a:off x="880008" y="2156770"/>
            <a:ext cx="4149557" cy="998393"/>
            <a:chOff x="1056429" y="1689929"/>
            <a:chExt cx="4149557" cy="998393"/>
          </a:xfrm>
        </p:grpSpPr>
        <p:sp>
          <p:nvSpPr>
            <p:cNvPr id="21" name="四角形: 角を丸くする 20">
              <a:extLst>
                <a:ext uri="{FF2B5EF4-FFF2-40B4-BE49-F238E27FC236}">
                  <a16:creationId xmlns:a16="http://schemas.microsoft.com/office/drawing/2014/main" id="{42B6F268-37BF-1228-41E2-7BE0283CA70D}"/>
                </a:ext>
              </a:extLst>
            </p:cNvPr>
            <p:cNvSpPr/>
            <p:nvPr/>
          </p:nvSpPr>
          <p:spPr>
            <a:xfrm>
              <a:off x="1056429" y="1693215"/>
              <a:ext cx="1152000" cy="468000"/>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ja-JP" altLang="en-US" sz="1400" dirty="0">
                  <a:solidFill>
                    <a:schemeClr val="tx1"/>
                  </a:solidFill>
                </a:rPr>
                <a:t>開始日</a:t>
              </a:r>
              <a:endParaRPr kumimoji="1" lang="en-US" altLang="ja-JP" sz="1400" dirty="0">
                <a:solidFill>
                  <a:schemeClr val="tx1"/>
                </a:solidFill>
              </a:endParaRPr>
            </a:p>
          </p:txBody>
        </p:sp>
        <p:sp>
          <p:nvSpPr>
            <p:cNvPr id="22" name="テキスト ボックス 21">
              <a:extLst>
                <a:ext uri="{FF2B5EF4-FFF2-40B4-BE49-F238E27FC236}">
                  <a16:creationId xmlns:a16="http://schemas.microsoft.com/office/drawing/2014/main" id="{3F00350B-7478-CF71-6B13-F0F51646E209}"/>
                </a:ext>
              </a:extLst>
            </p:cNvPr>
            <p:cNvSpPr txBox="1"/>
            <p:nvPr/>
          </p:nvSpPr>
          <p:spPr>
            <a:xfrm>
              <a:off x="2152651" y="1695300"/>
              <a:ext cx="464469" cy="461665"/>
            </a:xfrm>
            <a:prstGeom prst="rect">
              <a:avLst/>
            </a:prstGeom>
            <a:noFill/>
          </p:spPr>
          <p:txBody>
            <a:bodyPr wrap="square">
              <a:spAutoFit/>
            </a:bodyPr>
            <a:lstStyle/>
            <a:p>
              <a:pPr algn="ctr"/>
              <a:r>
                <a:rPr lang="en-US" altLang="ja-JP" sz="2400" dirty="0"/>
                <a:t>×</a:t>
              </a:r>
              <a:endParaRPr lang="ja-JP" altLang="en-US" sz="2400" dirty="0"/>
            </a:p>
          </p:txBody>
        </p:sp>
        <p:sp>
          <p:nvSpPr>
            <p:cNvPr id="23" name="四角形: 角を丸くする 22">
              <a:extLst>
                <a:ext uri="{FF2B5EF4-FFF2-40B4-BE49-F238E27FC236}">
                  <a16:creationId xmlns:a16="http://schemas.microsoft.com/office/drawing/2014/main" id="{914F64BB-F20E-4914-B613-9F8EBCD9419E}"/>
                </a:ext>
              </a:extLst>
            </p:cNvPr>
            <p:cNvSpPr/>
            <p:nvPr/>
          </p:nvSpPr>
          <p:spPr>
            <a:xfrm>
              <a:off x="2559970" y="1693215"/>
              <a:ext cx="1152000" cy="468000"/>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ja-JP" altLang="en-US" sz="1400" dirty="0">
                  <a:solidFill>
                    <a:schemeClr val="tx1"/>
                  </a:solidFill>
                </a:rPr>
                <a:t>人数</a:t>
              </a:r>
              <a:endParaRPr kumimoji="1" lang="en-US" altLang="ja-JP" sz="1400" dirty="0">
                <a:solidFill>
                  <a:schemeClr val="tx1"/>
                </a:solidFill>
              </a:endParaRPr>
            </a:p>
          </p:txBody>
        </p:sp>
        <p:sp>
          <p:nvSpPr>
            <p:cNvPr id="24" name="テキスト ボックス 23">
              <a:extLst>
                <a:ext uri="{FF2B5EF4-FFF2-40B4-BE49-F238E27FC236}">
                  <a16:creationId xmlns:a16="http://schemas.microsoft.com/office/drawing/2014/main" id="{49AFC926-563D-F007-0D40-1BC5B9BE58D5}"/>
                </a:ext>
              </a:extLst>
            </p:cNvPr>
            <p:cNvSpPr txBox="1"/>
            <p:nvPr/>
          </p:nvSpPr>
          <p:spPr>
            <a:xfrm>
              <a:off x="3656192" y="1695300"/>
              <a:ext cx="464469" cy="461665"/>
            </a:xfrm>
            <a:prstGeom prst="rect">
              <a:avLst/>
            </a:prstGeom>
            <a:noFill/>
          </p:spPr>
          <p:txBody>
            <a:bodyPr wrap="square">
              <a:spAutoFit/>
            </a:bodyPr>
            <a:lstStyle/>
            <a:p>
              <a:pPr algn="ctr"/>
              <a:r>
                <a:rPr lang="en-US" altLang="ja-JP" sz="2400" dirty="0"/>
                <a:t>×</a:t>
              </a:r>
              <a:endParaRPr lang="ja-JP" altLang="en-US" sz="2400" dirty="0"/>
            </a:p>
          </p:txBody>
        </p:sp>
        <p:sp>
          <p:nvSpPr>
            <p:cNvPr id="25" name="四角形: 角を丸くする 24">
              <a:extLst>
                <a:ext uri="{FF2B5EF4-FFF2-40B4-BE49-F238E27FC236}">
                  <a16:creationId xmlns:a16="http://schemas.microsoft.com/office/drawing/2014/main" id="{92C12026-FCB7-F5B5-D489-84736A6A68E4}"/>
                </a:ext>
              </a:extLst>
            </p:cNvPr>
            <p:cNvSpPr/>
            <p:nvPr/>
          </p:nvSpPr>
          <p:spPr>
            <a:xfrm>
              <a:off x="4053986" y="1689929"/>
              <a:ext cx="1152000" cy="468000"/>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800" kern="1200">
                  <a:solidFill>
                    <a:schemeClr val="lt1"/>
                  </a:solidFill>
                  <a:latin typeface="+mn-lt"/>
                  <a:ea typeface="+mn-ea"/>
                  <a:cs typeface="+mn-cs"/>
                </a:defRPr>
              </a:lvl1pPr>
              <a:lvl2pPr marL="457200" indent="0" algn="l" defTabSz="914400" rtl="0" eaLnBrk="1" latinLnBrk="0" hangingPunct="1">
                <a:defRPr kumimoji="1" sz="1800" kern="1200">
                  <a:solidFill>
                    <a:schemeClr val="lt1"/>
                  </a:solidFill>
                  <a:latin typeface="+mn-lt"/>
                  <a:ea typeface="+mn-ea"/>
                  <a:cs typeface="+mn-cs"/>
                </a:defRPr>
              </a:lvl2pPr>
              <a:lvl3pPr marL="914400" indent="0" algn="l" defTabSz="914400" rtl="0" eaLnBrk="1" latinLnBrk="0" hangingPunct="1">
                <a:defRPr kumimoji="1" sz="1800" kern="1200">
                  <a:solidFill>
                    <a:schemeClr val="lt1"/>
                  </a:solidFill>
                  <a:latin typeface="+mn-lt"/>
                  <a:ea typeface="+mn-ea"/>
                  <a:cs typeface="+mn-cs"/>
                </a:defRPr>
              </a:lvl3pPr>
              <a:lvl4pPr marL="1371600" indent="0" algn="l" defTabSz="914400" rtl="0" eaLnBrk="1" latinLnBrk="0" hangingPunct="1">
                <a:defRPr kumimoji="1" sz="1800" kern="1200">
                  <a:solidFill>
                    <a:schemeClr val="lt1"/>
                  </a:solidFill>
                  <a:latin typeface="+mn-lt"/>
                  <a:ea typeface="+mn-ea"/>
                  <a:cs typeface="+mn-cs"/>
                </a:defRPr>
              </a:lvl4pPr>
              <a:lvl5pPr marL="1828800" indent="0" algn="l" defTabSz="914400" rtl="0" eaLnBrk="1" latinLnBrk="0" hangingPunct="1">
                <a:defRPr kumimoji="1" sz="1800" kern="1200">
                  <a:solidFill>
                    <a:schemeClr val="lt1"/>
                  </a:solidFill>
                  <a:latin typeface="+mn-lt"/>
                  <a:ea typeface="+mn-ea"/>
                  <a:cs typeface="+mn-cs"/>
                </a:defRPr>
              </a:lvl5pPr>
              <a:lvl6pPr marL="2286000" indent="0" algn="l" defTabSz="914400" rtl="0" eaLnBrk="1" latinLnBrk="0" hangingPunct="1">
                <a:defRPr kumimoji="1" sz="1800" kern="1200">
                  <a:solidFill>
                    <a:schemeClr val="lt1"/>
                  </a:solidFill>
                  <a:latin typeface="+mn-lt"/>
                  <a:ea typeface="+mn-ea"/>
                  <a:cs typeface="+mn-cs"/>
                </a:defRPr>
              </a:lvl6pPr>
              <a:lvl7pPr marL="2743200" indent="0" algn="l" defTabSz="914400" rtl="0" eaLnBrk="1" latinLnBrk="0" hangingPunct="1">
                <a:defRPr kumimoji="1" sz="1800" kern="1200">
                  <a:solidFill>
                    <a:schemeClr val="lt1"/>
                  </a:solidFill>
                  <a:latin typeface="+mn-lt"/>
                  <a:ea typeface="+mn-ea"/>
                  <a:cs typeface="+mn-cs"/>
                </a:defRPr>
              </a:lvl7pPr>
              <a:lvl8pPr marL="3200400" indent="0" algn="l" defTabSz="914400" rtl="0" eaLnBrk="1" latinLnBrk="0" hangingPunct="1">
                <a:defRPr kumimoji="1" sz="1800" kern="1200">
                  <a:solidFill>
                    <a:schemeClr val="lt1"/>
                  </a:solidFill>
                  <a:latin typeface="+mn-lt"/>
                  <a:ea typeface="+mn-ea"/>
                  <a:cs typeface="+mn-cs"/>
                </a:defRPr>
              </a:lvl8pPr>
              <a:lvl9pPr marL="3657600" indent="0" algn="l" defTabSz="914400" rtl="0" eaLnBrk="1" latinLnBrk="0" hangingPunct="1">
                <a:defRPr kumimoji="1" sz="1800" kern="1200">
                  <a:solidFill>
                    <a:schemeClr val="lt1"/>
                  </a:solidFill>
                  <a:latin typeface="+mn-lt"/>
                  <a:ea typeface="+mn-ea"/>
                  <a:cs typeface="+mn-cs"/>
                </a:defRPr>
              </a:lvl9pPr>
            </a:lstStyle>
            <a:p>
              <a:pPr algn="ctr"/>
              <a:r>
                <a:rPr kumimoji="1" lang="ja-JP" altLang="en-US" sz="1400" dirty="0">
                  <a:solidFill>
                    <a:schemeClr val="tx1"/>
                  </a:solidFill>
                </a:rPr>
                <a:t>空き数</a:t>
              </a:r>
              <a:endParaRPr kumimoji="1" lang="en-US" altLang="ja-JP" sz="1400" dirty="0">
                <a:solidFill>
                  <a:schemeClr val="tx1"/>
                </a:solidFill>
              </a:endParaRPr>
            </a:p>
          </p:txBody>
        </p:sp>
        <p:sp>
          <p:nvSpPr>
            <p:cNvPr id="31" name="テキスト ボックス 30">
              <a:extLst>
                <a:ext uri="{FF2B5EF4-FFF2-40B4-BE49-F238E27FC236}">
                  <a16:creationId xmlns:a16="http://schemas.microsoft.com/office/drawing/2014/main" id="{22D10A0D-837B-49B4-23D6-DE20B2A63FA5}"/>
                </a:ext>
              </a:extLst>
            </p:cNvPr>
            <p:cNvSpPr txBox="1"/>
            <p:nvPr/>
          </p:nvSpPr>
          <p:spPr>
            <a:xfrm>
              <a:off x="1056429" y="2165102"/>
              <a:ext cx="1152000" cy="523220"/>
            </a:xfrm>
            <a:prstGeom prst="rect">
              <a:avLst/>
            </a:prstGeom>
            <a:noFill/>
          </p:spPr>
          <p:txBody>
            <a:bodyPr wrap="square">
              <a:spAutoFit/>
            </a:bodyPr>
            <a:lstStyle/>
            <a:p>
              <a:pPr algn="ctr"/>
              <a:r>
                <a:rPr lang="ja-JP" altLang="en-US" sz="1600" dirty="0"/>
                <a:t>２パターン</a:t>
              </a:r>
              <a:endParaRPr lang="en-US" altLang="ja-JP" sz="1600" dirty="0"/>
            </a:p>
            <a:p>
              <a:pPr algn="ctr"/>
              <a:r>
                <a:rPr lang="ja-JP" altLang="en-US" sz="1200" dirty="0"/>
                <a:t>（割引有無）</a:t>
              </a:r>
            </a:p>
          </p:txBody>
        </p:sp>
        <p:sp>
          <p:nvSpPr>
            <p:cNvPr id="32" name="テキスト ボックス 31">
              <a:extLst>
                <a:ext uri="{FF2B5EF4-FFF2-40B4-BE49-F238E27FC236}">
                  <a16:creationId xmlns:a16="http://schemas.microsoft.com/office/drawing/2014/main" id="{7A4BE843-DF21-8E12-AD9E-1AEB172EE42B}"/>
                </a:ext>
              </a:extLst>
            </p:cNvPr>
            <p:cNvSpPr txBox="1"/>
            <p:nvPr/>
          </p:nvSpPr>
          <p:spPr>
            <a:xfrm>
              <a:off x="2559970" y="2165102"/>
              <a:ext cx="1140986" cy="523220"/>
            </a:xfrm>
            <a:prstGeom prst="rect">
              <a:avLst/>
            </a:prstGeom>
            <a:noFill/>
          </p:spPr>
          <p:txBody>
            <a:bodyPr wrap="square">
              <a:spAutoFit/>
            </a:bodyPr>
            <a:lstStyle/>
            <a:p>
              <a:pPr algn="ctr"/>
              <a:r>
                <a:rPr lang="ja-JP" altLang="en-US" sz="1600" dirty="0"/>
                <a:t>２パターン</a:t>
              </a:r>
              <a:endParaRPr lang="en-US" altLang="ja-JP" sz="1600" dirty="0"/>
            </a:p>
            <a:p>
              <a:pPr algn="ctr"/>
              <a:r>
                <a:rPr lang="ja-JP" altLang="en-US" sz="1200" dirty="0"/>
                <a:t>（割引有無）</a:t>
              </a:r>
            </a:p>
          </p:txBody>
        </p:sp>
        <p:sp>
          <p:nvSpPr>
            <p:cNvPr id="33" name="テキスト ボックス 32">
              <a:extLst>
                <a:ext uri="{FF2B5EF4-FFF2-40B4-BE49-F238E27FC236}">
                  <a16:creationId xmlns:a16="http://schemas.microsoft.com/office/drawing/2014/main" id="{E6189403-C050-89C8-8AB9-46B484C9C2B3}"/>
                </a:ext>
              </a:extLst>
            </p:cNvPr>
            <p:cNvSpPr txBox="1"/>
            <p:nvPr/>
          </p:nvSpPr>
          <p:spPr>
            <a:xfrm>
              <a:off x="4053986" y="2174177"/>
              <a:ext cx="1152000" cy="338554"/>
            </a:xfrm>
            <a:prstGeom prst="rect">
              <a:avLst/>
            </a:prstGeom>
            <a:noFill/>
          </p:spPr>
          <p:txBody>
            <a:bodyPr wrap="square">
              <a:spAutoFit/>
            </a:bodyPr>
            <a:lstStyle/>
            <a:p>
              <a:pPr algn="ctr"/>
              <a:r>
                <a:rPr lang="ja-JP" altLang="en-US" sz="1600" dirty="0"/>
                <a:t>１パターン</a:t>
              </a:r>
              <a:endParaRPr lang="en-US" altLang="ja-JP" sz="1600" dirty="0"/>
            </a:p>
          </p:txBody>
        </p:sp>
      </p:grpSp>
      <p:sp>
        <p:nvSpPr>
          <p:cNvPr id="36" name="正方形/長方形 35">
            <a:extLst>
              <a:ext uri="{FF2B5EF4-FFF2-40B4-BE49-F238E27FC236}">
                <a16:creationId xmlns:a16="http://schemas.microsoft.com/office/drawing/2014/main" id="{F529F368-3B75-1759-029A-EB0874908B50}"/>
              </a:ext>
            </a:extLst>
          </p:cNvPr>
          <p:cNvSpPr/>
          <p:nvPr/>
        </p:nvSpPr>
        <p:spPr>
          <a:xfrm>
            <a:off x="10757582" y="1984859"/>
            <a:ext cx="1262405" cy="1921861"/>
          </a:xfrm>
          <a:prstGeom prst="rect">
            <a:avLst/>
          </a:prstGeom>
          <a:noFill/>
          <a:ln w="285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7" name="正方形/長方形 36">
            <a:extLst>
              <a:ext uri="{FF2B5EF4-FFF2-40B4-BE49-F238E27FC236}">
                <a16:creationId xmlns:a16="http://schemas.microsoft.com/office/drawing/2014/main" id="{262D1690-E7AE-4E98-F121-427D01A7BAAE}"/>
              </a:ext>
            </a:extLst>
          </p:cNvPr>
          <p:cNvSpPr/>
          <p:nvPr/>
        </p:nvSpPr>
        <p:spPr>
          <a:xfrm>
            <a:off x="11871553" y="3381228"/>
            <a:ext cx="266700" cy="247650"/>
          </a:xfrm>
          <a:prstGeom prst="rect">
            <a:avLst/>
          </a:prstGeom>
          <a:solidFill>
            <a:schemeClr val="accent3"/>
          </a:solidFill>
          <a:ln w="31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rPr>
              <a:t>②</a:t>
            </a:r>
            <a:endParaRPr kumimoji="1" lang="ja-JP" altLang="en-US" sz="1400" dirty="0">
              <a:solidFill>
                <a:schemeClr val="bg1"/>
              </a:solidFill>
            </a:endParaRPr>
          </a:p>
        </p:txBody>
      </p:sp>
      <p:sp>
        <p:nvSpPr>
          <p:cNvPr id="5" name="テキスト ボックス 4">
            <a:extLst>
              <a:ext uri="{FF2B5EF4-FFF2-40B4-BE49-F238E27FC236}">
                <a16:creationId xmlns:a16="http://schemas.microsoft.com/office/drawing/2014/main" id="{FFEC7224-4FA4-92D7-AA0E-DE0164CCBB17}"/>
              </a:ext>
            </a:extLst>
          </p:cNvPr>
          <p:cNvSpPr txBox="1"/>
          <p:nvPr/>
        </p:nvSpPr>
        <p:spPr>
          <a:xfrm>
            <a:off x="363011" y="1488061"/>
            <a:ext cx="6102220" cy="646331"/>
          </a:xfrm>
          <a:prstGeom prst="rect">
            <a:avLst/>
          </a:prstGeom>
          <a:noFill/>
        </p:spPr>
        <p:txBody>
          <a:bodyPr wrap="square">
            <a:spAutoFit/>
          </a:bodyPr>
          <a:lstStyle/>
          <a:p>
            <a:r>
              <a:rPr kumimoji="1" lang="ja-JP" altLang="en-US" dirty="0"/>
              <a:t>①有効値の組み合わせパターンの洗い出し</a:t>
            </a:r>
            <a:endParaRPr kumimoji="1" lang="en-US" altLang="ja-JP" dirty="0"/>
          </a:p>
          <a:p>
            <a:r>
              <a:rPr lang="ja-JP" altLang="en-US" dirty="0"/>
              <a:t>　　例）</a:t>
            </a:r>
            <a:endParaRPr lang="en-US" altLang="ja-JP" dirty="0"/>
          </a:p>
        </p:txBody>
      </p:sp>
      <p:sp>
        <p:nvSpPr>
          <p:cNvPr id="7" name="テキスト ボックス 6">
            <a:extLst>
              <a:ext uri="{FF2B5EF4-FFF2-40B4-BE49-F238E27FC236}">
                <a16:creationId xmlns:a16="http://schemas.microsoft.com/office/drawing/2014/main" id="{92D69042-B450-C916-876A-560FB9938BE3}"/>
              </a:ext>
            </a:extLst>
          </p:cNvPr>
          <p:cNvSpPr txBox="1"/>
          <p:nvPr/>
        </p:nvSpPr>
        <p:spPr>
          <a:xfrm>
            <a:off x="392953" y="3724977"/>
            <a:ext cx="8429752" cy="2308324"/>
          </a:xfrm>
          <a:prstGeom prst="rect">
            <a:avLst/>
          </a:prstGeom>
          <a:noFill/>
        </p:spPr>
        <p:txBody>
          <a:bodyPr wrap="square">
            <a:spAutoFit/>
          </a:bodyPr>
          <a:lstStyle/>
          <a:p>
            <a:r>
              <a:rPr lang="ja-JP" altLang="en-US" dirty="0"/>
              <a:t>②ある条件が無効値の場合のパターンの洗い出し</a:t>
            </a:r>
            <a:endParaRPr lang="en-US" altLang="ja-JP" dirty="0"/>
          </a:p>
          <a:p>
            <a:r>
              <a:rPr lang="ja-JP" altLang="en-US" dirty="0"/>
              <a:t>　　例）</a:t>
            </a:r>
            <a:endParaRPr lang="en-US" altLang="ja-JP" dirty="0"/>
          </a:p>
          <a:p>
            <a:r>
              <a:rPr lang="ja-JP" altLang="en-US" dirty="0"/>
              <a:t>　　　・空き数が無効値（空き人数＜申込人数）の場合</a:t>
            </a:r>
            <a:endParaRPr lang="en-US" altLang="ja-JP" dirty="0"/>
          </a:p>
          <a:p>
            <a:r>
              <a:rPr lang="en-US" altLang="ja-JP" dirty="0"/>
              <a:t>	</a:t>
            </a:r>
            <a:r>
              <a:rPr lang="ja-JP" altLang="en-US" dirty="0"/>
              <a:t>他の項目については、有効値の代表値を設定する</a:t>
            </a:r>
            <a:endParaRPr lang="en-US" altLang="ja-JP" dirty="0"/>
          </a:p>
          <a:p>
            <a:endParaRPr lang="en-US" altLang="ja-JP" dirty="0"/>
          </a:p>
          <a:p>
            <a:r>
              <a:rPr lang="en-US" altLang="ja-JP" dirty="0"/>
              <a:t>	</a:t>
            </a:r>
            <a:r>
              <a:rPr lang="ja-JP" altLang="en-US" dirty="0"/>
              <a:t>例）</a:t>
            </a:r>
            <a:endParaRPr lang="en-US" altLang="ja-JP" dirty="0"/>
          </a:p>
          <a:p>
            <a:r>
              <a:rPr lang="en-US" altLang="ja-JP" dirty="0"/>
              <a:t>	</a:t>
            </a:r>
            <a:r>
              <a:rPr lang="ja-JP" altLang="en-US" dirty="0"/>
              <a:t>　　・開始日　→　予約日から</a:t>
            </a:r>
            <a:r>
              <a:rPr lang="en-US" altLang="ja-JP" dirty="0"/>
              <a:t>1</a:t>
            </a:r>
            <a:r>
              <a:rPr lang="ja-JP" altLang="en-US" dirty="0"/>
              <a:t>～</a:t>
            </a:r>
            <a:r>
              <a:rPr lang="en-US" altLang="ja-JP" dirty="0"/>
              <a:t>29</a:t>
            </a:r>
            <a:r>
              <a:rPr lang="ja-JP" altLang="en-US" dirty="0"/>
              <a:t>日後</a:t>
            </a:r>
            <a:endParaRPr lang="en-US" altLang="ja-JP" dirty="0"/>
          </a:p>
          <a:p>
            <a:r>
              <a:rPr lang="en-US" altLang="ja-JP" dirty="0"/>
              <a:t>	</a:t>
            </a:r>
            <a:r>
              <a:rPr lang="ja-JP" altLang="en-US" dirty="0"/>
              <a:t>　　・人数　→　</a:t>
            </a:r>
            <a:r>
              <a:rPr lang="en-US" altLang="ja-JP" dirty="0"/>
              <a:t>5</a:t>
            </a:r>
            <a:r>
              <a:rPr lang="ja-JP" altLang="en-US" dirty="0"/>
              <a:t>～</a:t>
            </a:r>
            <a:r>
              <a:rPr lang="en-US" altLang="ja-JP" dirty="0"/>
              <a:t>10</a:t>
            </a:r>
            <a:r>
              <a:rPr lang="ja-JP" altLang="en-US" dirty="0"/>
              <a:t>人</a:t>
            </a:r>
            <a:endParaRPr lang="en-US" altLang="ja-JP" dirty="0"/>
          </a:p>
        </p:txBody>
      </p:sp>
      <p:grpSp>
        <p:nvGrpSpPr>
          <p:cNvPr id="10" name="グループ化 9">
            <a:extLst>
              <a:ext uri="{FF2B5EF4-FFF2-40B4-BE49-F238E27FC236}">
                <a16:creationId xmlns:a16="http://schemas.microsoft.com/office/drawing/2014/main" id="{E823B376-9110-7DF2-51D9-9B661D5202DD}"/>
              </a:ext>
            </a:extLst>
          </p:cNvPr>
          <p:cNvGrpSpPr/>
          <p:nvPr/>
        </p:nvGrpSpPr>
        <p:grpSpPr>
          <a:xfrm>
            <a:off x="9486619" y="4026031"/>
            <a:ext cx="2595726" cy="453005"/>
            <a:chOff x="9470107" y="5819613"/>
            <a:chExt cx="2595726" cy="453005"/>
          </a:xfrm>
        </p:grpSpPr>
        <p:pic>
          <p:nvPicPr>
            <p:cNvPr id="6" name="図 5">
              <a:extLst>
                <a:ext uri="{FF2B5EF4-FFF2-40B4-BE49-F238E27FC236}">
                  <a16:creationId xmlns:a16="http://schemas.microsoft.com/office/drawing/2014/main" id="{FD9FCB93-202D-7A9C-4C25-69D8B3F46941}"/>
                </a:ext>
              </a:extLst>
            </p:cNvPr>
            <p:cNvPicPr>
              <a:picLocks noChangeAspect="1"/>
            </p:cNvPicPr>
            <p:nvPr/>
          </p:nvPicPr>
          <p:blipFill>
            <a:blip r:embed="rId3"/>
            <a:srcRect l="68639" t="26098" r="2880" b="54124"/>
            <a:stretch/>
          </p:blipFill>
          <p:spPr>
            <a:xfrm>
              <a:off x="9478363" y="5821825"/>
              <a:ext cx="2579215" cy="448580"/>
            </a:xfrm>
            <a:prstGeom prst="rect">
              <a:avLst/>
            </a:prstGeom>
          </p:spPr>
        </p:pic>
        <p:sp>
          <p:nvSpPr>
            <p:cNvPr id="9" name="正方形/長方形 8">
              <a:extLst>
                <a:ext uri="{FF2B5EF4-FFF2-40B4-BE49-F238E27FC236}">
                  <a16:creationId xmlns:a16="http://schemas.microsoft.com/office/drawing/2014/main" id="{4E497AB5-52E5-0FD1-9347-60F287DE4B79}"/>
                </a:ext>
              </a:extLst>
            </p:cNvPr>
            <p:cNvSpPr/>
            <p:nvPr/>
          </p:nvSpPr>
          <p:spPr>
            <a:xfrm>
              <a:off x="9470107" y="5819613"/>
              <a:ext cx="2595726" cy="453005"/>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11" name="吹き出し: 角を丸めた四角形 10">
            <a:extLst>
              <a:ext uri="{FF2B5EF4-FFF2-40B4-BE49-F238E27FC236}">
                <a16:creationId xmlns:a16="http://schemas.microsoft.com/office/drawing/2014/main" id="{D905BEAF-50BA-A014-7CEB-472B590E8DC7}"/>
              </a:ext>
            </a:extLst>
          </p:cNvPr>
          <p:cNvSpPr/>
          <p:nvPr/>
        </p:nvSpPr>
        <p:spPr>
          <a:xfrm>
            <a:off x="7369225" y="4639438"/>
            <a:ext cx="4218522" cy="1732265"/>
          </a:xfrm>
          <a:prstGeom prst="wedgeRoundRectCallout">
            <a:avLst>
              <a:gd name="adj1" fmla="val -4725"/>
              <a:gd name="adj2" fmla="val -101760"/>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①有効値の組み合わせだけでも、</a:t>
            </a:r>
            <a:endParaRPr lang="en-US" altLang="ja-JP" sz="1200" dirty="0">
              <a:solidFill>
                <a:schemeClr val="tx1"/>
              </a:solidFill>
            </a:endParaRPr>
          </a:p>
          <a:p>
            <a:pPr algn="ctr"/>
            <a:r>
              <a:rPr lang="ja-JP" altLang="en-US" sz="1200" dirty="0">
                <a:solidFill>
                  <a:schemeClr val="tx1"/>
                </a:solidFill>
              </a:rPr>
              <a:t>非常に多くのパターンが洗い出される場合もある。</a:t>
            </a:r>
            <a:endParaRPr lang="en-US" altLang="ja-JP" sz="1200" dirty="0">
              <a:solidFill>
                <a:schemeClr val="tx1"/>
              </a:solidFill>
            </a:endParaRPr>
          </a:p>
          <a:p>
            <a:pPr algn="ctr"/>
            <a:endParaRPr kumimoji="1" lang="en-US" altLang="ja-JP" sz="1200" dirty="0">
              <a:solidFill>
                <a:schemeClr val="tx1"/>
              </a:solidFill>
            </a:endParaRPr>
          </a:p>
          <a:p>
            <a:pPr algn="ctr"/>
            <a:r>
              <a:rPr kumimoji="1" lang="ja-JP" altLang="en-US" sz="1200" dirty="0">
                <a:solidFill>
                  <a:schemeClr val="tx1"/>
                </a:solidFill>
              </a:rPr>
              <a:t>例）有効値３パターンの項目が４項目存在するとき、</a:t>
            </a:r>
            <a:endParaRPr kumimoji="1" lang="en-US" altLang="ja-JP" sz="1200" dirty="0">
              <a:solidFill>
                <a:schemeClr val="tx1"/>
              </a:solidFill>
            </a:endParaRPr>
          </a:p>
          <a:p>
            <a:pPr algn="ctr"/>
            <a:r>
              <a:rPr kumimoji="1" lang="ja-JP" altLang="en-US" sz="1200" dirty="0">
                <a:solidFill>
                  <a:schemeClr val="tx1"/>
                </a:solidFill>
              </a:rPr>
              <a:t>３</a:t>
            </a:r>
            <a:r>
              <a:rPr kumimoji="1" lang="en-US" altLang="ja-JP" sz="1200" dirty="0">
                <a:solidFill>
                  <a:schemeClr val="tx1"/>
                </a:solidFill>
              </a:rPr>
              <a:t>×</a:t>
            </a:r>
            <a:r>
              <a:rPr kumimoji="1" lang="ja-JP" altLang="en-US" sz="1200" dirty="0">
                <a:solidFill>
                  <a:schemeClr val="tx1"/>
                </a:solidFill>
              </a:rPr>
              <a:t>３</a:t>
            </a:r>
            <a:r>
              <a:rPr kumimoji="1" lang="en-US" altLang="ja-JP" sz="1200" dirty="0">
                <a:solidFill>
                  <a:schemeClr val="tx1"/>
                </a:solidFill>
              </a:rPr>
              <a:t>×</a:t>
            </a:r>
            <a:r>
              <a:rPr kumimoji="1" lang="ja-JP" altLang="en-US" sz="1200" dirty="0">
                <a:solidFill>
                  <a:schemeClr val="tx1"/>
                </a:solidFill>
              </a:rPr>
              <a:t>３</a:t>
            </a:r>
            <a:r>
              <a:rPr kumimoji="1" lang="en-US" altLang="ja-JP" sz="1200" dirty="0">
                <a:solidFill>
                  <a:schemeClr val="tx1"/>
                </a:solidFill>
              </a:rPr>
              <a:t>×</a:t>
            </a:r>
            <a:r>
              <a:rPr kumimoji="1" lang="ja-JP" altLang="en-US" sz="1200" dirty="0">
                <a:solidFill>
                  <a:schemeClr val="tx1"/>
                </a:solidFill>
              </a:rPr>
              <a:t>３＝</a:t>
            </a:r>
            <a:r>
              <a:rPr kumimoji="1" lang="en-US" altLang="ja-JP" sz="1200" dirty="0">
                <a:solidFill>
                  <a:schemeClr val="tx1"/>
                </a:solidFill>
              </a:rPr>
              <a:t>81</a:t>
            </a:r>
            <a:r>
              <a:rPr kumimoji="1" lang="ja-JP" altLang="en-US" sz="1200" dirty="0">
                <a:solidFill>
                  <a:schemeClr val="tx1"/>
                </a:solidFill>
              </a:rPr>
              <a:t>パターン</a:t>
            </a:r>
            <a:endParaRPr kumimoji="1" lang="en-US" altLang="ja-JP" sz="1200" dirty="0">
              <a:solidFill>
                <a:schemeClr val="tx1"/>
              </a:solidFill>
            </a:endParaRPr>
          </a:p>
          <a:p>
            <a:pPr algn="ctr"/>
            <a:endParaRPr lang="en-US" altLang="ja-JP" sz="1200" dirty="0">
              <a:solidFill>
                <a:schemeClr val="tx1"/>
              </a:solidFill>
            </a:endParaRPr>
          </a:p>
          <a:p>
            <a:pPr algn="ctr"/>
            <a:r>
              <a:rPr kumimoji="1" lang="en-US" altLang="ja-JP" sz="1200" dirty="0">
                <a:solidFill>
                  <a:schemeClr val="tx1"/>
                </a:solidFill>
              </a:rPr>
              <a:t>※</a:t>
            </a:r>
            <a:r>
              <a:rPr kumimoji="1" lang="ja-JP" altLang="en-US" sz="1200" dirty="0">
                <a:solidFill>
                  <a:schemeClr val="tx1"/>
                </a:solidFill>
              </a:rPr>
              <a:t>より効率的なテストケース</a:t>
            </a:r>
            <a:r>
              <a:rPr lang="ja-JP" altLang="en-US" sz="1200" dirty="0">
                <a:solidFill>
                  <a:schemeClr val="tx1"/>
                </a:solidFill>
              </a:rPr>
              <a:t>のみを</a:t>
            </a:r>
            <a:r>
              <a:rPr kumimoji="1" lang="ja-JP" altLang="en-US" sz="1200" dirty="0">
                <a:solidFill>
                  <a:schemeClr val="tx1"/>
                </a:solidFill>
              </a:rPr>
              <a:t>抽出する技法も存在する。</a:t>
            </a:r>
            <a:endParaRPr kumimoji="1" lang="en-US" altLang="ja-JP" sz="1200" dirty="0">
              <a:solidFill>
                <a:schemeClr val="tx1"/>
              </a:solidFill>
            </a:endParaRPr>
          </a:p>
          <a:p>
            <a:pPr algn="ctr"/>
            <a:r>
              <a:rPr lang="ja-JP" altLang="en-US" sz="1200" dirty="0">
                <a:solidFill>
                  <a:schemeClr val="tx1"/>
                </a:solidFill>
              </a:rPr>
              <a:t>「</a:t>
            </a:r>
            <a:r>
              <a:rPr lang="en-US" altLang="ja-JP" sz="1200" dirty="0">
                <a:solidFill>
                  <a:schemeClr val="tx1"/>
                </a:solidFill>
              </a:rPr>
              <a:t>All-pair</a:t>
            </a:r>
            <a:r>
              <a:rPr lang="ja-JP" altLang="en-US" sz="1200" dirty="0">
                <a:solidFill>
                  <a:schemeClr val="tx1"/>
                </a:solidFill>
              </a:rPr>
              <a:t>法（</a:t>
            </a:r>
            <a:r>
              <a:rPr lang="en-US" altLang="ja-JP" sz="1200" dirty="0">
                <a:solidFill>
                  <a:schemeClr val="tx1"/>
                </a:solidFill>
              </a:rPr>
              <a:t>pairwise</a:t>
            </a:r>
            <a:r>
              <a:rPr lang="ja-JP" altLang="en-US" sz="1200" dirty="0">
                <a:solidFill>
                  <a:schemeClr val="tx1"/>
                </a:solidFill>
              </a:rPr>
              <a:t>法）」などで検索！</a:t>
            </a:r>
            <a:endParaRPr kumimoji="1" lang="ja-JP" altLang="en-US" sz="1200" dirty="0">
              <a:solidFill>
                <a:schemeClr val="tx1"/>
              </a:solidFill>
            </a:endParaRPr>
          </a:p>
        </p:txBody>
      </p:sp>
    </p:spTree>
    <p:extLst>
      <p:ext uri="{BB962C8B-B14F-4D97-AF65-F5344CB8AC3E}">
        <p14:creationId xmlns:p14="http://schemas.microsoft.com/office/powerpoint/2010/main" val="8367417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F09BC-CB80-FE97-83CB-66E4914694B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69D764-6FA6-B4B1-3070-ECABA1B2A4B8}"/>
              </a:ext>
            </a:extLst>
          </p:cNvPr>
          <p:cNvSpPr>
            <a:spLocks noGrp="1"/>
          </p:cNvSpPr>
          <p:nvPr>
            <p:ph type="title"/>
          </p:nvPr>
        </p:nvSpPr>
        <p:spPr/>
        <p:txBody>
          <a:bodyPr/>
          <a:lstStyle/>
          <a:p>
            <a:r>
              <a:rPr kumimoji="1" lang="ja-JP" altLang="en-US" dirty="0"/>
              <a:t>ブラックボックステスト：</a:t>
            </a:r>
            <a:r>
              <a:rPr lang="ja-JP" altLang="en-US" dirty="0"/>
              <a:t>ディシジョンテーブルテスト</a:t>
            </a:r>
            <a:endParaRPr kumimoji="1" lang="ja-JP" altLang="en-US" dirty="0"/>
          </a:p>
        </p:txBody>
      </p:sp>
      <p:sp>
        <p:nvSpPr>
          <p:cNvPr id="3" name="コンテンツ プレースホルダー 2">
            <a:extLst>
              <a:ext uri="{FF2B5EF4-FFF2-40B4-BE49-F238E27FC236}">
                <a16:creationId xmlns:a16="http://schemas.microsoft.com/office/drawing/2014/main" id="{5D72EEA2-6168-F700-3875-5C12D31AC668}"/>
              </a:ext>
            </a:extLst>
          </p:cNvPr>
          <p:cNvSpPr>
            <a:spLocks noGrp="1"/>
          </p:cNvSpPr>
          <p:nvPr>
            <p:ph sz="quarter" idx="10"/>
          </p:nvPr>
        </p:nvSpPr>
        <p:spPr>
          <a:xfrm>
            <a:off x="390136" y="1038386"/>
            <a:ext cx="11448000" cy="5196814"/>
          </a:xfrm>
        </p:spPr>
        <p:txBody>
          <a:bodyPr/>
          <a:lstStyle/>
          <a:p>
            <a:r>
              <a:rPr lang="ja-JP" altLang="en-US" u="sng" dirty="0">
                <a:solidFill>
                  <a:schemeClr val="tx1"/>
                </a:solidFill>
              </a:rPr>
              <a:t>ディシジョンテーブルテスト</a:t>
            </a:r>
            <a:endParaRPr lang="en-US" altLang="ja-JP" u="sng" dirty="0">
              <a:solidFill>
                <a:schemeClr val="tx1"/>
              </a:solidFill>
            </a:endParaRPr>
          </a:p>
          <a:p>
            <a:r>
              <a:rPr lang="ja-JP" altLang="en-US" sz="2000" b="1" dirty="0">
                <a:solidFill>
                  <a:schemeClr val="tx1"/>
                </a:solidFill>
              </a:rPr>
              <a:t>ディシジョンテーブル</a:t>
            </a:r>
            <a:r>
              <a:rPr lang="ja-JP" altLang="en-US" dirty="0">
                <a:solidFill>
                  <a:schemeClr val="tx1"/>
                </a:solidFill>
              </a:rPr>
              <a:t>（条件と動作の組み合わせ表）を利用して</a:t>
            </a:r>
            <a:r>
              <a:rPr lang="ja-JP" altLang="en-US" sz="2000" b="1" dirty="0">
                <a:solidFill>
                  <a:schemeClr val="tx1"/>
                </a:solidFill>
              </a:rPr>
              <a:t>複雑な仕様を整理</a:t>
            </a:r>
            <a:r>
              <a:rPr lang="ja-JP" altLang="en-US" dirty="0">
                <a:solidFill>
                  <a:schemeClr val="tx1"/>
                </a:solidFill>
              </a:rPr>
              <a:t>し、テスト項目を作成・整理するときに利用する技法</a:t>
            </a:r>
            <a:endParaRPr lang="en-US" altLang="ja-JP" dirty="0">
              <a:solidFill>
                <a:schemeClr val="tx1"/>
              </a:solidFill>
            </a:endParaRPr>
          </a:p>
          <a:p>
            <a:endParaRPr kumimoji="1" lang="en-US" altLang="ja-JP" dirty="0">
              <a:solidFill>
                <a:schemeClr val="tx1"/>
              </a:solidFill>
            </a:endParaRPr>
          </a:p>
          <a:p>
            <a:r>
              <a:rPr lang="ja-JP" altLang="en-US" dirty="0">
                <a:solidFill>
                  <a:schemeClr val="tx1"/>
                </a:solidFill>
              </a:rPr>
              <a:t>例）</a:t>
            </a:r>
            <a:endParaRPr kumimoji="1" lang="ja-JP" altLang="en-US" dirty="0">
              <a:solidFill>
                <a:schemeClr val="tx1"/>
              </a:solidFill>
            </a:endParaRPr>
          </a:p>
        </p:txBody>
      </p:sp>
      <p:pic>
        <p:nvPicPr>
          <p:cNvPr id="24" name="図 23" descr="カレンダー&#10;&#10;AI によって生成されたコンテンツは間違っている可能性があります。">
            <a:extLst>
              <a:ext uri="{FF2B5EF4-FFF2-40B4-BE49-F238E27FC236}">
                <a16:creationId xmlns:a16="http://schemas.microsoft.com/office/drawing/2014/main" id="{AD0FCC01-1532-64F1-3486-3243CCEA0DE1}"/>
              </a:ext>
            </a:extLst>
          </p:cNvPr>
          <p:cNvPicPr>
            <a:picLocks noChangeAspect="1"/>
          </p:cNvPicPr>
          <p:nvPr/>
        </p:nvPicPr>
        <p:blipFill>
          <a:blip r:embed="rId2"/>
          <a:srcRect l="10289" t="10640" r="48829" b="48748"/>
          <a:stretch/>
        </p:blipFill>
        <p:spPr>
          <a:xfrm>
            <a:off x="608837" y="2629460"/>
            <a:ext cx="5505299" cy="2388237"/>
          </a:xfrm>
          <a:prstGeom prst="rect">
            <a:avLst/>
          </a:prstGeom>
        </p:spPr>
      </p:pic>
      <p:grpSp>
        <p:nvGrpSpPr>
          <p:cNvPr id="28" name="グループ化 27">
            <a:extLst>
              <a:ext uri="{FF2B5EF4-FFF2-40B4-BE49-F238E27FC236}">
                <a16:creationId xmlns:a16="http://schemas.microsoft.com/office/drawing/2014/main" id="{96BDFC79-E486-549D-FF07-9765A0E01CC6}"/>
              </a:ext>
            </a:extLst>
          </p:cNvPr>
          <p:cNvGrpSpPr/>
          <p:nvPr/>
        </p:nvGrpSpPr>
        <p:grpSpPr>
          <a:xfrm>
            <a:off x="5981549" y="4324693"/>
            <a:ext cx="6120000" cy="2003268"/>
            <a:chOff x="1457324" y="3467100"/>
            <a:chExt cx="5400000" cy="2003268"/>
          </a:xfrm>
        </p:grpSpPr>
        <p:pic>
          <p:nvPicPr>
            <p:cNvPr id="23" name="図 22" descr="テキスト, 手紙&#10;&#10;AI によって生成されたコンテンツは間違っている可能性があります。">
              <a:extLst>
                <a:ext uri="{FF2B5EF4-FFF2-40B4-BE49-F238E27FC236}">
                  <a16:creationId xmlns:a16="http://schemas.microsoft.com/office/drawing/2014/main" id="{F2C7584F-C7EB-E758-CE40-6A1468832F49}"/>
                </a:ext>
              </a:extLst>
            </p:cNvPr>
            <p:cNvPicPr preferRelativeResize="0">
              <a:picLocks/>
            </p:cNvPicPr>
            <p:nvPr/>
          </p:nvPicPr>
          <p:blipFill>
            <a:blip r:embed="rId3"/>
            <a:srcRect l="786" t="58" r="16791" b="2353"/>
            <a:stretch/>
          </p:blipFill>
          <p:spPr>
            <a:xfrm>
              <a:off x="1457324" y="3706368"/>
              <a:ext cx="5400000" cy="1764000"/>
            </a:xfrm>
            <a:prstGeom prst="rect">
              <a:avLst/>
            </a:prstGeom>
          </p:spPr>
        </p:pic>
        <p:pic>
          <p:nvPicPr>
            <p:cNvPr id="27" name="図 26" descr="テーブル&#10;&#10;AI によって生成されたコンテンツは間違っている可能性があります。">
              <a:extLst>
                <a:ext uri="{FF2B5EF4-FFF2-40B4-BE49-F238E27FC236}">
                  <a16:creationId xmlns:a16="http://schemas.microsoft.com/office/drawing/2014/main" id="{1695D519-7207-CCB1-4AC1-D0327164C20F}"/>
                </a:ext>
              </a:extLst>
            </p:cNvPr>
            <p:cNvPicPr>
              <a:picLocks noChangeAspect="1"/>
            </p:cNvPicPr>
            <p:nvPr/>
          </p:nvPicPr>
          <p:blipFill>
            <a:blip r:embed="rId4"/>
            <a:srcRect t="895" r="17302" b="95116"/>
            <a:stretch/>
          </p:blipFill>
          <p:spPr>
            <a:xfrm>
              <a:off x="1457324" y="3467100"/>
              <a:ext cx="5400000" cy="258319"/>
            </a:xfrm>
            <a:prstGeom prst="rect">
              <a:avLst/>
            </a:prstGeom>
          </p:spPr>
        </p:pic>
      </p:grpSp>
      <p:sp>
        <p:nvSpPr>
          <p:cNvPr id="30" name="テキスト ボックス 29">
            <a:extLst>
              <a:ext uri="{FF2B5EF4-FFF2-40B4-BE49-F238E27FC236}">
                <a16:creationId xmlns:a16="http://schemas.microsoft.com/office/drawing/2014/main" id="{DDA3660C-6552-7F38-524F-ECCF18B45FF7}"/>
              </a:ext>
            </a:extLst>
          </p:cNvPr>
          <p:cNvSpPr txBox="1"/>
          <p:nvPr/>
        </p:nvSpPr>
        <p:spPr>
          <a:xfrm>
            <a:off x="2800350" y="5326327"/>
            <a:ext cx="2609740" cy="432128"/>
          </a:xfrm>
          <a:prstGeom prst="rect">
            <a:avLst/>
          </a:prstGeom>
          <a:noFill/>
        </p:spPr>
        <p:txBody>
          <a:bodyPr wrap="square" lIns="0" rIns="0" rtlCol="0">
            <a:noAutofit/>
          </a:bodyPr>
          <a:lstStyle/>
          <a:p>
            <a:pPr algn="l" defTabSz="288000"/>
            <a:r>
              <a:rPr kumimoji="1" lang="ja-JP" altLang="en-US" dirty="0">
                <a:latin typeface="+mn-ea"/>
              </a:rPr>
              <a:t>整理した組み合わせごとに</a:t>
            </a:r>
            <a:endParaRPr kumimoji="1" lang="en-US" altLang="ja-JP" dirty="0">
              <a:latin typeface="+mn-ea"/>
            </a:endParaRPr>
          </a:p>
          <a:p>
            <a:pPr algn="l" defTabSz="288000"/>
            <a:r>
              <a:rPr kumimoji="1" lang="ja-JP" altLang="en-US" dirty="0">
                <a:latin typeface="+mn-ea"/>
              </a:rPr>
              <a:t>テスト項目を作成</a:t>
            </a:r>
          </a:p>
        </p:txBody>
      </p:sp>
      <p:sp>
        <p:nvSpPr>
          <p:cNvPr id="31" name="矢印: 上向き折線 30">
            <a:extLst>
              <a:ext uri="{FF2B5EF4-FFF2-40B4-BE49-F238E27FC236}">
                <a16:creationId xmlns:a16="http://schemas.microsoft.com/office/drawing/2014/main" id="{A8701868-C320-11A9-7A48-BD817D72C070}"/>
              </a:ext>
            </a:extLst>
          </p:cNvPr>
          <p:cNvSpPr/>
          <p:nvPr/>
        </p:nvSpPr>
        <p:spPr>
          <a:xfrm rot="5400000">
            <a:off x="5251712" y="5053923"/>
            <a:ext cx="638175" cy="611947"/>
          </a:xfrm>
          <a:prstGeom prst="bentUpArrow">
            <a:avLst/>
          </a:prstGeom>
          <a:solidFill>
            <a:schemeClr val="bg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Tree>
    <p:extLst>
      <p:ext uri="{BB962C8B-B14F-4D97-AF65-F5344CB8AC3E}">
        <p14:creationId xmlns:p14="http://schemas.microsoft.com/office/powerpoint/2010/main" val="6624082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791CA-E0E8-521C-F0A1-20E958F26462}"/>
            </a:ext>
          </a:extLst>
        </p:cNvPr>
        <p:cNvGrpSpPr/>
        <p:nvPr/>
      </p:nvGrpSpPr>
      <p:grpSpPr>
        <a:xfrm>
          <a:off x="0" y="0"/>
          <a:ext cx="0" cy="0"/>
          <a:chOff x="0" y="0"/>
          <a:chExt cx="0" cy="0"/>
        </a:xfrm>
      </p:grpSpPr>
      <p:sp>
        <p:nvSpPr>
          <p:cNvPr id="71" name="四角形: 角を丸くする 70">
            <a:extLst>
              <a:ext uri="{FF2B5EF4-FFF2-40B4-BE49-F238E27FC236}">
                <a16:creationId xmlns:a16="http://schemas.microsoft.com/office/drawing/2014/main" id="{051DB9DF-95C5-9A3A-F790-7D343FFDD575}"/>
              </a:ext>
            </a:extLst>
          </p:cNvPr>
          <p:cNvSpPr/>
          <p:nvPr/>
        </p:nvSpPr>
        <p:spPr>
          <a:xfrm>
            <a:off x="1224911" y="2569120"/>
            <a:ext cx="3718623" cy="790324"/>
          </a:xfrm>
          <a:prstGeom prst="roundRect">
            <a:avLst/>
          </a:prstGeom>
          <a:solidFill>
            <a:schemeClr val="accent2">
              <a:lumMod val="10000"/>
              <a:lumOff val="9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08" name="正方形/長方形 107">
            <a:extLst>
              <a:ext uri="{FF2B5EF4-FFF2-40B4-BE49-F238E27FC236}">
                <a16:creationId xmlns:a16="http://schemas.microsoft.com/office/drawing/2014/main" id="{E11FA1D1-C678-535A-8FF7-44CE237D6AF6}"/>
              </a:ext>
            </a:extLst>
          </p:cNvPr>
          <p:cNvSpPr/>
          <p:nvPr/>
        </p:nvSpPr>
        <p:spPr>
          <a:xfrm>
            <a:off x="2426009" y="2679159"/>
            <a:ext cx="270588" cy="259963"/>
          </a:xfrm>
          <a:prstGeom prst="rect">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6" name="正方形/長方形 15">
            <a:extLst>
              <a:ext uri="{FF2B5EF4-FFF2-40B4-BE49-F238E27FC236}">
                <a16:creationId xmlns:a16="http://schemas.microsoft.com/office/drawing/2014/main" id="{35C5AE22-1D21-67DB-B183-ED175E9BD60F}"/>
              </a:ext>
            </a:extLst>
          </p:cNvPr>
          <p:cNvSpPr/>
          <p:nvPr/>
        </p:nvSpPr>
        <p:spPr>
          <a:xfrm>
            <a:off x="867130" y="3732987"/>
            <a:ext cx="4968000" cy="2434541"/>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FA304FF7-A553-B648-B8CE-F6A3389DF3CB}"/>
              </a:ext>
            </a:extLst>
          </p:cNvPr>
          <p:cNvSpPr>
            <a:spLocks noGrp="1"/>
          </p:cNvSpPr>
          <p:nvPr>
            <p:ph type="title"/>
          </p:nvPr>
        </p:nvSpPr>
        <p:spPr/>
        <p:txBody>
          <a:bodyPr/>
          <a:lstStyle/>
          <a:p>
            <a:r>
              <a:rPr kumimoji="1" lang="ja-JP" altLang="en-US" dirty="0"/>
              <a:t>ブラックボックステスト：状態遷移</a:t>
            </a:r>
            <a:r>
              <a:rPr lang="ja-JP" altLang="en-US" dirty="0"/>
              <a:t>テスト</a:t>
            </a:r>
            <a:endParaRPr kumimoji="1" lang="ja-JP" altLang="en-US" dirty="0"/>
          </a:p>
        </p:txBody>
      </p:sp>
      <p:sp>
        <p:nvSpPr>
          <p:cNvPr id="3" name="コンテンツ プレースホルダー 2">
            <a:extLst>
              <a:ext uri="{FF2B5EF4-FFF2-40B4-BE49-F238E27FC236}">
                <a16:creationId xmlns:a16="http://schemas.microsoft.com/office/drawing/2014/main" id="{D0D3D097-B69A-1EC9-5CAD-78200D56CA4C}"/>
              </a:ext>
            </a:extLst>
          </p:cNvPr>
          <p:cNvSpPr>
            <a:spLocks noGrp="1"/>
          </p:cNvSpPr>
          <p:nvPr>
            <p:ph sz="quarter" idx="10"/>
          </p:nvPr>
        </p:nvSpPr>
        <p:spPr>
          <a:xfrm>
            <a:off x="371474" y="1038386"/>
            <a:ext cx="11448000" cy="1712090"/>
          </a:xfrm>
        </p:spPr>
        <p:txBody>
          <a:bodyPr/>
          <a:lstStyle/>
          <a:p>
            <a:r>
              <a:rPr lang="ja-JP" altLang="en-US" u="sng" dirty="0">
                <a:solidFill>
                  <a:schemeClr val="tx1"/>
                </a:solidFill>
              </a:rPr>
              <a:t>状態遷移テスト</a:t>
            </a:r>
            <a:endParaRPr lang="en-US" altLang="ja-JP" u="sng" dirty="0">
              <a:solidFill>
                <a:schemeClr val="tx1"/>
              </a:solidFill>
            </a:endParaRPr>
          </a:p>
          <a:p>
            <a:r>
              <a:rPr lang="ja-JP" altLang="en-US" sz="2000" dirty="0">
                <a:solidFill>
                  <a:schemeClr val="tx1"/>
                </a:solidFill>
              </a:rPr>
              <a:t>システムが取りうる状態とその遷移をモデル化して、</a:t>
            </a:r>
            <a:r>
              <a:rPr lang="ja-JP" altLang="en-US" sz="2000" b="1" dirty="0">
                <a:solidFill>
                  <a:schemeClr val="tx1"/>
                </a:solidFill>
              </a:rPr>
              <a:t>複数の状態間の遷移</a:t>
            </a:r>
            <a:r>
              <a:rPr lang="ja-JP" altLang="en-US" sz="2000" dirty="0">
                <a:solidFill>
                  <a:schemeClr val="tx1"/>
                </a:solidFill>
              </a:rPr>
              <a:t>を網羅したテスト項目を作成する技法</a:t>
            </a:r>
            <a:endParaRPr lang="en-US" altLang="ja-JP" sz="2000" dirty="0">
              <a:solidFill>
                <a:schemeClr val="tx1"/>
              </a:solidFill>
            </a:endParaRPr>
          </a:p>
          <a:p>
            <a:endParaRPr kumimoji="1" lang="en-US" altLang="ja-JP" dirty="0">
              <a:solidFill>
                <a:schemeClr val="tx1"/>
              </a:solidFill>
            </a:endParaRPr>
          </a:p>
          <a:p>
            <a:r>
              <a:rPr lang="ja-JP" altLang="en-US" dirty="0">
                <a:solidFill>
                  <a:schemeClr val="tx1"/>
                </a:solidFill>
              </a:rPr>
              <a:t>例）音楽プレーヤーの状態遷移</a:t>
            </a:r>
            <a:endParaRPr lang="en-US" altLang="ja-JP" dirty="0">
              <a:solidFill>
                <a:schemeClr val="tx1"/>
              </a:solidFill>
            </a:endParaRPr>
          </a:p>
        </p:txBody>
      </p:sp>
      <p:graphicFrame>
        <p:nvGraphicFramePr>
          <p:cNvPr id="12" name="表 11">
            <a:extLst>
              <a:ext uri="{FF2B5EF4-FFF2-40B4-BE49-F238E27FC236}">
                <a16:creationId xmlns:a16="http://schemas.microsoft.com/office/drawing/2014/main" id="{0045E6D2-CB94-6CBE-3EA4-5508D98F4EDF}"/>
              </a:ext>
            </a:extLst>
          </p:cNvPr>
          <p:cNvGraphicFramePr>
            <a:graphicFrameLocks noGrp="1"/>
          </p:cNvGraphicFramePr>
          <p:nvPr>
            <p:extLst>
              <p:ext uri="{D42A27DB-BD31-4B8C-83A1-F6EECF244321}">
                <p14:modId xmlns:p14="http://schemas.microsoft.com/office/powerpoint/2010/main" val="2766540352"/>
              </p:ext>
            </p:extLst>
          </p:nvPr>
        </p:nvGraphicFramePr>
        <p:xfrm>
          <a:off x="5986603" y="3732987"/>
          <a:ext cx="5760000" cy="202088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1031241203"/>
                    </a:ext>
                  </a:extLst>
                </a:gridCol>
                <a:gridCol w="1008000">
                  <a:extLst>
                    <a:ext uri="{9D8B030D-6E8A-4147-A177-3AD203B41FA5}">
                      <a16:colId xmlns:a16="http://schemas.microsoft.com/office/drawing/2014/main" val="4167244536"/>
                    </a:ext>
                  </a:extLst>
                </a:gridCol>
                <a:gridCol w="1116000">
                  <a:extLst>
                    <a:ext uri="{9D8B030D-6E8A-4147-A177-3AD203B41FA5}">
                      <a16:colId xmlns:a16="http://schemas.microsoft.com/office/drawing/2014/main" val="2669439069"/>
                    </a:ext>
                  </a:extLst>
                </a:gridCol>
                <a:gridCol w="1116000">
                  <a:extLst>
                    <a:ext uri="{9D8B030D-6E8A-4147-A177-3AD203B41FA5}">
                      <a16:colId xmlns:a16="http://schemas.microsoft.com/office/drawing/2014/main" val="404137030"/>
                    </a:ext>
                  </a:extLst>
                </a:gridCol>
                <a:gridCol w="1116000">
                  <a:extLst>
                    <a:ext uri="{9D8B030D-6E8A-4147-A177-3AD203B41FA5}">
                      <a16:colId xmlns:a16="http://schemas.microsoft.com/office/drawing/2014/main" val="2387330387"/>
                    </a:ext>
                  </a:extLst>
                </a:gridCol>
                <a:gridCol w="1116000">
                  <a:extLst>
                    <a:ext uri="{9D8B030D-6E8A-4147-A177-3AD203B41FA5}">
                      <a16:colId xmlns:a16="http://schemas.microsoft.com/office/drawing/2014/main" val="2823553361"/>
                    </a:ext>
                  </a:extLst>
                </a:gridCol>
              </a:tblGrid>
              <a:tr h="209060">
                <a:tc rowSpan="2" gridSpan="2">
                  <a:txBody>
                    <a:bodyPr/>
                    <a:lstStyle/>
                    <a:p>
                      <a:pPr>
                        <a:lnSpc>
                          <a:spcPts val="1000"/>
                        </a:lnSpc>
                      </a:pPr>
                      <a:endParaRPr kumimoji="1" lang="ja-JP" altLang="en-US" sz="1050" dirty="0"/>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2" hMerge="1">
                  <a:txBody>
                    <a:bodyPr/>
                    <a:lstStyle/>
                    <a:p>
                      <a:pPr>
                        <a:lnSpc>
                          <a:spcPts val="1000"/>
                        </a:lnSpc>
                      </a:pPr>
                      <a:endParaRPr kumimoji="1" lang="ja-JP" altLang="en-US" sz="1050" dirty="0"/>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4">
                  <a:txBody>
                    <a:bodyPr/>
                    <a:lstStyle/>
                    <a:p>
                      <a:pPr algn="ctr">
                        <a:lnSpc>
                          <a:spcPts val="1000"/>
                        </a:lnSpc>
                      </a:pPr>
                      <a:r>
                        <a:rPr kumimoji="1" lang="ja-JP" altLang="en-US" sz="1050" b="0" dirty="0">
                          <a:solidFill>
                            <a:schemeClr val="tx1"/>
                          </a:solidFill>
                        </a:rPr>
                        <a:t>イベント</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a:lnSpc>
                          <a:spcPts val="1000"/>
                        </a:lnSpc>
                      </a:pPr>
                      <a:endParaRPr kumimoji="1" lang="ja-JP" altLang="en-US" sz="1050" b="0" dirty="0">
                        <a:solidFill>
                          <a:schemeClr val="tx1"/>
                        </a:solidFill>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a:lnSpc>
                          <a:spcPts val="1000"/>
                        </a:lnSpc>
                      </a:pPr>
                      <a:endParaRPr kumimoji="1" lang="ja-JP" altLang="en-US" sz="1050" b="0" dirty="0">
                        <a:solidFill>
                          <a:schemeClr val="tx1"/>
                        </a:solidFill>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a:lnSpc>
                          <a:spcPts val="1000"/>
                        </a:lnSpc>
                      </a:pPr>
                      <a:endParaRPr kumimoji="1" lang="ja-JP" altLang="en-US" sz="1050" b="0" dirty="0">
                        <a:solidFill>
                          <a:schemeClr val="tx1"/>
                        </a:solidFill>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789148080"/>
                  </a:ext>
                </a:extLst>
              </a:tr>
              <a:tr h="209060">
                <a:tc gridSpan="2" vMerge="1">
                  <a:txBody>
                    <a:bodyPr/>
                    <a:lstStyle/>
                    <a:p>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vMerge="1">
                  <a:txBody>
                    <a:bodyPr/>
                    <a:lstStyle/>
                    <a:p>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ts val="1000"/>
                        </a:lnSpc>
                      </a:pPr>
                      <a:r>
                        <a:rPr kumimoji="1" lang="ja-JP" altLang="en-US" sz="1050" dirty="0"/>
                        <a:t>電源ボタン押下</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ts val="1000"/>
                        </a:lnSpc>
                      </a:pPr>
                      <a:r>
                        <a:rPr kumimoji="1" lang="ja-JP" altLang="en-US" sz="1050" dirty="0"/>
                        <a:t>停止ボタン押下</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ts val="1000"/>
                        </a:lnSpc>
                      </a:pPr>
                      <a:r>
                        <a:rPr kumimoji="1" lang="ja-JP" altLang="en-US" sz="1050" dirty="0"/>
                        <a:t>再生ボタン押下</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ts val="1000"/>
                        </a:lnSpc>
                      </a:pPr>
                      <a:r>
                        <a:rPr kumimoji="1" lang="ja-JP" altLang="en-US" sz="1050" dirty="0"/>
                        <a:t>早送りボタン押下</a:t>
                      </a: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12682847"/>
                  </a:ext>
                </a:extLst>
              </a:tr>
              <a:tr h="396000">
                <a:tc rowSpan="4">
                  <a:txBody>
                    <a:bodyPr/>
                    <a:lstStyle/>
                    <a:p>
                      <a:r>
                        <a:rPr kumimoji="1" lang="ja-JP" altLang="en-US" sz="1050" dirty="0"/>
                        <a:t>遷移前の状態</a:t>
                      </a:r>
                    </a:p>
                  </a:txBody>
                  <a:tcPr vert="eaVert"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r>
                        <a:rPr kumimoji="1" lang="ja-JP" altLang="en-US" sz="1050" dirty="0"/>
                        <a:t>電源</a:t>
                      </a:r>
                      <a:r>
                        <a:rPr kumimoji="1" lang="en-US" altLang="ja-JP" sz="1050" dirty="0"/>
                        <a:t>OFF</a:t>
                      </a:r>
                      <a:r>
                        <a:rPr kumimoji="1" lang="ja-JP" altLang="en-US" sz="1050" dirty="0"/>
                        <a:t>状態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kumimoji="1" lang="ja-JP" altLang="en-US" sz="1050" dirty="0"/>
                        <a:t>停止中</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n-lt"/>
                          <a:ea typeface="+mn-ea"/>
                          <a:cs typeface="+mn-cs"/>
                        </a:rPr>
                        <a:t>ー</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n-lt"/>
                          <a:ea typeface="+mn-ea"/>
                          <a:cs typeface="+mn-cs"/>
                        </a:rPr>
                        <a:t>ー</a:t>
                      </a:r>
                      <a:endParaRPr kumimoji="1" lang="en-US" altLang="ja-JP" sz="1050" b="0" i="0" u="none" strike="noStrike" kern="1200" cap="none" spc="0" normalizeH="0" baseline="0" noProof="0" dirty="0">
                        <a:ln>
                          <a:noFill/>
                        </a:ln>
                        <a:solidFill>
                          <a:srgbClr val="000000"/>
                        </a:solidFill>
                        <a:effectLst/>
                        <a:uLnTx/>
                        <a:uFillTx/>
                        <a:latin typeface="+mn-lt"/>
                        <a:ea typeface="+mn-ea"/>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n-lt"/>
                          <a:ea typeface="+mn-ea"/>
                          <a:cs typeface="+mn-cs"/>
                        </a:rPr>
                        <a:t>ー</a:t>
                      </a:r>
                      <a:endParaRPr kumimoji="1" lang="en-US" altLang="ja-JP" sz="1050" b="0" i="0" u="none" strike="noStrike" kern="1200" cap="none" spc="0" normalizeH="0" baseline="0" noProof="0" dirty="0">
                        <a:ln>
                          <a:noFill/>
                        </a:ln>
                        <a:solidFill>
                          <a:srgbClr val="000000"/>
                        </a:solidFill>
                        <a:effectLst/>
                        <a:uLnTx/>
                        <a:uFillTx/>
                        <a:latin typeface="+mn-lt"/>
                        <a:ea typeface="+mn-ea"/>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18857576"/>
                  </a:ext>
                </a:extLst>
              </a:tr>
              <a:tr h="396000">
                <a:tc vMerge="1">
                  <a:txBody>
                    <a:bodyPr/>
                    <a:lstStyle/>
                    <a:p>
                      <a:endParaRPr kumimoji="1" lang="ja-JP" altLang="en-US" sz="1400" dirty="0"/>
                    </a:p>
                  </a:txBody>
                  <a:tcPr>
                    <a:lnT w="9525" cap="flat" cmpd="sng" algn="ctr">
                      <a:solidFill>
                        <a:schemeClr val="tx1"/>
                      </a:solidFill>
                      <a:prstDash val="solid"/>
                      <a:round/>
                      <a:headEnd type="none" w="med" len="med"/>
                      <a:tailEnd type="none" w="med" len="med"/>
                    </a:lnT>
                  </a:tcPr>
                </a:tc>
                <a:tc>
                  <a:txBody>
                    <a:bodyPr/>
                    <a:lstStyle/>
                    <a:p>
                      <a:r>
                        <a:rPr kumimoji="1" lang="ja-JP" altLang="en-US" sz="1050" dirty="0"/>
                        <a:t>停止中</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kumimoji="1" lang="ja-JP" altLang="en-US" sz="1050" dirty="0"/>
                        <a:t>電源</a:t>
                      </a:r>
                      <a:r>
                        <a:rPr kumimoji="1" lang="en-US" altLang="ja-JP" sz="1050" dirty="0"/>
                        <a:t>OFF</a:t>
                      </a:r>
                      <a:endParaRPr kumimoji="1" lang="ja-JP" altLang="en-US" sz="105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n-lt"/>
                          <a:ea typeface="+mn-ea"/>
                          <a:cs typeface="+mn-cs"/>
                        </a:rPr>
                        <a:t>ー</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50" dirty="0"/>
                        <a:t>再生中</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50" dirty="0"/>
                        <a:t>停止中</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2081570"/>
                  </a:ext>
                </a:extLst>
              </a:tr>
              <a:tr h="396000">
                <a:tc vMerge="1">
                  <a:txBody>
                    <a:bodyPr/>
                    <a:lstStyle/>
                    <a:p>
                      <a:endParaRPr kumimoji="1" lang="ja-JP" altLang="en-US" sz="1400" dirty="0"/>
                    </a:p>
                  </a:txBody>
                  <a:tcPr/>
                </a:tc>
                <a:tc>
                  <a:txBody>
                    <a:bodyPr/>
                    <a:lstStyle/>
                    <a:p>
                      <a:r>
                        <a:rPr kumimoji="1" lang="ja-JP" altLang="en-US" sz="1050" dirty="0"/>
                        <a:t>再生中</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1" lang="ja-JP" altLang="en-US" sz="1050" dirty="0"/>
                        <a:t>電源</a:t>
                      </a:r>
                      <a:r>
                        <a:rPr kumimoji="1" lang="en-US" altLang="ja-JP" sz="1050" dirty="0"/>
                        <a:t>OFF</a:t>
                      </a:r>
                      <a:endParaRPr kumimoji="1" lang="ja-JP" altLang="en-US" sz="105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50" dirty="0"/>
                        <a:t>停止中</a:t>
                      </a:r>
                      <a:endParaRPr kumimoji="1" lang="en-US" altLang="ja-JP" sz="105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50" dirty="0"/>
                        <a:t>一時停止中</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50" dirty="0"/>
                        <a:t>再生中</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3072315"/>
                  </a:ext>
                </a:extLst>
              </a:tr>
              <a:tr h="396000">
                <a:tc vMerge="1">
                  <a:txBody>
                    <a:bodyPr/>
                    <a:lstStyle/>
                    <a:p>
                      <a:endParaRPr kumimoji="1" lang="ja-JP" altLang="en-US" sz="1050" dirty="0"/>
                    </a:p>
                  </a:txBody>
                  <a:tcPr vert="eaVert"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050" dirty="0"/>
                        <a:t>一時停止中</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1" lang="ja-JP" altLang="en-US" sz="1050" dirty="0"/>
                        <a:t>電源</a:t>
                      </a:r>
                      <a:r>
                        <a:rPr kumimoji="1" lang="en-US" altLang="ja-JP" sz="1050" dirty="0"/>
                        <a:t>OFF</a:t>
                      </a:r>
                      <a:endParaRPr kumimoji="1" lang="ja-JP" altLang="en-US" sz="105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50" dirty="0"/>
                        <a:t>停止中</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50" dirty="0"/>
                        <a:t>再生中</a:t>
                      </a:r>
                      <a:endParaRPr kumimoji="1" lang="en-US" altLang="ja-JP" sz="105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50" dirty="0"/>
                        <a:t>再生中</a:t>
                      </a:r>
                      <a:endParaRPr kumimoji="1" lang="en-US" altLang="ja-JP" sz="105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8702909"/>
                  </a:ext>
                </a:extLst>
              </a:tr>
            </a:tbl>
          </a:graphicData>
        </a:graphic>
      </p:graphicFrame>
      <p:sp>
        <p:nvSpPr>
          <p:cNvPr id="13" name="四角形: 角を丸くする 12">
            <a:extLst>
              <a:ext uri="{FF2B5EF4-FFF2-40B4-BE49-F238E27FC236}">
                <a16:creationId xmlns:a16="http://schemas.microsoft.com/office/drawing/2014/main" id="{0BC83727-ED8E-3FD6-DFA3-34FF67790F25}"/>
              </a:ext>
            </a:extLst>
          </p:cNvPr>
          <p:cNvSpPr/>
          <p:nvPr/>
        </p:nvSpPr>
        <p:spPr>
          <a:xfrm>
            <a:off x="1839256" y="4289243"/>
            <a:ext cx="1008000" cy="401217"/>
          </a:xfrm>
          <a:prstGeom prst="roundRect">
            <a:avLst/>
          </a:prstGeom>
          <a:solidFill>
            <a:schemeClr val="bg1">
              <a:lumMod val="8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停止中</a:t>
            </a:r>
          </a:p>
        </p:txBody>
      </p:sp>
      <p:sp>
        <p:nvSpPr>
          <p:cNvPr id="14" name="四角形: 角を丸くする 13">
            <a:extLst>
              <a:ext uri="{FF2B5EF4-FFF2-40B4-BE49-F238E27FC236}">
                <a16:creationId xmlns:a16="http://schemas.microsoft.com/office/drawing/2014/main" id="{B59FC38D-1829-7A34-5094-ADBF62FB494C}"/>
              </a:ext>
            </a:extLst>
          </p:cNvPr>
          <p:cNvSpPr/>
          <p:nvPr/>
        </p:nvSpPr>
        <p:spPr>
          <a:xfrm>
            <a:off x="3935534" y="4298388"/>
            <a:ext cx="1008000" cy="401217"/>
          </a:xfrm>
          <a:prstGeom prst="roundRect">
            <a:avLst/>
          </a:prstGeom>
          <a:solidFill>
            <a:schemeClr val="bg1">
              <a:lumMod val="8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再生中</a:t>
            </a:r>
          </a:p>
        </p:txBody>
      </p:sp>
      <p:sp>
        <p:nvSpPr>
          <p:cNvPr id="15" name="四角形: 角を丸くする 14">
            <a:extLst>
              <a:ext uri="{FF2B5EF4-FFF2-40B4-BE49-F238E27FC236}">
                <a16:creationId xmlns:a16="http://schemas.microsoft.com/office/drawing/2014/main" id="{E73A0792-032D-EE2E-0329-70C44F392410}"/>
              </a:ext>
            </a:extLst>
          </p:cNvPr>
          <p:cNvSpPr/>
          <p:nvPr/>
        </p:nvSpPr>
        <p:spPr>
          <a:xfrm>
            <a:off x="3935534" y="5579863"/>
            <a:ext cx="1008000" cy="401217"/>
          </a:xfrm>
          <a:prstGeom prst="roundRect">
            <a:avLst/>
          </a:prstGeom>
          <a:solidFill>
            <a:schemeClr val="bg1">
              <a:lumMod val="8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一時停止中</a:t>
            </a:r>
          </a:p>
        </p:txBody>
      </p:sp>
      <p:cxnSp>
        <p:nvCxnSpPr>
          <p:cNvPr id="18" name="直線矢印コネクタ 17">
            <a:extLst>
              <a:ext uri="{FF2B5EF4-FFF2-40B4-BE49-F238E27FC236}">
                <a16:creationId xmlns:a16="http://schemas.microsoft.com/office/drawing/2014/main" id="{6C8730B3-1FD4-8EFC-3A8A-4543F0349F7B}"/>
              </a:ext>
            </a:extLst>
          </p:cNvPr>
          <p:cNvCxnSpPr/>
          <p:nvPr/>
        </p:nvCxnSpPr>
        <p:spPr>
          <a:xfrm>
            <a:off x="4535119" y="4699606"/>
            <a:ext cx="0" cy="86400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665D7EA8-B6B3-9504-98F9-36A2E685B67B}"/>
              </a:ext>
            </a:extLst>
          </p:cNvPr>
          <p:cNvCxnSpPr>
            <a:cxnSpLocks/>
          </p:cNvCxnSpPr>
          <p:nvPr/>
        </p:nvCxnSpPr>
        <p:spPr>
          <a:xfrm flipV="1">
            <a:off x="4283192" y="4690460"/>
            <a:ext cx="0" cy="86400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直線矢印コネクタ 21">
            <a:extLst>
              <a:ext uri="{FF2B5EF4-FFF2-40B4-BE49-F238E27FC236}">
                <a16:creationId xmlns:a16="http://schemas.microsoft.com/office/drawing/2014/main" id="{B136A737-B83A-6841-AC0B-FAD3A85F31F2}"/>
              </a:ext>
            </a:extLst>
          </p:cNvPr>
          <p:cNvCxnSpPr>
            <a:cxnSpLocks/>
          </p:cNvCxnSpPr>
          <p:nvPr/>
        </p:nvCxnSpPr>
        <p:spPr>
          <a:xfrm>
            <a:off x="2855135" y="4414786"/>
            <a:ext cx="1080000"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直線矢印コネクタ 28">
            <a:extLst>
              <a:ext uri="{FF2B5EF4-FFF2-40B4-BE49-F238E27FC236}">
                <a16:creationId xmlns:a16="http://schemas.microsoft.com/office/drawing/2014/main" id="{72BDAEEC-4851-C242-EB80-DFA494CF5E1A}"/>
              </a:ext>
            </a:extLst>
          </p:cNvPr>
          <p:cNvCxnSpPr>
            <a:cxnSpLocks/>
          </p:cNvCxnSpPr>
          <p:nvPr/>
        </p:nvCxnSpPr>
        <p:spPr>
          <a:xfrm flipH="1">
            <a:off x="2847256" y="4576516"/>
            <a:ext cx="1080000"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1" name="直線矢印コネクタ 30">
            <a:extLst>
              <a:ext uri="{FF2B5EF4-FFF2-40B4-BE49-F238E27FC236}">
                <a16:creationId xmlns:a16="http://schemas.microsoft.com/office/drawing/2014/main" id="{41D8C44B-56D2-C598-4E53-594E5307BE66}"/>
              </a:ext>
            </a:extLst>
          </p:cNvPr>
          <p:cNvCxnSpPr>
            <a:cxnSpLocks/>
            <a:stCxn id="15" idx="1"/>
          </p:cNvCxnSpPr>
          <p:nvPr/>
        </p:nvCxnSpPr>
        <p:spPr>
          <a:xfrm flipH="1" flipV="1">
            <a:off x="2451256" y="4699606"/>
            <a:ext cx="1484278" cy="1080866"/>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0CC0505A-DAA0-4597-1494-9841FDF8FCA1}"/>
              </a:ext>
            </a:extLst>
          </p:cNvPr>
          <p:cNvSpPr/>
          <p:nvPr/>
        </p:nvSpPr>
        <p:spPr>
          <a:xfrm>
            <a:off x="1092123" y="4414786"/>
            <a:ext cx="108000" cy="108000"/>
          </a:xfrm>
          <a:prstGeom prst="ellipse">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37" name="グループ化 36">
            <a:extLst>
              <a:ext uri="{FF2B5EF4-FFF2-40B4-BE49-F238E27FC236}">
                <a16:creationId xmlns:a16="http://schemas.microsoft.com/office/drawing/2014/main" id="{5DED14E9-E50E-A71D-00F1-5F279EAFA8B0}"/>
              </a:ext>
            </a:extLst>
          </p:cNvPr>
          <p:cNvGrpSpPr/>
          <p:nvPr/>
        </p:nvGrpSpPr>
        <p:grpSpPr>
          <a:xfrm>
            <a:off x="2289256" y="5766399"/>
            <a:ext cx="108000" cy="108000"/>
            <a:chOff x="2407663" y="5598368"/>
            <a:chExt cx="108000" cy="108000"/>
          </a:xfrm>
        </p:grpSpPr>
        <p:sp>
          <p:nvSpPr>
            <p:cNvPr id="35" name="楕円 34">
              <a:extLst>
                <a:ext uri="{FF2B5EF4-FFF2-40B4-BE49-F238E27FC236}">
                  <a16:creationId xmlns:a16="http://schemas.microsoft.com/office/drawing/2014/main" id="{7F337C96-5FC1-FFF6-93EF-7E216B6811A7}"/>
                </a:ext>
              </a:extLst>
            </p:cNvPr>
            <p:cNvSpPr/>
            <p:nvPr/>
          </p:nvSpPr>
          <p:spPr>
            <a:xfrm>
              <a:off x="2407663" y="5598368"/>
              <a:ext cx="108000" cy="108000"/>
            </a:xfrm>
            <a:prstGeom prst="ellipse">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6" name="楕円 35">
              <a:extLst>
                <a:ext uri="{FF2B5EF4-FFF2-40B4-BE49-F238E27FC236}">
                  <a16:creationId xmlns:a16="http://schemas.microsoft.com/office/drawing/2014/main" id="{2B9B2C96-C30F-FB7C-FC41-20D22901B56B}"/>
                </a:ext>
              </a:extLst>
            </p:cNvPr>
            <p:cNvSpPr/>
            <p:nvPr/>
          </p:nvSpPr>
          <p:spPr>
            <a:xfrm>
              <a:off x="2425663" y="5616368"/>
              <a:ext cx="72000" cy="72000"/>
            </a:xfrm>
            <a:prstGeom prst="ellipse">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cxnSp>
        <p:nvCxnSpPr>
          <p:cNvPr id="38" name="直線矢印コネクタ 37">
            <a:extLst>
              <a:ext uri="{FF2B5EF4-FFF2-40B4-BE49-F238E27FC236}">
                <a16:creationId xmlns:a16="http://schemas.microsoft.com/office/drawing/2014/main" id="{C91C4DDC-9F1D-4F28-ACAD-0F5EB111B414}"/>
              </a:ext>
            </a:extLst>
          </p:cNvPr>
          <p:cNvCxnSpPr>
            <a:cxnSpLocks/>
          </p:cNvCxnSpPr>
          <p:nvPr/>
        </p:nvCxnSpPr>
        <p:spPr>
          <a:xfrm>
            <a:off x="1146123" y="4474116"/>
            <a:ext cx="684000"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直線矢印コネクタ 38">
            <a:extLst>
              <a:ext uri="{FF2B5EF4-FFF2-40B4-BE49-F238E27FC236}">
                <a16:creationId xmlns:a16="http://schemas.microsoft.com/office/drawing/2014/main" id="{1E3F493F-1A54-5346-5535-9AC28906150F}"/>
              </a:ext>
            </a:extLst>
          </p:cNvPr>
          <p:cNvCxnSpPr>
            <a:cxnSpLocks/>
            <a:stCxn id="13" idx="2"/>
            <a:endCxn id="36" idx="0"/>
          </p:cNvCxnSpPr>
          <p:nvPr/>
        </p:nvCxnSpPr>
        <p:spPr>
          <a:xfrm>
            <a:off x="2343256" y="4690460"/>
            <a:ext cx="0" cy="1093939"/>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0" name="テキスト ボックス 49">
            <a:extLst>
              <a:ext uri="{FF2B5EF4-FFF2-40B4-BE49-F238E27FC236}">
                <a16:creationId xmlns:a16="http://schemas.microsoft.com/office/drawing/2014/main" id="{80DD1423-49BD-A2C3-B9EE-779191BA825D}"/>
              </a:ext>
            </a:extLst>
          </p:cNvPr>
          <p:cNvSpPr txBox="1"/>
          <p:nvPr/>
        </p:nvSpPr>
        <p:spPr>
          <a:xfrm>
            <a:off x="5986603" y="3408987"/>
            <a:ext cx="5768738" cy="324000"/>
          </a:xfrm>
          <a:prstGeom prst="rect">
            <a:avLst/>
          </a:prstGeom>
          <a:noFill/>
        </p:spPr>
        <p:txBody>
          <a:bodyPr vert="horz" wrap="square" lIns="0" rIns="0" rtlCol="0">
            <a:noAutofit/>
          </a:bodyPr>
          <a:lstStyle/>
          <a:p>
            <a:pPr algn="ctr" defTabSz="288000"/>
            <a:r>
              <a:rPr kumimoji="1" lang="ja-JP" altLang="en-US" sz="1600" u="sng" dirty="0">
                <a:latin typeface="+mn-ea"/>
              </a:rPr>
              <a:t>状態</a:t>
            </a:r>
            <a:r>
              <a:rPr lang="ja-JP" altLang="en-US" sz="1600" u="sng" dirty="0">
                <a:latin typeface="+mn-ea"/>
              </a:rPr>
              <a:t>遷移</a:t>
            </a:r>
            <a:r>
              <a:rPr kumimoji="1" lang="ja-JP" altLang="en-US" sz="1600" u="sng" dirty="0">
                <a:latin typeface="+mn-ea"/>
              </a:rPr>
              <a:t>表</a:t>
            </a:r>
          </a:p>
        </p:txBody>
      </p:sp>
      <p:sp>
        <p:nvSpPr>
          <p:cNvPr id="51" name="テキスト ボックス 50">
            <a:extLst>
              <a:ext uri="{FF2B5EF4-FFF2-40B4-BE49-F238E27FC236}">
                <a16:creationId xmlns:a16="http://schemas.microsoft.com/office/drawing/2014/main" id="{A73CB412-25F1-A98B-5F59-2068A81DC6D9}"/>
              </a:ext>
            </a:extLst>
          </p:cNvPr>
          <p:cNvSpPr txBox="1"/>
          <p:nvPr/>
        </p:nvSpPr>
        <p:spPr>
          <a:xfrm>
            <a:off x="1209535" y="4502819"/>
            <a:ext cx="478248" cy="217169"/>
          </a:xfrm>
          <a:prstGeom prst="rect">
            <a:avLst/>
          </a:prstGeom>
          <a:noFill/>
        </p:spPr>
        <p:txBody>
          <a:bodyPr wrap="square" lIns="0" rIns="0" rtlCol="0">
            <a:noAutofit/>
          </a:bodyPr>
          <a:lstStyle/>
          <a:p>
            <a:pPr algn="l" defTabSz="288000"/>
            <a:r>
              <a:rPr lang="ja-JP" altLang="en-US" sz="1050" dirty="0">
                <a:latin typeface="+mn-ea"/>
              </a:rPr>
              <a:t>電源</a:t>
            </a:r>
            <a:r>
              <a:rPr lang="en-US" altLang="ja-JP" sz="1050" dirty="0">
                <a:latin typeface="+mn-ea"/>
              </a:rPr>
              <a:t>ON</a:t>
            </a:r>
          </a:p>
          <a:p>
            <a:pPr algn="l" defTabSz="288000"/>
            <a:endParaRPr kumimoji="1" lang="ja-JP" altLang="en-US" sz="1050" dirty="0">
              <a:latin typeface="+mn-ea"/>
            </a:endParaRPr>
          </a:p>
        </p:txBody>
      </p:sp>
      <p:sp>
        <p:nvSpPr>
          <p:cNvPr id="52" name="テキスト ボックス 51">
            <a:extLst>
              <a:ext uri="{FF2B5EF4-FFF2-40B4-BE49-F238E27FC236}">
                <a16:creationId xmlns:a16="http://schemas.microsoft.com/office/drawing/2014/main" id="{B670DDA1-D831-8F82-7D26-26A7B3A07FFE}"/>
              </a:ext>
            </a:extLst>
          </p:cNvPr>
          <p:cNvSpPr txBox="1"/>
          <p:nvPr/>
        </p:nvSpPr>
        <p:spPr>
          <a:xfrm>
            <a:off x="1796761" y="5521162"/>
            <a:ext cx="778047" cy="262911"/>
          </a:xfrm>
          <a:prstGeom prst="rect">
            <a:avLst/>
          </a:prstGeom>
          <a:noFill/>
        </p:spPr>
        <p:txBody>
          <a:bodyPr wrap="square" lIns="0" rIns="0" rtlCol="0">
            <a:noAutofit/>
          </a:bodyPr>
          <a:lstStyle/>
          <a:p>
            <a:pPr algn="l" defTabSz="288000"/>
            <a:r>
              <a:rPr lang="ja-JP" altLang="en-US" sz="1050" dirty="0">
                <a:latin typeface="+mn-ea"/>
              </a:rPr>
              <a:t>電源</a:t>
            </a:r>
            <a:r>
              <a:rPr lang="en-US" altLang="ja-JP" sz="1050" dirty="0">
                <a:latin typeface="+mn-ea"/>
              </a:rPr>
              <a:t>OFF</a:t>
            </a:r>
            <a:endParaRPr kumimoji="1" lang="ja-JP" altLang="en-US" sz="1050" dirty="0">
              <a:latin typeface="+mn-ea"/>
            </a:endParaRPr>
          </a:p>
        </p:txBody>
      </p:sp>
      <p:grpSp>
        <p:nvGrpSpPr>
          <p:cNvPr id="59" name="グループ化 58">
            <a:extLst>
              <a:ext uri="{FF2B5EF4-FFF2-40B4-BE49-F238E27FC236}">
                <a16:creationId xmlns:a16="http://schemas.microsoft.com/office/drawing/2014/main" id="{81B3FCFD-A601-DAFE-CD24-963A00E0CFD9}"/>
              </a:ext>
            </a:extLst>
          </p:cNvPr>
          <p:cNvGrpSpPr/>
          <p:nvPr/>
        </p:nvGrpSpPr>
        <p:grpSpPr>
          <a:xfrm>
            <a:off x="2098947" y="4050705"/>
            <a:ext cx="475861" cy="247683"/>
            <a:chOff x="2164702" y="3312182"/>
            <a:chExt cx="475861" cy="247683"/>
          </a:xfrm>
        </p:grpSpPr>
        <p:cxnSp>
          <p:nvCxnSpPr>
            <p:cNvPr id="55" name="直線コネクタ 54">
              <a:extLst>
                <a:ext uri="{FF2B5EF4-FFF2-40B4-BE49-F238E27FC236}">
                  <a16:creationId xmlns:a16="http://schemas.microsoft.com/office/drawing/2014/main" id="{57B4E946-8305-4983-2052-80997C3F201D}"/>
                </a:ext>
              </a:extLst>
            </p:cNvPr>
            <p:cNvCxnSpPr/>
            <p:nvPr/>
          </p:nvCxnSpPr>
          <p:spPr>
            <a:xfrm flipV="1">
              <a:off x="2164702" y="3312182"/>
              <a:ext cx="0" cy="247683"/>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 name="コネクタ: カギ線 56">
              <a:extLst>
                <a:ext uri="{FF2B5EF4-FFF2-40B4-BE49-F238E27FC236}">
                  <a16:creationId xmlns:a16="http://schemas.microsoft.com/office/drawing/2014/main" id="{3986AE0C-4C6E-DFDA-4CA7-2B0F924887F2}"/>
                </a:ext>
              </a:extLst>
            </p:cNvPr>
            <p:cNvCxnSpPr/>
            <p:nvPr/>
          </p:nvCxnSpPr>
          <p:spPr>
            <a:xfrm>
              <a:off x="2164702" y="3312182"/>
              <a:ext cx="475861" cy="247683"/>
            </a:xfrm>
            <a:prstGeom prst="bentConnector3">
              <a:avLst>
                <a:gd name="adj1" fmla="val 9902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60" name="グループ化 59">
            <a:extLst>
              <a:ext uri="{FF2B5EF4-FFF2-40B4-BE49-F238E27FC236}">
                <a16:creationId xmlns:a16="http://schemas.microsoft.com/office/drawing/2014/main" id="{50B6147E-DE4B-E2A0-6BE9-27B53C0FDA4E}"/>
              </a:ext>
            </a:extLst>
          </p:cNvPr>
          <p:cNvGrpSpPr/>
          <p:nvPr/>
        </p:nvGrpSpPr>
        <p:grpSpPr>
          <a:xfrm>
            <a:off x="4229743" y="4050705"/>
            <a:ext cx="475861" cy="247683"/>
            <a:chOff x="2164702" y="3312182"/>
            <a:chExt cx="475861" cy="247683"/>
          </a:xfrm>
        </p:grpSpPr>
        <p:cxnSp>
          <p:nvCxnSpPr>
            <p:cNvPr id="61" name="直線コネクタ 60">
              <a:extLst>
                <a:ext uri="{FF2B5EF4-FFF2-40B4-BE49-F238E27FC236}">
                  <a16:creationId xmlns:a16="http://schemas.microsoft.com/office/drawing/2014/main" id="{CECB52E5-A7AA-0BC3-3144-AC8D973C8B02}"/>
                </a:ext>
              </a:extLst>
            </p:cNvPr>
            <p:cNvCxnSpPr/>
            <p:nvPr/>
          </p:nvCxnSpPr>
          <p:spPr>
            <a:xfrm flipV="1">
              <a:off x="2164702" y="3312182"/>
              <a:ext cx="0" cy="247683"/>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2" name="コネクタ: カギ線 61">
              <a:extLst>
                <a:ext uri="{FF2B5EF4-FFF2-40B4-BE49-F238E27FC236}">
                  <a16:creationId xmlns:a16="http://schemas.microsoft.com/office/drawing/2014/main" id="{E5F563CE-870A-8110-22CF-05BCC97C377E}"/>
                </a:ext>
              </a:extLst>
            </p:cNvPr>
            <p:cNvCxnSpPr/>
            <p:nvPr/>
          </p:nvCxnSpPr>
          <p:spPr>
            <a:xfrm>
              <a:off x="2164702" y="3312182"/>
              <a:ext cx="475861" cy="247683"/>
            </a:xfrm>
            <a:prstGeom prst="bentConnector3">
              <a:avLst>
                <a:gd name="adj1" fmla="val 9902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sp>
        <p:nvSpPr>
          <p:cNvPr id="63" name="テキスト ボックス 62">
            <a:extLst>
              <a:ext uri="{FF2B5EF4-FFF2-40B4-BE49-F238E27FC236}">
                <a16:creationId xmlns:a16="http://schemas.microsoft.com/office/drawing/2014/main" id="{68490D91-3D24-E63C-E1AA-8A40DE32C2BA}"/>
              </a:ext>
            </a:extLst>
          </p:cNvPr>
          <p:cNvSpPr txBox="1"/>
          <p:nvPr/>
        </p:nvSpPr>
        <p:spPr>
          <a:xfrm>
            <a:off x="1882787" y="3825724"/>
            <a:ext cx="1026673" cy="262911"/>
          </a:xfrm>
          <a:prstGeom prst="rect">
            <a:avLst/>
          </a:prstGeom>
          <a:noFill/>
        </p:spPr>
        <p:txBody>
          <a:bodyPr wrap="square" lIns="0" rIns="0" rtlCol="0">
            <a:noAutofit/>
          </a:bodyPr>
          <a:lstStyle/>
          <a:p>
            <a:pPr algn="l" defTabSz="288000"/>
            <a:r>
              <a:rPr lang="ja-JP" altLang="en-US" sz="1050" dirty="0">
                <a:latin typeface="+mn-ea"/>
              </a:rPr>
              <a:t>早送りボタン押下</a:t>
            </a:r>
            <a:endParaRPr kumimoji="1" lang="ja-JP" altLang="en-US" sz="1050" dirty="0">
              <a:latin typeface="+mn-ea"/>
            </a:endParaRPr>
          </a:p>
        </p:txBody>
      </p:sp>
      <p:sp>
        <p:nvSpPr>
          <p:cNvPr id="64" name="テキスト ボックス 63">
            <a:extLst>
              <a:ext uri="{FF2B5EF4-FFF2-40B4-BE49-F238E27FC236}">
                <a16:creationId xmlns:a16="http://schemas.microsoft.com/office/drawing/2014/main" id="{201A9AC6-B7F9-6F22-44C8-E85AB798E93A}"/>
              </a:ext>
            </a:extLst>
          </p:cNvPr>
          <p:cNvSpPr txBox="1"/>
          <p:nvPr/>
        </p:nvSpPr>
        <p:spPr>
          <a:xfrm>
            <a:off x="3935534" y="3823157"/>
            <a:ext cx="1026673" cy="262911"/>
          </a:xfrm>
          <a:prstGeom prst="rect">
            <a:avLst/>
          </a:prstGeom>
          <a:noFill/>
        </p:spPr>
        <p:txBody>
          <a:bodyPr wrap="square" lIns="0" rIns="0" rtlCol="0">
            <a:noAutofit/>
          </a:bodyPr>
          <a:lstStyle/>
          <a:p>
            <a:pPr algn="l" defTabSz="288000"/>
            <a:r>
              <a:rPr lang="ja-JP" altLang="en-US" sz="1050" dirty="0">
                <a:latin typeface="+mn-ea"/>
              </a:rPr>
              <a:t>早送りボタン押下</a:t>
            </a:r>
            <a:endParaRPr kumimoji="1" lang="ja-JP" altLang="en-US" sz="1050" dirty="0">
              <a:latin typeface="+mn-ea"/>
            </a:endParaRPr>
          </a:p>
        </p:txBody>
      </p:sp>
      <p:sp>
        <p:nvSpPr>
          <p:cNvPr id="66" name="テキスト ボックス 65">
            <a:extLst>
              <a:ext uri="{FF2B5EF4-FFF2-40B4-BE49-F238E27FC236}">
                <a16:creationId xmlns:a16="http://schemas.microsoft.com/office/drawing/2014/main" id="{F485944C-5070-195D-EAC3-C5D12A969269}"/>
              </a:ext>
            </a:extLst>
          </p:cNvPr>
          <p:cNvSpPr txBox="1"/>
          <p:nvPr/>
        </p:nvSpPr>
        <p:spPr>
          <a:xfrm>
            <a:off x="3619036" y="4868695"/>
            <a:ext cx="774343" cy="262911"/>
          </a:xfrm>
          <a:prstGeom prst="rect">
            <a:avLst/>
          </a:prstGeom>
          <a:noFill/>
        </p:spPr>
        <p:txBody>
          <a:bodyPr wrap="square" lIns="0" rIns="0" rtlCol="0">
            <a:noAutofit/>
          </a:bodyPr>
          <a:lstStyle/>
          <a:p>
            <a:pPr algn="l" defTabSz="288000"/>
            <a:r>
              <a:rPr kumimoji="1" lang="ja-JP" altLang="en-US" sz="1050" dirty="0">
                <a:latin typeface="+mn-ea"/>
              </a:rPr>
              <a:t>再生ボタン</a:t>
            </a:r>
            <a:r>
              <a:rPr kumimoji="1" lang="en-US" altLang="ja-JP" sz="1050" dirty="0">
                <a:latin typeface="+mn-ea"/>
              </a:rPr>
              <a:t>/</a:t>
            </a:r>
          </a:p>
          <a:p>
            <a:pPr algn="l" defTabSz="288000"/>
            <a:r>
              <a:rPr lang="ja-JP" altLang="en-US" sz="1050" dirty="0">
                <a:latin typeface="+mn-ea"/>
              </a:rPr>
              <a:t>早送りボタン</a:t>
            </a:r>
            <a:endParaRPr lang="en-US" altLang="ja-JP" sz="1050" dirty="0">
              <a:latin typeface="+mn-ea"/>
            </a:endParaRPr>
          </a:p>
          <a:p>
            <a:pPr algn="l" defTabSz="288000"/>
            <a:r>
              <a:rPr lang="ja-JP" altLang="en-US" sz="1050" dirty="0">
                <a:latin typeface="+mn-ea"/>
              </a:rPr>
              <a:t>押下</a:t>
            </a:r>
            <a:endParaRPr kumimoji="1" lang="ja-JP" altLang="en-US" sz="1050" dirty="0">
              <a:latin typeface="+mn-ea"/>
            </a:endParaRPr>
          </a:p>
        </p:txBody>
      </p:sp>
      <p:sp>
        <p:nvSpPr>
          <p:cNvPr id="67" name="テキスト ボックス 66">
            <a:extLst>
              <a:ext uri="{FF2B5EF4-FFF2-40B4-BE49-F238E27FC236}">
                <a16:creationId xmlns:a16="http://schemas.microsoft.com/office/drawing/2014/main" id="{C6DE394C-33A6-50AB-E3B4-FB8116AA2FCF}"/>
              </a:ext>
            </a:extLst>
          </p:cNvPr>
          <p:cNvSpPr txBox="1"/>
          <p:nvPr/>
        </p:nvSpPr>
        <p:spPr>
          <a:xfrm>
            <a:off x="4653276" y="4862704"/>
            <a:ext cx="649750" cy="262911"/>
          </a:xfrm>
          <a:prstGeom prst="rect">
            <a:avLst/>
          </a:prstGeom>
          <a:noFill/>
        </p:spPr>
        <p:txBody>
          <a:bodyPr wrap="square" lIns="0" rIns="0" rtlCol="0">
            <a:noAutofit/>
          </a:bodyPr>
          <a:lstStyle/>
          <a:p>
            <a:pPr algn="l" defTabSz="288000"/>
            <a:r>
              <a:rPr kumimoji="1" lang="ja-JP" altLang="en-US" sz="1050" dirty="0">
                <a:latin typeface="+mn-ea"/>
              </a:rPr>
              <a:t>再生ボタン</a:t>
            </a:r>
            <a:endParaRPr kumimoji="1" lang="en-US" altLang="ja-JP" sz="1050" dirty="0">
              <a:latin typeface="+mn-ea"/>
            </a:endParaRPr>
          </a:p>
          <a:p>
            <a:pPr algn="l" defTabSz="288000"/>
            <a:r>
              <a:rPr kumimoji="1" lang="ja-JP" altLang="en-US" sz="1050" dirty="0">
                <a:latin typeface="+mn-ea"/>
              </a:rPr>
              <a:t>押下</a:t>
            </a:r>
          </a:p>
        </p:txBody>
      </p:sp>
      <p:sp>
        <p:nvSpPr>
          <p:cNvPr id="68" name="テキスト ボックス 67">
            <a:extLst>
              <a:ext uri="{FF2B5EF4-FFF2-40B4-BE49-F238E27FC236}">
                <a16:creationId xmlns:a16="http://schemas.microsoft.com/office/drawing/2014/main" id="{65E35376-0D81-779F-1BAD-79390D093AF2}"/>
              </a:ext>
            </a:extLst>
          </p:cNvPr>
          <p:cNvSpPr txBox="1"/>
          <p:nvPr/>
        </p:nvSpPr>
        <p:spPr>
          <a:xfrm>
            <a:off x="3055058" y="5449086"/>
            <a:ext cx="600488" cy="262911"/>
          </a:xfrm>
          <a:prstGeom prst="rect">
            <a:avLst/>
          </a:prstGeom>
          <a:noFill/>
        </p:spPr>
        <p:txBody>
          <a:bodyPr wrap="square" lIns="0" rIns="0" rtlCol="0">
            <a:noAutofit/>
          </a:bodyPr>
          <a:lstStyle/>
          <a:p>
            <a:pPr algn="l" defTabSz="288000"/>
            <a:r>
              <a:rPr kumimoji="1" lang="ja-JP" altLang="en-US" sz="1050" dirty="0">
                <a:latin typeface="+mn-ea"/>
              </a:rPr>
              <a:t>停止ボタン</a:t>
            </a:r>
            <a:endParaRPr kumimoji="1" lang="en-US" altLang="ja-JP" sz="1050" dirty="0">
              <a:latin typeface="+mn-ea"/>
            </a:endParaRPr>
          </a:p>
          <a:p>
            <a:pPr algn="l" defTabSz="288000"/>
            <a:r>
              <a:rPr kumimoji="1" lang="ja-JP" altLang="en-US" sz="1050" dirty="0">
                <a:latin typeface="+mn-ea"/>
              </a:rPr>
              <a:t>押下</a:t>
            </a:r>
          </a:p>
        </p:txBody>
      </p:sp>
      <p:sp>
        <p:nvSpPr>
          <p:cNvPr id="70" name="テキスト ボックス 69">
            <a:extLst>
              <a:ext uri="{FF2B5EF4-FFF2-40B4-BE49-F238E27FC236}">
                <a16:creationId xmlns:a16="http://schemas.microsoft.com/office/drawing/2014/main" id="{CF7CDC85-E485-0C6E-9326-A6D4A20943E6}"/>
              </a:ext>
            </a:extLst>
          </p:cNvPr>
          <p:cNvSpPr txBox="1"/>
          <p:nvPr/>
        </p:nvSpPr>
        <p:spPr>
          <a:xfrm>
            <a:off x="867129" y="3413418"/>
            <a:ext cx="4968001" cy="324000"/>
          </a:xfrm>
          <a:prstGeom prst="rect">
            <a:avLst/>
          </a:prstGeom>
          <a:noFill/>
        </p:spPr>
        <p:txBody>
          <a:bodyPr vert="horz" wrap="square" lIns="0" rIns="0" rtlCol="0">
            <a:noAutofit/>
          </a:bodyPr>
          <a:lstStyle/>
          <a:p>
            <a:pPr algn="ctr" defTabSz="288000"/>
            <a:r>
              <a:rPr kumimoji="1" lang="ja-JP" altLang="en-US" sz="1600" u="sng" dirty="0">
                <a:latin typeface="+mn-ea"/>
              </a:rPr>
              <a:t>状態遷移図</a:t>
            </a:r>
          </a:p>
        </p:txBody>
      </p:sp>
      <p:pic>
        <p:nvPicPr>
          <p:cNvPr id="81" name="グラフィックス 80" descr="終了 単色塗りつぶし">
            <a:extLst>
              <a:ext uri="{FF2B5EF4-FFF2-40B4-BE49-F238E27FC236}">
                <a16:creationId xmlns:a16="http://schemas.microsoft.com/office/drawing/2014/main" id="{7079C244-4035-7B30-888F-DAF7CBB9DAD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07405" y="2622152"/>
            <a:ext cx="360000" cy="360000"/>
          </a:xfrm>
          <a:prstGeom prst="rect">
            <a:avLst/>
          </a:prstGeom>
        </p:spPr>
      </p:pic>
      <p:pic>
        <p:nvPicPr>
          <p:cNvPr id="83" name="グラフィックス 82" descr="一時停止 単色塗りつぶし">
            <a:extLst>
              <a:ext uri="{FF2B5EF4-FFF2-40B4-BE49-F238E27FC236}">
                <a16:creationId xmlns:a16="http://schemas.microsoft.com/office/drawing/2014/main" id="{DDEA8613-929D-C7B3-C24E-FF722C5F11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98975" y="2622152"/>
            <a:ext cx="360000" cy="360000"/>
          </a:xfrm>
          <a:prstGeom prst="rect">
            <a:avLst/>
          </a:prstGeom>
        </p:spPr>
      </p:pic>
      <p:pic>
        <p:nvPicPr>
          <p:cNvPr id="85" name="グラフィックス 84" descr="再生 単色塗りつぶし">
            <a:extLst>
              <a:ext uri="{FF2B5EF4-FFF2-40B4-BE49-F238E27FC236}">
                <a16:creationId xmlns:a16="http://schemas.microsoft.com/office/drawing/2014/main" id="{402E89D0-0124-D519-2B81-AC321CCFF6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44177" y="2622152"/>
            <a:ext cx="360000" cy="360000"/>
          </a:xfrm>
          <a:prstGeom prst="rect">
            <a:avLst/>
          </a:prstGeom>
        </p:spPr>
      </p:pic>
      <p:pic>
        <p:nvPicPr>
          <p:cNvPr id="87" name="グラフィックス 86" descr="電源 単色塗りつぶし">
            <a:extLst>
              <a:ext uri="{FF2B5EF4-FFF2-40B4-BE49-F238E27FC236}">
                <a16:creationId xmlns:a16="http://schemas.microsoft.com/office/drawing/2014/main" id="{C587EDD6-8FAA-0BDC-F3F1-01263F2E208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14883" y="2622152"/>
            <a:ext cx="360000" cy="360000"/>
          </a:xfrm>
          <a:prstGeom prst="rect">
            <a:avLst/>
          </a:prstGeom>
        </p:spPr>
      </p:pic>
      <p:sp>
        <p:nvSpPr>
          <p:cNvPr id="89" name="テキスト ボックス 88">
            <a:extLst>
              <a:ext uri="{FF2B5EF4-FFF2-40B4-BE49-F238E27FC236}">
                <a16:creationId xmlns:a16="http://schemas.microsoft.com/office/drawing/2014/main" id="{4C1CE53C-96BD-6332-54DF-5BED302AF836}"/>
              </a:ext>
            </a:extLst>
          </p:cNvPr>
          <p:cNvSpPr txBox="1"/>
          <p:nvPr/>
        </p:nvSpPr>
        <p:spPr>
          <a:xfrm>
            <a:off x="1596514" y="2943695"/>
            <a:ext cx="400693" cy="175310"/>
          </a:xfrm>
          <a:prstGeom prst="rect">
            <a:avLst/>
          </a:prstGeom>
          <a:noFill/>
        </p:spPr>
        <p:txBody>
          <a:bodyPr wrap="square" lIns="0" rIns="0" rtlCol="0">
            <a:noAutofit/>
          </a:bodyPr>
          <a:lstStyle/>
          <a:p>
            <a:pPr algn="ctr" defTabSz="288000"/>
            <a:r>
              <a:rPr kumimoji="1" lang="ja-JP" altLang="en-US" sz="1100" dirty="0">
                <a:latin typeface="+mn-ea"/>
              </a:rPr>
              <a:t>電源</a:t>
            </a:r>
            <a:endParaRPr kumimoji="1" lang="en-US" altLang="ja-JP" sz="1100" dirty="0">
              <a:latin typeface="+mn-ea"/>
            </a:endParaRPr>
          </a:p>
          <a:p>
            <a:pPr algn="ctr" defTabSz="288000"/>
            <a:r>
              <a:rPr kumimoji="1" lang="ja-JP" altLang="en-US" sz="1100" dirty="0">
                <a:latin typeface="+mn-ea"/>
              </a:rPr>
              <a:t>ボタン</a:t>
            </a:r>
          </a:p>
        </p:txBody>
      </p:sp>
      <p:sp>
        <p:nvSpPr>
          <p:cNvPr id="90" name="テキスト ボックス 89">
            <a:extLst>
              <a:ext uri="{FF2B5EF4-FFF2-40B4-BE49-F238E27FC236}">
                <a16:creationId xmlns:a16="http://schemas.microsoft.com/office/drawing/2014/main" id="{70D44B97-54F1-A3E8-9ADF-3B01029CA4A1}"/>
              </a:ext>
            </a:extLst>
          </p:cNvPr>
          <p:cNvSpPr txBox="1"/>
          <p:nvPr/>
        </p:nvSpPr>
        <p:spPr>
          <a:xfrm>
            <a:off x="2353208" y="2943695"/>
            <a:ext cx="400693" cy="175310"/>
          </a:xfrm>
          <a:prstGeom prst="rect">
            <a:avLst/>
          </a:prstGeom>
          <a:noFill/>
        </p:spPr>
        <p:txBody>
          <a:bodyPr wrap="square" lIns="0" rIns="0" rtlCol="0">
            <a:noAutofit/>
          </a:bodyPr>
          <a:lstStyle/>
          <a:p>
            <a:pPr algn="ctr" defTabSz="288000"/>
            <a:r>
              <a:rPr kumimoji="1" lang="ja-JP" altLang="en-US" sz="1100" dirty="0">
                <a:latin typeface="+mn-ea"/>
              </a:rPr>
              <a:t>停止</a:t>
            </a:r>
            <a:endParaRPr kumimoji="1" lang="en-US" altLang="ja-JP" sz="1100" dirty="0">
              <a:latin typeface="+mn-ea"/>
            </a:endParaRPr>
          </a:p>
          <a:p>
            <a:pPr algn="ctr" defTabSz="288000"/>
            <a:r>
              <a:rPr kumimoji="1" lang="ja-JP" altLang="en-US" sz="1100" dirty="0">
                <a:latin typeface="+mn-ea"/>
              </a:rPr>
              <a:t>ボタン</a:t>
            </a:r>
          </a:p>
        </p:txBody>
      </p:sp>
      <p:sp>
        <p:nvSpPr>
          <p:cNvPr id="91" name="テキスト ボックス 90">
            <a:extLst>
              <a:ext uri="{FF2B5EF4-FFF2-40B4-BE49-F238E27FC236}">
                <a16:creationId xmlns:a16="http://schemas.microsoft.com/office/drawing/2014/main" id="{EC8EB072-71F1-87C5-A03B-1534D5541DCE}"/>
              </a:ext>
            </a:extLst>
          </p:cNvPr>
          <p:cNvSpPr txBox="1"/>
          <p:nvPr/>
        </p:nvSpPr>
        <p:spPr>
          <a:xfrm>
            <a:off x="3110358" y="2943694"/>
            <a:ext cx="748617" cy="374415"/>
          </a:xfrm>
          <a:prstGeom prst="rect">
            <a:avLst/>
          </a:prstGeom>
          <a:noFill/>
        </p:spPr>
        <p:txBody>
          <a:bodyPr wrap="square" lIns="0" rIns="0" rtlCol="0">
            <a:noAutofit/>
          </a:bodyPr>
          <a:lstStyle/>
          <a:p>
            <a:pPr algn="ctr" defTabSz="288000"/>
            <a:r>
              <a:rPr lang="ja-JP" altLang="en-US" sz="1100" dirty="0">
                <a:latin typeface="+mn-ea"/>
              </a:rPr>
              <a:t>再生</a:t>
            </a:r>
            <a:endParaRPr kumimoji="1" lang="en-US" altLang="ja-JP" sz="1100" dirty="0">
              <a:latin typeface="+mn-ea"/>
            </a:endParaRPr>
          </a:p>
          <a:p>
            <a:pPr algn="ctr" defTabSz="288000"/>
            <a:r>
              <a:rPr kumimoji="1" lang="ja-JP" altLang="en-US" sz="1100" dirty="0">
                <a:latin typeface="+mn-ea"/>
              </a:rPr>
              <a:t>ボタン</a:t>
            </a:r>
          </a:p>
        </p:txBody>
      </p:sp>
      <p:sp>
        <p:nvSpPr>
          <p:cNvPr id="92" name="テキスト ボックス 91">
            <a:extLst>
              <a:ext uri="{FF2B5EF4-FFF2-40B4-BE49-F238E27FC236}">
                <a16:creationId xmlns:a16="http://schemas.microsoft.com/office/drawing/2014/main" id="{6C8F43A4-964C-9F33-8073-1E2A9752A089}"/>
              </a:ext>
            </a:extLst>
          </p:cNvPr>
          <p:cNvSpPr txBox="1"/>
          <p:nvPr/>
        </p:nvSpPr>
        <p:spPr>
          <a:xfrm>
            <a:off x="4193033" y="2943695"/>
            <a:ext cx="400693" cy="175310"/>
          </a:xfrm>
          <a:prstGeom prst="rect">
            <a:avLst/>
          </a:prstGeom>
          <a:noFill/>
        </p:spPr>
        <p:txBody>
          <a:bodyPr wrap="square" lIns="0" rIns="0" rtlCol="0">
            <a:noAutofit/>
          </a:bodyPr>
          <a:lstStyle/>
          <a:p>
            <a:pPr algn="ctr" defTabSz="288000"/>
            <a:r>
              <a:rPr lang="ja-JP" altLang="en-US" sz="1100" dirty="0">
                <a:latin typeface="+mn-ea"/>
              </a:rPr>
              <a:t>早送り</a:t>
            </a:r>
            <a:endParaRPr kumimoji="1" lang="en-US" altLang="ja-JP" sz="1100" dirty="0">
              <a:latin typeface="+mn-ea"/>
            </a:endParaRPr>
          </a:p>
          <a:p>
            <a:pPr algn="ctr" defTabSz="288000"/>
            <a:r>
              <a:rPr kumimoji="1" lang="ja-JP" altLang="en-US" sz="1100" dirty="0">
                <a:latin typeface="+mn-ea"/>
              </a:rPr>
              <a:t>ボタン</a:t>
            </a:r>
          </a:p>
        </p:txBody>
      </p:sp>
      <p:sp>
        <p:nvSpPr>
          <p:cNvPr id="94" name="テキスト ボックス 93">
            <a:extLst>
              <a:ext uri="{FF2B5EF4-FFF2-40B4-BE49-F238E27FC236}">
                <a16:creationId xmlns:a16="http://schemas.microsoft.com/office/drawing/2014/main" id="{C831CCCC-DCF7-E45D-27E8-DCC493A61FE5}"/>
              </a:ext>
            </a:extLst>
          </p:cNvPr>
          <p:cNvSpPr txBox="1"/>
          <p:nvPr/>
        </p:nvSpPr>
        <p:spPr>
          <a:xfrm>
            <a:off x="2988309" y="4182149"/>
            <a:ext cx="1007999" cy="262911"/>
          </a:xfrm>
          <a:prstGeom prst="rect">
            <a:avLst/>
          </a:prstGeom>
          <a:noFill/>
        </p:spPr>
        <p:txBody>
          <a:bodyPr wrap="square" lIns="0" rIns="0" rtlCol="0">
            <a:noAutofit/>
          </a:bodyPr>
          <a:lstStyle/>
          <a:p>
            <a:pPr algn="l" defTabSz="288000"/>
            <a:r>
              <a:rPr kumimoji="1" lang="ja-JP" altLang="en-US" sz="1050" dirty="0">
                <a:latin typeface="+mn-ea"/>
              </a:rPr>
              <a:t>再生ボタン押下</a:t>
            </a:r>
          </a:p>
        </p:txBody>
      </p:sp>
      <p:sp>
        <p:nvSpPr>
          <p:cNvPr id="95" name="テキスト ボックス 94">
            <a:extLst>
              <a:ext uri="{FF2B5EF4-FFF2-40B4-BE49-F238E27FC236}">
                <a16:creationId xmlns:a16="http://schemas.microsoft.com/office/drawing/2014/main" id="{86212E5B-2BEE-F4BD-40C5-8A3B8EFB92C2}"/>
              </a:ext>
            </a:extLst>
          </p:cNvPr>
          <p:cNvSpPr txBox="1"/>
          <p:nvPr/>
        </p:nvSpPr>
        <p:spPr>
          <a:xfrm>
            <a:off x="2988309" y="4576516"/>
            <a:ext cx="1007999" cy="262911"/>
          </a:xfrm>
          <a:prstGeom prst="rect">
            <a:avLst/>
          </a:prstGeom>
          <a:noFill/>
        </p:spPr>
        <p:txBody>
          <a:bodyPr wrap="square" lIns="0" rIns="0" rtlCol="0">
            <a:noAutofit/>
          </a:bodyPr>
          <a:lstStyle/>
          <a:p>
            <a:pPr algn="l" defTabSz="288000"/>
            <a:r>
              <a:rPr lang="ja-JP" altLang="en-US" sz="1050" dirty="0">
                <a:latin typeface="+mn-ea"/>
              </a:rPr>
              <a:t>停止</a:t>
            </a:r>
            <a:r>
              <a:rPr kumimoji="1" lang="ja-JP" altLang="en-US" sz="1050" dirty="0">
                <a:latin typeface="+mn-ea"/>
              </a:rPr>
              <a:t>ボタン押下</a:t>
            </a:r>
          </a:p>
        </p:txBody>
      </p:sp>
      <p:cxnSp>
        <p:nvCxnSpPr>
          <p:cNvPr id="96" name="直線矢印コネクタ 95">
            <a:extLst>
              <a:ext uri="{FF2B5EF4-FFF2-40B4-BE49-F238E27FC236}">
                <a16:creationId xmlns:a16="http://schemas.microsoft.com/office/drawing/2014/main" id="{593E0F1E-B701-446C-4D3C-77F3BE7C3DE1}"/>
              </a:ext>
            </a:extLst>
          </p:cNvPr>
          <p:cNvCxnSpPr>
            <a:cxnSpLocks/>
            <a:stCxn id="14" idx="3"/>
          </p:cNvCxnSpPr>
          <p:nvPr/>
        </p:nvCxnSpPr>
        <p:spPr>
          <a:xfrm flipV="1">
            <a:off x="4943534" y="4498996"/>
            <a:ext cx="554233" cy="1"/>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9" name="直線矢印コネクタ 98">
            <a:extLst>
              <a:ext uri="{FF2B5EF4-FFF2-40B4-BE49-F238E27FC236}">
                <a16:creationId xmlns:a16="http://schemas.microsoft.com/office/drawing/2014/main" id="{1AB2F6F4-279D-AA06-E8B4-87E362C60348}"/>
              </a:ext>
            </a:extLst>
          </p:cNvPr>
          <p:cNvCxnSpPr>
            <a:cxnSpLocks/>
          </p:cNvCxnSpPr>
          <p:nvPr/>
        </p:nvCxnSpPr>
        <p:spPr>
          <a:xfrm flipV="1">
            <a:off x="4946776" y="5783815"/>
            <a:ext cx="554233" cy="1"/>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00" name="グループ化 99">
            <a:extLst>
              <a:ext uri="{FF2B5EF4-FFF2-40B4-BE49-F238E27FC236}">
                <a16:creationId xmlns:a16="http://schemas.microsoft.com/office/drawing/2014/main" id="{6B22D2D7-A821-62AF-01B5-7BB2B49BEE7C}"/>
              </a:ext>
            </a:extLst>
          </p:cNvPr>
          <p:cNvGrpSpPr/>
          <p:nvPr/>
        </p:nvGrpSpPr>
        <p:grpSpPr>
          <a:xfrm>
            <a:off x="5491678" y="4444996"/>
            <a:ext cx="108000" cy="108000"/>
            <a:chOff x="2407663" y="5598368"/>
            <a:chExt cx="108000" cy="108000"/>
          </a:xfrm>
        </p:grpSpPr>
        <p:sp>
          <p:nvSpPr>
            <p:cNvPr id="101" name="楕円 100">
              <a:extLst>
                <a:ext uri="{FF2B5EF4-FFF2-40B4-BE49-F238E27FC236}">
                  <a16:creationId xmlns:a16="http://schemas.microsoft.com/office/drawing/2014/main" id="{A0706F5D-E5EF-1F8B-5EAE-40571A02A0AA}"/>
                </a:ext>
              </a:extLst>
            </p:cNvPr>
            <p:cNvSpPr/>
            <p:nvPr/>
          </p:nvSpPr>
          <p:spPr>
            <a:xfrm>
              <a:off x="2407663" y="5598368"/>
              <a:ext cx="108000" cy="108000"/>
            </a:xfrm>
            <a:prstGeom prst="ellipse">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02" name="楕円 101">
              <a:extLst>
                <a:ext uri="{FF2B5EF4-FFF2-40B4-BE49-F238E27FC236}">
                  <a16:creationId xmlns:a16="http://schemas.microsoft.com/office/drawing/2014/main" id="{1485ACD2-84B7-10B5-BA18-61194CDA54D7}"/>
                </a:ext>
              </a:extLst>
            </p:cNvPr>
            <p:cNvSpPr/>
            <p:nvPr/>
          </p:nvSpPr>
          <p:spPr>
            <a:xfrm>
              <a:off x="2425663" y="5616368"/>
              <a:ext cx="72000" cy="72000"/>
            </a:xfrm>
            <a:prstGeom prst="ellipse">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grpSp>
        <p:nvGrpSpPr>
          <p:cNvPr id="103" name="グループ化 102">
            <a:extLst>
              <a:ext uri="{FF2B5EF4-FFF2-40B4-BE49-F238E27FC236}">
                <a16:creationId xmlns:a16="http://schemas.microsoft.com/office/drawing/2014/main" id="{CCC84C6F-046C-2FD2-4381-15B250DA1DD8}"/>
              </a:ext>
            </a:extLst>
          </p:cNvPr>
          <p:cNvGrpSpPr/>
          <p:nvPr/>
        </p:nvGrpSpPr>
        <p:grpSpPr>
          <a:xfrm>
            <a:off x="5474742" y="5729815"/>
            <a:ext cx="108000" cy="108000"/>
            <a:chOff x="2407663" y="5598368"/>
            <a:chExt cx="108000" cy="108000"/>
          </a:xfrm>
        </p:grpSpPr>
        <p:sp>
          <p:nvSpPr>
            <p:cNvPr id="104" name="楕円 103">
              <a:extLst>
                <a:ext uri="{FF2B5EF4-FFF2-40B4-BE49-F238E27FC236}">
                  <a16:creationId xmlns:a16="http://schemas.microsoft.com/office/drawing/2014/main" id="{2AF34628-323B-80F9-A7BC-2B644B617498}"/>
                </a:ext>
              </a:extLst>
            </p:cNvPr>
            <p:cNvSpPr/>
            <p:nvPr/>
          </p:nvSpPr>
          <p:spPr>
            <a:xfrm>
              <a:off x="2407663" y="5598368"/>
              <a:ext cx="108000" cy="108000"/>
            </a:xfrm>
            <a:prstGeom prst="ellipse">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05" name="楕円 104">
              <a:extLst>
                <a:ext uri="{FF2B5EF4-FFF2-40B4-BE49-F238E27FC236}">
                  <a16:creationId xmlns:a16="http://schemas.microsoft.com/office/drawing/2014/main" id="{1EC2C066-3103-8A6A-5203-200B9A89DB73}"/>
                </a:ext>
              </a:extLst>
            </p:cNvPr>
            <p:cNvSpPr/>
            <p:nvPr/>
          </p:nvSpPr>
          <p:spPr>
            <a:xfrm>
              <a:off x="2425663" y="5616368"/>
              <a:ext cx="72000" cy="72000"/>
            </a:xfrm>
            <a:prstGeom prst="ellipse">
              <a:avLst/>
            </a:prstGeom>
            <a:solidFill>
              <a:schemeClr val="tx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106" name="テキスト ボックス 105">
            <a:extLst>
              <a:ext uri="{FF2B5EF4-FFF2-40B4-BE49-F238E27FC236}">
                <a16:creationId xmlns:a16="http://schemas.microsoft.com/office/drawing/2014/main" id="{8CFEFC7E-279D-BE3A-823C-E5C51850643B}"/>
              </a:ext>
            </a:extLst>
          </p:cNvPr>
          <p:cNvSpPr txBox="1"/>
          <p:nvPr/>
        </p:nvSpPr>
        <p:spPr>
          <a:xfrm>
            <a:off x="5022532" y="4272085"/>
            <a:ext cx="778047" cy="262911"/>
          </a:xfrm>
          <a:prstGeom prst="rect">
            <a:avLst/>
          </a:prstGeom>
          <a:noFill/>
        </p:spPr>
        <p:txBody>
          <a:bodyPr wrap="square" lIns="0" rIns="0" rtlCol="0">
            <a:noAutofit/>
          </a:bodyPr>
          <a:lstStyle/>
          <a:p>
            <a:pPr algn="l" defTabSz="288000"/>
            <a:r>
              <a:rPr lang="ja-JP" altLang="en-US" sz="1050" dirty="0">
                <a:latin typeface="+mn-ea"/>
              </a:rPr>
              <a:t>電源</a:t>
            </a:r>
            <a:r>
              <a:rPr lang="en-US" altLang="ja-JP" sz="1050" dirty="0">
                <a:latin typeface="+mn-ea"/>
              </a:rPr>
              <a:t>OFF</a:t>
            </a:r>
            <a:endParaRPr kumimoji="1" lang="ja-JP" altLang="en-US" sz="1050" dirty="0">
              <a:latin typeface="+mn-ea"/>
            </a:endParaRPr>
          </a:p>
        </p:txBody>
      </p:sp>
      <p:sp>
        <p:nvSpPr>
          <p:cNvPr id="107" name="テキスト ボックス 106">
            <a:extLst>
              <a:ext uri="{FF2B5EF4-FFF2-40B4-BE49-F238E27FC236}">
                <a16:creationId xmlns:a16="http://schemas.microsoft.com/office/drawing/2014/main" id="{5899C7EC-F2ED-FE23-9A3F-030131BCCB2B}"/>
              </a:ext>
            </a:extLst>
          </p:cNvPr>
          <p:cNvSpPr txBox="1"/>
          <p:nvPr/>
        </p:nvSpPr>
        <p:spPr>
          <a:xfrm>
            <a:off x="5047752" y="5816764"/>
            <a:ext cx="778047" cy="262911"/>
          </a:xfrm>
          <a:prstGeom prst="rect">
            <a:avLst/>
          </a:prstGeom>
          <a:noFill/>
        </p:spPr>
        <p:txBody>
          <a:bodyPr wrap="square" lIns="0" rIns="0" rtlCol="0">
            <a:noAutofit/>
          </a:bodyPr>
          <a:lstStyle/>
          <a:p>
            <a:pPr algn="l" defTabSz="288000"/>
            <a:r>
              <a:rPr lang="ja-JP" altLang="en-US" sz="1050" dirty="0">
                <a:latin typeface="+mn-ea"/>
              </a:rPr>
              <a:t>電源</a:t>
            </a:r>
            <a:r>
              <a:rPr lang="en-US" altLang="ja-JP" sz="1050" dirty="0">
                <a:latin typeface="+mn-ea"/>
              </a:rPr>
              <a:t>OFF</a:t>
            </a:r>
            <a:endParaRPr kumimoji="1" lang="ja-JP" altLang="en-US" sz="1050" dirty="0">
              <a:latin typeface="+mn-ea"/>
            </a:endParaRPr>
          </a:p>
        </p:txBody>
      </p:sp>
      <p:cxnSp>
        <p:nvCxnSpPr>
          <p:cNvPr id="120" name="直線コネクタ 119">
            <a:extLst>
              <a:ext uri="{FF2B5EF4-FFF2-40B4-BE49-F238E27FC236}">
                <a16:creationId xmlns:a16="http://schemas.microsoft.com/office/drawing/2014/main" id="{2C0886D5-CC87-5E90-C39E-17C6874DE39A}"/>
              </a:ext>
            </a:extLst>
          </p:cNvPr>
          <p:cNvCxnSpPr/>
          <p:nvPr/>
        </p:nvCxnSpPr>
        <p:spPr>
          <a:xfrm flipH="1">
            <a:off x="3433665" y="2640813"/>
            <a:ext cx="72591" cy="324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吹き出し: 角を丸めた四角形 4">
            <a:extLst>
              <a:ext uri="{FF2B5EF4-FFF2-40B4-BE49-F238E27FC236}">
                <a16:creationId xmlns:a16="http://schemas.microsoft.com/office/drawing/2014/main" id="{F1E69519-ACA6-AC9A-DF68-72E1239B0B35}"/>
              </a:ext>
            </a:extLst>
          </p:cNvPr>
          <p:cNvSpPr/>
          <p:nvPr/>
        </p:nvSpPr>
        <p:spPr>
          <a:xfrm>
            <a:off x="5303026" y="1979619"/>
            <a:ext cx="6616425" cy="890139"/>
          </a:xfrm>
          <a:prstGeom prst="wedgeRoundRectCallout">
            <a:avLst>
              <a:gd name="adj1" fmla="val -13233"/>
              <a:gd name="adj2" fmla="val 82318"/>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latin typeface="__Inter_a184c8"/>
              </a:rPr>
              <a:t>同じイベントでも、システムの状態によって、異なる状態に遷移することがある</a:t>
            </a:r>
            <a:endParaRPr lang="en-US" altLang="ja-JP" sz="1400" dirty="0">
              <a:solidFill>
                <a:schemeClr val="tx1"/>
              </a:solidFill>
              <a:latin typeface="__Inter_a184c8"/>
            </a:endParaRPr>
          </a:p>
          <a:p>
            <a:pPr algn="ctr"/>
            <a:r>
              <a:rPr lang="ja-JP" altLang="en-US" sz="1400" dirty="0">
                <a:solidFill>
                  <a:schemeClr val="tx1"/>
                </a:solidFill>
                <a:latin typeface="__Inter_a184c8"/>
              </a:rPr>
              <a:t>⇒ 遷移前状態とイベント、遷移後状態の組み合わせを整理し、</a:t>
            </a:r>
            <a:endParaRPr lang="en-US" altLang="ja-JP" sz="1400" dirty="0">
              <a:solidFill>
                <a:schemeClr val="tx1"/>
              </a:solidFill>
              <a:latin typeface="__Inter_a184c8"/>
            </a:endParaRPr>
          </a:p>
          <a:p>
            <a:pPr algn="ctr"/>
            <a:r>
              <a:rPr lang="ja-JP" altLang="en-US" sz="1400" dirty="0">
                <a:solidFill>
                  <a:schemeClr val="tx1"/>
                </a:solidFill>
                <a:latin typeface="__Inter_a184c8"/>
              </a:rPr>
              <a:t>正しく理解した上でテスト項目を作ることが必要</a:t>
            </a:r>
            <a:endParaRPr kumimoji="1" lang="en-US" altLang="ja-JP" sz="1400" dirty="0">
              <a:solidFill>
                <a:schemeClr val="tx1"/>
              </a:solidFill>
            </a:endParaRPr>
          </a:p>
        </p:txBody>
      </p:sp>
      <p:sp>
        <p:nvSpPr>
          <p:cNvPr id="6" name="矢印: 上向き折線 5">
            <a:extLst>
              <a:ext uri="{FF2B5EF4-FFF2-40B4-BE49-F238E27FC236}">
                <a16:creationId xmlns:a16="http://schemas.microsoft.com/office/drawing/2014/main" id="{88520CED-E4B5-89BD-F701-9ECCED0FA6F5}"/>
              </a:ext>
            </a:extLst>
          </p:cNvPr>
          <p:cNvSpPr/>
          <p:nvPr/>
        </p:nvSpPr>
        <p:spPr>
          <a:xfrm rot="5400000">
            <a:off x="6067968" y="5901232"/>
            <a:ext cx="440676" cy="387012"/>
          </a:xfrm>
          <a:prstGeom prst="bentUpArrow">
            <a:avLst/>
          </a:prstGeom>
          <a:solidFill>
            <a:schemeClr val="bg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 name="テキスト ボックス 6">
            <a:extLst>
              <a:ext uri="{FF2B5EF4-FFF2-40B4-BE49-F238E27FC236}">
                <a16:creationId xmlns:a16="http://schemas.microsoft.com/office/drawing/2014/main" id="{171345E7-E7B7-53FF-7960-44105D6819BC}"/>
              </a:ext>
            </a:extLst>
          </p:cNvPr>
          <p:cNvSpPr txBox="1"/>
          <p:nvPr/>
        </p:nvSpPr>
        <p:spPr>
          <a:xfrm>
            <a:off x="6481812" y="5878610"/>
            <a:ext cx="5710188" cy="577835"/>
          </a:xfrm>
          <a:prstGeom prst="rect">
            <a:avLst/>
          </a:prstGeom>
          <a:noFill/>
        </p:spPr>
        <p:txBody>
          <a:bodyPr wrap="square" lIns="0" rIns="0" rtlCol="0">
            <a:noAutofit/>
          </a:bodyPr>
          <a:lstStyle/>
          <a:p>
            <a:pPr defTabSz="288000"/>
            <a:r>
              <a:rPr kumimoji="1" lang="ja-JP" altLang="en-US" sz="1400" dirty="0">
                <a:latin typeface="+mn-ea"/>
              </a:rPr>
              <a:t>状態遷移表の</a:t>
            </a:r>
            <a:r>
              <a:rPr kumimoji="1" lang="ja-JP" altLang="en-US" sz="1400" b="1" dirty="0">
                <a:solidFill>
                  <a:schemeClr val="tx1"/>
                </a:solidFill>
              </a:rPr>
              <a:t>１セル＝１テスト項目</a:t>
            </a:r>
            <a:r>
              <a:rPr kumimoji="1" lang="ja-JP" altLang="en-US" sz="1400" dirty="0">
                <a:solidFill>
                  <a:schemeClr val="tx1"/>
                </a:solidFill>
              </a:rPr>
              <a:t>として、テスト項目を洗い出す</a:t>
            </a:r>
            <a:endParaRPr kumimoji="1" lang="en-US" altLang="ja-JP" sz="1400" dirty="0">
              <a:latin typeface="+mn-ea"/>
            </a:endParaRPr>
          </a:p>
          <a:p>
            <a:pPr algn="l" defTabSz="288000"/>
            <a:r>
              <a:rPr kumimoji="1" lang="ja-JP" altLang="en-US" sz="1400" dirty="0">
                <a:latin typeface="+mn-ea"/>
              </a:rPr>
              <a:t>　　　例）「状態</a:t>
            </a:r>
            <a:r>
              <a:rPr kumimoji="1" lang="en-US" altLang="ja-JP" sz="1400" dirty="0">
                <a:latin typeface="+mn-ea"/>
              </a:rPr>
              <a:t>A</a:t>
            </a:r>
            <a:r>
              <a:rPr lang="ja-JP" altLang="en-US" sz="1400" dirty="0">
                <a:latin typeface="+mn-ea"/>
              </a:rPr>
              <a:t>にて○○イベントを行った時に、状態</a:t>
            </a:r>
            <a:r>
              <a:rPr lang="en-US" altLang="ja-JP" sz="1400" dirty="0">
                <a:latin typeface="+mn-ea"/>
              </a:rPr>
              <a:t>B</a:t>
            </a:r>
            <a:r>
              <a:rPr lang="ja-JP" altLang="en-US" sz="1400" dirty="0">
                <a:latin typeface="+mn-ea"/>
              </a:rPr>
              <a:t>に遷移する」</a:t>
            </a:r>
            <a:endParaRPr kumimoji="1" lang="ja-JP" altLang="en-US" sz="1400" dirty="0">
              <a:latin typeface="+mn-ea"/>
            </a:endParaRPr>
          </a:p>
        </p:txBody>
      </p:sp>
      <p:sp>
        <p:nvSpPr>
          <p:cNvPr id="4" name="正方形/長方形 3">
            <a:extLst>
              <a:ext uri="{FF2B5EF4-FFF2-40B4-BE49-F238E27FC236}">
                <a16:creationId xmlns:a16="http://schemas.microsoft.com/office/drawing/2014/main" id="{1E290C31-7F94-1E65-EBEF-6F35C05E52F4}"/>
              </a:ext>
            </a:extLst>
          </p:cNvPr>
          <p:cNvSpPr/>
          <p:nvPr/>
        </p:nvSpPr>
        <p:spPr>
          <a:xfrm>
            <a:off x="10571748" y="4513952"/>
            <a:ext cx="1236358" cy="501881"/>
          </a:xfrm>
          <a:prstGeom prst="rect">
            <a:avLst/>
          </a:prstGeom>
          <a:noFill/>
          <a:ln w="28575">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9" name="直線コネクタ 8">
            <a:extLst>
              <a:ext uri="{FF2B5EF4-FFF2-40B4-BE49-F238E27FC236}">
                <a16:creationId xmlns:a16="http://schemas.microsoft.com/office/drawing/2014/main" id="{25AE9BCC-9EF2-C9F3-0839-F1920F0A2C3E}"/>
              </a:ext>
            </a:extLst>
          </p:cNvPr>
          <p:cNvCxnSpPr>
            <a:cxnSpLocks/>
            <a:endCxn id="4" idx="0"/>
          </p:cNvCxnSpPr>
          <p:nvPr/>
        </p:nvCxnSpPr>
        <p:spPr>
          <a:xfrm flipH="1">
            <a:off x="11189927" y="3650730"/>
            <a:ext cx="124249" cy="863222"/>
          </a:xfrm>
          <a:prstGeom prst="line">
            <a:avLst/>
          </a:prstGeom>
          <a:ln w="28575">
            <a:solidFill>
              <a:srgbClr val="E42600"/>
            </a:solidFill>
          </a:ln>
          <a:effectLst/>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DB79139A-F83B-A52B-680A-7810E2647811}"/>
              </a:ext>
            </a:extLst>
          </p:cNvPr>
          <p:cNvSpPr txBox="1"/>
          <p:nvPr/>
        </p:nvSpPr>
        <p:spPr>
          <a:xfrm>
            <a:off x="10219113" y="3079310"/>
            <a:ext cx="1876634" cy="577834"/>
          </a:xfrm>
          <a:prstGeom prst="rect">
            <a:avLst/>
          </a:prstGeom>
          <a:noFill/>
        </p:spPr>
        <p:txBody>
          <a:bodyPr wrap="square" lIns="0" rIns="0" rtlCol="0" anchor="ctr">
            <a:noAutofit/>
          </a:bodyPr>
          <a:lstStyle/>
          <a:p>
            <a:pPr algn="ctr" defTabSz="288000"/>
            <a:r>
              <a:rPr kumimoji="1" lang="ja-JP" altLang="en-US" sz="1200" dirty="0">
                <a:solidFill>
                  <a:srgbClr val="FF0000"/>
                </a:solidFill>
                <a:latin typeface="+mn-ea"/>
              </a:rPr>
              <a:t>遷移前状態とイベントの</a:t>
            </a:r>
            <a:endParaRPr kumimoji="1" lang="en-US" altLang="ja-JP" sz="1200" dirty="0">
              <a:solidFill>
                <a:srgbClr val="FF0000"/>
              </a:solidFill>
              <a:latin typeface="+mn-ea"/>
            </a:endParaRPr>
          </a:p>
          <a:p>
            <a:pPr algn="ctr" defTabSz="288000"/>
            <a:r>
              <a:rPr kumimoji="1" lang="ja-JP" altLang="en-US" sz="1200" dirty="0">
                <a:solidFill>
                  <a:srgbClr val="FF0000"/>
                </a:solidFill>
                <a:latin typeface="+mn-ea"/>
              </a:rPr>
              <a:t>組み合わせによって決まる</a:t>
            </a:r>
            <a:endParaRPr kumimoji="1" lang="en-US" altLang="ja-JP" sz="1200" dirty="0">
              <a:solidFill>
                <a:srgbClr val="FF0000"/>
              </a:solidFill>
              <a:latin typeface="+mn-ea"/>
            </a:endParaRPr>
          </a:p>
          <a:p>
            <a:pPr algn="ctr" defTabSz="288000"/>
            <a:r>
              <a:rPr lang="ja-JP" altLang="en-US" sz="1200" dirty="0">
                <a:solidFill>
                  <a:srgbClr val="FF0000"/>
                </a:solidFill>
                <a:latin typeface="+mn-ea"/>
              </a:rPr>
              <a:t>遷移後状態</a:t>
            </a:r>
            <a:endParaRPr kumimoji="1" lang="en-US" altLang="ja-JP" sz="1200" dirty="0">
              <a:solidFill>
                <a:srgbClr val="FF0000"/>
              </a:solidFill>
              <a:latin typeface="+mn-ea"/>
            </a:endParaRPr>
          </a:p>
        </p:txBody>
      </p:sp>
    </p:spTree>
    <p:extLst>
      <p:ext uri="{BB962C8B-B14F-4D97-AF65-F5344CB8AC3E}">
        <p14:creationId xmlns:p14="http://schemas.microsoft.com/office/powerpoint/2010/main" val="190379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EAA27-79EC-12ED-432C-ACFCF8BD6E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4EEEAF2-026E-1E7F-8C14-88D6EE0792B1}"/>
              </a:ext>
            </a:extLst>
          </p:cNvPr>
          <p:cNvSpPr>
            <a:spLocks noGrp="1"/>
          </p:cNvSpPr>
          <p:nvPr>
            <p:ph type="title"/>
          </p:nvPr>
        </p:nvSpPr>
        <p:spPr/>
        <p:txBody>
          <a:bodyPr anchor="ctr"/>
          <a:lstStyle/>
          <a:p>
            <a:r>
              <a:rPr lang="ja-JP" altLang="en-US" dirty="0"/>
              <a:t>テスト技法 </a:t>
            </a:r>
            <a:r>
              <a:rPr lang="en-US" altLang="ja-JP" dirty="0"/>
              <a:t>– </a:t>
            </a:r>
            <a:r>
              <a:rPr lang="ja-JP" altLang="en-US" dirty="0"/>
              <a:t>ホワイトボックステスト技法 </a:t>
            </a:r>
            <a:r>
              <a:rPr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E1A78E5A-8519-0EB0-9A68-26440EA28959}"/>
              </a:ext>
            </a:extLst>
          </p:cNvPr>
          <p:cNvSpPr>
            <a:spLocks noGrp="1"/>
          </p:cNvSpPr>
          <p:nvPr>
            <p:ph sz="quarter" idx="4294967295"/>
          </p:nvPr>
        </p:nvSpPr>
        <p:spPr>
          <a:xfrm>
            <a:off x="371474" y="1012800"/>
            <a:ext cx="11448000" cy="2572611"/>
          </a:xfrm>
        </p:spPr>
        <p:txBody>
          <a:bodyPr/>
          <a:lstStyle/>
          <a:p>
            <a:r>
              <a:rPr kumimoji="1" lang="ja-JP" altLang="en-US" u="sng" dirty="0"/>
              <a:t>ホワイトボックステスト技法</a:t>
            </a:r>
            <a:endParaRPr kumimoji="1" lang="en-US" altLang="ja-JP" dirty="0"/>
          </a:p>
          <a:p>
            <a:r>
              <a:rPr kumimoji="1" lang="ja-JP" altLang="en-US" dirty="0"/>
              <a:t>テスト対象の内部構造に従って、意図したとおりの手順で動作しているかを検証するテスト技法</a:t>
            </a:r>
            <a:endParaRPr lang="en-US" altLang="ja-JP" dirty="0"/>
          </a:p>
          <a:p>
            <a:endParaRPr kumimoji="1" lang="en-US" altLang="ja-JP" u="sng" dirty="0"/>
          </a:p>
          <a:p>
            <a:endParaRPr lang="en-US" altLang="ja-JP" u="sng" dirty="0"/>
          </a:p>
          <a:p>
            <a:endParaRPr kumimoji="1" lang="en-US" altLang="ja-JP" u="sng" dirty="0"/>
          </a:p>
          <a:p>
            <a:endParaRPr lang="en-US" altLang="ja-JP" u="sng" dirty="0"/>
          </a:p>
          <a:p>
            <a:endParaRPr kumimoji="1" lang="ja-JP" altLang="en-US" u="sng" dirty="0"/>
          </a:p>
        </p:txBody>
      </p:sp>
      <p:sp>
        <p:nvSpPr>
          <p:cNvPr id="5" name="直方体 4">
            <a:extLst>
              <a:ext uri="{FF2B5EF4-FFF2-40B4-BE49-F238E27FC236}">
                <a16:creationId xmlns:a16="http://schemas.microsoft.com/office/drawing/2014/main" id="{712F76BF-9B24-93DF-BA2B-47A76B4F249B}"/>
              </a:ext>
            </a:extLst>
          </p:cNvPr>
          <p:cNvSpPr/>
          <p:nvPr/>
        </p:nvSpPr>
        <p:spPr>
          <a:xfrm>
            <a:off x="3877785" y="1942848"/>
            <a:ext cx="3433666" cy="1492898"/>
          </a:xfrm>
          <a:prstGeom prst="cube">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6" name="矢印: 右 5">
            <a:extLst>
              <a:ext uri="{FF2B5EF4-FFF2-40B4-BE49-F238E27FC236}">
                <a16:creationId xmlns:a16="http://schemas.microsoft.com/office/drawing/2014/main" id="{370BFB18-A915-0069-0981-A6CF4EDEA789}"/>
              </a:ext>
            </a:extLst>
          </p:cNvPr>
          <p:cNvSpPr/>
          <p:nvPr/>
        </p:nvSpPr>
        <p:spPr>
          <a:xfrm>
            <a:off x="3222669" y="2454210"/>
            <a:ext cx="540000" cy="568907"/>
          </a:xfrm>
          <a:prstGeom prst="rightArrow">
            <a:avLst/>
          </a:prstGeom>
          <a:solidFill>
            <a:srgbClr val="FFC000"/>
          </a:solidFill>
          <a:ln w="3175">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 name="矢印: 右 6">
            <a:extLst>
              <a:ext uri="{FF2B5EF4-FFF2-40B4-BE49-F238E27FC236}">
                <a16:creationId xmlns:a16="http://schemas.microsoft.com/office/drawing/2014/main" id="{ADEB7FAD-B9A0-51C0-F355-55771DE1C7E1}"/>
              </a:ext>
            </a:extLst>
          </p:cNvPr>
          <p:cNvSpPr/>
          <p:nvPr/>
        </p:nvSpPr>
        <p:spPr>
          <a:xfrm>
            <a:off x="7457554" y="2454210"/>
            <a:ext cx="540000" cy="568907"/>
          </a:xfrm>
          <a:prstGeom prst="rightArrow">
            <a:avLst/>
          </a:prstGeom>
          <a:solidFill>
            <a:srgbClr val="FFC000"/>
          </a:solidFill>
          <a:ln w="3175">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52" name="直線コネクタ 51">
            <a:extLst>
              <a:ext uri="{FF2B5EF4-FFF2-40B4-BE49-F238E27FC236}">
                <a16:creationId xmlns:a16="http://schemas.microsoft.com/office/drawing/2014/main" id="{2E0218F9-D875-0511-DBE4-B54700731CDA}"/>
              </a:ext>
            </a:extLst>
          </p:cNvPr>
          <p:cNvCxnSpPr/>
          <p:nvPr/>
        </p:nvCxnSpPr>
        <p:spPr>
          <a:xfrm>
            <a:off x="4249206" y="1942848"/>
            <a:ext cx="0" cy="11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4" name="直線コネクタ 53">
            <a:extLst>
              <a:ext uri="{FF2B5EF4-FFF2-40B4-BE49-F238E27FC236}">
                <a16:creationId xmlns:a16="http://schemas.microsoft.com/office/drawing/2014/main" id="{888E6F67-96C1-B08C-85CA-1524B8BC72FF}"/>
              </a:ext>
            </a:extLst>
          </p:cNvPr>
          <p:cNvCxnSpPr>
            <a:cxnSpLocks/>
          </p:cNvCxnSpPr>
          <p:nvPr/>
        </p:nvCxnSpPr>
        <p:spPr>
          <a:xfrm>
            <a:off x="4246346" y="3051110"/>
            <a:ext cx="3060000"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5" name="直線コネクタ 54">
            <a:extLst>
              <a:ext uri="{FF2B5EF4-FFF2-40B4-BE49-F238E27FC236}">
                <a16:creationId xmlns:a16="http://schemas.microsoft.com/office/drawing/2014/main" id="{A085BFB5-0817-D655-4243-901BD81C0B9A}"/>
              </a:ext>
            </a:extLst>
          </p:cNvPr>
          <p:cNvCxnSpPr>
            <a:cxnSpLocks/>
          </p:cNvCxnSpPr>
          <p:nvPr/>
        </p:nvCxnSpPr>
        <p:spPr>
          <a:xfrm flipH="1">
            <a:off x="3877785" y="3058848"/>
            <a:ext cx="371421" cy="376898"/>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70" name="グループ化 69">
            <a:extLst>
              <a:ext uri="{FF2B5EF4-FFF2-40B4-BE49-F238E27FC236}">
                <a16:creationId xmlns:a16="http://schemas.microsoft.com/office/drawing/2014/main" id="{A8E05F29-AC10-45F4-9B17-819B8A5A84E5}"/>
              </a:ext>
            </a:extLst>
          </p:cNvPr>
          <p:cNvGrpSpPr/>
          <p:nvPr/>
        </p:nvGrpSpPr>
        <p:grpSpPr>
          <a:xfrm>
            <a:off x="3989751" y="2454210"/>
            <a:ext cx="2880000" cy="830164"/>
            <a:chOff x="4992785" y="3611207"/>
            <a:chExt cx="2880000" cy="830164"/>
          </a:xfrm>
          <a:solidFill>
            <a:schemeClr val="tx2">
              <a:lumMod val="20000"/>
              <a:lumOff val="80000"/>
            </a:schemeClr>
          </a:solidFill>
        </p:grpSpPr>
        <p:sp>
          <p:nvSpPr>
            <p:cNvPr id="69" name="正方形/長方形 68">
              <a:extLst>
                <a:ext uri="{FF2B5EF4-FFF2-40B4-BE49-F238E27FC236}">
                  <a16:creationId xmlns:a16="http://schemas.microsoft.com/office/drawing/2014/main" id="{9F8CDD77-B9A4-ECFB-2319-A4B74571B1A8}"/>
                </a:ext>
              </a:extLst>
            </p:cNvPr>
            <p:cNvSpPr/>
            <p:nvPr/>
          </p:nvSpPr>
          <p:spPr>
            <a:xfrm>
              <a:off x="4992785" y="3611207"/>
              <a:ext cx="2880000" cy="830164"/>
            </a:xfrm>
            <a:prstGeom prst="rect">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68" name="グループ化 67">
              <a:extLst>
                <a:ext uri="{FF2B5EF4-FFF2-40B4-BE49-F238E27FC236}">
                  <a16:creationId xmlns:a16="http://schemas.microsoft.com/office/drawing/2014/main" id="{2501E0CC-C840-40FE-5DDC-E5C0C479B421}"/>
                </a:ext>
              </a:extLst>
            </p:cNvPr>
            <p:cNvGrpSpPr/>
            <p:nvPr/>
          </p:nvGrpSpPr>
          <p:grpSpPr>
            <a:xfrm>
              <a:off x="5070053" y="3785932"/>
              <a:ext cx="2728346" cy="480714"/>
              <a:chOff x="5070053" y="3776940"/>
              <a:chExt cx="2728346" cy="480714"/>
            </a:xfrm>
            <a:grpFill/>
          </p:grpSpPr>
          <p:sp>
            <p:nvSpPr>
              <p:cNvPr id="13" name="正方形/長方形 12">
                <a:extLst>
                  <a:ext uri="{FF2B5EF4-FFF2-40B4-BE49-F238E27FC236}">
                    <a16:creationId xmlns:a16="http://schemas.microsoft.com/office/drawing/2014/main" id="{6CFAB53E-506A-E4FA-B67E-0DB22CB99011}"/>
                  </a:ext>
                </a:extLst>
              </p:cNvPr>
              <p:cNvSpPr/>
              <p:nvPr/>
            </p:nvSpPr>
            <p:spPr>
              <a:xfrm>
                <a:off x="5348771" y="3776940"/>
                <a:ext cx="576000" cy="480714"/>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a:t>
                </a:r>
                <a:endParaRPr kumimoji="1" lang="en-US" altLang="ja-JP" sz="1200" dirty="0">
                  <a:solidFill>
                    <a:schemeClr val="tx1"/>
                  </a:solidFill>
                </a:endParaRPr>
              </a:p>
              <a:p>
                <a:pPr algn="ctr"/>
                <a:r>
                  <a:rPr kumimoji="1" lang="ja-JP" altLang="en-US" sz="1200" dirty="0">
                    <a:solidFill>
                      <a:schemeClr val="tx1"/>
                    </a:solidFill>
                  </a:rPr>
                  <a:t>変換</a:t>
                </a:r>
              </a:p>
            </p:txBody>
          </p:sp>
          <p:cxnSp>
            <p:nvCxnSpPr>
              <p:cNvPr id="15" name="直線矢印コネクタ 14">
                <a:extLst>
                  <a:ext uri="{FF2B5EF4-FFF2-40B4-BE49-F238E27FC236}">
                    <a16:creationId xmlns:a16="http://schemas.microsoft.com/office/drawing/2014/main" id="{3923A163-F4DF-7171-FD16-33C1F3454AD1}"/>
                  </a:ext>
                </a:extLst>
              </p:cNvPr>
              <p:cNvCxnSpPr>
                <a:cxnSpLocks/>
                <a:endCxn id="13" idx="1"/>
              </p:cNvCxnSpPr>
              <p:nvPr/>
            </p:nvCxnSpPr>
            <p:spPr>
              <a:xfrm>
                <a:off x="5070053" y="4017297"/>
                <a:ext cx="278718" cy="0"/>
              </a:xfrm>
              <a:prstGeom prst="straightConnector1">
                <a:avLst/>
              </a:prstGeom>
              <a:grpFill/>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5DDEDE67-7D37-E538-2ACF-03903E557D92}"/>
                  </a:ext>
                </a:extLst>
              </p:cNvPr>
              <p:cNvSpPr/>
              <p:nvPr/>
            </p:nvSpPr>
            <p:spPr>
              <a:xfrm>
                <a:off x="6195585" y="3776940"/>
                <a:ext cx="540000" cy="480714"/>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先頭</a:t>
                </a:r>
                <a:endParaRPr kumimoji="1" lang="en-US" altLang="ja-JP" sz="1200" dirty="0">
                  <a:solidFill>
                    <a:schemeClr val="tx1"/>
                  </a:solidFill>
                </a:endParaRPr>
              </a:p>
              <a:p>
                <a:pPr algn="ctr"/>
                <a:r>
                  <a:rPr kumimoji="1" lang="ja-JP" altLang="en-US" sz="1200" dirty="0">
                    <a:solidFill>
                      <a:schemeClr val="tx1"/>
                    </a:solidFill>
                  </a:rPr>
                  <a:t>△に</a:t>
                </a:r>
              </a:p>
            </p:txBody>
          </p:sp>
          <p:cxnSp>
            <p:nvCxnSpPr>
              <p:cNvPr id="24" name="直線矢印コネクタ 23">
                <a:extLst>
                  <a:ext uri="{FF2B5EF4-FFF2-40B4-BE49-F238E27FC236}">
                    <a16:creationId xmlns:a16="http://schemas.microsoft.com/office/drawing/2014/main" id="{822C9047-B3AE-9CC2-4386-9F460FC1A0F6}"/>
                  </a:ext>
                </a:extLst>
              </p:cNvPr>
              <p:cNvCxnSpPr>
                <a:cxnSpLocks/>
                <a:endCxn id="23" idx="1"/>
              </p:cNvCxnSpPr>
              <p:nvPr/>
            </p:nvCxnSpPr>
            <p:spPr>
              <a:xfrm>
                <a:off x="5919136" y="4017297"/>
                <a:ext cx="276449" cy="0"/>
              </a:xfrm>
              <a:prstGeom prst="straightConnector1">
                <a:avLst/>
              </a:prstGeom>
              <a:grpFill/>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E862112D-4AA4-A020-03C0-6A441DD51E3E}"/>
                  </a:ext>
                </a:extLst>
              </p:cNvPr>
              <p:cNvCxnSpPr>
                <a:cxnSpLocks/>
                <a:stCxn id="23" idx="3"/>
                <a:endCxn id="33" idx="1"/>
              </p:cNvCxnSpPr>
              <p:nvPr/>
            </p:nvCxnSpPr>
            <p:spPr>
              <a:xfrm>
                <a:off x="6735585" y="4017297"/>
                <a:ext cx="270814" cy="0"/>
              </a:xfrm>
              <a:prstGeom prst="straightConnector1">
                <a:avLst/>
              </a:prstGeom>
              <a:grpFill/>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3" name="正方形/長方形 32">
                <a:extLst>
                  <a:ext uri="{FF2B5EF4-FFF2-40B4-BE49-F238E27FC236}">
                    <a16:creationId xmlns:a16="http://schemas.microsoft.com/office/drawing/2014/main" id="{7D1679A9-D271-1BEB-1169-0DC59FBB589A}"/>
                  </a:ext>
                </a:extLst>
              </p:cNvPr>
              <p:cNvSpPr/>
              <p:nvPr/>
            </p:nvSpPr>
            <p:spPr>
              <a:xfrm>
                <a:off x="7006399" y="3776940"/>
                <a:ext cx="540000" cy="480714"/>
              </a:xfrm>
              <a:prstGeom prst="rect">
                <a:avLst/>
              </a:prstGeom>
              <a:grp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dirty="0">
                    <a:solidFill>
                      <a:schemeClr val="tx1"/>
                    </a:solidFill>
                  </a:rPr>
                  <a:t>×</a:t>
                </a:r>
                <a:r>
                  <a:rPr kumimoji="1" lang="ja-JP" altLang="en-US" sz="1200" dirty="0">
                    <a:solidFill>
                      <a:schemeClr val="tx1"/>
                    </a:solidFill>
                  </a:rPr>
                  <a:t>→■</a:t>
                </a:r>
                <a:endParaRPr kumimoji="1" lang="en-US" altLang="ja-JP" sz="1200" dirty="0">
                  <a:solidFill>
                    <a:schemeClr val="tx1"/>
                  </a:solidFill>
                </a:endParaRPr>
              </a:p>
              <a:p>
                <a:pPr algn="ctr"/>
                <a:r>
                  <a:rPr kumimoji="1" lang="ja-JP" altLang="en-US" sz="1200" dirty="0">
                    <a:solidFill>
                      <a:schemeClr val="tx1"/>
                    </a:solidFill>
                  </a:rPr>
                  <a:t>変換</a:t>
                </a:r>
              </a:p>
            </p:txBody>
          </p:sp>
          <p:cxnSp>
            <p:nvCxnSpPr>
              <p:cNvPr id="34" name="直線矢印コネクタ 33">
                <a:extLst>
                  <a:ext uri="{FF2B5EF4-FFF2-40B4-BE49-F238E27FC236}">
                    <a16:creationId xmlns:a16="http://schemas.microsoft.com/office/drawing/2014/main" id="{739D173A-DCED-8346-4698-D6233E55BD58}"/>
                  </a:ext>
                </a:extLst>
              </p:cNvPr>
              <p:cNvCxnSpPr>
                <a:cxnSpLocks/>
                <a:stCxn id="33" idx="3"/>
              </p:cNvCxnSpPr>
              <p:nvPr/>
            </p:nvCxnSpPr>
            <p:spPr>
              <a:xfrm>
                <a:off x="7546399" y="4017297"/>
                <a:ext cx="252000" cy="0"/>
              </a:xfrm>
              <a:prstGeom prst="straightConnector1">
                <a:avLst/>
              </a:prstGeom>
              <a:grpFill/>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grpSp>
      <p:sp>
        <p:nvSpPr>
          <p:cNvPr id="72" name="正方形/長方形 71">
            <a:extLst>
              <a:ext uri="{FF2B5EF4-FFF2-40B4-BE49-F238E27FC236}">
                <a16:creationId xmlns:a16="http://schemas.microsoft.com/office/drawing/2014/main" id="{7AE257A3-60E8-C160-AB3E-B684EC052C1C}"/>
              </a:ext>
            </a:extLst>
          </p:cNvPr>
          <p:cNvSpPr/>
          <p:nvPr/>
        </p:nvSpPr>
        <p:spPr>
          <a:xfrm>
            <a:off x="4923633" y="2038615"/>
            <a:ext cx="1286732" cy="18233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テスト対象</a:t>
            </a:r>
            <a:endParaRPr kumimoji="1" lang="ja-JP" altLang="en-US" sz="1400" dirty="0">
              <a:solidFill>
                <a:schemeClr val="tx1"/>
              </a:solidFill>
            </a:endParaRPr>
          </a:p>
        </p:txBody>
      </p:sp>
      <p:sp>
        <p:nvSpPr>
          <p:cNvPr id="73" name="正方形/長方形 72">
            <a:extLst>
              <a:ext uri="{FF2B5EF4-FFF2-40B4-BE49-F238E27FC236}">
                <a16:creationId xmlns:a16="http://schemas.microsoft.com/office/drawing/2014/main" id="{8BAB62EE-684B-61A0-3120-34589D207D02}"/>
              </a:ext>
            </a:extLst>
          </p:cNvPr>
          <p:cNvSpPr/>
          <p:nvPr/>
        </p:nvSpPr>
        <p:spPr>
          <a:xfrm>
            <a:off x="1653643" y="2239749"/>
            <a:ext cx="1446244" cy="1188747"/>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a:t>
            </a:r>
            <a:endParaRPr kumimoji="1" lang="ja-JP" altLang="en-US" sz="1400" dirty="0">
              <a:solidFill>
                <a:schemeClr val="tx1"/>
              </a:solidFill>
            </a:endParaRPr>
          </a:p>
        </p:txBody>
      </p:sp>
      <p:sp>
        <p:nvSpPr>
          <p:cNvPr id="77" name="テキスト ボックス 76">
            <a:extLst>
              <a:ext uri="{FF2B5EF4-FFF2-40B4-BE49-F238E27FC236}">
                <a16:creationId xmlns:a16="http://schemas.microsoft.com/office/drawing/2014/main" id="{058006E7-3417-36E8-FB24-42B721F4C4FC}"/>
              </a:ext>
            </a:extLst>
          </p:cNvPr>
          <p:cNvSpPr txBox="1"/>
          <p:nvPr/>
        </p:nvSpPr>
        <p:spPr>
          <a:xfrm>
            <a:off x="1653643" y="1935599"/>
            <a:ext cx="1446244" cy="304151"/>
          </a:xfrm>
          <a:prstGeom prst="rect">
            <a:avLst/>
          </a:prstGeom>
          <a:noFill/>
          <a:ln>
            <a:solidFill>
              <a:schemeClr val="tx1"/>
            </a:solidFill>
          </a:ln>
        </p:spPr>
        <p:txBody>
          <a:bodyPr wrap="square" lIns="0" rIns="0" rtlCol="0">
            <a:noAutofit/>
          </a:bodyPr>
          <a:lstStyle/>
          <a:p>
            <a:pPr algn="ctr" defTabSz="288000"/>
            <a:r>
              <a:rPr kumimoji="1" lang="ja-JP" altLang="en-US" sz="1400" dirty="0">
                <a:latin typeface="+mn-ea"/>
              </a:rPr>
              <a:t>入力</a:t>
            </a:r>
          </a:p>
        </p:txBody>
      </p:sp>
      <p:sp>
        <p:nvSpPr>
          <p:cNvPr id="78" name="正方形/長方形 77">
            <a:extLst>
              <a:ext uri="{FF2B5EF4-FFF2-40B4-BE49-F238E27FC236}">
                <a16:creationId xmlns:a16="http://schemas.microsoft.com/office/drawing/2014/main" id="{AC6BF948-594A-FAAC-5742-BDE7FD6458CC}"/>
              </a:ext>
            </a:extLst>
          </p:cNvPr>
          <p:cNvSpPr/>
          <p:nvPr/>
        </p:nvSpPr>
        <p:spPr>
          <a:xfrm>
            <a:off x="8071359" y="2245572"/>
            <a:ext cx="1446244" cy="1188747"/>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a:t>
            </a:r>
          </a:p>
        </p:txBody>
      </p:sp>
      <p:sp>
        <p:nvSpPr>
          <p:cNvPr id="79" name="テキスト ボックス 78">
            <a:extLst>
              <a:ext uri="{FF2B5EF4-FFF2-40B4-BE49-F238E27FC236}">
                <a16:creationId xmlns:a16="http://schemas.microsoft.com/office/drawing/2014/main" id="{55CB76A6-37B6-D24A-2F27-A59F34E035B7}"/>
              </a:ext>
            </a:extLst>
          </p:cNvPr>
          <p:cNvSpPr txBox="1"/>
          <p:nvPr/>
        </p:nvSpPr>
        <p:spPr>
          <a:xfrm>
            <a:off x="8071359" y="1941422"/>
            <a:ext cx="1446244" cy="304151"/>
          </a:xfrm>
          <a:prstGeom prst="rect">
            <a:avLst/>
          </a:prstGeom>
          <a:noFill/>
          <a:ln>
            <a:solidFill>
              <a:schemeClr val="tx1"/>
            </a:solidFill>
          </a:ln>
        </p:spPr>
        <p:txBody>
          <a:bodyPr wrap="square" lIns="0" rIns="0" rtlCol="0">
            <a:noAutofit/>
          </a:bodyPr>
          <a:lstStyle/>
          <a:p>
            <a:pPr algn="ctr" defTabSz="288000"/>
            <a:r>
              <a:rPr lang="ja-JP" altLang="en-US" sz="1400" dirty="0">
                <a:latin typeface="+mn-ea"/>
              </a:rPr>
              <a:t>出</a:t>
            </a:r>
            <a:r>
              <a:rPr kumimoji="1" lang="ja-JP" altLang="en-US" sz="1400" dirty="0">
                <a:latin typeface="+mn-ea"/>
              </a:rPr>
              <a:t>力</a:t>
            </a:r>
          </a:p>
        </p:txBody>
      </p:sp>
      <p:sp>
        <p:nvSpPr>
          <p:cNvPr id="10" name="四角形: 角を丸くする 9">
            <a:extLst>
              <a:ext uri="{FF2B5EF4-FFF2-40B4-BE49-F238E27FC236}">
                <a16:creationId xmlns:a16="http://schemas.microsoft.com/office/drawing/2014/main" id="{E55C19A2-D204-9272-4E45-CFBD70068E29}"/>
              </a:ext>
            </a:extLst>
          </p:cNvPr>
          <p:cNvSpPr/>
          <p:nvPr/>
        </p:nvSpPr>
        <p:spPr>
          <a:xfrm>
            <a:off x="9243238" y="825255"/>
            <a:ext cx="2729023" cy="730800"/>
          </a:xfrm>
          <a:prstGeom prst="roundRect">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2000" b="1" u="sng" dirty="0">
                <a:solidFill>
                  <a:schemeClr val="tx1"/>
                </a:solidFill>
              </a:rPr>
              <a:t>構造ベース</a:t>
            </a:r>
            <a:r>
              <a:rPr kumimoji="1" lang="ja-JP" altLang="en-US" dirty="0">
                <a:solidFill>
                  <a:schemeClr val="tx1"/>
                </a:solidFill>
              </a:rPr>
              <a:t>のテスト技法</a:t>
            </a:r>
          </a:p>
        </p:txBody>
      </p:sp>
      <p:sp>
        <p:nvSpPr>
          <p:cNvPr id="8" name="テキスト ボックス 7">
            <a:extLst>
              <a:ext uri="{FF2B5EF4-FFF2-40B4-BE49-F238E27FC236}">
                <a16:creationId xmlns:a16="http://schemas.microsoft.com/office/drawing/2014/main" id="{CC2432C6-8883-9EE9-47E2-C54B0F27F175}"/>
              </a:ext>
            </a:extLst>
          </p:cNvPr>
          <p:cNvSpPr txBox="1"/>
          <p:nvPr/>
        </p:nvSpPr>
        <p:spPr>
          <a:xfrm>
            <a:off x="365175" y="3719185"/>
            <a:ext cx="11607085" cy="1477328"/>
          </a:xfrm>
          <a:prstGeom prst="rect">
            <a:avLst/>
          </a:prstGeom>
          <a:noFill/>
        </p:spPr>
        <p:txBody>
          <a:bodyPr wrap="square">
            <a:spAutoFit/>
          </a:bodyPr>
          <a:lstStyle/>
          <a:p>
            <a:r>
              <a:rPr lang="ja-JP" altLang="en-US" dirty="0"/>
              <a:t>■種類</a:t>
            </a:r>
            <a:endParaRPr lang="en-US" altLang="ja-JP" dirty="0"/>
          </a:p>
          <a:p>
            <a:r>
              <a:rPr lang="ja-JP" altLang="en-US" dirty="0"/>
              <a:t>　・ステートメントテスト</a:t>
            </a:r>
            <a:endParaRPr lang="en-US" altLang="ja-JP" dirty="0"/>
          </a:p>
          <a:p>
            <a:r>
              <a:rPr lang="ja-JP" altLang="en-US" dirty="0"/>
              <a:t>　　　</a:t>
            </a:r>
            <a:r>
              <a:rPr lang="ja-JP" altLang="en-US" b="0" i="0" dirty="0">
                <a:effectLst/>
                <a:latin typeface="__Inter_a184c8"/>
              </a:rPr>
              <a:t>全てのコードのステートメント（命令文）が少なくとも一回実行されるようにテスト項目を作成する技法</a:t>
            </a:r>
            <a:endParaRPr lang="en-US" altLang="ja-JP" dirty="0"/>
          </a:p>
          <a:p>
            <a:r>
              <a:rPr lang="ja-JP" altLang="en-US" dirty="0"/>
              <a:t>　・ブランチテスト</a:t>
            </a:r>
            <a:endParaRPr lang="en-US" altLang="ja-JP" dirty="0"/>
          </a:p>
          <a:p>
            <a:r>
              <a:rPr lang="ja-JP" altLang="en-US" dirty="0"/>
              <a:t>　　　全てのブランチ</a:t>
            </a:r>
            <a:r>
              <a:rPr lang="ja-JP" altLang="en-US" b="0" i="0" dirty="0">
                <a:effectLst/>
                <a:latin typeface="__Inter_a184c8"/>
              </a:rPr>
              <a:t>が少なくとも一回実行されるようにテスト項目を作成する技法</a:t>
            </a:r>
            <a:endParaRPr lang="en-US" altLang="ja-JP" dirty="0"/>
          </a:p>
        </p:txBody>
      </p:sp>
      <p:sp>
        <p:nvSpPr>
          <p:cNvPr id="11" name="テキスト ボックス 10">
            <a:extLst>
              <a:ext uri="{FF2B5EF4-FFF2-40B4-BE49-F238E27FC236}">
                <a16:creationId xmlns:a16="http://schemas.microsoft.com/office/drawing/2014/main" id="{23A55177-3BC5-C1F8-F6E3-B2BE3312885D}"/>
              </a:ext>
            </a:extLst>
          </p:cNvPr>
          <p:cNvSpPr txBox="1"/>
          <p:nvPr/>
        </p:nvSpPr>
        <p:spPr>
          <a:xfrm>
            <a:off x="370800" y="5480138"/>
            <a:ext cx="11607085" cy="677108"/>
          </a:xfrm>
          <a:prstGeom prst="rect">
            <a:avLst/>
          </a:prstGeom>
          <a:noFill/>
        </p:spPr>
        <p:txBody>
          <a:bodyPr wrap="square">
            <a:spAutoFit/>
          </a:bodyPr>
          <a:lstStyle/>
          <a:p>
            <a:r>
              <a:rPr lang="ja-JP" altLang="en-US" dirty="0"/>
              <a:t>⇒　どちらも、「プログラムコードの構造を、</a:t>
            </a:r>
            <a:r>
              <a:rPr lang="ja-JP" altLang="en-US" u="sng" dirty="0"/>
              <a:t>ある一定の基準</a:t>
            </a:r>
            <a:r>
              <a:rPr lang="ja-JP" altLang="en-US" dirty="0"/>
              <a:t>で網羅している</a:t>
            </a:r>
            <a:r>
              <a:rPr lang="ja-JP" altLang="en-US" b="0" i="0" dirty="0">
                <a:effectLst/>
                <a:latin typeface="__Inter_a184c8"/>
              </a:rPr>
              <a:t>テスト項目を作成する技法」</a:t>
            </a:r>
            <a:endParaRPr lang="en-US" altLang="ja-JP" b="0" i="0" dirty="0">
              <a:effectLst/>
              <a:latin typeface="__Inter_a184c8"/>
            </a:endParaRPr>
          </a:p>
          <a:p>
            <a:r>
              <a:rPr lang="ja-JP" altLang="en-US" sz="2000" dirty="0">
                <a:latin typeface="__Inter_a184c8"/>
              </a:rPr>
              <a:t>　　網羅基準として、</a:t>
            </a:r>
            <a:r>
              <a:rPr lang="ja-JP" altLang="en-US" sz="2000" b="1" dirty="0">
                <a:latin typeface="__Inter_a184c8"/>
              </a:rPr>
              <a:t>「コードカバレッジ」</a:t>
            </a:r>
            <a:r>
              <a:rPr lang="ja-JP" altLang="en-US" sz="2000" dirty="0">
                <a:latin typeface="__Inter_a184c8"/>
              </a:rPr>
              <a:t>が用いられる</a:t>
            </a:r>
            <a:endParaRPr lang="en-US" altLang="ja-JP" sz="2000" dirty="0">
              <a:latin typeface="__Inter_a184c8"/>
            </a:endParaRPr>
          </a:p>
        </p:txBody>
      </p:sp>
    </p:spTree>
    <p:extLst>
      <p:ext uri="{BB962C8B-B14F-4D97-AF65-F5344CB8AC3E}">
        <p14:creationId xmlns:p14="http://schemas.microsoft.com/office/powerpoint/2010/main" val="20199983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18A3A-3662-A960-11EB-9B06D55E33B5}"/>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C0AE245-A8DF-042F-7727-378ADE10BEA2}"/>
              </a:ext>
            </a:extLst>
          </p:cNvPr>
          <p:cNvSpPr>
            <a:spLocks noGrp="1"/>
          </p:cNvSpPr>
          <p:nvPr>
            <p:ph sz="quarter" idx="4294967295"/>
          </p:nvPr>
        </p:nvSpPr>
        <p:spPr>
          <a:xfrm>
            <a:off x="371474" y="1038386"/>
            <a:ext cx="11448000" cy="4808173"/>
          </a:xfrm>
        </p:spPr>
        <p:txBody>
          <a:bodyPr/>
          <a:lstStyle/>
          <a:p>
            <a:r>
              <a:rPr kumimoji="1" lang="ja-JP" altLang="en-US" u="sng" dirty="0"/>
              <a:t>コードカバレッジ</a:t>
            </a:r>
            <a:endParaRPr lang="en-US" altLang="ja-JP" u="sng" dirty="0"/>
          </a:p>
          <a:p>
            <a:r>
              <a:rPr kumimoji="1" lang="ja-JP" altLang="en-US" dirty="0"/>
              <a:t>テスト対象範囲において、実施するテストケースがプログラムコード全体のうち</a:t>
            </a:r>
            <a:r>
              <a:rPr kumimoji="1" lang="ja-JP" altLang="en-US" sz="2000" b="1" dirty="0"/>
              <a:t>どれくらいを網羅しているかを示す指標</a:t>
            </a:r>
            <a:r>
              <a:rPr kumimoji="1" lang="ja-JP" altLang="en-US" dirty="0"/>
              <a:t>。</a:t>
            </a:r>
            <a:endParaRPr kumimoji="1" lang="en-US" altLang="ja-JP" dirty="0"/>
          </a:p>
          <a:p>
            <a:r>
              <a:rPr lang="ja-JP" altLang="en-US" sz="2000" b="1" dirty="0"/>
              <a:t>ホワイトボックステスト技法でのテストの網羅性や品質を判断するための基準</a:t>
            </a:r>
            <a:r>
              <a:rPr lang="ja-JP" altLang="en-US" dirty="0"/>
              <a:t>として活用される。</a:t>
            </a:r>
            <a:endParaRPr lang="en-US" altLang="ja-JP" dirty="0"/>
          </a:p>
          <a:p>
            <a:endParaRPr kumimoji="1" lang="en-US" altLang="ja-JP" dirty="0"/>
          </a:p>
          <a:p>
            <a:r>
              <a:rPr lang="ja-JP" altLang="en-US" dirty="0"/>
              <a:t>■主なカバレッジ基準</a:t>
            </a:r>
            <a:endParaRPr lang="en-US" altLang="ja-JP" dirty="0"/>
          </a:p>
          <a:p>
            <a:r>
              <a:rPr kumimoji="1" lang="en-US" altLang="ja-JP" dirty="0"/>
              <a:t>	</a:t>
            </a:r>
            <a:r>
              <a:rPr kumimoji="1" lang="ja-JP" altLang="en-US" dirty="0"/>
              <a:t>・命令網羅（</a:t>
            </a:r>
            <a:r>
              <a:rPr kumimoji="1" lang="en-US" altLang="ja-JP" dirty="0"/>
              <a:t>C0</a:t>
            </a:r>
            <a:r>
              <a:rPr kumimoji="1" lang="ja-JP" altLang="en-US" dirty="0"/>
              <a:t>）</a:t>
            </a:r>
            <a:r>
              <a:rPr lang="en-US" altLang="ja-JP" dirty="0"/>
              <a:t>	</a:t>
            </a:r>
          </a:p>
          <a:p>
            <a:r>
              <a:rPr kumimoji="1" lang="en-US" altLang="ja-JP" dirty="0"/>
              <a:t>		</a:t>
            </a:r>
            <a:r>
              <a:rPr kumimoji="1" lang="ja-JP" altLang="en-US" sz="2000" b="1" dirty="0"/>
              <a:t>全ての命令文</a:t>
            </a:r>
            <a:r>
              <a:rPr kumimoji="1" lang="ja-JP" altLang="en-US" dirty="0"/>
              <a:t>を最低一度は通る</a:t>
            </a:r>
            <a:endParaRPr kumimoji="1" lang="en-US" altLang="ja-JP" dirty="0"/>
          </a:p>
          <a:p>
            <a:r>
              <a:rPr lang="en-US" altLang="ja-JP" dirty="0"/>
              <a:t>	</a:t>
            </a:r>
            <a:r>
              <a:rPr lang="ja-JP" altLang="en-US" dirty="0"/>
              <a:t>・分岐網羅（</a:t>
            </a:r>
            <a:r>
              <a:rPr lang="en-US" altLang="ja-JP" dirty="0"/>
              <a:t>C1</a:t>
            </a:r>
            <a:r>
              <a:rPr lang="ja-JP" altLang="en-US" dirty="0"/>
              <a:t>）</a:t>
            </a:r>
            <a:endParaRPr lang="en-US" altLang="ja-JP" dirty="0"/>
          </a:p>
          <a:p>
            <a:r>
              <a:rPr lang="en-US" altLang="ja-JP" dirty="0"/>
              <a:t>		</a:t>
            </a:r>
            <a:r>
              <a:rPr lang="ja-JP" altLang="en-US" sz="2000" b="1" dirty="0"/>
              <a:t>全ての分岐先</a:t>
            </a:r>
            <a:r>
              <a:rPr lang="ja-JP" altLang="en-US" dirty="0"/>
              <a:t>を最低一度は通る</a:t>
            </a:r>
            <a:endParaRPr lang="en-US" altLang="ja-JP" dirty="0"/>
          </a:p>
          <a:p>
            <a:r>
              <a:rPr kumimoji="1" lang="en-US" altLang="ja-JP" dirty="0"/>
              <a:t>	</a:t>
            </a:r>
            <a:r>
              <a:rPr kumimoji="1" lang="ja-JP" altLang="en-US" dirty="0"/>
              <a:t>・条件網羅</a:t>
            </a:r>
            <a:r>
              <a:rPr lang="ja-JP" altLang="en-US" dirty="0"/>
              <a:t>（</a:t>
            </a:r>
            <a:r>
              <a:rPr lang="en-US" altLang="ja-JP" dirty="0"/>
              <a:t>C2</a:t>
            </a:r>
            <a:r>
              <a:rPr lang="ja-JP" altLang="en-US" dirty="0"/>
              <a:t>）</a:t>
            </a:r>
            <a:endParaRPr lang="en-US" altLang="ja-JP" dirty="0"/>
          </a:p>
          <a:p>
            <a:r>
              <a:rPr kumimoji="1" lang="en-US" altLang="ja-JP" dirty="0"/>
              <a:t>		</a:t>
            </a:r>
            <a:r>
              <a:rPr kumimoji="1" lang="ja-JP" altLang="en-US" sz="2000" b="1" dirty="0"/>
              <a:t>全ての条件の真偽</a:t>
            </a:r>
            <a:r>
              <a:rPr kumimoji="1" lang="ja-JP" altLang="en-US" sz="2000" dirty="0"/>
              <a:t>を最低一度は通る</a:t>
            </a:r>
            <a:endParaRPr kumimoji="1" lang="en-US" altLang="ja-JP" sz="2000" dirty="0"/>
          </a:p>
        </p:txBody>
      </p:sp>
      <p:sp>
        <p:nvSpPr>
          <p:cNvPr id="4" name="正方形/長方形 3">
            <a:extLst>
              <a:ext uri="{FF2B5EF4-FFF2-40B4-BE49-F238E27FC236}">
                <a16:creationId xmlns:a16="http://schemas.microsoft.com/office/drawing/2014/main" id="{CE504B43-A100-C049-D243-6D02BEE79FFC}"/>
              </a:ext>
            </a:extLst>
          </p:cNvPr>
          <p:cNvSpPr/>
          <p:nvPr/>
        </p:nvSpPr>
        <p:spPr>
          <a:xfrm>
            <a:off x="5448300" y="2322662"/>
            <a:ext cx="6677927" cy="401653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u="sng" dirty="0">
              <a:solidFill>
                <a:schemeClr val="tx1"/>
              </a:solidFill>
            </a:endParaRPr>
          </a:p>
        </p:txBody>
      </p:sp>
      <p:sp>
        <p:nvSpPr>
          <p:cNvPr id="2" name="タイトル 1">
            <a:extLst>
              <a:ext uri="{FF2B5EF4-FFF2-40B4-BE49-F238E27FC236}">
                <a16:creationId xmlns:a16="http://schemas.microsoft.com/office/drawing/2014/main" id="{3C9FEB1B-F012-D8AD-8272-7B380D67355C}"/>
              </a:ext>
            </a:extLst>
          </p:cNvPr>
          <p:cNvSpPr>
            <a:spLocks noGrp="1"/>
          </p:cNvSpPr>
          <p:nvPr>
            <p:ph type="title"/>
          </p:nvPr>
        </p:nvSpPr>
        <p:spPr/>
        <p:txBody>
          <a:bodyPr anchor="ctr"/>
          <a:lstStyle/>
          <a:p>
            <a:r>
              <a:rPr lang="ja-JP" altLang="en-US" dirty="0"/>
              <a:t>ホワイトボックステストの評価基準</a:t>
            </a:r>
            <a:endParaRPr kumimoji="1" lang="ja-JP" altLang="en-US" dirty="0"/>
          </a:p>
        </p:txBody>
      </p:sp>
      <p:sp>
        <p:nvSpPr>
          <p:cNvPr id="7" name="フローチャート: 判断 6">
            <a:extLst>
              <a:ext uri="{FF2B5EF4-FFF2-40B4-BE49-F238E27FC236}">
                <a16:creationId xmlns:a16="http://schemas.microsoft.com/office/drawing/2014/main" id="{C625C721-4A24-A489-39E4-D567F6C3D3C6}"/>
              </a:ext>
            </a:extLst>
          </p:cNvPr>
          <p:cNvSpPr/>
          <p:nvPr/>
        </p:nvSpPr>
        <p:spPr>
          <a:xfrm>
            <a:off x="5852030" y="2841104"/>
            <a:ext cx="1892535" cy="642387"/>
          </a:xfrm>
          <a:prstGeom prst="flowChartDecision">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u="sng" dirty="0">
                <a:solidFill>
                  <a:schemeClr val="tx1"/>
                </a:solidFill>
              </a:rPr>
              <a:t>分岐</a:t>
            </a:r>
            <a:r>
              <a:rPr kumimoji="1" lang="en-US" altLang="ja-JP" sz="1400" u="sng" dirty="0">
                <a:solidFill>
                  <a:schemeClr val="tx1"/>
                </a:solidFill>
              </a:rPr>
              <a:t>A</a:t>
            </a:r>
          </a:p>
          <a:p>
            <a:pPr algn="ctr"/>
            <a:r>
              <a:rPr kumimoji="1" lang="ja-JP" altLang="en-US" sz="1200" dirty="0">
                <a:solidFill>
                  <a:schemeClr val="tx1"/>
                </a:solidFill>
              </a:rPr>
              <a:t>条件</a:t>
            </a:r>
            <a:r>
              <a:rPr kumimoji="1" lang="en-US" altLang="ja-JP" sz="1200" dirty="0">
                <a:solidFill>
                  <a:schemeClr val="tx1"/>
                </a:solidFill>
              </a:rPr>
              <a:t>a</a:t>
            </a:r>
            <a:endParaRPr kumimoji="1" lang="ja-JP" altLang="en-US" sz="1200" dirty="0">
              <a:solidFill>
                <a:schemeClr val="tx1"/>
              </a:solidFill>
            </a:endParaRPr>
          </a:p>
        </p:txBody>
      </p:sp>
      <p:sp>
        <p:nvSpPr>
          <p:cNvPr id="8" name="正方形/長方形 7">
            <a:extLst>
              <a:ext uri="{FF2B5EF4-FFF2-40B4-BE49-F238E27FC236}">
                <a16:creationId xmlns:a16="http://schemas.microsoft.com/office/drawing/2014/main" id="{DD0ED1C3-E028-7345-407C-0050F4FA6C40}"/>
              </a:ext>
            </a:extLst>
          </p:cNvPr>
          <p:cNvSpPr/>
          <p:nvPr/>
        </p:nvSpPr>
        <p:spPr>
          <a:xfrm>
            <a:off x="6149820" y="5453673"/>
            <a:ext cx="1296955" cy="350222"/>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命令２</a:t>
            </a:r>
          </a:p>
        </p:txBody>
      </p:sp>
      <p:sp>
        <p:nvSpPr>
          <p:cNvPr id="9" name="正方形/長方形 8">
            <a:extLst>
              <a:ext uri="{FF2B5EF4-FFF2-40B4-BE49-F238E27FC236}">
                <a16:creationId xmlns:a16="http://schemas.microsoft.com/office/drawing/2014/main" id="{B8F944DE-0D1C-AF9C-6639-739A7369B8ED}"/>
              </a:ext>
            </a:extLst>
          </p:cNvPr>
          <p:cNvSpPr/>
          <p:nvPr/>
        </p:nvSpPr>
        <p:spPr>
          <a:xfrm>
            <a:off x="6149820" y="3733050"/>
            <a:ext cx="1296955" cy="350222"/>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命令１</a:t>
            </a:r>
          </a:p>
        </p:txBody>
      </p:sp>
      <p:cxnSp>
        <p:nvCxnSpPr>
          <p:cNvPr id="11" name="直線矢印コネクタ 10">
            <a:extLst>
              <a:ext uri="{FF2B5EF4-FFF2-40B4-BE49-F238E27FC236}">
                <a16:creationId xmlns:a16="http://schemas.microsoft.com/office/drawing/2014/main" id="{049A8ADD-0017-6DF5-1502-AC8B8B50CAB8}"/>
              </a:ext>
            </a:extLst>
          </p:cNvPr>
          <p:cNvCxnSpPr>
            <a:cxnSpLocks/>
            <a:endCxn id="9" idx="0"/>
          </p:cNvCxnSpPr>
          <p:nvPr/>
        </p:nvCxnSpPr>
        <p:spPr>
          <a:xfrm flipH="1">
            <a:off x="6798298" y="3499782"/>
            <a:ext cx="1" cy="233268"/>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直線矢印コネクタ 11">
            <a:extLst>
              <a:ext uri="{FF2B5EF4-FFF2-40B4-BE49-F238E27FC236}">
                <a16:creationId xmlns:a16="http://schemas.microsoft.com/office/drawing/2014/main" id="{9F095DB0-1685-BF40-ABFB-0750C0C452FC}"/>
              </a:ext>
            </a:extLst>
          </p:cNvPr>
          <p:cNvCxnSpPr>
            <a:cxnSpLocks/>
            <a:stCxn id="9" idx="2"/>
            <a:endCxn id="25" idx="0"/>
          </p:cNvCxnSpPr>
          <p:nvPr/>
        </p:nvCxnSpPr>
        <p:spPr>
          <a:xfrm>
            <a:off x="6798298" y="4083272"/>
            <a:ext cx="0" cy="387516"/>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コネクタ: カギ線 16">
            <a:extLst>
              <a:ext uri="{FF2B5EF4-FFF2-40B4-BE49-F238E27FC236}">
                <a16:creationId xmlns:a16="http://schemas.microsoft.com/office/drawing/2014/main" id="{69594C2B-488E-7FB5-4251-BC7E4EBD73D3}"/>
              </a:ext>
            </a:extLst>
          </p:cNvPr>
          <p:cNvCxnSpPr>
            <a:cxnSpLocks/>
            <a:stCxn id="7" idx="3"/>
          </p:cNvCxnSpPr>
          <p:nvPr/>
        </p:nvCxnSpPr>
        <p:spPr>
          <a:xfrm flipH="1">
            <a:off x="6798298" y="3162298"/>
            <a:ext cx="946267" cy="1060551"/>
          </a:xfrm>
          <a:prstGeom prst="bentConnector4">
            <a:avLst>
              <a:gd name="adj1" fmla="val -24158"/>
              <a:gd name="adj2" fmla="val 100335"/>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0CC7A254-6812-3542-599D-6F5564F9CD97}"/>
              </a:ext>
            </a:extLst>
          </p:cNvPr>
          <p:cNvCxnSpPr/>
          <p:nvPr/>
        </p:nvCxnSpPr>
        <p:spPr>
          <a:xfrm>
            <a:off x="6794535" y="2517104"/>
            <a:ext cx="0" cy="32400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フローチャート: 判断 24">
            <a:extLst>
              <a:ext uri="{FF2B5EF4-FFF2-40B4-BE49-F238E27FC236}">
                <a16:creationId xmlns:a16="http://schemas.microsoft.com/office/drawing/2014/main" id="{ED8120AA-9AE6-13D3-E8B0-3A3095A3F7B7}"/>
              </a:ext>
            </a:extLst>
          </p:cNvPr>
          <p:cNvSpPr/>
          <p:nvPr/>
        </p:nvSpPr>
        <p:spPr>
          <a:xfrm>
            <a:off x="5852027" y="4470788"/>
            <a:ext cx="1892541" cy="642387"/>
          </a:xfrm>
          <a:prstGeom prst="flowChartDecision">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u="sng" dirty="0">
                <a:solidFill>
                  <a:schemeClr val="tx1"/>
                </a:solidFill>
              </a:rPr>
              <a:t>分岐</a:t>
            </a:r>
            <a:r>
              <a:rPr kumimoji="1" lang="en-US" altLang="ja-JP" sz="1400" u="sng" dirty="0">
                <a:solidFill>
                  <a:schemeClr val="tx1"/>
                </a:solidFill>
              </a:rPr>
              <a:t>B</a:t>
            </a:r>
          </a:p>
          <a:p>
            <a:pPr algn="ctr"/>
            <a:r>
              <a:rPr kumimoji="1" lang="ja-JP" altLang="en-US" sz="1200" dirty="0">
                <a:solidFill>
                  <a:schemeClr val="tx1"/>
                </a:solidFill>
              </a:rPr>
              <a:t>条件</a:t>
            </a:r>
            <a:r>
              <a:rPr lang="en-US" altLang="ja-JP" sz="1200" dirty="0">
                <a:solidFill>
                  <a:schemeClr val="tx1"/>
                </a:solidFill>
              </a:rPr>
              <a:t>b1&amp;b2</a:t>
            </a:r>
            <a:endParaRPr kumimoji="1" lang="ja-JP" altLang="en-US" sz="1200" dirty="0">
              <a:solidFill>
                <a:schemeClr val="tx1"/>
              </a:solidFill>
            </a:endParaRPr>
          </a:p>
        </p:txBody>
      </p:sp>
      <p:cxnSp>
        <p:nvCxnSpPr>
          <p:cNvPr id="30" name="直線矢印コネクタ 29">
            <a:extLst>
              <a:ext uri="{FF2B5EF4-FFF2-40B4-BE49-F238E27FC236}">
                <a16:creationId xmlns:a16="http://schemas.microsoft.com/office/drawing/2014/main" id="{0C25FCDF-55F7-5C14-7F39-5F55FE3EC4D1}"/>
              </a:ext>
            </a:extLst>
          </p:cNvPr>
          <p:cNvCxnSpPr>
            <a:cxnSpLocks/>
            <a:stCxn id="25" idx="2"/>
            <a:endCxn id="8" idx="0"/>
          </p:cNvCxnSpPr>
          <p:nvPr/>
        </p:nvCxnSpPr>
        <p:spPr>
          <a:xfrm>
            <a:off x="6798298" y="5113175"/>
            <a:ext cx="0" cy="340498"/>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3" name="正方形/長方形 32">
            <a:extLst>
              <a:ext uri="{FF2B5EF4-FFF2-40B4-BE49-F238E27FC236}">
                <a16:creationId xmlns:a16="http://schemas.microsoft.com/office/drawing/2014/main" id="{1A7FF0FC-947D-DDB1-A013-60C7292F2AC2}"/>
              </a:ext>
            </a:extLst>
          </p:cNvPr>
          <p:cNvSpPr/>
          <p:nvPr/>
        </p:nvSpPr>
        <p:spPr>
          <a:xfrm>
            <a:off x="7592438" y="5453673"/>
            <a:ext cx="1296955" cy="350222"/>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命令３</a:t>
            </a:r>
          </a:p>
        </p:txBody>
      </p:sp>
      <p:cxnSp>
        <p:nvCxnSpPr>
          <p:cNvPr id="34" name="コネクタ: カギ線 33">
            <a:extLst>
              <a:ext uri="{FF2B5EF4-FFF2-40B4-BE49-F238E27FC236}">
                <a16:creationId xmlns:a16="http://schemas.microsoft.com/office/drawing/2014/main" id="{2A61CF00-095E-7408-9649-5C360ADBFAFD}"/>
              </a:ext>
            </a:extLst>
          </p:cNvPr>
          <p:cNvCxnSpPr>
            <a:cxnSpLocks/>
            <a:stCxn id="25" idx="3"/>
            <a:endCxn id="33" idx="0"/>
          </p:cNvCxnSpPr>
          <p:nvPr/>
        </p:nvCxnSpPr>
        <p:spPr>
          <a:xfrm>
            <a:off x="7744568" y="4791982"/>
            <a:ext cx="496348" cy="661691"/>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直線矢印コネクタ 36">
            <a:extLst>
              <a:ext uri="{FF2B5EF4-FFF2-40B4-BE49-F238E27FC236}">
                <a16:creationId xmlns:a16="http://schemas.microsoft.com/office/drawing/2014/main" id="{4E33CCFC-52DA-400A-EAA5-023C6A8967E5}"/>
              </a:ext>
            </a:extLst>
          </p:cNvPr>
          <p:cNvCxnSpPr>
            <a:cxnSpLocks/>
            <a:stCxn id="8" idx="2"/>
          </p:cNvCxnSpPr>
          <p:nvPr/>
        </p:nvCxnSpPr>
        <p:spPr>
          <a:xfrm>
            <a:off x="6798298" y="5803895"/>
            <a:ext cx="0" cy="43200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0" name="コネクタ: カギ線 39">
            <a:extLst>
              <a:ext uri="{FF2B5EF4-FFF2-40B4-BE49-F238E27FC236}">
                <a16:creationId xmlns:a16="http://schemas.microsoft.com/office/drawing/2014/main" id="{E9033691-19C1-7331-859D-624B96760561}"/>
              </a:ext>
            </a:extLst>
          </p:cNvPr>
          <p:cNvCxnSpPr>
            <a:cxnSpLocks/>
            <a:stCxn id="33" idx="2"/>
          </p:cNvCxnSpPr>
          <p:nvPr/>
        </p:nvCxnSpPr>
        <p:spPr>
          <a:xfrm rot="5400000">
            <a:off x="7406867" y="5195328"/>
            <a:ext cx="225482" cy="1442617"/>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CECDC968-1701-AE8E-BF22-948210111784}"/>
              </a:ext>
            </a:extLst>
          </p:cNvPr>
          <p:cNvSpPr txBox="1"/>
          <p:nvPr/>
        </p:nvSpPr>
        <p:spPr>
          <a:xfrm>
            <a:off x="6524582" y="3454416"/>
            <a:ext cx="416269" cy="288000"/>
          </a:xfrm>
          <a:prstGeom prst="rect">
            <a:avLst/>
          </a:prstGeom>
          <a:noFill/>
        </p:spPr>
        <p:txBody>
          <a:bodyPr wrap="square" lIns="0" rIns="0" rtlCol="0">
            <a:noAutofit/>
          </a:bodyPr>
          <a:lstStyle/>
          <a:p>
            <a:pPr algn="l" defTabSz="288000"/>
            <a:r>
              <a:rPr kumimoji="1" lang="en-US" altLang="ja-JP" sz="1050" dirty="0">
                <a:latin typeface="+mn-ea"/>
              </a:rPr>
              <a:t>Yes</a:t>
            </a:r>
            <a:endParaRPr kumimoji="1" lang="ja-JP" altLang="en-US" sz="1050" dirty="0">
              <a:latin typeface="+mn-ea"/>
            </a:endParaRPr>
          </a:p>
        </p:txBody>
      </p:sp>
      <p:sp>
        <p:nvSpPr>
          <p:cNvPr id="43" name="テキスト ボックス 42">
            <a:extLst>
              <a:ext uri="{FF2B5EF4-FFF2-40B4-BE49-F238E27FC236}">
                <a16:creationId xmlns:a16="http://schemas.microsoft.com/office/drawing/2014/main" id="{681C3C50-88D2-74BC-EC5A-BFC64FAC2BA4}"/>
              </a:ext>
            </a:extLst>
          </p:cNvPr>
          <p:cNvSpPr txBox="1"/>
          <p:nvPr/>
        </p:nvSpPr>
        <p:spPr>
          <a:xfrm>
            <a:off x="6545324" y="5091025"/>
            <a:ext cx="416269" cy="288000"/>
          </a:xfrm>
          <a:prstGeom prst="rect">
            <a:avLst/>
          </a:prstGeom>
          <a:noFill/>
        </p:spPr>
        <p:txBody>
          <a:bodyPr wrap="square" lIns="0" rIns="0" rtlCol="0">
            <a:noAutofit/>
          </a:bodyPr>
          <a:lstStyle/>
          <a:p>
            <a:pPr algn="l" defTabSz="288000"/>
            <a:r>
              <a:rPr kumimoji="1" lang="en-US" altLang="ja-JP" sz="1050" dirty="0">
                <a:latin typeface="+mn-ea"/>
              </a:rPr>
              <a:t>Yes</a:t>
            </a:r>
            <a:endParaRPr kumimoji="1" lang="ja-JP" altLang="en-US" sz="1050" dirty="0">
              <a:latin typeface="+mn-ea"/>
            </a:endParaRPr>
          </a:p>
        </p:txBody>
      </p:sp>
      <p:sp>
        <p:nvSpPr>
          <p:cNvPr id="44" name="テキスト ボックス 43">
            <a:extLst>
              <a:ext uri="{FF2B5EF4-FFF2-40B4-BE49-F238E27FC236}">
                <a16:creationId xmlns:a16="http://schemas.microsoft.com/office/drawing/2014/main" id="{FF6C2253-0DD6-2195-CE9D-FCB98086FF26}"/>
              </a:ext>
            </a:extLst>
          </p:cNvPr>
          <p:cNvSpPr txBox="1"/>
          <p:nvPr/>
        </p:nvSpPr>
        <p:spPr>
          <a:xfrm>
            <a:off x="7790965" y="4597196"/>
            <a:ext cx="416269" cy="288000"/>
          </a:xfrm>
          <a:prstGeom prst="rect">
            <a:avLst/>
          </a:prstGeom>
          <a:noFill/>
        </p:spPr>
        <p:txBody>
          <a:bodyPr wrap="square" lIns="0" rIns="0" rtlCol="0">
            <a:noAutofit/>
          </a:bodyPr>
          <a:lstStyle/>
          <a:p>
            <a:pPr algn="l" defTabSz="288000"/>
            <a:r>
              <a:rPr lang="en-US" altLang="ja-JP" sz="1050" dirty="0">
                <a:latin typeface="+mn-ea"/>
              </a:rPr>
              <a:t>No</a:t>
            </a:r>
            <a:endParaRPr kumimoji="1" lang="ja-JP" altLang="en-US" sz="1050" dirty="0">
              <a:latin typeface="+mn-ea"/>
            </a:endParaRPr>
          </a:p>
        </p:txBody>
      </p:sp>
      <p:sp>
        <p:nvSpPr>
          <p:cNvPr id="45" name="テキスト ボックス 44">
            <a:extLst>
              <a:ext uri="{FF2B5EF4-FFF2-40B4-BE49-F238E27FC236}">
                <a16:creationId xmlns:a16="http://schemas.microsoft.com/office/drawing/2014/main" id="{2810A65A-A231-66BC-5C0C-61B525E46BD6}"/>
              </a:ext>
            </a:extLst>
          </p:cNvPr>
          <p:cNvSpPr txBox="1"/>
          <p:nvPr/>
        </p:nvSpPr>
        <p:spPr>
          <a:xfrm>
            <a:off x="7790964" y="2945232"/>
            <a:ext cx="416269" cy="288000"/>
          </a:xfrm>
          <a:prstGeom prst="rect">
            <a:avLst/>
          </a:prstGeom>
          <a:noFill/>
        </p:spPr>
        <p:txBody>
          <a:bodyPr wrap="square" lIns="0" rIns="0" rtlCol="0">
            <a:noAutofit/>
          </a:bodyPr>
          <a:lstStyle/>
          <a:p>
            <a:pPr algn="l" defTabSz="288000"/>
            <a:r>
              <a:rPr lang="en-US" altLang="ja-JP" sz="1050" dirty="0">
                <a:latin typeface="+mn-ea"/>
              </a:rPr>
              <a:t>No</a:t>
            </a:r>
            <a:endParaRPr kumimoji="1" lang="ja-JP" altLang="en-US" sz="1050" dirty="0">
              <a:latin typeface="+mn-ea"/>
            </a:endParaRPr>
          </a:p>
        </p:txBody>
      </p:sp>
      <p:sp>
        <p:nvSpPr>
          <p:cNvPr id="74" name="吹き出し: 角を丸めた四角形 73">
            <a:extLst>
              <a:ext uri="{FF2B5EF4-FFF2-40B4-BE49-F238E27FC236}">
                <a16:creationId xmlns:a16="http://schemas.microsoft.com/office/drawing/2014/main" id="{89DED33B-9A27-DE26-ABF5-8D43387C06C9}"/>
              </a:ext>
            </a:extLst>
          </p:cNvPr>
          <p:cNvSpPr/>
          <p:nvPr/>
        </p:nvSpPr>
        <p:spPr>
          <a:xfrm>
            <a:off x="8494510" y="2679104"/>
            <a:ext cx="2854423" cy="642387"/>
          </a:xfrm>
          <a:prstGeom prst="wedgeRoundRectCallout">
            <a:avLst>
              <a:gd name="adj1" fmla="val -61039"/>
              <a:gd name="adj2" fmla="val 38360"/>
              <a:gd name="adj3" fmla="val 16667"/>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u="sng" dirty="0">
                <a:solidFill>
                  <a:schemeClr val="tx1"/>
                </a:solidFill>
              </a:rPr>
              <a:t>命令網羅</a:t>
            </a:r>
            <a:endParaRPr lang="en-US" altLang="ja-JP" sz="1400" u="sng" dirty="0">
              <a:solidFill>
                <a:schemeClr val="tx1"/>
              </a:solidFill>
            </a:endParaRPr>
          </a:p>
          <a:p>
            <a:pPr algn="ctr"/>
            <a:r>
              <a:rPr kumimoji="1" lang="ja-JP" altLang="en-US" sz="1400" dirty="0">
                <a:solidFill>
                  <a:schemeClr val="tx1"/>
                </a:solidFill>
              </a:rPr>
              <a:t>全ての命令（命令</a:t>
            </a:r>
            <a:r>
              <a:rPr lang="en-US" altLang="ja-JP" sz="1400" dirty="0">
                <a:solidFill>
                  <a:schemeClr val="tx1"/>
                </a:solidFill>
              </a:rPr>
              <a:t>1,2,3</a:t>
            </a:r>
            <a:r>
              <a:rPr kumimoji="1" lang="ja-JP" altLang="en-US" sz="1400" dirty="0">
                <a:solidFill>
                  <a:schemeClr val="tx1"/>
                </a:solidFill>
              </a:rPr>
              <a:t>）</a:t>
            </a:r>
            <a:r>
              <a:rPr lang="ja-JP" altLang="en-US" sz="1400" dirty="0">
                <a:solidFill>
                  <a:schemeClr val="tx1"/>
                </a:solidFill>
              </a:rPr>
              <a:t>を通る</a:t>
            </a:r>
            <a:endParaRPr kumimoji="1" lang="en-US" altLang="ja-JP" sz="1400" dirty="0">
              <a:solidFill>
                <a:schemeClr val="tx1"/>
              </a:solidFill>
            </a:endParaRPr>
          </a:p>
        </p:txBody>
      </p:sp>
      <p:sp>
        <p:nvSpPr>
          <p:cNvPr id="75" name="吹き出し: 角を丸めた四角形 74">
            <a:extLst>
              <a:ext uri="{FF2B5EF4-FFF2-40B4-BE49-F238E27FC236}">
                <a16:creationId xmlns:a16="http://schemas.microsoft.com/office/drawing/2014/main" id="{AA4345B1-812A-9479-BBB4-E076247B121E}"/>
              </a:ext>
            </a:extLst>
          </p:cNvPr>
          <p:cNvSpPr/>
          <p:nvPr/>
        </p:nvSpPr>
        <p:spPr>
          <a:xfrm>
            <a:off x="8809835" y="3462236"/>
            <a:ext cx="2284422" cy="1134960"/>
          </a:xfrm>
          <a:prstGeom prst="wedgeRoundRectCallout">
            <a:avLst>
              <a:gd name="adj1" fmla="val -62674"/>
              <a:gd name="adj2" fmla="val 23835"/>
              <a:gd name="adj3" fmla="val 16667"/>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ja-JP" altLang="en-US" sz="1400" u="sng" dirty="0">
                <a:solidFill>
                  <a:schemeClr val="tx1"/>
                </a:solidFill>
              </a:rPr>
              <a:t>分岐網羅</a:t>
            </a:r>
            <a:endParaRPr lang="en-US" altLang="ja-JP" sz="1400" u="sng" dirty="0">
              <a:solidFill>
                <a:schemeClr val="tx1"/>
              </a:solidFill>
            </a:endParaRPr>
          </a:p>
          <a:p>
            <a:pPr algn="ctr"/>
            <a:r>
              <a:rPr kumimoji="1" lang="ja-JP" altLang="en-US" sz="1400" dirty="0">
                <a:solidFill>
                  <a:schemeClr val="tx1"/>
                </a:solidFill>
              </a:rPr>
              <a:t>全ての分岐</a:t>
            </a:r>
            <a:r>
              <a:rPr lang="ja-JP" altLang="en-US" sz="1400" dirty="0">
                <a:solidFill>
                  <a:schemeClr val="tx1"/>
                </a:solidFill>
              </a:rPr>
              <a:t>を通る</a:t>
            </a:r>
            <a:endParaRPr kumimoji="1" lang="en-US" altLang="ja-JP" sz="1400" dirty="0">
              <a:solidFill>
                <a:schemeClr val="tx1"/>
              </a:solidFill>
            </a:endParaRPr>
          </a:p>
        </p:txBody>
      </p:sp>
      <p:sp>
        <p:nvSpPr>
          <p:cNvPr id="76" name="吹き出し: 角を丸めた四角形 75">
            <a:extLst>
              <a:ext uri="{FF2B5EF4-FFF2-40B4-BE49-F238E27FC236}">
                <a16:creationId xmlns:a16="http://schemas.microsoft.com/office/drawing/2014/main" id="{B9D7C2B6-7223-712C-D9F4-3CF7045626E3}"/>
              </a:ext>
            </a:extLst>
          </p:cNvPr>
          <p:cNvSpPr/>
          <p:nvPr/>
        </p:nvSpPr>
        <p:spPr>
          <a:xfrm>
            <a:off x="9066924" y="4744353"/>
            <a:ext cx="2854423" cy="1350924"/>
          </a:xfrm>
          <a:prstGeom prst="wedgeRoundRectCallout">
            <a:avLst>
              <a:gd name="adj1" fmla="val -58098"/>
              <a:gd name="adj2" fmla="val -18625"/>
              <a:gd name="adj3" fmla="val 16667"/>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ja-JP" altLang="en-US" sz="1400" u="sng" dirty="0">
                <a:solidFill>
                  <a:schemeClr val="tx1"/>
                </a:solidFill>
              </a:rPr>
              <a:t>条件網羅</a:t>
            </a:r>
            <a:endParaRPr lang="en-US" altLang="ja-JP" sz="1400" u="sng" dirty="0">
              <a:solidFill>
                <a:schemeClr val="tx1"/>
              </a:solidFill>
            </a:endParaRPr>
          </a:p>
          <a:p>
            <a:pPr algn="ctr"/>
            <a:r>
              <a:rPr kumimoji="1" lang="ja-JP" altLang="en-US" sz="1400" dirty="0">
                <a:solidFill>
                  <a:schemeClr val="tx1"/>
                </a:solidFill>
              </a:rPr>
              <a:t>各条件の真偽を</a:t>
            </a:r>
            <a:r>
              <a:rPr lang="ja-JP" altLang="en-US" sz="1400" dirty="0">
                <a:solidFill>
                  <a:schemeClr val="tx1"/>
                </a:solidFill>
              </a:rPr>
              <a:t>全て</a:t>
            </a:r>
            <a:r>
              <a:rPr kumimoji="1" lang="ja-JP" altLang="en-US" sz="1400" dirty="0">
                <a:solidFill>
                  <a:schemeClr val="tx1"/>
                </a:solidFill>
              </a:rPr>
              <a:t>実行する</a:t>
            </a:r>
            <a:endParaRPr kumimoji="1" lang="en-US" altLang="ja-JP" sz="1400" dirty="0">
              <a:solidFill>
                <a:schemeClr val="tx1"/>
              </a:solidFill>
            </a:endParaRPr>
          </a:p>
        </p:txBody>
      </p:sp>
      <p:sp>
        <p:nvSpPr>
          <p:cNvPr id="77" name="テキスト ボックス 76">
            <a:extLst>
              <a:ext uri="{FF2B5EF4-FFF2-40B4-BE49-F238E27FC236}">
                <a16:creationId xmlns:a16="http://schemas.microsoft.com/office/drawing/2014/main" id="{3D14FDD6-D92B-A710-33D4-F83137A8DBDC}"/>
              </a:ext>
            </a:extLst>
          </p:cNvPr>
          <p:cNvSpPr txBox="1"/>
          <p:nvPr/>
        </p:nvSpPr>
        <p:spPr>
          <a:xfrm>
            <a:off x="9592310" y="5273671"/>
            <a:ext cx="1803649" cy="793469"/>
          </a:xfrm>
          <a:prstGeom prst="rect">
            <a:avLst/>
          </a:prstGeom>
          <a:noFill/>
        </p:spPr>
        <p:txBody>
          <a:bodyPr wrap="square" lIns="0" rIns="0" rtlCol="0">
            <a:noAutofit/>
          </a:bodyPr>
          <a:lstStyle/>
          <a:p>
            <a:r>
              <a:rPr kumimoji="1" lang="ja-JP" altLang="en-US" sz="1400" dirty="0">
                <a:solidFill>
                  <a:schemeClr val="tx1"/>
                </a:solidFill>
              </a:rPr>
              <a:t>・条件</a:t>
            </a:r>
            <a:r>
              <a:rPr kumimoji="1" lang="en-US" altLang="ja-JP" sz="1400" dirty="0">
                <a:solidFill>
                  <a:schemeClr val="tx1"/>
                </a:solidFill>
              </a:rPr>
              <a:t>a</a:t>
            </a:r>
            <a:r>
              <a:rPr kumimoji="1" lang="ja-JP" altLang="en-US" sz="1400" dirty="0">
                <a:solidFill>
                  <a:schemeClr val="tx1"/>
                </a:solidFill>
              </a:rPr>
              <a:t>の真</a:t>
            </a:r>
            <a:r>
              <a:rPr kumimoji="1" lang="en-US" altLang="ja-JP" sz="1400" dirty="0">
                <a:solidFill>
                  <a:schemeClr val="tx1"/>
                </a:solidFill>
              </a:rPr>
              <a:t>/</a:t>
            </a:r>
            <a:r>
              <a:rPr kumimoji="1" lang="ja-JP" altLang="en-US" sz="1400" dirty="0">
                <a:solidFill>
                  <a:schemeClr val="tx1"/>
                </a:solidFill>
              </a:rPr>
              <a:t>偽</a:t>
            </a:r>
            <a:endParaRPr kumimoji="1" lang="en-US" altLang="ja-JP" sz="1400" dirty="0">
              <a:solidFill>
                <a:schemeClr val="tx1"/>
              </a:solidFill>
            </a:endParaRPr>
          </a:p>
          <a:p>
            <a:r>
              <a:rPr lang="ja-JP" altLang="en-US" sz="1400" dirty="0">
                <a:solidFill>
                  <a:schemeClr val="tx1"/>
                </a:solidFill>
              </a:rPr>
              <a:t>・条件</a:t>
            </a:r>
            <a:r>
              <a:rPr lang="en-US" altLang="ja-JP" sz="1400" dirty="0">
                <a:solidFill>
                  <a:schemeClr val="tx1"/>
                </a:solidFill>
              </a:rPr>
              <a:t>b1</a:t>
            </a:r>
            <a:r>
              <a:rPr lang="ja-JP" altLang="en-US" sz="1400" dirty="0">
                <a:solidFill>
                  <a:schemeClr val="tx1"/>
                </a:solidFill>
              </a:rPr>
              <a:t>の真</a:t>
            </a:r>
            <a:r>
              <a:rPr lang="en-US" altLang="ja-JP" sz="1400" dirty="0">
                <a:solidFill>
                  <a:schemeClr val="tx1"/>
                </a:solidFill>
              </a:rPr>
              <a:t>/</a:t>
            </a:r>
            <a:r>
              <a:rPr lang="ja-JP" altLang="en-US" sz="1400" dirty="0">
                <a:solidFill>
                  <a:schemeClr val="tx1"/>
                </a:solidFill>
              </a:rPr>
              <a:t>偽</a:t>
            </a:r>
            <a:endParaRPr lang="en-US" altLang="ja-JP" sz="1400" dirty="0">
              <a:solidFill>
                <a:schemeClr val="tx1"/>
              </a:solidFill>
            </a:endParaRPr>
          </a:p>
          <a:p>
            <a:r>
              <a:rPr kumimoji="1" lang="ja-JP" altLang="en-US" sz="1400" dirty="0">
                <a:solidFill>
                  <a:schemeClr val="tx1"/>
                </a:solidFill>
              </a:rPr>
              <a:t>・条件</a:t>
            </a:r>
            <a:r>
              <a:rPr kumimoji="1" lang="en-US" altLang="ja-JP" sz="1400" dirty="0">
                <a:solidFill>
                  <a:schemeClr val="tx1"/>
                </a:solidFill>
              </a:rPr>
              <a:t>b2</a:t>
            </a:r>
            <a:r>
              <a:rPr kumimoji="1" lang="ja-JP" altLang="en-US" sz="1400" dirty="0">
                <a:solidFill>
                  <a:schemeClr val="tx1"/>
                </a:solidFill>
              </a:rPr>
              <a:t>の真</a:t>
            </a:r>
            <a:r>
              <a:rPr kumimoji="1" lang="en-US" altLang="ja-JP" sz="1400" dirty="0">
                <a:solidFill>
                  <a:schemeClr val="tx1"/>
                </a:solidFill>
              </a:rPr>
              <a:t>/</a:t>
            </a:r>
            <a:r>
              <a:rPr kumimoji="1" lang="ja-JP" altLang="en-US" sz="1400" dirty="0">
                <a:solidFill>
                  <a:schemeClr val="tx1"/>
                </a:solidFill>
              </a:rPr>
              <a:t>偽</a:t>
            </a:r>
            <a:endParaRPr kumimoji="1" lang="en-US" altLang="ja-JP" sz="1400" dirty="0">
              <a:solidFill>
                <a:schemeClr val="tx1"/>
              </a:solidFill>
            </a:endParaRPr>
          </a:p>
        </p:txBody>
      </p:sp>
      <p:sp>
        <p:nvSpPr>
          <p:cNvPr id="78" name="テキスト ボックス 77">
            <a:extLst>
              <a:ext uri="{FF2B5EF4-FFF2-40B4-BE49-F238E27FC236}">
                <a16:creationId xmlns:a16="http://schemas.microsoft.com/office/drawing/2014/main" id="{EE1FEA27-0589-80C8-4E7B-E0424963D8C1}"/>
              </a:ext>
            </a:extLst>
          </p:cNvPr>
          <p:cNvSpPr txBox="1"/>
          <p:nvPr/>
        </p:nvSpPr>
        <p:spPr>
          <a:xfrm>
            <a:off x="9290608" y="3985828"/>
            <a:ext cx="1803649" cy="530111"/>
          </a:xfrm>
          <a:prstGeom prst="rect">
            <a:avLst/>
          </a:prstGeom>
          <a:noFill/>
        </p:spPr>
        <p:txBody>
          <a:bodyPr wrap="square" lIns="0" rIns="0" rtlCol="0">
            <a:noAutofit/>
          </a:bodyPr>
          <a:lstStyle/>
          <a:p>
            <a:r>
              <a:rPr kumimoji="1" lang="ja-JP" altLang="en-US" sz="1400" dirty="0">
                <a:solidFill>
                  <a:schemeClr val="tx1"/>
                </a:solidFill>
              </a:rPr>
              <a:t>・分岐</a:t>
            </a:r>
            <a:r>
              <a:rPr lang="en-US" altLang="ja-JP" sz="1400" dirty="0">
                <a:solidFill>
                  <a:schemeClr val="tx1"/>
                </a:solidFill>
              </a:rPr>
              <a:t>A</a:t>
            </a:r>
            <a:r>
              <a:rPr kumimoji="1" lang="ja-JP" altLang="en-US" sz="1400" dirty="0">
                <a:solidFill>
                  <a:schemeClr val="tx1"/>
                </a:solidFill>
              </a:rPr>
              <a:t>の真</a:t>
            </a:r>
            <a:r>
              <a:rPr kumimoji="1" lang="en-US" altLang="ja-JP" sz="1400" dirty="0">
                <a:solidFill>
                  <a:schemeClr val="tx1"/>
                </a:solidFill>
              </a:rPr>
              <a:t>/</a:t>
            </a:r>
            <a:r>
              <a:rPr kumimoji="1" lang="ja-JP" altLang="en-US" sz="1400" dirty="0">
                <a:solidFill>
                  <a:schemeClr val="tx1"/>
                </a:solidFill>
              </a:rPr>
              <a:t>偽ルート</a:t>
            </a:r>
            <a:endParaRPr kumimoji="1" lang="en-US" altLang="ja-JP" sz="1400" dirty="0">
              <a:solidFill>
                <a:schemeClr val="tx1"/>
              </a:solidFill>
            </a:endParaRPr>
          </a:p>
          <a:p>
            <a:r>
              <a:rPr lang="ja-JP" altLang="en-US" sz="1400" dirty="0">
                <a:solidFill>
                  <a:schemeClr val="tx1"/>
                </a:solidFill>
              </a:rPr>
              <a:t>・</a:t>
            </a:r>
            <a:r>
              <a:rPr lang="ja-JP" altLang="en-US" sz="1400" dirty="0"/>
              <a:t>分岐</a:t>
            </a:r>
            <a:r>
              <a:rPr lang="en-US" altLang="ja-JP" sz="1400" dirty="0">
                <a:solidFill>
                  <a:schemeClr val="tx1"/>
                </a:solidFill>
              </a:rPr>
              <a:t>B</a:t>
            </a:r>
            <a:r>
              <a:rPr lang="ja-JP" altLang="en-US" sz="1400" dirty="0">
                <a:solidFill>
                  <a:schemeClr val="tx1"/>
                </a:solidFill>
              </a:rPr>
              <a:t>の真</a:t>
            </a:r>
            <a:r>
              <a:rPr lang="en-US" altLang="ja-JP" sz="1400" dirty="0">
                <a:solidFill>
                  <a:schemeClr val="tx1"/>
                </a:solidFill>
              </a:rPr>
              <a:t>/</a:t>
            </a:r>
            <a:r>
              <a:rPr lang="ja-JP" altLang="en-US" sz="1400" dirty="0">
                <a:solidFill>
                  <a:schemeClr val="tx1"/>
                </a:solidFill>
              </a:rPr>
              <a:t>偽ルート</a:t>
            </a:r>
            <a:endParaRPr kumimoji="1" lang="en-US" altLang="ja-JP" sz="1400" dirty="0">
              <a:solidFill>
                <a:schemeClr val="tx1"/>
              </a:solidFill>
            </a:endParaRPr>
          </a:p>
        </p:txBody>
      </p:sp>
      <p:grpSp>
        <p:nvGrpSpPr>
          <p:cNvPr id="5" name="グループ化 4">
            <a:extLst>
              <a:ext uri="{FF2B5EF4-FFF2-40B4-BE49-F238E27FC236}">
                <a16:creationId xmlns:a16="http://schemas.microsoft.com/office/drawing/2014/main" id="{D7A0338C-3204-D3FF-40AC-AC928C3C7E84}"/>
              </a:ext>
            </a:extLst>
          </p:cNvPr>
          <p:cNvGrpSpPr/>
          <p:nvPr/>
        </p:nvGrpSpPr>
        <p:grpSpPr>
          <a:xfrm>
            <a:off x="1366596" y="4932670"/>
            <a:ext cx="3273516" cy="1283246"/>
            <a:chOff x="2332598" y="3372520"/>
            <a:chExt cx="3273516" cy="1283246"/>
          </a:xfrm>
        </p:grpSpPr>
        <p:sp>
          <p:nvSpPr>
            <p:cNvPr id="6" name="正方形/長方形 5">
              <a:extLst>
                <a:ext uri="{FF2B5EF4-FFF2-40B4-BE49-F238E27FC236}">
                  <a16:creationId xmlns:a16="http://schemas.microsoft.com/office/drawing/2014/main" id="{5055B0AD-2613-D158-BFCE-BC9EBDDA92E6}"/>
                </a:ext>
              </a:extLst>
            </p:cNvPr>
            <p:cNvSpPr/>
            <p:nvPr/>
          </p:nvSpPr>
          <p:spPr>
            <a:xfrm>
              <a:off x="2332598" y="3372520"/>
              <a:ext cx="3273516" cy="1283246"/>
            </a:xfrm>
            <a:prstGeom prst="rect">
              <a:avLst/>
            </a:prstGeom>
            <a:noFill/>
            <a:ln w="9525">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grpSp>
          <p:nvGrpSpPr>
            <p:cNvPr id="10" name="グループ化 9">
              <a:extLst>
                <a:ext uri="{FF2B5EF4-FFF2-40B4-BE49-F238E27FC236}">
                  <a16:creationId xmlns:a16="http://schemas.microsoft.com/office/drawing/2014/main" id="{0AABE993-DEA3-CC81-D87F-1D9738E6DA5D}"/>
                </a:ext>
              </a:extLst>
            </p:cNvPr>
            <p:cNvGrpSpPr/>
            <p:nvPr/>
          </p:nvGrpSpPr>
          <p:grpSpPr>
            <a:xfrm>
              <a:off x="2498390" y="3462927"/>
              <a:ext cx="672405" cy="1142791"/>
              <a:chOff x="2333286" y="3802920"/>
              <a:chExt cx="672405" cy="1142791"/>
            </a:xfrm>
          </p:grpSpPr>
          <p:sp>
            <p:nvSpPr>
              <p:cNvPr id="23" name="二等辺三角形 22">
                <a:extLst>
                  <a:ext uri="{FF2B5EF4-FFF2-40B4-BE49-F238E27FC236}">
                    <a16:creationId xmlns:a16="http://schemas.microsoft.com/office/drawing/2014/main" id="{AB6118B1-7862-D5B4-4D2D-3A460A65B3FE}"/>
                  </a:ext>
                </a:extLst>
              </p:cNvPr>
              <p:cNvSpPr/>
              <p:nvPr/>
            </p:nvSpPr>
            <p:spPr>
              <a:xfrm>
                <a:off x="2657925" y="3961696"/>
                <a:ext cx="347766" cy="880892"/>
              </a:xfrm>
              <a:prstGeom prst="triangle">
                <a:avLst/>
              </a:prstGeom>
              <a:solidFill>
                <a:srgbClr val="FFE1C5">
                  <a:alpha val="59000"/>
                </a:srgbClr>
              </a:solidFill>
              <a:ln w="19050">
                <a:noFill/>
                <a:prstDash val="sysDo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24" name="テキスト ボックス 23">
                <a:extLst>
                  <a:ext uri="{FF2B5EF4-FFF2-40B4-BE49-F238E27FC236}">
                    <a16:creationId xmlns:a16="http://schemas.microsoft.com/office/drawing/2014/main" id="{0D460044-6F8E-CD56-94CE-528A3977DA34}"/>
                  </a:ext>
                </a:extLst>
              </p:cNvPr>
              <p:cNvSpPr txBox="1"/>
              <p:nvPr/>
            </p:nvSpPr>
            <p:spPr>
              <a:xfrm>
                <a:off x="2680946" y="4568564"/>
                <a:ext cx="292846" cy="377147"/>
              </a:xfrm>
              <a:prstGeom prst="rect">
                <a:avLst/>
              </a:prstGeom>
              <a:noFill/>
            </p:spPr>
            <p:txBody>
              <a:bodyPr wrap="square" lIns="0" rIns="0" rtlCol="0">
                <a:noAutofit/>
              </a:bodyPr>
              <a:lstStyle/>
              <a:p>
                <a:pPr algn="ctr" defTabSz="288000"/>
                <a:r>
                  <a:rPr kumimoji="1" lang="ja-JP" altLang="en-US" sz="1400" dirty="0">
                    <a:latin typeface="+mn-ea"/>
                  </a:rPr>
                  <a:t>高</a:t>
                </a:r>
              </a:p>
            </p:txBody>
          </p:sp>
          <p:sp>
            <p:nvSpPr>
              <p:cNvPr id="26" name="テキスト ボックス 25">
                <a:extLst>
                  <a:ext uri="{FF2B5EF4-FFF2-40B4-BE49-F238E27FC236}">
                    <a16:creationId xmlns:a16="http://schemas.microsoft.com/office/drawing/2014/main" id="{4B55402B-028F-3475-40F7-E3B2D57F91B6}"/>
                  </a:ext>
                </a:extLst>
              </p:cNvPr>
              <p:cNvSpPr txBox="1"/>
              <p:nvPr/>
            </p:nvSpPr>
            <p:spPr>
              <a:xfrm>
                <a:off x="2333286" y="4110554"/>
                <a:ext cx="264367" cy="728281"/>
              </a:xfrm>
              <a:prstGeom prst="rect">
                <a:avLst/>
              </a:prstGeom>
              <a:noFill/>
            </p:spPr>
            <p:txBody>
              <a:bodyPr vert="eaVert" wrap="square" lIns="0" rIns="0" rtlCol="0">
                <a:noAutofit/>
              </a:bodyPr>
              <a:lstStyle/>
              <a:p>
                <a:pPr algn="l" defTabSz="288000"/>
                <a:r>
                  <a:rPr kumimoji="1" lang="ja-JP" altLang="en-US" sz="1200" dirty="0">
                    <a:latin typeface="+mn-ea"/>
                  </a:rPr>
                  <a:t>網羅性</a:t>
                </a:r>
              </a:p>
            </p:txBody>
          </p:sp>
          <p:sp>
            <p:nvSpPr>
              <p:cNvPr id="27" name="テキスト ボックス 26">
                <a:extLst>
                  <a:ext uri="{FF2B5EF4-FFF2-40B4-BE49-F238E27FC236}">
                    <a16:creationId xmlns:a16="http://schemas.microsoft.com/office/drawing/2014/main" id="{94386EE5-DA6A-B1B0-CFF1-2702E8BC340B}"/>
                  </a:ext>
                </a:extLst>
              </p:cNvPr>
              <p:cNvSpPr txBox="1"/>
              <p:nvPr/>
            </p:nvSpPr>
            <p:spPr>
              <a:xfrm>
                <a:off x="2682734" y="3802920"/>
                <a:ext cx="292846" cy="377147"/>
              </a:xfrm>
              <a:prstGeom prst="rect">
                <a:avLst/>
              </a:prstGeom>
              <a:noFill/>
            </p:spPr>
            <p:txBody>
              <a:bodyPr wrap="square" lIns="0" rIns="0" rtlCol="0">
                <a:noAutofit/>
              </a:bodyPr>
              <a:lstStyle/>
              <a:p>
                <a:pPr algn="ctr" defTabSz="288000"/>
                <a:r>
                  <a:rPr kumimoji="1" lang="ja-JP" altLang="en-US" sz="1400" dirty="0">
                    <a:latin typeface="+mn-ea"/>
                  </a:rPr>
                  <a:t>小</a:t>
                </a:r>
              </a:p>
            </p:txBody>
          </p:sp>
        </p:grpSp>
        <p:grpSp>
          <p:nvGrpSpPr>
            <p:cNvPr id="13" name="グループ化 12">
              <a:extLst>
                <a:ext uri="{FF2B5EF4-FFF2-40B4-BE49-F238E27FC236}">
                  <a16:creationId xmlns:a16="http://schemas.microsoft.com/office/drawing/2014/main" id="{06CD1279-DC5C-0A92-8AD5-32A926C55229}"/>
                </a:ext>
              </a:extLst>
            </p:cNvPr>
            <p:cNvGrpSpPr/>
            <p:nvPr/>
          </p:nvGrpSpPr>
          <p:grpSpPr>
            <a:xfrm>
              <a:off x="3174175" y="3462927"/>
              <a:ext cx="651139" cy="1142791"/>
              <a:chOff x="2354552" y="3802920"/>
              <a:chExt cx="651139" cy="1142791"/>
            </a:xfrm>
          </p:grpSpPr>
          <p:sp>
            <p:nvSpPr>
              <p:cNvPr id="18" name="二等辺三角形 17">
                <a:extLst>
                  <a:ext uri="{FF2B5EF4-FFF2-40B4-BE49-F238E27FC236}">
                    <a16:creationId xmlns:a16="http://schemas.microsoft.com/office/drawing/2014/main" id="{7C2ADA99-08FA-8688-6D6C-50AB1AA38E06}"/>
                  </a:ext>
                </a:extLst>
              </p:cNvPr>
              <p:cNvSpPr/>
              <p:nvPr/>
            </p:nvSpPr>
            <p:spPr>
              <a:xfrm>
                <a:off x="2657925" y="3961696"/>
                <a:ext cx="347766" cy="880892"/>
              </a:xfrm>
              <a:prstGeom prst="triangle">
                <a:avLst/>
              </a:prstGeom>
              <a:solidFill>
                <a:srgbClr val="FFE1C5">
                  <a:alpha val="59000"/>
                </a:srgbClr>
              </a:solidFill>
              <a:ln w="19050">
                <a:noFill/>
                <a:prstDash val="sysDo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dirty="0">
                  <a:solidFill>
                    <a:schemeClr val="tx1"/>
                  </a:solidFill>
                </a:endParaRPr>
              </a:p>
            </p:txBody>
          </p:sp>
          <p:sp>
            <p:nvSpPr>
              <p:cNvPr id="20" name="テキスト ボックス 19">
                <a:extLst>
                  <a:ext uri="{FF2B5EF4-FFF2-40B4-BE49-F238E27FC236}">
                    <a16:creationId xmlns:a16="http://schemas.microsoft.com/office/drawing/2014/main" id="{4906DFFD-2108-6D51-6270-09E9DE3D518E}"/>
                  </a:ext>
                </a:extLst>
              </p:cNvPr>
              <p:cNvSpPr txBox="1"/>
              <p:nvPr/>
            </p:nvSpPr>
            <p:spPr>
              <a:xfrm>
                <a:off x="2680946" y="4568564"/>
                <a:ext cx="292846" cy="377147"/>
              </a:xfrm>
              <a:prstGeom prst="rect">
                <a:avLst/>
              </a:prstGeom>
              <a:noFill/>
            </p:spPr>
            <p:txBody>
              <a:bodyPr wrap="square" lIns="0" rIns="0" rtlCol="0">
                <a:noAutofit/>
              </a:bodyPr>
              <a:lstStyle/>
              <a:p>
                <a:pPr algn="ctr" defTabSz="288000"/>
                <a:r>
                  <a:rPr kumimoji="1" lang="ja-JP" altLang="en-US" sz="1400" dirty="0">
                    <a:latin typeface="+mn-ea"/>
                  </a:rPr>
                  <a:t>多</a:t>
                </a:r>
              </a:p>
            </p:txBody>
          </p:sp>
          <p:sp>
            <p:nvSpPr>
              <p:cNvPr id="21" name="テキスト ボックス 20">
                <a:extLst>
                  <a:ext uri="{FF2B5EF4-FFF2-40B4-BE49-F238E27FC236}">
                    <a16:creationId xmlns:a16="http://schemas.microsoft.com/office/drawing/2014/main" id="{FBD04079-7CEC-4C0E-820D-81D1D7A30D39}"/>
                  </a:ext>
                </a:extLst>
              </p:cNvPr>
              <p:cNvSpPr txBox="1"/>
              <p:nvPr/>
            </p:nvSpPr>
            <p:spPr>
              <a:xfrm>
                <a:off x="2354552" y="3991770"/>
                <a:ext cx="264367" cy="836434"/>
              </a:xfrm>
              <a:prstGeom prst="rect">
                <a:avLst/>
              </a:prstGeom>
              <a:noFill/>
            </p:spPr>
            <p:txBody>
              <a:bodyPr vert="eaVert" wrap="square" lIns="0" rIns="0" rtlCol="0">
                <a:noAutofit/>
              </a:bodyPr>
              <a:lstStyle/>
              <a:p>
                <a:pPr algn="l" defTabSz="288000"/>
                <a:r>
                  <a:rPr kumimoji="1" lang="ja-JP" altLang="en-US" sz="1200" dirty="0">
                    <a:latin typeface="+mn-ea"/>
                  </a:rPr>
                  <a:t>テスト数</a:t>
                </a:r>
              </a:p>
            </p:txBody>
          </p:sp>
          <p:sp>
            <p:nvSpPr>
              <p:cNvPr id="22" name="テキスト ボックス 21">
                <a:extLst>
                  <a:ext uri="{FF2B5EF4-FFF2-40B4-BE49-F238E27FC236}">
                    <a16:creationId xmlns:a16="http://schemas.microsoft.com/office/drawing/2014/main" id="{1980ED2B-3854-30F4-0474-D96C40488C0D}"/>
                  </a:ext>
                </a:extLst>
              </p:cNvPr>
              <p:cNvSpPr txBox="1"/>
              <p:nvPr/>
            </p:nvSpPr>
            <p:spPr>
              <a:xfrm>
                <a:off x="2682734" y="3802920"/>
                <a:ext cx="292846" cy="377147"/>
              </a:xfrm>
              <a:prstGeom prst="rect">
                <a:avLst/>
              </a:prstGeom>
              <a:noFill/>
            </p:spPr>
            <p:txBody>
              <a:bodyPr wrap="square" lIns="0" rIns="0" rtlCol="0">
                <a:noAutofit/>
              </a:bodyPr>
              <a:lstStyle/>
              <a:p>
                <a:pPr algn="ctr" defTabSz="288000"/>
                <a:r>
                  <a:rPr kumimoji="1" lang="ja-JP" altLang="en-US" sz="1400" dirty="0">
                    <a:latin typeface="+mn-ea"/>
                  </a:rPr>
                  <a:t>少</a:t>
                </a:r>
              </a:p>
            </p:txBody>
          </p:sp>
        </p:grpSp>
        <p:sp>
          <p:nvSpPr>
            <p:cNvPr id="15" name="テキスト プレースホルダー 2">
              <a:extLst>
                <a:ext uri="{FF2B5EF4-FFF2-40B4-BE49-F238E27FC236}">
                  <a16:creationId xmlns:a16="http://schemas.microsoft.com/office/drawing/2014/main" id="{18176721-CA8C-B95E-3901-303DFA58F728}"/>
                </a:ext>
              </a:extLst>
            </p:cNvPr>
            <p:cNvSpPr txBox="1">
              <a:spLocks/>
            </p:cNvSpPr>
            <p:nvPr/>
          </p:nvSpPr>
          <p:spPr>
            <a:xfrm>
              <a:off x="3907339" y="3651777"/>
              <a:ext cx="1698774" cy="91625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pPr algn="l" defTabSz="288000"/>
              <a:r>
                <a:rPr lang="en-US" altLang="ja-JP" sz="1400" dirty="0"/>
                <a:t>C0</a:t>
              </a:r>
              <a:r>
                <a:rPr lang="ja-JP" altLang="en-US" sz="1400" dirty="0"/>
                <a:t>（命令網羅）</a:t>
              </a:r>
              <a:endParaRPr lang="en-US" altLang="ja-JP" sz="1400" dirty="0"/>
            </a:p>
            <a:p>
              <a:pPr algn="l" defTabSz="288000"/>
              <a:r>
                <a:rPr lang="en-US" altLang="ja-JP" sz="1400" dirty="0"/>
                <a:t>C1</a:t>
              </a:r>
              <a:r>
                <a:rPr lang="ja-JP" altLang="en-US" sz="1400" dirty="0"/>
                <a:t>（分岐網羅）</a:t>
              </a:r>
              <a:endParaRPr lang="en-US" altLang="ja-JP" sz="1400" dirty="0"/>
            </a:p>
            <a:p>
              <a:pPr algn="l" defTabSz="288000"/>
              <a:r>
                <a:rPr lang="en-US" altLang="ja-JP" sz="1400" dirty="0"/>
                <a:t>C2</a:t>
              </a:r>
              <a:r>
                <a:rPr lang="ja-JP" altLang="en-US" sz="1400" dirty="0"/>
                <a:t>（条件網羅）</a:t>
              </a:r>
              <a:endParaRPr lang="en-US" altLang="ja-JP" sz="1400" dirty="0"/>
            </a:p>
          </p:txBody>
        </p:sp>
      </p:grpSp>
    </p:spTree>
    <p:extLst>
      <p:ext uri="{BB962C8B-B14F-4D97-AF65-F5344CB8AC3E}">
        <p14:creationId xmlns:p14="http://schemas.microsoft.com/office/powerpoint/2010/main" val="2990796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F7B2A-62A7-E65D-1FA9-B15C571F2E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440F71-C5C7-74AB-068B-02B64FAA1234}"/>
              </a:ext>
            </a:extLst>
          </p:cNvPr>
          <p:cNvSpPr>
            <a:spLocks noGrp="1"/>
          </p:cNvSpPr>
          <p:nvPr>
            <p:ph type="title"/>
          </p:nvPr>
        </p:nvSpPr>
        <p:spPr/>
        <p:txBody>
          <a:bodyPr/>
          <a:lstStyle/>
          <a:p>
            <a:r>
              <a:rPr lang="ja-JP" altLang="en-US" dirty="0"/>
              <a:t>ホワイトボックス</a:t>
            </a:r>
            <a:r>
              <a:rPr kumimoji="1" lang="ja-JP" altLang="en-US" dirty="0"/>
              <a:t>テスト：</a:t>
            </a:r>
            <a:r>
              <a:rPr lang="ja-JP" altLang="en-US" dirty="0"/>
              <a:t>ステートメントテスト</a:t>
            </a:r>
            <a:endParaRPr kumimoji="1" lang="ja-JP" altLang="en-US" dirty="0"/>
          </a:p>
        </p:txBody>
      </p:sp>
      <p:sp>
        <p:nvSpPr>
          <p:cNvPr id="3" name="コンテンツ プレースホルダー 2">
            <a:extLst>
              <a:ext uri="{FF2B5EF4-FFF2-40B4-BE49-F238E27FC236}">
                <a16:creationId xmlns:a16="http://schemas.microsoft.com/office/drawing/2014/main" id="{64E8991A-4272-1BEE-8B33-45CCFA473F9A}"/>
              </a:ext>
            </a:extLst>
          </p:cNvPr>
          <p:cNvSpPr>
            <a:spLocks noGrp="1"/>
          </p:cNvSpPr>
          <p:nvPr>
            <p:ph sz="quarter" idx="10"/>
          </p:nvPr>
        </p:nvSpPr>
        <p:spPr>
          <a:xfrm>
            <a:off x="371474" y="1038386"/>
            <a:ext cx="11448000" cy="1712090"/>
          </a:xfrm>
        </p:spPr>
        <p:txBody>
          <a:bodyPr/>
          <a:lstStyle/>
          <a:p>
            <a:r>
              <a:rPr lang="ja-JP" altLang="en-US" u="sng" dirty="0">
                <a:solidFill>
                  <a:schemeClr val="tx1"/>
                </a:solidFill>
              </a:rPr>
              <a:t>ステートメントテスト</a:t>
            </a:r>
            <a:endParaRPr lang="en-US" altLang="ja-JP" u="sng" dirty="0">
              <a:solidFill>
                <a:schemeClr val="tx1"/>
              </a:solidFill>
            </a:endParaRPr>
          </a:p>
          <a:p>
            <a:r>
              <a:rPr lang="ja-JP" altLang="en-US" sz="2000" b="0" i="0" dirty="0">
                <a:solidFill>
                  <a:schemeClr val="tx1"/>
                </a:solidFill>
                <a:effectLst/>
                <a:latin typeface="__Inter_a184c8"/>
              </a:rPr>
              <a:t>全てのコードのステートメント（命令文）が少なくとも一回実行されるようにテスト項目を作成する技法</a:t>
            </a:r>
            <a:endParaRPr lang="en-US" altLang="ja-JP" sz="2000" b="0" i="0" dirty="0">
              <a:solidFill>
                <a:schemeClr val="tx1"/>
              </a:solidFill>
              <a:effectLst/>
              <a:latin typeface="__Inter_a184c8"/>
            </a:endParaRPr>
          </a:p>
          <a:p>
            <a:r>
              <a:rPr lang="ja-JP" altLang="en-US" sz="2000" dirty="0">
                <a:solidFill>
                  <a:schemeClr val="tx1"/>
                </a:solidFill>
                <a:latin typeface="__Inter_a184c8"/>
              </a:rPr>
              <a:t>　＝ コードカバレッジの基準に</a:t>
            </a:r>
            <a:r>
              <a:rPr kumimoji="1" lang="ja-JP" altLang="en-US" sz="2000" b="1" u="sng" dirty="0">
                <a:solidFill>
                  <a:schemeClr val="tx1"/>
                </a:solidFill>
              </a:rPr>
              <a:t>命令網羅（</a:t>
            </a:r>
            <a:r>
              <a:rPr kumimoji="1" lang="en-US" altLang="ja-JP" sz="2000" b="1" u="sng" dirty="0">
                <a:solidFill>
                  <a:schemeClr val="tx1"/>
                </a:solidFill>
              </a:rPr>
              <a:t>C0</a:t>
            </a:r>
            <a:r>
              <a:rPr kumimoji="1" lang="ja-JP" altLang="en-US" sz="2000" b="1" u="sng" dirty="0">
                <a:solidFill>
                  <a:schemeClr val="tx1"/>
                </a:solidFill>
              </a:rPr>
              <a:t>）</a:t>
            </a:r>
            <a:r>
              <a:rPr kumimoji="1" lang="ja-JP" altLang="en-US" sz="2000" dirty="0">
                <a:solidFill>
                  <a:schemeClr val="tx1"/>
                </a:solidFill>
              </a:rPr>
              <a:t>を用いたテスト技法</a:t>
            </a:r>
            <a:endParaRPr lang="en-US" altLang="ja-JP" sz="2000" i="0" dirty="0">
              <a:solidFill>
                <a:schemeClr val="tx1"/>
              </a:solidFill>
              <a:effectLst/>
              <a:latin typeface="__Inter_a184c8"/>
            </a:endParaRPr>
          </a:p>
        </p:txBody>
      </p:sp>
      <p:grpSp>
        <p:nvGrpSpPr>
          <p:cNvPr id="46" name="グループ化 45">
            <a:extLst>
              <a:ext uri="{FF2B5EF4-FFF2-40B4-BE49-F238E27FC236}">
                <a16:creationId xmlns:a16="http://schemas.microsoft.com/office/drawing/2014/main" id="{ABE7B9C0-6C87-C8D5-8411-11BCC9479D21}"/>
              </a:ext>
            </a:extLst>
          </p:cNvPr>
          <p:cNvGrpSpPr/>
          <p:nvPr/>
        </p:nvGrpSpPr>
        <p:grpSpPr>
          <a:xfrm>
            <a:off x="1593411" y="2156850"/>
            <a:ext cx="5748788" cy="4124325"/>
            <a:chOff x="2612681" y="2208931"/>
            <a:chExt cx="5748788" cy="4124325"/>
          </a:xfrm>
        </p:grpSpPr>
        <p:sp>
          <p:nvSpPr>
            <p:cNvPr id="4" name="正方形/長方形 3">
              <a:extLst>
                <a:ext uri="{FF2B5EF4-FFF2-40B4-BE49-F238E27FC236}">
                  <a16:creationId xmlns:a16="http://schemas.microsoft.com/office/drawing/2014/main" id="{3E651034-A6F7-5AF2-C8FD-1FB2B31C65AD}"/>
                </a:ext>
              </a:extLst>
            </p:cNvPr>
            <p:cNvSpPr/>
            <p:nvPr/>
          </p:nvSpPr>
          <p:spPr>
            <a:xfrm>
              <a:off x="2612681" y="2208931"/>
              <a:ext cx="5748788" cy="4124325"/>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u="sng" dirty="0">
                <a:solidFill>
                  <a:schemeClr val="tx1"/>
                </a:solidFill>
              </a:endParaRPr>
            </a:p>
          </p:txBody>
        </p:sp>
        <p:sp>
          <p:nvSpPr>
            <p:cNvPr id="8" name="フローチャート: 判断 7">
              <a:extLst>
                <a:ext uri="{FF2B5EF4-FFF2-40B4-BE49-F238E27FC236}">
                  <a16:creationId xmlns:a16="http://schemas.microsoft.com/office/drawing/2014/main" id="{0C95E995-3AB2-D1AB-C68B-09F973B81810}"/>
                </a:ext>
              </a:extLst>
            </p:cNvPr>
            <p:cNvSpPr/>
            <p:nvPr/>
          </p:nvSpPr>
          <p:spPr>
            <a:xfrm>
              <a:off x="3016411" y="2835168"/>
              <a:ext cx="1892535" cy="642387"/>
            </a:xfrm>
            <a:prstGeom prst="flowChartDecision">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u="sng" dirty="0">
                  <a:solidFill>
                    <a:schemeClr val="tx1"/>
                  </a:solidFill>
                </a:rPr>
                <a:t>分岐</a:t>
              </a:r>
              <a:r>
                <a:rPr kumimoji="1" lang="en-US" altLang="ja-JP" sz="1400" u="sng" dirty="0">
                  <a:solidFill>
                    <a:schemeClr val="tx1"/>
                  </a:solidFill>
                </a:rPr>
                <a:t>A</a:t>
              </a:r>
            </a:p>
            <a:p>
              <a:pPr algn="ctr"/>
              <a:r>
                <a:rPr kumimoji="1" lang="ja-JP" altLang="en-US" sz="1200" dirty="0">
                  <a:solidFill>
                    <a:schemeClr val="tx1"/>
                  </a:solidFill>
                </a:rPr>
                <a:t>条件</a:t>
              </a:r>
              <a:r>
                <a:rPr kumimoji="1" lang="en-US" altLang="ja-JP" sz="1200" dirty="0">
                  <a:solidFill>
                    <a:schemeClr val="tx1"/>
                  </a:solidFill>
                </a:rPr>
                <a:t>a</a:t>
              </a:r>
              <a:endParaRPr kumimoji="1" lang="ja-JP" altLang="en-US" sz="1200" dirty="0">
                <a:solidFill>
                  <a:schemeClr val="tx1"/>
                </a:solidFill>
              </a:endParaRPr>
            </a:p>
          </p:txBody>
        </p:sp>
        <p:sp>
          <p:nvSpPr>
            <p:cNvPr id="9" name="正方形/長方形 8">
              <a:extLst>
                <a:ext uri="{FF2B5EF4-FFF2-40B4-BE49-F238E27FC236}">
                  <a16:creationId xmlns:a16="http://schemas.microsoft.com/office/drawing/2014/main" id="{DA9EFCE3-2ECF-9271-3CF2-FEB18F920D75}"/>
                </a:ext>
              </a:extLst>
            </p:cNvPr>
            <p:cNvSpPr/>
            <p:nvPr/>
          </p:nvSpPr>
          <p:spPr>
            <a:xfrm>
              <a:off x="3314201" y="5447737"/>
              <a:ext cx="1296955" cy="350222"/>
            </a:xfrm>
            <a:prstGeom prst="rect">
              <a:avLst/>
            </a:prstGeom>
            <a:solidFill>
              <a:srgbClr val="FFE1C5"/>
            </a:solid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命令２</a:t>
              </a:r>
            </a:p>
          </p:txBody>
        </p:sp>
        <p:sp>
          <p:nvSpPr>
            <p:cNvPr id="10" name="正方形/長方形 9">
              <a:extLst>
                <a:ext uri="{FF2B5EF4-FFF2-40B4-BE49-F238E27FC236}">
                  <a16:creationId xmlns:a16="http://schemas.microsoft.com/office/drawing/2014/main" id="{60F92277-E610-02A3-F2F9-77903EEACFED}"/>
                </a:ext>
              </a:extLst>
            </p:cNvPr>
            <p:cNvSpPr/>
            <p:nvPr/>
          </p:nvSpPr>
          <p:spPr>
            <a:xfrm>
              <a:off x="3314201" y="3727114"/>
              <a:ext cx="1296955" cy="350222"/>
            </a:xfrm>
            <a:prstGeom prst="rect">
              <a:avLst/>
            </a:prstGeom>
            <a:solidFill>
              <a:srgbClr val="FFE1C5"/>
            </a:solid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命令１</a:t>
              </a:r>
            </a:p>
          </p:txBody>
        </p:sp>
        <p:cxnSp>
          <p:nvCxnSpPr>
            <p:cNvPr id="11" name="直線矢印コネクタ 10">
              <a:extLst>
                <a:ext uri="{FF2B5EF4-FFF2-40B4-BE49-F238E27FC236}">
                  <a16:creationId xmlns:a16="http://schemas.microsoft.com/office/drawing/2014/main" id="{9FDC3F7F-7A09-4DF0-86BF-563BDBBC1DFA}"/>
                </a:ext>
              </a:extLst>
            </p:cNvPr>
            <p:cNvCxnSpPr>
              <a:cxnSpLocks/>
              <a:endCxn id="10" idx="0"/>
            </p:cNvCxnSpPr>
            <p:nvPr/>
          </p:nvCxnSpPr>
          <p:spPr>
            <a:xfrm flipH="1">
              <a:off x="3962679" y="3493846"/>
              <a:ext cx="1" cy="233268"/>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直線矢印コネクタ 16">
              <a:extLst>
                <a:ext uri="{FF2B5EF4-FFF2-40B4-BE49-F238E27FC236}">
                  <a16:creationId xmlns:a16="http://schemas.microsoft.com/office/drawing/2014/main" id="{642CFAC5-1650-A5E8-9D54-25F596383AC4}"/>
                </a:ext>
              </a:extLst>
            </p:cNvPr>
            <p:cNvCxnSpPr>
              <a:cxnSpLocks/>
              <a:stCxn id="10" idx="2"/>
              <a:endCxn id="23" idx="0"/>
            </p:cNvCxnSpPr>
            <p:nvPr/>
          </p:nvCxnSpPr>
          <p:spPr>
            <a:xfrm>
              <a:off x="3962679" y="4077336"/>
              <a:ext cx="0" cy="387516"/>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コネクタ: カギ線 19">
              <a:extLst>
                <a:ext uri="{FF2B5EF4-FFF2-40B4-BE49-F238E27FC236}">
                  <a16:creationId xmlns:a16="http://schemas.microsoft.com/office/drawing/2014/main" id="{38E3DF89-154A-DF5B-792B-57AF4F7C4675}"/>
                </a:ext>
              </a:extLst>
            </p:cNvPr>
            <p:cNvCxnSpPr>
              <a:cxnSpLocks/>
              <a:stCxn id="8" idx="3"/>
            </p:cNvCxnSpPr>
            <p:nvPr/>
          </p:nvCxnSpPr>
          <p:spPr>
            <a:xfrm flipH="1">
              <a:off x="3962679" y="3156362"/>
              <a:ext cx="946267" cy="1060551"/>
            </a:xfrm>
            <a:prstGeom prst="bentConnector4">
              <a:avLst>
                <a:gd name="adj1" fmla="val -24158"/>
                <a:gd name="adj2" fmla="val 100335"/>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直線矢印コネクタ 20">
              <a:extLst>
                <a:ext uri="{FF2B5EF4-FFF2-40B4-BE49-F238E27FC236}">
                  <a16:creationId xmlns:a16="http://schemas.microsoft.com/office/drawing/2014/main" id="{2BB60E30-3D61-525E-CB1B-55F2B09FF7F8}"/>
                </a:ext>
              </a:extLst>
            </p:cNvPr>
            <p:cNvCxnSpPr/>
            <p:nvPr/>
          </p:nvCxnSpPr>
          <p:spPr>
            <a:xfrm>
              <a:off x="3958916" y="2511168"/>
              <a:ext cx="0" cy="32400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フローチャート: 判断 22">
              <a:extLst>
                <a:ext uri="{FF2B5EF4-FFF2-40B4-BE49-F238E27FC236}">
                  <a16:creationId xmlns:a16="http://schemas.microsoft.com/office/drawing/2014/main" id="{E7A232E3-2B78-A51D-538B-C3645EDF7289}"/>
                </a:ext>
              </a:extLst>
            </p:cNvPr>
            <p:cNvSpPr/>
            <p:nvPr/>
          </p:nvSpPr>
          <p:spPr>
            <a:xfrm>
              <a:off x="3016408" y="4464852"/>
              <a:ext cx="1892541" cy="642387"/>
            </a:xfrm>
            <a:prstGeom prst="flowChartDecision">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u="sng" dirty="0">
                  <a:solidFill>
                    <a:schemeClr val="tx1"/>
                  </a:solidFill>
                </a:rPr>
                <a:t>分岐</a:t>
              </a:r>
              <a:r>
                <a:rPr kumimoji="1" lang="en-US" altLang="ja-JP" sz="1400" u="sng" dirty="0">
                  <a:solidFill>
                    <a:schemeClr val="tx1"/>
                  </a:solidFill>
                </a:rPr>
                <a:t>B</a:t>
              </a:r>
            </a:p>
            <a:p>
              <a:pPr algn="ctr"/>
              <a:r>
                <a:rPr kumimoji="1" lang="ja-JP" altLang="en-US" sz="1200" dirty="0">
                  <a:solidFill>
                    <a:schemeClr val="tx1"/>
                  </a:solidFill>
                </a:rPr>
                <a:t>条件</a:t>
              </a:r>
              <a:r>
                <a:rPr lang="en-US" altLang="ja-JP" sz="1200" dirty="0">
                  <a:solidFill>
                    <a:schemeClr val="tx1"/>
                  </a:solidFill>
                </a:rPr>
                <a:t>b1&amp;b2</a:t>
              </a:r>
              <a:endParaRPr kumimoji="1" lang="ja-JP" altLang="en-US" sz="1200" dirty="0">
                <a:solidFill>
                  <a:schemeClr val="tx1"/>
                </a:solidFill>
              </a:endParaRPr>
            </a:p>
          </p:txBody>
        </p:sp>
        <p:cxnSp>
          <p:nvCxnSpPr>
            <p:cNvPr id="24" name="直線矢印コネクタ 23">
              <a:extLst>
                <a:ext uri="{FF2B5EF4-FFF2-40B4-BE49-F238E27FC236}">
                  <a16:creationId xmlns:a16="http://schemas.microsoft.com/office/drawing/2014/main" id="{72B9FB47-8250-83CD-80F6-C37E5EC8A086}"/>
                </a:ext>
              </a:extLst>
            </p:cNvPr>
            <p:cNvCxnSpPr>
              <a:cxnSpLocks/>
              <a:stCxn id="23" idx="2"/>
              <a:endCxn id="9" idx="0"/>
            </p:cNvCxnSpPr>
            <p:nvPr/>
          </p:nvCxnSpPr>
          <p:spPr>
            <a:xfrm>
              <a:off x="3962679" y="5107239"/>
              <a:ext cx="0" cy="340498"/>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正方形/長方形 24">
              <a:extLst>
                <a:ext uri="{FF2B5EF4-FFF2-40B4-BE49-F238E27FC236}">
                  <a16:creationId xmlns:a16="http://schemas.microsoft.com/office/drawing/2014/main" id="{14DFCBD7-E6A0-216D-77AE-050714FC3D1C}"/>
                </a:ext>
              </a:extLst>
            </p:cNvPr>
            <p:cNvSpPr/>
            <p:nvPr/>
          </p:nvSpPr>
          <p:spPr>
            <a:xfrm>
              <a:off x="4756819" y="5455357"/>
              <a:ext cx="1296955" cy="350222"/>
            </a:xfrm>
            <a:prstGeom prst="rect">
              <a:avLst/>
            </a:prstGeom>
            <a:solidFill>
              <a:srgbClr val="FFE1C5"/>
            </a:solid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命令３</a:t>
              </a:r>
            </a:p>
          </p:txBody>
        </p:sp>
        <p:cxnSp>
          <p:nvCxnSpPr>
            <p:cNvPr id="26" name="コネクタ: カギ線 25">
              <a:extLst>
                <a:ext uri="{FF2B5EF4-FFF2-40B4-BE49-F238E27FC236}">
                  <a16:creationId xmlns:a16="http://schemas.microsoft.com/office/drawing/2014/main" id="{343C04EE-2808-D10B-8C68-FC4C3779EFAE}"/>
                </a:ext>
              </a:extLst>
            </p:cNvPr>
            <p:cNvCxnSpPr>
              <a:cxnSpLocks/>
              <a:stCxn id="23" idx="3"/>
              <a:endCxn id="25" idx="0"/>
            </p:cNvCxnSpPr>
            <p:nvPr/>
          </p:nvCxnSpPr>
          <p:spPr>
            <a:xfrm>
              <a:off x="4908949" y="4786046"/>
              <a:ext cx="496348" cy="669311"/>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DEA2B8F2-EE23-1DDF-4ECA-32EAE8910E0A}"/>
                </a:ext>
              </a:extLst>
            </p:cNvPr>
            <p:cNvCxnSpPr>
              <a:cxnSpLocks/>
              <a:stCxn id="9" idx="2"/>
            </p:cNvCxnSpPr>
            <p:nvPr/>
          </p:nvCxnSpPr>
          <p:spPr>
            <a:xfrm>
              <a:off x="3962679" y="5797959"/>
              <a:ext cx="0" cy="43200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コネクタ: カギ線 27">
              <a:extLst>
                <a:ext uri="{FF2B5EF4-FFF2-40B4-BE49-F238E27FC236}">
                  <a16:creationId xmlns:a16="http://schemas.microsoft.com/office/drawing/2014/main" id="{8D5E7AD1-2ABD-275A-D9F5-23AE41953152}"/>
                </a:ext>
              </a:extLst>
            </p:cNvPr>
            <p:cNvCxnSpPr>
              <a:cxnSpLocks/>
              <a:stCxn id="25" idx="2"/>
            </p:cNvCxnSpPr>
            <p:nvPr/>
          </p:nvCxnSpPr>
          <p:spPr>
            <a:xfrm rot="5400000">
              <a:off x="4571248" y="5197012"/>
              <a:ext cx="225482" cy="1442617"/>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テキスト ボックス 29">
              <a:extLst>
                <a:ext uri="{FF2B5EF4-FFF2-40B4-BE49-F238E27FC236}">
                  <a16:creationId xmlns:a16="http://schemas.microsoft.com/office/drawing/2014/main" id="{E61A7C2F-34A7-93EA-32E2-AAAB727615F5}"/>
                </a:ext>
              </a:extLst>
            </p:cNvPr>
            <p:cNvSpPr txBox="1"/>
            <p:nvPr/>
          </p:nvSpPr>
          <p:spPr>
            <a:xfrm>
              <a:off x="3688963" y="3448480"/>
              <a:ext cx="416269" cy="288000"/>
            </a:xfrm>
            <a:prstGeom prst="rect">
              <a:avLst/>
            </a:prstGeom>
            <a:noFill/>
          </p:spPr>
          <p:txBody>
            <a:bodyPr wrap="square" lIns="0" rIns="0" rtlCol="0">
              <a:noAutofit/>
            </a:bodyPr>
            <a:lstStyle/>
            <a:p>
              <a:pPr algn="l" defTabSz="288000"/>
              <a:r>
                <a:rPr kumimoji="1" lang="en-US" altLang="ja-JP" sz="1050" dirty="0">
                  <a:latin typeface="+mn-ea"/>
                </a:rPr>
                <a:t>Yes</a:t>
              </a:r>
              <a:endParaRPr kumimoji="1" lang="ja-JP" altLang="en-US" sz="1050" dirty="0">
                <a:latin typeface="+mn-ea"/>
              </a:endParaRPr>
            </a:p>
          </p:txBody>
        </p:sp>
        <p:sp>
          <p:nvSpPr>
            <p:cNvPr id="32" name="テキスト ボックス 31">
              <a:extLst>
                <a:ext uri="{FF2B5EF4-FFF2-40B4-BE49-F238E27FC236}">
                  <a16:creationId xmlns:a16="http://schemas.microsoft.com/office/drawing/2014/main" id="{73130D50-2A3A-2942-9FE9-24ADB5CDDE94}"/>
                </a:ext>
              </a:extLst>
            </p:cNvPr>
            <p:cNvSpPr txBox="1"/>
            <p:nvPr/>
          </p:nvSpPr>
          <p:spPr>
            <a:xfrm>
              <a:off x="3709705" y="5085089"/>
              <a:ext cx="416269" cy="288000"/>
            </a:xfrm>
            <a:prstGeom prst="rect">
              <a:avLst/>
            </a:prstGeom>
            <a:noFill/>
          </p:spPr>
          <p:txBody>
            <a:bodyPr wrap="square" lIns="0" rIns="0" rtlCol="0">
              <a:noAutofit/>
            </a:bodyPr>
            <a:lstStyle/>
            <a:p>
              <a:pPr algn="l" defTabSz="288000"/>
              <a:r>
                <a:rPr kumimoji="1" lang="en-US" altLang="ja-JP" sz="1050" dirty="0">
                  <a:latin typeface="+mn-ea"/>
                </a:rPr>
                <a:t>Yes</a:t>
              </a:r>
              <a:endParaRPr kumimoji="1" lang="ja-JP" altLang="en-US" sz="1050" dirty="0">
                <a:latin typeface="+mn-ea"/>
              </a:endParaRPr>
            </a:p>
          </p:txBody>
        </p:sp>
        <p:sp>
          <p:nvSpPr>
            <p:cNvPr id="33" name="テキスト ボックス 32">
              <a:extLst>
                <a:ext uri="{FF2B5EF4-FFF2-40B4-BE49-F238E27FC236}">
                  <a16:creationId xmlns:a16="http://schemas.microsoft.com/office/drawing/2014/main" id="{37195C8E-CE53-96B9-EAD2-A7B46BDF9BA0}"/>
                </a:ext>
              </a:extLst>
            </p:cNvPr>
            <p:cNvSpPr txBox="1"/>
            <p:nvPr/>
          </p:nvSpPr>
          <p:spPr>
            <a:xfrm>
              <a:off x="4955346" y="4591260"/>
              <a:ext cx="416269" cy="288000"/>
            </a:xfrm>
            <a:prstGeom prst="rect">
              <a:avLst/>
            </a:prstGeom>
            <a:noFill/>
          </p:spPr>
          <p:txBody>
            <a:bodyPr wrap="square" lIns="0" rIns="0" rtlCol="0">
              <a:noAutofit/>
            </a:bodyPr>
            <a:lstStyle/>
            <a:p>
              <a:pPr algn="l" defTabSz="288000"/>
              <a:r>
                <a:rPr lang="en-US" altLang="ja-JP" sz="1050" dirty="0">
                  <a:latin typeface="+mn-ea"/>
                </a:rPr>
                <a:t>No</a:t>
              </a:r>
              <a:endParaRPr kumimoji="1" lang="ja-JP" altLang="en-US" sz="1050" dirty="0">
                <a:latin typeface="+mn-ea"/>
              </a:endParaRPr>
            </a:p>
          </p:txBody>
        </p:sp>
        <p:sp>
          <p:nvSpPr>
            <p:cNvPr id="40" name="テキスト ボックス 39">
              <a:extLst>
                <a:ext uri="{FF2B5EF4-FFF2-40B4-BE49-F238E27FC236}">
                  <a16:creationId xmlns:a16="http://schemas.microsoft.com/office/drawing/2014/main" id="{9587E0C2-F31C-4B96-7C2D-43BC3ED95075}"/>
                </a:ext>
              </a:extLst>
            </p:cNvPr>
            <p:cNvSpPr txBox="1"/>
            <p:nvPr/>
          </p:nvSpPr>
          <p:spPr>
            <a:xfrm>
              <a:off x="4955345" y="2939296"/>
              <a:ext cx="416269" cy="288000"/>
            </a:xfrm>
            <a:prstGeom prst="rect">
              <a:avLst/>
            </a:prstGeom>
            <a:noFill/>
          </p:spPr>
          <p:txBody>
            <a:bodyPr wrap="square" lIns="0" rIns="0" rtlCol="0">
              <a:noAutofit/>
            </a:bodyPr>
            <a:lstStyle/>
            <a:p>
              <a:pPr algn="l" defTabSz="288000"/>
              <a:r>
                <a:rPr lang="en-US" altLang="ja-JP" sz="1050" dirty="0">
                  <a:latin typeface="+mn-ea"/>
                </a:rPr>
                <a:t>No</a:t>
              </a:r>
              <a:endParaRPr kumimoji="1" lang="ja-JP" altLang="en-US" sz="1050" dirty="0">
                <a:latin typeface="+mn-ea"/>
              </a:endParaRPr>
            </a:p>
          </p:txBody>
        </p:sp>
        <p:sp>
          <p:nvSpPr>
            <p:cNvPr id="41" name="吹き出し: 角を丸めた四角形 40">
              <a:extLst>
                <a:ext uri="{FF2B5EF4-FFF2-40B4-BE49-F238E27FC236}">
                  <a16:creationId xmlns:a16="http://schemas.microsoft.com/office/drawing/2014/main" id="{AACC2840-9A94-C007-5525-F6E6C91FCA2F}"/>
                </a:ext>
              </a:extLst>
            </p:cNvPr>
            <p:cNvSpPr/>
            <p:nvPr/>
          </p:nvSpPr>
          <p:spPr>
            <a:xfrm>
              <a:off x="5300783" y="3090974"/>
              <a:ext cx="2854423" cy="642387"/>
            </a:xfrm>
            <a:prstGeom prst="wedgeRoundRectCallout">
              <a:avLst>
                <a:gd name="adj1" fmla="val -61039"/>
                <a:gd name="adj2" fmla="val 38360"/>
                <a:gd name="adj3" fmla="val 16667"/>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u="sng" dirty="0">
                  <a:solidFill>
                    <a:schemeClr val="tx1"/>
                  </a:solidFill>
                </a:rPr>
                <a:t>命令網羅</a:t>
              </a:r>
              <a:endParaRPr lang="en-US" altLang="ja-JP" sz="1400" u="sng" dirty="0">
                <a:solidFill>
                  <a:schemeClr val="tx1"/>
                </a:solidFill>
              </a:endParaRPr>
            </a:p>
            <a:p>
              <a:pPr algn="ctr"/>
              <a:r>
                <a:rPr kumimoji="1" lang="ja-JP" altLang="en-US" sz="1400" dirty="0">
                  <a:solidFill>
                    <a:schemeClr val="tx1"/>
                  </a:solidFill>
                </a:rPr>
                <a:t>全ての命令（命令</a:t>
              </a:r>
              <a:r>
                <a:rPr lang="en-US" altLang="ja-JP" sz="1400" dirty="0">
                  <a:solidFill>
                    <a:schemeClr val="tx1"/>
                  </a:solidFill>
                </a:rPr>
                <a:t>1,2,3</a:t>
              </a:r>
              <a:r>
                <a:rPr kumimoji="1" lang="ja-JP" altLang="en-US" sz="1400" dirty="0">
                  <a:solidFill>
                    <a:schemeClr val="tx1"/>
                  </a:solidFill>
                </a:rPr>
                <a:t>）</a:t>
              </a:r>
              <a:r>
                <a:rPr lang="ja-JP" altLang="en-US" sz="1400" dirty="0">
                  <a:solidFill>
                    <a:schemeClr val="tx1"/>
                  </a:solidFill>
                </a:rPr>
                <a:t>を通る</a:t>
              </a:r>
              <a:endParaRPr kumimoji="1" lang="en-US" altLang="ja-JP" sz="1400" dirty="0">
                <a:solidFill>
                  <a:schemeClr val="tx1"/>
                </a:solidFill>
              </a:endParaRPr>
            </a:p>
          </p:txBody>
        </p:sp>
      </p:grpSp>
      <p:sp>
        <p:nvSpPr>
          <p:cNvPr id="47" name="矢印: 右 46">
            <a:extLst>
              <a:ext uri="{FF2B5EF4-FFF2-40B4-BE49-F238E27FC236}">
                <a16:creationId xmlns:a16="http://schemas.microsoft.com/office/drawing/2014/main" id="{7BA33AF9-6FA5-58C0-0B9A-83FB996B94B0}"/>
              </a:ext>
            </a:extLst>
          </p:cNvPr>
          <p:cNvSpPr/>
          <p:nvPr/>
        </p:nvSpPr>
        <p:spPr>
          <a:xfrm>
            <a:off x="7012630" y="4469204"/>
            <a:ext cx="751932" cy="529521"/>
          </a:xfrm>
          <a:prstGeom prst="rightArrow">
            <a:avLst/>
          </a:prstGeom>
          <a:solidFill>
            <a:schemeClr val="bg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8" name="テキスト ボックス 47">
            <a:extLst>
              <a:ext uri="{FF2B5EF4-FFF2-40B4-BE49-F238E27FC236}">
                <a16:creationId xmlns:a16="http://schemas.microsoft.com/office/drawing/2014/main" id="{1DE989A6-5163-9FEC-4869-DCEE3FB7ECAB}"/>
              </a:ext>
            </a:extLst>
          </p:cNvPr>
          <p:cNvSpPr txBox="1"/>
          <p:nvPr/>
        </p:nvSpPr>
        <p:spPr>
          <a:xfrm>
            <a:off x="7990677" y="4489975"/>
            <a:ext cx="2554236" cy="1470864"/>
          </a:xfrm>
          <a:prstGeom prst="rect">
            <a:avLst/>
          </a:prstGeom>
          <a:noFill/>
        </p:spPr>
        <p:txBody>
          <a:bodyPr wrap="square" lIns="0" rIns="0" rtlCol="0">
            <a:noAutofit/>
          </a:bodyPr>
          <a:lstStyle/>
          <a:p>
            <a:pPr algn="l" defTabSz="288000"/>
            <a:r>
              <a:rPr lang="ja-JP" altLang="en-US" u="sng" dirty="0">
                <a:latin typeface="+mn-ea"/>
              </a:rPr>
              <a:t>テスト項目</a:t>
            </a:r>
            <a:endParaRPr lang="en-US" altLang="ja-JP" u="sng" dirty="0">
              <a:latin typeface="+mn-ea"/>
            </a:endParaRPr>
          </a:p>
          <a:p>
            <a:pPr algn="l" defTabSz="288000"/>
            <a:r>
              <a:rPr kumimoji="1" lang="ja-JP" altLang="en-US" dirty="0">
                <a:latin typeface="+mn-ea"/>
              </a:rPr>
              <a:t>　・命令１が実行される</a:t>
            </a:r>
            <a:endParaRPr kumimoji="1" lang="en-US" altLang="ja-JP" dirty="0">
              <a:latin typeface="+mn-ea"/>
            </a:endParaRPr>
          </a:p>
          <a:p>
            <a:pPr algn="l" defTabSz="288000"/>
            <a:r>
              <a:rPr lang="ja-JP" altLang="en-US" dirty="0">
                <a:latin typeface="+mn-ea"/>
              </a:rPr>
              <a:t>　・命令２が実行される</a:t>
            </a:r>
            <a:endParaRPr lang="en-US" altLang="ja-JP" dirty="0">
              <a:latin typeface="+mn-ea"/>
            </a:endParaRPr>
          </a:p>
          <a:p>
            <a:pPr algn="l" defTabSz="288000"/>
            <a:r>
              <a:rPr kumimoji="1" lang="ja-JP" altLang="en-US" dirty="0">
                <a:latin typeface="+mn-ea"/>
              </a:rPr>
              <a:t>　・命令３が実行される</a:t>
            </a:r>
            <a:r>
              <a:rPr kumimoji="1" lang="en-US" altLang="ja-JP" dirty="0">
                <a:latin typeface="+mn-ea"/>
              </a:rPr>
              <a:t> </a:t>
            </a:r>
          </a:p>
          <a:p>
            <a:pPr algn="l" defTabSz="288000"/>
            <a:endParaRPr kumimoji="1" lang="ja-JP" altLang="en-US" dirty="0">
              <a:latin typeface="+mn-ea"/>
            </a:endParaRPr>
          </a:p>
        </p:txBody>
      </p:sp>
    </p:spTree>
    <p:extLst>
      <p:ext uri="{BB962C8B-B14F-4D97-AF65-F5344CB8AC3E}">
        <p14:creationId xmlns:p14="http://schemas.microsoft.com/office/powerpoint/2010/main" val="38320193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F8C3F-7415-93D8-ECA5-146F2F400D8F}"/>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0B384F6C-FA86-9AA5-3F8A-AFA727AACACE}"/>
              </a:ext>
            </a:extLst>
          </p:cNvPr>
          <p:cNvSpPr/>
          <p:nvPr/>
        </p:nvSpPr>
        <p:spPr>
          <a:xfrm>
            <a:off x="1593411" y="2156850"/>
            <a:ext cx="5748788" cy="4124325"/>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u="sng" dirty="0">
              <a:solidFill>
                <a:schemeClr val="tx1"/>
              </a:solidFill>
            </a:endParaRPr>
          </a:p>
        </p:txBody>
      </p:sp>
      <p:sp>
        <p:nvSpPr>
          <p:cNvPr id="34" name="テキスト ボックス 33">
            <a:extLst>
              <a:ext uri="{FF2B5EF4-FFF2-40B4-BE49-F238E27FC236}">
                <a16:creationId xmlns:a16="http://schemas.microsoft.com/office/drawing/2014/main" id="{9A5355A8-4775-354B-79B2-B966288C95D9}"/>
              </a:ext>
            </a:extLst>
          </p:cNvPr>
          <p:cNvSpPr txBox="1"/>
          <p:nvPr/>
        </p:nvSpPr>
        <p:spPr>
          <a:xfrm>
            <a:off x="2665930" y="3399925"/>
            <a:ext cx="416269" cy="288000"/>
          </a:xfrm>
          <a:prstGeom prst="rect">
            <a:avLst/>
          </a:prstGeom>
          <a:noFill/>
        </p:spPr>
        <p:txBody>
          <a:bodyPr wrap="square" lIns="0" rIns="0" rtlCol="0">
            <a:noAutofit/>
          </a:bodyPr>
          <a:lstStyle/>
          <a:p>
            <a:pPr algn="l" defTabSz="288000"/>
            <a:r>
              <a:rPr kumimoji="1" lang="en-US" altLang="ja-JP" sz="1050" dirty="0">
                <a:latin typeface="+mn-ea"/>
              </a:rPr>
              <a:t>Yes</a:t>
            </a:r>
            <a:endParaRPr kumimoji="1" lang="ja-JP" altLang="en-US" sz="1050" dirty="0">
              <a:latin typeface="+mn-ea"/>
            </a:endParaRPr>
          </a:p>
        </p:txBody>
      </p:sp>
      <p:sp>
        <p:nvSpPr>
          <p:cNvPr id="35" name="テキスト ボックス 34">
            <a:extLst>
              <a:ext uri="{FF2B5EF4-FFF2-40B4-BE49-F238E27FC236}">
                <a16:creationId xmlns:a16="http://schemas.microsoft.com/office/drawing/2014/main" id="{461EDECC-8306-5CC4-6F73-DD7F79E1795B}"/>
              </a:ext>
            </a:extLst>
          </p:cNvPr>
          <p:cNvSpPr txBox="1"/>
          <p:nvPr/>
        </p:nvSpPr>
        <p:spPr>
          <a:xfrm>
            <a:off x="2686672" y="5036534"/>
            <a:ext cx="416269" cy="288000"/>
          </a:xfrm>
          <a:prstGeom prst="rect">
            <a:avLst/>
          </a:prstGeom>
          <a:noFill/>
        </p:spPr>
        <p:txBody>
          <a:bodyPr wrap="square" lIns="0" rIns="0" rtlCol="0">
            <a:noAutofit/>
          </a:bodyPr>
          <a:lstStyle/>
          <a:p>
            <a:pPr algn="l" defTabSz="288000"/>
            <a:r>
              <a:rPr kumimoji="1" lang="en-US" altLang="ja-JP" sz="1050" dirty="0">
                <a:latin typeface="+mn-ea"/>
              </a:rPr>
              <a:t>Yes</a:t>
            </a:r>
            <a:endParaRPr kumimoji="1" lang="ja-JP" altLang="en-US" sz="1050" dirty="0">
              <a:latin typeface="+mn-ea"/>
            </a:endParaRPr>
          </a:p>
        </p:txBody>
      </p:sp>
      <p:sp>
        <p:nvSpPr>
          <p:cNvPr id="2" name="タイトル 1">
            <a:extLst>
              <a:ext uri="{FF2B5EF4-FFF2-40B4-BE49-F238E27FC236}">
                <a16:creationId xmlns:a16="http://schemas.microsoft.com/office/drawing/2014/main" id="{4CAEC008-7974-0C5C-D2B8-196A44B9E91C}"/>
              </a:ext>
            </a:extLst>
          </p:cNvPr>
          <p:cNvSpPr>
            <a:spLocks noGrp="1"/>
          </p:cNvSpPr>
          <p:nvPr>
            <p:ph type="title"/>
          </p:nvPr>
        </p:nvSpPr>
        <p:spPr/>
        <p:txBody>
          <a:bodyPr/>
          <a:lstStyle/>
          <a:p>
            <a:r>
              <a:rPr lang="ja-JP" altLang="en-US" dirty="0"/>
              <a:t>ホワイトボックス</a:t>
            </a:r>
            <a:r>
              <a:rPr kumimoji="1" lang="ja-JP" altLang="en-US" dirty="0"/>
              <a:t>テスト：</a:t>
            </a:r>
            <a:r>
              <a:rPr lang="ja-JP" altLang="en-US" dirty="0"/>
              <a:t>ブランチテスト</a:t>
            </a:r>
            <a:endParaRPr kumimoji="1" lang="ja-JP" altLang="en-US" dirty="0"/>
          </a:p>
        </p:txBody>
      </p:sp>
      <p:sp>
        <p:nvSpPr>
          <p:cNvPr id="3" name="コンテンツ プレースホルダー 2">
            <a:extLst>
              <a:ext uri="{FF2B5EF4-FFF2-40B4-BE49-F238E27FC236}">
                <a16:creationId xmlns:a16="http://schemas.microsoft.com/office/drawing/2014/main" id="{E429D334-6997-6F34-E0E9-F53251455258}"/>
              </a:ext>
            </a:extLst>
          </p:cNvPr>
          <p:cNvSpPr>
            <a:spLocks noGrp="1"/>
          </p:cNvSpPr>
          <p:nvPr>
            <p:ph sz="quarter" idx="10"/>
          </p:nvPr>
        </p:nvSpPr>
        <p:spPr>
          <a:xfrm>
            <a:off x="372000" y="1038386"/>
            <a:ext cx="11448000" cy="1712090"/>
          </a:xfrm>
        </p:spPr>
        <p:txBody>
          <a:bodyPr/>
          <a:lstStyle/>
          <a:p>
            <a:r>
              <a:rPr lang="ja-JP" altLang="en-US" u="sng" dirty="0">
                <a:solidFill>
                  <a:schemeClr val="tx1"/>
                </a:solidFill>
              </a:rPr>
              <a:t>ブランチテスト</a:t>
            </a:r>
            <a:endParaRPr lang="en-US" altLang="ja-JP" u="sng" dirty="0">
              <a:solidFill>
                <a:schemeClr val="tx1"/>
              </a:solidFill>
            </a:endParaRPr>
          </a:p>
          <a:p>
            <a:r>
              <a:rPr lang="ja-JP" altLang="en-US" sz="2000" dirty="0">
                <a:solidFill>
                  <a:schemeClr val="tx1"/>
                </a:solidFill>
              </a:rPr>
              <a:t>全てのブランチ</a:t>
            </a:r>
            <a:r>
              <a:rPr lang="ja-JP" altLang="en-US" sz="2000" b="0" i="0" dirty="0">
                <a:solidFill>
                  <a:schemeClr val="tx1"/>
                </a:solidFill>
                <a:effectLst/>
                <a:latin typeface="__Inter_a184c8"/>
              </a:rPr>
              <a:t>が少なくとも一回実行されるようにテスト項目を作成する技法</a:t>
            </a:r>
            <a:endParaRPr lang="en-US" altLang="ja-JP" sz="2000" b="0" i="0" dirty="0">
              <a:solidFill>
                <a:schemeClr val="tx1"/>
              </a:solidFill>
              <a:effectLst/>
              <a:latin typeface="__Inter_a184c8"/>
            </a:endParaRPr>
          </a:p>
          <a:p>
            <a:r>
              <a:rPr lang="ja-JP" altLang="en-US" sz="2000" dirty="0">
                <a:solidFill>
                  <a:schemeClr val="tx1"/>
                </a:solidFill>
                <a:latin typeface="__Inter_a184c8"/>
              </a:rPr>
              <a:t>　＝ コードカバレッジの基準に</a:t>
            </a:r>
            <a:r>
              <a:rPr lang="ja-JP" altLang="en-US" sz="2000" b="1" u="sng" dirty="0">
                <a:solidFill>
                  <a:schemeClr val="tx1"/>
                </a:solidFill>
                <a:latin typeface="__Inter_a184c8"/>
              </a:rPr>
              <a:t>分岐</a:t>
            </a:r>
            <a:r>
              <a:rPr kumimoji="1" lang="ja-JP" altLang="en-US" sz="2000" b="1" u="sng" dirty="0">
                <a:solidFill>
                  <a:schemeClr val="tx1"/>
                </a:solidFill>
              </a:rPr>
              <a:t>網羅（</a:t>
            </a:r>
            <a:r>
              <a:rPr kumimoji="1" lang="en-US" altLang="ja-JP" sz="2000" b="1" u="sng" dirty="0">
                <a:solidFill>
                  <a:schemeClr val="tx1"/>
                </a:solidFill>
              </a:rPr>
              <a:t>C</a:t>
            </a:r>
            <a:r>
              <a:rPr lang="en-US" altLang="ja-JP" sz="2000" b="1" u="sng" dirty="0">
                <a:solidFill>
                  <a:schemeClr val="tx1"/>
                </a:solidFill>
              </a:rPr>
              <a:t>1</a:t>
            </a:r>
            <a:r>
              <a:rPr kumimoji="1" lang="ja-JP" altLang="en-US" sz="2000" b="1" u="sng" dirty="0">
                <a:solidFill>
                  <a:schemeClr val="tx1"/>
                </a:solidFill>
              </a:rPr>
              <a:t>）</a:t>
            </a:r>
            <a:r>
              <a:rPr kumimoji="1" lang="ja-JP" altLang="en-US" sz="2000" dirty="0">
                <a:solidFill>
                  <a:schemeClr val="tx1"/>
                </a:solidFill>
              </a:rPr>
              <a:t>を用いたテスト技法</a:t>
            </a:r>
            <a:endParaRPr lang="en-US" altLang="ja-JP" sz="2000" b="0" i="0" dirty="0">
              <a:solidFill>
                <a:schemeClr val="tx1"/>
              </a:solidFill>
              <a:effectLst/>
              <a:latin typeface="__Inter_a184c8"/>
            </a:endParaRPr>
          </a:p>
        </p:txBody>
      </p:sp>
      <p:cxnSp>
        <p:nvCxnSpPr>
          <p:cNvPr id="21" name="直線矢印コネクタ 20">
            <a:extLst>
              <a:ext uri="{FF2B5EF4-FFF2-40B4-BE49-F238E27FC236}">
                <a16:creationId xmlns:a16="http://schemas.microsoft.com/office/drawing/2014/main" id="{4BFA09EC-782F-0D0D-CB15-903ED188B99A}"/>
              </a:ext>
            </a:extLst>
          </p:cNvPr>
          <p:cNvCxnSpPr/>
          <p:nvPr/>
        </p:nvCxnSpPr>
        <p:spPr>
          <a:xfrm>
            <a:off x="2930121" y="2459087"/>
            <a:ext cx="0" cy="324000"/>
          </a:xfrm>
          <a:prstGeom prst="straightConnector1">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矢印: 右 46">
            <a:extLst>
              <a:ext uri="{FF2B5EF4-FFF2-40B4-BE49-F238E27FC236}">
                <a16:creationId xmlns:a16="http://schemas.microsoft.com/office/drawing/2014/main" id="{84ED423F-DB5C-28CA-38D8-AF7C3B321AE8}"/>
              </a:ext>
            </a:extLst>
          </p:cNvPr>
          <p:cNvSpPr/>
          <p:nvPr/>
        </p:nvSpPr>
        <p:spPr>
          <a:xfrm>
            <a:off x="7012630" y="4469204"/>
            <a:ext cx="751932" cy="529521"/>
          </a:xfrm>
          <a:prstGeom prst="rightArrow">
            <a:avLst/>
          </a:prstGeom>
          <a:solidFill>
            <a:schemeClr val="bg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8" name="テキスト ボックス 47">
            <a:extLst>
              <a:ext uri="{FF2B5EF4-FFF2-40B4-BE49-F238E27FC236}">
                <a16:creationId xmlns:a16="http://schemas.microsoft.com/office/drawing/2014/main" id="{FC2B5B64-3E02-C1F8-985F-8307F3C58874}"/>
              </a:ext>
            </a:extLst>
          </p:cNvPr>
          <p:cNvSpPr txBox="1"/>
          <p:nvPr/>
        </p:nvSpPr>
        <p:spPr>
          <a:xfrm>
            <a:off x="7896060" y="4489975"/>
            <a:ext cx="4201323" cy="1470864"/>
          </a:xfrm>
          <a:prstGeom prst="rect">
            <a:avLst/>
          </a:prstGeom>
          <a:noFill/>
        </p:spPr>
        <p:txBody>
          <a:bodyPr wrap="square" lIns="0" rIns="0" rtlCol="0">
            <a:noAutofit/>
          </a:bodyPr>
          <a:lstStyle/>
          <a:p>
            <a:pPr algn="l" defTabSz="288000"/>
            <a:r>
              <a:rPr lang="ja-JP" altLang="en-US" u="sng" dirty="0">
                <a:latin typeface="+mn-ea"/>
              </a:rPr>
              <a:t>テスト項目</a:t>
            </a:r>
            <a:endParaRPr lang="en-US" altLang="ja-JP" u="sng" dirty="0">
              <a:latin typeface="+mn-ea"/>
            </a:endParaRPr>
          </a:p>
          <a:p>
            <a:pPr algn="l" defTabSz="288000"/>
            <a:r>
              <a:rPr kumimoji="1" lang="ja-JP" altLang="en-US" dirty="0">
                <a:latin typeface="+mn-ea"/>
              </a:rPr>
              <a:t>　・分岐</a:t>
            </a:r>
            <a:r>
              <a:rPr kumimoji="1" lang="en-US" altLang="ja-JP" dirty="0">
                <a:latin typeface="+mn-ea"/>
              </a:rPr>
              <a:t>A</a:t>
            </a:r>
            <a:r>
              <a:rPr lang="ja-JP" altLang="en-US" dirty="0">
                <a:latin typeface="+mn-ea"/>
              </a:rPr>
              <a:t>が真のとき、命令１に進む</a:t>
            </a:r>
            <a:endParaRPr kumimoji="1" lang="en-US" altLang="ja-JP" dirty="0">
              <a:latin typeface="+mn-ea"/>
            </a:endParaRPr>
          </a:p>
          <a:p>
            <a:pPr algn="l" defTabSz="288000"/>
            <a:r>
              <a:rPr lang="ja-JP" altLang="en-US" dirty="0">
                <a:latin typeface="+mn-ea"/>
              </a:rPr>
              <a:t>　・分岐</a:t>
            </a:r>
            <a:r>
              <a:rPr lang="en-US" altLang="ja-JP" dirty="0">
                <a:latin typeface="+mn-ea"/>
              </a:rPr>
              <a:t>A</a:t>
            </a:r>
            <a:r>
              <a:rPr lang="ja-JP" altLang="en-US" dirty="0">
                <a:latin typeface="+mn-ea"/>
              </a:rPr>
              <a:t>が偽のとき、分岐</a:t>
            </a:r>
            <a:r>
              <a:rPr lang="en-US" altLang="ja-JP" dirty="0">
                <a:latin typeface="+mn-ea"/>
              </a:rPr>
              <a:t>B</a:t>
            </a:r>
            <a:r>
              <a:rPr lang="ja-JP" altLang="en-US" dirty="0">
                <a:latin typeface="+mn-ea"/>
              </a:rPr>
              <a:t>に進む</a:t>
            </a:r>
            <a:endParaRPr lang="en-US" altLang="ja-JP" dirty="0">
              <a:latin typeface="+mn-ea"/>
            </a:endParaRPr>
          </a:p>
          <a:p>
            <a:pPr algn="l" defTabSz="288000"/>
            <a:r>
              <a:rPr kumimoji="1" lang="ja-JP" altLang="en-US" dirty="0">
                <a:latin typeface="+mn-ea"/>
              </a:rPr>
              <a:t>　・分岐</a:t>
            </a:r>
            <a:r>
              <a:rPr kumimoji="1" lang="en-US" altLang="ja-JP" dirty="0">
                <a:latin typeface="+mn-ea"/>
              </a:rPr>
              <a:t>B</a:t>
            </a:r>
            <a:r>
              <a:rPr kumimoji="1" lang="ja-JP" altLang="en-US" dirty="0">
                <a:latin typeface="+mn-ea"/>
              </a:rPr>
              <a:t>が真のとき、命令２に進む</a:t>
            </a:r>
            <a:endParaRPr kumimoji="1" lang="en-US" altLang="ja-JP" dirty="0">
              <a:latin typeface="+mn-ea"/>
            </a:endParaRPr>
          </a:p>
          <a:p>
            <a:pPr algn="l" defTabSz="288000"/>
            <a:r>
              <a:rPr lang="ja-JP" altLang="en-US" dirty="0">
                <a:latin typeface="+mn-ea"/>
              </a:rPr>
              <a:t>　・分岐</a:t>
            </a:r>
            <a:r>
              <a:rPr lang="en-US" altLang="ja-JP" dirty="0">
                <a:latin typeface="+mn-ea"/>
              </a:rPr>
              <a:t>B</a:t>
            </a:r>
            <a:r>
              <a:rPr lang="ja-JP" altLang="en-US" dirty="0">
                <a:latin typeface="+mn-ea"/>
              </a:rPr>
              <a:t>が偽のとき、命令３に進む</a:t>
            </a:r>
            <a:endParaRPr kumimoji="1" lang="en-US" altLang="ja-JP" dirty="0">
              <a:latin typeface="+mn-ea"/>
            </a:endParaRPr>
          </a:p>
          <a:p>
            <a:pPr algn="l" defTabSz="288000"/>
            <a:endParaRPr kumimoji="1" lang="ja-JP" altLang="en-US" dirty="0">
              <a:latin typeface="+mn-ea"/>
            </a:endParaRPr>
          </a:p>
        </p:txBody>
      </p:sp>
      <p:sp>
        <p:nvSpPr>
          <p:cNvPr id="5" name="フローチャート: 判断 4">
            <a:extLst>
              <a:ext uri="{FF2B5EF4-FFF2-40B4-BE49-F238E27FC236}">
                <a16:creationId xmlns:a16="http://schemas.microsoft.com/office/drawing/2014/main" id="{10E261EC-4A90-118A-C7AA-369D3A506B05}"/>
              </a:ext>
            </a:extLst>
          </p:cNvPr>
          <p:cNvSpPr/>
          <p:nvPr/>
        </p:nvSpPr>
        <p:spPr>
          <a:xfrm>
            <a:off x="1993378" y="2786613"/>
            <a:ext cx="1892535" cy="642387"/>
          </a:xfrm>
          <a:prstGeom prst="flowChartDecision">
            <a:avLst/>
          </a:prstGeom>
          <a:solidFill>
            <a:srgbClr val="FFE1C5"/>
          </a:solidFill>
          <a:ln w="12700">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u="sng" dirty="0">
                <a:solidFill>
                  <a:schemeClr val="tx1"/>
                </a:solidFill>
              </a:rPr>
              <a:t>分岐</a:t>
            </a:r>
            <a:r>
              <a:rPr kumimoji="1" lang="en-US" altLang="ja-JP" sz="1400" u="sng" dirty="0">
                <a:solidFill>
                  <a:schemeClr val="tx1"/>
                </a:solidFill>
              </a:rPr>
              <a:t>A</a:t>
            </a:r>
          </a:p>
          <a:p>
            <a:pPr algn="ctr"/>
            <a:r>
              <a:rPr kumimoji="1" lang="ja-JP" altLang="en-US" sz="1200" dirty="0">
                <a:solidFill>
                  <a:schemeClr val="tx1"/>
                </a:solidFill>
              </a:rPr>
              <a:t>条件</a:t>
            </a:r>
            <a:r>
              <a:rPr kumimoji="1" lang="en-US" altLang="ja-JP" sz="1200" dirty="0">
                <a:solidFill>
                  <a:schemeClr val="tx1"/>
                </a:solidFill>
              </a:rPr>
              <a:t>a</a:t>
            </a:r>
            <a:endParaRPr kumimoji="1" lang="ja-JP" altLang="en-US" sz="1200" dirty="0">
              <a:solidFill>
                <a:schemeClr val="tx1"/>
              </a:solidFill>
            </a:endParaRPr>
          </a:p>
        </p:txBody>
      </p:sp>
      <p:sp>
        <p:nvSpPr>
          <p:cNvPr id="6" name="正方形/長方形 5">
            <a:extLst>
              <a:ext uri="{FF2B5EF4-FFF2-40B4-BE49-F238E27FC236}">
                <a16:creationId xmlns:a16="http://schemas.microsoft.com/office/drawing/2014/main" id="{C94AC722-490C-BE8E-3962-5FC968507F07}"/>
              </a:ext>
            </a:extLst>
          </p:cNvPr>
          <p:cNvSpPr/>
          <p:nvPr/>
        </p:nvSpPr>
        <p:spPr>
          <a:xfrm>
            <a:off x="2291168" y="5399182"/>
            <a:ext cx="1296955" cy="350222"/>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命令２</a:t>
            </a:r>
          </a:p>
        </p:txBody>
      </p:sp>
      <p:sp>
        <p:nvSpPr>
          <p:cNvPr id="7" name="正方形/長方形 6">
            <a:extLst>
              <a:ext uri="{FF2B5EF4-FFF2-40B4-BE49-F238E27FC236}">
                <a16:creationId xmlns:a16="http://schemas.microsoft.com/office/drawing/2014/main" id="{A84EDA01-589E-F01F-DCD1-0511B3303011}"/>
              </a:ext>
            </a:extLst>
          </p:cNvPr>
          <p:cNvSpPr/>
          <p:nvPr/>
        </p:nvSpPr>
        <p:spPr>
          <a:xfrm>
            <a:off x="2291168" y="3678559"/>
            <a:ext cx="1296955" cy="350222"/>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命令１</a:t>
            </a:r>
          </a:p>
        </p:txBody>
      </p:sp>
      <p:cxnSp>
        <p:nvCxnSpPr>
          <p:cNvPr id="12" name="直線矢印コネクタ 11">
            <a:extLst>
              <a:ext uri="{FF2B5EF4-FFF2-40B4-BE49-F238E27FC236}">
                <a16:creationId xmlns:a16="http://schemas.microsoft.com/office/drawing/2014/main" id="{E23CB94F-FB6E-F65C-E861-A0C6006A16D0}"/>
              </a:ext>
            </a:extLst>
          </p:cNvPr>
          <p:cNvCxnSpPr>
            <a:cxnSpLocks/>
          </p:cNvCxnSpPr>
          <p:nvPr/>
        </p:nvCxnSpPr>
        <p:spPr>
          <a:xfrm flipH="1">
            <a:off x="2939646" y="3420909"/>
            <a:ext cx="1" cy="233268"/>
          </a:xfrm>
          <a:prstGeom prst="straightConnector1">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直線矢印コネクタ 12">
            <a:extLst>
              <a:ext uri="{FF2B5EF4-FFF2-40B4-BE49-F238E27FC236}">
                <a16:creationId xmlns:a16="http://schemas.microsoft.com/office/drawing/2014/main" id="{0A5618F7-772C-50A1-8500-CA3750AB2697}"/>
              </a:ext>
            </a:extLst>
          </p:cNvPr>
          <p:cNvCxnSpPr>
            <a:cxnSpLocks/>
            <a:stCxn id="7" idx="2"/>
            <a:endCxn id="16" idx="0"/>
          </p:cNvCxnSpPr>
          <p:nvPr/>
        </p:nvCxnSpPr>
        <p:spPr>
          <a:xfrm>
            <a:off x="2939646" y="4028781"/>
            <a:ext cx="0" cy="387516"/>
          </a:xfrm>
          <a:prstGeom prst="straightConnector1">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コネクタ: カギ線 13">
            <a:extLst>
              <a:ext uri="{FF2B5EF4-FFF2-40B4-BE49-F238E27FC236}">
                <a16:creationId xmlns:a16="http://schemas.microsoft.com/office/drawing/2014/main" id="{95D4A407-BA94-6433-49A6-2325952D7DBE}"/>
              </a:ext>
            </a:extLst>
          </p:cNvPr>
          <p:cNvCxnSpPr>
            <a:cxnSpLocks/>
            <a:stCxn id="5" idx="3"/>
          </p:cNvCxnSpPr>
          <p:nvPr/>
        </p:nvCxnSpPr>
        <p:spPr>
          <a:xfrm flipH="1">
            <a:off x="2939646" y="3107807"/>
            <a:ext cx="946267" cy="1060551"/>
          </a:xfrm>
          <a:prstGeom prst="bentConnector4">
            <a:avLst>
              <a:gd name="adj1" fmla="val -24158"/>
              <a:gd name="adj2" fmla="val 100335"/>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フローチャート: 判断 15">
            <a:extLst>
              <a:ext uri="{FF2B5EF4-FFF2-40B4-BE49-F238E27FC236}">
                <a16:creationId xmlns:a16="http://schemas.microsoft.com/office/drawing/2014/main" id="{956E4F2C-531F-5046-74A3-872A08917DCD}"/>
              </a:ext>
            </a:extLst>
          </p:cNvPr>
          <p:cNvSpPr/>
          <p:nvPr/>
        </p:nvSpPr>
        <p:spPr>
          <a:xfrm>
            <a:off x="1993375" y="4416297"/>
            <a:ext cx="1892541" cy="642387"/>
          </a:xfrm>
          <a:prstGeom prst="flowChartDecision">
            <a:avLst/>
          </a:prstGeom>
          <a:solidFill>
            <a:srgbClr val="FFE1C5"/>
          </a:solidFill>
          <a:ln w="12700">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u="sng" dirty="0">
                <a:solidFill>
                  <a:schemeClr val="tx1"/>
                </a:solidFill>
              </a:rPr>
              <a:t>分岐</a:t>
            </a:r>
            <a:r>
              <a:rPr kumimoji="1" lang="en-US" altLang="ja-JP" sz="1400" u="sng" dirty="0">
                <a:solidFill>
                  <a:schemeClr val="tx1"/>
                </a:solidFill>
              </a:rPr>
              <a:t>B</a:t>
            </a:r>
          </a:p>
          <a:p>
            <a:pPr algn="ctr"/>
            <a:r>
              <a:rPr kumimoji="1" lang="ja-JP" altLang="en-US" sz="1200" dirty="0">
                <a:solidFill>
                  <a:schemeClr val="tx1"/>
                </a:solidFill>
              </a:rPr>
              <a:t>条件</a:t>
            </a:r>
            <a:r>
              <a:rPr lang="en-US" altLang="ja-JP" sz="1200" dirty="0">
                <a:solidFill>
                  <a:schemeClr val="tx1"/>
                </a:solidFill>
              </a:rPr>
              <a:t>b1&amp;b2</a:t>
            </a:r>
            <a:endParaRPr kumimoji="1" lang="ja-JP" altLang="en-US" sz="1200" dirty="0">
              <a:solidFill>
                <a:schemeClr val="tx1"/>
              </a:solidFill>
            </a:endParaRPr>
          </a:p>
        </p:txBody>
      </p:sp>
      <p:cxnSp>
        <p:nvCxnSpPr>
          <p:cNvPr id="18" name="直線矢印コネクタ 17">
            <a:extLst>
              <a:ext uri="{FF2B5EF4-FFF2-40B4-BE49-F238E27FC236}">
                <a16:creationId xmlns:a16="http://schemas.microsoft.com/office/drawing/2014/main" id="{18DB6582-8962-3DAE-A2AF-CE716F08B573}"/>
              </a:ext>
            </a:extLst>
          </p:cNvPr>
          <p:cNvCxnSpPr>
            <a:cxnSpLocks/>
            <a:stCxn id="16" idx="2"/>
            <a:endCxn id="6" idx="0"/>
          </p:cNvCxnSpPr>
          <p:nvPr/>
        </p:nvCxnSpPr>
        <p:spPr>
          <a:xfrm>
            <a:off x="2939646" y="5058684"/>
            <a:ext cx="0" cy="340498"/>
          </a:xfrm>
          <a:prstGeom prst="straightConnector1">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正方形/長方形 18">
            <a:extLst>
              <a:ext uri="{FF2B5EF4-FFF2-40B4-BE49-F238E27FC236}">
                <a16:creationId xmlns:a16="http://schemas.microsoft.com/office/drawing/2014/main" id="{40CF5621-3456-BEF9-9D40-E94D6681749B}"/>
              </a:ext>
            </a:extLst>
          </p:cNvPr>
          <p:cNvSpPr/>
          <p:nvPr/>
        </p:nvSpPr>
        <p:spPr>
          <a:xfrm>
            <a:off x="3733786" y="5399182"/>
            <a:ext cx="1296955" cy="350222"/>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命令３</a:t>
            </a:r>
          </a:p>
        </p:txBody>
      </p:sp>
      <p:cxnSp>
        <p:nvCxnSpPr>
          <p:cNvPr id="22" name="コネクタ: カギ線 21">
            <a:extLst>
              <a:ext uri="{FF2B5EF4-FFF2-40B4-BE49-F238E27FC236}">
                <a16:creationId xmlns:a16="http://schemas.microsoft.com/office/drawing/2014/main" id="{52A3C0DB-4D17-19D8-A0C3-CE285D91323E}"/>
              </a:ext>
            </a:extLst>
          </p:cNvPr>
          <p:cNvCxnSpPr>
            <a:cxnSpLocks/>
            <a:stCxn id="16" idx="3"/>
            <a:endCxn id="19" idx="0"/>
          </p:cNvCxnSpPr>
          <p:nvPr/>
        </p:nvCxnSpPr>
        <p:spPr>
          <a:xfrm>
            <a:off x="3885916" y="4737491"/>
            <a:ext cx="496348" cy="661691"/>
          </a:xfrm>
          <a:prstGeom prst="bentConnector2">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直線矢印コネクタ 28">
            <a:extLst>
              <a:ext uri="{FF2B5EF4-FFF2-40B4-BE49-F238E27FC236}">
                <a16:creationId xmlns:a16="http://schemas.microsoft.com/office/drawing/2014/main" id="{A357162A-E74E-2944-2309-9D3D2B3AE21D}"/>
              </a:ext>
            </a:extLst>
          </p:cNvPr>
          <p:cNvCxnSpPr>
            <a:cxnSpLocks/>
            <a:stCxn id="6" idx="2"/>
          </p:cNvCxnSpPr>
          <p:nvPr/>
        </p:nvCxnSpPr>
        <p:spPr>
          <a:xfrm>
            <a:off x="2939646" y="5749404"/>
            <a:ext cx="0" cy="432000"/>
          </a:xfrm>
          <a:prstGeom prst="straightConnector1">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1" name="コネクタ: カギ線 30">
            <a:extLst>
              <a:ext uri="{FF2B5EF4-FFF2-40B4-BE49-F238E27FC236}">
                <a16:creationId xmlns:a16="http://schemas.microsoft.com/office/drawing/2014/main" id="{174FBF75-2C92-EEE6-57FD-EBBAFCEB9A2D}"/>
              </a:ext>
            </a:extLst>
          </p:cNvPr>
          <p:cNvCxnSpPr>
            <a:cxnSpLocks/>
            <a:stCxn id="19" idx="2"/>
          </p:cNvCxnSpPr>
          <p:nvPr/>
        </p:nvCxnSpPr>
        <p:spPr>
          <a:xfrm rot="5400000">
            <a:off x="3548215" y="5140837"/>
            <a:ext cx="225482" cy="1442617"/>
          </a:xfrm>
          <a:prstGeom prst="bentConnector2">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テキスト ボックス 35">
            <a:extLst>
              <a:ext uri="{FF2B5EF4-FFF2-40B4-BE49-F238E27FC236}">
                <a16:creationId xmlns:a16="http://schemas.microsoft.com/office/drawing/2014/main" id="{1F6A0A88-F0C8-FBC4-6B59-942A40E33CA8}"/>
              </a:ext>
            </a:extLst>
          </p:cNvPr>
          <p:cNvSpPr txBox="1"/>
          <p:nvPr/>
        </p:nvSpPr>
        <p:spPr>
          <a:xfrm>
            <a:off x="3932313" y="4542705"/>
            <a:ext cx="416269" cy="288000"/>
          </a:xfrm>
          <a:prstGeom prst="rect">
            <a:avLst/>
          </a:prstGeom>
          <a:noFill/>
        </p:spPr>
        <p:txBody>
          <a:bodyPr wrap="square" lIns="0" rIns="0" rtlCol="0">
            <a:noAutofit/>
          </a:bodyPr>
          <a:lstStyle/>
          <a:p>
            <a:pPr algn="l" defTabSz="288000"/>
            <a:r>
              <a:rPr lang="en-US" altLang="ja-JP" sz="1050" dirty="0">
                <a:latin typeface="+mn-ea"/>
              </a:rPr>
              <a:t>No</a:t>
            </a:r>
            <a:endParaRPr kumimoji="1" lang="ja-JP" altLang="en-US" sz="1050" dirty="0">
              <a:latin typeface="+mn-ea"/>
            </a:endParaRPr>
          </a:p>
        </p:txBody>
      </p:sp>
      <p:sp>
        <p:nvSpPr>
          <p:cNvPr id="37" name="テキスト ボックス 36">
            <a:extLst>
              <a:ext uri="{FF2B5EF4-FFF2-40B4-BE49-F238E27FC236}">
                <a16:creationId xmlns:a16="http://schemas.microsoft.com/office/drawing/2014/main" id="{998F5524-19BF-D639-2A6D-7FD4E62BE620}"/>
              </a:ext>
            </a:extLst>
          </p:cNvPr>
          <p:cNvSpPr txBox="1"/>
          <p:nvPr/>
        </p:nvSpPr>
        <p:spPr>
          <a:xfrm>
            <a:off x="3932312" y="2890741"/>
            <a:ext cx="416269" cy="288000"/>
          </a:xfrm>
          <a:prstGeom prst="rect">
            <a:avLst/>
          </a:prstGeom>
          <a:noFill/>
        </p:spPr>
        <p:txBody>
          <a:bodyPr wrap="square" lIns="0" rIns="0" rtlCol="0">
            <a:noAutofit/>
          </a:bodyPr>
          <a:lstStyle/>
          <a:p>
            <a:pPr algn="l" defTabSz="288000"/>
            <a:r>
              <a:rPr lang="en-US" altLang="ja-JP" sz="1050" dirty="0">
                <a:latin typeface="+mn-ea"/>
              </a:rPr>
              <a:t>No</a:t>
            </a:r>
            <a:endParaRPr kumimoji="1" lang="ja-JP" altLang="en-US" sz="1050" dirty="0">
              <a:latin typeface="+mn-ea"/>
            </a:endParaRPr>
          </a:p>
        </p:txBody>
      </p:sp>
      <p:sp>
        <p:nvSpPr>
          <p:cNvPr id="38" name="吹き出し: 角を丸めた四角形 37">
            <a:extLst>
              <a:ext uri="{FF2B5EF4-FFF2-40B4-BE49-F238E27FC236}">
                <a16:creationId xmlns:a16="http://schemas.microsoft.com/office/drawing/2014/main" id="{549B8E73-D28E-0EC9-E802-45F6A618EB2F}"/>
              </a:ext>
            </a:extLst>
          </p:cNvPr>
          <p:cNvSpPr/>
          <p:nvPr/>
        </p:nvSpPr>
        <p:spPr>
          <a:xfrm>
            <a:off x="4504535" y="3565533"/>
            <a:ext cx="2284422" cy="1134960"/>
          </a:xfrm>
          <a:prstGeom prst="wedgeRoundRectCallout">
            <a:avLst>
              <a:gd name="adj1" fmla="val -62674"/>
              <a:gd name="adj2" fmla="val 23835"/>
              <a:gd name="adj3" fmla="val 16667"/>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ja-JP" altLang="en-US" sz="1400" u="sng" dirty="0">
                <a:solidFill>
                  <a:schemeClr val="tx1"/>
                </a:solidFill>
              </a:rPr>
              <a:t>分岐網羅</a:t>
            </a:r>
            <a:endParaRPr lang="en-US" altLang="ja-JP" sz="1400" u="sng" dirty="0">
              <a:solidFill>
                <a:schemeClr val="tx1"/>
              </a:solidFill>
            </a:endParaRPr>
          </a:p>
          <a:p>
            <a:pPr algn="ctr"/>
            <a:r>
              <a:rPr kumimoji="1" lang="ja-JP" altLang="en-US" sz="1400" dirty="0">
                <a:solidFill>
                  <a:schemeClr val="tx1"/>
                </a:solidFill>
              </a:rPr>
              <a:t>全ての分岐</a:t>
            </a:r>
            <a:r>
              <a:rPr lang="ja-JP" altLang="en-US" sz="1400" dirty="0">
                <a:solidFill>
                  <a:schemeClr val="tx1"/>
                </a:solidFill>
              </a:rPr>
              <a:t>を通る</a:t>
            </a:r>
            <a:endParaRPr kumimoji="1" lang="en-US" altLang="ja-JP" sz="1400" dirty="0">
              <a:solidFill>
                <a:schemeClr val="tx1"/>
              </a:solidFill>
            </a:endParaRPr>
          </a:p>
        </p:txBody>
      </p:sp>
      <p:sp>
        <p:nvSpPr>
          <p:cNvPr id="39" name="テキスト ボックス 38">
            <a:extLst>
              <a:ext uri="{FF2B5EF4-FFF2-40B4-BE49-F238E27FC236}">
                <a16:creationId xmlns:a16="http://schemas.microsoft.com/office/drawing/2014/main" id="{147BAE1C-91BB-80C0-5E7D-BE166602FCCD}"/>
              </a:ext>
            </a:extLst>
          </p:cNvPr>
          <p:cNvSpPr txBox="1"/>
          <p:nvPr/>
        </p:nvSpPr>
        <p:spPr>
          <a:xfrm>
            <a:off x="4985308" y="4089125"/>
            <a:ext cx="1803649" cy="530111"/>
          </a:xfrm>
          <a:prstGeom prst="rect">
            <a:avLst/>
          </a:prstGeom>
          <a:noFill/>
        </p:spPr>
        <p:txBody>
          <a:bodyPr wrap="square" lIns="0" rIns="0" rtlCol="0">
            <a:noAutofit/>
          </a:bodyPr>
          <a:lstStyle/>
          <a:p>
            <a:r>
              <a:rPr kumimoji="1" lang="ja-JP" altLang="en-US" sz="1400" dirty="0">
                <a:solidFill>
                  <a:schemeClr val="tx1"/>
                </a:solidFill>
              </a:rPr>
              <a:t>・</a:t>
            </a:r>
            <a:r>
              <a:rPr lang="ja-JP" altLang="en-US" sz="1400" dirty="0"/>
              <a:t>分岐</a:t>
            </a:r>
            <a:r>
              <a:rPr lang="en-US" altLang="ja-JP" sz="1400" dirty="0">
                <a:solidFill>
                  <a:schemeClr val="tx1"/>
                </a:solidFill>
              </a:rPr>
              <a:t>A</a:t>
            </a:r>
            <a:r>
              <a:rPr kumimoji="1" lang="ja-JP" altLang="en-US" sz="1400" dirty="0">
                <a:solidFill>
                  <a:schemeClr val="tx1"/>
                </a:solidFill>
              </a:rPr>
              <a:t>の真</a:t>
            </a:r>
            <a:r>
              <a:rPr kumimoji="1" lang="en-US" altLang="ja-JP" sz="1400" dirty="0">
                <a:solidFill>
                  <a:schemeClr val="tx1"/>
                </a:solidFill>
              </a:rPr>
              <a:t>/</a:t>
            </a:r>
            <a:r>
              <a:rPr kumimoji="1" lang="ja-JP" altLang="en-US" sz="1400" dirty="0">
                <a:solidFill>
                  <a:schemeClr val="tx1"/>
                </a:solidFill>
              </a:rPr>
              <a:t>偽ルート</a:t>
            </a:r>
            <a:endParaRPr kumimoji="1" lang="en-US" altLang="ja-JP" sz="1400" dirty="0">
              <a:solidFill>
                <a:schemeClr val="tx1"/>
              </a:solidFill>
            </a:endParaRPr>
          </a:p>
          <a:p>
            <a:r>
              <a:rPr lang="ja-JP" altLang="en-US" sz="1400" dirty="0">
                <a:solidFill>
                  <a:schemeClr val="tx1"/>
                </a:solidFill>
              </a:rPr>
              <a:t>・</a:t>
            </a:r>
            <a:r>
              <a:rPr lang="ja-JP" altLang="en-US" sz="1400" dirty="0"/>
              <a:t>分岐</a:t>
            </a:r>
            <a:r>
              <a:rPr lang="en-US" altLang="ja-JP" sz="1400" dirty="0">
                <a:solidFill>
                  <a:schemeClr val="tx1"/>
                </a:solidFill>
              </a:rPr>
              <a:t>B</a:t>
            </a:r>
            <a:r>
              <a:rPr lang="ja-JP" altLang="en-US" sz="1400" dirty="0">
                <a:solidFill>
                  <a:schemeClr val="tx1"/>
                </a:solidFill>
              </a:rPr>
              <a:t>の真</a:t>
            </a:r>
            <a:r>
              <a:rPr lang="en-US" altLang="ja-JP" sz="1400" dirty="0">
                <a:solidFill>
                  <a:schemeClr val="tx1"/>
                </a:solidFill>
              </a:rPr>
              <a:t>/</a:t>
            </a:r>
            <a:r>
              <a:rPr lang="ja-JP" altLang="en-US" sz="1400" dirty="0">
                <a:solidFill>
                  <a:schemeClr val="tx1"/>
                </a:solidFill>
              </a:rPr>
              <a:t>偽ルート</a:t>
            </a:r>
            <a:endParaRPr kumimoji="1" lang="en-US" altLang="ja-JP" sz="1400" dirty="0">
              <a:solidFill>
                <a:schemeClr val="tx1"/>
              </a:solidFill>
            </a:endParaRPr>
          </a:p>
        </p:txBody>
      </p:sp>
    </p:spTree>
    <p:extLst>
      <p:ext uri="{BB962C8B-B14F-4D97-AF65-F5344CB8AC3E}">
        <p14:creationId xmlns:p14="http://schemas.microsoft.com/office/powerpoint/2010/main" val="14676242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B9C75-103B-6A8D-7F6D-20419DEE0880}"/>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016EA44D-BD49-888C-99DC-B762BCF3E5EA}"/>
              </a:ext>
            </a:extLst>
          </p:cNvPr>
          <p:cNvSpPr/>
          <p:nvPr/>
        </p:nvSpPr>
        <p:spPr>
          <a:xfrm>
            <a:off x="1593411" y="2156850"/>
            <a:ext cx="5748788" cy="4124325"/>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u="sng" dirty="0">
              <a:solidFill>
                <a:schemeClr val="tx1"/>
              </a:solidFill>
            </a:endParaRPr>
          </a:p>
        </p:txBody>
      </p:sp>
      <p:sp>
        <p:nvSpPr>
          <p:cNvPr id="34" name="テキスト ボックス 33">
            <a:extLst>
              <a:ext uri="{FF2B5EF4-FFF2-40B4-BE49-F238E27FC236}">
                <a16:creationId xmlns:a16="http://schemas.microsoft.com/office/drawing/2014/main" id="{1490D1A4-662B-D3B4-671F-3B3BFA725014}"/>
              </a:ext>
            </a:extLst>
          </p:cNvPr>
          <p:cNvSpPr txBox="1"/>
          <p:nvPr/>
        </p:nvSpPr>
        <p:spPr>
          <a:xfrm>
            <a:off x="2665930" y="3399925"/>
            <a:ext cx="416269" cy="288000"/>
          </a:xfrm>
          <a:prstGeom prst="rect">
            <a:avLst/>
          </a:prstGeom>
          <a:noFill/>
        </p:spPr>
        <p:txBody>
          <a:bodyPr wrap="square" lIns="0" rIns="0" rtlCol="0">
            <a:noAutofit/>
          </a:bodyPr>
          <a:lstStyle/>
          <a:p>
            <a:pPr algn="l" defTabSz="288000"/>
            <a:r>
              <a:rPr kumimoji="1" lang="en-US" altLang="ja-JP" sz="1050" dirty="0">
                <a:latin typeface="+mn-ea"/>
              </a:rPr>
              <a:t>Yes</a:t>
            </a:r>
            <a:endParaRPr kumimoji="1" lang="ja-JP" altLang="en-US" sz="1050" dirty="0">
              <a:latin typeface="+mn-ea"/>
            </a:endParaRPr>
          </a:p>
        </p:txBody>
      </p:sp>
      <p:sp>
        <p:nvSpPr>
          <p:cNvPr id="35" name="テキスト ボックス 34">
            <a:extLst>
              <a:ext uri="{FF2B5EF4-FFF2-40B4-BE49-F238E27FC236}">
                <a16:creationId xmlns:a16="http://schemas.microsoft.com/office/drawing/2014/main" id="{0131BD81-9734-830F-D313-77D65426B093}"/>
              </a:ext>
            </a:extLst>
          </p:cNvPr>
          <p:cNvSpPr txBox="1"/>
          <p:nvPr/>
        </p:nvSpPr>
        <p:spPr>
          <a:xfrm>
            <a:off x="2686672" y="5036534"/>
            <a:ext cx="416269" cy="288000"/>
          </a:xfrm>
          <a:prstGeom prst="rect">
            <a:avLst/>
          </a:prstGeom>
          <a:noFill/>
        </p:spPr>
        <p:txBody>
          <a:bodyPr wrap="square" lIns="0" rIns="0" rtlCol="0">
            <a:noAutofit/>
          </a:bodyPr>
          <a:lstStyle/>
          <a:p>
            <a:pPr algn="l" defTabSz="288000"/>
            <a:r>
              <a:rPr kumimoji="1" lang="en-US" altLang="ja-JP" sz="1050" dirty="0">
                <a:latin typeface="+mn-ea"/>
              </a:rPr>
              <a:t>Yes</a:t>
            </a:r>
            <a:endParaRPr kumimoji="1" lang="ja-JP" altLang="en-US" sz="1050" dirty="0">
              <a:latin typeface="+mn-ea"/>
            </a:endParaRPr>
          </a:p>
        </p:txBody>
      </p:sp>
      <p:sp>
        <p:nvSpPr>
          <p:cNvPr id="2" name="タイトル 1">
            <a:extLst>
              <a:ext uri="{FF2B5EF4-FFF2-40B4-BE49-F238E27FC236}">
                <a16:creationId xmlns:a16="http://schemas.microsoft.com/office/drawing/2014/main" id="{361EEB69-108F-01F7-EEB3-D84ACB3419C4}"/>
              </a:ext>
            </a:extLst>
          </p:cNvPr>
          <p:cNvSpPr>
            <a:spLocks noGrp="1"/>
          </p:cNvSpPr>
          <p:nvPr>
            <p:ph type="title"/>
          </p:nvPr>
        </p:nvSpPr>
        <p:spPr/>
        <p:txBody>
          <a:bodyPr/>
          <a:lstStyle/>
          <a:p>
            <a:r>
              <a:rPr lang="ja-JP" altLang="en-US" dirty="0"/>
              <a:t>ホワイトボックス</a:t>
            </a:r>
            <a:r>
              <a:rPr kumimoji="1" lang="ja-JP" altLang="en-US" dirty="0"/>
              <a:t>テスト：コンディション</a:t>
            </a:r>
            <a:r>
              <a:rPr lang="ja-JP" altLang="en-US" dirty="0"/>
              <a:t>テスト</a:t>
            </a:r>
            <a:endParaRPr kumimoji="1" lang="ja-JP" altLang="en-US" dirty="0"/>
          </a:p>
        </p:txBody>
      </p:sp>
      <p:sp>
        <p:nvSpPr>
          <p:cNvPr id="3" name="コンテンツ プレースホルダー 2">
            <a:extLst>
              <a:ext uri="{FF2B5EF4-FFF2-40B4-BE49-F238E27FC236}">
                <a16:creationId xmlns:a16="http://schemas.microsoft.com/office/drawing/2014/main" id="{3E4D0379-E8B7-52AC-7744-3452BF7D6108}"/>
              </a:ext>
            </a:extLst>
          </p:cNvPr>
          <p:cNvSpPr>
            <a:spLocks noGrp="1"/>
          </p:cNvSpPr>
          <p:nvPr>
            <p:ph sz="quarter" idx="10"/>
          </p:nvPr>
        </p:nvSpPr>
        <p:spPr>
          <a:xfrm>
            <a:off x="371999" y="1038386"/>
            <a:ext cx="11550029" cy="1712090"/>
          </a:xfrm>
        </p:spPr>
        <p:txBody>
          <a:bodyPr/>
          <a:lstStyle/>
          <a:p>
            <a:r>
              <a:rPr lang="ja-JP" altLang="en-US" u="sng" dirty="0">
                <a:solidFill>
                  <a:schemeClr val="tx1"/>
                </a:solidFill>
              </a:rPr>
              <a:t>コンディションテスト</a:t>
            </a:r>
            <a:endParaRPr lang="en-US" altLang="ja-JP" u="sng" dirty="0">
              <a:solidFill>
                <a:schemeClr val="tx1"/>
              </a:solidFill>
            </a:endParaRPr>
          </a:p>
          <a:p>
            <a:r>
              <a:rPr lang="ja-JP" altLang="en-US" sz="2000" dirty="0"/>
              <a:t>全ての条件式に含まれる</a:t>
            </a:r>
            <a:r>
              <a:rPr lang="ja-JP" altLang="en-US" sz="2000" b="1" dirty="0"/>
              <a:t>個々の条件</a:t>
            </a:r>
            <a:r>
              <a:rPr lang="ja-JP" altLang="en-US" sz="2000" dirty="0"/>
              <a:t>が、</a:t>
            </a:r>
            <a:r>
              <a:rPr lang="ja-JP" altLang="en-US" sz="2000" b="1" dirty="0"/>
              <a:t>真／偽の両方を少なくとも一回ずつ取る</a:t>
            </a:r>
            <a:r>
              <a:rPr lang="ja-JP" altLang="en-US" sz="2000" dirty="0"/>
              <a:t>ようにテスト項目を作成する技法</a:t>
            </a:r>
            <a:endParaRPr lang="en-US" altLang="ja-JP" sz="2000" b="0" i="0" dirty="0">
              <a:solidFill>
                <a:schemeClr val="tx1"/>
              </a:solidFill>
              <a:effectLst/>
              <a:latin typeface="__Inter_a184c8"/>
            </a:endParaRPr>
          </a:p>
          <a:p>
            <a:r>
              <a:rPr lang="ja-JP" altLang="en-US" sz="2000" dirty="0">
                <a:solidFill>
                  <a:schemeClr val="tx1"/>
                </a:solidFill>
                <a:latin typeface="__Inter_a184c8"/>
              </a:rPr>
              <a:t>　＝ コードカバレッジの基準に</a:t>
            </a:r>
            <a:r>
              <a:rPr lang="ja-JP" altLang="en-US" sz="2000" b="1" u="sng" dirty="0">
                <a:solidFill>
                  <a:schemeClr val="tx1"/>
                </a:solidFill>
                <a:latin typeface="__Inter_a184c8"/>
              </a:rPr>
              <a:t>条件</a:t>
            </a:r>
            <a:r>
              <a:rPr kumimoji="1" lang="ja-JP" altLang="en-US" sz="2000" b="1" u="sng" dirty="0">
                <a:solidFill>
                  <a:schemeClr val="tx1"/>
                </a:solidFill>
              </a:rPr>
              <a:t>網羅（</a:t>
            </a:r>
            <a:r>
              <a:rPr kumimoji="1" lang="en-US" altLang="ja-JP" sz="2000" b="1" u="sng" dirty="0">
                <a:solidFill>
                  <a:schemeClr val="tx1"/>
                </a:solidFill>
              </a:rPr>
              <a:t>C</a:t>
            </a:r>
            <a:r>
              <a:rPr lang="en-US" altLang="ja-JP" sz="2000" b="1" u="sng" dirty="0">
                <a:solidFill>
                  <a:schemeClr val="tx1"/>
                </a:solidFill>
              </a:rPr>
              <a:t>2</a:t>
            </a:r>
            <a:r>
              <a:rPr kumimoji="1" lang="ja-JP" altLang="en-US" sz="2000" b="1" u="sng" dirty="0">
                <a:solidFill>
                  <a:schemeClr val="tx1"/>
                </a:solidFill>
              </a:rPr>
              <a:t>）</a:t>
            </a:r>
            <a:r>
              <a:rPr kumimoji="1" lang="ja-JP" altLang="en-US" sz="2000" dirty="0">
                <a:solidFill>
                  <a:schemeClr val="tx1"/>
                </a:solidFill>
              </a:rPr>
              <a:t>を用いたテスト技法</a:t>
            </a:r>
            <a:endParaRPr lang="en-US" altLang="ja-JP" sz="2000" b="0" i="0" dirty="0">
              <a:solidFill>
                <a:schemeClr val="tx1"/>
              </a:solidFill>
              <a:effectLst/>
              <a:latin typeface="__Inter_a184c8"/>
            </a:endParaRPr>
          </a:p>
        </p:txBody>
      </p:sp>
      <p:cxnSp>
        <p:nvCxnSpPr>
          <p:cNvPr id="21" name="直線矢印コネクタ 20">
            <a:extLst>
              <a:ext uri="{FF2B5EF4-FFF2-40B4-BE49-F238E27FC236}">
                <a16:creationId xmlns:a16="http://schemas.microsoft.com/office/drawing/2014/main" id="{059B3D67-A9D5-E26F-0333-AB486E634FCB}"/>
              </a:ext>
            </a:extLst>
          </p:cNvPr>
          <p:cNvCxnSpPr/>
          <p:nvPr/>
        </p:nvCxnSpPr>
        <p:spPr>
          <a:xfrm>
            <a:off x="2930121" y="2459087"/>
            <a:ext cx="0" cy="324000"/>
          </a:xfrm>
          <a:prstGeom prst="straightConnector1">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矢印: 右 46">
            <a:extLst>
              <a:ext uri="{FF2B5EF4-FFF2-40B4-BE49-F238E27FC236}">
                <a16:creationId xmlns:a16="http://schemas.microsoft.com/office/drawing/2014/main" id="{F4FBB5AD-0201-956A-AD36-31FDC459262C}"/>
              </a:ext>
            </a:extLst>
          </p:cNvPr>
          <p:cNvSpPr/>
          <p:nvPr/>
        </p:nvSpPr>
        <p:spPr>
          <a:xfrm>
            <a:off x="7012630" y="4469204"/>
            <a:ext cx="751932" cy="529521"/>
          </a:xfrm>
          <a:prstGeom prst="rightArrow">
            <a:avLst/>
          </a:prstGeom>
          <a:solidFill>
            <a:schemeClr val="bg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8" name="テキスト ボックス 47">
            <a:extLst>
              <a:ext uri="{FF2B5EF4-FFF2-40B4-BE49-F238E27FC236}">
                <a16:creationId xmlns:a16="http://schemas.microsoft.com/office/drawing/2014/main" id="{7058140C-764B-9779-E0BC-D82141871AAB}"/>
              </a:ext>
            </a:extLst>
          </p:cNvPr>
          <p:cNvSpPr txBox="1"/>
          <p:nvPr/>
        </p:nvSpPr>
        <p:spPr>
          <a:xfrm>
            <a:off x="7896061" y="4489974"/>
            <a:ext cx="3922740" cy="1999725"/>
          </a:xfrm>
          <a:prstGeom prst="rect">
            <a:avLst/>
          </a:prstGeom>
          <a:noFill/>
        </p:spPr>
        <p:txBody>
          <a:bodyPr wrap="square" lIns="0" rIns="0" rtlCol="0">
            <a:noAutofit/>
          </a:bodyPr>
          <a:lstStyle/>
          <a:p>
            <a:pPr algn="l" defTabSz="288000"/>
            <a:r>
              <a:rPr lang="ja-JP" altLang="en-US" u="sng" dirty="0">
                <a:latin typeface="+mn-ea"/>
              </a:rPr>
              <a:t>テスト項目</a:t>
            </a:r>
            <a:endParaRPr lang="en-US" altLang="ja-JP" u="sng" dirty="0">
              <a:latin typeface="+mn-ea"/>
            </a:endParaRPr>
          </a:p>
          <a:p>
            <a:pPr defTabSz="288000"/>
            <a:r>
              <a:rPr lang="ja-JP" altLang="en-US" dirty="0">
                <a:latin typeface="+mn-ea"/>
              </a:rPr>
              <a:t>　・条件</a:t>
            </a:r>
            <a:r>
              <a:rPr lang="en-US" altLang="ja-JP" dirty="0">
                <a:latin typeface="+mn-ea"/>
              </a:rPr>
              <a:t>a</a:t>
            </a:r>
            <a:r>
              <a:rPr lang="ja-JP" altLang="en-US" dirty="0">
                <a:latin typeface="+mn-ea"/>
              </a:rPr>
              <a:t>が真になる</a:t>
            </a:r>
            <a:endParaRPr lang="en-US" altLang="ja-JP" dirty="0">
              <a:latin typeface="+mn-ea"/>
            </a:endParaRPr>
          </a:p>
          <a:p>
            <a:pPr defTabSz="288000"/>
            <a:r>
              <a:rPr lang="ja-JP" altLang="en-US" dirty="0">
                <a:latin typeface="+mn-ea"/>
              </a:rPr>
              <a:t>　・条件</a:t>
            </a:r>
            <a:r>
              <a:rPr lang="en-US" altLang="ja-JP" dirty="0">
                <a:latin typeface="+mn-ea"/>
              </a:rPr>
              <a:t>a</a:t>
            </a:r>
            <a:r>
              <a:rPr lang="ja-JP" altLang="en-US" dirty="0">
                <a:latin typeface="+mn-ea"/>
              </a:rPr>
              <a:t>が偽になる</a:t>
            </a:r>
            <a:endParaRPr lang="en-US" altLang="ja-JP" dirty="0">
              <a:latin typeface="+mn-ea"/>
            </a:endParaRPr>
          </a:p>
          <a:p>
            <a:pPr defTabSz="288000"/>
            <a:r>
              <a:rPr lang="ja-JP" altLang="en-US" dirty="0">
                <a:latin typeface="+mn-ea"/>
              </a:rPr>
              <a:t>　・条件</a:t>
            </a:r>
            <a:r>
              <a:rPr lang="en-US" altLang="ja-JP" dirty="0">
                <a:latin typeface="+mn-ea"/>
              </a:rPr>
              <a:t>b1</a:t>
            </a:r>
            <a:r>
              <a:rPr lang="ja-JP" altLang="en-US" dirty="0">
                <a:latin typeface="+mn-ea"/>
              </a:rPr>
              <a:t>が真になる</a:t>
            </a:r>
            <a:endParaRPr lang="en-US" altLang="ja-JP" dirty="0">
              <a:latin typeface="+mn-ea"/>
            </a:endParaRPr>
          </a:p>
          <a:p>
            <a:pPr defTabSz="288000"/>
            <a:r>
              <a:rPr lang="ja-JP" altLang="en-US" dirty="0">
                <a:latin typeface="+mn-ea"/>
              </a:rPr>
              <a:t>　・条件</a:t>
            </a:r>
            <a:r>
              <a:rPr lang="en-US" altLang="ja-JP" dirty="0">
                <a:latin typeface="+mn-ea"/>
              </a:rPr>
              <a:t>b1</a:t>
            </a:r>
            <a:r>
              <a:rPr lang="ja-JP" altLang="en-US" dirty="0">
                <a:latin typeface="+mn-ea"/>
              </a:rPr>
              <a:t>が偽になる</a:t>
            </a:r>
            <a:endParaRPr lang="en-US" altLang="ja-JP" dirty="0">
              <a:latin typeface="+mn-ea"/>
            </a:endParaRPr>
          </a:p>
          <a:p>
            <a:pPr defTabSz="288000"/>
            <a:r>
              <a:rPr lang="ja-JP" altLang="en-US" dirty="0">
                <a:latin typeface="+mn-ea"/>
              </a:rPr>
              <a:t>　・条件</a:t>
            </a:r>
            <a:r>
              <a:rPr lang="en-US" altLang="ja-JP" dirty="0">
                <a:latin typeface="+mn-ea"/>
              </a:rPr>
              <a:t>b2</a:t>
            </a:r>
            <a:r>
              <a:rPr lang="ja-JP" altLang="en-US" dirty="0">
                <a:latin typeface="+mn-ea"/>
              </a:rPr>
              <a:t>が真になる</a:t>
            </a:r>
            <a:endParaRPr lang="en-US" altLang="ja-JP" dirty="0">
              <a:latin typeface="+mn-ea"/>
            </a:endParaRPr>
          </a:p>
          <a:p>
            <a:pPr defTabSz="288000"/>
            <a:r>
              <a:rPr lang="ja-JP" altLang="en-US" dirty="0">
                <a:latin typeface="+mn-ea"/>
              </a:rPr>
              <a:t>　・条件</a:t>
            </a:r>
            <a:r>
              <a:rPr lang="en-US" altLang="ja-JP" dirty="0">
                <a:latin typeface="+mn-ea"/>
              </a:rPr>
              <a:t>b2</a:t>
            </a:r>
            <a:r>
              <a:rPr lang="ja-JP" altLang="en-US" dirty="0">
                <a:latin typeface="+mn-ea"/>
              </a:rPr>
              <a:t>が偽になる</a:t>
            </a:r>
            <a:endParaRPr kumimoji="1" lang="en-US" altLang="ja-JP" dirty="0">
              <a:latin typeface="+mn-ea"/>
            </a:endParaRPr>
          </a:p>
          <a:p>
            <a:pPr algn="l" defTabSz="288000"/>
            <a:endParaRPr kumimoji="1" lang="ja-JP" altLang="en-US" dirty="0">
              <a:latin typeface="+mn-ea"/>
            </a:endParaRPr>
          </a:p>
        </p:txBody>
      </p:sp>
      <p:sp>
        <p:nvSpPr>
          <p:cNvPr id="5" name="フローチャート: 判断 4">
            <a:extLst>
              <a:ext uri="{FF2B5EF4-FFF2-40B4-BE49-F238E27FC236}">
                <a16:creationId xmlns:a16="http://schemas.microsoft.com/office/drawing/2014/main" id="{A290B438-EC8B-E290-4BE0-6D7B01F0AA63}"/>
              </a:ext>
            </a:extLst>
          </p:cNvPr>
          <p:cNvSpPr/>
          <p:nvPr/>
        </p:nvSpPr>
        <p:spPr>
          <a:xfrm>
            <a:off x="1993378" y="2786613"/>
            <a:ext cx="1892535" cy="642387"/>
          </a:xfrm>
          <a:prstGeom prst="flowChartDecision">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u="sng" dirty="0">
                <a:solidFill>
                  <a:schemeClr val="tx1"/>
                </a:solidFill>
              </a:rPr>
              <a:t>分岐</a:t>
            </a:r>
            <a:r>
              <a:rPr kumimoji="1" lang="en-US" altLang="ja-JP" sz="1400" u="sng" dirty="0">
                <a:solidFill>
                  <a:schemeClr val="tx1"/>
                </a:solidFill>
              </a:rPr>
              <a:t>A</a:t>
            </a:r>
          </a:p>
          <a:p>
            <a:pPr algn="ctr"/>
            <a:r>
              <a:rPr kumimoji="1" lang="ja-JP" altLang="en-US" sz="1200" dirty="0">
                <a:solidFill>
                  <a:srgbClr val="FF0000"/>
                </a:solidFill>
                <a:highlight>
                  <a:srgbClr val="FFE1C5"/>
                </a:highlight>
              </a:rPr>
              <a:t>条件</a:t>
            </a:r>
            <a:r>
              <a:rPr kumimoji="1" lang="en-US" altLang="ja-JP" sz="1200" dirty="0">
                <a:solidFill>
                  <a:srgbClr val="FF0000"/>
                </a:solidFill>
                <a:highlight>
                  <a:srgbClr val="FFE1C5"/>
                </a:highlight>
              </a:rPr>
              <a:t>a</a:t>
            </a:r>
            <a:endParaRPr kumimoji="1" lang="ja-JP" altLang="en-US" sz="1200" dirty="0">
              <a:solidFill>
                <a:srgbClr val="FF0000"/>
              </a:solidFill>
              <a:highlight>
                <a:srgbClr val="FFE1C5"/>
              </a:highlight>
            </a:endParaRPr>
          </a:p>
        </p:txBody>
      </p:sp>
      <p:sp>
        <p:nvSpPr>
          <p:cNvPr id="6" name="正方形/長方形 5">
            <a:extLst>
              <a:ext uri="{FF2B5EF4-FFF2-40B4-BE49-F238E27FC236}">
                <a16:creationId xmlns:a16="http://schemas.microsoft.com/office/drawing/2014/main" id="{758A6511-90B4-6D08-7006-AAC48C7E0161}"/>
              </a:ext>
            </a:extLst>
          </p:cNvPr>
          <p:cNvSpPr/>
          <p:nvPr/>
        </p:nvSpPr>
        <p:spPr>
          <a:xfrm>
            <a:off x="2291168" y="5399182"/>
            <a:ext cx="1296955" cy="350222"/>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命令２</a:t>
            </a:r>
          </a:p>
        </p:txBody>
      </p:sp>
      <p:sp>
        <p:nvSpPr>
          <p:cNvPr id="7" name="正方形/長方形 6">
            <a:extLst>
              <a:ext uri="{FF2B5EF4-FFF2-40B4-BE49-F238E27FC236}">
                <a16:creationId xmlns:a16="http://schemas.microsoft.com/office/drawing/2014/main" id="{CB8C387A-3DCD-994E-41E5-69683649237C}"/>
              </a:ext>
            </a:extLst>
          </p:cNvPr>
          <p:cNvSpPr/>
          <p:nvPr/>
        </p:nvSpPr>
        <p:spPr>
          <a:xfrm>
            <a:off x="2291168" y="3678559"/>
            <a:ext cx="1296955" cy="350222"/>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命令１</a:t>
            </a:r>
          </a:p>
        </p:txBody>
      </p:sp>
      <p:cxnSp>
        <p:nvCxnSpPr>
          <p:cNvPr id="12" name="直線矢印コネクタ 11">
            <a:extLst>
              <a:ext uri="{FF2B5EF4-FFF2-40B4-BE49-F238E27FC236}">
                <a16:creationId xmlns:a16="http://schemas.microsoft.com/office/drawing/2014/main" id="{CC772983-08A7-21D4-97B2-0DC04DF625FB}"/>
              </a:ext>
            </a:extLst>
          </p:cNvPr>
          <p:cNvCxnSpPr>
            <a:cxnSpLocks/>
          </p:cNvCxnSpPr>
          <p:nvPr/>
        </p:nvCxnSpPr>
        <p:spPr>
          <a:xfrm flipH="1">
            <a:off x="2939646" y="3420909"/>
            <a:ext cx="1" cy="233268"/>
          </a:xfrm>
          <a:prstGeom prst="straightConnector1">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直線矢印コネクタ 12">
            <a:extLst>
              <a:ext uri="{FF2B5EF4-FFF2-40B4-BE49-F238E27FC236}">
                <a16:creationId xmlns:a16="http://schemas.microsoft.com/office/drawing/2014/main" id="{6386B367-4525-308A-8E99-1CA4727FC86A}"/>
              </a:ext>
            </a:extLst>
          </p:cNvPr>
          <p:cNvCxnSpPr>
            <a:cxnSpLocks/>
            <a:stCxn id="7" idx="2"/>
            <a:endCxn id="16" idx="0"/>
          </p:cNvCxnSpPr>
          <p:nvPr/>
        </p:nvCxnSpPr>
        <p:spPr>
          <a:xfrm>
            <a:off x="2939646" y="4028781"/>
            <a:ext cx="0" cy="387516"/>
          </a:xfrm>
          <a:prstGeom prst="straightConnector1">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コネクタ: カギ線 13">
            <a:extLst>
              <a:ext uri="{FF2B5EF4-FFF2-40B4-BE49-F238E27FC236}">
                <a16:creationId xmlns:a16="http://schemas.microsoft.com/office/drawing/2014/main" id="{1656F9F9-D402-096A-8148-1BC328F6F24A}"/>
              </a:ext>
            </a:extLst>
          </p:cNvPr>
          <p:cNvCxnSpPr>
            <a:cxnSpLocks/>
            <a:stCxn id="5" idx="3"/>
          </p:cNvCxnSpPr>
          <p:nvPr/>
        </p:nvCxnSpPr>
        <p:spPr>
          <a:xfrm flipH="1">
            <a:off x="2939646" y="3107807"/>
            <a:ext cx="946267" cy="1060551"/>
          </a:xfrm>
          <a:prstGeom prst="bentConnector4">
            <a:avLst>
              <a:gd name="adj1" fmla="val -24158"/>
              <a:gd name="adj2" fmla="val 100335"/>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フローチャート: 判断 15">
            <a:extLst>
              <a:ext uri="{FF2B5EF4-FFF2-40B4-BE49-F238E27FC236}">
                <a16:creationId xmlns:a16="http://schemas.microsoft.com/office/drawing/2014/main" id="{A2A54B5B-5673-9762-29BC-92D0D2DED90F}"/>
              </a:ext>
            </a:extLst>
          </p:cNvPr>
          <p:cNvSpPr/>
          <p:nvPr/>
        </p:nvSpPr>
        <p:spPr>
          <a:xfrm>
            <a:off x="1993375" y="4416297"/>
            <a:ext cx="1892541" cy="642387"/>
          </a:xfrm>
          <a:prstGeom prst="flowChartDecision">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u="sng" dirty="0">
                <a:solidFill>
                  <a:schemeClr val="tx1"/>
                </a:solidFill>
              </a:rPr>
              <a:t>分岐</a:t>
            </a:r>
            <a:r>
              <a:rPr kumimoji="1" lang="en-US" altLang="ja-JP" sz="1400" u="sng" dirty="0">
                <a:solidFill>
                  <a:schemeClr val="tx1"/>
                </a:solidFill>
              </a:rPr>
              <a:t>B</a:t>
            </a:r>
          </a:p>
          <a:p>
            <a:pPr algn="ctr"/>
            <a:r>
              <a:rPr kumimoji="1" lang="ja-JP" altLang="en-US" sz="1200" dirty="0">
                <a:solidFill>
                  <a:srgbClr val="FF0000"/>
                </a:solidFill>
                <a:highlight>
                  <a:srgbClr val="FFE1C5"/>
                </a:highlight>
              </a:rPr>
              <a:t>条件</a:t>
            </a:r>
            <a:r>
              <a:rPr lang="en-US" altLang="ja-JP" sz="1200" dirty="0">
                <a:solidFill>
                  <a:srgbClr val="FF0000"/>
                </a:solidFill>
                <a:highlight>
                  <a:srgbClr val="FFE1C5"/>
                </a:highlight>
              </a:rPr>
              <a:t>b1</a:t>
            </a:r>
            <a:r>
              <a:rPr lang="en-US" altLang="ja-JP" sz="1200" dirty="0">
                <a:solidFill>
                  <a:schemeClr val="tx1"/>
                </a:solidFill>
              </a:rPr>
              <a:t>&amp;</a:t>
            </a:r>
            <a:r>
              <a:rPr lang="en-US" altLang="ja-JP" sz="1200" dirty="0">
                <a:solidFill>
                  <a:srgbClr val="FF0000"/>
                </a:solidFill>
                <a:highlight>
                  <a:srgbClr val="FFE1C5"/>
                </a:highlight>
              </a:rPr>
              <a:t>b2</a:t>
            </a:r>
            <a:endParaRPr kumimoji="1" lang="ja-JP" altLang="en-US" sz="1200" dirty="0">
              <a:solidFill>
                <a:srgbClr val="FF0000"/>
              </a:solidFill>
              <a:highlight>
                <a:srgbClr val="FFE1C5"/>
              </a:highlight>
            </a:endParaRPr>
          </a:p>
        </p:txBody>
      </p:sp>
      <p:cxnSp>
        <p:nvCxnSpPr>
          <p:cNvPr id="18" name="直線矢印コネクタ 17">
            <a:extLst>
              <a:ext uri="{FF2B5EF4-FFF2-40B4-BE49-F238E27FC236}">
                <a16:creationId xmlns:a16="http://schemas.microsoft.com/office/drawing/2014/main" id="{AEAECC4A-052D-E9A7-1BC1-AF10BE06F2A6}"/>
              </a:ext>
            </a:extLst>
          </p:cNvPr>
          <p:cNvCxnSpPr>
            <a:cxnSpLocks/>
            <a:stCxn id="16" idx="2"/>
            <a:endCxn id="6" idx="0"/>
          </p:cNvCxnSpPr>
          <p:nvPr/>
        </p:nvCxnSpPr>
        <p:spPr>
          <a:xfrm>
            <a:off x="2939646" y="5058684"/>
            <a:ext cx="0" cy="340498"/>
          </a:xfrm>
          <a:prstGeom prst="straightConnector1">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正方形/長方形 18">
            <a:extLst>
              <a:ext uri="{FF2B5EF4-FFF2-40B4-BE49-F238E27FC236}">
                <a16:creationId xmlns:a16="http://schemas.microsoft.com/office/drawing/2014/main" id="{3BB974E7-24A3-36DE-90EC-8A59A88C0843}"/>
              </a:ext>
            </a:extLst>
          </p:cNvPr>
          <p:cNvSpPr/>
          <p:nvPr/>
        </p:nvSpPr>
        <p:spPr>
          <a:xfrm>
            <a:off x="3733786" y="5399182"/>
            <a:ext cx="1296955" cy="350222"/>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命令３</a:t>
            </a:r>
          </a:p>
        </p:txBody>
      </p:sp>
      <p:cxnSp>
        <p:nvCxnSpPr>
          <p:cNvPr id="22" name="コネクタ: カギ線 21">
            <a:extLst>
              <a:ext uri="{FF2B5EF4-FFF2-40B4-BE49-F238E27FC236}">
                <a16:creationId xmlns:a16="http://schemas.microsoft.com/office/drawing/2014/main" id="{A2FFC832-09E8-404E-3035-706944B5371F}"/>
              </a:ext>
            </a:extLst>
          </p:cNvPr>
          <p:cNvCxnSpPr>
            <a:cxnSpLocks/>
            <a:stCxn id="16" idx="3"/>
            <a:endCxn id="19" idx="0"/>
          </p:cNvCxnSpPr>
          <p:nvPr/>
        </p:nvCxnSpPr>
        <p:spPr>
          <a:xfrm>
            <a:off x="3885916" y="4737491"/>
            <a:ext cx="496348" cy="661691"/>
          </a:xfrm>
          <a:prstGeom prst="bentConnector2">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直線矢印コネクタ 28">
            <a:extLst>
              <a:ext uri="{FF2B5EF4-FFF2-40B4-BE49-F238E27FC236}">
                <a16:creationId xmlns:a16="http://schemas.microsoft.com/office/drawing/2014/main" id="{D7988E78-7B48-7719-1355-52A21AFB6687}"/>
              </a:ext>
            </a:extLst>
          </p:cNvPr>
          <p:cNvCxnSpPr>
            <a:cxnSpLocks/>
            <a:stCxn id="6" idx="2"/>
          </p:cNvCxnSpPr>
          <p:nvPr/>
        </p:nvCxnSpPr>
        <p:spPr>
          <a:xfrm>
            <a:off x="2939646" y="5749404"/>
            <a:ext cx="0" cy="432000"/>
          </a:xfrm>
          <a:prstGeom prst="straightConnector1">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1" name="コネクタ: カギ線 30">
            <a:extLst>
              <a:ext uri="{FF2B5EF4-FFF2-40B4-BE49-F238E27FC236}">
                <a16:creationId xmlns:a16="http://schemas.microsoft.com/office/drawing/2014/main" id="{FD936D2B-C8E4-7995-687C-7AA5C5B37BDB}"/>
              </a:ext>
            </a:extLst>
          </p:cNvPr>
          <p:cNvCxnSpPr>
            <a:cxnSpLocks/>
            <a:stCxn id="19" idx="2"/>
          </p:cNvCxnSpPr>
          <p:nvPr/>
        </p:nvCxnSpPr>
        <p:spPr>
          <a:xfrm rot="5400000">
            <a:off x="3548215" y="5140837"/>
            <a:ext cx="225482" cy="1442617"/>
          </a:xfrm>
          <a:prstGeom prst="bentConnector2">
            <a:avLst/>
          </a:prstGeom>
          <a:ln w="28575">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テキスト ボックス 35">
            <a:extLst>
              <a:ext uri="{FF2B5EF4-FFF2-40B4-BE49-F238E27FC236}">
                <a16:creationId xmlns:a16="http://schemas.microsoft.com/office/drawing/2014/main" id="{D24E6FD6-D64B-E0BE-4BEA-576F9865B208}"/>
              </a:ext>
            </a:extLst>
          </p:cNvPr>
          <p:cNvSpPr txBox="1"/>
          <p:nvPr/>
        </p:nvSpPr>
        <p:spPr>
          <a:xfrm>
            <a:off x="3932313" y="4542705"/>
            <a:ext cx="416269" cy="288000"/>
          </a:xfrm>
          <a:prstGeom prst="rect">
            <a:avLst/>
          </a:prstGeom>
          <a:noFill/>
        </p:spPr>
        <p:txBody>
          <a:bodyPr wrap="square" lIns="0" rIns="0" rtlCol="0">
            <a:noAutofit/>
          </a:bodyPr>
          <a:lstStyle/>
          <a:p>
            <a:pPr algn="l" defTabSz="288000"/>
            <a:r>
              <a:rPr lang="en-US" altLang="ja-JP" sz="1050" dirty="0">
                <a:latin typeface="+mn-ea"/>
              </a:rPr>
              <a:t>No</a:t>
            </a:r>
            <a:endParaRPr kumimoji="1" lang="ja-JP" altLang="en-US" sz="1050" dirty="0">
              <a:latin typeface="+mn-ea"/>
            </a:endParaRPr>
          </a:p>
        </p:txBody>
      </p:sp>
      <p:sp>
        <p:nvSpPr>
          <p:cNvPr id="37" name="テキスト ボックス 36">
            <a:extLst>
              <a:ext uri="{FF2B5EF4-FFF2-40B4-BE49-F238E27FC236}">
                <a16:creationId xmlns:a16="http://schemas.microsoft.com/office/drawing/2014/main" id="{AE70C69B-07B3-8698-3098-ACDC75665034}"/>
              </a:ext>
            </a:extLst>
          </p:cNvPr>
          <p:cNvSpPr txBox="1"/>
          <p:nvPr/>
        </p:nvSpPr>
        <p:spPr>
          <a:xfrm>
            <a:off x="3932312" y="2890741"/>
            <a:ext cx="416269" cy="288000"/>
          </a:xfrm>
          <a:prstGeom prst="rect">
            <a:avLst/>
          </a:prstGeom>
          <a:noFill/>
        </p:spPr>
        <p:txBody>
          <a:bodyPr wrap="square" lIns="0" rIns="0" rtlCol="0">
            <a:noAutofit/>
          </a:bodyPr>
          <a:lstStyle/>
          <a:p>
            <a:pPr algn="l" defTabSz="288000"/>
            <a:r>
              <a:rPr lang="en-US" altLang="ja-JP" sz="1050" dirty="0">
                <a:latin typeface="+mn-ea"/>
              </a:rPr>
              <a:t>No</a:t>
            </a:r>
            <a:endParaRPr kumimoji="1" lang="ja-JP" altLang="en-US" sz="1050" dirty="0">
              <a:latin typeface="+mn-ea"/>
            </a:endParaRPr>
          </a:p>
        </p:txBody>
      </p:sp>
      <p:sp>
        <p:nvSpPr>
          <p:cNvPr id="38" name="吹き出し: 角を丸めた四角形 37">
            <a:extLst>
              <a:ext uri="{FF2B5EF4-FFF2-40B4-BE49-F238E27FC236}">
                <a16:creationId xmlns:a16="http://schemas.microsoft.com/office/drawing/2014/main" id="{55319E2E-BB07-6665-78D0-7B99DB5F1A42}"/>
              </a:ext>
            </a:extLst>
          </p:cNvPr>
          <p:cNvSpPr/>
          <p:nvPr/>
        </p:nvSpPr>
        <p:spPr>
          <a:xfrm>
            <a:off x="4504534" y="3254966"/>
            <a:ext cx="2508095" cy="1409796"/>
          </a:xfrm>
          <a:prstGeom prst="wedgeRoundRectCallout">
            <a:avLst>
              <a:gd name="adj1" fmla="val -62674"/>
              <a:gd name="adj2" fmla="val 23835"/>
              <a:gd name="adj3" fmla="val 16667"/>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ja-JP" altLang="en-US" sz="1400" u="sng" dirty="0">
                <a:solidFill>
                  <a:schemeClr val="tx1"/>
                </a:solidFill>
              </a:rPr>
              <a:t>条件網羅</a:t>
            </a:r>
            <a:endParaRPr lang="en-US" altLang="ja-JP" sz="1400" u="sng" dirty="0">
              <a:solidFill>
                <a:schemeClr val="tx1"/>
              </a:solidFill>
            </a:endParaRPr>
          </a:p>
          <a:p>
            <a:pPr algn="ctr"/>
            <a:r>
              <a:rPr lang="ja-JP" altLang="en-US" sz="1400" dirty="0">
                <a:solidFill>
                  <a:schemeClr val="tx1"/>
                </a:solidFill>
              </a:rPr>
              <a:t>各条件の</a:t>
            </a:r>
            <a:r>
              <a:rPr lang="ja-JP" altLang="en-US" sz="1400" u="sng" dirty="0">
                <a:solidFill>
                  <a:srgbClr val="FF0000"/>
                </a:solidFill>
              </a:rPr>
              <a:t>真偽を全て実行</a:t>
            </a:r>
            <a:r>
              <a:rPr lang="ja-JP" altLang="en-US" sz="1400" dirty="0">
                <a:solidFill>
                  <a:schemeClr val="tx1"/>
                </a:solidFill>
              </a:rPr>
              <a:t>する</a:t>
            </a:r>
            <a:endParaRPr kumimoji="1" lang="en-US" altLang="ja-JP" sz="1400" dirty="0">
              <a:solidFill>
                <a:schemeClr val="tx1"/>
              </a:solidFill>
            </a:endParaRPr>
          </a:p>
        </p:txBody>
      </p:sp>
      <p:sp>
        <p:nvSpPr>
          <p:cNvPr id="39" name="テキスト ボックス 38">
            <a:extLst>
              <a:ext uri="{FF2B5EF4-FFF2-40B4-BE49-F238E27FC236}">
                <a16:creationId xmlns:a16="http://schemas.microsoft.com/office/drawing/2014/main" id="{260AF1E3-1AD6-F00B-666E-70C03C0B5F90}"/>
              </a:ext>
            </a:extLst>
          </p:cNvPr>
          <p:cNvSpPr txBox="1"/>
          <p:nvPr/>
        </p:nvSpPr>
        <p:spPr>
          <a:xfrm>
            <a:off x="4985308" y="3809773"/>
            <a:ext cx="1803649" cy="854989"/>
          </a:xfrm>
          <a:prstGeom prst="rect">
            <a:avLst/>
          </a:prstGeom>
          <a:noFill/>
        </p:spPr>
        <p:txBody>
          <a:bodyPr wrap="square" lIns="0" rIns="0" rtlCol="0">
            <a:noAutofit/>
          </a:bodyPr>
          <a:lstStyle/>
          <a:p>
            <a:r>
              <a:rPr lang="ja-JP" altLang="en-US" sz="1400" dirty="0"/>
              <a:t>・条件</a:t>
            </a:r>
            <a:r>
              <a:rPr lang="en-US" altLang="ja-JP" sz="1400" dirty="0"/>
              <a:t>a</a:t>
            </a:r>
            <a:r>
              <a:rPr lang="ja-JP" altLang="en-US" sz="1400" dirty="0"/>
              <a:t>の真／偽</a:t>
            </a:r>
            <a:endParaRPr lang="en-US" altLang="ja-JP" sz="1400" dirty="0"/>
          </a:p>
          <a:p>
            <a:r>
              <a:rPr lang="ja-JP" altLang="en-US" sz="1400" dirty="0"/>
              <a:t>・条件</a:t>
            </a:r>
            <a:r>
              <a:rPr lang="en-US" altLang="ja-JP" sz="1400" dirty="0"/>
              <a:t>b1</a:t>
            </a:r>
            <a:r>
              <a:rPr lang="ja-JP" altLang="en-US" sz="1400" dirty="0"/>
              <a:t>の真／偽</a:t>
            </a:r>
            <a:endParaRPr lang="en-US" altLang="ja-JP" sz="1400" dirty="0"/>
          </a:p>
          <a:p>
            <a:r>
              <a:rPr lang="ja-JP" altLang="en-US" sz="1400" dirty="0"/>
              <a:t>・条件</a:t>
            </a:r>
            <a:r>
              <a:rPr lang="en-US" altLang="ja-JP" sz="1400" dirty="0"/>
              <a:t>b2</a:t>
            </a:r>
            <a:r>
              <a:rPr lang="ja-JP" altLang="en-US" sz="1400" dirty="0"/>
              <a:t>の真／偽</a:t>
            </a:r>
          </a:p>
        </p:txBody>
      </p:sp>
    </p:spTree>
    <p:extLst>
      <p:ext uri="{BB962C8B-B14F-4D97-AF65-F5344CB8AC3E}">
        <p14:creationId xmlns:p14="http://schemas.microsoft.com/office/powerpoint/2010/main" val="24387083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6217DE-153E-FD8B-7E5B-A305D3D7C5F2}"/>
              </a:ext>
            </a:extLst>
          </p:cNvPr>
          <p:cNvSpPr>
            <a:spLocks noGrp="1"/>
          </p:cNvSpPr>
          <p:nvPr>
            <p:ph type="title"/>
          </p:nvPr>
        </p:nvSpPr>
        <p:spPr/>
        <p:txBody>
          <a:bodyPr/>
          <a:lstStyle/>
          <a:p>
            <a:r>
              <a:rPr lang="ja-JP" altLang="en-US" dirty="0"/>
              <a:t>テスト技法 </a:t>
            </a:r>
            <a:r>
              <a:rPr lang="en-US" altLang="ja-JP" dirty="0"/>
              <a:t>– </a:t>
            </a:r>
            <a:r>
              <a:rPr lang="ja-JP" altLang="en-US" dirty="0"/>
              <a:t>経験ベースの技法 </a:t>
            </a:r>
            <a:r>
              <a:rPr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B051B8CE-C801-185F-8048-7B3AA318B7F4}"/>
              </a:ext>
            </a:extLst>
          </p:cNvPr>
          <p:cNvSpPr>
            <a:spLocks noGrp="1"/>
          </p:cNvSpPr>
          <p:nvPr>
            <p:ph sz="quarter" idx="10"/>
          </p:nvPr>
        </p:nvSpPr>
        <p:spPr>
          <a:xfrm>
            <a:off x="371474" y="1038386"/>
            <a:ext cx="11448000" cy="871867"/>
          </a:xfrm>
        </p:spPr>
        <p:txBody>
          <a:bodyPr/>
          <a:lstStyle/>
          <a:p>
            <a:r>
              <a:rPr kumimoji="1" lang="ja-JP" altLang="en-US" u="sng" dirty="0"/>
              <a:t>経験ベースの技法</a:t>
            </a:r>
            <a:endParaRPr kumimoji="1" lang="en-US" altLang="ja-JP" dirty="0"/>
          </a:p>
          <a:p>
            <a:r>
              <a:rPr lang="ja-JP" altLang="en-US" dirty="0"/>
              <a:t>テストケースの設計と実装に、テスト担当者の知識と経験を効果的に利用する</a:t>
            </a:r>
            <a:r>
              <a:rPr kumimoji="1" lang="ja-JP" altLang="en-US" dirty="0"/>
              <a:t>テスト技法</a:t>
            </a:r>
            <a:endParaRPr lang="en-US" altLang="ja-JP" dirty="0"/>
          </a:p>
          <a:p>
            <a:r>
              <a:rPr lang="ja-JP" altLang="en-US" dirty="0"/>
              <a:t>潜在するバグを狙い撃つことが可能</a:t>
            </a:r>
            <a:endParaRPr lang="en-US" altLang="ja-JP" dirty="0"/>
          </a:p>
          <a:p>
            <a:endParaRPr lang="en-US" altLang="ja-JP" dirty="0"/>
          </a:p>
          <a:p>
            <a:endParaRPr lang="en-US" altLang="ja-JP" dirty="0"/>
          </a:p>
          <a:p>
            <a:endParaRPr lang="en-US" altLang="ja-JP" dirty="0"/>
          </a:p>
          <a:p>
            <a:endParaRPr kumimoji="1" lang="ja-JP" altLang="en-US" dirty="0"/>
          </a:p>
        </p:txBody>
      </p:sp>
      <p:pic>
        <p:nvPicPr>
          <p:cNvPr id="4" name="グラフィックス 3" descr="ユーザー 単色塗りつぶし">
            <a:extLst>
              <a:ext uri="{FF2B5EF4-FFF2-40B4-BE49-F238E27FC236}">
                <a16:creationId xmlns:a16="http://schemas.microsoft.com/office/drawing/2014/main" id="{84CE59D9-7ED3-1BF9-5990-954F18D110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18043" y="2536530"/>
            <a:ext cx="720000" cy="720000"/>
          </a:xfrm>
          <a:prstGeom prst="rect">
            <a:avLst/>
          </a:prstGeom>
        </p:spPr>
      </p:pic>
      <p:sp>
        <p:nvSpPr>
          <p:cNvPr id="5" name="吹き出し: 角を丸めた四角形 4">
            <a:extLst>
              <a:ext uri="{FF2B5EF4-FFF2-40B4-BE49-F238E27FC236}">
                <a16:creationId xmlns:a16="http://schemas.microsoft.com/office/drawing/2014/main" id="{36BC8FC5-DB94-1739-D8F5-01620789613A}"/>
              </a:ext>
            </a:extLst>
          </p:cNvPr>
          <p:cNvSpPr/>
          <p:nvPr/>
        </p:nvSpPr>
        <p:spPr>
          <a:xfrm>
            <a:off x="6541803" y="2236270"/>
            <a:ext cx="3183990" cy="642317"/>
          </a:xfrm>
          <a:prstGeom prst="wedgeRoundRectCallout">
            <a:avLst>
              <a:gd name="adj1" fmla="val -58052"/>
              <a:gd name="adj2" fmla="val 44644"/>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以前ここでバグが見つかったから、</a:t>
            </a:r>
            <a:endParaRPr kumimoji="1" lang="en-US" altLang="ja-JP" sz="1400" dirty="0">
              <a:solidFill>
                <a:schemeClr val="tx1"/>
              </a:solidFill>
            </a:endParaRPr>
          </a:p>
          <a:p>
            <a:pPr algn="ctr"/>
            <a:r>
              <a:rPr kumimoji="1" lang="ja-JP" altLang="en-US" sz="1400" dirty="0">
                <a:solidFill>
                  <a:schemeClr val="tx1"/>
                </a:solidFill>
              </a:rPr>
              <a:t>テストケースを追加しよう</a:t>
            </a:r>
          </a:p>
        </p:txBody>
      </p:sp>
      <p:sp>
        <p:nvSpPr>
          <p:cNvPr id="6" name="テキスト ボックス 5">
            <a:extLst>
              <a:ext uri="{FF2B5EF4-FFF2-40B4-BE49-F238E27FC236}">
                <a16:creationId xmlns:a16="http://schemas.microsoft.com/office/drawing/2014/main" id="{5F6DB306-533E-C4FD-0FDF-A7CE2383B90A}"/>
              </a:ext>
            </a:extLst>
          </p:cNvPr>
          <p:cNvSpPr txBox="1"/>
          <p:nvPr/>
        </p:nvSpPr>
        <p:spPr>
          <a:xfrm>
            <a:off x="5432382" y="3183706"/>
            <a:ext cx="891321" cy="304151"/>
          </a:xfrm>
          <a:prstGeom prst="rect">
            <a:avLst/>
          </a:prstGeom>
          <a:noFill/>
        </p:spPr>
        <p:txBody>
          <a:bodyPr wrap="square" lIns="0" rIns="0" rtlCol="0">
            <a:noAutofit/>
          </a:bodyPr>
          <a:lstStyle/>
          <a:p>
            <a:pPr algn="ctr" defTabSz="288000"/>
            <a:r>
              <a:rPr lang="ja-JP" altLang="en-US" sz="1200" dirty="0">
                <a:latin typeface="+mn-ea"/>
              </a:rPr>
              <a:t>テスト担当者</a:t>
            </a:r>
            <a:endParaRPr kumimoji="1" lang="ja-JP" altLang="en-US" sz="1200" dirty="0">
              <a:latin typeface="+mn-ea"/>
            </a:endParaRPr>
          </a:p>
        </p:txBody>
      </p:sp>
      <p:sp>
        <p:nvSpPr>
          <p:cNvPr id="7" name="テキスト ボックス 6">
            <a:extLst>
              <a:ext uri="{FF2B5EF4-FFF2-40B4-BE49-F238E27FC236}">
                <a16:creationId xmlns:a16="http://schemas.microsoft.com/office/drawing/2014/main" id="{3A5B10EB-FFFA-6092-2653-9C623D2844E7}"/>
              </a:ext>
            </a:extLst>
          </p:cNvPr>
          <p:cNvSpPr txBox="1"/>
          <p:nvPr/>
        </p:nvSpPr>
        <p:spPr>
          <a:xfrm>
            <a:off x="365175" y="3719185"/>
            <a:ext cx="11607085" cy="2585323"/>
          </a:xfrm>
          <a:prstGeom prst="rect">
            <a:avLst/>
          </a:prstGeom>
          <a:noFill/>
        </p:spPr>
        <p:txBody>
          <a:bodyPr wrap="square">
            <a:spAutoFit/>
          </a:bodyPr>
          <a:lstStyle/>
          <a:p>
            <a:r>
              <a:rPr lang="ja-JP" altLang="en-US" dirty="0"/>
              <a:t>■種類</a:t>
            </a:r>
            <a:endParaRPr lang="en-US" altLang="ja-JP" dirty="0"/>
          </a:p>
          <a:p>
            <a:r>
              <a:rPr lang="ja-JP" altLang="en-US" dirty="0"/>
              <a:t>　・エラー推測</a:t>
            </a:r>
            <a:endParaRPr lang="en-US" altLang="ja-JP" dirty="0"/>
          </a:p>
          <a:p>
            <a:r>
              <a:rPr lang="ja-JP" altLang="en-US" dirty="0"/>
              <a:t>　　　想定されるエラー、欠陥、故障のリストを作成し、それらの故障やそれらを引き起こす欠陥を検出するテストを作成する技法</a:t>
            </a:r>
            <a:endParaRPr lang="en-US" altLang="ja-JP" dirty="0"/>
          </a:p>
          <a:p>
            <a:r>
              <a:rPr lang="ja-JP" altLang="en-US" dirty="0"/>
              <a:t>　・探索的テスト</a:t>
            </a:r>
            <a:endParaRPr lang="en-US" altLang="ja-JP" dirty="0"/>
          </a:p>
          <a:p>
            <a:r>
              <a:rPr lang="ja-JP" altLang="en-US" dirty="0"/>
              <a:t>　　　事前にテスト設計をせずに、</a:t>
            </a:r>
            <a:endParaRPr lang="en-US" altLang="ja-JP" dirty="0"/>
          </a:p>
          <a:p>
            <a:r>
              <a:rPr lang="ja-JP" altLang="en-US" dirty="0"/>
              <a:t>　　　テスト実行、ログ記録、結果の評価と分析、次に実行すべきテストの設計、を繰り返して品質を高める技法</a:t>
            </a:r>
            <a:endParaRPr lang="en-US" altLang="ja-JP" dirty="0"/>
          </a:p>
          <a:p>
            <a:r>
              <a:rPr lang="ja-JP" altLang="en-US" dirty="0"/>
              <a:t>　・チェックリストベースドテスト</a:t>
            </a:r>
            <a:endParaRPr lang="en-US" altLang="ja-JP" dirty="0"/>
          </a:p>
          <a:p>
            <a:r>
              <a:rPr lang="ja-JP" altLang="en-US" dirty="0"/>
              <a:t>　　　チェックリスト（経験やユーザーが重要視する点、ソフトウェアが不合格となる理由や仕組みに基づいて作成されるリスト）の</a:t>
            </a:r>
            <a:endParaRPr lang="en-US" altLang="ja-JP" dirty="0"/>
          </a:p>
          <a:p>
            <a:r>
              <a:rPr lang="ja-JP" altLang="en-US" dirty="0"/>
              <a:t>　　　テスト条件をカバーするようにテストを作成する技法</a:t>
            </a:r>
            <a:endParaRPr lang="en-US" altLang="ja-JP" dirty="0"/>
          </a:p>
        </p:txBody>
      </p:sp>
      <p:sp>
        <p:nvSpPr>
          <p:cNvPr id="10" name="吹き出し: 角を丸めた四角形 9">
            <a:extLst>
              <a:ext uri="{FF2B5EF4-FFF2-40B4-BE49-F238E27FC236}">
                <a16:creationId xmlns:a16="http://schemas.microsoft.com/office/drawing/2014/main" id="{FA662784-78C1-7FA5-F551-AA603A9B7A4F}"/>
              </a:ext>
            </a:extLst>
          </p:cNvPr>
          <p:cNvSpPr/>
          <p:nvPr/>
        </p:nvSpPr>
        <p:spPr>
          <a:xfrm>
            <a:off x="2030293" y="2321880"/>
            <a:ext cx="3183990" cy="642317"/>
          </a:xfrm>
          <a:prstGeom prst="wedgeRoundRectCallout">
            <a:avLst>
              <a:gd name="adj1" fmla="val 60224"/>
              <a:gd name="adj2" fmla="val 29659"/>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ここはバグが作られやすいから、</a:t>
            </a:r>
            <a:endParaRPr kumimoji="1" lang="en-US" altLang="ja-JP" sz="1400" dirty="0">
              <a:solidFill>
                <a:schemeClr val="tx1"/>
              </a:solidFill>
            </a:endParaRPr>
          </a:p>
          <a:p>
            <a:pPr algn="ctr"/>
            <a:r>
              <a:rPr kumimoji="1" lang="ja-JP" altLang="en-US" sz="1400" dirty="0">
                <a:solidFill>
                  <a:schemeClr val="tx1"/>
                </a:solidFill>
              </a:rPr>
              <a:t>テストケースを追加しよう</a:t>
            </a:r>
          </a:p>
        </p:txBody>
      </p:sp>
      <p:sp>
        <p:nvSpPr>
          <p:cNvPr id="11" name="楕円 10">
            <a:extLst>
              <a:ext uri="{FF2B5EF4-FFF2-40B4-BE49-F238E27FC236}">
                <a16:creationId xmlns:a16="http://schemas.microsoft.com/office/drawing/2014/main" id="{CFA41D85-7AB6-CA87-894F-A2829F238CBC}"/>
              </a:ext>
            </a:extLst>
          </p:cNvPr>
          <p:cNvSpPr/>
          <p:nvPr/>
        </p:nvSpPr>
        <p:spPr>
          <a:xfrm>
            <a:off x="1726533" y="2737363"/>
            <a:ext cx="1070810" cy="465204"/>
          </a:xfrm>
          <a:prstGeom prst="ellipse">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知識</a:t>
            </a:r>
          </a:p>
        </p:txBody>
      </p:sp>
      <p:sp>
        <p:nvSpPr>
          <p:cNvPr id="12" name="楕円 11">
            <a:extLst>
              <a:ext uri="{FF2B5EF4-FFF2-40B4-BE49-F238E27FC236}">
                <a16:creationId xmlns:a16="http://schemas.microsoft.com/office/drawing/2014/main" id="{1DAEDFA3-1D91-E870-6D74-3732F8898E18}"/>
              </a:ext>
            </a:extLst>
          </p:cNvPr>
          <p:cNvSpPr/>
          <p:nvPr/>
        </p:nvSpPr>
        <p:spPr>
          <a:xfrm>
            <a:off x="9190388" y="2601080"/>
            <a:ext cx="1070810" cy="465204"/>
          </a:xfrm>
          <a:prstGeom prst="ellipse">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経験</a:t>
            </a:r>
            <a:endParaRPr kumimoji="1" lang="ja-JP" altLang="en-US" sz="1400" dirty="0">
              <a:solidFill>
                <a:schemeClr val="tx1"/>
              </a:solidFill>
            </a:endParaRPr>
          </a:p>
        </p:txBody>
      </p:sp>
    </p:spTree>
    <p:extLst>
      <p:ext uri="{BB962C8B-B14F-4D97-AF65-F5344CB8AC3E}">
        <p14:creationId xmlns:p14="http://schemas.microsoft.com/office/powerpoint/2010/main" val="9042393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8D260-7AD2-90C1-CECE-5B10952000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4ED9525-D0A8-F6C7-1D17-68782A56247E}"/>
              </a:ext>
            </a:extLst>
          </p:cNvPr>
          <p:cNvSpPr>
            <a:spLocks noGrp="1"/>
          </p:cNvSpPr>
          <p:nvPr>
            <p:ph type="title"/>
          </p:nvPr>
        </p:nvSpPr>
        <p:spPr/>
        <p:txBody>
          <a:bodyPr anchor="ctr"/>
          <a:lstStyle/>
          <a:p>
            <a:r>
              <a:rPr lang="ja-JP" altLang="en-US" dirty="0"/>
              <a:t>単体テスト（</a:t>
            </a:r>
            <a:r>
              <a:rPr lang="en-US" altLang="ja-JP" dirty="0"/>
              <a:t>Unit Test</a:t>
            </a:r>
            <a:r>
              <a:rPr lang="ja-JP" altLang="en-US" dirty="0"/>
              <a:t>）とは</a:t>
            </a:r>
            <a:endParaRPr kumimoji="1" lang="ja-JP" altLang="en-US" dirty="0"/>
          </a:p>
        </p:txBody>
      </p:sp>
      <p:sp>
        <p:nvSpPr>
          <p:cNvPr id="3" name="コンテンツ プレースホルダー 2">
            <a:extLst>
              <a:ext uri="{FF2B5EF4-FFF2-40B4-BE49-F238E27FC236}">
                <a16:creationId xmlns:a16="http://schemas.microsoft.com/office/drawing/2014/main" id="{5A532F85-AC36-40E4-A48E-B861C9927058}"/>
              </a:ext>
            </a:extLst>
          </p:cNvPr>
          <p:cNvSpPr>
            <a:spLocks noGrp="1"/>
          </p:cNvSpPr>
          <p:nvPr>
            <p:ph sz="quarter" idx="4294967295"/>
          </p:nvPr>
        </p:nvSpPr>
        <p:spPr>
          <a:xfrm>
            <a:off x="574158" y="1692779"/>
            <a:ext cx="8888819" cy="1253386"/>
          </a:xfrm>
        </p:spPr>
        <p:txBody>
          <a:bodyPr anchor="ctr"/>
          <a:lstStyle/>
          <a:p>
            <a:r>
              <a:rPr lang="ja-JP" altLang="en-US" dirty="0"/>
              <a:t>　　　</a:t>
            </a:r>
            <a:r>
              <a:rPr lang="en-US" altLang="ja-JP" dirty="0"/>
              <a:t>(1) </a:t>
            </a:r>
            <a:r>
              <a:rPr lang="ja-JP" altLang="en-US" dirty="0"/>
              <a:t>少量のコードを１単位（１ユニット）として、コードを検証する</a:t>
            </a:r>
            <a:endParaRPr lang="en-US" altLang="ja-JP" dirty="0"/>
          </a:p>
          <a:p>
            <a:r>
              <a:rPr lang="en-US" altLang="ja-JP" dirty="0"/>
              <a:t>	</a:t>
            </a:r>
            <a:r>
              <a:rPr lang="ja-JP" altLang="en-US" dirty="0"/>
              <a:t>　</a:t>
            </a:r>
            <a:r>
              <a:rPr lang="en-US" altLang="ja-JP" dirty="0"/>
              <a:t>(2) </a:t>
            </a:r>
            <a:r>
              <a:rPr lang="ja-JP" altLang="en-US" dirty="0"/>
              <a:t>実行時間が短い</a:t>
            </a:r>
            <a:endParaRPr lang="en-US" altLang="ja-JP" dirty="0"/>
          </a:p>
          <a:p>
            <a:r>
              <a:rPr kumimoji="1" lang="en-US" altLang="ja-JP" dirty="0"/>
              <a:t>	</a:t>
            </a:r>
            <a:r>
              <a:rPr kumimoji="1" lang="ja-JP" altLang="en-US" dirty="0"/>
              <a:t>　</a:t>
            </a:r>
            <a:r>
              <a:rPr lang="en-US" altLang="ja-JP" dirty="0"/>
              <a:t>(3) </a:t>
            </a:r>
            <a:r>
              <a:rPr kumimoji="1" lang="ja-JP" altLang="en-US" dirty="0"/>
              <a:t>隔離された状態で実行される</a:t>
            </a:r>
            <a:endParaRPr kumimoji="1" lang="en-US" altLang="ja-JP" dirty="0"/>
          </a:p>
        </p:txBody>
      </p:sp>
      <p:sp>
        <p:nvSpPr>
          <p:cNvPr id="19" name="四角形: 角を丸くする 18">
            <a:extLst>
              <a:ext uri="{FF2B5EF4-FFF2-40B4-BE49-F238E27FC236}">
                <a16:creationId xmlns:a16="http://schemas.microsoft.com/office/drawing/2014/main" id="{B052D898-0694-352A-D6A3-C6B04E1E934F}"/>
              </a:ext>
            </a:extLst>
          </p:cNvPr>
          <p:cNvSpPr/>
          <p:nvPr/>
        </p:nvSpPr>
        <p:spPr>
          <a:xfrm>
            <a:off x="574158" y="1621328"/>
            <a:ext cx="10696354" cy="1385631"/>
          </a:xfrm>
          <a:prstGeom prst="roundRect">
            <a:avLst>
              <a:gd name="adj" fmla="val 7459"/>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四角形: 角を丸くする 17">
            <a:extLst>
              <a:ext uri="{FF2B5EF4-FFF2-40B4-BE49-F238E27FC236}">
                <a16:creationId xmlns:a16="http://schemas.microsoft.com/office/drawing/2014/main" id="{9167FF4A-F625-8FE8-7AA0-963F2E71BAE1}"/>
              </a:ext>
            </a:extLst>
          </p:cNvPr>
          <p:cNvSpPr/>
          <p:nvPr/>
        </p:nvSpPr>
        <p:spPr>
          <a:xfrm>
            <a:off x="371474" y="1408421"/>
            <a:ext cx="936331" cy="396000"/>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定義</a:t>
            </a:r>
          </a:p>
        </p:txBody>
      </p:sp>
      <p:sp>
        <p:nvSpPr>
          <p:cNvPr id="21" name="テキスト ボックス 20">
            <a:extLst>
              <a:ext uri="{FF2B5EF4-FFF2-40B4-BE49-F238E27FC236}">
                <a16:creationId xmlns:a16="http://schemas.microsoft.com/office/drawing/2014/main" id="{A6DBBCEC-F569-007A-D3E8-2B8B4DE90BA5}"/>
              </a:ext>
            </a:extLst>
          </p:cNvPr>
          <p:cNvSpPr txBox="1"/>
          <p:nvPr/>
        </p:nvSpPr>
        <p:spPr>
          <a:xfrm>
            <a:off x="839639" y="3128949"/>
            <a:ext cx="6321056" cy="2862322"/>
          </a:xfrm>
          <a:prstGeom prst="rect">
            <a:avLst/>
          </a:prstGeom>
          <a:noFill/>
        </p:spPr>
        <p:txBody>
          <a:bodyPr wrap="square">
            <a:spAutoFit/>
          </a:bodyPr>
          <a:lstStyle/>
          <a:p>
            <a:r>
              <a:rPr kumimoji="1" lang="ja-JP" altLang="en-US" dirty="0">
                <a:solidFill>
                  <a:schemeClr val="bg1">
                    <a:lumMod val="75000"/>
                  </a:schemeClr>
                </a:solidFill>
              </a:rPr>
              <a:t>■単体テストでのテスト設計</a:t>
            </a:r>
            <a:endParaRPr kumimoji="1" lang="en-US" altLang="ja-JP" dirty="0">
              <a:solidFill>
                <a:schemeClr val="bg1">
                  <a:lumMod val="75000"/>
                </a:schemeClr>
              </a:solidFill>
            </a:endParaRPr>
          </a:p>
          <a:p>
            <a:endParaRPr lang="en-US" altLang="ja-JP" dirty="0">
              <a:solidFill>
                <a:schemeClr val="bg1">
                  <a:lumMod val="75000"/>
                </a:schemeClr>
              </a:solidFill>
            </a:endParaRPr>
          </a:p>
          <a:p>
            <a:r>
              <a:rPr kumimoji="1" lang="ja-JP" altLang="en-US" dirty="0">
                <a:solidFill>
                  <a:schemeClr val="bg1">
                    <a:lumMod val="75000"/>
                  </a:schemeClr>
                </a:solidFill>
              </a:rPr>
              <a:t>■単体テストで用いられるテスト技法</a:t>
            </a:r>
            <a:endParaRPr kumimoji="1" lang="en-US" altLang="ja-JP" dirty="0">
              <a:solidFill>
                <a:schemeClr val="bg1">
                  <a:lumMod val="75000"/>
                </a:schemeClr>
              </a:solidFill>
            </a:endParaRPr>
          </a:p>
          <a:p>
            <a:r>
              <a:rPr lang="ja-JP" altLang="en-US" dirty="0">
                <a:solidFill>
                  <a:schemeClr val="bg1">
                    <a:lumMod val="75000"/>
                  </a:schemeClr>
                </a:solidFill>
              </a:rPr>
              <a:t>　　</a:t>
            </a:r>
            <a:r>
              <a:rPr lang="en-US" altLang="ja-JP" dirty="0">
                <a:solidFill>
                  <a:schemeClr val="bg1">
                    <a:lumMod val="75000"/>
                  </a:schemeClr>
                </a:solidFill>
              </a:rPr>
              <a:t>JSTQB</a:t>
            </a:r>
            <a:r>
              <a:rPr lang="ja-JP" altLang="en-US" dirty="0">
                <a:solidFill>
                  <a:schemeClr val="bg1">
                    <a:lumMod val="75000"/>
                  </a:schemeClr>
                </a:solidFill>
              </a:rPr>
              <a:t>では「テスト技法」を、以下の３つに分類している。</a:t>
            </a:r>
            <a:endParaRPr kumimoji="1" lang="en-US" altLang="ja-JP" dirty="0">
              <a:solidFill>
                <a:schemeClr val="bg1">
                  <a:lumMod val="75000"/>
                </a:schemeClr>
              </a:solidFill>
            </a:endParaRPr>
          </a:p>
          <a:p>
            <a:r>
              <a:rPr lang="ja-JP" altLang="en-US" dirty="0">
                <a:solidFill>
                  <a:schemeClr val="bg1">
                    <a:lumMod val="75000"/>
                  </a:schemeClr>
                </a:solidFill>
              </a:rPr>
              <a:t>　　　</a:t>
            </a:r>
            <a:r>
              <a:rPr kumimoji="1" lang="ja-JP" altLang="en-US" dirty="0">
                <a:solidFill>
                  <a:schemeClr val="bg1">
                    <a:lumMod val="75000"/>
                  </a:schemeClr>
                </a:solidFill>
              </a:rPr>
              <a:t>・ブラックボックステスト技法</a:t>
            </a:r>
            <a:endParaRPr kumimoji="1" lang="en-US" altLang="ja-JP" dirty="0">
              <a:solidFill>
                <a:schemeClr val="bg1">
                  <a:lumMod val="75000"/>
                </a:schemeClr>
              </a:solidFill>
            </a:endParaRPr>
          </a:p>
          <a:p>
            <a:r>
              <a:rPr kumimoji="1" lang="ja-JP" altLang="en-US" dirty="0">
                <a:solidFill>
                  <a:schemeClr val="bg1">
                    <a:lumMod val="75000"/>
                  </a:schemeClr>
                </a:solidFill>
              </a:rPr>
              <a:t>　　　・ホワイトボックステスト技法</a:t>
            </a:r>
            <a:endParaRPr kumimoji="1" lang="en-US" altLang="ja-JP" dirty="0">
              <a:solidFill>
                <a:schemeClr val="bg1">
                  <a:lumMod val="75000"/>
                </a:schemeClr>
              </a:solidFill>
            </a:endParaRPr>
          </a:p>
          <a:p>
            <a:r>
              <a:rPr lang="ja-JP" altLang="en-US" dirty="0">
                <a:solidFill>
                  <a:schemeClr val="bg1">
                    <a:lumMod val="75000"/>
                  </a:schemeClr>
                </a:solidFill>
              </a:rPr>
              <a:t>　　　・経験ベースのテスト技法</a:t>
            </a:r>
            <a:endParaRPr kumimoji="1" lang="en-US" altLang="ja-JP" dirty="0">
              <a:solidFill>
                <a:schemeClr val="bg1">
                  <a:lumMod val="75000"/>
                </a:schemeClr>
              </a:solidFill>
            </a:endParaRPr>
          </a:p>
          <a:p>
            <a:endParaRPr kumimoji="1" lang="en-US" altLang="ja-JP" dirty="0"/>
          </a:p>
          <a:p>
            <a:r>
              <a:rPr kumimoji="1" lang="ja-JP" altLang="en-US" dirty="0"/>
              <a:t>■</a:t>
            </a:r>
            <a:r>
              <a:rPr lang="ja-JP" altLang="en-US" dirty="0"/>
              <a:t>単体テストの実施方法</a:t>
            </a:r>
            <a:endParaRPr lang="en-US" altLang="ja-JP" dirty="0"/>
          </a:p>
          <a:p>
            <a:endParaRPr kumimoji="1" lang="en-US" altLang="ja-JP" dirty="0"/>
          </a:p>
        </p:txBody>
      </p:sp>
      <p:sp>
        <p:nvSpPr>
          <p:cNvPr id="5" name="コンテンツ プレースホルダー 2">
            <a:extLst>
              <a:ext uri="{FF2B5EF4-FFF2-40B4-BE49-F238E27FC236}">
                <a16:creationId xmlns:a16="http://schemas.microsoft.com/office/drawing/2014/main" id="{32FB602F-AEF2-B2BC-8E9C-955F40B369F0}"/>
              </a:ext>
            </a:extLst>
          </p:cNvPr>
          <p:cNvSpPr txBox="1">
            <a:spLocks/>
          </p:cNvSpPr>
          <p:nvPr/>
        </p:nvSpPr>
        <p:spPr>
          <a:xfrm>
            <a:off x="371474" y="1012800"/>
            <a:ext cx="11448000" cy="258577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u="sng" dirty="0">
                <a:solidFill>
                  <a:schemeClr val="tx1"/>
                </a:solidFill>
              </a:rPr>
              <a:t>単体テスト</a:t>
            </a:r>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p:txBody>
      </p:sp>
      <p:sp>
        <p:nvSpPr>
          <p:cNvPr id="7" name="正方形/長方形 6">
            <a:extLst>
              <a:ext uri="{FF2B5EF4-FFF2-40B4-BE49-F238E27FC236}">
                <a16:creationId xmlns:a16="http://schemas.microsoft.com/office/drawing/2014/main" id="{13DFE852-B715-0723-D903-F053113BCE16}"/>
              </a:ext>
            </a:extLst>
          </p:cNvPr>
          <p:cNvSpPr/>
          <p:nvPr/>
        </p:nvSpPr>
        <p:spPr>
          <a:xfrm>
            <a:off x="681135" y="5264666"/>
            <a:ext cx="5980922" cy="498360"/>
          </a:xfrm>
          <a:prstGeom prst="rect">
            <a:avLst/>
          </a:prstGeom>
          <a:noFill/>
          <a:ln w="28575">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 name="吹き出し: 角を丸めた四角形 7">
            <a:extLst>
              <a:ext uri="{FF2B5EF4-FFF2-40B4-BE49-F238E27FC236}">
                <a16:creationId xmlns:a16="http://schemas.microsoft.com/office/drawing/2014/main" id="{767B4DDB-274D-5C9E-5DD5-CEF427DD9B6C}"/>
              </a:ext>
            </a:extLst>
          </p:cNvPr>
          <p:cNvSpPr/>
          <p:nvPr/>
        </p:nvSpPr>
        <p:spPr>
          <a:xfrm>
            <a:off x="7010401" y="4709671"/>
            <a:ext cx="2929322" cy="1287009"/>
          </a:xfrm>
          <a:prstGeom prst="wedgeRoundRectCallout">
            <a:avLst>
              <a:gd name="adj1" fmla="val -71136"/>
              <a:gd name="adj2" fmla="val 13744"/>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400" dirty="0">
                <a:solidFill>
                  <a:schemeClr val="tx1"/>
                </a:solidFill>
              </a:rPr>
              <a:t>本講義</a:t>
            </a:r>
            <a:r>
              <a:rPr kumimoji="1" lang="ja-JP" altLang="en-US" sz="1400" dirty="0">
                <a:solidFill>
                  <a:schemeClr val="tx1"/>
                </a:solidFill>
              </a:rPr>
              <a:t>では、以下について説明する。</a:t>
            </a:r>
            <a:endParaRPr kumimoji="1" lang="en-US" altLang="ja-JP" sz="1400" dirty="0">
              <a:solidFill>
                <a:schemeClr val="tx1"/>
              </a:solidFill>
            </a:endParaRPr>
          </a:p>
          <a:p>
            <a:r>
              <a:rPr kumimoji="1" lang="ja-JP" altLang="en-US" sz="1400" dirty="0">
                <a:solidFill>
                  <a:schemeClr val="tx1"/>
                </a:solidFill>
              </a:rPr>
              <a:t>・前提知識</a:t>
            </a:r>
            <a:endParaRPr kumimoji="1" lang="en-US" altLang="ja-JP" sz="1400" dirty="0">
              <a:solidFill>
                <a:schemeClr val="tx1"/>
              </a:solidFill>
            </a:endParaRPr>
          </a:p>
          <a:p>
            <a:r>
              <a:rPr kumimoji="1" lang="ja-JP" altLang="en-US" sz="1400" dirty="0">
                <a:solidFill>
                  <a:schemeClr val="tx1"/>
                </a:solidFill>
              </a:rPr>
              <a:t>　・スタブとドライバ</a:t>
            </a:r>
            <a:endParaRPr kumimoji="1" lang="en-US" altLang="ja-JP" sz="1400" dirty="0">
              <a:solidFill>
                <a:schemeClr val="tx1"/>
              </a:solidFill>
            </a:endParaRPr>
          </a:p>
          <a:p>
            <a:r>
              <a:rPr lang="ja-JP" altLang="en-US" sz="1400" dirty="0">
                <a:solidFill>
                  <a:schemeClr val="tx1"/>
                </a:solidFill>
              </a:rPr>
              <a:t>　・スタブとモック</a:t>
            </a:r>
            <a:endParaRPr kumimoji="1" lang="en-US" altLang="ja-JP" sz="1400" dirty="0">
              <a:solidFill>
                <a:schemeClr val="tx1"/>
              </a:solidFill>
            </a:endParaRPr>
          </a:p>
        </p:txBody>
      </p:sp>
    </p:spTree>
    <p:extLst>
      <p:ext uri="{BB962C8B-B14F-4D97-AF65-F5344CB8AC3E}">
        <p14:creationId xmlns:p14="http://schemas.microsoft.com/office/powerpoint/2010/main" val="19302288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71EC1-181D-1B24-C4CC-195F189DB4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8FB709-4FBF-25BC-4741-60D197858685}"/>
              </a:ext>
            </a:extLst>
          </p:cNvPr>
          <p:cNvSpPr>
            <a:spLocks noGrp="1"/>
          </p:cNvSpPr>
          <p:nvPr>
            <p:ph type="title"/>
          </p:nvPr>
        </p:nvSpPr>
        <p:spPr/>
        <p:txBody>
          <a:bodyPr anchor="ctr"/>
          <a:lstStyle/>
          <a:p>
            <a:r>
              <a:rPr kumimoji="1" lang="ja-JP" altLang="en-US" dirty="0"/>
              <a:t>スタブとドライバ</a:t>
            </a:r>
          </a:p>
        </p:txBody>
      </p:sp>
      <p:sp>
        <p:nvSpPr>
          <p:cNvPr id="3" name="コンテンツ プレースホルダー 2">
            <a:extLst>
              <a:ext uri="{FF2B5EF4-FFF2-40B4-BE49-F238E27FC236}">
                <a16:creationId xmlns:a16="http://schemas.microsoft.com/office/drawing/2014/main" id="{EDC3CEF1-88A4-2E27-8645-64827641D88D}"/>
              </a:ext>
            </a:extLst>
          </p:cNvPr>
          <p:cNvSpPr>
            <a:spLocks noGrp="1"/>
          </p:cNvSpPr>
          <p:nvPr>
            <p:ph sz="quarter" idx="4294967295"/>
          </p:nvPr>
        </p:nvSpPr>
        <p:spPr>
          <a:xfrm>
            <a:off x="372000" y="1038386"/>
            <a:ext cx="11448000" cy="1176044"/>
          </a:xfrm>
        </p:spPr>
        <p:txBody>
          <a:bodyPr/>
          <a:lstStyle/>
          <a:p>
            <a:r>
              <a:rPr lang="ja-JP" altLang="en-US" dirty="0"/>
              <a:t>単体テストで使用される部品として、</a:t>
            </a:r>
            <a:r>
              <a:rPr lang="ja-JP" altLang="en-US" sz="2000" b="1" dirty="0"/>
              <a:t>スタブ</a:t>
            </a:r>
            <a:r>
              <a:rPr lang="ja-JP" altLang="en-US" dirty="0"/>
              <a:t>と</a:t>
            </a:r>
            <a:r>
              <a:rPr lang="ja-JP" altLang="en-US" sz="2000" b="1" dirty="0"/>
              <a:t>ドライバ</a:t>
            </a:r>
            <a:r>
              <a:rPr lang="ja-JP" altLang="en-US" dirty="0"/>
              <a:t>がある。</a:t>
            </a:r>
            <a:r>
              <a:rPr kumimoji="1" lang="ja-JP" altLang="en-US" dirty="0"/>
              <a:t>スタブとドライバはどちらも対象オブジェクトの代わりに使用される</a:t>
            </a:r>
            <a:endParaRPr kumimoji="1" lang="en-US" altLang="ja-JP" dirty="0"/>
          </a:p>
          <a:p>
            <a:r>
              <a:rPr kumimoji="1" lang="ja-JP" altLang="en-US" dirty="0"/>
              <a:t>模倣オブジェクトであり、</a:t>
            </a:r>
            <a:r>
              <a:rPr lang="ja-JP" altLang="en-US" dirty="0"/>
              <a:t>対象オブジェクトと同じような見た目や振る舞いをする。</a:t>
            </a:r>
            <a:endParaRPr lang="en-US" altLang="ja-JP" dirty="0"/>
          </a:p>
          <a:p>
            <a:r>
              <a:rPr lang="ja-JP" altLang="en-US" dirty="0"/>
              <a:t>スタブは呼ばれる側のオブジェクトを、ドライバは呼ぶ側のオブジェクトを置き換えるための模倣オブジェクトである。</a:t>
            </a:r>
            <a:endParaRPr lang="en-US" altLang="ja-JP" dirty="0"/>
          </a:p>
        </p:txBody>
      </p:sp>
      <p:sp>
        <p:nvSpPr>
          <p:cNvPr id="6" name="正方形/長方形 5">
            <a:extLst>
              <a:ext uri="{FF2B5EF4-FFF2-40B4-BE49-F238E27FC236}">
                <a16:creationId xmlns:a16="http://schemas.microsoft.com/office/drawing/2014/main" id="{904B91C4-5365-AB84-992C-8DBAA8A62BBC}"/>
              </a:ext>
            </a:extLst>
          </p:cNvPr>
          <p:cNvSpPr/>
          <p:nvPr/>
        </p:nvSpPr>
        <p:spPr>
          <a:xfrm>
            <a:off x="566752" y="2536348"/>
            <a:ext cx="5400000" cy="3621855"/>
          </a:xfrm>
          <a:prstGeom prst="rect">
            <a:avLst/>
          </a:prstGeom>
          <a:no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noFill/>
            </a:endParaRPr>
          </a:p>
        </p:txBody>
      </p:sp>
      <p:sp>
        <p:nvSpPr>
          <p:cNvPr id="12" name="正方形/長方形 11">
            <a:extLst>
              <a:ext uri="{FF2B5EF4-FFF2-40B4-BE49-F238E27FC236}">
                <a16:creationId xmlns:a16="http://schemas.microsoft.com/office/drawing/2014/main" id="{E51F3B88-6184-7EC4-DEFD-831FB71045A9}"/>
              </a:ext>
            </a:extLst>
          </p:cNvPr>
          <p:cNvSpPr/>
          <p:nvPr/>
        </p:nvSpPr>
        <p:spPr>
          <a:xfrm>
            <a:off x="566751" y="2142881"/>
            <a:ext cx="5400000" cy="393467"/>
          </a:xfrm>
          <a:prstGeom prst="rect">
            <a:avLst/>
          </a:prstGeom>
          <a:solidFill>
            <a:schemeClr val="tx2"/>
          </a:solid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dirty="0">
                <a:solidFill>
                  <a:schemeClr val="bg1"/>
                </a:solidFill>
              </a:rPr>
              <a:t>スタブ（</a:t>
            </a:r>
            <a:r>
              <a:rPr lang="en-US" altLang="ja-JP" dirty="0">
                <a:solidFill>
                  <a:schemeClr val="bg1"/>
                </a:solidFill>
              </a:rPr>
              <a:t>Stub</a:t>
            </a:r>
            <a:r>
              <a:rPr lang="ja-JP" altLang="en-US" dirty="0">
                <a:solidFill>
                  <a:schemeClr val="bg1"/>
                </a:solidFill>
              </a:rPr>
              <a:t>）</a:t>
            </a:r>
            <a:endParaRPr kumimoji="1" lang="ja-JP" altLang="en-US" dirty="0">
              <a:solidFill>
                <a:schemeClr val="bg1"/>
              </a:solidFill>
            </a:endParaRPr>
          </a:p>
        </p:txBody>
      </p:sp>
      <p:sp>
        <p:nvSpPr>
          <p:cNvPr id="13" name="正方形/長方形 12">
            <a:extLst>
              <a:ext uri="{FF2B5EF4-FFF2-40B4-BE49-F238E27FC236}">
                <a16:creationId xmlns:a16="http://schemas.microsoft.com/office/drawing/2014/main" id="{4C519770-70DF-5AE3-09D9-EF763543FB74}"/>
              </a:ext>
            </a:extLst>
          </p:cNvPr>
          <p:cNvSpPr/>
          <p:nvPr/>
        </p:nvSpPr>
        <p:spPr>
          <a:xfrm>
            <a:off x="6132126" y="2536348"/>
            <a:ext cx="5400000" cy="3621855"/>
          </a:xfrm>
          <a:prstGeom prst="rect">
            <a:avLst/>
          </a:prstGeom>
          <a:no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noFill/>
            </a:endParaRPr>
          </a:p>
        </p:txBody>
      </p:sp>
      <p:sp>
        <p:nvSpPr>
          <p:cNvPr id="14" name="正方形/長方形 13">
            <a:extLst>
              <a:ext uri="{FF2B5EF4-FFF2-40B4-BE49-F238E27FC236}">
                <a16:creationId xmlns:a16="http://schemas.microsoft.com/office/drawing/2014/main" id="{83FBAFE3-9BB9-49F8-FBD7-BA27A2651BF7}"/>
              </a:ext>
            </a:extLst>
          </p:cNvPr>
          <p:cNvSpPr/>
          <p:nvPr/>
        </p:nvSpPr>
        <p:spPr>
          <a:xfrm>
            <a:off x="6132125" y="2142881"/>
            <a:ext cx="5400000" cy="393467"/>
          </a:xfrm>
          <a:prstGeom prst="rect">
            <a:avLst/>
          </a:prstGeom>
          <a:solidFill>
            <a:schemeClr val="tx2"/>
          </a:solid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ドライバ（</a:t>
            </a:r>
            <a:r>
              <a:rPr kumimoji="1" lang="en-US" altLang="ja-JP" dirty="0">
                <a:solidFill>
                  <a:schemeClr val="bg1"/>
                </a:solidFill>
              </a:rPr>
              <a:t>Driver</a:t>
            </a:r>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5E14CDA-8966-3129-EE29-C58F01208E32}"/>
              </a:ext>
            </a:extLst>
          </p:cNvPr>
          <p:cNvSpPr txBox="1"/>
          <p:nvPr/>
        </p:nvSpPr>
        <p:spPr>
          <a:xfrm>
            <a:off x="718466" y="2636759"/>
            <a:ext cx="5318447" cy="393468"/>
          </a:xfrm>
          <a:prstGeom prst="rect">
            <a:avLst/>
          </a:prstGeom>
          <a:noFill/>
        </p:spPr>
        <p:txBody>
          <a:bodyPr wrap="square" lIns="0" rIns="0" rtlCol="0">
            <a:noAutofit/>
          </a:bodyPr>
          <a:lstStyle/>
          <a:p>
            <a:pPr algn="l" defTabSz="288000"/>
            <a:r>
              <a:rPr kumimoji="1" lang="ja-JP" altLang="en-US" dirty="0">
                <a:latin typeface="+mn-ea"/>
              </a:rPr>
              <a:t>テスト対象から</a:t>
            </a:r>
            <a:r>
              <a:rPr kumimoji="1" lang="ja-JP" altLang="en-US" b="1" dirty="0">
                <a:latin typeface="+mn-ea"/>
              </a:rPr>
              <a:t>呼ばれる側のオブジェクト</a:t>
            </a:r>
            <a:r>
              <a:rPr lang="ja-JP" altLang="en-US" dirty="0">
                <a:latin typeface="+mn-ea"/>
              </a:rPr>
              <a:t>の代わりに</a:t>
            </a:r>
            <a:endParaRPr lang="en-US" altLang="ja-JP" dirty="0">
              <a:latin typeface="+mn-ea"/>
            </a:endParaRPr>
          </a:p>
          <a:p>
            <a:pPr algn="l" defTabSz="288000"/>
            <a:r>
              <a:rPr lang="ja-JP" altLang="en-US" dirty="0">
                <a:latin typeface="+mn-ea"/>
              </a:rPr>
              <a:t>使用する模倣オブジェクト</a:t>
            </a:r>
            <a:endParaRPr kumimoji="1" lang="en-US" altLang="ja-JP" dirty="0">
              <a:latin typeface="+mn-ea"/>
            </a:endParaRPr>
          </a:p>
        </p:txBody>
      </p:sp>
      <p:sp>
        <p:nvSpPr>
          <p:cNvPr id="24" name="テキスト ボックス 23">
            <a:extLst>
              <a:ext uri="{FF2B5EF4-FFF2-40B4-BE49-F238E27FC236}">
                <a16:creationId xmlns:a16="http://schemas.microsoft.com/office/drawing/2014/main" id="{18F4AA57-9036-E07E-9E42-9F604F1911AE}"/>
              </a:ext>
            </a:extLst>
          </p:cNvPr>
          <p:cNvSpPr txBox="1"/>
          <p:nvPr/>
        </p:nvSpPr>
        <p:spPr>
          <a:xfrm>
            <a:off x="6234762" y="2638110"/>
            <a:ext cx="5260555" cy="393468"/>
          </a:xfrm>
          <a:prstGeom prst="rect">
            <a:avLst/>
          </a:prstGeom>
          <a:noFill/>
        </p:spPr>
        <p:txBody>
          <a:bodyPr wrap="square" lIns="0" rIns="0" rtlCol="0">
            <a:noAutofit/>
          </a:bodyPr>
          <a:lstStyle/>
          <a:p>
            <a:pPr algn="l" defTabSz="288000"/>
            <a:r>
              <a:rPr kumimoji="1" lang="ja-JP" altLang="en-US" dirty="0">
                <a:latin typeface="+mn-ea"/>
              </a:rPr>
              <a:t>テスト対象を</a:t>
            </a:r>
            <a:r>
              <a:rPr kumimoji="1" lang="ja-JP" altLang="en-US" b="1" dirty="0">
                <a:latin typeface="+mn-ea"/>
              </a:rPr>
              <a:t>呼ぶ側のオブジェクト</a:t>
            </a:r>
            <a:r>
              <a:rPr kumimoji="1" lang="ja-JP" altLang="en-US" dirty="0">
                <a:latin typeface="+mn-ea"/>
              </a:rPr>
              <a:t>の代わりに使用する</a:t>
            </a:r>
            <a:endParaRPr kumimoji="1" lang="en-US" altLang="ja-JP" dirty="0">
              <a:latin typeface="+mn-ea"/>
            </a:endParaRPr>
          </a:p>
          <a:p>
            <a:pPr algn="l" defTabSz="288000"/>
            <a:r>
              <a:rPr kumimoji="1" lang="ja-JP" altLang="en-US" dirty="0">
                <a:latin typeface="+mn-ea"/>
              </a:rPr>
              <a:t>模倣オブジェクト</a:t>
            </a:r>
            <a:endParaRPr kumimoji="1" lang="en-US" altLang="ja-JP" dirty="0">
              <a:latin typeface="+mn-ea"/>
            </a:endParaRPr>
          </a:p>
        </p:txBody>
      </p:sp>
      <p:sp>
        <p:nvSpPr>
          <p:cNvPr id="27" name="四角形: 角を丸くする 26">
            <a:extLst>
              <a:ext uri="{FF2B5EF4-FFF2-40B4-BE49-F238E27FC236}">
                <a16:creationId xmlns:a16="http://schemas.microsoft.com/office/drawing/2014/main" id="{FCBD0547-2FD8-8CC0-E28F-DA21959AC332}"/>
              </a:ext>
            </a:extLst>
          </p:cNvPr>
          <p:cNvSpPr/>
          <p:nvPr/>
        </p:nvSpPr>
        <p:spPr>
          <a:xfrm>
            <a:off x="1115159" y="3671237"/>
            <a:ext cx="1260000" cy="690466"/>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クラス</a:t>
            </a:r>
            <a:r>
              <a:rPr kumimoji="1" lang="en-US" altLang="ja-JP" sz="1400" dirty="0">
                <a:solidFill>
                  <a:schemeClr val="tx1"/>
                </a:solidFill>
              </a:rPr>
              <a:t>A</a:t>
            </a:r>
          </a:p>
        </p:txBody>
      </p:sp>
      <p:sp>
        <p:nvSpPr>
          <p:cNvPr id="30" name="正方形/長方形 29">
            <a:extLst>
              <a:ext uri="{FF2B5EF4-FFF2-40B4-BE49-F238E27FC236}">
                <a16:creationId xmlns:a16="http://schemas.microsoft.com/office/drawing/2014/main" id="{97CC4D63-1982-052A-B007-73CD1DFDD231}"/>
              </a:ext>
            </a:extLst>
          </p:cNvPr>
          <p:cNvSpPr/>
          <p:nvPr/>
        </p:nvSpPr>
        <p:spPr>
          <a:xfrm rot="21261040">
            <a:off x="793440" y="3532156"/>
            <a:ext cx="1047119" cy="269736"/>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b="1" dirty="0">
                <a:solidFill>
                  <a:schemeClr val="tx1"/>
                </a:solidFill>
              </a:rPr>
              <a:t>テスト対象</a:t>
            </a:r>
          </a:p>
        </p:txBody>
      </p:sp>
      <p:sp>
        <p:nvSpPr>
          <p:cNvPr id="32" name="四角形: 角を丸くする 31">
            <a:extLst>
              <a:ext uri="{FF2B5EF4-FFF2-40B4-BE49-F238E27FC236}">
                <a16:creationId xmlns:a16="http://schemas.microsoft.com/office/drawing/2014/main" id="{7441F5E8-6BFE-C3BF-45D8-5A162B8D428B}"/>
              </a:ext>
            </a:extLst>
          </p:cNvPr>
          <p:cNvSpPr/>
          <p:nvPr/>
        </p:nvSpPr>
        <p:spPr>
          <a:xfrm>
            <a:off x="4033854" y="3668538"/>
            <a:ext cx="1260000" cy="690466"/>
          </a:xfrm>
          <a:prstGeom prst="roundRect">
            <a:avLst/>
          </a:prstGeom>
          <a:noFill/>
          <a:ln w="19050">
            <a:solidFill>
              <a:schemeClr val="bg1">
                <a:lumMod val="75000"/>
              </a:schemeClr>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lumMod val="65000"/>
                  </a:schemeClr>
                </a:solidFill>
              </a:rPr>
              <a:t>クラス</a:t>
            </a:r>
            <a:r>
              <a:rPr kumimoji="1" lang="en-US" altLang="ja-JP" sz="1400" dirty="0">
                <a:solidFill>
                  <a:schemeClr val="bg1">
                    <a:lumMod val="65000"/>
                  </a:schemeClr>
                </a:solidFill>
              </a:rPr>
              <a:t>B</a:t>
            </a:r>
          </a:p>
        </p:txBody>
      </p:sp>
      <p:sp>
        <p:nvSpPr>
          <p:cNvPr id="33" name="四角形: 角を丸くする 32">
            <a:extLst>
              <a:ext uri="{FF2B5EF4-FFF2-40B4-BE49-F238E27FC236}">
                <a16:creationId xmlns:a16="http://schemas.microsoft.com/office/drawing/2014/main" id="{B2B8EA75-5F02-AB3D-AEA6-720E6A1003C9}"/>
              </a:ext>
            </a:extLst>
          </p:cNvPr>
          <p:cNvSpPr/>
          <p:nvPr/>
        </p:nvSpPr>
        <p:spPr>
          <a:xfrm>
            <a:off x="4033854" y="4617478"/>
            <a:ext cx="1260000" cy="690466"/>
          </a:xfrm>
          <a:prstGeom prst="roundRect">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スタブ</a:t>
            </a:r>
            <a:endParaRPr kumimoji="1" lang="en-US" altLang="ja-JP" sz="1400" dirty="0">
              <a:solidFill>
                <a:schemeClr val="tx1"/>
              </a:solidFill>
            </a:endParaRPr>
          </a:p>
          <a:p>
            <a:pPr algn="ctr"/>
            <a:r>
              <a:rPr kumimoji="1" lang="ja-JP" altLang="en-US" sz="1400" dirty="0">
                <a:solidFill>
                  <a:schemeClr val="tx1"/>
                </a:solidFill>
              </a:rPr>
              <a:t>（</a:t>
            </a:r>
            <a:r>
              <a:rPr lang="ja-JP" altLang="en-US" sz="1400" dirty="0">
                <a:solidFill>
                  <a:schemeClr val="tx1"/>
                </a:solidFill>
              </a:rPr>
              <a:t>クラス</a:t>
            </a:r>
            <a:r>
              <a:rPr kumimoji="1" lang="en-US" altLang="ja-JP" sz="1400" dirty="0">
                <a:solidFill>
                  <a:schemeClr val="tx1"/>
                </a:solidFill>
              </a:rPr>
              <a:t>B</a:t>
            </a:r>
            <a:r>
              <a:rPr kumimoji="1" lang="ja-JP" altLang="en-US" sz="1400" dirty="0">
                <a:solidFill>
                  <a:schemeClr val="tx1"/>
                </a:solidFill>
              </a:rPr>
              <a:t>）</a:t>
            </a:r>
            <a:endParaRPr kumimoji="1" lang="en-US" altLang="ja-JP" sz="1400" dirty="0">
              <a:solidFill>
                <a:schemeClr val="tx1"/>
              </a:solidFill>
            </a:endParaRPr>
          </a:p>
        </p:txBody>
      </p:sp>
      <p:sp>
        <p:nvSpPr>
          <p:cNvPr id="47" name="四角形: 角を丸くする 46">
            <a:extLst>
              <a:ext uri="{FF2B5EF4-FFF2-40B4-BE49-F238E27FC236}">
                <a16:creationId xmlns:a16="http://schemas.microsoft.com/office/drawing/2014/main" id="{2E420CCE-6413-4038-83A9-1291E17CC6D9}"/>
              </a:ext>
            </a:extLst>
          </p:cNvPr>
          <p:cNvSpPr/>
          <p:nvPr/>
        </p:nvSpPr>
        <p:spPr>
          <a:xfrm>
            <a:off x="6840186" y="3667380"/>
            <a:ext cx="1260000" cy="690466"/>
          </a:xfrm>
          <a:prstGeom prst="roundRect">
            <a:avLst/>
          </a:prstGeom>
          <a:noFill/>
          <a:ln w="19050">
            <a:solidFill>
              <a:schemeClr val="bg1">
                <a:lumMod val="75000"/>
              </a:schemeClr>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lumMod val="65000"/>
                  </a:schemeClr>
                </a:solidFill>
              </a:rPr>
              <a:t>クラス</a:t>
            </a:r>
            <a:r>
              <a:rPr kumimoji="1" lang="en-US" altLang="ja-JP" sz="1400" dirty="0">
                <a:solidFill>
                  <a:schemeClr val="bg1">
                    <a:lumMod val="65000"/>
                  </a:schemeClr>
                </a:solidFill>
              </a:rPr>
              <a:t>A</a:t>
            </a:r>
          </a:p>
        </p:txBody>
      </p:sp>
      <p:sp>
        <p:nvSpPr>
          <p:cNvPr id="48" name="四角形: 角を丸くする 47">
            <a:extLst>
              <a:ext uri="{FF2B5EF4-FFF2-40B4-BE49-F238E27FC236}">
                <a16:creationId xmlns:a16="http://schemas.microsoft.com/office/drawing/2014/main" id="{C0A0CDD6-8C6B-B275-B53F-0D7FB8AEF432}"/>
              </a:ext>
            </a:extLst>
          </p:cNvPr>
          <p:cNvSpPr/>
          <p:nvPr/>
        </p:nvSpPr>
        <p:spPr>
          <a:xfrm>
            <a:off x="6840186" y="4617478"/>
            <a:ext cx="1260000" cy="690466"/>
          </a:xfrm>
          <a:prstGeom prst="roundRect">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ドライバ</a:t>
            </a:r>
            <a:endParaRPr kumimoji="1" lang="en-US" altLang="ja-JP" sz="1400" dirty="0">
              <a:solidFill>
                <a:schemeClr val="tx1"/>
              </a:solidFill>
            </a:endParaRPr>
          </a:p>
          <a:p>
            <a:pPr algn="ctr"/>
            <a:r>
              <a:rPr kumimoji="1" lang="ja-JP" altLang="en-US" sz="1400" dirty="0">
                <a:solidFill>
                  <a:schemeClr val="tx1"/>
                </a:solidFill>
              </a:rPr>
              <a:t>（</a:t>
            </a:r>
            <a:r>
              <a:rPr lang="ja-JP" altLang="en-US" sz="1400" dirty="0">
                <a:solidFill>
                  <a:schemeClr val="tx1"/>
                </a:solidFill>
              </a:rPr>
              <a:t>クラス</a:t>
            </a:r>
            <a:r>
              <a:rPr kumimoji="1" lang="en-US" altLang="ja-JP" sz="1400" dirty="0">
                <a:solidFill>
                  <a:schemeClr val="tx1"/>
                </a:solidFill>
              </a:rPr>
              <a:t>A</a:t>
            </a:r>
            <a:r>
              <a:rPr kumimoji="1" lang="ja-JP" altLang="en-US" sz="1400" dirty="0">
                <a:solidFill>
                  <a:schemeClr val="tx1"/>
                </a:solidFill>
              </a:rPr>
              <a:t>）</a:t>
            </a:r>
            <a:endParaRPr kumimoji="1" lang="en-US" altLang="ja-JP" sz="1400" dirty="0">
              <a:solidFill>
                <a:schemeClr val="tx1"/>
              </a:solidFill>
            </a:endParaRPr>
          </a:p>
        </p:txBody>
      </p:sp>
      <p:sp>
        <p:nvSpPr>
          <p:cNvPr id="50" name="四角形: 角を丸くする 49">
            <a:extLst>
              <a:ext uri="{FF2B5EF4-FFF2-40B4-BE49-F238E27FC236}">
                <a16:creationId xmlns:a16="http://schemas.microsoft.com/office/drawing/2014/main" id="{A1B6DBF6-B329-BEFC-6F5D-28CBBF6F70EC}"/>
              </a:ext>
            </a:extLst>
          </p:cNvPr>
          <p:cNvSpPr/>
          <p:nvPr/>
        </p:nvSpPr>
        <p:spPr>
          <a:xfrm>
            <a:off x="9768942" y="3671237"/>
            <a:ext cx="1260000" cy="690466"/>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クラス</a:t>
            </a:r>
            <a:r>
              <a:rPr kumimoji="1" lang="en-US" altLang="ja-JP" sz="1400" dirty="0">
                <a:solidFill>
                  <a:schemeClr val="tx1"/>
                </a:solidFill>
              </a:rPr>
              <a:t>B</a:t>
            </a:r>
          </a:p>
        </p:txBody>
      </p:sp>
      <p:sp>
        <p:nvSpPr>
          <p:cNvPr id="51" name="正方形/長方形 50">
            <a:extLst>
              <a:ext uri="{FF2B5EF4-FFF2-40B4-BE49-F238E27FC236}">
                <a16:creationId xmlns:a16="http://schemas.microsoft.com/office/drawing/2014/main" id="{834CCF97-8E05-BF5D-3154-0175C219ADDB}"/>
              </a:ext>
            </a:extLst>
          </p:cNvPr>
          <p:cNvSpPr/>
          <p:nvPr/>
        </p:nvSpPr>
        <p:spPr>
          <a:xfrm rot="21261040">
            <a:off x="9413318" y="3530930"/>
            <a:ext cx="1047119" cy="269736"/>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b="1" dirty="0">
                <a:solidFill>
                  <a:schemeClr val="tx1"/>
                </a:solidFill>
              </a:rPr>
              <a:t>テスト対象</a:t>
            </a:r>
          </a:p>
        </p:txBody>
      </p:sp>
      <p:sp>
        <p:nvSpPr>
          <p:cNvPr id="9" name="テキスト ボックス 8">
            <a:extLst>
              <a:ext uri="{FF2B5EF4-FFF2-40B4-BE49-F238E27FC236}">
                <a16:creationId xmlns:a16="http://schemas.microsoft.com/office/drawing/2014/main" id="{E5CCADC3-6923-99DA-E0DB-F2DF6BD40FD4}"/>
              </a:ext>
            </a:extLst>
          </p:cNvPr>
          <p:cNvSpPr txBox="1"/>
          <p:nvPr/>
        </p:nvSpPr>
        <p:spPr>
          <a:xfrm>
            <a:off x="2266740" y="4674942"/>
            <a:ext cx="1178076" cy="304151"/>
          </a:xfrm>
          <a:prstGeom prst="rect">
            <a:avLst/>
          </a:prstGeom>
          <a:noFill/>
        </p:spPr>
        <p:txBody>
          <a:bodyPr wrap="square" lIns="0" rIns="0" rtlCol="0">
            <a:noAutofit/>
          </a:bodyPr>
          <a:lstStyle/>
          <a:p>
            <a:pPr algn="l" defTabSz="288000"/>
            <a:r>
              <a:rPr kumimoji="1" lang="ja-JP" altLang="en-US" sz="1200" dirty="0">
                <a:latin typeface="+mn-ea"/>
              </a:rPr>
              <a:t>代替オブジェクトの</a:t>
            </a:r>
            <a:endParaRPr kumimoji="1" lang="en-US" altLang="ja-JP" sz="1200" dirty="0">
              <a:latin typeface="+mn-ea"/>
            </a:endParaRPr>
          </a:p>
          <a:p>
            <a:pPr algn="l" defTabSz="288000"/>
            <a:r>
              <a:rPr kumimoji="1" lang="ja-JP" altLang="en-US" sz="1200" dirty="0">
                <a:latin typeface="+mn-ea"/>
              </a:rPr>
              <a:t>呼出し</a:t>
            </a:r>
          </a:p>
        </p:txBody>
      </p:sp>
      <p:cxnSp>
        <p:nvCxnSpPr>
          <p:cNvPr id="34" name="直線矢印コネクタ 33">
            <a:extLst>
              <a:ext uri="{FF2B5EF4-FFF2-40B4-BE49-F238E27FC236}">
                <a16:creationId xmlns:a16="http://schemas.microsoft.com/office/drawing/2014/main" id="{93AAEA0D-C777-777C-BCCD-F3F8EB7F16C7}"/>
              </a:ext>
            </a:extLst>
          </p:cNvPr>
          <p:cNvCxnSpPr>
            <a:stCxn id="27" idx="3"/>
            <a:endCxn id="32" idx="1"/>
          </p:cNvCxnSpPr>
          <p:nvPr/>
        </p:nvCxnSpPr>
        <p:spPr>
          <a:xfrm flipV="1">
            <a:off x="2375159" y="4013771"/>
            <a:ext cx="1658695" cy="2699"/>
          </a:xfrm>
          <a:prstGeom prst="straightConnector1">
            <a:avLst/>
          </a:prstGeom>
          <a:ln w="28575">
            <a:solidFill>
              <a:schemeClr val="bg1">
                <a:lumMod val="75000"/>
              </a:schemeClr>
            </a:solidFill>
            <a:prstDash val="sysDash"/>
            <a:tailEnd type="triangle"/>
          </a:ln>
          <a:effectLst/>
        </p:spPr>
        <p:style>
          <a:lnRef idx="2">
            <a:schemeClr val="accent1"/>
          </a:lnRef>
          <a:fillRef idx="0">
            <a:schemeClr val="accent1"/>
          </a:fillRef>
          <a:effectRef idx="1">
            <a:schemeClr val="accent1"/>
          </a:effectRef>
          <a:fontRef idx="minor">
            <a:schemeClr val="tx1"/>
          </a:fontRef>
        </p:style>
      </p:cxnSp>
      <p:sp>
        <p:nvSpPr>
          <p:cNvPr id="26" name="矢印: 右 25">
            <a:extLst>
              <a:ext uri="{FF2B5EF4-FFF2-40B4-BE49-F238E27FC236}">
                <a16:creationId xmlns:a16="http://schemas.microsoft.com/office/drawing/2014/main" id="{52633B5D-8506-61BF-2B76-8B10DB7DF3BF}"/>
              </a:ext>
            </a:extLst>
          </p:cNvPr>
          <p:cNvSpPr/>
          <p:nvPr/>
        </p:nvSpPr>
        <p:spPr>
          <a:xfrm rot="1584372">
            <a:off x="2326176" y="4482637"/>
            <a:ext cx="1797106" cy="201329"/>
          </a:xfrm>
          <a:prstGeom prst="rightArrow">
            <a:avLst>
              <a:gd name="adj1" fmla="val 50000"/>
              <a:gd name="adj2" fmla="val 101515"/>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5" name="テキスト ボックス 34">
            <a:extLst>
              <a:ext uri="{FF2B5EF4-FFF2-40B4-BE49-F238E27FC236}">
                <a16:creationId xmlns:a16="http://schemas.microsoft.com/office/drawing/2014/main" id="{9893717B-9CA2-C861-875B-0F6D9C82C428}"/>
              </a:ext>
            </a:extLst>
          </p:cNvPr>
          <p:cNvSpPr txBox="1"/>
          <p:nvPr/>
        </p:nvSpPr>
        <p:spPr>
          <a:xfrm>
            <a:off x="2707612" y="3763607"/>
            <a:ext cx="1068587" cy="333828"/>
          </a:xfrm>
          <a:prstGeom prst="rect">
            <a:avLst/>
          </a:prstGeom>
          <a:noFill/>
        </p:spPr>
        <p:txBody>
          <a:bodyPr wrap="square" lIns="0" rIns="0" rtlCol="0">
            <a:noAutofit/>
          </a:bodyPr>
          <a:lstStyle/>
          <a:p>
            <a:pPr algn="l" defTabSz="288000"/>
            <a:r>
              <a:rPr kumimoji="1" lang="ja-JP" altLang="en-US" sz="1200" dirty="0">
                <a:solidFill>
                  <a:schemeClr val="bg1">
                    <a:lumMod val="75000"/>
                  </a:schemeClr>
                </a:solidFill>
                <a:latin typeface="+mn-ea"/>
              </a:rPr>
              <a:t>実際の呼出し</a:t>
            </a:r>
          </a:p>
        </p:txBody>
      </p:sp>
      <p:sp>
        <p:nvSpPr>
          <p:cNvPr id="39" name="テキスト ボックス 38">
            <a:extLst>
              <a:ext uri="{FF2B5EF4-FFF2-40B4-BE49-F238E27FC236}">
                <a16:creationId xmlns:a16="http://schemas.microsoft.com/office/drawing/2014/main" id="{988AF4D2-8963-608C-28CE-3482BE6BD2E7}"/>
              </a:ext>
            </a:extLst>
          </p:cNvPr>
          <p:cNvSpPr txBox="1"/>
          <p:nvPr/>
        </p:nvSpPr>
        <p:spPr>
          <a:xfrm>
            <a:off x="8808246" y="4768928"/>
            <a:ext cx="1391682" cy="304151"/>
          </a:xfrm>
          <a:prstGeom prst="rect">
            <a:avLst/>
          </a:prstGeom>
          <a:noFill/>
        </p:spPr>
        <p:txBody>
          <a:bodyPr wrap="square" lIns="0" rIns="0" rtlCol="0">
            <a:noAutofit/>
          </a:bodyPr>
          <a:lstStyle/>
          <a:p>
            <a:pPr algn="l" defTabSz="288000"/>
            <a:r>
              <a:rPr kumimoji="1" lang="ja-JP" altLang="en-US" sz="1200" dirty="0">
                <a:latin typeface="+mn-ea"/>
              </a:rPr>
              <a:t>代替オブジェクトからの</a:t>
            </a:r>
            <a:endParaRPr kumimoji="1" lang="en-US" altLang="ja-JP" sz="1200" dirty="0">
              <a:latin typeface="+mn-ea"/>
            </a:endParaRPr>
          </a:p>
          <a:p>
            <a:pPr algn="l" defTabSz="288000"/>
            <a:r>
              <a:rPr kumimoji="1" lang="ja-JP" altLang="en-US" sz="1200" dirty="0">
                <a:latin typeface="+mn-ea"/>
              </a:rPr>
              <a:t>呼出し</a:t>
            </a:r>
          </a:p>
        </p:txBody>
      </p:sp>
      <p:sp>
        <p:nvSpPr>
          <p:cNvPr id="40" name="矢印: 右 39">
            <a:extLst>
              <a:ext uri="{FF2B5EF4-FFF2-40B4-BE49-F238E27FC236}">
                <a16:creationId xmlns:a16="http://schemas.microsoft.com/office/drawing/2014/main" id="{A610A11D-7114-AE87-12EE-6DD2F2FB2466}"/>
              </a:ext>
            </a:extLst>
          </p:cNvPr>
          <p:cNvSpPr/>
          <p:nvPr/>
        </p:nvSpPr>
        <p:spPr>
          <a:xfrm rot="20087300">
            <a:off x="8036011" y="4516814"/>
            <a:ext cx="1797106" cy="201329"/>
          </a:xfrm>
          <a:prstGeom prst="rightArrow">
            <a:avLst>
              <a:gd name="adj1" fmla="val 50000"/>
              <a:gd name="adj2" fmla="val 101515"/>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41" name="直線矢印コネクタ 40">
            <a:extLst>
              <a:ext uri="{FF2B5EF4-FFF2-40B4-BE49-F238E27FC236}">
                <a16:creationId xmlns:a16="http://schemas.microsoft.com/office/drawing/2014/main" id="{B5B39FFE-2545-E5DA-2F89-E1AD6FE5C548}"/>
              </a:ext>
            </a:extLst>
          </p:cNvPr>
          <p:cNvCxnSpPr>
            <a:cxnSpLocks/>
            <a:stCxn id="47" idx="3"/>
          </p:cNvCxnSpPr>
          <p:nvPr/>
        </p:nvCxnSpPr>
        <p:spPr>
          <a:xfrm>
            <a:off x="8100186" y="4012613"/>
            <a:ext cx="1662521" cy="1158"/>
          </a:xfrm>
          <a:prstGeom prst="straightConnector1">
            <a:avLst/>
          </a:prstGeom>
          <a:ln w="28575">
            <a:solidFill>
              <a:schemeClr val="bg1">
                <a:lumMod val="75000"/>
              </a:schemeClr>
            </a:solidFill>
            <a:prstDash val="sysDash"/>
            <a:tailEnd type="triangle"/>
          </a:ln>
          <a:effectLst/>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D20CD8BC-13E2-B1CF-3B77-25365AC21145}"/>
              </a:ext>
            </a:extLst>
          </p:cNvPr>
          <p:cNvSpPr txBox="1"/>
          <p:nvPr/>
        </p:nvSpPr>
        <p:spPr>
          <a:xfrm>
            <a:off x="8436465" y="3763607"/>
            <a:ext cx="1068587" cy="333828"/>
          </a:xfrm>
          <a:prstGeom prst="rect">
            <a:avLst/>
          </a:prstGeom>
          <a:noFill/>
        </p:spPr>
        <p:txBody>
          <a:bodyPr wrap="square" lIns="0" rIns="0" rtlCol="0">
            <a:noAutofit/>
          </a:bodyPr>
          <a:lstStyle/>
          <a:p>
            <a:pPr algn="l" defTabSz="288000"/>
            <a:r>
              <a:rPr kumimoji="1" lang="ja-JP" altLang="en-US" sz="1200" dirty="0">
                <a:solidFill>
                  <a:schemeClr val="bg1">
                    <a:lumMod val="75000"/>
                  </a:schemeClr>
                </a:solidFill>
                <a:latin typeface="+mn-ea"/>
              </a:rPr>
              <a:t>実際の呼出し</a:t>
            </a:r>
          </a:p>
        </p:txBody>
      </p:sp>
      <p:sp>
        <p:nvSpPr>
          <p:cNvPr id="44" name="テキスト ボックス 43">
            <a:extLst>
              <a:ext uri="{FF2B5EF4-FFF2-40B4-BE49-F238E27FC236}">
                <a16:creationId xmlns:a16="http://schemas.microsoft.com/office/drawing/2014/main" id="{AF71B4F8-0249-85B7-0F0C-A99046F0E868}"/>
              </a:ext>
            </a:extLst>
          </p:cNvPr>
          <p:cNvSpPr txBox="1"/>
          <p:nvPr/>
        </p:nvSpPr>
        <p:spPr>
          <a:xfrm>
            <a:off x="718466" y="5583175"/>
            <a:ext cx="5318447" cy="393468"/>
          </a:xfrm>
          <a:prstGeom prst="rect">
            <a:avLst/>
          </a:prstGeom>
          <a:noFill/>
        </p:spPr>
        <p:txBody>
          <a:bodyPr wrap="square" lIns="0" rIns="0" rtlCol="0">
            <a:noAutofit/>
          </a:bodyPr>
          <a:lstStyle/>
          <a:p>
            <a:pPr algn="l" defTabSz="288000"/>
            <a:r>
              <a:rPr kumimoji="1" lang="ja-JP" altLang="en-US" sz="1600" dirty="0">
                <a:latin typeface="+mn-ea"/>
              </a:rPr>
              <a:t>使用例：データベースへのデータ取得処理</a:t>
            </a:r>
          </a:p>
        </p:txBody>
      </p:sp>
      <p:sp>
        <p:nvSpPr>
          <p:cNvPr id="45" name="テキスト ボックス 44">
            <a:extLst>
              <a:ext uri="{FF2B5EF4-FFF2-40B4-BE49-F238E27FC236}">
                <a16:creationId xmlns:a16="http://schemas.microsoft.com/office/drawing/2014/main" id="{28688714-1CA7-C450-F718-C479F4A75434}"/>
              </a:ext>
            </a:extLst>
          </p:cNvPr>
          <p:cNvSpPr txBox="1"/>
          <p:nvPr/>
        </p:nvSpPr>
        <p:spPr>
          <a:xfrm>
            <a:off x="6283842" y="5583175"/>
            <a:ext cx="5318447" cy="393468"/>
          </a:xfrm>
          <a:prstGeom prst="rect">
            <a:avLst/>
          </a:prstGeom>
          <a:noFill/>
        </p:spPr>
        <p:txBody>
          <a:bodyPr wrap="square" lIns="0" rIns="0" rtlCol="0">
            <a:noAutofit/>
          </a:bodyPr>
          <a:lstStyle/>
          <a:p>
            <a:pPr algn="l" defTabSz="288000"/>
            <a:r>
              <a:rPr kumimoji="1" lang="ja-JP" altLang="en-US" sz="1600" dirty="0">
                <a:latin typeface="+mn-ea"/>
              </a:rPr>
              <a:t>使用例：テストケースを実行するメイン関数</a:t>
            </a:r>
          </a:p>
        </p:txBody>
      </p:sp>
    </p:spTree>
    <p:extLst>
      <p:ext uri="{BB962C8B-B14F-4D97-AF65-F5344CB8AC3E}">
        <p14:creationId xmlns:p14="http://schemas.microsoft.com/office/powerpoint/2010/main" val="37612044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D8B6A-D67C-1CA6-4BF3-8F0734EC170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798CA5F-0335-5ED3-E283-DE32B05C535E}"/>
              </a:ext>
            </a:extLst>
          </p:cNvPr>
          <p:cNvSpPr>
            <a:spLocks noGrp="1"/>
          </p:cNvSpPr>
          <p:nvPr>
            <p:ph type="title"/>
          </p:nvPr>
        </p:nvSpPr>
        <p:spPr/>
        <p:txBody>
          <a:bodyPr anchor="ctr"/>
          <a:lstStyle/>
          <a:p>
            <a:r>
              <a:rPr kumimoji="1" lang="ja-JP" altLang="en-US" dirty="0"/>
              <a:t>スタブとモック</a:t>
            </a:r>
          </a:p>
        </p:txBody>
      </p:sp>
      <p:sp>
        <p:nvSpPr>
          <p:cNvPr id="3" name="コンテンツ プレースホルダー 2">
            <a:extLst>
              <a:ext uri="{FF2B5EF4-FFF2-40B4-BE49-F238E27FC236}">
                <a16:creationId xmlns:a16="http://schemas.microsoft.com/office/drawing/2014/main" id="{F6EC5385-8218-B64C-29F5-AD73EE11185C}"/>
              </a:ext>
            </a:extLst>
          </p:cNvPr>
          <p:cNvSpPr>
            <a:spLocks noGrp="1"/>
          </p:cNvSpPr>
          <p:nvPr>
            <p:ph sz="quarter" idx="4294967295"/>
          </p:nvPr>
        </p:nvSpPr>
        <p:spPr>
          <a:xfrm>
            <a:off x="372000" y="1038386"/>
            <a:ext cx="11448000" cy="1176044"/>
          </a:xfrm>
        </p:spPr>
        <p:txBody>
          <a:bodyPr/>
          <a:lstStyle/>
          <a:p>
            <a:r>
              <a:rPr kumimoji="1" lang="ja-JP" altLang="en-US" dirty="0">
                <a:latin typeface="+mn-ea"/>
              </a:rPr>
              <a:t>呼ばれる側を</a:t>
            </a:r>
            <a:r>
              <a:rPr lang="ja-JP" altLang="en-US" dirty="0">
                <a:latin typeface="+mn-ea"/>
              </a:rPr>
              <a:t>模倣するオブジェクト（スタブ</a:t>
            </a:r>
            <a:r>
              <a:rPr lang="en-US" altLang="ja-JP" baseline="30000" dirty="0">
                <a:latin typeface="+mn-ea"/>
              </a:rPr>
              <a:t>※</a:t>
            </a:r>
            <a:r>
              <a:rPr lang="ja-JP" altLang="en-US" baseline="30000" dirty="0">
                <a:latin typeface="+mn-ea"/>
              </a:rPr>
              <a:t>１</a:t>
            </a:r>
            <a:r>
              <a:rPr lang="ja-JP" altLang="en-US" dirty="0">
                <a:latin typeface="+mn-ea"/>
              </a:rPr>
              <a:t>）</a:t>
            </a:r>
            <a:r>
              <a:rPr lang="ja-JP" altLang="en-US" dirty="0"/>
              <a:t>は、実際には</a:t>
            </a:r>
            <a:r>
              <a:rPr lang="ja-JP" altLang="en-US" sz="2000" b="1" dirty="0"/>
              <a:t>スタブ</a:t>
            </a:r>
            <a:r>
              <a:rPr lang="en-US" altLang="ja-JP" sz="2000" baseline="30000" dirty="0"/>
              <a:t>※</a:t>
            </a:r>
            <a:r>
              <a:rPr lang="ja-JP" altLang="en-US" sz="2000" baseline="30000" dirty="0"/>
              <a:t>２</a:t>
            </a:r>
            <a:r>
              <a:rPr lang="ja-JP" altLang="en-US" dirty="0"/>
              <a:t>と</a:t>
            </a:r>
            <a:r>
              <a:rPr lang="ja-JP" altLang="en-US" sz="2000" b="1" dirty="0"/>
              <a:t>モック</a:t>
            </a:r>
            <a:r>
              <a:rPr lang="ja-JP" altLang="en-US" dirty="0"/>
              <a:t>に分けられる。</a:t>
            </a:r>
            <a:endParaRPr lang="en-US" altLang="ja-JP" dirty="0"/>
          </a:p>
          <a:p>
            <a:r>
              <a:rPr lang="ja-JP" altLang="en-US" dirty="0"/>
              <a:t>スタブとモックは利用される目的が異なり、</a:t>
            </a:r>
            <a:endParaRPr lang="en-US" altLang="ja-JP" dirty="0"/>
          </a:p>
          <a:p>
            <a:r>
              <a:rPr lang="ja-JP" altLang="en-US" dirty="0"/>
              <a:t>スタブは</a:t>
            </a:r>
            <a:r>
              <a:rPr lang="ja-JP" altLang="en-US" sz="2000" b="1" dirty="0"/>
              <a:t>戻り値の模倣</a:t>
            </a:r>
            <a:r>
              <a:rPr lang="ja-JP" altLang="en-US" dirty="0"/>
              <a:t>、モックは</a:t>
            </a:r>
            <a:r>
              <a:rPr lang="ja-JP" altLang="en-US" sz="2000" b="1" dirty="0"/>
              <a:t>呼出し方の検証</a:t>
            </a:r>
            <a:r>
              <a:rPr lang="ja-JP" altLang="en-US" dirty="0"/>
              <a:t>のために使用される。</a:t>
            </a:r>
            <a:endParaRPr lang="en-US" altLang="ja-JP" dirty="0"/>
          </a:p>
        </p:txBody>
      </p:sp>
      <p:sp>
        <p:nvSpPr>
          <p:cNvPr id="6" name="正方形/長方形 5">
            <a:extLst>
              <a:ext uri="{FF2B5EF4-FFF2-40B4-BE49-F238E27FC236}">
                <a16:creationId xmlns:a16="http://schemas.microsoft.com/office/drawing/2014/main" id="{1293ECAA-3323-C76B-547D-B01E89655CFC}"/>
              </a:ext>
            </a:extLst>
          </p:cNvPr>
          <p:cNvSpPr/>
          <p:nvPr/>
        </p:nvSpPr>
        <p:spPr>
          <a:xfrm>
            <a:off x="566752" y="2533232"/>
            <a:ext cx="5400000" cy="3804000"/>
          </a:xfrm>
          <a:prstGeom prst="rect">
            <a:avLst/>
          </a:prstGeom>
          <a:no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noFill/>
            </a:endParaRPr>
          </a:p>
        </p:txBody>
      </p:sp>
      <p:sp>
        <p:nvSpPr>
          <p:cNvPr id="12" name="正方形/長方形 11">
            <a:extLst>
              <a:ext uri="{FF2B5EF4-FFF2-40B4-BE49-F238E27FC236}">
                <a16:creationId xmlns:a16="http://schemas.microsoft.com/office/drawing/2014/main" id="{352CB075-E49A-8D62-7E96-EB743E1D7B31}"/>
              </a:ext>
            </a:extLst>
          </p:cNvPr>
          <p:cNvSpPr/>
          <p:nvPr/>
        </p:nvSpPr>
        <p:spPr>
          <a:xfrm>
            <a:off x="566751" y="2139766"/>
            <a:ext cx="5400000" cy="393467"/>
          </a:xfrm>
          <a:prstGeom prst="rect">
            <a:avLst/>
          </a:prstGeom>
          <a:solidFill>
            <a:schemeClr val="tx2"/>
          </a:solid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dirty="0">
                <a:solidFill>
                  <a:schemeClr val="bg1"/>
                </a:solidFill>
              </a:rPr>
              <a:t>スタブ（</a:t>
            </a:r>
            <a:r>
              <a:rPr lang="en-US" altLang="ja-JP" dirty="0">
                <a:solidFill>
                  <a:schemeClr val="bg1"/>
                </a:solidFill>
              </a:rPr>
              <a:t>Stub</a:t>
            </a:r>
            <a:r>
              <a:rPr lang="ja-JP" altLang="en-US" dirty="0">
                <a:solidFill>
                  <a:schemeClr val="bg1"/>
                </a:solidFill>
              </a:rPr>
              <a:t>）</a:t>
            </a:r>
            <a:endParaRPr kumimoji="1" lang="ja-JP" altLang="en-US" dirty="0">
              <a:solidFill>
                <a:schemeClr val="bg1"/>
              </a:solidFill>
            </a:endParaRPr>
          </a:p>
        </p:txBody>
      </p:sp>
      <p:sp>
        <p:nvSpPr>
          <p:cNvPr id="13" name="正方形/長方形 12">
            <a:extLst>
              <a:ext uri="{FF2B5EF4-FFF2-40B4-BE49-F238E27FC236}">
                <a16:creationId xmlns:a16="http://schemas.microsoft.com/office/drawing/2014/main" id="{72DAF15A-0DD5-F506-47B2-035F6D20F184}"/>
              </a:ext>
            </a:extLst>
          </p:cNvPr>
          <p:cNvSpPr/>
          <p:nvPr/>
        </p:nvSpPr>
        <p:spPr>
          <a:xfrm>
            <a:off x="6132126" y="2533232"/>
            <a:ext cx="5400000" cy="3804000"/>
          </a:xfrm>
          <a:prstGeom prst="rect">
            <a:avLst/>
          </a:prstGeom>
          <a:no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noFill/>
            </a:endParaRPr>
          </a:p>
        </p:txBody>
      </p:sp>
      <p:sp>
        <p:nvSpPr>
          <p:cNvPr id="14" name="正方形/長方形 13">
            <a:extLst>
              <a:ext uri="{FF2B5EF4-FFF2-40B4-BE49-F238E27FC236}">
                <a16:creationId xmlns:a16="http://schemas.microsoft.com/office/drawing/2014/main" id="{9A377B0C-4DFE-8D04-7EDE-4DC4A698BD1D}"/>
              </a:ext>
            </a:extLst>
          </p:cNvPr>
          <p:cNvSpPr/>
          <p:nvPr/>
        </p:nvSpPr>
        <p:spPr>
          <a:xfrm>
            <a:off x="6132125" y="2139766"/>
            <a:ext cx="5400000" cy="393467"/>
          </a:xfrm>
          <a:prstGeom prst="rect">
            <a:avLst/>
          </a:prstGeom>
          <a:solidFill>
            <a:schemeClr val="tx2"/>
          </a:solid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dirty="0">
                <a:solidFill>
                  <a:schemeClr val="bg1"/>
                </a:solidFill>
              </a:rPr>
              <a:t>モック（</a:t>
            </a:r>
            <a:r>
              <a:rPr kumimoji="1" lang="en-US" altLang="ja-JP" dirty="0">
                <a:solidFill>
                  <a:schemeClr val="bg1"/>
                </a:solidFill>
              </a:rPr>
              <a:t>Mock</a:t>
            </a:r>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5275FB37-216C-E423-4C4B-33CDD4CBA055}"/>
              </a:ext>
            </a:extLst>
          </p:cNvPr>
          <p:cNvSpPr txBox="1"/>
          <p:nvPr/>
        </p:nvSpPr>
        <p:spPr>
          <a:xfrm>
            <a:off x="718466" y="2633644"/>
            <a:ext cx="5318447" cy="393468"/>
          </a:xfrm>
          <a:prstGeom prst="rect">
            <a:avLst/>
          </a:prstGeom>
          <a:noFill/>
        </p:spPr>
        <p:txBody>
          <a:bodyPr wrap="square" lIns="0" rIns="0" rtlCol="0">
            <a:noAutofit/>
          </a:bodyPr>
          <a:lstStyle/>
          <a:p>
            <a:pPr algn="l" defTabSz="288000"/>
            <a:r>
              <a:rPr kumimoji="1" lang="ja-JP" altLang="en-US" dirty="0">
                <a:latin typeface="+mn-ea"/>
              </a:rPr>
              <a:t>テスト対象から呼ばれる側のオブジェクトの</a:t>
            </a:r>
            <a:r>
              <a:rPr kumimoji="1" lang="ja-JP" altLang="en-US" sz="2000" b="1" dirty="0">
                <a:latin typeface="+mn-ea"/>
              </a:rPr>
              <a:t>戻り値を</a:t>
            </a:r>
            <a:endParaRPr kumimoji="1" lang="en-US" altLang="ja-JP" sz="2000" b="1" dirty="0">
              <a:latin typeface="+mn-ea"/>
            </a:endParaRPr>
          </a:p>
          <a:p>
            <a:pPr algn="l" defTabSz="288000"/>
            <a:r>
              <a:rPr kumimoji="1" lang="ja-JP" altLang="en-US" sz="2000" b="1" dirty="0">
                <a:latin typeface="+mn-ea"/>
              </a:rPr>
              <a:t>模倣</a:t>
            </a:r>
            <a:r>
              <a:rPr kumimoji="1" lang="ja-JP" altLang="en-US" dirty="0">
                <a:latin typeface="+mn-ea"/>
              </a:rPr>
              <a:t>する</a:t>
            </a:r>
          </a:p>
        </p:txBody>
      </p:sp>
      <p:sp>
        <p:nvSpPr>
          <p:cNvPr id="24" name="テキスト ボックス 23">
            <a:extLst>
              <a:ext uri="{FF2B5EF4-FFF2-40B4-BE49-F238E27FC236}">
                <a16:creationId xmlns:a16="http://schemas.microsoft.com/office/drawing/2014/main" id="{7022EF39-B3C3-BCA5-2A81-41C7C4380EC1}"/>
              </a:ext>
            </a:extLst>
          </p:cNvPr>
          <p:cNvSpPr txBox="1"/>
          <p:nvPr/>
        </p:nvSpPr>
        <p:spPr>
          <a:xfrm>
            <a:off x="6234762" y="2634995"/>
            <a:ext cx="5260555" cy="393468"/>
          </a:xfrm>
          <a:prstGeom prst="rect">
            <a:avLst/>
          </a:prstGeom>
          <a:noFill/>
        </p:spPr>
        <p:txBody>
          <a:bodyPr wrap="square" lIns="0" rIns="0" rtlCol="0">
            <a:noAutofit/>
          </a:bodyPr>
          <a:lstStyle/>
          <a:p>
            <a:pPr algn="l" defTabSz="288000"/>
            <a:r>
              <a:rPr kumimoji="1" lang="ja-JP" altLang="en-US" dirty="0">
                <a:latin typeface="+mn-ea"/>
              </a:rPr>
              <a:t>テスト対象から呼ばれる側のオブジェクトの</a:t>
            </a:r>
            <a:r>
              <a:rPr kumimoji="1" lang="ja-JP" altLang="en-US" sz="2000" b="1" dirty="0">
                <a:latin typeface="+mn-ea"/>
              </a:rPr>
              <a:t>呼出</a:t>
            </a:r>
            <a:r>
              <a:rPr lang="ja-JP" altLang="en-US" sz="2000" b="1" dirty="0">
                <a:latin typeface="+mn-ea"/>
              </a:rPr>
              <a:t>し方を</a:t>
            </a:r>
            <a:endParaRPr lang="en-US" altLang="ja-JP" sz="2000" b="1" dirty="0">
              <a:latin typeface="+mn-ea"/>
            </a:endParaRPr>
          </a:p>
          <a:p>
            <a:pPr algn="l" defTabSz="288000"/>
            <a:r>
              <a:rPr kumimoji="1" lang="ja-JP" altLang="en-US" sz="2000" b="1" dirty="0">
                <a:latin typeface="+mn-ea"/>
              </a:rPr>
              <a:t>検証</a:t>
            </a:r>
            <a:r>
              <a:rPr kumimoji="1" lang="ja-JP" altLang="en-US" dirty="0">
                <a:latin typeface="+mn-ea"/>
              </a:rPr>
              <a:t>するために使用される。</a:t>
            </a:r>
          </a:p>
        </p:txBody>
      </p:sp>
      <p:sp>
        <p:nvSpPr>
          <p:cNvPr id="17" name="テキスト ボックス 16">
            <a:extLst>
              <a:ext uri="{FF2B5EF4-FFF2-40B4-BE49-F238E27FC236}">
                <a16:creationId xmlns:a16="http://schemas.microsoft.com/office/drawing/2014/main" id="{6367ECCE-5481-4A20-EA4E-45903EEE43DC}"/>
              </a:ext>
            </a:extLst>
          </p:cNvPr>
          <p:cNvSpPr txBox="1"/>
          <p:nvPr/>
        </p:nvSpPr>
        <p:spPr>
          <a:xfrm>
            <a:off x="750753" y="5943764"/>
            <a:ext cx="5318447" cy="393468"/>
          </a:xfrm>
          <a:prstGeom prst="rect">
            <a:avLst/>
          </a:prstGeom>
          <a:noFill/>
        </p:spPr>
        <p:txBody>
          <a:bodyPr wrap="square" lIns="0" rIns="0" rtlCol="0">
            <a:noAutofit/>
          </a:bodyPr>
          <a:lstStyle/>
          <a:p>
            <a:pPr algn="l" defTabSz="288000"/>
            <a:r>
              <a:rPr kumimoji="1" lang="ja-JP" altLang="en-US" sz="1600" dirty="0">
                <a:latin typeface="+mn-ea"/>
              </a:rPr>
              <a:t>使用例：データベースからのデータ取得処理</a:t>
            </a:r>
          </a:p>
        </p:txBody>
      </p:sp>
      <p:sp>
        <p:nvSpPr>
          <p:cNvPr id="29" name="テキスト ボックス 28">
            <a:extLst>
              <a:ext uri="{FF2B5EF4-FFF2-40B4-BE49-F238E27FC236}">
                <a16:creationId xmlns:a16="http://schemas.microsoft.com/office/drawing/2014/main" id="{DDD82AFF-AA2B-1EE8-F2E3-B3B42BEC46F1}"/>
              </a:ext>
            </a:extLst>
          </p:cNvPr>
          <p:cNvSpPr txBox="1"/>
          <p:nvPr/>
        </p:nvSpPr>
        <p:spPr>
          <a:xfrm>
            <a:off x="6306801" y="5943764"/>
            <a:ext cx="5318447" cy="393468"/>
          </a:xfrm>
          <a:prstGeom prst="rect">
            <a:avLst/>
          </a:prstGeom>
          <a:noFill/>
        </p:spPr>
        <p:txBody>
          <a:bodyPr wrap="square" lIns="0" rIns="0" rtlCol="0">
            <a:noAutofit/>
          </a:bodyPr>
          <a:lstStyle/>
          <a:p>
            <a:pPr algn="l" defTabSz="288000"/>
            <a:r>
              <a:rPr kumimoji="1" lang="ja-JP" altLang="en-US" sz="1600" dirty="0">
                <a:latin typeface="+mn-ea"/>
              </a:rPr>
              <a:t>使用例：外部サービスへの連携処理</a:t>
            </a:r>
          </a:p>
        </p:txBody>
      </p:sp>
      <p:sp>
        <p:nvSpPr>
          <p:cNvPr id="37" name="四角形: 角を丸くする 36">
            <a:extLst>
              <a:ext uri="{FF2B5EF4-FFF2-40B4-BE49-F238E27FC236}">
                <a16:creationId xmlns:a16="http://schemas.microsoft.com/office/drawing/2014/main" id="{E9B6531E-F576-118F-3636-16C53F481D05}"/>
              </a:ext>
            </a:extLst>
          </p:cNvPr>
          <p:cNvSpPr/>
          <p:nvPr/>
        </p:nvSpPr>
        <p:spPr>
          <a:xfrm>
            <a:off x="1115159" y="3649470"/>
            <a:ext cx="1260000" cy="690466"/>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クラス</a:t>
            </a:r>
            <a:r>
              <a:rPr kumimoji="1" lang="en-US" altLang="ja-JP" sz="1400" dirty="0">
                <a:solidFill>
                  <a:schemeClr val="tx1"/>
                </a:solidFill>
              </a:rPr>
              <a:t>A</a:t>
            </a:r>
          </a:p>
        </p:txBody>
      </p:sp>
      <p:sp>
        <p:nvSpPr>
          <p:cNvPr id="38" name="正方形/長方形 37">
            <a:extLst>
              <a:ext uri="{FF2B5EF4-FFF2-40B4-BE49-F238E27FC236}">
                <a16:creationId xmlns:a16="http://schemas.microsoft.com/office/drawing/2014/main" id="{A9810221-6FC1-3417-DAE9-EF5ACC9D928A}"/>
              </a:ext>
            </a:extLst>
          </p:cNvPr>
          <p:cNvSpPr/>
          <p:nvPr/>
        </p:nvSpPr>
        <p:spPr>
          <a:xfrm rot="21261040">
            <a:off x="793440" y="3510389"/>
            <a:ext cx="1047119" cy="269736"/>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b="1" dirty="0">
                <a:solidFill>
                  <a:schemeClr val="tx1"/>
                </a:solidFill>
              </a:rPr>
              <a:t>テスト対象</a:t>
            </a:r>
          </a:p>
        </p:txBody>
      </p:sp>
      <p:sp>
        <p:nvSpPr>
          <p:cNvPr id="43" name="四角形: 角を丸くする 42">
            <a:extLst>
              <a:ext uri="{FF2B5EF4-FFF2-40B4-BE49-F238E27FC236}">
                <a16:creationId xmlns:a16="http://schemas.microsoft.com/office/drawing/2014/main" id="{26F3F0C4-00F0-7BD9-011B-E62704ACB162}"/>
              </a:ext>
            </a:extLst>
          </p:cNvPr>
          <p:cNvSpPr/>
          <p:nvPr/>
        </p:nvSpPr>
        <p:spPr>
          <a:xfrm>
            <a:off x="4033854" y="3646771"/>
            <a:ext cx="1260000" cy="690466"/>
          </a:xfrm>
          <a:prstGeom prst="roundRect">
            <a:avLst/>
          </a:prstGeom>
          <a:noFill/>
          <a:ln w="19050">
            <a:solidFill>
              <a:schemeClr val="bg1">
                <a:lumMod val="75000"/>
              </a:schemeClr>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lumMod val="65000"/>
                  </a:schemeClr>
                </a:solidFill>
              </a:rPr>
              <a:t>クラス</a:t>
            </a:r>
            <a:r>
              <a:rPr kumimoji="1" lang="en-US" altLang="ja-JP" sz="1400" dirty="0">
                <a:solidFill>
                  <a:schemeClr val="bg1">
                    <a:lumMod val="65000"/>
                  </a:schemeClr>
                </a:solidFill>
              </a:rPr>
              <a:t>B</a:t>
            </a:r>
          </a:p>
        </p:txBody>
      </p:sp>
      <p:sp>
        <p:nvSpPr>
          <p:cNvPr id="46" name="四角形: 角を丸くする 45">
            <a:extLst>
              <a:ext uri="{FF2B5EF4-FFF2-40B4-BE49-F238E27FC236}">
                <a16:creationId xmlns:a16="http://schemas.microsoft.com/office/drawing/2014/main" id="{1FBFA1D7-CE2F-DB07-8FEB-230CA276A884}"/>
              </a:ext>
            </a:extLst>
          </p:cNvPr>
          <p:cNvSpPr/>
          <p:nvPr/>
        </p:nvSpPr>
        <p:spPr>
          <a:xfrm>
            <a:off x="4033854" y="4595711"/>
            <a:ext cx="1260000" cy="690466"/>
          </a:xfrm>
          <a:prstGeom prst="roundRect">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b="1" dirty="0">
                <a:solidFill>
                  <a:schemeClr val="tx1"/>
                </a:solidFill>
              </a:rPr>
              <a:t>スタブ</a:t>
            </a:r>
            <a:endParaRPr kumimoji="1" lang="en-US" altLang="ja-JP" sz="1400" b="1" dirty="0">
              <a:solidFill>
                <a:schemeClr val="tx1"/>
              </a:solidFill>
            </a:endParaRPr>
          </a:p>
          <a:p>
            <a:pPr algn="ctr"/>
            <a:r>
              <a:rPr kumimoji="1" lang="ja-JP" altLang="en-US" sz="1400" dirty="0">
                <a:solidFill>
                  <a:schemeClr val="tx1"/>
                </a:solidFill>
              </a:rPr>
              <a:t>（</a:t>
            </a:r>
            <a:r>
              <a:rPr lang="ja-JP" altLang="en-US" sz="1400" dirty="0">
                <a:solidFill>
                  <a:schemeClr val="tx1"/>
                </a:solidFill>
              </a:rPr>
              <a:t>クラス</a:t>
            </a:r>
            <a:r>
              <a:rPr kumimoji="1" lang="en-US" altLang="ja-JP" sz="1400" dirty="0">
                <a:solidFill>
                  <a:schemeClr val="tx1"/>
                </a:solidFill>
              </a:rPr>
              <a:t>B</a:t>
            </a:r>
            <a:r>
              <a:rPr kumimoji="1" lang="ja-JP" altLang="en-US" sz="1400" dirty="0">
                <a:solidFill>
                  <a:schemeClr val="tx1"/>
                </a:solidFill>
              </a:rPr>
              <a:t>）</a:t>
            </a:r>
            <a:endParaRPr kumimoji="1" lang="en-US" altLang="ja-JP" sz="1400" dirty="0">
              <a:solidFill>
                <a:schemeClr val="tx1"/>
              </a:solidFill>
            </a:endParaRPr>
          </a:p>
        </p:txBody>
      </p:sp>
      <p:cxnSp>
        <p:nvCxnSpPr>
          <p:cNvPr id="52" name="直線矢印コネクタ 51">
            <a:extLst>
              <a:ext uri="{FF2B5EF4-FFF2-40B4-BE49-F238E27FC236}">
                <a16:creationId xmlns:a16="http://schemas.microsoft.com/office/drawing/2014/main" id="{DD19D3C8-A180-A62C-73D1-2389210D8DE9}"/>
              </a:ext>
            </a:extLst>
          </p:cNvPr>
          <p:cNvCxnSpPr>
            <a:stCxn id="37" idx="3"/>
            <a:endCxn id="43" idx="1"/>
          </p:cNvCxnSpPr>
          <p:nvPr/>
        </p:nvCxnSpPr>
        <p:spPr>
          <a:xfrm flipV="1">
            <a:off x="2375159" y="3992004"/>
            <a:ext cx="1658695" cy="2699"/>
          </a:xfrm>
          <a:prstGeom prst="straightConnector1">
            <a:avLst/>
          </a:prstGeom>
          <a:ln w="28575">
            <a:solidFill>
              <a:schemeClr val="bg1">
                <a:lumMod val="75000"/>
              </a:schemeClr>
            </a:solidFill>
            <a:prstDash val="sysDash"/>
            <a:tailEnd type="triangle"/>
          </a:ln>
          <a:effectLst/>
        </p:spPr>
        <p:style>
          <a:lnRef idx="2">
            <a:schemeClr val="accent1"/>
          </a:lnRef>
          <a:fillRef idx="0">
            <a:schemeClr val="accent1"/>
          </a:fillRef>
          <a:effectRef idx="1">
            <a:schemeClr val="accent1"/>
          </a:effectRef>
          <a:fontRef idx="minor">
            <a:schemeClr val="tx1"/>
          </a:fontRef>
        </p:style>
      </p:cxnSp>
      <p:sp>
        <p:nvSpPr>
          <p:cNvPr id="54" name="テキスト ボックス 53">
            <a:extLst>
              <a:ext uri="{FF2B5EF4-FFF2-40B4-BE49-F238E27FC236}">
                <a16:creationId xmlns:a16="http://schemas.microsoft.com/office/drawing/2014/main" id="{2624F309-DFF0-5E96-2FFB-41213E130A7F}"/>
              </a:ext>
            </a:extLst>
          </p:cNvPr>
          <p:cNvSpPr txBox="1"/>
          <p:nvPr/>
        </p:nvSpPr>
        <p:spPr>
          <a:xfrm>
            <a:off x="2707612" y="3741840"/>
            <a:ext cx="1068587" cy="333828"/>
          </a:xfrm>
          <a:prstGeom prst="rect">
            <a:avLst/>
          </a:prstGeom>
          <a:noFill/>
        </p:spPr>
        <p:txBody>
          <a:bodyPr wrap="square" lIns="0" rIns="0" rtlCol="0">
            <a:noAutofit/>
          </a:bodyPr>
          <a:lstStyle/>
          <a:p>
            <a:pPr algn="l" defTabSz="288000"/>
            <a:r>
              <a:rPr kumimoji="1" lang="ja-JP" altLang="en-US" sz="1200" dirty="0">
                <a:solidFill>
                  <a:schemeClr val="bg1">
                    <a:lumMod val="75000"/>
                  </a:schemeClr>
                </a:solidFill>
                <a:latin typeface="+mn-ea"/>
              </a:rPr>
              <a:t>実際の呼出し</a:t>
            </a:r>
          </a:p>
        </p:txBody>
      </p:sp>
      <p:cxnSp>
        <p:nvCxnSpPr>
          <p:cNvPr id="55" name="直線矢印コネクタ 54">
            <a:extLst>
              <a:ext uri="{FF2B5EF4-FFF2-40B4-BE49-F238E27FC236}">
                <a16:creationId xmlns:a16="http://schemas.microsoft.com/office/drawing/2014/main" id="{7A7BBDF5-31C2-473E-525E-D68F5B09E3D6}"/>
              </a:ext>
            </a:extLst>
          </p:cNvPr>
          <p:cNvCxnSpPr>
            <a:cxnSpLocks/>
          </p:cNvCxnSpPr>
          <p:nvPr/>
        </p:nvCxnSpPr>
        <p:spPr>
          <a:xfrm>
            <a:off x="2385221" y="4145175"/>
            <a:ext cx="1656000" cy="756000"/>
          </a:xfrm>
          <a:prstGeom prst="straightConnector1">
            <a:avLst/>
          </a:prstGeom>
          <a:ln w="28575">
            <a:solidFill>
              <a:schemeClr val="tx2"/>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58" name="直線矢印コネクタ 57">
            <a:extLst>
              <a:ext uri="{FF2B5EF4-FFF2-40B4-BE49-F238E27FC236}">
                <a16:creationId xmlns:a16="http://schemas.microsoft.com/office/drawing/2014/main" id="{28C8E11F-E813-ADA5-AF84-E3DFD87F3C6A}"/>
              </a:ext>
            </a:extLst>
          </p:cNvPr>
          <p:cNvCxnSpPr>
            <a:cxnSpLocks/>
          </p:cNvCxnSpPr>
          <p:nvPr/>
        </p:nvCxnSpPr>
        <p:spPr>
          <a:xfrm flipH="1" flipV="1">
            <a:off x="2390522" y="4235588"/>
            <a:ext cx="1656000" cy="756000"/>
          </a:xfrm>
          <a:prstGeom prst="straightConnector1">
            <a:avLst/>
          </a:prstGeom>
          <a:ln w="38100">
            <a:solidFill>
              <a:srgbClr val="E42600"/>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61" name="テキスト ボックス 60">
            <a:extLst>
              <a:ext uri="{FF2B5EF4-FFF2-40B4-BE49-F238E27FC236}">
                <a16:creationId xmlns:a16="http://schemas.microsoft.com/office/drawing/2014/main" id="{2491F2F4-4A2B-5AD5-7211-9ADF65E3677D}"/>
              </a:ext>
            </a:extLst>
          </p:cNvPr>
          <p:cNvSpPr txBox="1"/>
          <p:nvPr/>
        </p:nvSpPr>
        <p:spPr>
          <a:xfrm>
            <a:off x="1889085" y="4632642"/>
            <a:ext cx="1668758" cy="304151"/>
          </a:xfrm>
          <a:prstGeom prst="rect">
            <a:avLst/>
          </a:prstGeom>
          <a:noFill/>
        </p:spPr>
        <p:txBody>
          <a:bodyPr wrap="square" lIns="0" rIns="0" rtlCol="0">
            <a:noAutofit/>
          </a:bodyPr>
          <a:lstStyle/>
          <a:p>
            <a:pPr algn="ctr" defTabSz="288000"/>
            <a:r>
              <a:rPr lang="ja-JP" altLang="en-US" sz="1200" dirty="0">
                <a:latin typeface="+mn-ea"/>
              </a:rPr>
              <a:t>クラス</a:t>
            </a:r>
            <a:r>
              <a:rPr lang="en-US" altLang="ja-JP" sz="1200" dirty="0">
                <a:latin typeface="+mn-ea"/>
              </a:rPr>
              <a:t>B</a:t>
            </a:r>
            <a:r>
              <a:rPr lang="ja-JP" altLang="en-US" sz="1200" dirty="0">
                <a:latin typeface="+mn-ea"/>
              </a:rPr>
              <a:t>からの</a:t>
            </a:r>
            <a:r>
              <a:rPr lang="ja-JP" altLang="en-US" sz="1400" b="1" dirty="0">
                <a:latin typeface="+mn-ea"/>
              </a:rPr>
              <a:t>戻り値</a:t>
            </a:r>
            <a:endParaRPr kumimoji="1" lang="ja-JP" altLang="en-US" sz="1200" b="1" dirty="0">
              <a:latin typeface="+mn-ea"/>
            </a:endParaRPr>
          </a:p>
        </p:txBody>
      </p:sp>
      <p:sp>
        <p:nvSpPr>
          <p:cNvPr id="62" name="吹き出し: 角を丸めた四角形 61">
            <a:extLst>
              <a:ext uri="{FF2B5EF4-FFF2-40B4-BE49-F238E27FC236}">
                <a16:creationId xmlns:a16="http://schemas.microsoft.com/office/drawing/2014/main" id="{C46538CB-C801-6CB7-72BC-253E74A32B39}"/>
              </a:ext>
            </a:extLst>
          </p:cNvPr>
          <p:cNvSpPr/>
          <p:nvPr/>
        </p:nvSpPr>
        <p:spPr>
          <a:xfrm>
            <a:off x="1671523" y="5118265"/>
            <a:ext cx="2196957" cy="371727"/>
          </a:xfrm>
          <a:prstGeom prst="wedgeRoundRectCallout">
            <a:avLst>
              <a:gd name="adj1" fmla="val -10231"/>
              <a:gd name="adj2" fmla="val -96737"/>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288000"/>
            <a:r>
              <a:rPr lang="ja-JP" altLang="en-US" sz="1200" dirty="0">
                <a:solidFill>
                  <a:sysClr val="windowText" lastClr="000000"/>
                </a:solidFill>
                <a:latin typeface="+mn-ea"/>
              </a:rPr>
              <a:t>クラス</a:t>
            </a:r>
            <a:r>
              <a:rPr lang="en-US" altLang="ja-JP" sz="1200" dirty="0">
                <a:solidFill>
                  <a:sysClr val="windowText" lastClr="000000"/>
                </a:solidFill>
                <a:latin typeface="+mn-ea"/>
              </a:rPr>
              <a:t>B</a:t>
            </a:r>
            <a:r>
              <a:rPr lang="ja-JP" altLang="en-US" sz="1200" dirty="0">
                <a:solidFill>
                  <a:sysClr val="windowText" lastClr="000000"/>
                </a:solidFill>
                <a:latin typeface="+mn-ea"/>
              </a:rPr>
              <a:t>からの戻り値を模倣する</a:t>
            </a:r>
            <a:endParaRPr kumimoji="1" lang="en-US" altLang="ja-JP" sz="1200" dirty="0">
              <a:solidFill>
                <a:sysClr val="windowText" lastClr="000000"/>
              </a:solidFill>
              <a:latin typeface="+mn-ea"/>
            </a:endParaRPr>
          </a:p>
        </p:txBody>
      </p:sp>
      <p:sp>
        <p:nvSpPr>
          <p:cNvPr id="63" name="四角形: 角を丸くする 62">
            <a:extLst>
              <a:ext uri="{FF2B5EF4-FFF2-40B4-BE49-F238E27FC236}">
                <a16:creationId xmlns:a16="http://schemas.microsoft.com/office/drawing/2014/main" id="{BE8BBA82-BB96-A8E6-7F8E-B5542D1B15B9}"/>
              </a:ext>
            </a:extLst>
          </p:cNvPr>
          <p:cNvSpPr/>
          <p:nvPr/>
        </p:nvSpPr>
        <p:spPr>
          <a:xfrm>
            <a:off x="6898146" y="3645319"/>
            <a:ext cx="1260000" cy="690466"/>
          </a:xfrm>
          <a:prstGeom prst="round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クラス</a:t>
            </a:r>
            <a:r>
              <a:rPr kumimoji="1" lang="en-US" altLang="ja-JP" sz="1400" dirty="0">
                <a:solidFill>
                  <a:schemeClr val="tx1"/>
                </a:solidFill>
              </a:rPr>
              <a:t>A</a:t>
            </a:r>
          </a:p>
        </p:txBody>
      </p:sp>
      <p:sp>
        <p:nvSpPr>
          <p:cNvPr id="64" name="正方形/長方形 63">
            <a:extLst>
              <a:ext uri="{FF2B5EF4-FFF2-40B4-BE49-F238E27FC236}">
                <a16:creationId xmlns:a16="http://schemas.microsoft.com/office/drawing/2014/main" id="{2468A187-3EF2-9581-3643-709C88EC5C16}"/>
              </a:ext>
            </a:extLst>
          </p:cNvPr>
          <p:cNvSpPr/>
          <p:nvPr/>
        </p:nvSpPr>
        <p:spPr>
          <a:xfrm rot="21261040">
            <a:off x="6576427" y="3506238"/>
            <a:ext cx="1047119" cy="269736"/>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b="1" dirty="0">
                <a:solidFill>
                  <a:schemeClr val="tx1"/>
                </a:solidFill>
              </a:rPr>
              <a:t>テスト対象</a:t>
            </a:r>
          </a:p>
        </p:txBody>
      </p:sp>
      <p:sp>
        <p:nvSpPr>
          <p:cNvPr id="65" name="四角形: 角を丸くする 64">
            <a:extLst>
              <a:ext uri="{FF2B5EF4-FFF2-40B4-BE49-F238E27FC236}">
                <a16:creationId xmlns:a16="http://schemas.microsoft.com/office/drawing/2014/main" id="{72274C1C-D109-1853-E07A-26B857D6EC1E}"/>
              </a:ext>
            </a:extLst>
          </p:cNvPr>
          <p:cNvSpPr/>
          <p:nvPr/>
        </p:nvSpPr>
        <p:spPr>
          <a:xfrm>
            <a:off x="9816841" y="3642620"/>
            <a:ext cx="1260000" cy="690466"/>
          </a:xfrm>
          <a:prstGeom prst="roundRect">
            <a:avLst/>
          </a:prstGeom>
          <a:noFill/>
          <a:ln w="19050">
            <a:solidFill>
              <a:schemeClr val="bg1">
                <a:lumMod val="75000"/>
              </a:schemeClr>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lumMod val="65000"/>
                  </a:schemeClr>
                </a:solidFill>
              </a:rPr>
              <a:t>クラス</a:t>
            </a:r>
            <a:r>
              <a:rPr kumimoji="1" lang="en-US" altLang="ja-JP" sz="1400" dirty="0">
                <a:solidFill>
                  <a:schemeClr val="bg1">
                    <a:lumMod val="65000"/>
                  </a:schemeClr>
                </a:solidFill>
              </a:rPr>
              <a:t>B</a:t>
            </a:r>
          </a:p>
        </p:txBody>
      </p:sp>
      <p:sp>
        <p:nvSpPr>
          <p:cNvPr id="66" name="四角形: 角を丸くする 65">
            <a:extLst>
              <a:ext uri="{FF2B5EF4-FFF2-40B4-BE49-F238E27FC236}">
                <a16:creationId xmlns:a16="http://schemas.microsoft.com/office/drawing/2014/main" id="{9207287D-282F-6B95-53B0-0F8F831FFCFA}"/>
              </a:ext>
            </a:extLst>
          </p:cNvPr>
          <p:cNvSpPr/>
          <p:nvPr/>
        </p:nvSpPr>
        <p:spPr>
          <a:xfrm>
            <a:off x="9816841" y="4591560"/>
            <a:ext cx="1260000" cy="690466"/>
          </a:xfrm>
          <a:prstGeom prst="roundRect">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b="1" dirty="0">
                <a:solidFill>
                  <a:schemeClr val="tx1"/>
                </a:solidFill>
              </a:rPr>
              <a:t>モック</a:t>
            </a:r>
            <a:endParaRPr kumimoji="1" lang="en-US" altLang="ja-JP" sz="1400" b="1" dirty="0">
              <a:solidFill>
                <a:schemeClr val="tx1"/>
              </a:solidFill>
            </a:endParaRPr>
          </a:p>
          <a:p>
            <a:pPr algn="ctr"/>
            <a:r>
              <a:rPr kumimoji="1" lang="ja-JP" altLang="en-US" sz="1400" dirty="0">
                <a:solidFill>
                  <a:schemeClr val="tx1"/>
                </a:solidFill>
              </a:rPr>
              <a:t>（</a:t>
            </a:r>
            <a:r>
              <a:rPr lang="ja-JP" altLang="en-US" sz="1400" dirty="0">
                <a:solidFill>
                  <a:schemeClr val="tx1"/>
                </a:solidFill>
              </a:rPr>
              <a:t>クラス</a:t>
            </a:r>
            <a:r>
              <a:rPr kumimoji="1" lang="en-US" altLang="ja-JP" sz="1400" dirty="0">
                <a:solidFill>
                  <a:schemeClr val="tx1"/>
                </a:solidFill>
              </a:rPr>
              <a:t>B</a:t>
            </a:r>
            <a:r>
              <a:rPr kumimoji="1" lang="ja-JP" altLang="en-US" sz="1400" dirty="0">
                <a:solidFill>
                  <a:schemeClr val="tx1"/>
                </a:solidFill>
              </a:rPr>
              <a:t>）</a:t>
            </a:r>
            <a:endParaRPr kumimoji="1" lang="en-US" altLang="ja-JP" sz="1400" dirty="0">
              <a:solidFill>
                <a:schemeClr val="tx1"/>
              </a:solidFill>
            </a:endParaRPr>
          </a:p>
        </p:txBody>
      </p:sp>
      <p:sp>
        <p:nvSpPr>
          <p:cNvPr id="67" name="テキスト ボックス 66">
            <a:extLst>
              <a:ext uri="{FF2B5EF4-FFF2-40B4-BE49-F238E27FC236}">
                <a16:creationId xmlns:a16="http://schemas.microsoft.com/office/drawing/2014/main" id="{44ED2F67-D0BF-17A8-396E-7D608E5391F4}"/>
              </a:ext>
            </a:extLst>
          </p:cNvPr>
          <p:cNvSpPr txBox="1"/>
          <p:nvPr/>
        </p:nvSpPr>
        <p:spPr>
          <a:xfrm>
            <a:off x="9037879" y="4301593"/>
            <a:ext cx="1150645" cy="304151"/>
          </a:xfrm>
          <a:prstGeom prst="rect">
            <a:avLst/>
          </a:prstGeom>
          <a:noFill/>
        </p:spPr>
        <p:txBody>
          <a:bodyPr wrap="square" lIns="0" rIns="0" rtlCol="0">
            <a:noAutofit/>
          </a:bodyPr>
          <a:lstStyle/>
          <a:p>
            <a:pPr algn="l" defTabSz="288000"/>
            <a:r>
              <a:rPr kumimoji="1" lang="ja-JP" altLang="en-US" sz="1200" dirty="0">
                <a:latin typeface="+mn-ea"/>
              </a:rPr>
              <a:t>クラス</a:t>
            </a:r>
            <a:r>
              <a:rPr kumimoji="1" lang="en-US" altLang="ja-JP" sz="1200" dirty="0">
                <a:latin typeface="+mn-ea"/>
              </a:rPr>
              <a:t>B</a:t>
            </a:r>
            <a:r>
              <a:rPr lang="ja-JP" altLang="en-US" sz="1200" dirty="0">
                <a:latin typeface="+mn-ea"/>
              </a:rPr>
              <a:t>の</a:t>
            </a:r>
            <a:r>
              <a:rPr lang="ja-JP" altLang="en-US" sz="1400" b="1" dirty="0">
                <a:latin typeface="+mn-ea"/>
              </a:rPr>
              <a:t>呼出し</a:t>
            </a:r>
            <a:endParaRPr kumimoji="1" lang="ja-JP" altLang="en-US" sz="1200" b="1" dirty="0">
              <a:latin typeface="+mn-ea"/>
            </a:endParaRPr>
          </a:p>
        </p:txBody>
      </p:sp>
      <p:cxnSp>
        <p:nvCxnSpPr>
          <p:cNvPr id="68" name="直線矢印コネクタ 67">
            <a:extLst>
              <a:ext uri="{FF2B5EF4-FFF2-40B4-BE49-F238E27FC236}">
                <a16:creationId xmlns:a16="http://schemas.microsoft.com/office/drawing/2014/main" id="{79660CE7-F8EC-A18E-A477-0D78BBB8BA2A}"/>
              </a:ext>
            </a:extLst>
          </p:cNvPr>
          <p:cNvCxnSpPr>
            <a:stCxn id="63" idx="3"/>
            <a:endCxn id="65" idx="1"/>
          </p:cNvCxnSpPr>
          <p:nvPr/>
        </p:nvCxnSpPr>
        <p:spPr>
          <a:xfrm flipV="1">
            <a:off x="8158146" y="3987853"/>
            <a:ext cx="1658695" cy="2699"/>
          </a:xfrm>
          <a:prstGeom prst="straightConnector1">
            <a:avLst/>
          </a:prstGeom>
          <a:ln w="28575">
            <a:solidFill>
              <a:schemeClr val="bg1">
                <a:lumMod val="75000"/>
              </a:schemeClr>
            </a:solidFill>
            <a:prstDash val="sysDash"/>
            <a:tailEnd type="triangle"/>
          </a:ln>
          <a:effectLst/>
        </p:spPr>
        <p:style>
          <a:lnRef idx="2">
            <a:schemeClr val="accent1"/>
          </a:lnRef>
          <a:fillRef idx="0">
            <a:schemeClr val="accent1"/>
          </a:fillRef>
          <a:effectRef idx="1">
            <a:schemeClr val="accent1"/>
          </a:effectRef>
          <a:fontRef idx="minor">
            <a:schemeClr val="tx1"/>
          </a:fontRef>
        </p:style>
      </p:cxnSp>
      <p:sp>
        <p:nvSpPr>
          <p:cNvPr id="69" name="テキスト ボックス 68">
            <a:extLst>
              <a:ext uri="{FF2B5EF4-FFF2-40B4-BE49-F238E27FC236}">
                <a16:creationId xmlns:a16="http://schemas.microsoft.com/office/drawing/2014/main" id="{E8C3A893-125A-5F0D-029E-2927AA8509C2}"/>
              </a:ext>
            </a:extLst>
          </p:cNvPr>
          <p:cNvSpPr txBox="1"/>
          <p:nvPr/>
        </p:nvSpPr>
        <p:spPr>
          <a:xfrm>
            <a:off x="8490599" y="3737689"/>
            <a:ext cx="1068587" cy="333828"/>
          </a:xfrm>
          <a:prstGeom prst="rect">
            <a:avLst/>
          </a:prstGeom>
          <a:noFill/>
        </p:spPr>
        <p:txBody>
          <a:bodyPr wrap="square" lIns="0" rIns="0" rtlCol="0">
            <a:noAutofit/>
          </a:bodyPr>
          <a:lstStyle/>
          <a:p>
            <a:pPr algn="l" defTabSz="288000"/>
            <a:r>
              <a:rPr kumimoji="1" lang="ja-JP" altLang="en-US" sz="1200" dirty="0">
                <a:solidFill>
                  <a:schemeClr val="bg1">
                    <a:lumMod val="75000"/>
                  </a:schemeClr>
                </a:solidFill>
                <a:latin typeface="+mn-ea"/>
              </a:rPr>
              <a:t>実際の呼出し</a:t>
            </a:r>
          </a:p>
        </p:txBody>
      </p:sp>
      <p:cxnSp>
        <p:nvCxnSpPr>
          <p:cNvPr id="70" name="直線矢印コネクタ 69">
            <a:extLst>
              <a:ext uri="{FF2B5EF4-FFF2-40B4-BE49-F238E27FC236}">
                <a16:creationId xmlns:a16="http://schemas.microsoft.com/office/drawing/2014/main" id="{F16C92E5-D4BC-56E7-5415-3ECBE227E7F9}"/>
              </a:ext>
            </a:extLst>
          </p:cNvPr>
          <p:cNvCxnSpPr>
            <a:cxnSpLocks/>
          </p:cNvCxnSpPr>
          <p:nvPr/>
        </p:nvCxnSpPr>
        <p:spPr>
          <a:xfrm>
            <a:off x="8168208" y="4141024"/>
            <a:ext cx="1656000" cy="756000"/>
          </a:xfrm>
          <a:prstGeom prst="straightConnector1">
            <a:avLst/>
          </a:prstGeom>
          <a:ln w="38100">
            <a:solidFill>
              <a:srgbClr val="E42600"/>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71" name="直線矢印コネクタ 70">
            <a:extLst>
              <a:ext uri="{FF2B5EF4-FFF2-40B4-BE49-F238E27FC236}">
                <a16:creationId xmlns:a16="http://schemas.microsoft.com/office/drawing/2014/main" id="{2246C2A2-BF46-CDD1-CD87-6653D24BE3D5}"/>
              </a:ext>
            </a:extLst>
          </p:cNvPr>
          <p:cNvCxnSpPr>
            <a:cxnSpLocks/>
          </p:cNvCxnSpPr>
          <p:nvPr/>
        </p:nvCxnSpPr>
        <p:spPr>
          <a:xfrm flipH="1" flipV="1">
            <a:off x="8173509" y="4231437"/>
            <a:ext cx="1656000" cy="756000"/>
          </a:xfrm>
          <a:prstGeom prst="straightConnector1">
            <a:avLst/>
          </a:prstGeom>
          <a:ln w="28575">
            <a:solidFill>
              <a:schemeClr val="tx2"/>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74" name="吹き出し: 角を丸めた四角形 73">
            <a:extLst>
              <a:ext uri="{FF2B5EF4-FFF2-40B4-BE49-F238E27FC236}">
                <a16:creationId xmlns:a16="http://schemas.microsoft.com/office/drawing/2014/main" id="{FE933A45-4FA9-4802-79CA-A0EA5EE3D807}"/>
              </a:ext>
            </a:extLst>
          </p:cNvPr>
          <p:cNvSpPr/>
          <p:nvPr/>
        </p:nvSpPr>
        <p:spPr>
          <a:xfrm>
            <a:off x="6532161" y="5075631"/>
            <a:ext cx="3068276" cy="387710"/>
          </a:xfrm>
          <a:prstGeom prst="wedgeRoundRectCallout">
            <a:avLst>
              <a:gd name="adj1" fmla="val 30989"/>
              <a:gd name="adj2" fmla="val -88790"/>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288000"/>
            <a:r>
              <a:rPr kumimoji="1" lang="ja-JP" altLang="en-US" sz="1200" dirty="0">
                <a:solidFill>
                  <a:sysClr val="windowText" lastClr="000000"/>
                </a:solidFill>
                <a:latin typeface="+mn-ea"/>
              </a:rPr>
              <a:t>クラス</a:t>
            </a:r>
            <a:r>
              <a:rPr kumimoji="1" lang="en-US" altLang="ja-JP" sz="1200" dirty="0">
                <a:solidFill>
                  <a:sysClr val="windowText" lastClr="000000"/>
                </a:solidFill>
                <a:latin typeface="+mn-ea"/>
              </a:rPr>
              <a:t>B</a:t>
            </a:r>
            <a:r>
              <a:rPr kumimoji="1" lang="ja-JP" altLang="en-US" sz="1200" dirty="0">
                <a:solidFill>
                  <a:sysClr val="windowText" lastClr="000000"/>
                </a:solidFill>
                <a:latin typeface="+mn-ea"/>
              </a:rPr>
              <a:t>の呼出し（引数など）について検証</a:t>
            </a:r>
            <a:r>
              <a:rPr lang="ja-JP" altLang="en-US" sz="1200" dirty="0">
                <a:solidFill>
                  <a:sysClr val="windowText" lastClr="000000"/>
                </a:solidFill>
                <a:latin typeface="+mn-ea"/>
              </a:rPr>
              <a:t>する</a:t>
            </a:r>
            <a:endParaRPr kumimoji="1" lang="en-US" altLang="ja-JP" sz="1200" dirty="0">
              <a:solidFill>
                <a:sysClr val="windowText" lastClr="000000"/>
              </a:solidFill>
              <a:latin typeface="+mn-ea"/>
            </a:endParaRPr>
          </a:p>
        </p:txBody>
      </p:sp>
      <p:sp>
        <p:nvSpPr>
          <p:cNvPr id="5" name="テキスト ボックス 4">
            <a:extLst>
              <a:ext uri="{FF2B5EF4-FFF2-40B4-BE49-F238E27FC236}">
                <a16:creationId xmlns:a16="http://schemas.microsoft.com/office/drawing/2014/main" id="{05DE0270-0F20-A327-7A8E-2CCBE7A62431}"/>
              </a:ext>
            </a:extLst>
          </p:cNvPr>
          <p:cNvSpPr txBox="1"/>
          <p:nvPr/>
        </p:nvSpPr>
        <p:spPr>
          <a:xfrm>
            <a:off x="7656220" y="4613588"/>
            <a:ext cx="1668758" cy="304151"/>
          </a:xfrm>
          <a:prstGeom prst="rect">
            <a:avLst/>
          </a:prstGeom>
          <a:noFill/>
        </p:spPr>
        <p:txBody>
          <a:bodyPr wrap="square" lIns="0" rIns="0" rtlCol="0">
            <a:noAutofit/>
          </a:bodyPr>
          <a:lstStyle/>
          <a:p>
            <a:pPr algn="ctr" defTabSz="288000"/>
            <a:r>
              <a:rPr lang="ja-JP" altLang="en-US" sz="1200" dirty="0">
                <a:latin typeface="+mn-ea"/>
              </a:rPr>
              <a:t>クラス</a:t>
            </a:r>
            <a:r>
              <a:rPr lang="en-US" altLang="ja-JP" sz="1200" dirty="0">
                <a:latin typeface="+mn-ea"/>
              </a:rPr>
              <a:t>B</a:t>
            </a:r>
            <a:r>
              <a:rPr lang="ja-JP" altLang="en-US" sz="1200" dirty="0">
                <a:latin typeface="+mn-ea"/>
              </a:rPr>
              <a:t>からの戻り値</a:t>
            </a:r>
            <a:endParaRPr kumimoji="1" lang="ja-JP" altLang="en-US" sz="1200" dirty="0">
              <a:latin typeface="+mn-ea"/>
            </a:endParaRPr>
          </a:p>
        </p:txBody>
      </p:sp>
      <p:sp>
        <p:nvSpPr>
          <p:cNvPr id="7" name="テキスト ボックス 6">
            <a:extLst>
              <a:ext uri="{FF2B5EF4-FFF2-40B4-BE49-F238E27FC236}">
                <a16:creationId xmlns:a16="http://schemas.microsoft.com/office/drawing/2014/main" id="{9A466226-D9E0-B1C2-6BC1-580C625DC58D}"/>
              </a:ext>
            </a:extLst>
          </p:cNvPr>
          <p:cNvSpPr txBox="1"/>
          <p:nvPr/>
        </p:nvSpPr>
        <p:spPr>
          <a:xfrm>
            <a:off x="3266751" y="4320646"/>
            <a:ext cx="1150645" cy="304151"/>
          </a:xfrm>
          <a:prstGeom prst="rect">
            <a:avLst/>
          </a:prstGeom>
          <a:noFill/>
        </p:spPr>
        <p:txBody>
          <a:bodyPr wrap="square" lIns="0" rIns="0" rtlCol="0">
            <a:noAutofit/>
          </a:bodyPr>
          <a:lstStyle/>
          <a:p>
            <a:pPr algn="l" defTabSz="288000"/>
            <a:r>
              <a:rPr kumimoji="1" lang="ja-JP" altLang="en-US" sz="1200" dirty="0">
                <a:latin typeface="+mn-ea"/>
              </a:rPr>
              <a:t>クラス</a:t>
            </a:r>
            <a:r>
              <a:rPr kumimoji="1" lang="en-US" altLang="ja-JP" sz="1200" dirty="0">
                <a:latin typeface="+mn-ea"/>
              </a:rPr>
              <a:t>B</a:t>
            </a:r>
            <a:r>
              <a:rPr lang="ja-JP" altLang="en-US" sz="1200" dirty="0">
                <a:latin typeface="+mn-ea"/>
              </a:rPr>
              <a:t>の呼出し</a:t>
            </a:r>
            <a:endParaRPr kumimoji="1" lang="ja-JP" altLang="en-US" sz="1200" b="1" dirty="0">
              <a:latin typeface="+mn-ea"/>
            </a:endParaRPr>
          </a:p>
        </p:txBody>
      </p:sp>
      <p:sp>
        <p:nvSpPr>
          <p:cNvPr id="8" name="吹き出し: 角を丸めた四角形 7">
            <a:extLst>
              <a:ext uri="{FF2B5EF4-FFF2-40B4-BE49-F238E27FC236}">
                <a16:creationId xmlns:a16="http://schemas.microsoft.com/office/drawing/2014/main" id="{AE4F96C0-D34C-E81D-8EA2-F3F9B46BB11D}"/>
              </a:ext>
            </a:extLst>
          </p:cNvPr>
          <p:cNvSpPr/>
          <p:nvPr/>
        </p:nvSpPr>
        <p:spPr>
          <a:xfrm>
            <a:off x="7528146" y="764951"/>
            <a:ext cx="3641504" cy="303989"/>
          </a:xfrm>
          <a:prstGeom prst="wedgeRoundRectCallout">
            <a:avLst>
              <a:gd name="adj1" fmla="val -72261"/>
              <a:gd name="adj2" fmla="val 38143"/>
              <a:gd name="adj3" fmla="val 16667"/>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rPr>
              <a:t>「スタブ」という単語は</a:t>
            </a:r>
            <a:r>
              <a:rPr kumimoji="1" lang="en-US" altLang="ja-JP" sz="1100" dirty="0">
                <a:solidFill>
                  <a:schemeClr val="tx1"/>
                </a:solidFill>
              </a:rPr>
              <a:t>※</a:t>
            </a:r>
            <a:r>
              <a:rPr kumimoji="1" lang="ja-JP" altLang="en-US" sz="1100" dirty="0">
                <a:solidFill>
                  <a:schemeClr val="tx1"/>
                </a:solidFill>
              </a:rPr>
              <a:t>１と</a:t>
            </a:r>
            <a:r>
              <a:rPr kumimoji="1" lang="en-US" altLang="ja-JP" sz="1100" dirty="0">
                <a:solidFill>
                  <a:schemeClr val="tx1"/>
                </a:solidFill>
              </a:rPr>
              <a:t>※</a:t>
            </a:r>
            <a:r>
              <a:rPr kumimoji="1" lang="ja-JP" altLang="en-US" sz="1100" dirty="0">
                <a:solidFill>
                  <a:schemeClr val="tx1"/>
                </a:solidFill>
              </a:rPr>
              <a:t>２で、別の意味をもつ</a:t>
            </a:r>
          </a:p>
        </p:txBody>
      </p:sp>
      <p:sp>
        <p:nvSpPr>
          <p:cNvPr id="4" name="吹き出し: 角を丸めた四角形 3">
            <a:extLst>
              <a:ext uri="{FF2B5EF4-FFF2-40B4-BE49-F238E27FC236}">
                <a16:creationId xmlns:a16="http://schemas.microsoft.com/office/drawing/2014/main" id="{4A15F08C-BB1F-444D-2FCC-F243F2E11B85}"/>
              </a:ext>
            </a:extLst>
          </p:cNvPr>
          <p:cNvSpPr/>
          <p:nvPr/>
        </p:nvSpPr>
        <p:spPr>
          <a:xfrm>
            <a:off x="8909313" y="1369216"/>
            <a:ext cx="3169176" cy="620078"/>
          </a:xfrm>
          <a:prstGeom prst="wedgeRoundRectCallout">
            <a:avLst>
              <a:gd name="adj1" fmla="val -30915"/>
              <a:gd name="adj2" fmla="val 71110"/>
              <a:gd name="adj3" fmla="val 16667"/>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rPr>
              <a:t>テスト用のモックライブラリ（</a:t>
            </a:r>
            <a:r>
              <a:rPr kumimoji="1" lang="en-US" altLang="ja-JP" sz="1100" dirty="0">
                <a:solidFill>
                  <a:schemeClr val="tx1"/>
                </a:solidFill>
              </a:rPr>
              <a:t>Mockito</a:t>
            </a:r>
            <a:r>
              <a:rPr kumimoji="1" lang="ja-JP" altLang="en-US" sz="1100" dirty="0">
                <a:solidFill>
                  <a:schemeClr val="tx1"/>
                </a:solidFill>
              </a:rPr>
              <a:t>など）の多くは、</a:t>
            </a:r>
          </a:p>
          <a:p>
            <a:pPr algn="ctr"/>
            <a:r>
              <a:rPr kumimoji="1" lang="ja-JP" altLang="en-US" sz="1100" dirty="0">
                <a:solidFill>
                  <a:schemeClr val="tx1"/>
                </a:solidFill>
              </a:rPr>
              <a:t>スタブ</a:t>
            </a:r>
            <a:r>
              <a:rPr kumimoji="1" lang="en-US" altLang="ja-JP" sz="1100" dirty="0">
                <a:solidFill>
                  <a:schemeClr val="tx1"/>
                </a:solidFill>
              </a:rPr>
              <a:t>/</a:t>
            </a:r>
            <a:r>
              <a:rPr kumimoji="1" lang="ja-JP" altLang="en-US" sz="1100" dirty="0">
                <a:solidFill>
                  <a:schemeClr val="tx1"/>
                </a:solidFill>
              </a:rPr>
              <a:t>モックの両方の機能を持っている</a:t>
            </a:r>
            <a:endParaRPr kumimoji="1" lang="en-US" altLang="ja-JP" sz="1100" dirty="0">
              <a:solidFill>
                <a:schemeClr val="tx1"/>
              </a:solidFill>
            </a:endParaRPr>
          </a:p>
        </p:txBody>
      </p:sp>
    </p:spTree>
    <p:extLst>
      <p:ext uri="{BB962C8B-B14F-4D97-AF65-F5344CB8AC3E}">
        <p14:creationId xmlns:p14="http://schemas.microsoft.com/office/powerpoint/2010/main" val="5506481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9A55-1B70-164E-ACEA-13A79D99A2A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C57ECD3-E0C4-D317-00D6-9F3EAF0C1818}"/>
              </a:ext>
            </a:extLst>
          </p:cNvPr>
          <p:cNvSpPr/>
          <p:nvPr/>
        </p:nvSpPr>
        <p:spPr>
          <a:xfrm>
            <a:off x="803503" y="1938842"/>
            <a:ext cx="9000000" cy="90000"/>
          </a:xfrm>
          <a:prstGeom prst="rect">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1799F6EF-574C-547D-5515-661C7CEBC03C}"/>
              </a:ext>
            </a:extLst>
          </p:cNvPr>
          <p:cNvSpPr>
            <a:spLocks noGrp="1"/>
          </p:cNvSpPr>
          <p:nvPr>
            <p:ph type="title"/>
          </p:nvPr>
        </p:nvSpPr>
        <p:spPr/>
        <p:txBody>
          <a:bodyPr/>
          <a:lstStyle/>
          <a:p>
            <a:r>
              <a:rPr kumimoji="1" lang="ja-JP" altLang="en-US" dirty="0"/>
              <a:t>目次</a:t>
            </a:r>
            <a:r>
              <a:rPr lang="ja-JP" altLang="en-US" dirty="0"/>
              <a:t>　</a:t>
            </a:r>
            <a:r>
              <a:rPr lang="en-US" altLang="ja-JP" dirty="0"/>
              <a:t>※</a:t>
            </a:r>
            <a:r>
              <a:rPr lang="ja-JP" altLang="en-US" dirty="0"/>
              <a:t>再掲</a:t>
            </a:r>
            <a:endParaRPr kumimoji="1" lang="ja-JP" altLang="en-US" dirty="0"/>
          </a:p>
        </p:txBody>
      </p:sp>
      <p:sp>
        <p:nvSpPr>
          <p:cNvPr id="10" name="テキスト ボックス 9">
            <a:extLst>
              <a:ext uri="{FF2B5EF4-FFF2-40B4-BE49-F238E27FC236}">
                <a16:creationId xmlns:a16="http://schemas.microsoft.com/office/drawing/2014/main" id="{EE903492-DC07-CF66-9CFF-346AA5496ED8}"/>
              </a:ext>
            </a:extLst>
          </p:cNvPr>
          <p:cNvSpPr txBox="1"/>
          <p:nvPr/>
        </p:nvSpPr>
        <p:spPr>
          <a:xfrm>
            <a:off x="803503" y="1315875"/>
            <a:ext cx="710292" cy="712967"/>
          </a:xfrm>
          <a:prstGeom prst="rect">
            <a:avLst/>
          </a:prstGeom>
          <a:solidFill>
            <a:schemeClr val="bg1">
              <a:lumMod val="75000"/>
            </a:schemeClr>
          </a:solidFill>
        </p:spPr>
        <p:txBody>
          <a:bodyPr wrap="square" lIns="0" rIns="0" rtlCol="0" anchor="ctr">
            <a:noAutofit/>
          </a:bodyPr>
          <a:lstStyle/>
          <a:p>
            <a:pPr algn="ctr" defTabSz="288000"/>
            <a:r>
              <a:rPr kumimoji="1" lang="en-US" altLang="ja-JP" sz="3600" b="1" dirty="0">
                <a:solidFill>
                  <a:schemeClr val="bg1"/>
                </a:solidFill>
                <a:latin typeface="+mn-ea"/>
              </a:rPr>
              <a:t>1</a:t>
            </a:r>
            <a:endParaRPr kumimoji="1" lang="ja-JP" altLang="en-US" sz="3600" b="1" dirty="0">
              <a:solidFill>
                <a:schemeClr val="bg1"/>
              </a:solidFill>
              <a:latin typeface="+mn-ea"/>
            </a:endParaRPr>
          </a:p>
        </p:txBody>
      </p:sp>
      <p:sp>
        <p:nvSpPr>
          <p:cNvPr id="12" name="コンテンツ プレースホルダー 2">
            <a:extLst>
              <a:ext uri="{FF2B5EF4-FFF2-40B4-BE49-F238E27FC236}">
                <a16:creationId xmlns:a16="http://schemas.microsoft.com/office/drawing/2014/main" id="{6CD5BF11-9B2D-D4E7-60D6-AC127A1EA7EF}"/>
              </a:ext>
            </a:extLst>
          </p:cNvPr>
          <p:cNvSpPr txBox="1">
            <a:spLocks/>
          </p:cNvSpPr>
          <p:nvPr/>
        </p:nvSpPr>
        <p:spPr>
          <a:xfrm>
            <a:off x="1722664" y="1431995"/>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800" b="1" dirty="0">
                <a:solidFill>
                  <a:schemeClr val="bg1">
                    <a:lumMod val="75000"/>
                  </a:schemeClr>
                </a:solidFill>
              </a:rPr>
              <a:t>システム開発における</a:t>
            </a:r>
            <a:r>
              <a:rPr lang="en-US" altLang="ja-JP" sz="2800" b="1" dirty="0">
                <a:solidFill>
                  <a:schemeClr val="bg1">
                    <a:lumMod val="75000"/>
                  </a:schemeClr>
                </a:solidFill>
              </a:rPr>
              <a:t>“</a:t>
            </a:r>
            <a:r>
              <a:rPr lang="ja-JP" altLang="en-US" sz="2800" b="1" dirty="0">
                <a:solidFill>
                  <a:schemeClr val="bg1">
                    <a:lumMod val="75000"/>
                  </a:schemeClr>
                </a:solidFill>
              </a:rPr>
              <a:t>テスト</a:t>
            </a:r>
            <a:r>
              <a:rPr lang="en-US" altLang="ja-JP" sz="2800" b="1" dirty="0">
                <a:solidFill>
                  <a:schemeClr val="bg1">
                    <a:lumMod val="75000"/>
                  </a:schemeClr>
                </a:solidFill>
              </a:rPr>
              <a:t>”</a:t>
            </a:r>
          </a:p>
        </p:txBody>
      </p:sp>
      <p:sp>
        <p:nvSpPr>
          <p:cNvPr id="4" name="テキスト ボックス 3">
            <a:extLst>
              <a:ext uri="{FF2B5EF4-FFF2-40B4-BE49-F238E27FC236}">
                <a16:creationId xmlns:a16="http://schemas.microsoft.com/office/drawing/2014/main" id="{9819602B-5B4E-D366-BC77-B4BAF600F2B8}"/>
              </a:ext>
            </a:extLst>
          </p:cNvPr>
          <p:cNvSpPr txBox="1"/>
          <p:nvPr/>
        </p:nvSpPr>
        <p:spPr>
          <a:xfrm>
            <a:off x="1577984" y="2071280"/>
            <a:ext cx="1026422" cy="439512"/>
          </a:xfrm>
          <a:prstGeom prst="rect">
            <a:avLst/>
          </a:prstGeom>
          <a:noFill/>
        </p:spPr>
        <p:txBody>
          <a:bodyPr wrap="square" lIns="0" rIns="0" rtlCol="0" anchor="ctr">
            <a:noAutofit/>
          </a:bodyPr>
          <a:lstStyle/>
          <a:p>
            <a:pPr algn="ctr" defTabSz="288000"/>
            <a:r>
              <a:rPr lang="en-US" altLang="ja-JP" sz="2400" b="1" dirty="0">
                <a:solidFill>
                  <a:schemeClr val="bg1">
                    <a:lumMod val="75000"/>
                  </a:schemeClr>
                </a:solidFill>
                <a:latin typeface="+mn-ea"/>
              </a:rPr>
              <a:t>1-1</a:t>
            </a:r>
            <a:endParaRPr kumimoji="1" lang="ja-JP" altLang="en-US" sz="2400" b="1" dirty="0">
              <a:solidFill>
                <a:schemeClr val="bg1">
                  <a:lumMod val="75000"/>
                </a:schemeClr>
              </a:solidFill>
              <a:latin typeface="+mn-ea"/>
            </a:endParaRPr>
          </a:p>
        </p:txBody>
      </p:sp>
      <p:sp>
        <p:nvSpPr>
          <p:cNvPr id="5" name="コンテンツ プレースホルダー 2">
            <a:extLst>
              <a:ext uri="{FF2B5EF4-FFF2-40B4-BE49-F238E27FC236}">
                <a16:creationId xmlns:a16="http://schemas.microsoft.com/office/drawing/2014/main" id="{A3DC7D2C-898D-5D3A-00C5-C7D4A9286AE0}"/>
              </a:ext>
            </a:extLst>
          </p:cNvPr>
          <p:cNvSpPr txBox="1">
            <a:spLocks/>
          </p:cNvSpPr>
          <p:nvPr/>
        </p:nvSpPr>
        <p:spPr>
          <a:xfrm>
            <a:off x="2604406" y="2018454"/>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bg1">
                    <a:lumMod val="75000"/>
                  </a:schemeClr>
                </a:solidFill>
              </a:rPr>
              <a:t>テストとは</a:t>
            </a:r>
            <a:endParaRPr lang="en-US" altLang="ja-JP" sz="2000" b="1" dirty="0">
              <a:solidFill>
                <a:schemeClr val="bg1">
                  <a:lumMod val="75000"/>
                </a:schemeClr>
              </a:solidFill>
            </a:endParaRPr>
          </a:p>
        </p:txBody>
      </p:sp>
      <p:sp>
        <p:nvSpPr>
          <p:cNvPr id="11" name="正方形/長方形 10">
            <a:extLst>
              <a:ext uri="{FF2B5EF4-FFF2-40B4-BE49-F238E27FC236}">
                <a16:creationId xmlns:a16="http://schemas.microsoft.com/office/drawing/2014/main" id="{869DBD10-1A02-35B2-C003-FCEC2A4470E9}"/>
              </a:ext>
            </a:extLst>
          </p:cNvPr>
          <p:cNvSpPr/>
          <p:nvPr/>
        </p:nvSpPr>
        <p:spPr>
          <a:xfrm>
            <a:off x="804184" y="4137865"/>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3" name="テキスト ボックス 12">
            <a:extLst>
              <a:ext uri="{FF2B5EF4-FFF2-40B4-BE49-F238E27FC236}">
                <a16:creationId xmlns:a16="http://schemas.microsoft.com/office/drawing/2014/main" id="{A13FA053-B09E-6036-235C-46F3BBE7322E}"/>
              </a:ext>
            </a:extLst>
          </p:cNvPr>
          <p:cNvSpPr txBox="1"/>
          <p:nvPr/>
        </p:nvSpPr>
        <p:spPr>
          <a:xfrm>
            <a:off x="804184" y="3514898"/>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dirty="0">
                <a:solidFill>
                  <a:schemeClr val="bg1"/>
                </a:solidFill>
                <a:latin typeface="+mn-ea"/>
              </a:rPr>
              <a:t>2</a:t>
            </a:r>
            <a:endParaRPr kumimoji="1" lang="ja-JP" altLang="en-US" sz="3600" b="1" dirty="0">
              <a:solidFill>
                <a:schemeClr val="bg1"/>
              </a:solidFill>
              <a:latin typeface="+mn-ea"/>
            </a:endParaRPr>
          </a:p>
        </p:txBody>
      </p:sp>
      <p:sp>
        <p:nvSpPr>
          <p:cNvPr id="14" name="コンテンツ プレースホルダー 2">
            <a:extLst>
              <a:ext uri="{FF2B5EF4-FFF2-40B4-BE49-F238E27FC236}">
                <a16:creationId xmlns:a16="http://schemas.microsoft.com/office/drawing/2014/main" id="{E88E8B74-E5F8-5F74-417F-72CCE342E1BF}"/>
              </a:ext>
            </a:extLst>
          </p:cNvPr>
          <p:cNvSpPr txBox="1">
            <a:spLocks/>
          </p:cNvSpPr>
          <p:nvPr/>
        </p:nvSpPr>
        <p:spPr>
          <a:xfrm>
            <a:off x="1723345" y="3631018"/>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800" b="1" dirty="0">
                <a:solidFill>
                  <a:schemeClr val="tx1"/>
                </a:solidFill>
              </a:rPr>
              <a:t>単体テスト</a:t>
            </a:r>
            <a:endParaRPr lang="en-US" altLang="ja-JP" sz="2800" b="1" dirty="0">
              <a:solidFill>
                <a:schemeClr val="tx1"/>
              </a:solidFill>
            </a:endParaRPr>
          </a:p>
        </p:txBody>
      </p:sp>
      <p:sp>
        <p:nvSpPr>
          <p:cNvPr id="23" name="テキスト ボックス 22">
            <a:extLst>
              <a:ext uri="{FF2B5EF4-FFF2-40B4-BE49-F238E27FC236}">
                <a16:creationId xmlns:a16="http://schemas.microsoft.com/office/drawing/2014/main" id="{7CDD0F36-8213-E975-9C0F-588A71A805F8}"/>
              </a:ext>
            </a:extLst>
          </p:cNvPr>
          <p:cNvSpPr txBox="1"/>
          <p:nvPr/>
        </p:nvSpPr>
        <p:spPr>
          <a:xfrm>
            <a:off x="1574817" y="4296143"/>
            <a:ext cx="1026422" cy="439512"/>
          </a:xfrm>
          <a:prstGeom prst="rect">
            <a:avLst/>
          </a:prstGeom>
          <a:noFill/>
        </p:spPr>
        <p:txBody>
          <a:bodyPr wrap="square" lIns="0" rIns="0" rtlCol="0" anchor="ctr">
            <a:noAutofit/>
          </a:bodyPr>
          <a:lstStyle/>
          <a:p>
            <a:pPr algn="ctr" defTabSz="288000"/>
            <a:r>
              <a:rPr lang="en-US" altLang="ja-JP" sz="2400" b="1" dirty="0">
                <a:solidFill>
                  <a:schemeClr val="bg1">
                    <a:lumMod val="75000"/>
                  </a:schemeClr>
                </a:solidFill>
                <a:latin typeface="+mn-ea"/>
              </a:rPr>
              <a:t>2-1</a:t>
            </a:r>
            <a:endParaRPr kumimoji="1" lang="ja-JP" altLang="en-US" sz="2400" b="1" dirty="0">
              <a:solidFill>
                <a:schemeClr val="bg1">
                  <a:lumMod val="75000"/>
                </a:schemeClr>
              </a:solidFill>
              <a:latin typeface="+mn-ea"/>
            </a:endParaRPr>
          </a:p>
        </p:txBody>
      </p:sp>
      <p:sp>
        <p:nvSpPr>
          <p:cNvPr id="24" name="コンテンツ プレースホルダー 2">
            <a:extLst>
              <a:ext uri="{FF2B5EF4-FFF2-40B4-BE49-F238E27FC236}">
                <a16:creationId xmlns:a16="http://schemas.microsoft.com/office/drawing/2014/main" id="{0B6FBBFB-FFE7-0E48-9294-1E1E26CC39EC}"/>
              </a:ext>
            </a:extLst>
          </p:cNvPr>
          <p:cNvSpPr txBox="1">
            <a:spLocks/>
          </p:cNvSpPr>
          <p:nvPr/>
        </p:nvSpPr>
        <p:spPr>
          <a:xfrm>
            <a:off x="2601239" y="4243317"/>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bg1">
                    <a:lumMod val="75000"/>
                  </a:schemeClr>
                </a:solidFill>
              </a:rPr>
              <a:t>単体テストとは</a:t>
            </a:r>
            <a:endParaRPr lang="en-US" altLang="ja-JP" sz="2000" b="1" dirty="0">
              <a:solidFill>
                <a:schemeClr val="bg1">
                  <a:lumMod val="75000"/>
                </a:schemeClr>
              </a:solidFill>
            </a:endParaRPr>
          </a:p>
        </p:txBody>
      </p:sp>
      <p:sp>
        <p:nvSpPr>
          <p:cNvPr id="25" name="テキスト ボックス 24">
            <a:extLst>
              <a:ext uri="{FF2B5EF4-FFF2-40B4-BE49-F238E27FC236}">
                <a16:creationId xmlns:a16="http://schemas.microsoft.com/office/drawing/2014/main" id="{E43D3DE6-CF39-0617-387A-0D5B4E423BC2}"/>
              </a:ext>
            </a:extLst>
          </p:cNvPr>
          <p:cNvSpPr txBox="1"/>
          <p:nvPr/>
        </p:nvSpPr>
        <p:spPr>
          <a:xfrm>
            <a:off x="1577984" y="4767733"/>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2-2</a:t>
            </a:r>
            <a:endParaRPr kumimoji="1" lang="ja-JP" altLang="en-US" sz="2400" b="1" dirty="0">
              <a:solidFill>
                <a:schemeClr val="accent2"/>
              </a:solidFill>
              <a:latin typeface="+mn-ea"/>
            </a:endParaRPr>
          </a:p>
        </p:txBody>
      </p:sp>
      <p:sp>
        <p:nvSpPr>
          <p:cNvPr id="26" name="コンテンツ プレースホルダー 2">
            <a:extLst>
              <a:ext uri="{FF2B5EF4-FFF2-40B4-BE49-F238E27FC236}">
                <a16:creationId xmlns:a16="http://schemas.microsoft.com/office/drawing/2014/main" id="{20B4F26B-21FB-6BBE-71C0-EB5A58E7BC5E}"/>
              </a:ext>
            </a:extLst>
          </p:cNvPr>
          <p:cNvSpPr txBox="1">
            <a:spLocks/>
          </p:cNvSpPr>
          <p:nvPr/>
        </p:nvSpPr>
        <p:spPr>
          <a:xfrm>
            <a:off x="2604406" y="4706517"/>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dirty="0">
                <a:solidFill>
                  <a:schemeClr val="tx1"/>
                </a:solidFill>
              </a:rPr>
              <a:t>JUnit</a:t>
            </a:r>
          </a:p>
        </p:txBody>
      </p:sp>
      <p:pic>
        <p:nvPicPr>
          <p:cNvPr id="3" name="グラフィックス 2" descr="バッジ: チェックマーク 1 単色塗りつぶし">
            <a:extLst>
              <a:ext uri="{FF2B5EF4-FFF2-40B4-BE49-F238E27FC236}">
                <a16:creationId xmlns:a16="http://schemas.microsoft.com/office/drawing/2014/main" id="{2A11E325-B504-BC4E-53E7-DB3A46B2646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95017" y="2057036"/>
            <a:ext cx="468000" cy="468000"/>
          </a:xfrm>
          <a:prstGeom prst="rect">
            <a:avLst/>
          </a:prstGeom>
        </p:spPr>
      </p:pic>
      <p:sp>
        <p:nvSpPr>
          <p:cNvPr id="7" name="正方形/長方形 6">
            <a:extLst>
              <a:ext uri="{FF2B5EF4-FFF2-40B4-BE49-F238E27FC236}">
                <a16:creationId xmlns:a16="http://schemas.microsoft.com/office/drawing/2014/main" id="{7CA62051-D5A8-FF97-6E6A-1AA93CFCE6D3}"/>
              </a:ext>
            </a:extLst>
          </p:cNvPr>
          <p:cNvSpPr/>
          <p:nvPr/>
        </p:nvSpPr>
        <p:spPr>
          <a:xfrm>
            <a:off x="1546834" y="4735654"/>
            <a:ext cx="8256669" cy="471591"/>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8" name="グラフィックス 7" descr="バッジ: チェックマーク 1 単色塗りつぶし">
            <a:extLst>
              <a:ext uri="{FF2B5EF4-FFF2-40B4-BE49-F238E27FC236}">
                <a16:creationId xmlns:a16="http://schemas.microsoft.com/office/drawing/2014/main" id="{81AE3E61-22E1-38F9-D148-8EC7498768D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45781" y="4279206"/>
            <a:ext cx="468000" cy="468000"/>
          </a:xfrm>
          <a:prstGeom prst="rect">
            <a:avLst/>
          </a:prstGeom>
        </p:spPr>
      </p:pic>
    </p:spTree>
    <p:extLst>
      <p:ext uri="{BB962C8B-B14F-4D97-AF65-F5344CB8AC3E}">
        <p14:creationId xmlns:p14="http://schemas.microsoft.com/office/powerpoint/2010/main" val="8700028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08C54-663B-84F5-972C-74F27F7DBF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D201A9-98C3-7155-1E89-EE6EFD464B32}"/>
              </a:ext>
            </a:extLst>
          </p:cNvPr>
          <p:cNvSpPr>
            <a:spLocks noGrp="1"/>
          </p:cNvSpPr>
          <p:nvPr>
            <p:ph type="title"/>
          </p:nvPr>
        </p:nvSpPr>
        <p:spPr/>
        <p:txBody>
          <a:bodyPr anchor="ctr"/>
          <a:lstStyle/>
          <a:p>
            <a:r>
              <a:rPr lang="en-US" altLang="ja-JP" dirty="0"/>
              <a:t>JUnit</a:t>
            </a:r>
            <a:r>
              <a:rPr lang="ja-JP" altLang="en-US" dirty="0"/>
              <a:t>とは</a:t>
            </a:r>
            <a:endParaRPr kumimoji="1" lang="ja-JP" altLang="en-US" dirty="0"/>
          </a:p>
        </p:txBody>
      </p:sp>
      <p:sp>
        <p:nvSpPr>
          <p:cNvPr id="3" name="コンテンツ プレースホルダー 2">
            <a:extLst>
              <a:ext uri="{FF2B5EF4-FFF2-40B4-BE49-F238E27FC236}">
                <a16:creationId xmlns:a16="http://schemas.microsoft.com/office/drawing/2014/main" id="{D252367C-D3AE-1FB5-D531-CB5449348D84}"/>
              </a:ext>
            </a:extLst>
          </p:cNvPr>
          <p:cNvSpPr>
            <a:spLocks noGrp="1"/>
          </p:cNvSpPr>
          <p:nvPr>
            <p:ph sz="quarter" idx="4294967295"/>
          </p:nvPr>
        </p:nvSpPr>
        <p:spPr>
          <a:xfrm>
            <a:off x="371474" y="1038387"/>
            <a:ext cx="11448000" cy="1039156"/>
          </a:xfrm>
        </p:spPr>
        <p:txBody>
          <a:bodyPr/>
          <a:lstStyle/>
          <a:p>
            <a:r>
              <a:rPr lang="en-US" altLang="ja-JP" dirty="0"/>
              <a:t>Java</a:t>
            </a:r>
            <a:r>
              <a:rPr lang="ja-JP" altLang="en-US" dirty="0"/>
              <a:t>プログラミング言語向けの標準的なテストフレームワーク</a:t>
            </a:r>
            <a:endParaRPr lang="en-US" altLang="ja-JP" dirty="0"/>
          </a:p>
          <a:p>
            <a:r>
              <a:rPr lang="ja-JP" altLang="en-US" dirty="0"/>
              <a:t>フレームワークを用いたテストコードを書くことで、</a:t>
            </a:r>
            <a:r>
              <a:rPr lang="ja-JP" altLang="en-US" b="0" i="0" dirty="0">
                <a:solidFill>
                  <a:srgbClr val="333333"/>
                </a:solidFill>
                <a:effectLst/>
                <a:latin typeface="Helvetica Neue"/>
              </a:rPr>
              <a:t>繰り返し実行可能なテスト</a:t>
            </a:r>
            <a:r>
              <a:rPr lang="ja-JP" altLang="en-US" dirty="0"/>
              <a:t>を書くことが可能</a:t>
            </a:r>
            <a:endParaRPr lang="en-US" altLang="ja-JP" dirty="0"/>
          </a:p>
          <a:p>
            <a:r>
              <a:rPr lang="en-US" altLang="ja-JP" dirty="0">
                <a:hlinkClick r:id="rId2"/>
              </a:rPr>
              <a:t>http://junit.org/</a:t>
            </a:r>
            <a:endParaRPr lang="en-US" altLang="ja-JP" dirty="0"/>
          </a:p>
        </p:txBody>
      </p:sp>
      <p:pic>
        <p:nvPicPr>
          <p:cNvPr id="5" name="図 4" descr="ロゴ, 会社名&#10;&#10;AI によって生成されたコンテンツは間違っている可能性があります。">
            <a:extLst>
              <a:ext uri="{FF2B5EF4-FFF2-40B4-BE49-F238E27FC236}">
                <a16:creationId xmlns:a16="http://schemas.microsoft.com/office/drawing/2014/main" id="{929D17DD-247A-2BDD-CB0D-79FEAD6C0E48}"/>
              </a:ext>
            </a:extLst>
          </p:cNvPr>
          <p:cNvPicPr>
            <a:picLocks noChangeAspect="1"/>
          </p:cNvPicPr>
          <p:nvPr/>
        </p:nvPicPr>
        <p:blipFill>
          <a:blip r:embed="rId3"/>
          <a:stretch>
            <a:fillRect/>
          </a:stretch>
        </p:blipFill>
        <p:spPr>
          <a:xfrm>
            <a:off x="9913800" y="839007"/>
            <a:ext cx="1905000" cy="1428750"/>
          </a:xfrm>
          <a:prstGeom prst="rect">
            <a:avLst/>
          </a:prstGeom>
        </p:spPr>
      </p:pic>
      <p:grpSp>
        <p:nvGrpSpPr>
          <p:cNvPr id="9" name="グループ化 8">
            <a:extLst>
              <a:ext uri="{FF2B5EF4-FFF2-40B4-BE49-F238E27FC236}">
                <a16:creationId xmlns:a16="http://schemas.microsoft.com/office/drawing/2014/main" id="{66B47303-040B-6EFF-309A-2D913282B6A4}"/>
              </a:ext>
            </a:extLst>
          </p:cNvPr>
          <p:cNvGrpSpPr/>
          <p:nvPr/>
        </p:nvGrpSpPr>
        <p:grpSpPr>
          <a:xfrm>
            <a:off x="8649620" y="5853775"/>
            <a:ext cx="3024000" cy="485191"/>
            <a:chOff x="8518848" y="5210437"/>
            <a:chExt cx="3024000" cy="485191"/>
          </a:xfrm>
        </p:grpSpPr>
        <p:sp>
          <p:nvSpPr>
            <p:cNvPr id="6" name="吹き出し: 角を丸めた四角形 5">
              <a:extLst>
                <a:ext uri="{FF2B5EF4-FFF2-40B4-BE49-F238E27FC236}">
                  <a16:creationId xmlns:a16="http://schemas.microsoft.com/office/drawing/2014/main" id="{C7940DA1-736D-664F-FBCA-FB02D9D133FE}"/>
                </a:ext>
              </a:extLst>
            </p:cNvPr>
            <p:cNvSpPr/>
            <p:nvPr/>
          </p:nvSpPr>
          <p:spPr>
            <a:xfrm>
              <a:off x="8518848" y="5210437"/>
              <a:ext cx="3024000" cy="485191"/>
            </a:xfrm>
            <a:prstGeom prst="wedgeRoundRectCallout">
              <a:avLst>
                <a:gd name="adj1" fmla="val -57990"/>
                <a:gd name="adj2" fmla="val 33433"/>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en-US" altLang="ja-JP" sz="1400" dirty="0">
                  <a:solidFill>
                    <a:schemeClr val="tx1"/>
                  </a:solidFill>
                </a:rPr>
                <a:t>LLM</a:t>
              </a:r>
              <a:r>
                <a:rPr kumimoji="1" lang="ja-JP" altLang="en-US" sz="1400" dirty="0">
                  <a:solidFill>
                    <a:schemeClr val="tx1"/>
                  </a:solidFill>
                </a:rPr>
                <a:t>の出力もバージョンの確認が必要</a:t>
              </a:r>
            </a:p>
          </p:txBody>
        </p:sp>
        <p:pic>
          <p:nvPicPr>
            <p:cNvPr id="8" name="グラフィックス 7" descr="警告 単色塗りつぶし">
              <a:extLst>
                <a:ext uri="{FF2B5EF4-FFF2-40B4-BE49-F238E27FC236}">
                  <a16:creationId xmlns:a16="http://schemas.microsoft.com/office/drawing/2014/main" id="{989D9D77-A210-8696-B5DA-914CF5A907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7834" y="5318644"/>
              <a:ext cx="252000" cy="252000"/>
            </a:xfrm>
            <a:prstGeom prst="rect">
              <a:avLst/>
            </a:prstGeom>
          </p:spPr>
        </p:pic>
      </p:grpSp>
      <p:sp>
        <p:nvSpPr>
          <p:cNvPr id="13" name="コンテンツ プレースホルダー 2">
            <a:extLst>
              <a:ext uri="{FF2B5EF4-FFF2-40B4-BE49-F238E27FC236}">
                <a16:creationId xmlns:a16="http://schemas.microsoft.com/office/drawing/2014/main" id="{E038B4CE-25BE-41F8-029E-983E40E4CE29}"/>
              </a:ext>
            </a:extLst>
          </p:cNvPr>
          <p:cNvSpPr txBox="1">
            <a:spLocks/>
          </p:cNvSpPr>
          <p:nvPr/>
        </p:nvSpPr>
        <p:spPr>
          <a:xfrm>
            <a:off x="430507" y="5773582"/>
            <a:ext cx="11448000" cy="645578"/>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u="sng" dirty="0"/>
              <a:t>バージョン</a:t>
            </a:r>
            <a:endParaRPr lang="en-US" altLang="ja-JP" u="sng" dirty="0"/>
          </a:p>
          <a:p>
            <a:r>
              <a:rPr lang="ja-JP" altLang="en-US" dirty="0"/>
              <a:t>　　最新バージョンは</a:t>
            </a:r>
            <a:r>
              <a:rPr lang="en-US" altLang="ja-JP" dirty="0"/>
              <a:t>JUnit5</a:t>
            </a:r>
            <a:r>
              <a:rPr lang="ja-JP" altLang="en-US" dirty="0"/>
              <a:t>（だが、未だ</a:t>
            </a:r>
            <a:r>
              <a:rPr lang="en-US" altLang="ja-JP" dirty="0"/>
              <a:t>JUnit4</a:t>
            </a:r>
            <a:r>
              <a:rPr lang="ja-JP" altLang="en-US" dirty="0"/>
              <a:t>で書かれたシステムや技術記事も多い）</a:t>
            </a:r>
            <a:endParaRPr lang="en-US" altLang="ja-JP" dirty="0"/>
          </a:p>
        </p:txBody>
      </p:sp>
      <p:sp>
        <p:nvSpPr>
          <p:cNvPr id="14" name="Rectangle 3">
            <a:extLst>
              <a:ext uri="{FF2B5EF4-FFF2-40B4-BE49-F238E27FC236}">
                <a16:creationId xmlns:a16="http://schemas.microsoft.com/office/drawing/2014/main" id="{9DED457E-5068-9447-28DB-5CC3A36D3F68}"/>
              </a:ext>
            </a:extLst>
          </p:cNvPr>
          <p:cNvSpPr>
            <a:spLocks noChangeArrowheads="1"/>
          </p:cNvSpPr>
          <p:nvPr/>
        </p:nvSpPr>
        <p:spPr bwMode="auto">
          <a:xfrm>
            <a:off x="829910" y="2147208"/>
            <a:ext cx="5264890" cy="3416320"/>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900" b="0" i="0" u="none" strike="noStrike" cap="none" normalizeH="0" baseline="0" dirty="0">
                <a:ln>
                  <a:noFill/>
                </a:ln>
                <a:solidFill>
                  <a:srgbClr val="CF8E6D"/>
                </a:solidFill>
                <a:effectLst/>
                <a:latin typeface="Arial Unicode MS"/>
                <a:ea typeface="JetBrains Mono"/>
              </a:rPr>
              <a:t>package </a:t>
            </a:r>
            <a:r>
              <a:rPr kumimoji="0" lang="ja-JP" altLang="ja-JP" sz="900" b="0" i="0" u="none" strike="noStrike" cap="none" normalizeH="0" baseline="0" dirty="0">
                <a:ln>
                  <a:noFill/>
                </a:ln>
                <a:solidFill>
                  <a:srgbClr val="BCBEC4"/>
                </a:solidFill>
                <a:effectLst/>
                <a:latin typeface="Arial Unicode MS"/>
                <a:ea typeface="JetBrains Mono"/>
              </a:rPr>
              <a:t>com.example;</a:t>
            </a:r>
            <a:br>
              <a:rPr kumimoji="0" lang="ja-JP" altLang="ja-JP" sz="900" b="0" i="0" u="none" strike="noStrike" cap="none" normalizeH="0" baseline="0" dirty="0">
                <a:ln>
                  <a:noFill/>
                </a:ln>
                <a:solidFill>
                  <a:srgbClr val="BCBEC4"/>
                </a:solidFill>
                <a:effectLst/>
                <a:latin typeface="Arial Unicode MS"/>
                <a:ea typeface="JetBrains Mono"/>
              </a:rPr>
            </a:br>
            <a:br>
              <a:rPr kumimoji="0" lang="ja-JP" altLang="ja-JP" sz="900" b="0" i="0" u="none" strike="noStrike" cap="none" normalizeH="0" baseline="0" dirty="0">
                <a:ln>
                  <a:noFill/>
                </a:ln>
                <a:solidFill>
                  <a:srgbClr val="BCBEC4"/>
                </a:solidFill>
                <a:effectLst/>
                <a:latin typeface="Arial Unicode MS"/>
                <a:ea typeface="JetBrains Mono"/>
              </a:rPr>
            </a:br>
            <a:r>
              <a:rPr kumimoji="0" lang="ja-JP" altLang="ja-JP" sz="900" b="0" i="0" u="none" strike="noStrike" cap="none" normalizeH="0" baseline="0" dirty="0">
                <a:ln>
                  <a:noFill/>
                </a:ln>
                <a:solidFill>
                  <a:srgbClr val="CF8E6D"/>
                </a:solidFill>
                <a:effectLst/>
                <a:latin typeface="Arial Unicode MS"/>
                <a:ea typeface="JetBrains Mono"/>
              </a:rPr>
              <a:t>import static </a:t>
            </a:r>
            <a:r>
              <a:rPr kumimoji="0" lang="ja-JP" altLang="ja-JP" sz="900" b="0" i="0" u="none" strike="noStrike" cap="none" normalizeH="0" baseline="0" dirty="0">
                <a:ln>
                  <a:noFill/>
                </a:ln>
                <a:solidFill>
                  <a:srgbClr val="BCBEC4"/>
                </a:solidFill>
                <a:effectLst/>
                <a:latin typeface="Arial Unicode MS"/>
                <a:ea typeface="JetBrains Mono"/>
              </a:rPr>
              <a:t>org.junit.jupiter.api.Assertions.*;</a:t>
            </a:r>
            <a:br>
              <a:rPr kumimoji="0" lang="ja-JP" altLang="ja-JP" sz="900" b="0" i="0" u="none" strike="noStrike" cap="none" normalizeH="0" baseline="0" dirty="0">
                <a:ln>
                  <a:noFill/>
                </a:ln>
                <a:solidFill>
                  <a:srgbClr val="BCBEC4"/>
                </a:solidFill>
                <a:effectLst/>
                <a:latin typeface="Arial Unicode MS"/>
                <a:ea typeface="JetBrains Mono"/>
              </a:rPr>
            </a:br>
            <a:r>
              <a:rPr kumimoji="0" lang="ja-JP" altLang="ja-JP" sz="900" b="0" i="0" u="none" strike="noStrike" cap="none" normalizeH="0" baseline="0" dirty="0">
                <a:ln>
                  <a:noFill/>
                </a:ln>
                <a:solidFill>
                  <a:srgbClr val="CF8E6D"/>
                </a:solidFill>
                <a:effectLst/>
                <a:latin typeface="Arial Unicode MS"/>
                <a:ea typeface="JetBrains Mono"/>
              </a:rPr>
              <a:t>import </a:t>
            </a:r>
            <a:r>
              <a:rPr kumimoji="0" lang="ja-JP" altLang="ja-JP" sz="900" b="0" i="0" u="none" strike="noStrike" cap="none" normalizeH="0" baseline="0" dirty="0">
                <a:ln>
                  <a:noFill/>
                </a:ln>
                <a:solidFill>
                  <a:srgbClr val="BCBEC4"/>
                </a:solidFill>
                <a:effectLst/>
                <a:latin typeface="Arial Unicode MS"/>
                <a:ea typeface="JetBrains Mono"/>
              </a:rPr>
              <a:t>java.time.LocalDate;</a:t>
            </a:r>
            <a:br>
              <a:rPr kumimoji="0" lang="ja-JP" altLang="ja-JP" sz="900" b="0" i="0" u="none" strike="noStrike" cap="none" normalizeH="0" baseline="0" dirty="0">
                <a:ln>
                  <a:noFill/>
                </a:ln>
                <a:solidFill>
                  <a:srgbClr val="BCBEC4"/>
                </a:solidFill>
                <a:effectLst/>
                <a:latin typeface="Arial Unicode MS"/>
                <a:ea typeface="JetBrains Mono"/>
              </a:rPr>
            </a:br>
            <a:r>
              <a:rPr kumimoji="0" lang="ja-JP" altLang="ja-JP" sz="900" b="0" i="0" u="none" strike="noStrike" cap="none" normalizeH="0" baseline="0" dirty="0">
                <a:ln>
                  <a:noFill/>
                </a:ln>
                <a:solidFill>
                  <a:srgbClr val="CF8E6D"/>
                </a:solidFill>
                <a:effectLst/>
                <a:latin typeface="Arial Unicode MS"/>
                <a:ea typeface="JetBrains Mono"/>
              </a:rPr>
              <a:t>import </a:t>
            </a:r>
            <a:r>
              <a:rPr kumimoji="0" lang="ja-JP" altLang="ja-JP" sz="900" b="0" i="0" u="none" strike="noStrike" cap="none" normalizeH="0" baseline="0" dirty="0">
                <a:ln>
                  <a:noFill/>
                </a:ln>
                <a:solidFill>
                  <a:srgbClr val="BCBEC4"/>
                </a:solidFill>
                <a:effectLst/>
                <a:latin typeface="Arial Unicode MS"/>
                <a:ea typeface="JetBrains Mono"/>
              </a:rPr>
              <a:t>org.junit.jupiter.api.</a:t>
            </a:r>
            <a:r>
              <a:rPr kumimoji="0" lang="ja-JP" altLang="ja-JP" sz="900" b="0" i="0" u="none" strike="noStrike" cap="none" normalizeH="0" baseline="0" dirty="0">
                <a:ln>
                  <a:noFill/>
                </a:ln>
                <a:solidFill>
                  <a:srgbClr val="B3AE60"/>
                </a:solidFill>
                <a:effectLst/>
                <a:latin typeface="Arial Unicode MS"/>
                <a:ea typeface="JetBrains Mono"/>
              </a:rPr>
              <a:t>BeforeEach</a:t>
            </a:r>
            <a:r>
              <a:rPr kumimoji="0" lang="ja-JP" altLang="ja-JP" sz="900" b="0" i="0" u="none" strike="noStrike" cap="none" normalizeH="0" baseline="0" dirty="0">
                <a:ln>
                  <a:noFill/>
                </a:ln>
                <a:solidFill>
                  <a:srgbClr val="BCBEC4"/>
                </a:solidFill>
                <a:effectLst/>
                <a:latin typeface="Arial Unicode MS"/>
                <a:ea typeface="JetBrains Mono"/>
              </a:rPr>
              <a:t>;</a:t>
            </a:r>
            <a:br>
              <a:rPr kumimoji="0" lang="ja-JP" altLang="ja-JP" sz="900" b="0" i="0" u="none" strike="noStrike" cap="none" normalizeH="0" baseline="0" dirty="0">
                <a:ln>
                  <a:noFill/>
                </a:ln>
                <a:solidFill>
                  <a:srgbClr val="BCBEC4"/>
                </a:solidFill>
                <a:effectLst/>
                <a:latin typeface="Arial Unicode MS"/>
                <a:ea typeface="JetBrains Mono"/>
              </a:rPr>
            </a:br>
            <a:r>
              <a:rPr kumimoji="0" lang="ja-JP" altLang="ja-JP" sz="900" b="0" i="0" u="none" strike="noStrike" cap="none" normalizeH="0" baseline="0" dirty="0">
                <a:ln>
                  <a:noFill/>
                </a:ln>
                <a:solidFill>
                  <a:srgbClr val="CF8E6D"/>
                </a:solidFill>
                <a:effectLst/>
                <a:latin typeface="Arial Unicode MS"/>
                <a:ea typeface="JetBrains Mono"/>
              </a:rPr>
              <a:t>import </a:t>
            </a:r>
            <a:r>
              <a:rPr kumimoji="0" lang="ja-JP" altLang="ja-JP" sz="900" b="0" i="0" u="none" strike="noStrike" cap="none" normalizeH="0" baseline="0" dirty="0">
                <a:ln>
                  <a:noFill/>
                </a:ln>
                <a:solidFill>
                  <a:srgbClr val="BCBEC4"/>
                </a:solidFill>
                <a:effectLst/>
                <a:latin typeface="Arial Unicode MS"/>
                <a:ea typeface="JetBrains Mono"/>
              </a:rPr>
              <a:t>org.junit.jupiter.api.</a:t>
            </a:r>
            <a:r>
              <a:rPr kumimoji="0" lang="ja-JP" altLang="ja-JP" sz="900" b="0" i="0" u="none" strike="noStrike" cap="none" normalizeH="0" baseline="0" dirty="0">
                <a:ln>
                  <a:noFill/>
                </a:ln>
                <a:solidFill>
                  <a:srgbClr val="B3AE60"/>
                </a:solidFill>
                <a:effectLst/>
                <a:latin typeface="Arial Unicode MS"/>
                <a:ea typeface="JetBrains Mono"/>
              </a:rPr>
              <a:t>Test</a:t>
            </a:r>
            <a:r>
              <a:rPr kumimoji="0" lang="ja-JP" altLang="ja-JP" sz="900" b="0" i="0" u="none" strike="noStrike" cap="none" normalizeH="0" baseline="0" dirty="0">
                <a:ln>
                  <a:noFill/>
                </a:ln>
                <a:solidFill>
                  <a:srgbClr val="BCBEC4"/>
                </a:solidFill>
                <a:effectLst/>
                <a:latin typeface="Arial Unicode MS"/>
                <a:ea typeface="JetBrains Mono"/>
              </a:rPr>
              <a:t>;</a:t>
            </a:r>
            <a:br>
              <a:rPr kumimoji="0" lang="ja-JP" altLang="ja-JP" sz="900" b="0" i="0" u="none" strike="noStrike" cap="none" normalizeH="0" baseline="0" dirty="0">
                <a:ln>
                  <a:noFill/>
                </a:ln>
                <a:solidFill>
                  <a:srgbClr val="BCBEC4"/>
                </a:solidFill>
                <a:effectLst/>
                <a:latin typeface="Arial Unicode MS"/>
                <a:ea typeface="JetBrains Mono"/>
              </a:rPr>
            </a:br>
            <a:br>
              <a:rPr kumimoji="0" lang="ja-JP" altLang="ja-JP" sz="900" b="0" i="0" u="none" strike="noStrike" cap="none" normalizeH="0" baseline="0" dirty="0">
                <a:ln>
                  <a:noFill/>
                </a:ln>
                <a:solidFill>
                  <a:srgbClr val="BCBEC4"/>
                </a:solidFill>
                <a:effectLst/>
                <a:latin typeface="Arial Unicode MS"/>
                <a:ea typeface="JetBrains Mono"/>
              </a:rPr>
            </a:br>
            <a:r>
              <a:rPr kumimoji="0" lang="ja-JP" altLang="ja-JP" sz="900" b="0" i="0" u="none" strike="noStrike" cap="none" normalizeH="0" baseline="0" dirty="0">
                <a:ln>
                  <a:noFill/>
                </a:ln>
                <a:solidFill>
                  <a:srgbClr val="CF8E6D"/>
                </a:solidFill>
                <a:effectLst/>
                <a:latin typeface="Arial Unicode MS"/>
                <a:ea typeface="JetBrains Mono"/>
              </a:rPr>
              <a:t>class </a:t>
            </a:r>
            <a:r>
              <a:rPr kumimoji="0" lang="ja-JP" altLang="ja-JP" sz="900" b="0" i="0" u="none" strike="noStrike" cap="none" normalizeH="0" baseline="0" dirty="0">
                <a:ln>
                  <a:noFill/>
                </a:ln>
                <a:solidFill>
                  <a:srgbClr val="BCBEC4"/>
                </a:solidFill>
                <a:effectLst/>
                <a:latin typeface="Arial Unicode MS"/>
                <a:ea typeface="JetBrains Mono"/>
              </a:rPr>
              <a:t>DaysUntilCalculatorTest </a:t>
            </a:r>
            <a:r>
              <a:rPr kumimoji="0" lang="ja-JP" altLang="ja-JP" sz="900" b="0" i="0" u="none" strike="noStrike" cap="none" normalizeH="0" baseline="0" dirty="0">
                <a:ln>
                  <a:noFill/>
                </a:ln>
                <a:solidFill>
                  <a:srgbClr val="E8BA36"/>
                </a:solidFill>
                <a:effectLst/>
                <a:latin typeface="Arial Unicode MS"/>
                <a:ea typeface="JetBrains Mono"/>
              </a:rPr>
              <a:t>{</a:t>
            </a:r>
            <a:br>
              <a:rPr kumimoji="0" lang="ja-JP" altLang="ja-JP" sz="900" b="0" i="0" u="none" strike="noStrike" cap="none" normalizeH="0" baseline="0" dirty="0">
                <a:ln>
                  <a:noFill/>
                </a:ln>
                <a:solidFill>
                  <a:srgbClr val="E8BA36"/>
                </a:solidFill>
                <a:effectLst/>
                <a:latin typeface="Arial Unicode MS"/>
                <a:ea typeface="JetBrains Mono"/>
              </a:rPr>
            </a:br>
            <a:br>
              <a:rPr kumimoji="0" lang="ja-JP" altLang="ja-JP" sz="900" b="0" i="0" u="none" strike="noStrike" cap="none" normalizeH="0" baseline="0" dirty="0">
                <a:ln>
                  <a:noFill/>
                </a:ln>
                <a:solidFill>
                  <a:srgbClr val="E8BA36"/>
                </a:solidFill>
                <a:effectLst/>
                <a:latin typeface="Arial Unicode MS"/>
                <a:ea typeface="JetBrains Mono"/>
              </a:rPr>
            </a:br>
            <a:r>
              <a:rPr kumimoji="0" lang="ja-JP" altLang="ja-JP" sz="900" b="0" i="0" u="none" strike="noStrike" cap="none" normalizeH="0" baseline="0" dirty="0">
                <a:ln>
                  <a:noFill/>
                </a:ln>
                <a:solidFill>
                  <a:srgbClr val="E8BA36"/>
                </a:solidFill>
                <a:effectLst/>
                <a:latin typeface="Arial Unicode MS"/>
                <a:ea typeface="JetBrains Mono"/>
              </a:rPr>
              <a:t>    </a:t>
            </a:r>
            <a:r>
              <a:rPr kumimoji="0" lang="ja-JP" altLang="ja-JP" sz="900" b="0" i="0" u="none" strike="noStrike" cap="none" normalizeH="0" baseline="0" dirty="0">
                <a:ln>
                  <a:noFill/>
                </a:ln>
                <a:solidFill>
                  <a:srgbClr val="CF8E6D"/>
                </a:solidFill>
                <a:effectLst/>
                <a:latin typeface="Arial Unicode MS"/>
                <a:ea typeface="JetBrains Mono"/>
              </a:rPr>
              <a:t>private </a:t>
            </a:r>
            <a:r>
              <a:rPr kumimoji="0" lang="ja-JP" altLang="ja-JP" sz="900" b="0" i="0" u="none" strike="noStrike" cap="none" normalizeH="0" baseline="0" dirty="0">
                <a:ln>
                  <a:noFill/>
                </a:ln>
                <a:solidFill>
                  <a:srgbClr val="BCBEC4"/>
                </a:solidFill>
                <a:effectLst/>
                <a:latin typeface="Arial Unicode MS"/>
                <a:ea typeface="JetBrains Mono"/>
              </a:rPr>
              <a:t>DaysUntilCalculator </a:t>
            </a:r>
            <a:r>
              <a:rPr kumimoji="0" lang="ja-JP" altLang="ja-JP" sz="900" b="0" i="0" u="none" strike="noStrike" cap="none" normalizeH="0" baseline="0" dirty="0">
                <a:ln>
                  <a:noFill/>
                </a:ln>
                <a:solidFill>
                  <a:srgbClr val="C77DBB"/>
                </a:solidFill>
                <a:effectLst/>
                <a:latin typeface="Arial Unicode MS"/>
                <a:ea typeface="JetBrains Mono"/>
              </a:rPr>
              <a:t>calculator</a:t>
            </a:r>
            <a:r>
              <a:rPr kumimoji="0" lang="ja-JP" altLang="ja-JP" sz="900" b="0" i="0" u="none" strike="noStrike" cap="none" normalizeH="0" baseline="0" dirty="0">
                <a:ln>
                  <a:noFill/>
                </a:ln>
                <a:solidFill>
                  <a:srgbClr val="BCBEC4"/>
                </a:solidFill>
                <a:effectLst/>
                <a:latin typeface="Arial Unicode MS"/>
                <a:ea typeface="JetBrains Mono"/>
              </a:rPr>
              <a:t>;</a:t>
            </a:r>
            <a:br>
              <a:rPr kumimoji="0" lang="ja-JP" altLang="ja-JP" sz="900" b="0" i="0" u="none" strike="noStrike" cap="none" normalizeH="0" baseline="0" dirty="0">
                <a:ln>
                  <a:noFill/>
                </a:ln>
                <a:solidFill>
                  <a:srgbClr val="BCBEC4"/>
                </a:solidFill>
                <a:effectLst/>
                <a:latin typeface="Arial Unicode MS"/>
                <a:ea typeface="JetBrains Mono"/>
              </a:rPr>
            </a:br>
            <a:br>
              <a:rPr kumimoji="0" lang="ja-JP" altLang="ja-JP" sz="900" b="0" i="0" u="none" strike="noStrike" cap="none" normalizeH="0" baseline="0" dirty="0">
                <a:ln>
                  <a:noFill/>
                </a:ln>
                <a:solidFill>
                  <a:srgbClr val="BCBEC4"/>
                </a:solidFill>
                <a:effectLst/>
                <a:latin typeface="Arial Unicode MS"/>
                <a:ea typeface="JetBrains Mono"/>
              </a:rPr>
            </a:br>
            <a:r>
              <a:rPr kumimoji="0" lang="ja-JP" altLang="ja-JP" sz="900" b="0" i="0" u="none" strike="noStrike" cap="none" normalizeH="0" baseline="0" dirty="0">
                <a:ln>
                  <a:noFill/>
                </a:ln>
                <a:solidFill>
                  <a:srgbClr val="BCBEC4"/>
                </a:solidFill>
                <a:effectLst/>
                <a:latin typeface="Arial Unicode MS"/>
                <a:ea typeface="JetBrains Mono"/>
              </a:rPr>
              <a:t>    </a:t>
            </a:r>
            <a:r>
              <a:rPr kumimoji="0" lang="ja-JP" altLang="ja-JP" sz="900" b="0" i="0" u="none" strike="noStrike" cap="none" normalizeH="0" baseline="0" dirty="0">
                <a:ln>
                  <a:noFill/>
                </a:ln>
                <a:solidFill>
                  <a:srgbClr val="B3AE60"/>
                </a:solidFill>
                <a:effectLst/>
                <a:latin typeface="Arial Unicode MS"/>
                <a:ea typeface="JetBrains Mono"/>
              </a:rPr>
              <a:t>@BeforeEach</a:t>
            </a:r>
            <a:br>
              <a:rPr kumimoji="0" lang="ja-JP" altLang="ja-JP" sz="900" b="0" i="0" u="none" strike="noStrike" cap="none" normalizeH="0" baseline="0" dirty="0">
                <a:ln>
                  <a:noFill/>
                </a:ln>
                <a:solidFill>
                  <a:srgbClr val="B3AE60"/>
                </a:solidFill>
                <a:effectLst/>
                <a:latin typeface="Arial Unicode MS"/>
                <a:ea typeface="JetBrains Mono"/>
              </a:rPr>
            </a:br>
            <a:r>
              <a:rPr kumimoji="0" lang="ja-JP" altLang="ja-JP" sz="900" b="0" i="0" u="none" strike="noStrike" cap="none" normalizeH="0" baseline="0" dirty="0">
                <a:ln>
                  <a:noFill/>
                </a:ln>
                <a:solidFill>
                  <a:srgbClr val="B3AE60"/>
                </a:solidFill>
                <a:effectLst/>
                <a:latin typeface="Arial Unicode MS"/>
                <a:ea typeface="JetBrains Mono"/>
              </a:rPr>
              <a:t>    </a:t>
            </a:r>
            <a:r>
              <a:rPr kumimoji="0" lang="ja-JP" altLang="ja-JP" sz="900" b="0" i="0" u="none" strike="noStrike" cap="none" normalizeH="0" baseline="0" dirty="0">
                <a:ln>
                  <a:noFill/>
                </a:ln>
                <a:solidFill>
                  <a:srgbClr val="CF8E6D"/>
                </a:solidFill>
                <a:effectLst/>
                <a:latin typeface="Arial Unicode MS"/>
                <a:ea typeface="JetBrains Mono"/>
              </a:rPr>
              <a:t>void </a:t>
            </a:r>
            <a:r>
              <a:rPr kumimoji="0" lang="ja-JP" altLang="ja-JP" sz="900" b="0" i="0" u="none" strike="noStrike" cap="none" normalizeH="0" baseline="0" dirty="0">
                <a:ln>
                  <a:noFill/>
                </a:ln>
                <a:solidFill>
                  <a:srgbClr val="56A8F5"/>
                </a:solidFill>
                <a:effectLst/>
                <a:latin typeface="Arial Unicode MS"/>
                <a:ea typeface="JetBrains Mono"/>
              </a:rPr>
              <a:t>setUp</a:t>
            </a:r>
            <a:r>
              <a:rPr kumimoji="0" lang="ja-JP" altLang="ja-JP" sz="900" b="0" i="0" u="none" strike="noStrike" cap="none" normalizeH="0" baseline="0" dirty="0">
                <a:ln>
                  <a:noFill/>
                </a:ln>
                <a:solidFill>
                  <a:srgbClr val="E8BA36"/>
                </a:solidFill>
                <a:effectLst/>
                <a:latin typeface="Arial Unicode MS"/>
                <a:ea typeface="JetBrains Mono"/>
              </a:rPr>
              <a:t>() </a:t>
            </a:r>
            <a:r>
              <a:rPr kumimoji="0" lang="ja-JP" altLang="ja-JP" sz="900" b="0" i="0" u="none" strike="noStrike" cap="none" normalizeH="0" baseline="0" dirty="0">
                <a:ln>
                  <a:noFill/>
                </a:ln>
                <a:solidFill>
                  <a:srgbClr val="54A857"/>
                </a:solidFill>
                <a:effectLst/>
                <a:latin typeface="Arial Unicode MS"/>
                <a:ea typeface="JetBrains Mono"/>
              </a:rPr>
              <a:t>{</a:t>
            </a:r>
            <a:endParaRPr kumimoji="0" lang="en-US" altLang="ja-JP" sz="900" dirty="0">
              <a:solidFill>
                <a:srgbClr val="54A857"/>
              </a:solidFill>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900" dirty="0">
                <a:solidFill>
                  <a:srgbClr val="54A857"/>
                </a:solidFill>
                <a:latin typeface="Arial Unicode MS"/>
                <a:ea typeface="JetBrains Mono"/>
              </a:rPr>
              <a:t>        </a:t>
            </a:r>
            <a:r>
              <a:rPr kumimoji="0" lang="ja-JP" altLang="ja-JP" sz="900" b="0" i="0" u="none" strike="noStrike" cap="none" normalizeH="0" baseline="0" dirty="0">
                <a:ln>
                  <a:noFill/>
                </a:ln>
                <a:solidFill>
                  <a:srgbClr val="C77DBB"/>
                </a:solidFill>
                <a:effectLst/>
                <a:latin typeface="Arial Unicode MS"/>
                <a:ea typeface="JetBrains Mono"/>
              </a:rPr>
              <a:t>calculator </a:t>
            </a:r>
            <a:r>
              <a:rPr kumimoji="0" lang="ja-JP" altLang="ja-JP" sz="900" b="0" i="0" u="none" strike="noStrike" cap="none" normalizeH="0" baseline="0" dirty="0">
                <a:ln>
                  <a:noFill/>
                </a:ln>
                <a:solidFill>
                  <a:srgbClr val="BCBEC4"/>
                </a:solidFill>
                <a:effectLst/>
                <a:latin typeface="Arial Unicode MS"/>
                <a:ea typeface="JetBrains Mono"/>
              </a:rPr>
              <a:t>= </a:t>
            </a:r>
            <a:r>
              <a:rPr kumimoji="0" lang="ja-JP" altLang="ja-JP" sz="900" b="0" i="0" u="none" strike="noStrike" cap="none" normalizeH="0" baseline="0" dirty="0">
                <a:ln>
                  <a:noFill/>
                </a:ln>
                <a:solidFill>
                  <a:srgbClr val="CF8E6D"/>
                </a:solidFill>
                <a:effectLst/>
                <a:latin typeface="Arial Unicode MS"/>
                <a:ea typeface="JetBrains Mono"/>
              </a:rPr>
              <a:t>new </a:t>
            </a:r>
            <a:r>
              <a:rPr kumimoji="0" lang="ja-JP" altLang="ja-JP" sz="900" b="0" i="0" u="none" strike="noStrike" cap="none" normalizeH="0" baseline="0" dirty="0">
                <a:ln>
                  <a:noFill/>
                </a:ln>
                <a:solidFill>
                  <a:srgbClr val="BCBEC4"/>
                </a:solidFill>
                <a:effectLst/>
                <a:latin typeface="Arial Unicode MS"/>
                <a:ea typeface="JetBrains Mono"/>
              </a:rPr>
              <a:t>DaysUntilCalculator</a:t>
            </a:r>
            <a:r>
              <a:rPr kumimoji="0" lang="ja-JP" altLang="ja-JP" sz="900" b="0" i="0" u="none" strike="noStrike" cap="none" normalizeH="0" baseline="0" dirty="0">
                <a:ln>
                  <a:noFill/>
                </a:ln>
                <a:solidFill>
                  <a:srgbClr val="E8BA36"/>
                </a:solidFill>
                <a:effectLst/>
                <a:latin typeface="Arial Unicode MS"/>
                <a:ea typeface="JetBrains Mono"/>
              </a:rPr>
              <a:t>(</a:t>
            </a:r>
            <a:r>
              <a:rPr kumimoji="0" lang="ja-JP" altLang="ja-JP" sz="900" b="0" i="0" u="none" strike="noStrike" cap="none" normalizeH="0" baseline="0" dirty="0">
                <a:ln>
                  <a:noFill/>
                </a:ln>
                <a:solidFill>
                  <a:srgbClr val="BCBEC4"/>
                </a:solidFill>
                <a:effectLst/>
                <a:latin typeface="Arial Unicode MS"/>
                <a:ea typeface="JetBrains Mono"/>
              </a:rPr>
              <a:t>LocalDate.</a:t>
            </a:r>
            <a:r>
              <a:rPr kumimoji="0" lang="ja-JP" altLang="ja-JP" sz="900" b="0" i="1" u="none" strike="noStrike" cap="none" normalizeH="0" baseline="0" dirty="0">
                <a:ln>
                  <a:noFill/>
                </a:ln>
                <a:solidFill>
                  <a:srgbClr val="BCBEC4"/>
                </a:solidFill>
                <a:effectLst/>
                <a:latin typeface="Arial Unicode MS"/>
                <a:ea typeface="JetBrains Mono"/>
              </a:rPr>
              <a:t>of</a:t>
            </a:r>
            <a:r>
              <a:rPr kumimoji="0" lang="ja-JP" altLang="ja-JP" sz="900" b="0" i="0" u="none" strike="noStrike" cap="none" normalizeH="0" baseline="0" dirty="0">
                <a:ln>
                  <a:noFill/>
                </a:ln>
                <a:solidFill>
                  <a:srgbClr val="54A857"/>
                </a:solidFill>
                <a:effectLst/>
                <a:latin typeface="Arial Unicode MS"/>
                <a:ea typeface="JetBrains Mono"/>
              </a:rPr>
              <a:t>(</a:t>
            </a:r>
            <a:r>
              <a:rPr kumimoji="0" lang="ja-JP" altLang="ja-JP" sz="900" b="0" i="0" u="none" strike="noStrike" cap="none" normalizeH="0" baseline="0" dirty="0">
                <a:ln>
                  <a:noFill/>
                </a:ln>
                <a:solidFill>
                  <a:srgbClr val="2AACB8"/>
                </a:solidFill>
                <a:effectLst/>
                <a:latin typeface="Arial Unicode MS"/>
                <a:ea typeface="JetBrains Mono"/>
              </a:rPr>
              <a:t>2024</a:t>
            </a:r>
            <a:r>
              <a:rPr kumimoji="0" lang="ja-JP" altLang="ja-JP" sz="900" b="0" i="0" u="none" strike="noStrike" cap="none" normalizeH="0" baseline="0" dirty="0">
                <a:ln>
                  <a:noFill/>
                </a:ln>
                <a:solidFill>
                  <a:srgbClr val="BCBEC4"/>
                </a:solidFill>
                <a:effectLst/>
                <a:latin typeface="Arial Unicode MS"/>
                <a:ea typeface="JetBrains Mono"/>
              </a:rPr>
              <a:t>, </a:t>
            </a:r>
            <a:r>
              <a:rPr kumimoji="0" lang="ja-JP" altLang="ja-JP" sz="900" b="0" i="0" u="none" strike="noStrike" cap="none" normalizeH="0" baseline="0" dirty="0">
                <a:ln>
                  <a:noFill/>
                </a:ln>
                <a:solidFill>
                  <a:srgbClr val="2AACB8"/>
                </a:solidFill>
                <a:effectLst/>
                <a:latin typeface="Arial Unicode MS"/>
                <a:ea typeface="JetBrains Mono"/>
              </a:rPr>
              <a:t>1</a:t>
            </a:r>
            <a:r>
              <a:rPr kumimoji="0" lang="ja-JP" altLang="ja-JP" sz="900" b="0" i="0" u="none" strike="noStrike" cap="none" normalizeH="0" baseline="0" dirty="0">
                <a:ln>
                  <a:noFill/>
                </a:ln>
                <a:solidFill>
                  <a:srgbClr val="BCBEC4"/>
                </a:solidFill>
                <a:effectLst/>
                <a:latin typeface="Arial Unicode MS"/>
                <a:ea typeface="JetBrains Mono"/>
              </a:rPr>
              <a:t>, </a:t>
            </a:r>
            <a:r>
              <a:rPr kumimoji="0" lang="ja-JP" altLang="ja-JP" sz="900" b="0" i="0" u="none" strike="noStrike" cap="none" normalizeH="0" baseline="0" dirty="0">
                <a:ln>
                  <a:noFill/>
                </a:ln>
                <a:solidFill>
                  <a:srgbClr val="2AACB8"/>
                </a:solidFill>
                <a:effectLst/>
                <a:latin typeface="Arial Unicode MS"/>
                <a:ea typeface="JetBrains Mono"/>
              </a:rPr>
              <a:t>1</a:t>
            </a:r>
            <a:r>
              <a:rPr kumimoji="0" lang="ja-JP" altLang="ja-JP" sz="900" b="0" i="0" u="none" strike="noStrike" cap="none" normalizeH="0" baseline="0" dirty="0">
                <a:ln>
                  <a:noFill/>
                </a:ln>
                <a:solidFill>
                  <a:srgbClr val="54A857"/>
                </a:solidFill>
                <a:effectLst/>
                <a:latin typeface="Arial Unicode MS"/>
                <a:ea typeface="JetBrains Mono"/>
              </a:rPr>
              <a:t>)</a:t>
            </a:r>
            <a:r>
              <a:rPr kumimoji="0" lang="ja-JP" altLang="ja-JP" sz="900" b="0" i="0" u="none" strike="noStrike" cap="none" normalizeH="0" baseline="0" dirty="0">
                <a:ln>
                  <a:noFill/>
                </a:ln>
                <a:solidFill>
                  <a:srgbClr val="E8BA36"/>
                </a:solidFill>
                <a:effectLst/>
                <a:latin typeface="Arial Unicode MS"/>
                <a:ea typeface="JetBrains Mono"/>
              </a:rPr>
              <a:t>)</a:t>
            </a:r>
            <a:r>
              <a:rPr kumimoji="0" lang="ja-JP" altLang="ja-JP" sz="900" b="0" i="0" u="none" strike="noStrike" cap="none" normalizeH="0" baseline="0" dirty="0">
                <a:ln>
                  <a:noFill/>
                </a:ln>
                <a:solidFill>
                  <a:srgbClr val="BCBEC4"/>
                </a:solidFill>
                <a:effectLst/>
                <a:latin typeface="Arial Unicode MS"/>
                <a:ea typeface="JetBrains Mono"/>
              </a:rPr>
              <a:t>;</a:t>
            </a:r>
            <a:br>
              <a:rPr kumimoji="0" lang="ja-JP" altLang="ja-JP" sz="900" b="0" i="0" u="none" strike="noStrike" cap="none" normalizeH="0" baseline="0" dirty="0">
                <a:ln>
                  <a:noFill/>
                </a:ln>
                <a:solidFill>
                  <a:srgbClr val="BCBEC4"/>
                </a:solidFill>
                <a:effectLst/>
                <a:latin typeface="Arial Unicode MS"/>
                <a:ea typeface="JetBrains Mono"/>
              </a:rPr>
            </a:br>
            <a:r>
              <a:rPr kumimoji="0" lang="ja-JP" altLang="ja-JP" sz="900" b="0" i="0" u="none" strike="noStrike" cap="none" normalizeH="0" baseline="0" dirty="0">
                <a:ln>
                  <a:noFill/>
                </a:ln>
                <a:solidFill>
                  <a:srgbClr val="BCBEC4"/>
                </a:solidFill>
                <a:effectLst/>
                <a:latin typeface="Arial Unicode MS"/>
                <a:ea typeface="JetBrains Mono"/>
              </a:rPr>
              <a:t>    </a:t>
            </a:r>
            <a:r>
              <a:rPr kumimoji="0" lang="ja-JP" altLang="ja-JP" sz="900" b="0" i="0" u="none" strike="noStrike" cap="none" normalizeH="0" baseline="0" dirty="0">
                <a:ln>
                  <a:noFill/>
                </a:ln>
                <a:solidFill>
                  <a:srgbClr val="54A857"/>
                </a:solidFill>
                <a:effectLst/>
                <a:latin typeface="Arial Unicode MS"/>
                <a:ea typeface="JetBrains Mono"/>
              </a:rPr>
              <a:t>}</a:t>
            </a:r>
            <a:br>
              <a:rPr kumimoji="0" lang="ja-JP" altLang="ja-JP" sz="900" b="0" i="0" u="none" strike="noStrike" cap="none" normalizeH="0" baseline="0" dirty="0">
                <a:ln>
                  <a:noFill/>
                </a:ln>
                <a:solidFill>
                  <a:srgbClr val="54A857"/>
                </a:solidFill>
                <a:effectLst/>
                <a:latin typeface="Arial Unicode MS"/>
                <a:ea typeface="JetBrains Mono"/>
              </a:rPr>
            </a:br>
            <a:endParaRPr kumimoji="0" lang="en-US" altLang="ja-JP" sz="900" b="0" i="0" u="none" strike="noStrike" cap="none" normalizeH="0" baseline="0" dirty="0">
              <a:ln>
                <a:noFill/>
              </a:ln>
              <a:solidFill>
                <a:srgbClr val="54A857"/>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ja-JP" altLang="ja-JP" sz="900" b="0" i="0" u="none" strike="noStrike" cap="none" normalizeH="0" baseline="0" dirty="0">
                <a:ln>
                  <a:noFill/>
                </a:ln>
                <a:solidFill>
                  <a:srgbClr val="54A857"/>
                </a:solidFill>
                <a:effectLst/>
                <a:latin typeface="Arial Unicode MS"/>
                <a:ea typeface="JetBrains Mono"/>
              </a:rPr>
            </a:br>
            <a:r>
              <a:rPr kumimoji="0" lang="ja-JP" altLang="ja-JP" sz="900" b="0" i="0" u="none" strike="noStrike" cap="none" normalizeH="0" baseline="0" dirty="0">
                <a:ln>
                  <a:noFill/>
                </a:ln>
                <a:solidFill>
                  <a:srgbClr val="54A857"/>
                </a:solidFill>
                <a:effectLst/>
                <a:latin typeface="Arial Unicode MS"/>
                <a:ea typeface="JetBrains Mono"/>
              </a:rPr>
              <a:t>    </a:t>
            </a:r>
            <a:r>
              <a:rPr kumimoji="0" lang="ja-JP" altLang="ja-JP" sz="900" b="0" i="0" u="none" strike="noStrike" cap="none" normalizeH="0" baseline="0" dirty="0">
                <a:ln>
                  <a:noFill/>
                </a:ln>
                <a:solidFill>
                  <a:srgbClr val="B3AE60"/>
                </a:solidFill>
                <a:effectLst/>
                <a:latin typeface="Arial Unicode MS"/>
                <a:ea typeface="JetBrains Mono"/>
              </a:rPr>
              <a:t>@Test</a:t>
            </a:r>
            <a:br>
              <a:rPr kumimoji="0" lang="ja-JP" altLang="ja-JP" sz="900" b="0" i="0" u="none" strike="noStrike" cap="none" normalizeH="0" baseline="0" dirty="0">
                <a:ln>
                  <a:noFill/>
                </a:ln>
                <a:solidFill>
                  <a:srgbClr val="B3AE60"/>
                </a:solidFill>
                <a:effectLst/>
                <a:latin typeface="Arial Unicode MS"/>
                <a:ea typeface="JetBrains Mono"/>
              </a:rPr>
            </a:br>
            <a:r>
              <a:rPr kumimoji="0" lang="ja-JP" altLang="ja-JP" sz="900" b="0" i="0" u="none" strike="noStrike" cap="none" normalizeH="0" baseline="0" dirty="0">
                <a:ln>
                  <a:noFill/>
                </a:ln>
                <a:solidFill>
                  <a:srgbClr val="B3AE60"/>
                </a:solidFill>
                <a:effectLst/>
                <a:latin typeface="Arial Unicode MS"/>
                <a:ea typeface="JetBrains Mono"/>
              </a:rPr>
              <a:t>    </a:t>
            </a:r>
            <a:r>
              <a:rPr kumimoji="0" lang="ja-JP" altLang="ja-JP" sz="900" b="0" i="0" u="none" strike="noStrike" cap="none" normalizeH="0" baseline="0" dirty="0">
                <a:ln>
                  <a:noFill/>
                </a:ln>
                <a:solidFill>
                  <a:srgbClr val="CF8E6D"/>
                </a:solidFill>
                <a:effectLst/>
                <a:latin typeface="Arial Unicode MS"/>
                <a:ea typeface="JetBrains Mono"/>
              </a:rPr>
              <a:t>void </a:t>
            </a:r>
            <a:r>
              <a:rPr kumimoji="0" lang="ja-JP" altLang="ja-JP" sz="900" b="0" i="0" u="none" strike="noStrike" cap="none" normalizeH="0" baseline="0" dirty="0">
                <a:ln>
                  <a:noFill/>
                </a:ln>
                <a:solidFill>
                  <a:srgbClr val="56A8F5"/>
                </a:solidFill>
                <a:effectLst/>
                <a:latin typeface="Arial Unicode MS"/>
                <a:ea typeface="JetBrains Mono"/>
              </a:rPr>
              <a:t>getDaysUntil1</a:t>
            </a:r>
            <a:r>
              <a:rPr kumimoji="0" lang="ja-JP" altLang="ja-JP" sz="900" b="0" i="0" u="none" strike="noStrike" cap="none" normalizeH="0" baseline="0" dirty="0">
                <a:ln>
                  <a:noFill/>
                </a:ln>
                <a:solidFill>
                  <a:srgbClr val="E8BA36"/>
                </a:solidFill>
                <a:effectLst/>
                <a:latin typeface="Arial Unicode MS"/>
                <a:ea typeface="JetBrains Mono"/>
              </a:rPr>
              <a:t>() </a:t>
            </a:r>
            <a:r>
              <a:rPr kumimoji="0" lang="ja-JP" altLang="ja-JP" sz="900" b="0" i="0" u="none" strike="noStrike" cap="none" normalizeH="0" baseline="0" dirty="0">
                <a:ln>
                  <a:noFill/>
                </a:ln>
                <a:solidFill>
                  <a:srgbClr val="54A857"/>
                </a:solidFill>
                <a:effectLst/>
                <a:latin typeface="Arial Unicode MS"/>
                <a:ea typeface="JetBrains Mono"/>
              </a:rPr>
              <a:t>{</a:t>
            </a:r>
            <a:br>
              <a:rPr kumimoji="0" lang="ja-JP" altLang="ja-JP" sz="900" b="0" i="0" u="none" strike="noStrike" cap="none" normalizeH="0" baseline="0" dirty="0">
                <a:ln>
                  <a:noFill/>
                </a:ln>
                <a:solidFill>
                  <a:srgbClr val="54A857"/>
                </a:solidFill>
                <a:effectLst/>
                <a:latin typeface="Arial Unicode MS"/>
                <a:ea typeface="JetBrains Mono"/>
              </a:rPr>
            </a:br>
            <a:r>
              <a:rPr kumimoji="0" lang="ja-JP" altLang="ja-JP" sz="900" b="0" i="0" u="none" strike="noStrike" cap="none" normalizeH="0" baseline="0" dirty="0">
                <a:ln>
                  <a:noFill/>
                </a:ln>
                <a:solidFill>
                  <a:srgbClr val="54A857"/>
                </a:solidFill>
                <a:effectLst/>
                <a:latin typeface="Arial Unicode MS"/>
                <a:ea typeface="JetBrains Mono"/>
              </a:rPr>
              <a:t>        </a:t>
            </a:r>
            <a:r>
              <a:rPr kumimoji="0" lang="ja-JP" altLang="ja-JP" sz="900" b="0" i="0" u="none" strike="noStrike" cap="none" normalizeH="0" baseline="0" dirty="0">
                <a:ln>
                  <a:noFill/>
                </a:ln>
                <a:solidFill>
                  <a:srgbClr val="CF8E6D"/>
                </a:solidFill>
                <a:effectLst/>
                <a:latin typeface="Arial Unicode MS"/>
                <a:ea typeface="JetBrains Mono"/>
              </a:rPr>
              <a:t>long </a:t>
            </a:r>
            <a:r>
              <a:rPr kumimoji="0" lang="ja-JP" altLang="ja-JP" sz="900" b="0" i="0" u="none" strike="noStrike" cap="none" normalizeH="0" baseline="0" dirty="0">
                <a:ln>
                  <a:noFill/>
                </a:ln>
                <a:solidFill>
                  <a:srgbClr val="BCBEC4"/>
                </a:solidFill>
                <a:effectLst/>
                <a:latin typeface="Arial Unicode MS"/>
                <a:ea typeface="JetBrains Mono"/>
              </a:rPr>
              <a:t>days = </a:t>
            </a:r>
            <a:r>
              <a:rPr kumimoji="0" lang="ja-JP" altLang="ja-JP" sz="900" b="0" i="0" u="none" strike="noStrike" cap="none" normalizeH="0" baseline="0" dirty="0">
                <a:ln>
                  <a:noFill/>
                </a:ln>
                <a:solidFill>
                  <a:srgbClr val="C77DBB"/>
                </a:solidFill>
                <a:effectLst/>
                <a:latin typeface="Arial Unicode MS"/>
                <a:ea typeface="JetBrains Mono"/>
              </a:rPr>
              <a:t>calculator</a:t>
            </a:r>
            <a:r>
              <a:rPr kumimoji="0" lang="ja-JP" altLang="ja-JP" sz="900" b="0" i="0" u="none" strike="noStrike" cap="none" normalizeH="0" baseline="0" dirty="0">
                <a:ln>
                  <a:noFill/>
                </a:ln>
                <a:solidFill>
                  <a:srgbClr val="BCBEC4"/>
                </a:solidFill>
                <a:effectLst/>
                <a:latin typeface="Arial Unicode MS"/>
                <a:ea typeface="JetBrains Mono"/>
              </a:rPr>
              <a:t>.getDaysUntil</a:t>
            </a:r>
            <a:r>
              <a:rPr kumimoji="0" lang="ja-JP" altLang="ja-JP" sz="900" b="0" i="0" u="none" strike="noStrike" cap="none" normalizeH="0" baseline="0" dirty="0">
                <a:ln>
                  <a:noFill/>
                </a:ln>
                <a:solidFill>
                  <a:srgbClr val="E8BA36"/>
                </a:solidFill>
                <a:effectLst/>
                <a:latin typeface="Arial Unicode MS"/>
                <a:ea typeface="JetBrains Mono"/>
              </a:rPr>
              <a:t>(</a:t>
            </a:r>
            <a:r>
              <a:rPr kumimoji="0" lang="ja-JP" altLang="ja-JP" sz="900" b="0" i="0" u="none" strike="noStrike" cap="none" normalizeH="0" baseline="0" dirty="0">
                <a:ln>
                  <a:noFill/>
                </a:ln>
                <a:solidFill>
                  <a:srgbClr val="6AAB73"/>
                </a:solidFill>
                <a:effectLst/>
                <a:latin typeface="Arial Unicode MS"/>
                <a:ea typeface="JetBrains Mono"/>
              </a:rPr>
              <a:t>"20240228"</a:t>
            </a:r>
            <a:r>
              <a:rPr kumimoji="0" lang="ja-JP" altLang="ja-JP" sz="900" b="0" i="0" u="none" strike="noStrike" cap="none" normalizeH="0" baseline="0" dirty="0">
                <a:ln>
                  <a:noFill/>
                </a:ln>
                <a:solidFill>
                  <a:srgbClr val="E8BA36"/>
                </a:solidFill>
                <a:effectLst/>
                <a:latin typeface="Arial Unicode MS"/>
                <a:ea typeface="JetBrains Mono"/>
              </a:rPr>
              <a:t>)</a:t>
            </a:r>
            <a:r>
              <a:rPr kumimoji="0" lang="ja-JP" altLang="ja-JP" sz="900" b="0" i="0" u="none" strike="noStrike" cap="none" normalizeH="0" baseline="0" dirty="0">
                <a:ln>
                  <a:noFill/>
                </a:ln>
                <a:solidFill>
                  <a:srgbClr val="BCBEC4"/>
                </a:solidFill>
                <a:effectLst/>
                <a:latin typeface="Arial Unicode MS"/>
                <a:ea typeface="JetBrains Mono"/>
              </a:rPr>
              <a:t>;</a:t>
            </a:r>
            <a:br>
              <a:rPr kumimoji="0" lang="ja-JP" altLang="ja-JP" sz="900" b="0" i="0" u="none" strike="noStrike" cap="none" normalizeH="0" baseline="0" dirty="0">
                <a:ln>
                  <a:noFill/>
                </a:ln>
                <a:solidFill>
                  <a:srgbClr val="BCBEC4"/>
                </a:solidFill>
                <a:effectLst/>
                <a:latin typeface="Arial Unicode MS"/>
                <a:ea typeface="JetBrains Mono"/>
              </a:rPr>
            </a:br>
            <a:r>
              <a:rPr kumimoji="0" lang="ja-JP" altLang="ja-JP" sz="900" b="0" i="0" u="none" strike="noStrike" cap="none" normalizeH="0" baseline="0" dirty="0">
                <a:ln>
                  <a:noFill/>
                </a:ln>
                <a:solidFill>
                  <a:srgbClr val="BCBEC4"/>
                </a:solidFill>
                <a:effectLst/>
                <a:latin typeface="Arial Unicode MS"/>
                <a:ea typeface="JetBrains Mono"/>
              </a:rPr>
              <a:t>        </a:t>
            </a:r>
            <a:r>
              <a:rPr kumimoji="0" lang="ja-JP" altLang="ja-JP" sz="900" b="0" i="1" u="none" strike="noStrike" cap="none" normalizeH="0" baseline="0" dirty="0">
                <a:ln>
                  <a:noFill/>
                </a:ln>
                <a:solidFill>
                  <a:srgbClr val="BCBEC4"/>
                </a:solidFill>
                <a:effectLst/>
                <a:latin typeface="Arial Unicode MS"/>
                <a:ea typeface="JetBrains Mono"/>
              </a:rPr>
              <a:t>assertEquals</a:t>
            </a:r>
            <a:r>
              <a:rPr kumimoji="0" lang="ja-JP" altLang="ja-JP" sz="900" b="0" i="0" u="none" strike="noStrike" cap="none" normalizeH="0" baseline="0" dirty="0">
                <a:ln>
                  <a:noFill/>
                </a:ln>
                <a:solidFill>
                  <a:srgbClr val="E8BA36"/>
                </a:solidFill>
                <a:effectLst/>
                <a:latin typeface="Arial Unicode MS"/>
                <a:ea typeface="JetBrains Mono"/>
              </a:rPr>
              <a:t>(</a:t>
            </a:r>
            <a:r>
              <a:rPr kumimoji="0" lang="ja-JP" altLang="ja-JP" sz="900" b="0" i="0" u="none" strike="noStrike" cap="none" normalizeH="0" baseline="0" dirty="0">
                <a:ln>
                  <a:noFill/>
                </a:ln>
                <a:solidFill>
                  <a:srgbClr val="2AACB8"/>
                </a:solidFill>
                <a:effectLst/>
                <a:latin typeface="Arial Unicode MS"/>
                <a:ea typeface="JetBrains Mono"/>
              </a:rPr>
              <a:t>58</a:t>
            </a:r>
            <a:r>
              <a:rPr kumimoji="0" lang="ja-JP" altLang="ja-JP" sz="900" b="0" i="0" u="none" strike="noStrike" cap="none" normalizeH="0" baseline="0" dirty="0">
                <a:ln>
                  <a:noFill/>
                </a:ln>
                <a:solidFill>
                  <a:srgbClr val="BCBEC4"/>
                </a:solidFill>
                <a:effectLst/>
                <a:latin typeface="Arial Unicode MS"/>
                <a:ea typeface="JetBrains Mono"/>
              </a:rPr>
              <a:t>, days</a:t>
            </a:r>
            <a:r>
              <a:rPr kumimoji="0" lang="ja-JP" altLang="ja-JP" sz="900" b="0" i="0" u="none" strike="noStrike" cap="none" normalizeH="0" baseline="0" dirty="0">
                <a:ln>
                  <a:noFill/>
                </a:ln>
                <a:solidFill>
                  <a:srgbClr val="E8BA36"/>
                </a:solidFill>
                <a:effectLst/>
                <a:latin typeface="Arial Unicode MS"/>
                <a:ea typeface="JetBrains Mono"/>
              </a:rPr>
              <a:t>)</a:t>
            </a:r>
            <a:r>
              <a:rPr kumimoji="0" lang="ja-JP" altLang="ja-JP" sz="900" b="0" i="0" u="none" strike="noStrike" cap="none" normalizeH="0" baseline="0" dirty="0">
                <a:ln>
                  <a:noFill/>
                </a:ln>
                <a:solidFill>
                  <a:srgbClr val="BCBEC4"/>
                </a:solidFill>
                <a:effectLst/>
                <a:latin typeface="Arial Unicode MS"/>
                <a:ea typeface="JetBrains Mono"/>
              </a:rPr>
              <a:t>;</a:t>
            </a:r>
            <a:br>
              <a:rPr kumimoji="0" lang="ja-JP" altLang="ja-JP" sz="900" b="0" i="0" u="none" strike="noStrike" cap="none" normalizeH="0" baseline="0" dirty="0">
                <a:ln>
                  <a:noFill/>
                </a:ln>
                <a:solidFill>
                  <a:srgbClr val="BCBEC4"/>
                </a:solidFill>
                <a:effectLst/>
                <a:latin typeface="Arial Unicode MS"/>
                <a:ea typeface="JetBrains Mono"/>
              </a:rPr>
            </a:br>
            <a:r>
              <a:rPr kumimoji="0" lang="ja-JP" altLang="ja-JP" sz="900" b="0" i="0" u="none" strike="noStrike" cap="none" normalizeH="0" baseline="0" dirty="0">
                <a:ln>
                  <a:noFill/>
                </a:ln>
                <a:solidFill>
                  <a:srgbClr val="BCBEC4"/>
                </a:solidFill>
                <a:effectLst/>
                <a:latin typeface="Arial Unicode MS"/>
                <a:ea typeface="JetBrains Mono"/>
              </a:rPr>
              <a:t>    </a:t>
            </a:r>
            <a:r>
              <a:rPr kumimoji="0" lang="ja-JP" altLang="ja-JP" sz="900" b="0" i="0" u="none" strike="noStrike" cap="none" normalizeH="0" baseline="0" dirty="0">
                <a:ln>
                  <a:noFill/>
                </a:ln>
                <a:solidFill>
                  <a:srgbClr val="54A857"/>
                </a:solidFill>
                <a:effectLst/>
                <a:latin typeface="Arial Unicode MS"/>
                <a:ea typeface="JetBrains Mono"/>
              </a:rPr>
              <a:t>}</a:t>
            </a:r>
            <a:endParaRPr kumimoji="0" lang="en-US" altLang="ja-JP" sz="900" b="0" i="0" u="none" strike="noStrike" cap="none" normalizeH="0" baseline="0" dirty="0">
              <a:ln>
                <a:noFill/>
              </a:ln>
              <a:solidFill>
                <a:srgbClr val="54A857"/>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ja-JP" altLang="ja-JP" sz="900" b="0" i="0" u="none" strike="noStrike" cap="none" normalizeH="0" baseline="0" dirty="0">
                <a:ln>
                  <a:noFill/>
                </a:ln>
                <a:solidFill>
                  <a:srgbClr val="54A857"/>
                </a:solidFill>
                <a:effectLst/>
                <a:latin typeface="Arial Unicode MS"/>
                <a:ea typeface="JetBrains Mono"/>
              </a:rPr>
            </a:br>
            <a:r>
              <a:rPr kumimoji="0" lang="ja-JP" altLang="ja-JP" sz="900" b="0" i="0" u="none" strike="noStrike" cap="none" normalizeH="0" baseline="0" dirty="0">
                <a:ln>
                  <a:noFill/>
                </a:ln>
                <a:solidFill>
                  <a:srgbClr val="E8BA36"/>
                </a:solidFill>
                <a:effectLst/>
                <a:latin typeface="Arial Unicode MS"/>
                <a:ea typeface="JetBrains Mono"/>
              </a:rPr>
              <a:t>}</a:t>
            </a:r>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p:sp>
        <p:nvSpPr>
          <p:cNvPr id="17" name="右大かっこ 16">
            <a:extLst>
              <a:ext uri="{FF2B5EF4-FFF2-40B4-BE49-F238E27FC236}">
                <a16:creationId xmlns:a16="http://schemas.microsoft.com/office/drawing/2014/main" id="{67CFE822-62EC-7DA5-A71C-6DC6DA851F5D}"/>
              </a:ext>
            </a:extLst>
          </p:cNvPr>
          <p:cNvSpPr/>
          <p:nvPr/>
        </p:nvSpPr>
        <p:spPr>
          <a:xfrm>
            <a:off x="4609323" y="3692297"/>
            <a:ext cx="111968" cy="587828"/>
          </a:xfrm>
          <a:prstGeom prst="rightBracket">
            <a:avLst/>
          </a:prstGeom>
          <a:ln w="19050">
            <a:solidFill>
              <a:srgbClr val="FFC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4A0336E-E509-1C2A-3784-45B77D97BBB2}"/>
              </a:ext>
            </a:extLst>
          </p:cNvPr>
          <p:cNvSpPr/>
          <p:nvPr/>
        </p:nvSpPr>
        <p:spPr>
          <a:xfrm>
            <a:off x="6474774" y="2389249"/>
            <a:ext cx="4253097" cy="900000"/>
          </a:xfrm>
          <a:prstGeom prst="rect">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b="1" u="sng" dirty="0">
                <a:solidFill>
                  <a:schemeClr val="tx1"/>
                </a:solidFill>
              </a:rPr>
              <a:t>Arrange</a:t>
            </a:r>
          </a:p>
          <a:p>
            <a:pPr algn="ctr"/>
            <a:r>
              <a:rPr kumimoji="1" lang="ja-JP" altLang="en-US" sz="1400" dirty="0">
                <a:solidFill>
                  <a:schemeClr val="tx1"/>
                </a:solidFill>
              </a:rPr>
              <a:t>テスト実行前</a:t>
            </a:r>
            <a:r>
              <a:rPr lang="ja-JP" altLang="en-US" sz="1400" dirty="0">
                <a:solidFill>
                  <a:schemeClr val="tx1"/>
                </a:solidFill>
              </a:rPr>
              <a:t>の</a:t>
            </a:r>
            <a:r>
              <a:rPr kumimoji="1" lang="ja-JP" altLang="en-US" sz="1400" dirty="0">
                <a:solidFill>
                  <a:schemeClr val="tx1"/>
                </a:solidFill>
              </a:rPr>
              <a:t>準備</a:t>
            </a:r>
            <a:endParaRPr kumimoji="1" lang="en-US" altLang="ja-JP" sz="1400" dirty="0">
              <a:solidFill>
                <a:schemeClr val="tx1"/>
              </a:solidFill>
            </a:endParaRPr>
          </a:p>
          <a:p>
            <a:pPr algn="ctr"/>
            <a:r>
              <a:rPr lang="ja-JP" altLang="en-US" sz="1400" dirty="0">
                <a:solidFill>
                  <a:schemeClr val="tx1"/>
                </a:solidFill>
              </a:rPr>
              <a:t>例）実行前の初期設定やデータ準備</a:t>
            </a:r>
            <a:endParaRPr kumimoji="1" lang="ja-JP" altLang="en-US" sz="1400" dirty="0">
              <a:solidFill>
                <a:schemeClr val="tx1"/>
              </a:solidFill>
            </a:endParaRPr>
          </a:p>
        </p:txBody>
      </p:sp>
      <p:sp>
        <p:nvSpPr>
          <p:cNvPr id="19" name="正方形/長方形 18">
            <a:extLst>
              <a:ext uri="{FF2B5EF4-FFF2-40B4-BE49-F238E27FC236}">
                <a16:creationId xmlns:a16="http://schemas.microsoft.com/office/drawing/2014/main" id="{84D522C0-696B-3DD0-36CA-46ADF7190229}"/>
              </a:ext>
            </a:extLst>
          </p:cNvPr>
          <p:cNvSpPr/>
          <p:nvPr/>
        </p:nvSpPr>
        <p:spPr>
          <a:xfrm>
            <a:off x="6474774" y="3524192"/>
            <a:ext cx="4253097" cy="900000"/>
          </a:xfrm>
          <a:prstGeom prst="rect">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b="1" u="sng" dirty="0">
                <a:solidFill>
                  <a:schemeClr val="tx1"/>
                </a:solidFill>
              </a:rPr>
              <a:t>Act</a:t>
            </a:r>
          </a:p>
          <a:p>
            <a:pPr algn="ctr"/>
            <a:r>
              <a:rPr lang="ja-JP" altLang="en-US" sz="1400" dirty="0">
                <a:solidFill>
                  <a:schemeClr val="tx1"/>
                </a:solidFill>
              </a:rPr>
              <a:t>テストの実行</a:t>
            </a:r>
            <a:endParaRPr lang="en-US" altLang="ja-JP" sz="1400" dirty="0">
              <a:solidFill>
                <a:schemeClr val="tx1"/>
              </a:solidFill>
            </a:endParaRPr>
          </a:p>
          <a:p>
            <a:pPr algn="ctr"/>
            <a:r>
              <a:rPr lang="en-US" altLang="ja-JP" sz="1400" dirty="0">
                <a:solidFill>
                  <a:schemeClr val="tx1"/>
                </a:solidFill>
              </a:rPr>
              <a:t>@Test</a:t>
            </a:r>
            <a:r>
              <a:rPr lang="ja-JP" altLang="en-US" sz="1400" dirty="0">
                <a:solidFill>
                  <a:schemeClr val="tx1"/>
                </a:solidFill>
              </a:rPr>
              <a:t>を付与したメソッドがテストメソッドとして認識される</a:t>
            </a:r>
            <a:endParaRPr lang="en-US" altLang="ja-JP" sz="1400" dirty="0">
              <a:solidFill>
                <a:schemeClr val="tx1"/>
              </a:solidFill>
            </a:endParaRPr>
          </a:p>
        </p:txBody>
      </p:sp>
      <p:sp>
        <p:nvSpPr>
          <p:cNvPr id="20" name="正方形/長方形 19">
            <a:extLst>
              <a:ext uri="{FF2B5EF4-FFF2-40B4-BE49-F238E27FC236}">
                <a16:creationId xmlns:a16="http://schemas.microsoft.com/office/drawing/2014/main" id="{DF9F4BDC-0EAB-CED4-48FA-F1904897941E}"/>
              </a:ext>
            </a:extLst>
          </p:cNvPr>
          <p:cNvSpPr/>
          <p:nvPr/>
        </p:nvSpPr>
        <p:spPr>
          <a:xfrm>
            <a:off x="6474774" y="4659136"/>
            <a:ext cx="4253097" cy="900000"/>
          </a:xfrm>
          <a:prstGeom prst="rect">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b="1" u="sng" dirty="0">
                <a:solidFill>
                  <a:sysClr val="windowText" lastClr="000000"/>
                </a:solidFill>
              </a:rPr>
              <a:t>Assertion</a:t>
            </a:r>
          </a:p>
          <a:p>
            <a:pPr algn="ctr"/>
            <a:r>
              <a:rPr lang="ja-JP" altLang="en-US" sz="1400" dirty="0">
                <a:solidFill>
                  <a:sysClr val="windowText" lastClr="000000"/>
                </a:solidFill>
              </a:rPr>
              <a:t>テストの実行後の検証</a:t>
            </a:r>
            <a:endParaRPr lang="en-US" altLang="ja-JP" sz="1400" dirty="0">
              <a:solidFill>
                <a:sysClr val="windowText" lastClr="000000"/>
              </a:solidFill>
            </a:endParaRPr>
          </a:p>
          <a:p>
            <a:pPr algn="ctr"/>
            <a:r>
              <a:rPr lang="ja-JP" altLang="en-US" sz="1400" dirty="0">
                <a:solidFill>
                  <a:sysClr val="windowText" lastClr="000000"/>
                </a:solidFill>
              </a:rPr>
              <a:t>実行結果が期待する結果と一致するかを確認する</a:t>
            </a:r>
            <a:endParaRPr kumimoji="1" lang="ja-JP" altLang="en-US" sz="1400" dirty="0">
              <a:solidFill>
                <a:sysClr val="windowText" lastClr="000000"/>
              </a:solidFill>
            </a:endParaRPr>
          </a:p>
        </p:txBody>
      </p:sp>
      <p:cxnSp>
        <p:nvCxnSpPr>
          <p:cNvPr id="22" name="直線コネクタ 21">
            <a:extLst>
              <a:ext uri="{FF2B5EF4-FFF2-40B4-BE49-F238E27FC236}">
                <a16:creationId xmlns:a16="http://schemas.microsoft.com/office/drawing/2014/main" id="{29F7B41E-5C4E-3C67-B9C9-021A36DA5BFB}"/>
              </a:ext>
            </a:extLst>
          </p:cNvPr>
          <p:cNvCxnSpPr>
            <a:cxnSpLocks/>
            <a:endCxn id="20" idx="1"/>
          </p:cNvCxnSpPr>
          <p:nvPr/>
        </p:nvCxnSpPr>
        <p:spPr>
          <a:xfrm>
            <a:off x="2491273" y="5030350"/>
            <a:ext cx="3983501" cy="78786"/>
          </a:xfrm>
          <a:prstGeom prst="line">
            <a:avLst/>
          </a:prstGeom>
          <a:ln w="28575">
            <a:solidFill>
              <a:srgbClr val="FFC400"/>
            </a:solidFill>
            <a:headEnd type="arrow"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1550C884-1A5E-B98C-038D-28D38AE5132F}"/>
              </a:ext>
            </a:extLst>
          </p:cNvPr>
          <p:cNvCxnSpPr>
            <a:cxnSpLocks/>
            <a:stCxn id="18" idx="1"/>
            <a:endCxn id="17" idx="2"/>
          </p:cNvCxnSpPr>
          <p:nvPr/>
        </p:nvCxnSpPr>
        <p:spPr>
          <a:xfrm flipH="1">
            <a:off x="4721291" y="2839249"/>
            <a:ext cx="1753483" cy="1146962"/>
          </a:xfrm>
          <a:prstGeom prst="line">
            <a:avLst/>
          </a:prstGeom>
          <a:ln w="38100">
            <a:solidFill>
              <a:srgbClr val="FFC400"/>
            </a:solidFill>
          </a:ln>
          <a:effectLst/>
        </p:spPr>
        <p:style>
          <a:lnRef idx="2">
            <a:schemeClr val="accent1"/>
          </a:lnRef>
          <a:fillRef idx="0">
            <a:schemeClr val="accent1"/>
          </a:fillRef>
          <a:effectRef idx="1">
            <a:schemeClr val="accent1"/>
          </a:effectRef>
          <a:fontRef idx="minor">
            <a:schemeClr val="tx1"/>
          </a:fontRef>
        </p:style>
      </p:cxnSp>
      <p:sp>
        <p:nvSpPr>
          <p:cNvPr id="29" name="右大かっこ 28">
            <a:extLst>
              <a:ext uri="{FF2B5EF4-FFF2-40B4-BE49-F238E27FC236}">
                <a16:creationId xmlns:a16="http://schemas.microsoft.com/office/drawing/2014/main" id="{22FD1B39-F2D1-D55E-3BB1-78EB53CFDD72}"/>
              </a:ext>
            </a:extLst>
          </p:cNvPr>
          <p:cNvSpPr/>
          <p:nvPr/>
        </p:nvSpPr>
        <p:spPr>
          <a:xfrm>
            <a:off x="4609323" y="4605168"/>
            <a:ext cx="111968" cy="587828"/>
          </a:xfrm>
          <a:prstGeom prst="rightBracket">
            <a:avLst/>
          </a:prstGeom>
          <a:ln w="19050">
            <a:solidFill>
              <a:srgbClr val="FFC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cxnSp>
        <p:nvCxnSpPr>
          <p:cNvPr id="30" name="直線コネクタ 29">
            <a:extLst>
              <a:ext uri="{FF2B5EF4-FFF2-40B4-BE49-F238E27FC236}">
                <a16:creationId xmlns:a16="http://schemas.microsoft.com/office/drawing/2014/main" id="{EA94316C-EF3B-2B2E-0E6B-F788C88A6A99}"/>
              </a:ext>
            </a:extLst>
          </p:cNvPr>
          <p:cNvCxnSpPr>
            <a:cxnSpLocks/>
            <a:stCxn id="19" idx="1"/>
            <a:endCxn id="29" idx="2"/>
          </p:cNvCxnSpPr>
          <p:nvPr/>
        </p:nvCxnSpPr>
        <p:spPr>
          <a:xfrm flipH="1">
            <a:off x="4721291" y="3974192"/>
            <a:ext cx="1753483" cy="924890"/>
          </a:xfrm>
          <a:prstGeom prst="line">
            <a:avLst/>
          </a:prstGeom>
          <a:ln w="38100">
            <a:solidFill>
              <a:srgbClr val="FFC400"/>
            </a:solidFill>
          </a:ln>
          <a:effectLst/>
        </p:spPr>
        <p:style>
          <a:lnRef idx="2">
            <a:schemeClr val="accent1"/>
          </a:lnRef>
          <a:fillRef idx="0">
            <a:schemeClr val="accent1"/>
          </a:fillRef>
          <a:effectRef idx="1">
            <a:schemeClr val="accent1"/>
          </a:effectRef>
          <a:fontRef idx="minor">
            <a:schemeClr val="tx1"/>
          </a:fontRef>
        </p:style>
      </p:cxnSp>
      <p:grpSp>
        <p:nvGrpSpPr>
          <p:cNvPr id="21" name="グループ化 20">
            <a:extLst>
              <a:ext uri="{FF2B5EF4-FFF2-40B4-BE49-F238E27FC236}">
                <a16:creationId xmlns:a16="http://schemas.microsoft.com/office/drawing/2014/main" id="{C5D872FD-5C8B-53E9-6AC7-BB714C3D9D28}"/>
              </a:ext>
            </a:extLst>
          </p:cNvPr>
          <p:cNvGrpSpPr/>
          <p:nvPr/>
        </p:nvGrpSpPr>
        <p:grpSpPr>
          <a:xfrm>
            <a:off x="10785021" y="2267757"/>
            <a:ext cx="1257302" cy="3416320"/>
            <a:chOff x="10632621" y="2267757"/>
            <a:chExt cx="1257302" cy="3416320"/>
          </a:xfrm>
        </p:grpSpPr>
        <p:sp>
          <p:nvSpPr>
            <p:cNvPr id="15" name="右大かっこ 14">
              <a:extLst>
                <a:ext uri="{FF2B5EF4-FFF2-40B4-BE49-F238E27FC236}">
                  <a16:creationId xmlns:a16="http://schemas.microsoft.com/office/drawing/2014/main" id="{4EFBF65A-1D95-3707-13AC-FC696B186028}"/>
                </a:ext>
              </a:extLst>
            </p:cNvPr>
            <p:cNvSpPr/>
            <p:nvPr/>
          </p:nvSpPr>
          <p:spPr>
            <a:xfrm>
              <a:off x="10632621" y="2267757"/>
              <a:ext cx="198666" cy="3416320"/>
            </a:xfrm>
            <a:prstGeom prst="rightBracket">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93FD3903-9A06-C861-FA4B-3424814866AD}"/>
                </a:ext>
              </a:extLst>
            </p:cNvPr>
            <p:cNvSpPr txBox="1"/>
            <p:nvPr/>
          </p:nvSpPr>
          <p:spPr>
            <a:xfrm>
              <a:off x="10926537" y="3724526"/>
              <a:ext cx="963386" cy="502782"/>
            </a:xfrm>
            <a:prstGeom prst="rect">
              <a:avLst/>
            </a:prstGeom>
            <a:noFill/>
          </p:spPr>
          <p:txBody>
            <a:bodyPr wrap="square" lIns="0" rIns="0" rtlCol="0">
              <a:noAutofit/>
            </a:bodyPr>
            <a:lstStyle/>
            <a:p>
              <a:pPr algn="l" defTabSz="288000"/>
              <a:r>
                <a:rPr kumimoji="1" lang="en-US" altLang="ja-JP" sz="1400" dirty="0">
                  <a:latin typeface="+mn-ea"/>
                </a:rPr>
                <a:t>AAA</a:t>
              </a:r>
            </a:p>
            <a:p>
              <a:pPr algn="l" defTabSz="288000"/>
              <a:r>
                <a:rPr kumimoji="1" lang="ja-JP" altLang="en-US" sz="1400" dirty="0">
                  <a:latin typeface="+mn-ea"/>
                </a:rPr>
                <a:t>パターン</a:t>
              </a:r>
            </a:p>
          </p:txBody>
        </p:sp>
      </p:grpSp>
    </p:spTree>
    <p:extLst>
      <p:ext uri="{BB962C8B-B14F-4D97-AF65-F5344CB8AC3E}">
        <p14:creationId xmlns:p14="http://schemas.microsoft.com/office/powerpoint/2010/main" val="14771024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31305-240E-29C3-5590-102DEDF8AA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2EEFC4-5AA0-7D52-2F79-63536E10E1F9}"/>
              </a:ext>
            </a:extLst>
          </p:cNvPr>
          <p:cNvSpPr>
            <a:spLocks noGrp="1"/>
          </p:cNvSpPr>
          <p:nvPr>
            <p:ph type="title"/>
          </p:nvPr>
        </p:nvSpPr>
        <p:spPr/>
        <p:txBody>
          <a:bodyPr/>
          <a:lstStyle/>
          <a:p>
            <a:r>
              <a:rPr lang="ja-JP" altLang="en-US" dirty="0"/>
              <a:t>参考文献</a:t>
            </a:r>
            <a:endParaRPr kumimoji="1" lang="ja-JP" altLang="en-US" dirty="0"/>
          </a:p>
        </p:txBody>
      </p:sp>
      <p:sp>
        <p:nvSpPr>
          <p:cNvPr id="3" name="コンテンツ プレースホルダー 2">
            <a:extLst>
              <a:ext uri="{FF2B5EF4-FFF2-40B4-BE49-F238E27FC236}">
                <a16:creationId xmlns:a16="http://schemas.microsoft.com/office/drawing/2014/main" id="{8D8F5B31-2A0C-C66F-3FBA-9CC5909CBB99}"/>
              </a:ext>
            </a:extLst>
          </p:cNvPr>
          <p:cNvSpPr>
            <a:spLocks noGrp="1"/>
          </p:cNvSpPr>
          <p:nvPr>
            <p:ph sz="quarter" idx="4294967295"/>
          </p:nvPr>
        </p:nvSpPr>
        <p:spPr>
          <a:xfrm>
            <a:off x="371474" y="1038386"/>
            <a:ext cx="11448000" cy="5196814"/>
          </a:xfrm>
        </p:spPr>
        <p:txBody>
          <a:bodyPr/>
          <a:lstStyle/>
          <a:p>
            <a:r>
              <a:rPr kumimoji="1" lang="ja-JP" altLang="en-US" dirty="0"/>
              <a:t>■書籍</a:t>
            </a:r>
          </a:p>
          <a:p>
            <a:r>
              <a:rPr kumimoji="1" lang="ja-JP" altLang="en-US" dirty="0"/>
              <a:t>		・「単体テストの考え方</a:t>
            </a:r>
            <a:r>
              <a:rPr kumimoji="1" lang="en-US" altLang="ja-JP" dirty="0"/>
              <a:t>/</a:t>
            </a:r>
            <a:r>
              <a:rPr kumimoji="1" lang="ja-JP" altLang="en-US" dirty="0"/>
              <a:t>使い方」　</a:t>
            </a:r>
            <a:r>
              <a:rPr kumimoji="1" lang="en-US" altLang="ja-JP" sz="1600" dirty="0"/>
              <a:t>Vladimir </a:t>
            </a:r>
            <a:r>
              <a:rPr kumimoji="1" lang="en-US" altLang="ja-JP" sz="1600" dirty="0" err="1"/>
              <a:t>Khorikov</a:t>
            </a:r>
            <a:r>
              <a:rPr kumimoji="1" lang="en-US" altLang="ja-JP" sz="1600" dirty="0"/>
              <a:t> (</a:t>
            </a:r>
            <a:r>
              <a:rPr kumimoji="1" lang="ja-JP" altLang="en-US" sz="1600" dirty="0"/>
              <a:t>著</a:t>
            </a:r>
            <a:r>
              <a:rPr kumimoji="1" lang="en-US" altLang="ja-JP" sz="1600" dirty="0"/>
              <a:t>), </a:t>
            </a:r>
            <a:r>
              <a:rPr kumimoji="1" lang="ja-JP" altLang="en-US" sz="1600" dirty="0"/>
              <a:t>須田智之 </a:t>
            </a:r>
            <a:r>
              <a:rPr kumimoji="1" lang="en-US" altLang="ja-JP" sz="1600" dirty="0"/>
              <a:t>(</a:t>
            </a:r>
            <a:r>
              <a:rPr kumimoji="1" lang="ja-JP" altLang="en-US" sz="1600" dirty="0"/>
              <a:t>翻訳</a:t>
            </a:r>
            <a:r>
              <a:rPr kumimoji="1" lang="en-US" altLang="ja-JP" sz="1600" dirty="0"/>
              <a:t>)</a:t>
            </a:r>
          </a:p>
          <a:p>
            <a:r>
              <a:rPr lang="en-US" altLang="ja-JP" dirty="0"/>
              <a:t>		</a:t>
            </a:r>
          </a:p>
          <a:p>
            <a:endParaRPr kumimoji="1" lang="en-US" altLang="ja-JP" dirty="0"/>
          </a:p>
          <a:p>
            <a:endParaRPr lang="en-US" altLang="ja-JP" dirty="0"/>
          </a:p>
          <a:p>
            <a:endParaRPr kumimoji="1" lang="en-US" altLang="ja-JP" dirty="0"/>
          </a:p>
          <a:p>
            <a:r>
              <a:rPr lang="ja-JP" altLang="en-US" dirty="0"/>
              <a:t>■</a:t>
            </a:r>
            <a:r>
              <a:rPr lang="en-US" altLang="ja-JP" dirty="0"/>
              <a:t>URL</a:t>
            </a:r>
          </a:p>
          <a:p>
            <a:r>
              <a:rPr kumimoji="1" lang="en-US" altLang="ja-JP" dirty="0"/>
              <a:t>		</a:t>
            </a:r>
            <a:r>
              <a:rPr kumimoji="1" lang="ja-JP" altLang="en-US" dirty="0"/>
              <a:t>・「</a:t>
            </a:r>
            <a:r>
              <a:rPr kumimoji="1" lang="en-US" altLang="ja-JP" dirty="0"/>
              <a:t>ISTQB </a:t>
            </a:r>
            <a:r>
              <a:rPr kumimoji="1" lang="ja-JP" altLang="en-US" dirty="0"/>
              <a:t>テスト技術者資格制度　</a:t>
            </a:r>
            <a:r>
              <a:rPr kumimoji="1" lang="en-US" altLang="ja-JP" dirty="0"/>
              <a:t>Foundation Level </a:t>
            </a:r>
            <a:r>
              <a:rPr kumimoji="1" lang="ja-JP" altLang="en-US" dirty="0"/>
              <a:t>シラバス　</a:t>
            </a:r>
            <a:r>
              <a:rPr kumimoji="1" lang="en-US" altLang="ja-JP" dirty="0"/>
              <a:t>Version 2023V7.0.J02</a:t>
            </a:r>
            <a:r>
              <a:rPr kumimoji="1" lang="ja-JP" altLang="en-US" dirty="0"/>
              <a:t>」</a:t>
            </a:r>
            <a:endParaRPr kumimoji="1" lang="en-US" altLang="ja-JP" dirty="0"/>
          </a:p>
          <a:p>
            <a:r>
              <a:rPr lang="en-US" altLang="ja-JP" dirty="0"/>
              <a:t>		  </a:t>
            </a:r>
            <a:r>
              <a:rPr lang="en-US" altLang="ja-JP" dirty="0">
                <a:solidFill>
                  <a:schemeClr val="tx1"/>
                </a:solidFill>
              </a:rPr>
              <a:t>JSTQB</a:t>
            </a:r>
            <a:r>
              <a:rPr lang="ja-JP" altLang="en-US" dirty="0">
                <a:solidFill>
                  <a:schemeClr val="tx1"/>
                </a:solidFill>
              </a:rPr>
              <a:t>（</a:t>
            </a:r>
            <a:r>
              <a:rPr lang="ja-JP" altLang="en-US" b="0" i="0" dirty="0">
                <a:solidFill>
                  <a:schemeClr val="tx1"/>
                </a:solidFill>
                <a:effectLst/>
                <a:latin typeface="Arial" panose="020B0604020202020204" pitchFamily="34" charset="0"/>
              </a:rPr>
              <a:t>ソフトウェアテスト技術振興協会</a:t>
            </a:r>
            <a:r>
              <a:rPr lang="ja-JP" altLang="en-US" dirty="0">
                <a:solidFill>
                  <a:schemeClr val="tx1"/>
                </a:solidFill>
              </a:rPr>
              <a:t>） </a:t>
            </a:r>
            <a:r>
              <a:rPr lang="en-US" altLang="ja-JP" dirty="0"/>
              <a:t>	</a:t>
            </a:r>
          </a:p>
          <a:p>
            <a:endParaRPr kumimoji="1" lang="en-US" altLang="ja-JP" dirty="0"/>
          </a:p>
          <a:p>
            <a:endParaRPr lang="en-US" altLang="ja-JP" dirty="0"/>
          </a:p>
          <a:p>
            <a:r>
              <a:rPr kumimoji="1" lang="en-US" altLang="ja-JP" dirty="0"/>
              <a:t>		</a:t>
            </a:r>
            <a:r>
              <a:rPr kumimoji="1" lang="ja-JP" altLang="en-US" dirty="0"/>
              <a:t>・</a:t>
            </a:r>
            <a:r>
              <a:rPr kumimoji="1" lang="en-US" altLang="ja-JP" dirty="0"/>
              <a:t>TERASOLUNA</a:t>
            </a:r>
            <a:r>
              <a:rPr kumimoji="1" lang="ja-JP" altLang="en-US" dirty="0"/>
              <a:t>　開発手順　</a:t>
            </a:r>
            <a:endParaRPr kumimoji="1" lang="en-US" altLang="ja-JP" dirty="0"/>
          </a:p>
          <a:p>
            <a:r>
              <a:rPr lang="en-US" altLang="ja-JP" dirty="0"/>
              <a:t>			</a:t>
            </a:r>
            <a:endParaRPr kumimoji="1" lang="ja-JP" altLang="en-US" dirty="0"/>
          </a:p>
        </p:txBody>
      </p:sp>
      <p:sp>
        <p:nvSpPr>
          <p:cNvPr id="5" name="テキスト ボックス 4">
            <a:extLst>
              <a:ext uri="{FF2B5EF4-FFF2-40B4-BE49-F238E27FC236}">
                <a16:creationId xmlns:a16="http://schemas.microsoft.com/office/drawing/2014/main" id="{1528AF5B-B01F-E760-F98B-77838419E99F}"/>
              </a:ext>
            </a:extLst>
          </p:cNvPr>
          <p:cNvSpPr txBox="1"/>
          <p:nvPr/>
        </p:nvSpPr>
        <p:spPr>
          <a:xfrm>
            <a:off x="1020176" y="1759298"/>
            <a:ext cx="7769261" cy="738664"/>
          </a:xfrm>
          <a:prstGeom prst="rect">
            <a:avLst/>
          </a:prstGeom>
          <a:noFill/>
        </p:spPr>
        <p:txBody>
          <a:bodyPr wrap="square">
            <a:spAutoFit/>
          </a:bodyPr>
          <a:lstStyle/>
          <a:p>
            <a:r>
              <a:rPr lang="en-US" altLang="ja-JP" sz="1400" dirty="0">
                <a:hlinkClick r:id="rId2"/>
              </a:rPr>
              <a:t>https://www.amazon.co.jp/%E5%8D%98%E4%BD%93%E3%83%86%E3%82%B9%E3%83%88%E3%81%AE%E8%80%83%E3%81%88%E6%96%B9-%E4%BD%BF%E3%81%84%E6%96%B9-Vladimir-Khorikov/dp/4839981728</a:t>
            </a:r>
            <a:endParaRPr lang="ja-JP" altLang="en-US" sz="1400" dirty="0"/>
          </a:p>
        </p:txBody>
      </p:sp>
      <p:pic>
        <p:nvPicPr>
          <p:cNvPr id="8" name="図 7" descr="テキスト&#10;&#10;AI によって生成されたコンテンツは間違っている可能性があります。">
            <a:extLst>
              <a:ext uri="{FF2B5EF4-FFF2-40B4-BE49-F238E27FC236}">
                <a16:creationId xmlns:a16="http://schemas.microsoft.com/office/drawing/2014/main" id="{3B4287C4-CCD5-25EA-AC84-A17233237570}"/>
              </a:ext>
            </a:extLst>
          </p:cNvPr>
          <p:cNvPicPr>
            <a:picLocks noChangeAspect="1"/>
          </p:cNvPicPr>
          <p:nvPr/>
        </p:nvPicPr>
        <p:blipFill>
          <a:blip r:embed="rId3"/>
          <a:stretch>
            <a:fillRect/>
          </a:stretch>
        </p:blipFill>
        <p:spPr>
          <a:xfrm>
            <a:off x="9027859" y="365400"/>
            <a:ext cx="1907652" cy="2452996"/>
          </a:xfrm>
          <a:prstGeom prst="rect">
            <a:avLst/>
          </a:prstGeom>
        </p:spPr>
      </p:pic>
      <p:sp>
        <p:nvSpPr>
          <p:cNvPr id="7" name="テキスト ボックス 6">
            <a:extLst>
              <a:ext uri="{FF2B5EF4-FFF2-40B4-BE49-F238E27FC236}">
                <a16:creationId xmlns:a16="http://schemas.microsoft.com/office/drawing/2014/main" id="{28E4978E-C5A8-BAA1-6506-11414C758C3C}"/>
              </a:ext>
            </a:extLst>
          </p:cNvPr>
          <p:cNvSpPr txBox="1"/>
          <p:nvPr/>
        </p:nvSpPr>
        <p:spPr>
          <a:xfrm>
            <a:off x="1020175" y="4064236"/>
            <a:ext cx="7769261" cy="307777"/>
          </a:xfrm>
          <a:prstGeom prst="rect">
            <a:avLst/>
          </a:prstGeom>
          <a:noFill/>
        </p:spPr>
        <p:txBody>
          <a:bodyPr wrap="square">
            <a:spAutoFit/>
          </a:bodyPr>
          <a:lstStyle/>
          <a:p>
            <a:r>
              <a:rPr lang="ja-JP" altLang="en-US" sz="1400" dirty="0">
                <a:hlinkClick r:id="rId4"/>
              </a:rPr>
              <a:t>https://www.jstqb.jp/dl/JSTQB-SyllabusFoundation_VersionV40.J02.pdf</a:t>
            </a:r>
            <a:endParaRPr lang="ja-JP" altLang="en-US" sz="1400" dirty="0"/>
          </a:p>
        </p:txBody>
      </p:sp>
      <p:sp>
        <p:nvSpPr>
          <p:cNvPr id="6" name="テキスト ボックス 5">
            <a:extLst>
              <a:ext uri="{FF2B5EF4-FFF2-40B4-BE49-F238E27FC236}">
                <a16:creationId xmlns:a16="http://schemas.microsoft.com/office/drawing/2014/main" id="{CB719CD3-BE9C-25F8-DBF5-FEAECB5047FD}"/>
              </a:ext>
            </a:extLst>
          </p:cNvPr>
          <p:cNvSpPr txBox="1"/>
          <p:nvPr/>
        </p:nvSpPr>
        <p:spPr>
          <a:xfrm>
            <a:off x="1020176" y="5003310"/>
            <a:ext cx="6097554" cy="307777"/>
          </a:xfrm>
          <a:prstGeom prst="rect">
            <a:avLst/>
          </a:prstGeom>
          <a:noFill/>
        </p:spPr>
        <p:txBody>
          <a:bodyPr wrap="square">
            <a:spAutoFit/>
          </a:bodyPr>
          <a:lstStyle/>
          <a:p>
            <a:r>
              <a:rPr lang="en-US" altLang="ja-JP" sz="1400" dirty="0">
                <a:hlinkClick r:id="rId5"/>
              </a:rPr>
              <a:t>https://home.groupwide.net/nttdata/gsd/terasoluna/dev/terasoluna.asp</a:t>
            </a:r>
            <a:endParaRPr lang="ja-JP" altLang="en-US" sz="1400" dirty="0"/>
          </a:p>
        </p:txBody>
      </p:sp>
    </p:spTree>
    <p:extLst>
      <p:ext uri="{BB962C8B-B14F-4D97-AF65-F5344CB8AC3E}">
        <p14:creationId xmlns:p14="http://schemas.microsoft.com/office/powerpoint/2010/main" val="28139981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650110"/>
      </p:ext>
    </p:extLst>
  </p:cSld>
  <p:clrMapOvr>
    <a:masterClrMapping/>
  </p:clrMapOvr>
</p:sld>
</file>

<file path=ppt/theme/theme1.xml><?xml version="1.0" encoding="utf-8"?>
<a:theme xmlns:a="http://schemas.openxmlformats.org/drawingml/2006/main" name="表紙_Light">
  <a:themeElements>
    <a:clrScheme name="NTT DATA Group Corp.">
      <a:dk1>
        <a:srgbClr val="000000"/>
      </a:dk1>
      <a:lt1>
        <a:srgbClr val="FFFFFF"/>
      </a:lt1>
      <a:dk2>
        <a:srgbClr val="2E404D"/>
      </a:dk2>
      <a:lt2>
        <a:srgbClr val="19A3FC"/>
      </a:lt2>
      <a:accent1>
        <a:srgbClr val="070F26"/>
      </a:accent1>
      <a:accent2>
        <a:srgbClr val="0071BC"/>
      </a:accent2>
      <a:accent3>
        <a:srgbClr val="005B95"/>
      </a:accent3>
      <a:accent4>
        <a:srgbClr val="00DFED"/>
      </a:accent4>
      <a:accent5>
        <a:srgbClr val="00CB5D"/>
      </a:accent5>
      <a:accent6>
        <a:srgbClr val="949494"/>
      </a:accent6>
      <a:hlink>
        <a:srgbClr val="19A3FC"/>
      </a:hlink>
      <a:folHlink>
        <a:srgbClr val="0071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3F44459B-CBCD-47B9-9550-79E07347BFD8}"/>
    </a:ext>
  </a:extLst>
</a:theme>
</file>

<file path=ppt/theme/theme2.xml><?xml version="1.0" encoding="utf-8"?>
<a:theme xmlns:a="http://schemas.openxmlformats.org/drawingml/2006/main" name="中扉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BB946400-0B85-4517-AE8C-BC2B39F5FF1D}"/>
    </a:ext>
  </a:extLst>
</a:theme>
</file>

<file path=ppt/theme/theme3.xml><?xml version="1.0" encoding="utf-8"?>
<a:theme xmlns:a="http://schemas.openxmlformats.org/drawingml/2006/main" name="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E1B7EFED-FF62-4F58-A91E-0D2C1D8AB2B6}"/>
    </a:ext>
  </a:extLst>
</a:theme>
</file>

<file path=ppt/theme/theme4.xml><?xml version="1.0" encoding="utf-8"?>
<a:theme xmlns:a="http://schemas.openxmlformats.org/drawingml/2006/main" name="裏表紙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437B1A96-D058-465A-A684-571135173188}"/>
    </a:ext>
  </a:extLst>
</a:theme>
</file>

<file path=ppt/theme/theme5.xml><?xml version="1.0" encoding="utf-8"?>
<a:theme xmlns:a="http://schemas.openxmlformats.org/drawingml/2006/main" name="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E1C1217F-E6D8-4E50-B83A-0BB2972E93DC}"/>
    </a:ext>
  </a:extLst>
</a:theme>
</file>

<file path=ppt/theme/theme6.xml><?xml version="1.0" encoding="utf-8"?>
<a:theme xmlns:a="http://schemas.openxmlformats.org/drawingml/2006/main" name="中扉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44E08450-A390-4868-995D-17470C6AE04A}"/>
    </a:ext>
  </a:extLst>
</a:theme>
</file>

<file path=ppt/theme/theme7.xml><?xml version="1.0" encoding="utf-8"?>
<a:theme xmlns:a="http://schemas.openxmlformats.org/drawingml/2006/main" name="コンテンツ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7BD9F778-FFE0-471C-8AAB-02E2D4BD00E4}"/>
    </a:ext>
  </a:extLst>
</a:theme>
</file>

<file path=ppt/theme/theme8.xml><?xml version="1.0" encoding="utf-8"?>
<a:theme xmlns:a="http://schemas.openxmlformats.org/drawingml/2006/main" name="裏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B7DFDDD6-85F3-411E-B605-4F06EFC691BE}"/>
    </a:ext>
  </a:extLst>
</a:theme>
</file>

<file path=ppt/theme/theme9.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B57F87D80BC18745B0A2F78E3C2CA320" ma:contentTypeVersion="3" ma:contentTypeDescription="新しいドキュメントを作成します。" ma:contentTypeScope="" ma:versionID="219b608f28962122c458bdba41ff8225">
  <xsd:schema xmlns:xsd="http://www.w3.org/2001/XMLSchema" xmlns:xs="http://www.w3.org/2001/XMLSchema" xmlns:p="http://schemas.microsoft.com/office/2006/metadata/properties" xmlns:ns2="11d8c85d-1826-47fa-a5d0-9526e53fc34b" targetNamespace="http://schemas.microsoft.com/office/2006/metadata/properties" ma:root="true" ma:fieldsID="7ea3c1caea18927db56b37cdd8f3f590" ns2:_="">
    <xsd:import namespace="11d8c85d-1826-47fa-a5d0-9526e53fc34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d8c85d-1826-47fa-a5d0-9526e53fc3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50EC2DF-3F97-4474-8790-98B3CC404412}"/>
</file>

<file path=customXml/itemProps2.xml><?xml version="1.0" encoding="utf-8"?>
<ds:datastoreItem xmlns:ds="http://schemas.openxmlformats.org/officeDocument/2006/customXml" ds:itemID="{5548F579-53B8-4B8C-9F58-0D818877B6AD}">
  <ds:schemaRefs>
    <ds:schemaRef ds:uri="http://schemas.microsoft.com/sharepoint/v3/contenttype/forms"/>
  </ds:schemaRefs>
</ds:datastoreItem>
</file>

<file path=customXml/itemProps3.xml><?xml version="1.0" encoding="utf-8"?>
<ds:datastoreItem xmlns:ds="http://schemas.openxmlformats.org/officeDocument/2006/customXml" ds:itemID="{8D130469-6A09-4ABA-A36B-23141AB6459B}">
  <ds:schemaRefs>
    <ds:schemaRef ds:uri="http://www.w3.org/XML/1998/namespace"/>
    <ds:schemaRef ds:uri="76c3601a-363f-43d4-a036-3992c2f72613"/>
    <ds:schemaRef ds:uri="e78bdc00-a74b-48b7-906b-ce2f11e16a80"/>
    <ds:schemaRef ds:uri="http://purl.org/dc/terms/"/>
    <ds:schemaRef ds:uri="http://schemas.microsoft.com/office/2006/documentManagement/types"/>
    <ds:schemaRef ds:uri="http://purl.org/dc/dcmitype/"/>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【DBC】単体試験</Template>
  <TotalTime>17188</TotalTime>
  <Words>5301</Words>
  <Application>Microsoft Office PowerPoint</Application>
  <PresentationFormat>ワイド画面</PresentationFormat>
  <Paragraphs>911</Paragraphs>
  <Slides>47</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8</vt:i4>
      </vt:variant>
      <vt:variant>
        <vt:lpstr>スライド タイトル</vt:lpstr>
      </vt:variant>
      <vt:variant>
        <vt:i4>47</vt:i4>
      </vt:variant>
    </vt:vector>
  </HeadingPairs>
  <TitlesOfParts>
    <vt:vector size="60" baseType="lpstr">
      <vt:lpstr>__Inter_a184c8</vt:lpstr>
      <vt:lpstr>Arial Unicode MS</vt:lpstr>
      <vt:lpstr>Helvetica Neue</vt:lpstr>
      <vt:lpstr>Meiryo UI</vt:lpstr>
      <vt:lpstr>Arial</vt:lpstr>
      <vt:lpstr>表紙_Light</vt:lpstr>
      <vt:lpstr>中扉_Light</vt:lpstr>
      <vt:lpstr>コンテンツ_Light</vt:lpstr>
      <vt:lpstr>裏表紙_Light</vt:lpstr>
      <vt:lpstr>表紙_Dark</vt:lpstr>
      <vt:lpstr>中扉_Dark</vt:lpstr>
      <vt:lpstr>コンテンツ_Dark</vt:lpstr>
      <vt:lpstr>裏表紙_Dark</vt:lpstr>
      <vt:lpstr>PowerPoint プレゼンテーション</vt:lpstr>
      <vt:lpstr>講義の目的</vt:lpstr>
      <vt:lpstr>目次</vt:lpstr>
      <vt:lpstr>目次</vt:lpstr>
      <vt:lpstr>TERASOLUNA 開発手順　 ※再掲</vt:lpstr>
      <vt:lpstr>V字モデル　 ※再掲</vt:lpstr>
      <vt:lpstr>テストとは</vt:lpstr>
      <vt:lpstr>テストの目的</vt:lpstr>
      <vt:lpstr>テストを実施しなかった場合…</vt:lpstr>
      <vt:lpstr>コラム：テストとデバッグ</vt:lpstr>
      <vt:lpstr>目次　※再掲</vt:lpstr>
      <vt:lpstr>単体テスト（Unit Test）とは</vt:lpstr>
      <vt:lpstr>単体テスト（Unit Test）とは</vt:lpstr>
      <vt:lpstr>V字モデル　– 製造/単体テスト –　※再掲 </vt:lpstr>
      <vt:lpstr>テスト設計</vt:lpstr>
      <vt:lpstr>テスト設計</vt:lpstr>
      <vt:lpstr>テスト設計</vt:lpstr>
      <vt:lpstr>テスト設計</vt:lpstr>
      <vt:lpstr>テスト設計</vt:lpstr>
      <vt:lpstr>テスト設計</vt:lpstr>
      <vt:lpstr>テスト設計</vt:lpstr>
      <vt:lpstr>テスト設計</vt:lpstr>
      <vt:lpstr>テスト設計</vt:lpstr>
      <vt:lpstr>テスト設計</vt:lpstr>
      <vt:lpstr>単体テスト（Unit Test）とは</vt:lpstr>
      <vt:lpstr>テスト技法 – ブラックボックステスト技法 –</vt:lpstr>
      <vt:lpstr>ブラックボックステスト：同値分割法</vt:lpstr>
      <vt:lpstr>ブラックボックステスト：同値分割法</vt:lpstr>
      <vt:lpstr>ブラックボックステスト：境界値分析</vt:lpstr>
      <vt:lpstr>ブラックボックステスト：境界値分析</vt:lpstr>
      <vt:lpstr>ブラックボックステスト：ディシジョンテーブルテスト</vt:lpstr>
      <vt:lpstr>ブラックボックステスト：ディシジョンテーブルテスト</vt:lpstr>
      <vt:lpstr>ブラックボックステスト：ディシジョンテーブルテスト</vt:lpstr>
      <vt:lpstr>ブラックボックステスト：状態遷移テスト</vt:lpstr>
      <vt:lpstr>テスト技法 – ホワイトボックステスト技法 –</vt:lpstr>
      <vt:lpstr>ホワイトボックステストの評価基準</vt:lpstr>
      <vt:lpstr>ホワイトボックステスト：ステートメントテスト</vt:lpstr>
      <vt:lpstr>ホワイトボックステスト：ブランチテスト</vt:lpstr>
      <vt:lpstr>ホワイトボックステスト：コンディションテスト</vt:lpstr>
      <vt:lpstr>テスト技法 – 経験ベースの技法 –</vt:lpstr>
      <vt:lpstr>単体テスト（Unit Test）とは</vt:lpstr>
      <vt:lpstr>スタブとドライバ</vt:lpstr>
      <vt:lpstr>スタブとモック</vt:lpstr>
      <vt:lpstr>目次　※再掲</vt:lpstr>
      <vt:lpstr>JUnitとは</vt:lpstr>
      <vt:lpstr>参考文献</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PSD 栗山 映里/Kuriyama, Eri (NTT DATA)</dc:creator>
  <cp:lastModifiedBy>PS3 石川 星/Ishikawa, Sho (NTT DATA)</cp:lastModifiedBy>
  <cp:revision>59</cp:revision>
  <dcterms:created xsi:type="dcterms:W3CDTF">2025-03-11T01:08:01Z</dcterms:created>
  <dcterms:modified xsi:type="dcterms:W3CDTF">2026-05-29T09:47:31Z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0x010100B57F87D80BC18745B0A2F78E3C2CA320</vt:lpwstr>
  </property>
  <property fmtid="{D5CDD505-2E9C-101B-9397-08002B2CF9AE}" pid="3" name="MediaServiceImageTags">
    <vt:lpwstr/>
  </property>
</Properties>
</file>