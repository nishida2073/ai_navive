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3971" r:id="rId5"/>
    <p:sldMasterId id="2147484001" r:id="rId6"/>
    <p:sldMasterId id="2147483852" r:id="rId7"/>
    <p:sldMasterId id="2147484024" r:id="rId8"/>
  </p:sldMasterIdLst>
  <p:notesMasterIdLst>
    <p:notesMasterId r:id="rId87"/>
  </p:notesMasterIdLst>
  <p:handoutMasterIdLst>
    <p:handoutMasterId r:id="rId88"/>
  </p:handoutMasterIdLst>
  <p:sldIdLst>
    <p:sldId id="302" r:id="rId9"/>
    <p:sldId id="402" r:id="rId10"/>
    <p:sldId id="381" r:id="rId11"/>
    <p:sldId id="399" r:id="rId12"/>
    <p:sldId id="305" r:id="rId13"/>
    <p:sldId id="306" r:id="rId14"/>
    <p:sldId id="384" r:id="rId15"/>
    <p:sldId id="326" r:id="rId16"/>
    <p:sldId id="328" r:id="rId17"/>
    <p:sldId id="329" r:id="rId18"/>
    <p:sldId id="330" r:id="rId19"/>
    <p:sldId id="331" r:id="rId20"/>
    <p:sldId id="385" r:id="rId21"/>
    <p:sldId id="309" r:id="rId22"/>
    <p:sldId id="403" r:id="rId23"/>
    <p:sldId id="311" r:id="rId24"/>
    <p:sldId id="312" r:id="rId25"/>
    <p:sldId id="390" r:id="rId26"/>
    <p:sldId id="314" r:id="rId27"/>
    <p:sldId id="315" r:id="rId28"/>
    <p:sldId id="391" r:id="rId29"/>
    <p:sldId id="318" r:id="rId30"/>
    <p:sldId id="319" r:id="rId31"/>
    <p:sldId id="320" r:id="rId32"/>
    <p:sldId id="321" r:id="rId33"/>
    <p:sldId id="317" r:id="rId34"/>
    <p:sldId id="323" r:id="rId35"/>
    <p:sldId id="322" r:id="rId36"/>
    <p:sldId id="386" r:id="rId37"/>
    <p:sldId id="332" r:id="rId38"/>
    <p:sldId id="333" r:id="rId39"/>
    <p:sldId id="334" r:id="rId40"/>
    <p:sldId id="335" r:id="rId41"/>
    <p:sldId id="336" r:id="rId42"/>
    <p:sldId id="337" r:id="rId43"/>
    <p:sldId id="338" r:id="rId44"/>
    <p:sldId id="387" r:id="rId45"/>
    <p:sldId id="340" r:id="rId46"/>
    <p:sldId id="342" r:id="rId47"/>
    <p:sldId id="353" r:id="rId48"/>
    <p:sldId id="354" r:id="rId49"/>
    <p:sldId id="355" r:id="rId50"/>
    <p:sldId id="356" r:id="rId51"/>
    <p:sldId id="358" r:id="rId52"/>
    <p:sldId id="359" r:id="rId53"/>
    <p:sldId id="357" r:id="rId54"/>
    <p:sldId id="360" r:id="rId55"/>
    <p:sldId id="388" r:id="rId56"/>
    <p:sldId id="343" r:id="rId57"/>
    <p:sldId id="363" r:id="rId58"/>
    <p:sldId id="393" r:id="rId59"/>
    <p:sldId id="365" r:id="rId60"/>
    <p:sldId id="362" r:id="rId61"/>
    <p:sldId id="344" r:id="rId62"/>
    <p:sldId id="366" r:id="rId63"/>
    <p:sldId id="367" r:id="rId64"/>
    <p:sldId id="368" r:id="rId65"/>
    <p:sldId id="396" r:id="rId66"/>
    <p:sldId id="370" r:id="rId67"/>
    <p:sldId id="345" r:id="rId68"/>
    <p:sldId id="371" r:id="rId69"/>
    <p:sldId id="372" r:id="rId70"/>
    <p:sldId id="373" r:id="rId71"/>
    <p:sldId id="397" r:id="rId72"/>
    <p:sldId id="375" r:id="rId73"/>
    <p:sldId id="376" r:id="rId74"/>
    <p:sldId id="346" r:id="rId75"/>
    <p:sldId id="347" r:id="rId76"/>
    <p:sldId id="348" r:id="rId77"/>
    <p:sldId id="398" r:id="rId78"/>
    <p:sldId id="350" r:id="rId79"/>
    <p:sldId id="351" r:id="rId80"/>
    <p:sldId id="352" r:id="rId81"/>
    <p:sldId id="341" r:id="rId82"/>
    <p:sldId id="377" r:id="rId83"/>
    <p:sldId id="378" r:id="rId84"/>
    <p:sldId id="379" r:id="rId85"/>
    <p:sldId id="380" r:id="rId86"/>
  </p:sldIdLst>
  <p:sldSz cx="9907588"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6B6B6B"/>
    <a:srgbClr val="050D24"/>
    <a:srgbClr val="2E404D"/>
    <a:srgbClr val="050D0F"/>
    <a:srgbClr val="F8F8F8"/>
    <a:srgbClr val="070F26"/>
    <a:srgbClr val="3B486F"/>
    <a:srgbClr val="1D264D"/>
    <a:srgbClr val="3B3B3B"/>
    <a:srgbClr val="1C1C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950C47-4B3C-48D2-A0F8-39EAFE205941}" v="4" dt="2026-08-24T09:37:41.21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395" autoAdjust="0"/>
  </p:normalViewPr>
  <p:slideViewPr>
    <p:cSldViewPr snapToGrid="0" snapToObjects="1">
      <p:cViewPr varScale="1">
        <p:scale>
          <a:sx n="120" d="100"/>
          <a:sy n="120" d="100"/>
        </p:scale>
        <p:origin x="1014" y="108"/>
      </p:cViewPr>
      <p:guideLst/>
    </p:cSldViewPr>
  </p:slideViewPr>
  <p:outlineViewPr>
    <p:cViewPr>
      <p:scale>
        <a:sx n="33" d="100"/>
        <a:sy n="33" d="100"/>
      </p:scale>
      <p:origin x="0" y="0"/>
    </p:cViewPr>
  </p:outlineViewPr>
  <p:notesTextViewPr>
    <p:cViewPr>
      <p:scale>
        <a:sx n="160" d="100"/>
        <a:sy n="160" d="100"/>
      </p:scale>
      <p:origin x="0" y="0"/>
    </p:cViewPr>
  </p:notesTextViewPr>
  <p:sorterViewPr>
    <p:cViewPr>
      <p:scale>
        <a:sx n="80" d="100"/>
        <a:sy n="80" d="100"/>
      </p:scale>
      <p:origin x="0" y="0"/>
    </p:cViewPr>
  </p:sorterViewPr>
  <p:notesViewPr>
    <p:cSldViewPr snapToGrid="0" snapToObjects="1">
      <p:cViewPr varScale="1">
        <p:scale>
          <a:sx n="86" d="100"/>
          <a:sy n="86" d="100"/>
        </p:scale>
        <p:origin x="3864"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commentAuthors" Target="commentAuthor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slide" Target="slides/slide77.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notesMaster" Target="notesMasters/notesMaster1.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小幡 勇希/OBATA, YUUKI (nttdata-univ)" userId="c6c81d62-945d-4c20-9eaf-a0d8fdf52216" providerId="ADAL" clId="{A546C2D0-37FA-4E11-A429-A5EEF4839EC8}"/>
    <pc:docChg chg="modSld">
      <pc:chgData name="小幡 勇希/OBATA, YUUKI (nttdata-univ)" userId="c6c81d62-945d-4c20-9eaf-a0d8fdf52216" providerId="ADAL" clId="{A546C2D0-37FA-4E11-A429-A5EEF4839EC8}" dt="2026-08-24T09:37:37.588" v="5"/>
      <pc:docMkLst>
        <pc:docMk/>
      </pc:docMkLst>
      <pc:sldChg chg="modSp">
        <pc:chgData name="小幡 勇希/OBATA, YUUKI (nttdata-univ)" userId="c6c81d62-945d-4c20-9eaf-a0d8fdf52216" providerId="ADAL" clId="{A546C2D0-37FA-4E11-A429-A5EEF4839EC8}" dt="2026-08-24T09:33:32.943" v="3"/>
        <pc:sldMkLst>
          <pc:docMk/>
          <pc:sldMk cId="4087364554" sldId="305"/>
        </pc:sldMkLst>
        <pc:spChg chg="mod">
          <ac:chgData name="小幡 勇希/OBATA, YUUKI (nttdata-univ)" userId="c6c81d62-945d-4c20-9eaf-a0d8fdf52216" providerId="ADAL" clId="{A546C2D0-37FA-4E11-A429-A5EEF4839EC8}" dt="2026-08-24T09:33:32.943" v="3"/>
          <ac:spMkLst>
            <pc:docMk/>
            <pc:sldMk cId="4087364554" sldId="305"/>
            <ac:spMk id="5" creationId="{C524C5A5-DAA7-72F1-2EBA-687315B31191}"/>
          </ac:spMkLst>
        </pc:spChg>
      </pc:sldChg>
      <pc:sldChg chg="modSp">
        <pc:chgData name="小幡 勇希/OBATA, YUUKI (nttdata-univ)" userId="c6c81d62-945d-4c20-9eaf-a0d8fdf52216" providerId="ADAL" clId="{A546C2D0-37FA-4E11-A429-A5EEF4839EC8}" dt="2026-08-24T09:37:37.588" v="5"/>
        <pc:sldMkLst>
          <pc:docMk/>
          <pc:sldMk cId="1929696162" sldId="306"/>
        </pc:sldMkLst>
        <pc:spChg chg="mod">
          <ac:chgData name="小幡 勇希/OBATA, YUUKI (nttdata-univ)" userId="c6c81d62-945d-4c20-9eaf-a0d8fdf52216" providerId="ADAL" clId="{A546C2D0-37FA-4E11-A429-A5EEF4839EC8}" dt="2026-08-24T09:37:37.588" v="5"/>
          <ac:spMkLst>
            <pc:docMk/>
            <pc:sldMk cId="1929696162" sldId="306"/>
            <ac:spMk id="5" creationId="{D49B83DB-FE1C-4305-E497-CE7ED332A6E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2026/8/24</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2026/8/24</a:t>
            </a:fld>
            <a:endParaRPr kumimoji="1" lang="ja-JP" altLang="en-US"/>
          </a:p>
        </p:txBody>
      </p:sp>
      <p:sp>
        <p:nvSpPr>
          <p:cNvPr id="4" name="スライド イメージ プレースホルダー 3"/>
          <p:cNvSpPr>
            <a:spLocks noGrp="1" noRot="1" noChangeAspect="1"/>
          </p:cNvSpPr>
          <p:nvPr>
            <p:ph type="sldImg" idx="2"/>
          </p:nvPr>
        </p:nvSpPr>
        <p:spPr>
          <a:xfrm>
            <a:off x="1200150" y="630238"/>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2" name="Innovation Curve">
            <a:extLst>
              <a:ext uri="{FF2B5EF4-FFF2-40B4-BE49-F238E27FC236}">
                <a16:creationId xmlns:a16="http://schemas.microsoft.com/office/drawing/2014/main" id="{16E48A1C-35E2-855D-C343-E8044438B57C}"/>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3031588"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10100" y="864000"/>
            <a:ext cx="4643694" cy="795600"/>
          </a:xfrm>
          <a:prstGeom prst="rect">
            <a:avLst/>
          </a:prstGeom>
        </p:spPr>
        <p:txBody>
          <a:bodyPr lIns="0" rIns="0" anchor="b" anchorCtr="0"/>
          <a:lstStyle>
            <a:lvl1pPr>
              <a:defRPr sz="2000"/>
            </a:lvl1pPr>
          </a:lstStyle>
          <a:p>
            <a:pPr lvl="0"/>
            <a:r>
              <a:rPr kumimoji="1" lang="ja-JP" altLang="en-US" dirty="0"/>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10100" y="2188800"/>
            <a:ext cx="4643694"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10100" y="5191200"/>
            <a:ext cx="4643694" cy="1119600"/>
          </a:xfrm>
          <a:prstGeom prst="rect">
            <a:avLst/>
          </a:prstGeom>
        </p:spPr>
        <p:txBody>
          <a:bodyPr lIns="0" tIns="46800" rIns="0" anchor="b"/>
          <a:lstStyle>
            <a:lvl1pPr>
              <a:defRPr sz="2000">
                <a:solidFill>
                  <a:schemeClr val="accent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sp>
        <p:nvSpPr>
          <p:cNvPr id="9" name="タイトル 2">
            <a:extLst>
              <a:ext uri="{FF2B5EF4-FFF2-40B4-BE49-F238E27FC236}">
                <a16:creationId xmlns:a16="http://schemas.microsoft.com/office/drawing/2014/main" id="{27DE0808-0ED8-A79F-3641-F6EE9429DF97}"/>
              </a:ext>
            </a:extLst>
          </p:cNvPr>
          <p:cNvSpPr>
            <a:spLocks noGrp="1"/>
          </p:cNvSpPr>
          <p:nvPr>
            <p:ph type="title" hasCustomPrompt="1"/>
          </p:nvPr>
        </p:nvSpPr>
        <p:spPr>
          <a:xfrm>
            <a:off x="310100" y="1450800"/>
            <a:ext cx="4945131" cy="795600"/>
          </a:xfrm>
          <a:prstGeom prst="rect">
            <a:avLst/>
          </a:prstGeom>
        </p:spPr>
        <p:txBody>
          <a:bodyPr lIns="0" rIns="0" anchor="b" anchorCtr="0"/>
          <a:lstStyle>
            <a:lvl1pPr>
              <a:defRPr sz="2000"/>
            </a:lvl1pPr>
          </a:lstStyle>
          <a:p>
            <a:pPr lvl="0"/>
            <a:r>
              <a:rPr kumimoji="1" lang="ja-JP" altLang="en-US" dirty="0"/>
              <a:t>○○○○御中</a:t>
            </a:r>
          </a:p>
        </p:txBody>
      </p:sp>
      <p:sp>
        <p:nvSpPr>
          <p:cNvPr id="5" name="テキスト プレースホルダー 6">
            <a:extLst>
              <a:ext uri="{FF2B5EF4-FFF2-40B4-BE49-F238E27FC236}">
                <a16:creationId xmlns:a16="http://schemas.microsoft.com/office/drawing/2014/main" id="{C2C070B2-9499-0BB6-29F4-690002F8C381}"/>
              </a:ext>
            </a:extLst>
          </p:cNvPr>
          <p:cNvSpPr>
            <a:spLocks noGrp="1"/>
          </p:cNvSpPr>
          <p:nvPr>
            <p:ph type="body" sz="quarter" idx="11" hasCustomPrompt="1"/>
          </p:nvPr>
        </p:nvSpPr>
        <p:spPr>
          <a:xfrm>
            <a:off x="310100" y="2246401"/>
            <a:ext cx="4945131" cy="2346865"/>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dirty="0"/>
              <a:t>［タイトル］</a:t>
            </a:r>
          </a:p>
        </p:txBody>
      </p:sp>
      <p:sp>
        <p:nvSpPr>
          <p:cNvPr id="7" name="テキスト プレースホルダー 10">
            <a:extLst>
              <a:ext uri="{FF2B5EF4-FFF2-40B4-BE49-F238E27FC236}">
                <a16:creationId xmlns:a16="http://schemas.microsoft.com/office/drawing/2014/main" id="{009BF352-2699-13FB-9385-B1041D550802}"/>
              </a:ext>
            </a:extLst>
          </p:cNvPr>
          <p:cNvSpPr>
            <a:spLocks noGrp="1"/>
          </p:cNvSpPr>
          <p:nvPr>
            <p:ph type="body" sz="quarter" idx="13" hasCustomPrompt="1"/>
          </p:nvPr>
        </p:nvSpPr>
        <p:spPr>
          <a:xfrm>
            <a:off x="310100" y="5191200"/>
            <a:ext cx="4945131" cy="1119600"/>
          </a:xfrm>
          <a:prstGeom prst="rect">
            <a:avLst/>
          </a:prstGeom>
        </p:spPr>
        <p:txBody>
          <a:bodyPr lIns="0" tIns="46800" rIns="0" anchor="b"/>
          <a:lstStyle>
            <a:lvl1pPr>
              <a:defRPr sz="2000">
                <a:solidFill>
                  <a:schemeClr val="accent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2" name="Innovation Curve">
            <a:extLst>
              <a:ext uri="{FF2B5EF4-FFF2-40B4-BE49-F238E27FC236}">
                <a16:creationId xmlns:a16="http://schemas.microsoft.com/office/drawing/2014/main" id="{97453400-83A1-19E3-3428-843935B37A44}"/>
              </a:ext>
              <a:ext uri="{C183D7F6-B498-43B3-948B-1728B52AA6E4}">
                <adec:decorative xmlns:adec="http://schemas.microsoft.com/office/drawing/2017/decorative" val="1"/>
              </a:ext>
            </a:extLst>
          </p:cNvPr>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5305039" y="0"/>
            <a:ext cx="4602549" cy="6876288"/>
          </a:xfrm>
          <a:prstGeom prst="rect">
            <a:avLst/>
          </a:prstGeom>
        </p:spPr>
      </p:pic>
    </p:spTree>
    <p:extLst>
      <p:ext uri="{BB962C8B-B14F-4D97-AF65-F5344CB8AC3E}">
        <p14:creationId xmlns:p14="http://schemas.microsoft.com/office/powerpoint/2010/main" val="66878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10100" y="1450800"/>
            <a:ext cx="9297140" cy="795600"/>
          </a:xfrm>
          <a:prstGeom prst="rect">
            <a:avLst/>
          </a:prstGeom>
        </p:spPr>
        <p:txBody>
          <a:bodyPr lIns="0" rIns="0" anchor="b" anchorCtr="0"/>
          <a:lstStyle>
            <a:lvl1pPr>
              <a:defRPr sz="2000"/>
            </a:lvl1pPr>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10100" y="2246400"/>
            <a:ext cx="929714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10100" y="5191200"/>
            <a:ext cx="9297140" cy="1119600"/>
          </a:xfrm>
          <a:prstGeom prst="rect">
            <a:avLst/>
          </a:prstGeom>
        </p:spPr>
        <p:txBody>
          <a:bodyPr lIns="0" tIns="46800" rIns="0" anchor="b"/>
          <a:lstStyle>
            <a:lvl1pPr>
              <a:defRPr sz="2000">
                <a:solidFill>
                  <a:schemeClr val="accent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665905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FB7B2A75-74AE-F062-439F-A95954EBE583}"/>
              </a:ext>
            </a:extLst>
          </p:cNvPr>
          <p:cNvPicPr>
            <a:picLocks noChangeAspect="1"/>
          </p:cNvPicPr>
          <p:nvPr userDrawn="1"/>
        </p:nvPicPr>
        <p:blipFill rotWithShape="1">
          <a:blip r:embed="rId2"/>
          <a:srcRect l="29119" t="161" r="2006" b="56465"/>
          <a:stretch/>
        </p:blipFill>
        <p:spPr>
          <a:xfrm>
            <a:off x="0" y="3351600"/>
            <a:ext cx="9908563" cy="3510000"/>
          </a:xfrm>
          <a:prstGeom prst="rect">
            <a:avLst/>
          </a:prstGeom>
        </p:spPr>
      </p:pic>
      <p:sp>
        <p:nvSpPr>
          <p:cNvPr id="8" name="タイトル 2">
            <a:extLst>
              <a:ext uri="{FF2B5EF4-FFF2-40B4-BE49-F238E27FC236}">
                <a16:creationId xmlns:a16="http://schemas.microsoft.com/office/drawing/2014/main" id="{D5207BED-C451-AA8A-BEC8-1DBBC55EB27E}"/>
              </a:ext>
            </a:extLst>
          </p:cNvPr>
          <p:cNvSpPr>
            <a:spLocks noGrp="1"/>
          </p:cNvSpPr>
          <p:nvPr>
            <p:ph type="title" hasCustomPrompt="1"/>
          </p:nvPr>
        </p:nvSpPr>
        <p:spPr>
          <a:xfrm>
            <a:off x="301323" y="752400"/>
            <a:ext cx="9297140" cy="396000"/>
          </a:xfrm>
          <a:prstGeom prst="rect">
            <a:avLst/>
          </a:prstGeom>
        </p:spPr>
        <p:txBody>
          <a:bodyPr lIns="0" rIns="0" anchor="b" anchorCtr="0"/>
          <a:lstStyle>
            <a:lvl1pPr>
              <a:defRPr sz="2000"/>
            </a:lvl1pPr>
          </a:lstStyle>
          <a:p>
            <a:pPr lvl="0"/>
            <a:r>
              <a:rPr kumimoji="1" lang="ja-JP" altLang="en-US" dirty="0"/>
              <a:t>○○○○御中</a:t>
            </a:r>
          </a:p>
        </p:txBody>
      </p:sp>
      <p:sp>
        <p:nvSpPr>
          <p:cNvPr id="4" name="テキスト プレースホルダー 6">
            <a:extLst>
              <a:ext uri="{FF2B5EF4-FFF2-40B4-BE49-F238E27FC236}">
                <a16:creationId xmlns:a16="http://schemas.microsoft.com/office/drawing/2014/main" id="{6D1013E2-8F90-20CA-6004-C9D6A65332FD}"/>
              </a:ext>
            </a:extLst>
          </p:cNvPr>
          <p:cNvSpPr>
            <a:spLocks noGrp="1"/>
          </p:cNvSpPr>
          <p:nvPr>
            <p:ph type="body" sz="quarter" idx="11" hasCustomPrompt="1"/>
          </p:nvPr>
        </p:nvSpPr>
        <p:spPr>
          <a:xfrm>
            <a:off x="301323" y="1143727"/>
            <a:ext cx="9297140" cy="1422244"/>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5B0EF5B0-BD1D-106F-C4E1-D30AB815AAC8}"/>
              </a:ext>
            </a:extLst>
          </p:cNvPr>
          <p:cNvSpPr>
            <a:spLocks noGrp="1"/>
          </p:cNvSpPr>
          <p:nvPr>
            <p:ph type="body" sz="quarter" idx="13" hasCustomPrompt="1"/>
          </p:nvPr>
        </p:nvSpPr>
        <p:spPr>
          <a:xfrm>
            <a:off x="301323" y="2565971"/>
            <a:ext cx="9297140" cy="375900"/>
          </a:xfrm>
          <a:prstGeom prst="rect">
            <a:avLst/>
          </a:prstGeom>
        </p:spPr>
        <p:txBody>
          <a:bodyPr lIns="0" tIns="46800" rIns="0"/>
          <a:lstStyle>
            <a:lvl1pPr>
              <a:defRPr sz="2000">
                <a:solidFill>
                  <a:schemeClr val="accent1"/>
                </a:solidFill>
              </a:defRPr>
            </a:lvl1pPr>
            <a:lvl5pPr marL="1828662" indent="0">
              <a:buNone/>
              <a:defRPr/>
            </a:lvl5pPr>
          </a:lstStyle>
          <a:p>
            <a:pPr lvl="0"/>
            <a:r>
              <a:rPr kumimoji="1" lang="en-US" altLang="ja-JP" dirty="0"/>
              <a:t>2026</a:t>
            </a:r>
            <a:r>
              <a:rPr kumimoji="1" lang="ja-JP" altLang="en-US" dirty="0"/>
              <a:t>年〇月〇日　株式会社</a:t>
            </a:r>
            <a:r>
              <a:rPr kumimoji="1" lang="en-US" altLang="ja-JP" dirty="0"/>
              <a:t>NTT</a:t>
            </a:r>
            <a:r>
              <a:rPr kumimoji="1" lang="ja-JP" altLang="en-US" dirty="0"/>
              <a:t>データ ○○○○○○</a:t>
            </a:r>
          </a:p>
        </p:txBody>
      </p:sp>
      <p:sp>
        <p:nvSpPr>
          <p:cNvPr id="10" name="テキスト ボックス 9">
            <a:extLst>
              <a:ext uri="{FF2B5EF4-FFF2-40B4-BE49-F238E27FC236}">
                <a16:creationId xmlns:a16="http://schemas.microsoft.com/office/drawing/2014/main" id="{8D0D95E3-21F4-A71F-7D73-FE15E156422C}"/>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
        <p:nvSpPr>
          <p:cNvPr id="11" name="テキスト ボックス 10">
            <a:extLst>
              <a:ext uri="{FF2B5EF4-FFF2-40B4-BE49-F238E27FC236}">
                <a16:creationId xmlns:a16="http://schemas.microsoft.com/office/drawing/2014/main" id="{4D9542F4-2785-BB77-7E12-1225021C408C}"/>
              </a:ext>
            </a:extLst>
          </p:cNvPr>
          <p:cNvSpPr txBox="1"/>
          <p:nvPr userDrawn="1"/>
        </p:nvSpPr>
        <p:spPr>
          <a:xfrm>
            <a:off x="301323" y="31464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rgbClr val="6B6B6B"/>
                </a:solidFill>
              </a:rPr>
              <a:t>© 2026 NTT DATA University Corporation</a:t>
            </a:r>
          </a:p>
        </p:txBody>
      </p:sp>
      <p:pic>
        <p:nvPicPr>
          <p:cNvPr id="2" name="図 1">
            <a:extLst>
              <a:ext uri="{FF2B5EF4-FFF2-40B4-BE49-F238E27FC236}">
                <a16:creationId xmlns:a16="http://schemas.microsoft.com/office/drawing/2014/main" id="{A6744746-5576-C7CF-2A78-C92322336D82}"/>
              </a:ext>
            </a:extLst>
          </p:cNvPr>
          <p:cNvPicPr>
            <a:picLocks noChangeAspect="1"/>
          </p:cNvPicPr>
          <p:nvPr userDrawn="1"/>
        </p:nvPicPr>
        <p:blipFill>
          <a:blip r:embed="rId3"/>
          <a:stretch>
            <a:fillRect/>
          </a:stretch>
        </p:blipFill>
        <p:spPr>
          <a:xfrm>
            <a:off x="6862763" y="3733200"/>
            <a:ext cx="2743200" cy="2743200"/>
          </a:xfrm>
          <a:prstGeom prst="rect">
            <a:avLst/>
          </a:prstGeom>
        </p:spPr>
      </p:pic>
    </p:spTree>
    <p:extLst>
      <p:ext uri="{BB962C8B-B14F-4D97-AF65-F5344CB8AC3E}">
        <p14:creationId xmlns:p14="http://schemas.microsoft.com/office/powerpoint/2010/main" val="132063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60717" r="12369"/>
          <a:stretch/>
        </p:blipFill>
        <p:spPr>
          <a:xfrm>
            <a:off x="2" y="1"/>
            <a:ext cx="3281400"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3653911" y="687602"/>
            <a:ext cx="5944553" cy="1447199"/>
          </a:xfrm>
          <a:prstGeom prst="rect">
            <a:avLst/>
          </a:prstGeom>
        </p:spPr>
        <p:txBody>
          <a:bodyPr/>
          <a:lstStyle>
            <a:lvl1pPr>
              <a:defRPr sz="9600"/>
            </a:lvl1p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3653911" y="2286000"/>
            <a:ext cx="5944553"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6319013"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00" smtClean="0">
                <a:solidFill>
                  <a:srgbClr val="6B6B6B"/>
                </a:solidFill>
              </a:rPr>
              <a:pPr algn="ctr"/>
              <a:t>‹#›</a:t>
            </a:fld>
            <a:endParaRPr kumimoji="0" lang="en-US" altLang="ja-JP" sz="600" dirty="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976" y="5202002"/>
            <a:ext cx="3282376"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3653911" y="6562800"/>
            <a:ext cx="2603667"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rgbClr val="6B6B6B"/>
                </a:solidFill>
              </a:rPr>
              <a:t>© 2026 NTT DATA University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Tree>
    <p:extLst>
      <p:ext uri="{BB962C8B-B14F-4D97-AF65-F5344CB8AC3E}">
        <p14:creationId xmlns:p14="http://schemas.microsoft.com/office/powerpoint/2010/main" val="184527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E0E3DF-D30F-67F3-1120-4D08EF0597DA}"/>
              </a:ext>
            </a:extLst>
          </p:cNvPr>
          <p:cNvSpPr>
            <a:spLocks noGrp="1"/>
          </p:cNvSpPr>
          <p:nvPr>
            <p:ph type="title" hasCustomPrompt="1"/>
          </p:nvPr>
        </p:nvSpPr>
        <p:spPr>
          <a:xfrm>
            <a:off x="301321" y="687603"/>
            <a:ext cx="5944553" cy="1447199"/>
          </a:xfrm>
          <a:prstGeom prst="rect">
            <a:avLst/>
          </a:prstGeom>
        </p:spPr>
        <p:txBody>
          <a:bodyPr/>
          <a:lstStyle>
            <a:lvl1pPr>
              <a:defRPr sz="9600"/>
            </a:lvl1pPr>
          </a:lstStyle>
          <a:p>
            <a:r>
              <a:rPr kumimoji="1" lang="en-US" altLang="ja-JP" dirty="0"/>
              <a:t>01</a:t>
            </a:r>
            <a:endParaRPr kumimoji="1" lang="ja-JP" altLang="en-US"/>
          </a:p>
        </p:txBody>
      </p:sp>
      <p:sp>
        <p:nvSpPr>
          <p:cNvPr id="3" name="テキスト プレースホルダー 8">
            <a:extLst>
              <a:ext uri="{FF2B5EF4-FFF2-40B4-BE49-F238E27FC236}">
                <a16:creationId xmlns:a16="http://schemas.microsoft.com/office/drawing/2014/main" id="{14339CF7-9CA0-A841-448E-67A663E55CF3}"/>
              </a:ext>
            </a:extLst>
          </p:cNvPr>
          <p:cNvSpPr>
            <a:spLocks noGrp="1"/>
          </p:cNvSpPr>
          <p:nvPr>
            <p:ph type="body" sz="quarter" idx="16" hasCustomPrompt="1"/>
          </p:nvPr>
        </p:nvSpPr>
        <p:spPr>
          <a:xfrm>
            <a:off x="301323" y="2286000"/>
            <a:ext cx="5944553" cy="3888000"/>
          </a:xfrm>
          <a:prstGeom prst="rect">
            <a:avLst/>
          </a:prstGeom>
        </p:spPr>
        <p:txBody>
          <a:bodyPr lIns="0" tIns="0" rIns="0" bIns="0"/>
          <a:lstStyle>
            <a:lvl1pPr>
              <a:defRPr sz="4000" b="1">
                <a:solidFill>
                  <a:schemeClr val="accent1"/>
                </a:solidFill>
              </a:defRPr>
            </a:lvl1pPr>
          </a:lstStyle>
          <a:p>
            <a:pPr lvl="0"/>
            <a:r>
              <a:rPr kumimoji="1" lang="ja-JP" altLang="en-US"/>
              <a:t>中扉タイトル</a:t>
            </a:r>
          </a:p>
        </p:txBody>
      </p:sp>
      <p:sp>
        <p:nvSpPr>
          <p:cNvPr id="5" name="テキスト ボックス 4">
            <a:extLst>
              <a:ext uri="{FF2B5EF4-FFF2-40B4-BE49-F238E27FC236}">
                <a16:creationId xmlns:a16="http://schemas.microsoft.com/office/drawing/2014/main" id="{442CEE08-CDC8-97A0-0539-B8FAF99A1769}"/>
              </a:ext>
            </a:extLst>
          </p:cNvPr>
          <p:cNvSpPr txBox="1"/>
          <p:nvPr userDrawn="1"/>
        </p:nvSpPr>
        <p:spPr>
          <a:xfrm>
            <a:off x="4829949"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00" smtClean="0">
                <a:solidFill>
                  <a:srgbClr val="6B6B6B"/>
                </a:solidFill>
              </a:rPr>
              <a:pPr algn="ctr"/>
              <a:t>‹#›</a:t>
            </a:fld>
            <a:endParaRPr kumimoji="0" lang="en-US" altLang="ja-JP" sz="600" dirty="0">
              <a:solidFill>
                <a:srgbClr val="6B6B6B"/>
              </a:solidFill>
              <a:latin typeface="+mn-ea"/>
              <a:cs typeface="Meiryo UI" pitchFamily="50" charset="-128"/>
            </a:endParaRPr>
          </a:p>
        </p:txBody>
      </p:sp>
      <p:pic>
        <p:nvPicPr>
          <p:cNvPr id="6" name="Picture 6">
            <a:extLst>
              <a:ext uri="{FF2B5EF4-FFF2-40B4-BE49-F238E27FC236}">
                <a16:creationId xmlns:a16="http://schemas.microsoft.com/office/drawing/2014/main" id="{69A84F99-7EC9-EDC3-8773-4EAF5BF9DFFB}"/>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tretch>
            <a:fillRect/>
          </a:stretch>
        </p:blipFill>
        <p:spPr>
          <a:xfrm>
            <a:off x="6558555" y="3132779"/>
            <a:ext cx="3039421" cy="3039421"/>
          </a:xfrm>
          <a:prstGeom prst="rect">
            <a:avLst/>
          </a:prstGeom>
        </p:spPr>
      </p:pic>
    </p:spTree>
    <p:extLst>
      <p:ext uri="{BB962C8B-B14F-4D97-AF65-F5344CB8AC3E}">
        <p14:creationId xmlns:p14="http://schemas.microsoft.com/office/powerpoint/2010/main" val="1412629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写真入イノベーションカー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01CCA0-7E92-7FFB-2532-8D8D86CBBF3B}"/>
              </a:ext>
            </a:extLst>
          </p:cNvPr>
          <p:cNvSpPr>
            <a:spLocks noGrp="1"/>
          </p:cNvSpPr>
          <p:nvPr>
            <p:ph type="title" hasCustomPrompt="1"/>
          </p:nvPr>
        </p:nvSpPr>
        <p:spPr>
          <a:xfrm>
            <a:off x="4360985" y="687602"/>
            <a:ext cx="5237479" cy="1447199"/>
          </a:xfrm>
          <a:prstGeom prst="rect">
            <a:avLst/>
          </a:prstGeom>
        </p:spPr>
        <p:txBody>
          <a:bodyPr/>
          <a:lstStyle>
            <a:lvl1pPr>
              <a:defRPr sz="9600"/>
            </a:lvl1p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E10C1EF1-42DC-CE53-8902-8E322B4352D3}"/>
              </a:ext>
            </a:extLst>
          </p:cNvPr>
          <p:cNvSpPr>
            <a:spLocks noGrp="1"/>
          </p:cNvSpPr>
          <p:nvPr>
            <p:ph type="body" sz="quarter" idx="16" hasCustomPrompt="1"/>
          </p:nvPr>
        </p:nvSpPr>
        <p:spPr>
          <a:xfrm>
            <a:off x="4360985" y="2433600"/>
            <a:ext cx="5237479" cy="3740400"/>
          </a:xfrm>
          <a:prstGeom prst="rect">
            <a:avLst/>
          </a:prstGeom>
        </p:spPr>
        <p:txBody>
          <a:bodyPr lIns="0" tIns="0" rIns="0" bIns="0"/>
          <a:lstStyle>
            <a:lvl1pPr>
              <a:defRPr sz="4000" b="1">
                <a:solidFill>
                  <a:schemeClr val="accent1"/>
                </a:solidFill>
              </a:defRPr>
            </a:lvl1pPr>
          </a:lstStyle>
          <a:p>
            <a:pPr lvl="0"/>
            <a:r>
              <a:rPr kumimoji="1" lang="ja-JP" altLang="en-US" dirty="0"/>
              <a:t>中扉タイトル</a:t>
            </a:r>
          </a:p>
        </p:txBody>
      </p:sp>
      <p:sp>
        <p:nvSpPr>
          <p:cNvPr id="6" name="テキスト ボックス 5">
            <a:extLst>
              <a:ext uri="{FF2B5EF4-FFF2-40B4-BE49-F238E27FC236}">
                <a16:creationId xmlns:a16="http://schemas.microsoft.com/office/drawing/2014/main" id="{53785BB8-9BEF-6511-73A0-EFF55EDD2267}"/>
              </a:ext>
            </a:extLst>
          </p:cNvPr>
          <p:cNvSpPr txBox="1"/>
          <p:nvPr userDrawn="1"/>
        </p:nvSpPr>
        <p:spPr>
          <a:xfrm>
            <a:off x="4829949"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00" smtClean="0">
                <a:solidFill>
                  <a:srgbClr val="6B6B6B"/>
                </a:solidFill>
              </a:rPr>
              <a:pPr algn="ctr"/>
              <a:t>‹#›</a:t>
            </a:fld>
            <a:endParaRPr kumimoji="0" lang="en-US" altLang="ja-JP" sz="600" dirty="0">
              <a:solidFill>
                <a:srgbClr val="6B6B6B"/>
              </a:solidFill>
              <a:latin typeface="+mn-ea"/>
              <a:cs typeface="Meiryo UI" pitchFamily="50" charset="-128"/>
            </a:endParaRPr>
          </a:p>
        </p:txBody>
      </p:sp>
      <p:sp>
        <p:nvSpPr>
          <p:cNvPr id="4" name="テキスト ボックス 3">
            <a:extLst>
              <a:ext uri="{FF2B5EF4-FFF2-40B4-BE49-F238E27FC236}">
                <a16:creationId xmlns:a16="http://schemas.microsoft.com/office/drawing/2014/main" id="{5AFADF36-0739-4336-5F19-36F99723999B}"/>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pic>
        <p:nvPicPr>
          <p:cNvPr id="7" name="Picture 6">
            <a:extLst>
              <a:ext uri="{FF2B5EF4-FFF2-40B4-BE49-F238E27FC236}">
                <a16:creationId xmlns:a16="http://schemas.microsoft.com/office/drawing/2014/main" id="{E42AF305-3F58-3FA1-1FC5-E8EA7E3BA3B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9125" y="2433599"/>
            <a:ext cx="3740400" cy="3740400"/>
          </a:xfrm>
          <a:prstGeom prst="rect">
            <a:avLst/>
          </a:prstGeom>
        </p:spPr>
      </p:pic>
      <p:pic>
        <p:nvPicPr>
          <p:cNvPr id="9" name="図プレースホルダー 15">
            <a:extLst>
              <a:ext uri="{FF2B5EF4-FFF2-40B4-BE49-F238E27FC236}">
                <a16:creationId xmlns:a16="http://schemas.microsoft.com/office/drawing/2014/main" id="{51198EEC-BB04-295C-CA4D-4DF5B4760C92}"/>
              </a:ext>
            </a:extLst>
          </p:cNvPr>
          <p:cNvPicPr>
            <a:picLocks noChangeAspect="1"/>
          </p:cNvPicPr>
          <p:nvPr userDrawn="1"/>
        </p:nvPicPr>
        <p:blipFill rotWithShape="1">
          <a:blip r:embed="rId3"/>
          <a:srcRect l="40504" r="3246"/>
          <a:stretch/>
        </p:blipFill>
        <p:spPr>
          <a:xfrm>
            <a:off x="309125" y="2433599"/>
            <a:ext cx="3740400" cy="37404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p:spPr>
      </p:pic>
    </p:spTree>
    <p:extLst>
      <p:ext uri="{BB962C8B-B14F-4D97-AF65-F5344CB8AC3E}">
        <p14:creationId xmlns:p14="http://schemas.microsoft.com/office/powerpoint/2010/main" val="1310426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4" name="Picture Placeholder 8">
            <a:extLst>
              <a:ext uri="{FF2B5EF4-FFF2-40B4-BE49-F238E27FC236}">
                <a16:creationId xmlns:a16="http://schemas.microsoft.com/office/drawing/2014/main" id="{FA6AB626-E0AA-0A40-3FC2-4C5371FDCB4E}"/>
              </a:ext>
            </a:extLst>
          </p:cNvPr>
          <p:cNvPicPr>
            <a:picLocks noChangeAspect="1"/>
          </p:cNvPicPr>
          <p:nvPr userDrawn="1"/>
        </p:nvPicPr>
        <p:blipFill rotWithShape="1">
          <a:blip r:embed="rId2"/>
          <a:srcRect l="9362" r="9375"/>
          <a:stretch/>
        </p:blipFill>
        <p:spPr>
          <a:xfrm>
            <a:off x="0" y="0"/>
            <a:ext cx="9907588" cy="6857998"/>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3"/>
            <a:ext cx="9903931"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chemeClr val="bg1"/>
                </a:solidFill>
              </a:rPr>
              <a:t>© 2026 NTT DATA University Corporation</a:t>
            </a:r>
          </a:p>
        </p:txBody>
      </p:sp>
      <p:sp>
        <p:nvSpPr>
          <p:cNvPr id="3" name="テキスト ボックス 2">
            <a:extLst>
              <a:ext uri="{FF2B5EF4-FFF2-40B4-BE49-F238E27FC236}">
                <a16:creationId xmlns:a16="http://schemas.microsoft.com/office/drawing/2014/main" id="{A49A56B1-D141-A67A-825B-D1E94545EC0A}"/>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10100" y="864000"/>
            <a:ext cx="4644000" cy="795600"/>
          </a:xfrm>
          <a:prstGeom prst="rect">
            <a:avLst/>
          </a:prstGeom>
        </p:spPr>
        <p:txBody>
          <a:bodyPr lIns="0" rIns="0" anchor="b" anchorCtr="0"/>
          <a:lstStyle>
            <a:lvl1pPr>
              <a:defRPr sz="2000">
                <a:solidFill>
                  <a:schemeClr val="bg1"/>
                </a:solidFill>
              </a:defRPr>
            </a:lvl1pPr>
          </a:lstStyle>
          <a:p>
            <a:pPr lvl="0"/>
            <a:r>
              <a:rPr kumimoji="1" lang="ja-JP" altLang="en-US" dirty="0"/>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10100" y="2188800"/>
            <a:ext cx="4644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10100" y="5191200"/>
            <a:ext cx="4644000" cy="1119600"/>
          </a:xfrm>
          <a:prstGeom prst="rect">
            <a:avLst/>
          </a:prstGeom>
        </p:spPr>
        <p:txBody>
          <a:bodyPr lIns="0" tIns="46800" rIns="0" anchor="b"/>
          <a:lstStyle>
            <a:lvl1pPr>
              <a:defRPr sz="2000">
                <a:solidFill>
                  <a:schemeClr val="bg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6" name="図 5">
            <a:extLst>
              <a:ext uri="{FF2B5EF4-FFF2-40B4-BE49-F238E27FC236}">
                <a16:creationId xmlns:a16="http://schemas.microsoft.com/office/drawing/2014/main" id="{13DD2911-5EAE-D046-E47F-D5A214C59296}"/>
              </a:ext>
            </a:extLst>
          </p:cNvPr>
          <p:cNvPicPr>
            <a:picLocks noChangeAspect="1"/>
          </p:cNvPicPr>
          <p:nvPr userDrawn="1"/>
        </p:nvPicPr>
        <p:blipFill>
          <a:blip r:embed="rId3"/>
          <a:stretch>
            <a:fillRect/>
          </a:stretch>
        </p:blipFill>
        <p:spPr>
          <a:xfrm>
            <a:off x="3069788" y="0"/>
            <a:ext cx="6837800" cy="6876000"/>
          </a:xfrm>
          <a:prstGeom prst="rect">
            <a:avLst/>
          </a:prstGeom>
        </p:spPr>
      </p:pic>
      <p:pic>
        <p:nvPicPr>
          <p:cNvPr id="11" name="図 10">
            <a:extLst>
              <a:ext uri="{FF2B5EF4-FFF2-40B4-BE49-F238E27FC236}">
                <a16:creationId xmlns:a16="http://schemas.microsoft.com/office/drawing/2014/main" id="{169B99CD-BDA6-E5DB-BC34-2C8F1563B180}"/>
              </a:ext>
            </a:extLst>
          </p:cNvPr>
          <p:cNvPicPr>
            <a:picLocks noChangeAspect="1"/>
          </p:cNvPicPr>
          <p:nvPr userDrawn="1"/>
        </p:nvPicPr>
        <p:blipFill>
          <a:blip r:embed="rId4"/>
          <a:srcRect/>
          <a:stretch/>
        </p:blipFill>
        <p:spPr>
          <a:xfrm>
            <a:off x="162000" y="234212"/>
            <a:ext cx="2243138" cy="567955"/>
          </a:xfrm>
          <a:prstGeom prst="rect">
            <a:avLst/>
          </a:prstGeom>
        </p:spPr>
      </p:pic>
    </p:spTree>
    <p:extLst>
      <p:ext uri="{BB962C8B-B14F-4D97-AF65-F5344CB8AC3E}">
        <p14:creationId xmlns:p14="http://schemas.microsoft.com/office/powerpoint/2010/main" val="3461023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4F030FF9-F289-FD5B-1AF2-346C3FA925EE}"/>
              </a:ext>
            </a:extLst>
          </p:cNvPr>
          <p:cNvPicPr>
            <a:picLocks noChangeAspect="1"/>
          </p:cNvPicPr>
          <p:nvPr userDrawn="1"/>
        </p:nvPicPr>
        <p:blipFill rotWithShape="1">
          <a:blip r:embed="rId2"/>
          <a:srcRect l="9362" r="9375"/>
          <a:stretch/>
        </p:blipFill>
        <p:spPr>
          <a:xfrm>
            <a:off x="0" y="0"/>
            <a:ext cx="9907588" cy="6857998"/>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3"/>
            <a:ext cx="9903931"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chemeClr val="bg1"/>
                </a:solidFill>
              </a:rPr>
              <a:t>© 2026 NTT DATA University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10100" y="1450800"/>
            <a:ext cx="4946400" cy="795600"/>
          </a:xfrm>
          <a:prstGeom prst="rect">
            <a:avLst/>
          </a:prstGeom>
        </p:spPr>
        <p:txBody>
          <a:bodyPr lIns="0" rIns="0" anchor="b" anchorCtr="0"/>
          <a:lstStyle>
            <a:lvl1pPr>
              <a:defRPr sz="2000">
                <a:solidFill>
                  <a:schemeClr val="bg1"/>
                </a:solidFill>
              </a:defRPr>
            </a:lvl1pPr>
          </a:lstStyle>
          <a:p>
            <a:pPr lvl="0"/>
            <a:r>
              <a:rPr kumimoji="1" lang="ja-JP" altLang="en-US" dirty="0"/>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10100" y="2246401"/>
            <a:ext cx="49464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dirty="0"/>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10100" y="5191200"/>
            <a:ext cx="4946400" cy="1119600"/>
          </a:xfrm>
          <a:prstGeom prst="rect">
            <a:avLst/>
          </a:prstGeom>
        </p:spPr>
        <p:txBody>
          <a:bodyPr lIns="0" tIns="46800" rIns="0" anchor="b"/>
          <a:lstStyle>
            <a:lvl1pPr>
              <a:defRPr sz="2000">
                <a:solidFill>
                  <a:schemeClr val="bg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6" name="図 5">
            <a:extLst>
              <a:ext uri="{FF2B5EF4-FFF2-40B4-BE49-F238E27FC236}">
                <a16:creationId xmlns:a16="http://schemas.microsoft.com/office/drawing/2014/main" id="{B9369180-38DB-C321-73AE-AF4ACD788EFE}"/>
              </a:ext>
            </a:extLst>
          </p:cNvPr>
          <p:cNvPicPr>
            <a:picLocks noChangeAspect="1"/>
          </p:cNvPicPr>
          <p:nvPr userDrawn="1"/>
        </p:nvPicPr>
        <p:blipFill>
          <a:blip r:embed="rId3"/>
          <a:stretch>
            <a:fillRect/>
          </a:stretch>
        </p:blipFill>
        <p:spPr>
          <a:xfrm>
            <a:off x="5345398" y="0"/>
            <a:ext cx="4558534" cy="6876000"/>
          </a:xfrm>
          <a:prstGeom prst="rect">
            <a:avLst/>
          </a:prstGeom>
        </p:spPr>
      </p:pic>
      <p:pic>
        <p:nvPicPr>
          <p:cNvPr id="3" name="図 2">
            <a:extLst>
              <a:ext uri="{FF2B5EF4-FFF2-40B4-BE49-F238E27FC236}">
                <a16:creationId xmlns:a16="http://schemas.microsoft.com/office/drawing/2014/main" id="{50277404-76EE-0F3A-09AC-9A682C3F1AD1}"/>
              </a:ext>
            </a:extLst>
          </p:cNvPr>
          <p:cNvPicPr>
            <a:picLocks noChangeAspect="1"/>
          </p:cNvPicPr>
          <p:nvPr userDrawn="1"/>
        </p:nvPicPr>
        <p:blipFill>
          <a:blip r:embed="rId4"/>
          <a:srcRect/>
          <a:stretch/>
        </p:blipFill>
        <p:spPr>
          <a:xfrm>
            <a:off x="162000" y="234212"/>
            <a:ext cx="2243138" cy="567955"/>
          </a:xfrm>
          <a:prstGeom prst="rect">
            <a:avLst/>
          </a:prstGeom>
        </p:spPr>
      </p:pic>
    </p:spTree>
    <p:extLst>
      <p:ext uri="{BB962C8B-B14F-4D97-AF65-F5344CB8AC3E}">
        <p14:creationId xmlns:p14="http://schemas.microsoft.com/office/powerpoint/2010/main" val="3505876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34B328B2-5DB0-9AFD-871E-B89BD4ADCEA5}"/>
              </a:ext>
            </a:extLst>
          </p:cNvPr>
          <p:cNvPicPr>
            <a:picLocks noChangeAspect="1"/>
          </p:cNvPicPr>
          <p:nvPr userDrawn="1"/>
        </p:nvPicPr>
        <p:blipFill rotWithShape="1">
          <a:blip r:embed="rId2"/>
          <a:srcRect l="9362" r="9375"/>
          <a:stretch/>
        </p:blipFill>
        <p:spPr>
          <a:xfrm>
            <a:off x="0" y="0"/>
            <a:ext cx="9907588" cy="6857998"/>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9903931"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chemeClr val="bg1"/>
                </a:solidFill>
              </a:rPr>
              <a:t>© 2026 NTT DATA University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10100" y="1450800"/>
            <a:ext cx="9297140" cy="795600"/>
          </a:xfrm>
          <a:prstGeom prst="rect">
            <a:avLst/>
          </a:prstGeom>
        </p:spPr>
        <p:txBody>
          <a:bodyPr lIns="0" rIns="0" anchor="b" anchorCtr="0"/>
          <a:lstStyle>
            <a:lvl1pPr>
              <a:defRPr sz="2000">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10100" y="2246400"/>
            <a:ext cx="929714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10100" y="5191200"/>
            <a:ext cx="9297140" cy="1119600"/>
          </a:xfrm>
          <a:prstGeom prst="rect">
            <a:avLst/>
          </a:prstGeom>
        </p:spPr>
        <p:txBody>
          <a:bodyPr lIns="0" tIns="46800" rIns="0" anchor="b"/>
          <a:lstStyle>
            <a:lvl1pPr>
              <a:defRPr sz="2000">
                <a:solidFill>
                  <a:schemeClr val="bg1"/>
                </a:solidFill>
              </a:defRPr>
            </a:lvl1pPr>
            <a:lvl5pPr marL="1828662" indent="0">
              <a:buNone/>
              <a:defRPr/>
            </a:lvl5pPr>
          </a:lstStyle>
          <a:p>
            <a:pPr lvl="0"/>
            <a:r>
              <a:rPr kumimoji="1" lang="en-US" altLang="ja-JP" dirty="0"/>
              <a:t>2026</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pic>
        <p:nvPicPr>
          <p:cNvPr id="2" name="図 1">
            <a:extLst>
              <a:ext uri="{FF2B5EF4-FFF2-40B4-BE49-F238E27FC236}">
                <a16:creationId xmlns:a16="http://schemas.microsoft.com/office/drawing/2014/main" id="{12CF1F21-3281-828D-B3F3-A79A84986320}"/>
              </a:ext>
            </a:extLst>
          </p:cNvPr>
          <p:cNvPicPr>
            <a:picLocks noChangeAspect="1"/>
          </p:cNvPicPr>
          <p:nvPr userDrawn="1"/>
        </p:nvPicPr>
        <p:blipFill>
          <a:blip r:embed="rId3"/>
          <a:srcRect/>
          <a:stretch/>
        </p:blipFill>
        <p:spPr>
          <a:xfrm>
            <a:off x="162000" y="234212"/>
            <a:ext cx="2243138" cy="567955"/>
          </a:xfrm>
          <a:prstGeom prst="rect">
            <a:avLst/>
          </a:prstGeom>
        </p:spPr>
      </p:pic>
    </p:spTree>
    <p:extLst>
      <p:ext uri="{BB962C8B-B14F-4D97-AF65-F5344CB8AC3E}">
        <p14:creationId xmlns:p14="http://schemas.microsoft.com/office/powerpoint/2010/main" val="103365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01323" y="31464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chemeClr val="bg1"/>
                </a:solidFill>
              </a:rPr>
              <a:t>© 2026 NTT DATA University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01323" y="752400"/>
            <a:ext cx="9297140" cy="396000"/>
          </a:xfrm>
          <a:prstGeom prst="rect">
            <a:avLst/>
          </a:prstGeom>
        </p:spPr>
        <p:txBody>
          <a:bodyPr lIns="0" rIns="0" anchor="b" anchorCtr="0"/>
          <a:lstStyle>
            <a:lvl1pPr>
              <a:defRPr sz="2000">
                <a:solidFill>
                  <a:schemeClr val="bg1"/>
                </a:solidFill>
              </a:defRPr>
            </a:lvl1pPr>
          </a:lstStyle>
          <a:p>
            <a:pPr lvl="0"/>
            <a:r>
              <a:rPr kumimoji="1" lang="ja-JP" altLang="en-US" dirty="0"/>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01323" y="1143727"/>
            <a:ext cx="929714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01323" y="2565971"/>
            <a:ext cx="9297140" cy="375900"/>
          </a:xfrm>
          <a:prstGeom prst="rect">
            <a:avLst/>
          </a:prstGeom>
        </p:spPr>
        <p:txBody>
          <a:bodyPr lIns="0" tIns="46800" rIns="0"/>
          <a:lstStyle>
            <a:lvl1pPr>
              <a:defRPr sz="2000">
                <a:solidFill>
                  <a:schemeClr val="bg1"/>
                </a:solidFill>
              </a:defRPr>
            </a:lvl1pPr>
            <a:lvl5pPr marL="1828662" indent="0">
              <a:buNone/>
              <a:defRPr/>
            </a:lvl5pPr>
          </a:lstStyle>
          <a:p>
            <a:pPr lvl="0"/>
            <a:r>
              <a:rPr kumimoji="1" lang="en-US" altLang="ja-JP" dirty="0"/>
              <a:t>2026</a:t>
            </a:r>
            <a:r>
              <a:rPr kumimoji="1" lang="ja-JP" altLang="en-US" dirty="0"/>
              <a:t>年〇月〇日　株式会社</a:t>
            </a:r>
            <a:r>
              <a:rPr kumimoji="1" lang="en-US" altLang="ja-JP" dirty="0"/>
              <a:t>NTT</a:t>
            </a:r>
            <a:r>
              <a:rPr kumimoji="1" lang="ja-JP" altLang="en-US" dirty="0"/>
              <a:t>データ ○○○○○○</a:t>
            </a:r>
          </a:p>
        </p:txBody>
      </p:sp>
      <p:pic>
        <p:nvPicPr>
          <p:cNvPr id="6" name="図プレースホルダー 11">
            <a:extLst>
              <a:ext uri="{FF2B5EF4-FFF2-40B4-BE49-F238E27FC236}">
                <a16:creationId xmlns:a16="http://schemas.microsoft.com/office/drawing/2014/main" id="{3594DBD7-BE75-3613-24EC-F29C8982CC17}"/>
              </a:ext>
            </a:extLst>
          </p:cNvPr>
          <p:cNvPicPr>
            <a:picLocks noChangeAspect="1"/>
          </p:cNvPicPr>
          <p:nvPr userDrawn="1"/>
        </p:nvPicPr>
        <p:blipFill rotWithShape="1">
          <a:blip r:embed="rId2"/>
          <a:srcRect l="29119" t="161" r="2006" b="56465"/>
          <a:stretch/>
        </p:blipFill>
        <p:spPr>
          <a:xfrm>
            <a:off x="0" y="3351600"/>
            <a:ext cx="9908563" cy="3510000"/>
          </a:xfrm>
          <a:prstGeom prst="rect">
            <a:avLst/>
          </a:prstGeom>
        </p:spPr>
      </p:pic>
      <p:pic>
        <p:nvPicPr>
          <p:cNvPr id="8" name="図 7">
            <a:extLst>
              <a:ext uri="{FF2B5EF4-FFF2-40B4-BE49-F238E27FC236}">
                <a16:creationId xmlns:a16="http://schemas.microsoft.com/office/drawing/2014/main" id="{6BE9E2C1-9F3F-FD60-2537-6CE78B904280}"/>
              </a:ext>
            </a:extLst>
          </p:cNvPr>
          <p:cNvPicPr>
            <a:picLocks noChangeAspect="1"/>
          </p:cNvPicPr>
          <p:nvPr userDrawn="1"/>
        </p:nvPicPr>
        <p:blipFill>
          <a:blip r:embed="rId3"/>
          <a:stretch>
            <a:fillRect/>
          </a:stretch>
        </p:blipFill>
        <p:spPr>
          <a:xfrm>
            <a:off x="6862763" y="3733200"/>
            <a:ext cx="2743200" cy="2743200"/>
          </a:xfrm>
          <a:prstGeom prst="rect">
            <a:avLst/>
          </a:prstGeom>
        </p:spPr>
      </p:pic>
    </p:spTree>
    <p:extLst>
      <p:ext uri="{BB962C8B-B14F-4D97-AF65-F5344CB8AC3E}">
        <p14:creationId xmlns:p14="http://schemas.microsoft.com/office/powerpoint/2010/main" val="800671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白背景">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9400E9E-1DB4-C6EA-0430-D1C07457D179}"/>
              </a:ext>
            </a:extLst>
          </p:cNvPr>
          <p:cNvPicPr>
            <a:picLocks noChangeAspect="1"/>
          </p:cNvPicPr>
          <p:nvPr userDrawn="1"/>
        </p:nvPicPr>
        <p:blipFill>
          <a:blip r:embed="rId2"/>
          <a:srcRect/>
          <a:stretch/>
        </p:blipFill>
        <p:spPr>
          <a:xfrm>
            <a:off x="1863691" y="2642745"/>
            <a:ext cx="6180205" cy="1564809"/>
          </a:xfrm>
          <a:prstGeom prst="rect">
            <a:avLst/>
          </a:prstGeom>
        </p:spPr>
      </p:pic>
    </p:spTree>
    <p:extLst>
      <p:ext uri="{BB962C8B-B14F-4D97-AF65-F5344CB8AC3E}">
        <p14:creationId xmlns:p14="http://schemas.microsoft.com/office/powerpoint/2010/main" val="1475975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写真背景">
    <p:bg>
      <p:bgRef idx="1001">
        <a:schemeClr val="bg1"/>
      </p:bgRef>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pic>
        <p:nvPicPr>
          <p:cNvPr id="2" name="Picture Placeholder 8">
            <a:extLst>
              <a:ext uri="{FF2B5EF4-FFF2-40B4-BE49-F238E27FC236}">
                <a16:creationId xmlns:a16="http://schemas.microsoft.com/office/drawing/2014/main" id="{91E4CD78-8EFB-2041-A53A-726014126F88}"/>
              </a:ext>
            </a:extLst>
          </p:cNvPr>
          <p:cNvPicPr>
            <a:picLocks noChangeAspect="1"/>
          </p:cNvPicPr>
          <p:nvPr userDrawn="1"/>
        </p:nvPicPr>
        <p:blipFill rotWithShape="1">
          <a:blip r:embed="rId2"/>
          <a:srcRect l="9362" r="9375"/>
          <a:stretch/>
        </p:blipFill>
        <p:spPr>
          <a:xfrm>
            <a:off x="0" y="0"/>
            <a:ext cx="9907588" cy="6857998"/>
          </a:xfrm>
          <a:prstGeom prst="rect">
            <a:avLst/>
          </a:prstGeom>
        </p:spPr>
      </p:pic>
      <p:sp>
        <p:nvSpPr>
          <p:cNvPr id="4" name="正方形/長方形 3">
            <a:extLst>
              <a:ext uri="{FF2B5EF4-FFF2-40B4-BE49-F238E27FC236}">
                <a16:creationId xmlns:a16="http://schemas.microsoft.com/office/drawing/2014/main" id="{2C2CAF32-A356-3B3F-D212-66BD79D70D9F}"/>
              </a:ext>
            </a:extLst>
          </p:cNvPr>
          <p:cNvSpPr/>
          <p:nvPr userDrawn="1"/>
        </p:nvSpPr>
        <p:spPr>
          <a:xfrm>
            <a:off x="794" y="2"/>
            <a:ext cx="9907588"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pic>
        <p:nvPicPr>
          <p:cNvPr id="6" name="図 5">
            <a:extLst>
              <a:ext uri="{FF2B5EF4-FFF2-40B4-BE49-F238E27FC236}">
                <a16:creationId xmlns:a16="http://schemas.microsoft.com/office/drawing/2014/main" id="{6D4C0D82-C201-5934-400C-B85B22F35F15}"/>
              </a:ext>
            </a:extLst>
          </p:cNvPr>
          <p:cNvPicPr>
            <a:picLocks noChangeAspect="1"/>
          </p:cNvPicPr>
          <p:nvPr userDrawn="1"/>
        </p:nvPicPr>
        <p:blipFill>
          <a:blip r:embed="rId3"/>
          <a:srcRect/>
          <a:stretch/>
        </p:blipFill>
        <p:spPr>
          <a:xfrm>
            <a:off x="1863691" y="2642745"/>
            <a:ext cx="6180205" cy="1564809"/>
          </a:xfrm>
          <a:prstGeom prst="rect">
            <a:avLst/>
          </a:prstGeom>
        </p:spPr>
      </p:pic>
    </p:spTree>
    <p:extLst>
      <p:ext uri="{BB962C8B-B14F-4D97-AF65-F5344CB8AC3E}">
        <p14:creationId xmlns:p14="http://schemas.microsoft.com/office/powerpoint/2010/main" val="146985945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323" y="334800"/>
            <a:ext cx="9302991" cy="396000"/>
          </a:xfrm>
        </p:spPr>
        <p:txBody>
          <a:bodyPr tIns="0" bIns="0">
            <a:noAutofit/>
          </a:bodyPr>
          <a:lstStyle>
            <a:lvl1pPr>
              <a:defRPr sz="2113">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218099277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323" y="334800"/>
            <a:ext cx="9302991"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71" y="1038386"/>
            <a:ext cx="9302991"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408560298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323" y="334800"/>
            <a:ext cx="9302991"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71" y="1038386"/>
            <a:ext cx="4475967"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5128347" y="1038386"/>
            <a:ext cx="4475967"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26789649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323" y="334800"/>
            <a:ext cx="9302991" cy="396000"/>
          </a:xfrm>
        </p:spPr>
        <p:txBody>
          <a:bodyPr tIns="0" bIns="0">
            <a:noAutofit/>
          </a:bodyPr>
          <a:lstStyle>
            <a:lvl1pPr>
              <a:defRPr sz="2113">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01871" y="1038386"/>
            <a:ext cx="2972276"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3466681" y="1038386"/>
            <a:ext cx="2972276"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6633443" y="1038386"/>
            <a:ext cx="2972276"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11454134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01323" y="334800"/>
            <a:ext cx="9302991" cy="325154"/>
          </a:xfrm>
        </p:spPr>
        <p:txBody>
          <a:bodyPr tIns="0" bIns="0">
            <a:spAutoFit/>
          </a:bodyPr>
          <a:lstStyle>
            <a:lvl1pPr>
              <a:defRPr sz="2113">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01871" y="727200"/>
            <a:ext cx="9302991"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01871" y="1411200"/>
            <a:ext cx="9302991"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2213516924"/>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15211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42381023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9907586"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2"/>
            <a:ext cx="9907588"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01323" y="334802"/>
            <a:ext cx="9302991" cy="413999"/>
          </a:xfrm>
        </p:spPr>
        <p:txBody>
          <a:bodyPr tIns="0" bIns="0" anchor="t">
            <a:noAutofit/>
          </a:bodyPr>
          <a:lstStyle>
            <a:lvl1pPr>
              <a:defRPr sz="2113"/>
            </a:lvl1pPr>
          </a:lstStyle>
          <a:p>
            <a:r>
              <a:rPr kumimoji="1" lang="ja-JP" altLang="en-US"/>
              <a:t>［タイトル］</a:t>
            </a:r>
          </a:p>
        </p:txBody>
      </p:sp>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2026 NTT DATA University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pic>
        <p:nvPicPr>
          <p:cNvPr id="8" name="図 7">
            <a:extLst>
              <a:ext uri="{FF2B5EF4-FFF2-40B4-BE49-F238E27FC236}">
                <a16:creationId xmlns:a16="http://schemas.microsoft.com/office/drawing/2014/main" id="{23C20FBA-C3E1-22E3-CDE9-F3988E32B615}"/>
              </a:ext>
            </a:extLst>
          </p:cNvPr>
          <p:cNvPicPr>
            <a:picLocks noChangeAspect="1"/>
          </p:cNvPicPr>
          <p:nvPr userDrawn="1"/>
        </p:nvPicPr>
        <p:blipFill>
          <a:blip r:embed="rId3"/>
          <a:srcRect/>
          <a:stretch/>
        </p:blipFill>
        <p:spPr>
          <a:xfrm>
            <a:off x="8229600" y="6393775"/>
            <a:ext cx="1475057" cy="373480"/>
          </a:xfrm>
          <a:prstGeom prst="rect">
            <a:avLst/>
          </a:prstGeom>
        </p:spPr>
      </p:pic>
    </p:spTree>
    <p:extLst>
      <p:ext uri="{BB962C8B-B14F-4D97-AF65-F5344CB8AC3E}">
        <p14:creationId xmlns:p14="http://schemas.microsoft.com/office/powerpoint/2010/main" val="2148701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6625700" y="-1"/>
            <a:ext cx="3281400"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323" y="334800"/>
            <a:ext cx="6079124"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6625212" y="5202002"/>
            <a:ext cx="3282376"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pic>
        <p:nvPicPr>
          <p:cNvPr id="7" name="図 6">
            <a:extLst>
              <a:ext uri="{FF2B5EF4-FFF2-40B4-BE49-F238E27FC236}">
                <a16:creationId xmlns:a16="http://schemas.microsoft.com/office/drawing/2014/main" id="{CCA94171-5758-AE4D-56AD-57022477C6FD}"/>
              </a:ext>
            </a:extLst>
          </p:cNvPr>
          <p:cNvPicPr>
            <a:picLocks noChangeAspect="1"/>
          </p:cNvPicPr>
          <p:nvPr userDrawn="1"/>
        </p:nvPicPr>
        <p:blipFill>
          <a:blip r:embed="rId3"/>
          <a:srcRect/>
          <a:stretch/>
        </p:blipFill>
        <p:spPr>
          <a:xfrm>
            <a:off x="8229600" y="6393775"/>
            <a:ext cx="1475057" cy="373480"/>
          </a:xfrm>
          <a:prstGeom prst="rect">
            <a:avLst/>
          </a:prstGeom>
        </p:spPr>
      </p:pic>
    </p:spTree>
    <p:extLst>
      <p:ext uri="{BB962C8B-B14F-4D97-AF65-F5344CB8AC3E}">
        <p14:creationId xmlns:p14="http://schemas.microsoft.com/office/powerpoint/2010/main" val="19808800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1" y="-1"/>
            <a:ext cx="3281400"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27048" y="334800"/>
            <a:ext cx="5877267" cy="412538"/>
          </a:xfrm>
        </p:spPr>
        <p:txBody>
          <a:bodyPr tIns="0" bIns="0">
            <a:noAutofit/>
          </a:bodyPr>
          <a:lstStyle>
            <a:lvl1pPr>
              <a:defRPr sz="2113"/>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6319013"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976" y="5202002"/>
            <a:ext cx="3282376"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3653911" y="6562800"/>
            <a:ext cx="2603667"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2026 NTT DATA University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Tree>
    <p:extLst>
      <p:ext uri="{BB962C8B-B14F-4D97-AF65-F5344CB8AC3E}">
        <p14:creationId xmlns:p14="http://schemas.microsoft.com/office/powerpoint/2010/main" val="3312850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1" y="3351600"/>
            <a:ext cx="9908563"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2"/>
            <a:ext cx="9907588"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01323" y="334802"/>
            <a:ext cx="9302991" cy="413999"/>
          </a:xfrm>
        </p:spPr>
        <p:txBody>
          <a:bodyPr tIns="0" bIns="0" anchor="t">
            <a:noAutofit/>
          </a:bodyPr>
          <a:lstStyle>
            <a:lvl1pPr>
              <a:defRPr sz="2113"/>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2026 NTT DATA University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chemeClr val="bg1"/>
                </a:solidFill>
              </a:rPr>
              <a:pPr algn="ctr"/>
              <a:t>‹#›</a:t>
            </a:fld>
            <a:endParaRPr kumimoji="0" lang="en-US" altLang="ja-JP" sz="650" dirty="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pic>
        <p:nvPicPr>
          <p:cNvPr id="5" name="図 4">
            <a:extLst>
              <a:ext uri="{FF2B5EF4-FFF2-40B4-BE49-F238E27FC236}">
                <a16:creationId xmlns:a16="http://schemas.microsoft.com/office/drawing/2014/main" id="{5C414842-94F6-7A4A-B583-6691E49AE465}"/>
              </a:ext>
            </a:extLst>
          </p:cNvPr>
          <p:cNvPicPr>
            <a:picLocks noChangeAspect="1"/>
          </p:cNvPicPr>
          <p:nvPr userDrawn="1"/>
        </p:nvPicPr>
        <p:blipFill>
          <a:blip r:embed="rId3"/>
          <a:srcRect/>
          <a:stretch/>
        </p:blipFill>
        <p:spPr>
          <a:xfrm>
            <a:off x="8229600" y="6393775"/>
            <a:ext cx="1475057" cy="373480"/>
          </a:xfrm>
          <a:prstGeom prst="rect">
            <a:avLst/>
          </a:prstGeom>
        </p:spPr>
      </p:pic>
    </p:spTree>
    <p:extLst>
      <p:ext uri="{BB962C8B-B14F-4D97-AF65-F5344CB8AC3E}">
        <p14:creationId xmlns:p14="http://schemas.microsoft.com/office/powerpoint/2010/main" val="3589857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01323" y="334800"/>
            <a:ext cx="9302991" cy="412538"/>
          </a:xfrm>
        </p:spPr>
        <p:txBody>
          <a:bodyPr tIns="0" bIns="0">
            <a:noAutofit/>
          </a:bodyPr>
          <a:lstStyle>
            <a:lvl1pPr>
              <a:defRPr sz="2113"/>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3264823"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3323333" y="1411200"/>
            <a:ext cx="3264823"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6643740" y="1411200"/>
            <a:ext cx="3264823" cy="2772000"/>
          </a:xfrm>
          <a:solidFill>
            <a:schemeClr val="accent6"/>
          </a:solidFill>
        </p:spPr>
        <p:txBody>
          <a:bodyPr anchor="ctr" anchorCtr="0"/>
          <a:lstStyle>
            <a:lvl1pPr algn="ctr">
              <a:defRPr sz="1625">
                <a:solidFill>
                  <a:schemeClr val="bg1"/>
                </a:solidFill>
              </a:defRPr>
            </a:lvl1pPr>
          </a:lstStyle>
          <a:p>
            <a:r>
              <a:rPr lang="en-US" dirty="0" err="1"/>
              <a:t>クリックして画像を追加してください</a:t>
            </a:r>
            <a:r>
              <a:rPr lang="en-US" dirty="0"/>
              <a:t>。</a:t>
            </a:r>
          </a:p>
        </p:txBody>
      </p:sp>
    </p:spTree>
    <p:extLst>
      <p:ext uri="{BB962C8B-B14F-4D97-AF65-F5344CB8AC3E}">
        <p14:creationId xmlns:p14="http://schemas.microsoft.com/office/powerpoint/2010/main" val="2599248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01323" y="334800"/>
            <a:ext cx="3592476"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01323" y="2422800"/>
            <a:ext cx="3592476" cy="1458000"/>
          </a:xfrm>
        </p:spPr>
        <p:txBody>
          <a:bodyPr>
            <a:noAutofit/>
          </a:bodyPr>
          <a:lstStyle>
            <a:lvl1pPr algn="ctr">
              <a:defRPr sz="1731"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01324" y="3988800"/>
            <a:ext cx="2779195" cy="2250000"/>
          </a:xfrm>
          <a:solidFill>
            <a:schemeClr val="accent6"/>
          </a:solidFill>
        </p:spPr>
        <p:txBody>
          <a:bodyPr anchor="ctr"/>
          <a:lstStyle>
            <a:lvl1pPr algn="l">
              <a:defRPr sz="2169"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3984489" y="334800"/>
            <a:ext cx="3533966" cy="3556800"/>
          </a:xfrm>
          <a:solidFill>
            <a:schemeClr val="accent1"/>
          </a:solidFill>
        </p:spPr>
        <p:txBody>
          <a:bodyPr anchor="ctr"/>
          <a:lstStyle>
            <a:lvl1pPr algn="l">
              <a:defRPr sz="26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150730" y="3988802"/>
            <a:ext cx="43648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150730" y="5400000"/>
            <a:ext cx="43648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7606220" y="334800"/>
            <a:ext cx="2009797" cy="1699200"/>
          </a:xfrm>
          <a:solidFill>
            <a:schemeClr val="accent6"/>
          </a:solidFill>
        </p:spPr>
        <p:txBody>
          <a:bodyPr anchor="ct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7597442" y="2138400"/>
            <a:ext cx="2018574"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7606220" y="3744000"/>
            <a:ext cx="2009797" cy="1076400"/>
          </a:xfrm>
        </p:spPr>
        <p:txBody>
          <a:bodyPr/>
          <a:lstStyle>
            <a:lvl1pPr algn="ctr">
              <a:defRPr sz="1731">
                <a:solidFill>
                  <a:schemeClr val="bg1"/>
                </a:solidFill>
              </a:defRPr>
            </a:lvl1pPr>
            <a:lvl2pPr>
              <a:defRPr sz="1731">
                <a:solidFill>
                  <a:schemeClr val="bg1"/>
                </a:solidFill>
              </a:defRPr>
            </a:lvl2pPr>
            <a:lvl3pPr>
              <a:defRPr sz="1731">
                <a:solidFill>
                  <a:schemeClr val="bg1"/>
                </a:solidFill>
              </a:defRPr>
            </a:lvl3pPr>
            <a:lvl4pPr>
              <a:defRPr sz="1731">
                <a:solidFill>
                  <a:schemeClr val="bg1"/>
                </a:solidFill>
              </a:defRPr>
            </a:lvl4pPr>
            <a:lvl5pPr>
              <a:defRPr sz="1731">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7597443" y="4928400"/>
            <a:ext cx="2006872" cy="1310400"/>
          </a:xfrm>
          <a:solidFill>
            <a:schemeClr val="accent2"/>
          </a:solidFill>
        </p:spPr>
        <p:txBody>
          <a:bodyPr anchor="ctr"/>
          <a:lstStyle>
            <a:lvl1pPr algn="ctr">
              <a:defRPr sz="1731">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4829950"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50" smtClean="0">
                <a:solidFill>
                  <a:srgbClr val="6B6B6B"/>
                </a:solidFill>
              </a:rPr>
              <a:pPr algn="ctr"/>
              <a:t>‹#›</a:t>
            </a:fld>
            <a:endParaRPr kumimoji="0" lang="en-US" altLang="ja-JP" sz="650" dirty="0">
              <a:solidFill>
                <a:srgbClr val="6B6B6B"/>
              </a:solidFill>
              <a:latin typeface="+mn-ea"/>
              <a:cs typeface="Meiryo UI" pitchFamily="50" charset="-128"/>
            </a:endParaRPr>
          </a:p>
        </p:txBody>
      </p:sp>
    </p:spTree>
    <p:extLst>
      <p:ext uri="{BB962C8B-B14F-4D97-AF65-F5344CB8AC3E}">
        <p14:creationId xmlns:p14="http://schemas.microsoft.com/office/powerpoint/2010/main" val="1717978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タイトルとコンテンツB">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6844846-989F-49DD-8D5C-53B561520309}"/>
              </a:ext>
            </a:extLst>
          </p:cNvPr>
          <p:cNvSpPr>
            <a:spLocks noGrp="1"/>
          </p:cNvSpPr>
          <p:nvPr>
            <p:ph type="body" sz="quarter" idx="11" hasCustomPrompt="1"/>
          </p:nvPr>
        </p:nvSpPr>
        <p:spPr>
          <a:xfrm>
            <a:off x="473151" y="908049"/>
            <a:ext cx="8947434" cy="5256000"/>
          </a:xfrm>
          <a:prstGeom prst="rect">
            <a:avLst/>
          </a:prstGeom>
        </p:spPr>
        <p:txBody>
          <a:bodyPr/>
          <a:lstStyle>
            <a:lvl1pPr marL="0" indent="0">
              <a:buNone/>
              <a:defRPr sz="1625"/>
            </a:lvl1pPr>
            <a:lvl2pPr>
              <a:defRPr sz="1625"/>
            </a:lvl2pPr>
            <a:lvl3pPr>
              <a:defRPr sz="1625"/>
            </a:lvl3pPr>
            <a:lvl4pPr>
              <a:defRPr sz="1625"/>
            </a:lvl4pPr>
            <a:lvl5pPr>
              <a:defRPr sz="1625"/>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Rectangle 20"/>
          <p:cNvSpPr/>
          <p:nvPr userDrawn="1"/>
        </p:nvSpPr>
        <p:spPr>
          <a:xfrm>
            <a:off x="0" y="0"/>
            <a:ext cx="9907588" cy="73370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68270" tIns="34135" rIns="68270" bIns="34135" rtlCol="0" anchor="ctr">
            <a:normAutofit/>
          </a:bodyPr>
          <a:lstStyle/>
          <a:p>
            <a:pPr algn="ctr"/>
            <a:endParaRPr lang="en-US" sz="1463" dirty="0"/>
          </a:p>
        </p:txBody>
      </p:sp>
      <p:sp>
        <p:nvSpPr>
          <p:cNvPr id="10" name="タイトル 1"/>
          <p:cNvSpPr>
            <a:spLocks noGrp="1"/>
          </p:cNvSpPr>
          <p:nvPr>
            <p:ph type="title" hasCustomPrompt="1"/>
          </p:nvPr>
        </p:nvSpPr>
        <p:spPr>
          <a:xfrm>
            <a:off x="172215" y="2905"/>
            <a:ext cx="9580175" cy="730799"/>
          </a:xfrm>
          <a:prstGeom prst="rect">
            <a:avLst/>
          </a:prstGeom>
        </p:spPr>
        <p:txBody>
          <a:bodyPr tIns="108000" anchor="ctr" anchorCtr="0">
            <a:normAutofit/>
          </a:bodyPr>
          <a:lstStyle>
            <a:lvl1pPr>
              <a:defRPr lang="ja-JP" altLang="en-US" sz="1950" spc="0" dirty="0" smtClean="0">
                <a:solidFill>
                  <a:schemeClr val="bg1"/>
                </a:solidFill>
                <a:latin typeface="+mj-ea"/>
                <a:ea typeface="+mj-ea"/>
                <a:cs typeface="Arial"/>
              </a:defRPr>
            </a:lvl1pPr>
          </a:lstStyle>
          <a:p>
            <a:pPr marL="184005" marR="0" lvl="0" indent="-184005" defTabSz="495263" latinLnBrk="0">
              <a:lnSpc>
                <a:spcPct val="100000"/>
              </a:lnSpc>
              <a:spcBef>
                <a:spcPct val="20000"/>
              </a:spcBef>
              <a:buClrTx/>
              <a:buSzTx/>
              <a:buFont typeface="+mj-lt"/>
              <a:buNone/>
              <a:tabLst/>
            </a:pPr>
            <a:r>
              <a:rPr kumimoji="1" lang="ja-JP" altLang="en-US" dirty="0"/>
              <a:t>［タイトル］</a:t>
            </a:r>
          </a:p>
        </p:txBody>
      </p:sp>
    </p:spTree>
    <p:extLst>
      <p:ext uri="{BB962C8B-B14F-4D97-AF65-F5344CB8AC3E}">
        <p14:creationId xmlns:p14="http://schemas.microsoft.com/office/powerpoint/2010/main" val="33873710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9907586"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2"/>
            <a:ext cx="9903931"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a:endParaRPr kumimoji="1" lang="ja-JP" altLang="en-US" sz="1138" dirty="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188420" y="191534"/>
            <a:ext cx="181795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chemeClr val="bg1"/>
                </a:solidFill>
              </a:rPr>
              <a:t>© 2026 NTT DATA University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372451" y="7465385"/>
            <a:ext cx="5523778" cy="297455"/>
          </a:xfrm>
          <a:prstGeom prst="rect">
            <a:avLst/>
          </a:prstGeom>
          <a:noFill/>
        </p:spPr>
        <p:txBody>
          <a:bodyPr wrap="square" lIns="0" rIns="0" rtlCol="0">
            <a:noAutofit/>
          </a:bodyPr>
          <a:lstStyle/>
          <a:p>
            <a:pPr marL="0" marR="0" lvl="0" indent="0" algn="ctr" defTabSz="234000" rtl="0" eaLnBrk="1" fontAlgn="auto" latinLnBrk="0" hangingPunct="1">
              <a:lnSpc>
                <a:spcPct val="100000"/>
              </a:lnSpc>
              <a:spcBef>
                <a:spcPts val="0"/>
              </a:spcBef>
              <a:spcAft>
                <a:spcPts val="0"/>
              </a:spcAft>
              <a:buClrTx/>
              <a:buSzTx/>
              <a:buFontTx/>
              <a:buNone/>
              <a:tabLst/>
              <a:defRPr/>
            </a:pPr>
            <a:r>
              <a:rPr lang="ja-JP" altLang="en-US" sz="1480" dirty="0">
                <a:solidFill>
                  <a:srgbClr val="C00000"/>
                </a:solidFill>
                <a:latin typeface="+mn-ea"/>
              </a:rPr>
              <a:t>写真の差し替えはマスタより行ってください。</a:t>
            </a:r>
            <a:endParaRPr kumimoji="1" lang="ja-JP" altLang="en-US" sz="1480" dirty="0">
              <a:solidFill>
                <a:srgbClr val="C00000"/>
              </a:solidFill>
            </a:endParaRPr>
          </a:p>
          <a:p>
            <a:pPr algn="ctr" defTabSz="234000"/>
            <a:endParaRPr kumimoji="1" lang="ja-JP" altLang="en-US" sz="1480" dirty="0">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10100" y="1450800"/>
            <a:ext cx="9297140" cy="795600"/>
          </a:xfrm>
          <a:prstGeom prst="rect">
            <a:avLst/>
          </a:prstGeom>
        </p:spPr>
        <p:txBody>
          <a:bodyPr lIns="0" rIns="0" anchor="b" anchorCtr="0"/>
          <a:lstStyle>
            <a:lvl1pPr>
              <a:defRPr>
                <a:solidFill>
                  <a:schemeClr val="bg1"/>
                </a:solidFill>
              </a:defRPr>
            </a:lvl1pPr>
          </a:lstStyle>
          <a:p>
            <a:pPr lvl="0"/>
            <a:r>
              <a:rPr kumimoji="1" lang="ja-JP" altLang="en-US" dirty="0"/>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10100" y="2246400"/>
            <a:ext cx="9297140" cy="1562400"/>
          </a:xfrm>
          <a:prstGeom prst="rect">
            <a:avLst/>
          </a:prstGeom>
        </p:spPr>
        <p:txBody>
          <a:bodyPr lIns="0" tIns="46800" rIns="0" anchor="b"/>
          <a:lstStyle>
            <a:lvl1pPr>
              <a:lnSpc>
                <a:spcPct val="80000"/>
              </a:lnSpc>
              <a:defRPr sz="3575"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10100" y="5191200"/>
            <a:ext cx="9297140" cy="1119600"/>
          </a:xfrm>
          <a:prstGeom prst="rect">
            <a:avLst/>
          </a:prstGeom>
        </p:spPr>
        <p:txBody>
          <a:bodyPr lIns="0" tIns="46800" rIns="0" anchor="b"/>
          <a:lstStyle>
            <a:lvl1pPr>
              <a:defRPr>
                <a:solidFill>
                  <a:schemeClr val="bg1"/>
                </a:solidFill>
              </a:defRPr>
            </a:lvl1pPr>
            <a:lvl5pPr marL="1981051" indent="0">
              <a:buNone/>
              <a:defRPr/>
            </a:lvl5pPr>
          </a:lstStyle>
          <a:p>
            <a:pPr lvl="0"/>
            <a:r>
              <a:rPr kumimoji="1" lang="en-US" altLang="ja-JP" dirty="0"/>
              <a:t>2023</a:t>
            </a:r>
            <a:r>
              <a:rPr kumimoji="1" lang="ja-JP" altLang="en-US" dirty="0"/>
              <a:t>年〇月〇日</a:t>
            </a:r>
            <a:endParaRPr kumimoji="1" lang="en-US" altLang="ja-JP" dirty="0"/>
          </a:p>
          <a:p>
            <a:pPr lvl="0"/>
            <a:r>
              <a:rPr kumimoji="1" lang="ja-JP" altLang="en-US" dirty="0"/>
              <a:t>株式会社</a:t>
            </a:r>
            <a:r>
              <a:rPr kumimoji="1" lang="en-US" altLang="ja-JP" dirty="0"/>
              <a:t>NTT</a:t>
            </a:r>
            <a:r>
              <a:rPr kumimoji="1" lang="ja-JP" altLang="en-US" dirty="0"/>
              <a:t>データ ○○○○○○</a:t>
            </a:r>
          </a:p>
          <a:p>
            <a:pPr lvl="0"/>
            <a:r>
              <a:rPr kumimoji="1" lang="ja-JP" altLang="en-US" dirty="0"/>
              <a:t>○○○○○○○○○○○○○○</a:t>
            </a:r>
          </a:p>
        </p:txBody>
      </p:sp>
    </p:spTree>
    <p:extLst>
      <p:ext uri="{BB962C8B-B14F-4D97-AF65-F5344CB8AC3E}">
        <p14:creationId xmlns:p14="http://schemas.microsoft.com/office/powerpoint/2010/main" val="3787006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写真">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279E55B6-184B-9445-3C84-3C51FFA63D1B}"/>
              </a:ext>
            </a:extLst>
          </p:cNvPr>
          <p:cNvPicPr>
            <a:picLocks noChangeAspect="1"/>
          </p:cNvPicPr>
          <p:nvPr userDrawn="1"/>
        </p:nvPicPr>
        <p:blipFill rotWithShape="1">
          <a:blip r:embed="rId2"/>
          <a:srcRect l="60717" r="12369"/>
          <a:stretch/>
        </p:blipFill>
        <p:spPr>
          <a:xfrm>
            <a:off x="2" y="1"/>
            <a:ext cx="3281400" cy="6857999"/>
          </a:xfrm>
          <a:prstGeom prst="rect">
            <a:avLst/>
          </a:prstGeom>
        </p:spPr>
      </p:pic>
      <p:sp>
        <p:nvSpPr>
          <p:cNvPr id="2" name="タイトル 1">
            <a:extLst>
              <a:ext uri="{FF2B5EF4-FFF2-40B4-BE49-F238E27FC236}">
                <a16:creationId xmlns:a16="http://schemas.microsoft.com/office/drawing/2014/main" id="{D8C3003A-1C0D-B582-B3BE-CA14C4D8AE89}"/>
              </a:ext>
            </a:extLst>
          </p:cNvPr>
          <p:cNvSpPr>
            <a:spLocks noGrp="1"/>
          </p:cNvSpPr>
          <p:nvPr>
            <p:ph type="title" hasCustomPrompt="1"/>
          </p:nvPr>
        </p:nvSpPr>
        <p:spPr>
          <a:xfrm>
            <a:off x="3653911" y="687602"/>
            <a:ext cx="5944553" cy="1447199"/>
          </a:xfrm>
          <a:prstGeom prst="rect">
            <a:avLst/>
          </a:prstGeom>
        </p:spPr>
        <p:txBody>
          <a:bodyPr/>
          <a:lstStyle>
            <a:lvl1pPr>
              <a:defRPr sz="9600"/>
            </a:lvl1pPr>
          </a:lstStyle>
          <a:p>
            <a:r>
              <a:rPr kumimoji="1" lang="en-US" altLang="ja-JP" dirty="0"/>
              <a:t>01</a:t>
            </a:r>
            <a:endParaRPr kumimoji="1" lang="ja-JP" altLang="en-US"/>
          </a:p>
        </p:txBody>
      </p:sp>
      <p:sp>
        <p:nvSpPr>
          <p:cNvPr id="5" name="テキスト プレースホルダー 8">
            <a:extLst>
              <a:ext uri="{FF2B5EF4-FFF2-40B4-BE49-F238E27FC236}">
                <a16:creationId xmlns:a16="http://schemas.microsoft.com/office/drawing/2014/main" id="{FFDB246B-7466-9829-C733-D7C8F366017A}"/>
              </a:ext>
            </a:extLst>
          </p:cNvPr>
          <p:cNvSpPr>
            <a:spLocks noGrp="1"/>
          </p:cNvSpPr>
          <p:nvPr>
            <p:ph type="body" sz="quarter" idx="16" hasCustomPrompt="1"/>
          </p:nvPr>
        </p:nvSpPr>
        <p:spPr>
          <a:xfrm>
            <a:off x="3653911" y="2286000"/>
            <a:ext cx="5944553" cy="3952800"/>
          </a:xfrm>
          <a:prstGeom prst="rect">
            <a:avLst/>
          </a:prstGeom>
        </p:spPr>
        <p:txBody>
          <a:bodyPr lIns="0" tIns="0" rIns="0" bIns="0"/>
          <a:lstStyle>
            <a:lvl1pPr>
              <a:defRPr sz="4800" b="1">
                <a:solidFill>
                  <a:schemeClr val="accent1"/>
                </a:solidFill>
              </a:defRPr>
            </a:lvl1pPr>
          </a:lstStyle>
          <a:p>
            <a:pPr lvl="0"/>
            <a:r>
              <a:rPr kumimoji="1" lang="ja-JP" altLang="en-US"/>
              <a:t>中扉タイトル</a:t>
            </a:r>
          </a:p>
        </p:txBody>
      </p:sp>
      <p:sp>
        <p:nvSpPr>
          <p:cNvPr id="9" name="テキスト ボックス 8">
            <a:extLst>
              <a:ext uri="{FF2B5EF4-FFF2-40B4-BE49-F238E27FC236}">
                <a16:creationId xmlns:a16="http://schemas.microsoft.com/office/drawing/2014/main" id="{4E856B16-CC7F-D18A-5F95-82F6F68027FD}"/>
              </a:ext>
            </a:extLst>
          </p:cNvPr>
          <p:cNvSpPr txBox="1"/>
          <p:nvPr userDrawn="1"/>
        </p:nvSpPr>
        <p:spPr>
          <a:xfrm>
            <a:off x="6319013" y="6562800"/>
            <a:ext cx="248665"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600" smtClean="0">
                <a:solidFill>
                  <a:srgbClr val="6B6B6B"/>
                </a:solidFill>
              </a:rPr>
              <a:pPr algn="ctr"/>
              <a:t>‹#›</a:t>
            </a:fld>
            <a:endParaRPr kumimoji="0" lang="en-US" altLang="ja-JP" sz="600" dirty="0">
              <a:solidFill>
                <a:srgbClr val="6B6B6B"/>
              </a:solidFill>
              <a:latin typeface="+mn-ea"/>
              <a:cs typeface="Meiryo UI" pitchFamily="50" charset="-128"/>
            </a:endParaRPr>
          </a:p>
        </p:txBody>
      </p:sp>
      <p:sp>
        <p:nvSpPr>
          <p:cNvPr id="7" name="正方形/長方形 6">
            <a:extLst>
              <a:ext uri="{FF2B5EF4-FFF2-40B4-BE49-F238E27FC236}">
                <a16:creationId xmlns:a16="http://schemas.microsoft.com/office/drawing/2014/main" id="{B78BC61F-DFF6-D0AA-091E-65340A8F721F}"/>
              </a:ext>
            </a:extLst>
          </p:cNvPr>
          <p:cNvSpPr/>
          <p:nvPr userDrawn="1"/>
        </p:nvSpPr>
        <p:spPr>
          <a:xfrm>
            <a:off x="-976" y="5202002"/>
            <a:ext cx="3282376"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7000" tIns="27000" rIns="27000" bIns="27000" numCol="1" spcCol="0" rtlCol="0" fromWordArt="0" anchor="ctr" anchorCtr="0" forceAA="0" compatLnSpc="1">
            <a:prstTxWarp prst="textNoShape">
              <a:avLst/>
            </a:prstTxWarp>
            <a:noAutofit/>
          </a:bodyPr>
          <a:lstStyle/>
          <a:p>
            <a:pPr algn="ctr"/>
            <a:endParaRPr kumimoji="1" lang="ja-JP" altLang="en-US" sz="1050" dirty="0" err="1">
              <a:solidFill>
                <a:schemeClr val="tx1"/>
              </a:solidFill>
            </a:endParaRPr>
          </a:p>
        </p:txBody>
      </p:sp>
      <p:sp>
        <p:nvSpPr>
          <p:cNvPr id="10" name="テキスト ボックス 9">
            <a:extLst>
              <a:ext uri="{FF2B5EF4-FFF2-40B4-BE49-F238E27FC236}">
                <a16:creationId xmlns:a16="http://schemas.microsoft.com/office/drawing/2014/main" id="{D5163610-4754-0AB2-758B-6FFD6261400E}"/>
              </a:ext>
            </a:extLst>
          </p:cNvPr>
          <p:cNvSpPr txBox="1"/>
          <p:nvPr userDrawn="1"/>
        </p:nvSpPr>
        <p:spPr>
          <a:xfrm>
            <a:off x="3653911" y="6562800"/>
            <a:ext cx="2603667"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rgbClr val="6B6B6B"/>
                </a:solidFill>
              </a:rPr>
              <a:t>© 2026 NTT DATA University Corporation</a:t>
            </a:r>
          </a:p>
        </p:txBody>
      </p:sp>
      <p:sp>
        <p:nvSpPr>
          <p:cNvPr id="3" name="テキスト ボックス 2">
            <a:extLst>
              <a:ext uri="{FF2B5EF4-FFF2-40B4-BE49-F238E27FC236}">
                <a16:creationId xmlns:a16="http://schemas.microsoft.com/office/drawing/2014/main" id="{A743C299-B1D8-32E7-0665-7030EF319DF8}"/>
              </a:ext>
            </a:extLst>
          </p:cNvPr>
          <p:cNvSpPr txBox="1"/>
          <p:nvPr userDrawn="1"/>
        </p:nvSpPr>
        <p:spPr>
          <a:xfrm>
            <a:off x="2372451" y="7039347"/>
            <a:ext cx="5523778" cy="297455"/>
          </a:xfrm>
          <a:prstGeom prst="rect">
            <a:avLst/>
          </a:prstGeom>
          <a:noFill/>
        </p:spPr>
        <p:txBody>
          <a:bodyPr wrap="square" lIns="0" rIns="0" rtlCol="0">
            <a:noAutofit/>
          </a:bodyPr>
          <a:lstStyle/>
          <a:p>
            <a:pPr marL="0" marR="0" lvl="0" indent="0" algn="ctr" defTabSz="216000" rtl="0" eaLnBrk="1" fontAlgn="auto" latinLnBrk="0" hangingPunct="1">
              <a:lnSpc>
                <a:spcPct val="100000"/>
              </a:lnSpc>
              <a:spcBef>
                <a:spcPts val="0"/>
              </a:spcBef>
              <a:spcAft>
                <a:spcPts val="0"/>
              </a:spcAft>
              <a:buClrTx/>
              <a:buSzTx/>
              <a:buFontTx/>
              <a:buNone/>
              <a:tabLst/>
              <a:defRPr/>
            </a:pPr>
            <a:r>
              <a:rPr lang="ja-JP" altLang="en-US" sz="1350" dirty="0">
                <a:solidFill>
                  <a:srgbClr val="C00000"/>
                </a:solidFill>
                <a:latin typeface="+mn-ea"/>
              </a:rPr>
              <a:t>写真の差し替えはマスタより行ってください。</a:t>
            </a:r>
            <a:endParaRPr kumimoji="1" lang="ja-JP" altLang="en-US" sz="1350" dirty="0">
              <a:solidFill>
                <a:srgbClr val="C00000"/>
              </a:solidFill>
            </a:endParaRPr>
          </a:p>
          <a:p>
            <a:pPr algn="ctr" defTabSz="216000"/>
            <a:endParaRPr kumimoji="1" lang="ja-JP" altLang="en-US" sz="1350" dirty="0">
              <a:solidFill>
                <a:srgbClr val="C00000"/>
              </a:solidFill>
              <a:latin typeface="+mn-ea"/>
            </a:endParaRPr>
          </a:p>
        </p:txBody>
      </p:sp>
    </p:spTree>
    <p:extLst>
      <p:ext uri="{BB962C8B-B14F-4D97-AF65-F5344CB8AC3E}">
        <p14:creationId xmlns:p14="http://schemas.microsoft.com/office/powerpoint/2010/main" val="42799991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5.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A14A7CC-C8F1-2812-EDB4-4BFBDF8309AB}"/>
              </a:ext>
            </a:extLst>
          </p:cNvPr>
          <p:cNvPicPr>
            <a:picLocks noChangeAspect="1"/>
          </p:cNvPicPr>
          <p:nvPr userDrawn="1"/>
        </p:nvPicPr>
        <p:blipFill>
          <a:blip r:embed="rId6"/>
          <a:stretch>
            <a:fillRect/>
          </a:stretch>
        </p:blipFill>
        <p:spPr>
          <a:xfrm>
            <a:off x="162499" y="234212"/>
            <a:ext cx="2243138" cy="567956"/>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561468" y="7065341"/>
            <a:ext cx="8784652" cy="329192"/>
          </a:xfrm>
          <a:prstGeom prst="rect">
            <a:avLst/>
          </a:prstGeom>
          <a:noFill/>
        </p:spPr>
        <p:txBody>
          <a:bodyPr wrap="none" lIns="0" rIns="0" rtlCol="0">
            <a:noAutofit/>
          </a:bodyPr>
          <a:lstStyle/>
          <a:p>
            <a:pPr algn="ctr" defTabSz="216000"/>
            <a:r>
              <a:rPr kumimoji="1" lang="ja-JP" altLang="en-US" sz="1350">
                <a:solidFill>
                  <a:srgbClr val="C00000"/>
                </a:solidFill>
                <a:latin typeface="+mn-ea"/>
              </a:rPr>
              <a:t>コピーライトを修正するときは、ホームタブの「置換」から、文字列を</a:t>
            </a:r>
            <a:r>
              <a:rPr kumimoji="1" lang="ja-JP" altLang="en-US" sz="1350" b="1">
                <a:solidFill>
                  <a:srgbClr val="C00000"/>
                </a:solidFill>
                <a:latin typeface="+mn-ea"/>
              </a:rPr>
              <a:t>すべて置換</a:t>
            </a:r>
            <a:r>
              <a:rPr kumimoji="1" lang="ja-JP" altLang="en-US" sz="1350">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rgbClr val="6B6B6B"/>
                </a:solidFill>
              </a:rPr>
              <a:t>© 2026 NTT DATA University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1" r:id="rId2"/>
    <p:sldLayoutId id="2147483932" r:id="rId3"/>
    <p:sldLayoutId id="2147483934" r:id="rId4"/>
  </p:sldLayoutIdLst>
  <p:hf hdr="0" dt="0"/>
  <p:txStyles>
    <p:titleStyle>
      <a:lvl1pPr algn="l" defTabSz="457166" rtl="0" eaLnBrk="1" fontAlgn="base" hangingPunct="1">
        <a:spcBef>
          <a:spcPct val="0"/>
        </a:spcBef>
        <a:spcAft>
          <a:spcPct val="0"/>
        </a:spcAft>
        <a:defRPr kumimoji="1" sz="1500" b="0" i="0" kern="1200" spc="0" baseline="0">
          <a:solidFill>
            <a:schemeClr val="accent1"/>
          </a:solidFill>
          <a:latin typeface="+mn-ea"/>
          <a:ea typeface="+mn-ea"/>
          <a:cs typeface="HGPGothicE" charset="-128"/>
        </a:defRPr>
      </a:lvl1pPr>
      <a:lvl2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2pPr>
      <a:lvl3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3pPr>
      <a:lvl4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4pPr>
      <a:lvl5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5pPr>
      <a:lvl6pPr marL="457166"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6pPr>
      <a:lvl7pPr marL="914333"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7pPr>
      <a:lvl8pPr marL="1371498"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8pPr>
      <a:lvl9pPr marL="1828664"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9pPr>
    </p:titleStyle>
    <p:bodyStyle>
      <a:lvl1pPr marL="0" indent="0" algn="l" defTabSz="457166" rtl="0" eaLnBrk="1" fontAlgn="base" hangingPunct="1">
        <a:spcBef>
          <a:spcPct val="20000"/>
        </a:spcBef>
        <a:spcAft>
          <a:spcPct val="0"/>
        </a:spcAft>
        <a:buFont typeface="Arial" pitchFamily="34" charset="0"/>
        <a:buNone/>
        <a:defRPr kumimoji="1" sz="1500" kern="1200">
          <a:solidFill>
            <a:schemeClr val="tx1"/>
          </a:solidFill>
          <a:latin typeface="+mn-ea"/>
          <a:ea typeface="+mn-ea"/>
          <a:cs typeface="Arial"/>
        </a:defRPr>
      </a:lvl1pPr>
      <a:lvl2pPr marL="682574" indent="-225407"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2pPr>
      <a:lvl3pPr marL="1090532" indent="-176200"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3pPr>
      <a:lvl4pPr marL="1544522" indent="-173026"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4pPr>
      <a:lvl5pPr marL="2000100" indent="-171438"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5pPr>
      <a:lvl6pPr marL="2514411"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en-US"/>
      </a:defPPr>
      <a:lvl1pPr marL="0" algn="l" defTabSz="457166" rtl="0" eaLnBrk="1" latinLnBrk="0" hangingPunct="1">
        <a:defRPr kumimoji="1" sz="1800" kern="1200">
          <a:solidFill>
            <a:schemeClr val="tx1"/>
          </a:solidFill>
          <a:latin typeface="+mn-lt"/>
          <a:ea typeface="+mn-ea"/>
          <a:cs typeface="+mn-cs"/>
        </a:defRPr>
      </a:lvl1pPr>
      <a:lvl2pPr marL="457166" algn="l" defTabSz="457166" rtl="0" eaLnBrk="1" latinLnBrk="0" hangingPunct="1">
        <a:defRPr kumimoji="1" sz="1800" kern="1200">
          <a:solidFill>
            <a:schemeClr val="tx1"/>
          </a:solidFill>
          <a:latin typeface="+mn-lt"/>
          <a:ea typeface="+mn-ea"/>
          <a:cs typeface="+mn-cs"/>
        </a:defRPr>
      </a:lvl2pPr>
      <a:lvl3pPr marL="914333" algn="l" defTabSz="457166" rtl="0" eaLnBrk="1" latinLnBrk="0" hangingPunct="1">
        <a:defRPr kumimoji="1" sz="1800" kern="1200">
          <a:solidFill>
            <a:schemeClr val="tx1"/>
          </a:solidFill>
          <a:latin typeface="+mn-lt"/>
          <a:ea typeface="+mn-ea"/>
          <a:cs typeface="+mn-cs"/>
        </a:defRPr>
      </a:lvl3pPr>
      <a:lvl4pPr marL="1371498" algn="l" defTabSz="457166" rtl="0" eaLnBrk="1" latinLnBrk="0" hangingPunct="1">
        <a:defRPr kumimoji="1" sz="1800" kern="1200">
          <a:solidFill>
            <a:schemeClr val="tx1"/>
          </a:solidFill>
          <a:latin typeface="+mn-lt"/>
          <a:ea typeface="+mn-ea"/>
          <a:cs typeface="+mn-cs"/>
        </a:defRPr>
      </a:lvl4pPr>
      <a:lvl5pPr marL="1828664" algn="l" defTabSz="457166" rtl="0" eaLnBrk="1" latinLnBrk="0" hangingPunct="1">
        <a:defRPr kumimoji="1" sz="1800" kern="1200">
          <a:solidFill>
            <a:schemeClr val="tx1"/>
          </a:solidFill>
          <a:latin typeface="+mn-lt"/>
          <a:ea typeface="+mn-ea"/>
          <a:cs typeface="+mn-cs"/>
        </a:defRPr>
      </a:lvl5pPr>
      <a:lvl6pPr marL="2285829" algn="l" defTabSz="457166" rtl="0" eaLnBrk="1" latinLnBrk="0" hangingPunct="1">
        <a:defRPr kumimoji="1" sz="1800" kern="1200">
          <a:solidFill>
            <a:schemeClr val="tx1"/>
          </a:solidFill>
          <a:latin typeface="+mn-lt"/>
          <a:ea typeface="+mn-ea"/>
          <a:cs typeface="+mn-cs"/>
        </a:defRPr>
      </a:lvl6pPr>
      <a:lvl7pPr marL="2742995" algn="l" defTabSz="457166" rtl="0" eaLnBrk="1" latinLnBrk="0" hangingPunct="1">
        <a:defRPr kumimoji="1" sz="1800" kern="1200">
          <a:solidFill>
            <a:schemeClr val="tx1"/>
          </a:solidFill>
          <a:latin typeface="+mn-lt"/>
          <a:ea typeface="+mn-ea"/>
          <a:cs typeface="+mn-cs"/>
        </a:defRPr>
      </a:lvl7pPr>
      <a:lvl8pPr marL="3200160" algn="l" defTabSz="457166" rtl="0" eaLnBrk="1" latinLnBrk="0" hangingPunct="1">
        <a:defRPr kumimoji="1" sz="1800" kern="1200">
          <a:solidFill>
            <a:schemeClr val="tx1"/>
          </a:solidFill>
          <a:latin typeface="+mn-lt"/>
          <a:ea typeface="+mn-ea"/>
          <a:cs typeface="+mn-cs"/>
        </a:defRPr>
      </a:lvl8pPr>
      <a:lvl9pPr marL="3657326" algn="l" defTabSz="457166"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1" userDrawn="1">
          <p15:clr>
            <a:srgbClr val="F26B43"/>
          </p15:clr>
        </p15:guide>
        <p15:guide id="2" pos="3121" userDrawn="1">
          <p15:clr>
            <a:srgbClr val="F26B43"/>
          </p15:clr>
        </p15:guide>
        <p15:guide id="4" pos="6051" userDrawn="1">
          <p15:clr>
            <a:srgbClr val="F26B43"/>
          </p15:clr>
        </p15:guide>
        <p15:guide id="6" orient="horz" pos="4201" userDrawn="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A0D56C-E1F5-E3B7-AD07-B9E1E5DD0E11}"/>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rgbClr val="6B6B6B"/>
                </a:solidFill>
              </a:rPr>
              <a:t>© 2026 NTT DATA University Corporation</a:t>
            </a:r>
          </a:p>
        </p:txBody>
      </p:sp>
      <p:pic>
        <p:nvPicPr>
          <p:cNvPr id="5" name="図 4">
            <a:extLst>
              <a:ext uri="{FF2B5EF4-FFF2-40B4-BE49-F238E27FC236}">
                <a16:creationId xmlns:a16="http://schemas.microsoft.com/office/drawing/2014/main" id="{F433EAF7-FDCE-1D61-DEE6-A49DE1D295EE}"/>
              </a:ext>
            </a:extLst>
          </p:cNvPr>
          <p:cNvPicPr>
            <a:picLocks noChangeAspect="1"/>
          </p:cNvPicPr>
          <p:nvPr userDrawn="1"/>
        </p:nvPicPr>
        <p:blipFill>
          <a:blip r:embed="rId5"/>
          <a:stretch>
            <a:fillRect/>
          </a:stretch>
        </p:blipFill>
        <p:spPr>
          <a:xfrm>
            <a:off x="8230360" y="6393775"/>
            <a:ext cx="1475058" cy="373480"/>
          </a:xfrm>
          <a:prstGeom prst="rect">
            <a:avLst/>
          </a:prstGeom>
        </p:spPr>
      </p:pic>
    </p:spTree>
    <p:extLst>
      <p:ext uri="{BB962C8B-B14F-4D97-AF65-F5344CB8AC3E}">
        <p14:creationId xmlns:p14="http://schemas.microsoft.com/office/powerpoint/2010/main" val="2428608009"/>
      </p:ext>
    </p:extLst>
  </p:cSld>
  <p:clrMap bg1="lt1" tx1="dk1" bg2="lt2" tx2="dk2" accent1="accent1" accent2="accent2" accent3="accent3" accent4="accent4" accent5="accent5" accent6="accent6" hlink="hlink" folHlink="folHlink"/>
  <p:sldLayoutIdLst>
    <p:sldLayoutId id="2147483994" r:id="rId1"/>
    <p:sldLayoutId id="2147483973" r:id="rId2"/>
    <p:sldLayoutId id="2147483974" r:id="rId3"/>
  </p:sldLayoutIdLst>
  <p:hf hdr="0" dt="0"/>
  <p:txStyles>
    <p:titleStyle>
      <a:lvl1pPr algn="l" defTabSz="457166" rtl="0" eaLnBrk="1" fontAlgn="base" hangingPunct="1">
        <a:spcBef>
          <a:spcPct val="0"/>
        </a:spcBef>
        <a:spcAft>
          <a:spcPct val="0"/>
        </a:spcAft>
        <a:defRPr kumimoji="1" sz="7200" b="1" i="0" kern="1200" spc="150" baseline="0">
          <a:solidFill>
            <a:schemeClr val="accent2"/>
          </a:solidFill>
          <a:latin typeface="+mj-ea"/>
          <a:ea typeface="+mj-ea"/>
          <a:cs typeface="HGPGothicE" charset="-128"/>
        </a:defRPr>
      </a:lvl1pPr>
      <a:lvl2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2pPr>
      <a:lvl3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3pPr>
      <a:lvl4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4pPr>
      <a:lvl5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5pPr>
      <a:lvl6pPr marL="457166"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6pPr>
      <a:lvl7pPr marL="914333"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7pPr>
      <a:lvl8pPr marL="1371498"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8pPr>
      <a:lvl9pPr marL="1828664"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9pPr>
    </p:titleStyle>
    <p:bodyStyle>
      <a:lvl1pPr marL="0" indent="0" algn="l" defTabSz="457166" rtl="0" eaLnBrk="1" fontAlgn="base" hangingPunct="1">
        <a:spcBef>
          <a:spcPct val="20000"/>
        </a:spcBef>
        <a:spcAft>
          <a:spcPct val="0"/>
        </a:spcAft>
        <a:buFont typeface="Arial" pitchFamily="34" charset="0"/>
        <a:buNone/>
        <a:defRPr kumimoji="1" sz="1350" kern="1200">
          <a:solidFill>
            <a:schemeClr val="tx1"/>
          </a:solidFill>
          <a:latin typeface="+mn-ea"/>
          <a:ea typeface="+mn-ea"/>
          <a:cs typeface="Arial"/>
        </a:defRPr>
      </a:lvl1pPr>
      <a:lvl2pPr marL="682574" indent="-225407"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2pPr>
      <a:lvl3pPr marL="1090532" indent="-176200"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3pPr>
      <a:lvl4pPr marL="1544522" indent="-173026"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4pPr>
      <a:lvl5pPr marL="2000100" indent="-171438"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5pPr>
      <a:lvl6pPr marL="2514411"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en-US"/>
      </a:defPPr>
      <a:lvl1pPr marL="0" algn="l" defTabSz="457166" rtl="0" eaLnBrk="1" latinLnBrk="0" hangingPunct="1">
        <a:defRPr kumimoji="1" sz="1800" kern="1200">
          <a:solidFill>
            <a:schemeClr val="tx1"/>
          </a:solidFill>
          <a:latin typeface="+mn-lt"/>
          <a:ea typeface="+mn-ea"/>
          <a:cs typeface="+mn-cs"/>
        </a:defRPr>
      </a:lvl1pPr>
      <a:lvl2pPr marL="457166" algn="l" defTabSz="457166" rtl="0" eaLnBrk="1" latinLnBrk="0" hangingPunct="1">
        <a:defRPr kumimoji="1" sz="1800" kern="1200">
          <a:solidFill>
            <a:schemeClr val="tx1"/>
          </a:solidFill>
          <a:latin typeface="+mn-lt"/>
          <a:ea typeface="+mn-ea"/>
          <a:cs typeface="+mn-cs"/>
        </a:defRPr>
      </a:lvl2pPr>
      <a:lvl3pPr marL="914333" algn="l" defTabSz="457166" rtl="0" eaLnBrk="1" latinLnBrk="0" hangingPunct="1">
        <a:defRPr kumimoji="1" sz="1800" kern="1200">
          <a:solidFill>
            <a:schemeClr val="tx1"/>
          </a:solidFill>
          <a:latin typeface="+mn-lt"/>
          <a:ea typeface="+mn-ea"/>
          <a:cs typeface="+mn-cs"/>
        </a:defRPr>
      </a:lvl3pPr>
      <a:lvl4pPr marL="1371498" algn="l" defTabSz="457166" rtl="0" eaLnBrk="1" latinLnBrk="0" hangingPunct="1">
        <a:defRPr kumimoji="1" sz="1800" kern="1200">
          <a:solidFill>
            <a:schemeClr val="tx1"/>
          </a:solidFill>
          <a:latin typeface="+mn-lt"/>
          <a:ea typeface="+mn-ea"/>
          <a:cs typeface="+mn-cs"/>
        </a:defRPr>
      </a:lvl4pPr>
      <a:lvl5pPr marL="1828664" algn="l" defTabSz="457166" rtl="0" eaLnBrk="1" latinLnBrk="0" hangingPunct="1">
        <a:defRPr kumimoji="1" sz="1800" kern="1200">
          <a:solidFill>
            <a:schemeClr val="tx1"/>
          </a:solidFill>
          <a:latin typeface="+mn-lt"/>
          <a:ea typeface="+mn-ea"/>
          <a:cs typeface="+mn-cs"/>
        </a:defRPr>
      </a:lvl5pPr>
      <a:lvl6pPr marL="2285829" algn="l" defTabSz="457166" rtl="0" eaLnBrk="1" latinLnBrk="0" hangingPunct="1">
        <a:defRPr kumimoji="1" sz="1800" kern="1200">
          <a:solidFill>
            <a:schemeClr val="tx1"/>
          </a:solidFill>
          <a:latin typeface="+mn-lt"/>
          <a:ea typeface="+mn-ea"/>
          <a:cs typeface="+mn-cs"/>
        </a:defRPr>
      </a:lvl6pPr>
      <a:lvl7pPr marL="2742995" algn="l" defTabSz="457166" rtl="0" eaLnBrk="1" latinLnBrk="0" hangingPunct="1">
        <a:defRPr kumimoji="1" sz="1800" kern="1200">
          <a:solidFill>
            <a:schemeClr val="tx1"/>
          </a:solidFill>
          <a:latin typeface="+mn-lt"/>
          <a:ea typeface="+mn-ea"/>
          <a:cs typeface="+mn-cs"/>
        </a:defRPr>
      </a:lvl7pPr>
      <a:lvl8pPr marL="3200160" algn="l" defTabSz="457166" rtl="0" eaLnBrk="1" latinLnBrk="0" hangingPunct="1">
        <a:defRPr kumimoji="1" sz="1800" kern="1200">
          <a:solidFill>
            <a:schemeClr val="tx1"/>
          </a:solidFill>
          <a:latin typeface="+mn-lt"/>
          <a:ea typeface="+mn-ea"/>
          <a:cs typeface="+mn-cs"/>
        </a:defRPr>
      </a:lvl8pPr>
      <a:lvl9pPr marL="3657326" algn="l" defTabSz="457166"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420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16000" rtl="0" eaLnBrk="1" fontAlgn="auto" latinLnBrk="0" hangingPunct="1">
              <a:lnSpc>
                <a:spcPct val="100000"/>
              </a:lnSpc>
              <a:spcBef>
                <a:spcPts val="0"/>
              </a:spcBef>
              <a:spcAft>
                <a:spcPts val="0"/>
              </a:spcAft>
              <a:buClrTx/>
              <a:buSzTx/>
              <a:buFontTx/>
              <a:buNone/>
              <a:tabLst/>
              <a:defRPr/>
            </a:pPr>
            <a:r>
              <a:rPr lang="en-US" altLang="ja-JP" sz="750" dirty="0">
                <a:solidFill>
                  <a:schemeClr val="bg1"/>
                </a:solidFill>
              </a:rPr>
              <a:t>© 2026 NTT DATA University Corporation</a:t>
            </a:r>
          </a:p>
        </p:txBody>
      </p:sp>
      <p:sp>
        <p:nvSpPr>
          <p:cNvPr id="3" name="テキスト ボックス 2">
            <a:extLst>
              <a:ext uri="{FF2B5EF4-FFF2-40B4-BE49-F238E27FC236}">
                <a16:creationId xmlns:a16="http://schemas.microsoft.com/office/drawing/2014/main" id="{0BAB9C5D-DBB2-F3AC-7527-30B13EFFFBF0}"/>
              </a:ext>
            </a:extLst>
          </p:cNvPr>
          <p:cNvSpPr txBox="1"/>
          <p:nvPr userDrawn="1"/>
        </p:nvSpPr>
        <p:spPr>
          <a:xfrm>
            <a:off x="561468" y="7065341"/>
            <a:ext cx="8784652" cy="329192"/>
          </a:xfrm>
          <a:prstGeom prst="rect">
            <a:avLst/>
          </a:prstGeom>
          <a:noFill/>
        </p:spPr>
        <p:txBody>
          <a:bodyPr wrap="none" lIns="0" rIns="0" rtlCol="0">
            <a:noAutofit/>
          </a:bodyPr>
          <a:lstStyle/>
          <a:p>
            <a:pPr algn="ctr" defTabSz="216000"/>
            <a:r>
              <a:rPr kumimoji="1" lang="ja-JP" altLang="en-US" sz="1350">
                <a:solidFill>
                  <a:srgbClr val="C00000"/>
                </a:solidFill>
                <a:latin typeface="+mn-ea"/>
              </a:rPr>
              <a:t>コピーライトを修正するときは、ホームタブの「置換」から、文字列を</a:t>
            </a:r>
            <a:r>
              <a:rPr kumimoji="1" lang="ja-JP" altLang="en-US" sz="1350" b="1">
                <a:solidFill>
                  <a:srgbClr val="C00000"/>
                </a:solidFill>
                <a:latin typeface="+mn-ea"/>
              </a:rPr>
              <a:t>すべて置換</a:t>
            </a:r>
            <a:r>
              <a:rPr kumimoji="1" lang="ja-JP" altLang="en-US" sz="1350">
                <a:solidFill>
                  <a:srgbClr val="C00000"/>
                </a:solidFill>
                <a:latin typeface="+mn-ea"/>
              </a:rPr>
              <a:t>してください。</a:t>
            </a:r>
          </a:p>
        </p:txBody>
      </p:sp>
      <p:pic>
        <p:nvPicPr>
          <p:cNvPr id="4" name="図 3">
            <a:extLst>
              <a:ext uri="{FF2B5EF4-FFF2-40B4-BE49-F238E27FC236}">
                <a16:creationId xmlns:a16="http://schemas.microsoft.com/office/drawing/2014/main" id="{4393B918-AF4A-1500-A6C1-500D2FD8B729}"/>
              </a:ext>
            </a:extLst>
          </p:cNvPr>
          <p:cNvPicPr>
            <a:picLocks noChangeAspect="1"/>
          </p:cNvPicPr>
          <p:nvPr userDrawn="1"/>
        </p:nvPicPr>
        <p:blipFill>
          <a:blip r:embed="rId6"/>
          <a:srcRect/>
          <a:stretch/>
        </p:blipFill>
        <p:spPr>
          <a:xfrm>
            <a:off x="162000" y="234212"/>
            <a:ext cx="2243138" cy="567955"/>
          </a:xfrm>
          <a:prstGeom prst="rect">
            <a:avLst/>
          </a:prstGeom>
        </p:spPr>
      </p:pic>
    </p:spTree>
    <p:extLst>
      <p:ext uri="{BB962C8B-B14F-4D97-AF65-F5344CB8AC3E}">
        <p14:creationId xmlns:p14="http://schemas.microsoft.com/office/powerpoint/2010/main" val="3635597696"/>
      </p:ext>
    </p:extLst>
  </p:cSld>
  <p:clrMap bg1="lt1" tx1="dk1" bg2="lt2" tx2="dk2" accent1="accent1" accent2="accent2" accent3="accent3" accent4="accent4" accent5="accent5" accent6="accent6" hlink="hlink" folHlink="folHlink"/>
  <p:sldLayoutIdLst>
    <p:sldLayoutId id="2147484002" r:id="rId1"/>
    <p:sldLayoutId id="2147484017" r:id="rId2"/>
    <p:sldLayoutId id="2147484016" r:id="rId3"/>
    <p:sldLayoutId id="2147484008" r:id="rId4"/>
  </p:sldLayoutIdLst>
  <p:hf hdr="0" dt="0"/>
  <p:txStyles>
    <p:titleStyle>
      <a:lvl1pPr algn="l" defTabSz="457166" rtl="0" eaLnBrk="1" fontAlgn="base" hangingPunct="1">
        <a:spcBef>
          <a:spcPct val="0"/>
        </a:spcBef>
        <a:spcAft>
          <a:spcPct val="0"/>
        </a:spcAft>
        <a:defRPr kumimoji="1" sz="1500" b="0" i="0" kern="1200" spc="0" baseline="0">
          <a:solidFill>
            <a:srgbClr val="F8F8F8"/>
          </a:solidFill>
          <a:latin typeface="+mn-ea"/>
          <a:ea typeface="+mn-ea"/>
          <a:cs typeface="HGPGothicE" charset="-128"/>
        </a:defRPr>
      </a:lvl1pPr>
      <a:lvl2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2pPr>
      <a:lvl3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3pPr>
      <a:lvl4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4pPr>
      <a:lvl5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5pPr>
      <a:lvl6pPr marL="457166"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6pPr>
      <a:lvl7pPr marL="914333"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7pPr>
      <a:lvl8pPr marL="1371498"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8pPr>
      <a:lvl9pPr marL="1828664"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9pPr>
    </p:titleStyle>
    <p:bodyStyle>
      <a:lvl1pPr marL="0" indent="0" algn="l" defTabSz="457166" rtl="0" eaLnBrk="1" fontAlgn="base" hangingPunct="1">
        <a:spcBef>
          <a:spcPct val="20000"/>
        </a:spcBef>
        <a:spcAft>
          <a:spcPct val="0"/>
        </a:spcAft>
        <a:buFont typeface="Arial" pitchFamily="34" charset="0"/>
        <a:buNone/>
        <a:defRPr kumimoji="1" sz="1500" kern="1200">
          <a:solidFill>
            <a:schemeClr val="tx1"/>
          </a:solidFill>
          <a:latin typeface="+mn-ea"/>
          <a:ea typeface="+mn-ea"/>
          <a:cs typeface="Arial"/>
        </a:defRPr>
      </a:lvl1pPr>
      <a:lvl2pPr marL="682574" indent="-225407"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2pPr>
      <a:lvl3pPr marL="1090532" indent="-176200"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3pPr>
      <a:lvl4pPr marL="1544522" indent="-173026"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4pPr>
      <a:lvl5pPr marL="2000100" indent="-171438"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5pPr>
      <a:lvl6pPr marL="2514411"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en-US"/>
      </a:defPPr>
      <a:lvl1pPr marL="0" algn="l" defTabSz="457166" rtl="0" eaLnBrk="1" latinLnBrk="0" hangingPunct="1">
        <a:defRPr kumimoji="1" sz="1800" kern="1200">
          <a:solidFill>
            <a:schemeClr val="tx1"/>
          </a:solidFill>
          <a:latin typeface="+mn-lt"/>
          <a:ea typeface="+mn-ea"/>
          <a:cs typeface="+mn-cs"/>
        </a:defRPr>
      </a:lvl1pPr>
      <a:lvl2pPr marL="457166" algn="l" defTabSz="457166" rtl="0" eaLnBrk="1" latinLnBrk="0" hangingPunct="1">
        <a:defRPr kumimoji="1" sz="1800" kern="1200">
          <a:solidFill>
            <a:schemeClr val="tx1"/>
          </a:solidFill>
          <a:latin typeface="+mn-lt"/>
          <a:ea typeface="+mn-ea"/>
          <a:cs typeface="+mn-cs"/>
        </a:defRPr>
      </a:lvl2pPr>
      <a:lvl3pPr marL="914333" algn="l" defTabSz="457166" rtl="0" eaLnBrk="1" latinLnBrk="0" hangingPunct="1">
        <a:defRPr kumimoji="1" sz="1800" kern="1200">
          <a:solidFill>
            <a:schemeClr val="tx1"/>
          </a:solidFill>
          <a:latin typeface="+mn-lt"/>
          <a:ea typeface="+mn-ea"/>
          <a:cs typeface="+mn-cs"/>
        </a:defRPr>
      </a:lvl3pPr>
      <a:lvl4pPr marL="1371498" algn="l" defTabSz="457166" rtl="0" eaLnBrk="1" latinLnBrk="0" hangingPunct="1">
        <a:defRPr kumimoji="1" sz="1800" kern="1200">
          <a:solidFill>
            <a:schemeClr val="tx1"/>
          </a:solidFill>
          <a:latin typeface="+mn-lt"/>
          <a:ea typeface="+mn-ea"/>
          <a:cs typeface="+mn-cs"/>
        </a:defRPr>
      </a:lvl4pPr>
      <a:lvl5pPr marL="1828664" algn="l" defTabSz="457166" rtl="0" eaLnBrk="1" latinLnBrk="0" hangingPunct="1">
        <a:defRPr kumimoji="1" sz="1800" kern="1200">
          <a:solidFill>
            <a:schemeClr val="tx1"/>
          </a:solidFill>
          <a:latin typeface="+mn-lt"/>
          <a:ea typeface="+mn-ea"/>
          <a:cs typeface="+mn-cs"/>
        </a:defRPr>
      </a:lvl5pPr>
      <a:lvl6pPr marL="2285829" algn="l" defTabSz="457166" rtl="0" eaLnBrk="1" latinLnBrk="0" hangingPunct="1">
        <a:defRPr kumimoji="1" sz="1800" kern="1200">
          <a:solidFill>
            <a:schemeClr val="tx1"/>
          </a:solidFill>
          <a:latin typeface="+mn-lt"/>
          <a:ea typeface="+mn-ea"/>
          <a:cs typeface="+mn-cs"/>
        </a:defRPr>
      </a:lvl6pPr>
      <a:lvl7pPr marL="2742995" algn="l" defTabSz="457166" rtl="0" eaLnBrk="1" latinLnBrk="0" hangingPunct="1">
        <a:defRPr kumimoji="1" sz="1800" kern="1200">
          <a:solidFill>
            <a:schemeClr val="tx1"/>
          </a:solidFill>
          <a:latin typeface="+mn-lt"/>
          <a:ea typeface="+mn-ea"/>
          <a:cs typeface="+mn-cs"/>
        </a:defRPr>
      </a:lvl7pPr>
      <a:lvl8pPr marL="3200160" algn="l" defTabSz="457166" rtl="0" eaLnBrk="1" latinLnBrk="0" hangingPunct="1">
        <a:defRPr kumimoji="1" sz="1800" kern="1200">
          <a:solidFill>
            <a:schemeClr val="tx1"/>
          </a:solidFill>
          <a:latin typeface="+mn-lt"/>
          <a:ea typeface="+mn-ea"/>
          <a:cs typeface="+mn-cs"/>
        </a:defRPr>
      </a:lvl8pPr>
      <a:lvl9pPr marL="3657326" algn="l" defTabSz="457166"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91" userDrawn="1">
          <p15:clr>
            <a:srgbClr val="F26B43"/>
          </p15:clr>
        </p15:guide>
        <p15:guide id="2" pos="3121" userDrawn="1">
          <p15:clr>
            <a:srgbClr val="F26B43"/>
          </p15:clr>
        </p15:guide>
        <p15:guide id="4" pos="6051" userDrawn="1">
          <p15:clr>
            <a:srgbClr val="F26B43"/>
          </p15:clr>
        </p15:guide>
        <p15:guide id="6" orient="horz" pos="4201" userDrawn="1">
          <p15:clr>
            <a:srgbClr val="F26B43"/>
          </p15:clr>
        </p15:guide>
        <p15:guide id="11" orient="horz" pos="21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648" r:id="rId1"/>
    <p:sldLayoutId id="2147483649" r:id="rId2"/>
  </p:sldLayoutIdLst>
  <p:hf hdr="0" dt="0"/>
  <p:txStyles>
    <p:titleStyle>
      <a:lvl1pPr algn="l" defTabSz="457166" rtl="0" eaLnBrk="1" fontAlgn="base" hangingPunct="1">
        <a:spcBef>
          <a:spcPct val="0"/>
        </a:spcBef>
        <a:spcAft>
          <a:spcPct val="0"/>
        </a:spcAft>
        <a:defRPr kumimoji="1" sz="1800" b="1" i="0" kern="1200" spc="150" baseline="0">
          <a:solidFill>
            <a:schemeClr val="tx1"/>
          </a:solidFill>
          <a:latin typeface="+mj-ea"/>
          <a:ea typeface="+mj-ea"/>
          <a:cs typeface="HGPGothicE" charset="-128"/>
        </a:defRPr>
      </a:lvl1pPr>
      <a:lvl2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2pPr>
      <a:lvl3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3pPr>
      <a:lvl4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4pPr>
      <a:lvl5pPr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5pPr>
      <a:lvl6pPr marL="457166"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6pPr>
      <a:lvl7pPr marL="914333"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7pPr>
      <a:lvl8pPr marL="1371498"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8pPr>
      <a:lvl9pPr marL="1828664" algn="l" defTabSz="457166" rtl="0" eaLnBrk="1" fontAlgn="base" hangingPunct="1">
        <a:spcBef>
          <a:spcPct val="0"/>
        </a:spcBef>
        <a:spcAft>
          <a:spcPct val="0"/>
        </a:spcAft>
        <a:defRPr kumimoji="1" sz="2000">
          <a:solidFill>
            <a:schemeClr val="tx1"/>
          </a:solidFill>
          <a:latin typeface="Arial" pitchFamily="34" charset="0"/>
          <a:ea typeface="HGP創英角ｺﾞｼｯｸUB"/>
          <a:cs typeface="Arial" pitchFamily="34" charset="0"/>
        </a:defRPr>
      </a:lvl9pPr>
    </p:titleStyle>
    <p:bodyStyle>
      <a:lvl1pPr marL="0" indent="0" algn="l" defTabSz="457166" rtl="0" eaLnBrk="1" fontAlgn="base" hangingPunct="1">
        <a:spcBef>
          <a:spcPct val="20000"/>
        </a:spcBef>
        <a:spcAft>
          <a:spcPct val="0"/>
        </a:spcAft>
        <a:buFont typeface="Arial" pitchFamily="34" charset="0"/>
        <a:buNone/>
        <a:defRPr kumimoji="1" sz="1350" kern="1200">
          <a:solidFill>
            <a:schemeClr val="tx1"/>
          </a:solidFill>
          <a:latin typeface="+mn-ea"/>
          <a:ea typeface="+mn-ea"/>
          <a:cs typeface="Arial"/>
        </a:defRPr>
      </a:lvl1pPr>
      <a:lvl2pPr marL="682574" indent="-225407"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2pPr>
      <a:lvl3pPr marL="1090532" indent="-176200"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3pPr>
      <a:lvl4pPr marL="1544522" indent="-173026"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4pPr>
      <a:lvl5pPr marL="2000100" indent="-171438" algn="l" defTabSz="457166" rtl="0" eaLnBrk="1" fontAlgn="base" hangingPunct="1">
        <a:spcBef>
          <a:spcPct val="20000"/>
        </a:spcBef>
        <a:spcAft>
          <a:spcPct val="0"/>
        </a:spcAft>
        <a:buFont typeface="Arial" pitchFamily="34" charset="0"/>
        <a:buChar char="»"/>
        <a:defRPr kumimoji="1" sz="2000" kern="1200">
          <a:solidFill>
            <a:schemeClr val="tx1"/>
          </a:solidFill>
          <a:latin typeface="+mn-ea"/>
          <a:ea typeface="+mn-ea"/>
          <a:cs typeface="Arial"/>
        </a:defRPr>
      </a:lvl5pPr>
      <a:lvl6pPr marL="2514411"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en-US"/>
      </a:defPPr>
      <a:lvl1pPr marL="0" algn="l" defTabSz="457166" rtl="0" eaLnBrk="1" latinLnBrk="0" hangingPunct="1">
        <a:defRPr kumimoji="1" sz="1800" kern="1200">
          <a:solidFill>
            <a:schemeClr val="tx1"/>
          </a:solidFill>
          <a:latin typeface="+mn-lt"/>
          <a:ea typeface="+mn-ea"/>
          <a:cs typeface="+mn-cs"/>
        </a:defRPr>
      </a:lvl1pPr>
      <a:lvl2pPr marL="457166" algn="l" defTabSz="457166" rtl="0" eaLnBrk="1" latinLnBrk="0" hangingPunct="1">
        <a:defRPr kumimoji="1" sz="1800" kern="1200">
          <a:solidFill>
            <a:schemeClr val="tx1"/>
          </a:solidFill>
          <a:latin typeface="+mn-lt"/>
          <a:ea typeface="+mn-ea"/>
          <a:cs typeface="+mn-cs"/>
        </a:defRPr>
      </a:lvl2pPr>
      <a:lvl3pPr marL="914333" algn="l" defTabSz="457166" rtl="0" eaLnBrk="1" latinLnBrk="0" hangingPunct="1">
        <a:defRPr kumimoji="1" sz="1800" kern="1200">
          <a:solidFill>
            <a:schemeClr val="tx1"/>
          </a:solidFill>
          <a:latin typeface="+mn-lt"/>
          <a:ea typeface="+mn-ea"/>
          <a:cs typeface="+mn-cs"/>
        </a:defRPr>
      </a:lvl3pPr>
      <a:lvl4pPr marL="1371498" algn="l" defTabSz="457166" rtl="0" eaLnBrk="1" latinLnBrk="0" hangingPunct="1">
        <a:defRPr kumimoji="1" sz="1800" kern="1200">
          <a:solidFill>
            <a:schemeClr val="tx1"/>
          </a:solidFill>
          <a:latin typeface="+mn-lt"/>
          <a:ea typeface="+mn-ea"/>
          <a:cs typeface="+mn-cs"/>
        </a:defRPr>
      </a:lvl4pPr>
      <a:lvl5pPr marL="1828664" algn="l" defTabSz="457166" rtl="0" eaLnBrk="1" latinLnBrk="0" hangingPunct="1">
        <a:defRPr kumimoji="1" sz="1800" kern="1200">
          <a:solidFill>
            <a:schemeClr val="tx1"/>
          </a:solidFill>
          <a:latin typeface="+mn-lt"/>
          <a:ea typeface="+mn-ea"/>
          <a:cs typeface="+mn-cs"/>
        </a:defRPr>
      </a:lvl5pPr>
      <a:lvl6pPr marL="2285829" algn="l" defTabSz="457166" rtl="0" eaLnBrk="1" latinLnBrk="0" hangingPunct="1">
        <a:defRPr kumimoji="1" sz="1800" kern="1200">
          <a:solidFill>
            <a:schemeClr val="tx1"/>
          </a:solidFill>
          <a:latin typeface="+mn-lt"/>
          <a:ea typeface="+mn-ea"/>
          <a:cs typeface="+mn-cs"/>
        </a:defRPr>
      </a:lvl6pPr>
      <a:lvl7pPr marL="2742995" algn="l" defTabSz="457166" rtl="0" eaLnBrk="1" latinLnBrk="0" hangingPunct="1">
        <a:defRPr kumimoji="1" sz="1800" kern="1200">
          <a:solidFill>
            <a:schemeClr val="tx1"/>
          </a:solidFill>
          <a:latin typeface="+mn-lt"/>
          <a:ea typeface="+mn-ea"/>
          <a:cs typeface="+mn-cs"/>
        </a:defRPr>
      </a:lvl7pPr>
      <a:lvl8pPr marL="3200160" algn="l" defTabSz="457166" rtl="0" eaLnBrk="1" latinLnBrk="0" hangingPunct="1">
        <a:defRPr kumimoji="1" sz="1800" kern="1200">
          <a:solidFill>
            <a:schemeClr val="tx1"/>
          </a:solidFill>
          <a:latin typeface="+mn-lt"/>
          <a:ea typeface="+mn-ea"/>
          <a:cs typeface="+mn-cs"/>
        </a:defRPr>
      </a:lvl8pPr>
      <a:lvl9pPr marL="3657326" algn="l" defTabSz="457166"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userDrawn="1">
          <p15:clr>
            <a:srgbClr val="F26B43"/>
          </p15:clr>
        </p15:guide>
        <p15:guide id="3" pos="3121"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544" y="164693"/>
            <a:ext cx="9244503"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331543" y="692150"/>
            <a:ext cx="9253551" cy="5796000"/>
          </a:xfrm>
          <a:prstGeom prst="rect">
            <a:avLst/>
          </a:prstGeom>
        </p:spPr>
        <p:txBody>
          <a:bodyPr vert="horz" lIns="0" tIns="0" rIns="0" bIns="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01323" y="6562800"/>
            <a:ext cx="3943532" cy="90000"/>
          </a:xfrm>
          <a:prstGeom prst="rect">
            <a:avLst/>
          </a:prstGeom>
          <a:noFill/>
        </p:spPr>
        <p:txBody>
          <a:bodyPr wrap="square" lIns="0" tIns="0" rIns="0" bIns="0" rtlCol="0" anchor="ctr" anchorCtr="0">
            <a:noAutofit/>
          </a:bodyPr>
          <a:lstStyle/>
          <a:p>
            <a:pPr marL="0" marR="0" lvl="0" indent="0" algn="l" defTabSz="234000" rtl="0" eaLnBrk="1" fontAlgn="auto" latinLnBrk="0" hangingPunct="1">
              <a:lnSpc>
                <a:spcPct val="100000"/>
              </a:lnSpc>
              <a:spcBef>
                <a:spcPts val="0"/>
              </a:spcBef>
              <a:spcAft>
                <a:spcPts val="0"/>
              </a:spcAft>
              <a:buClrTx/>
              <a:buSzTx/>
              <a:buFontTx/>
              <a:buNone/>
              <a:tabLst/>
              <a:defRPr/>
            </a:pPr>
            <a:r>
              <a:rPr lang="en-US" altLang="ja-JP" sz="813" dirty="0">
                <a:solidFill>
                  <a:srgbClr val="6B6B6B"/>
                </a:solidFill>
              </a:rPr>
              <a:t>© 2026 NTT DATA University Corporation</a:t>
            </a:r>
          </a:p>
        </p:txBody>
      </p:sp>
      <p:pic>
        <p:nvPicPr>
          <p:cNvPr id="5" name="図 4">
            <a:extLst>
              <a:ext uri="{FF2B5EF4-FFF2-40B4-BE49-F238E27FC236}">
                <a16:creationId xmlns:a16="http://schemas.microsoft.com/office/drawing/2014/main" id="{9BD6D8D9-393B-0096-E20F-0815CD3CD1F6}"/>
              </a:ext>
            </a:extLst>
          </p:cNvPr>
          <p:cNvPicPr>
            <a:picLocks noChangeAspect="1"/>
          </p:cNvPicPr>
          <p:nvPr userDrawn="1"/>
        </p:nvPicPr>
        <p:blipFill>
          <a:blip r:embed="rId18"/>
          <a:stretch>
            <a:fillRect/>
          </a:stretch>
        </p:blipFill>
        <p:spPr>
          <a:xfrm>
            <a:off x="8230360" y="6393775"/>
            <a:ext cx="1475058" cy="373480"/>
          </a:xfrm>
          <a:prstGeom prst="rect">
            <a:avLst/>
          </a:prstGeom>
        </p:spPr>
      </p:pic>
    </p:spTree>
    <p:extLst>
      <p:ext uri="{BB962C8B-B14F-4D97-AF65-F5344CB8AC3E}">
        <p14:creationId xmlns:p14="http://schemas.microsoft.com/office/powerpoint/2010/main" val="1786000031"/>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37" r:id="rId13"/>
    <p:sldLayoutId id="2147484038" r:id="rId14"/>
    <p:sldLayoutId id="2147484039" r:id="rId15"/>
    <p:sldLayoutId id="2147484040" r:id="rId16"/>
  </p:sldLayoutIdLst>
  <p:hf hdr="0" dt="0"/>
  <p:txStyles>
    <p:titleStyle>
      <a:lvl1pPr algn="l" defTabSz="495263" rtl="0" eaLnBrk="1" fontAlgn="base" hangingPunct="1">
        <a:spcBef>
          <a:spcPct val="0"/>
        </a:spcBef>
        <a:spcAft>
          <a:spcPct val="0"/>
        </a:spcAft>
        <a:defRPr kumimoji="1" sz="1950" b="1" i="0" kern="1200" spc="0" baseline="0">
          <a:solidFill>
            <a:schemeClr val="accent1"/>
          </a:solidFill>
          <a:latin typeface="+mj-ea"/>
          <a:ea typeface="+mj-ea"/>
          <a:cs typeface="HGPGothicE" charset="-128"/>
        </a:defRPr>
      </a:lvl1pPr>
      <a:lvl2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2pPr>
      <a:lvl3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3pPr>
      <a:lvl4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4pPr>
      <a:lvl5pPr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5pPr>
      <a:lvl6pPr marL="495263"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6pPr>
      <a:lvl7pPr marL="990527"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7pPr>
      <a:lvl8pPr marL="1485790"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8pPr>
      <a:lvl9pPr marL="1981052" algn="l" defTabSz="495263" rtl="0" eaLnBrk="1" fontAlgn="base" hangingPunct="1">
        <a:spcBef>
          <a:spcPct val="0"/>
        </a:spcBef>
        <a:spcAft>
          <a:spcPct val="0"/>
        </a:spcAft>
        <a:defRPr kumimoji="1" sz="2167">
          <a:solidFill>
            <a:schemeClr val="tx1"/>
          </a:solidFill>
          <a:latin typeface="Arial" pitchFamily="34" charset="0"/>
          <a:ea typeface="HGP創英角ｺﾞｼｯｸUB"/>
          <a:cs typeface="Arial" pitchFamily="34" charset="0"/>
        </a:defRPr>
      </a:lvl9pPr>
    </p:titleStyle>
    <p:bodyStyle>
      <a:lvl1pPr marL="0" indent="0" algn="l" defTabSz="234000" rtl="0" eaLnBrk="1" fontAlgn="base" hangingPunct="1">
        <a:spcBef>
          <a:spcPct val="20000"/>
        </a:spcBef>
        <a:spcAft>
          <a:spcPct val="0"/>
        </a:spcAft>
        <a:buFont typeface="Arial" panose="020B0604020202020204" pitchFamily="34" charset="0"/>
        <a:buNone/>
        <a:tabLst/>
        <a:defRPr kumimoji="1" sz="1463" kern="1200">
          <a:solidFill>
            <a:schemeClr val="accent1"/>
          </a:solidFill>
          <a:latin typeface="+mn-ea"/>
          <a:ea typeface="+mn-ea"/>
          <a:cs typeface="Arial"/>
        </a:defRPr>
      </a:lvl1pPr>
      <a:lvl2pPr marL="2925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2pPr>
      <a:lvl3pPr marL="4387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3pPr>
      <a:lvl4pPr marL="58500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4pPr>
      <a:lvl5pPr marL="731250" indent="-146250" algn="l" defTabSz="234000" rtl="0" eaLnBrk="1" fontAlgn="base" hangingPunct="1">
        <a:spcBef>
          <a:spcPct val="20000"/>
        </a:spcBef>
        <a:spcAft>
          <a:spcPct val="0"/>
        </a:spcAft>
        <a:buFont typeface="Arial" panose="020B0604020202020204" pitchFamily="34" charset="0"/>
        <a:buChar char="•"/>
        <a:tabLst/>
        <a:defRPr kumimoji="1" sz="1463" kern="1200">
          <a:solidFill>
            <a:schemeClr val="accent1"/>
          </a:solidFill>
          <a:latin typeface="+mn-ea"/>
          <a:ea typeface="+mn-ea"/>
          <a:cs typeface="Arial"/>
        </a:defRPr>
      </a:lvl5pPr>
      <a:lvl6pPr marL="272394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6pPr>
      <a:lvl7pPr marL="3219210"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7pPr>
      <a:lvl8pPr marL="3714472"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8pPr>
      <a:lvl9pPr marL="4209735" indent="-247631" algn="l" defTabSz="495263" rtl="0" eaLnBrk="1" latinLnBrk="0" hangingPunct="1">
        <a:spcBef>
          <a:spcPct val="20000"/>
        </a:spcBef>
        <a:buFont typeface="Arial"/>
        <a:buChar char="•"/>
        <a:defRPr kumimoji="1" sz="2167" kern="1200">
          <a:solidFill>
            <a:schemeClr val="tx1"/>
          </a:solidFill>
          <a:latin typeface="+mn-lt"/>
          <a:ea typeface="+mn-ea"/>
          <a:cs typeface="+mn-cs"/>
        </a:defRPr>
      </a:lvl9pPr>
    </p:bodyStyle>
    <p:otherStyle>
      <a:defPPr>
        <a:defRPr lang="en-US"/>
      </a:defPPr>
      <a:lvl1pPr marL="0" algn="l" defTabSz="495263" rtl="0" eaLnBrk="1" latinLnBrk="0" hangingPunct="1">
        <a:defRPr kumimoji="1" sz="1950" kern="1200">
          <a:solidFill>
            <a:schemeClr val="tx1"/>
          </a:solidFill>
          <a:latin typeface="+mn-lt"/>
          <a:ea typeface="+mn-ea"/>
          <a:cs typeface="+mn-cs"/>
        </a:defRPr>
      </a:lvl1pPr>
      <a:lvl2pPr marL="495263" algn="l" defTabSz="495263" rtl="0" eaLnBrk="1" latinLnBrk="0" hangingPunct="1">
        <a:defRPr kumimoji="1" sz="1950" kern="1200">
          <a:solidFill>
            <a:schemeClr val="tx1"/>
          </a:solidFill>
          <a:latin typeface="+mn-lt"/>
          <a:ea typeface="+mn-ea"/>
          <a:cs typeface="+mn-cs"/>
        </a:defRPr>
      </a:lvl2pPr>
      <a:lvl3pPr marL="990527" algn="l" defTabSz="495263" rtl="0" eaLnBrk="1" latinLnBrk="0" hangingPunct="1">
        <a:defRPr kumimoji="1" sz="1950" kern="1200">
          <a:solidFill>
            <a:schemeClr val="tx1"/>
          </a:solidFill>
          <a:latin typeface="+mn-lt"/>
          <a:ea typeface="+mn-ea"/>
          <a:cs typeface="+mn-cs"/>
        </a:defRPr>
      </a:lvl3pPr>
      <a:lvl4pPr marL="1485790" algn="l" defTabSz="495263" rtl="0" eaLnBrk="1" latinLnBrk="0" hangingPunct="1">
        <a:defRPr kumimoji="1" sz="1950" kern="1200">
          <a:solidFill>
            <a:schemeClr val="tx1"/>
          </a:solidFill>
          <a:latin typeface="+mn-lt"/>
          <a:ea typeface="+mn-ea"/>
          <a:cs typeface="+mn-cs"/>
        </a:defRPr>
      </a:lvl4pPr>
      <a:lvl5pPr marL="1981052" algn="l" defTabSz="495263" rtl="0" eaLnBrk="1" latinLnBrk="0" hangingPunct="1">
        <a:defRPr kumimoji="1" sz="1950" kern="1200">
          <a:solidFill>
            <a:schemeClr val="tx1"/>
          </a:solidFill>
          <a:latin typeface="+mn-lt"/>
          <a:ea typeface="+mn-ea"/>
          <a:cs typeface="+mn-cs"/>
        </a:defRPr>
      </a:lvl5pPr>
      <a:lvl6pPr marL="2476315" algn="l" defTabSz="495263" rtl="0" eaLnBrk="1" latinLnBrk="0" hangingPunct="1">
        <a:defRPr kumimoji="1" sz="1950" kern="1200">
          <a:solidFill>
            <a:schemeClr val="tx1"/>
          </a:solidFill>
          <a:latin typeface="+mn-lt"/>
          <a:ea typeface="+mn-ea"/>
          <a:cs typeface="+mn-cs"/>
        </a:defRPr>
      </a:lvl6pPr>
      <a:lvl7pPr marL="2971578" algn="l" defTabSz="495263" rtl="0" eaLnBrk="1" latinLnBrk="0" hangingPunct="1">
        <a:defRPr kumimoji="1" sz="1950" kern="1200">
          <a:solidFill>
            <a:schemeClr val="tx1"/>
          </a:solidFill>
          <a:latin typeface="+mn-lt"/>
          <a:ea typeface="+mn-ea"/>
          <a:cs typeface="+mn-cs"/>
        </a:defRPr>
      </a:lvl7pPr>
      <a:lvl8pPr marL="3466840" algn="l" defTabSz="495263" rtl="0" eaLnBrk="1" latinLnBrk="0" hangingPunct="1">
        <a:defRPr kumimoji="1" sz="1950" kern="1200">
          <a:solidFill>
            <a:schemeClr val="tx1"/>
          </a:solidFill>
          <a:latin typeface="+mn-lt"/>
          <a:ea typeface="+mn-ea"/>
          <a:cs typeface="+mn-cs"/>
        </a:defRPr>
      </a:lvl8pPr>
      <a:lvl9pPr marL="3962103" algn="l" defTabSz="495263"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hyperlink" Target="https://note.com/kajiken0630/n/nceb7f1b4fdd6" TargetMode="Externa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21" Type="http://schemas.openxmlformats.org/officeDocument/2006/relationships/hyperlink" Target="https://dwp.nttdata.com/hashtag/dwp-2025-11-17-001?ref=d3c0f086-903b-4188-b785-f808c143cda5" TargetMode="External"/><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image" Target="../media/image18.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hyperlink" Target="https://dwp.nttdata.com/hashtag/dwp-2025-11-17-001?ref=d3c0f086-903b-4188-b785-f808c143cda5" TargetMode="Externa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dwp.nttdata.com/hashtag/dwp-2025-11-17-001?ref=d3c0f086-903b-4188-b785-f808c143cda5" TargetMode="Externa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dwp.nttdata.com/hashtag/dwp-2025-11-17-001?ref=d3c0f086-903b-4188-b785-f808c143cda5" TargetMode="Externa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hyperlink" Target="https://dwp.nttdata.com/hashtag/dwp-2025-11-17-001?ref=d3c0f086-903b-4188-b785-f808c143cda5" TargetMode="External"/><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hyperlink" Target="https://nttdatahr.service-now.com/data_finder?id=df_article_detail_page&amp;sys_id=70ffa6e99302b2d076f43ccdfaba10fd" TargetMode="External"/><Relationship Id="rId2" Type="http://schemas.openxmlformats.org/officeDocument/2006/relationships/image" Target="../media/image45.png"/><Relationship Id="rId1" Type="http://schemas.openxmlformats.org/officeDocument/2006/relationships/slideLayout" Target="../slideLayouts/slideLayout14.xml"/><Relationship Id="rId4" Type="http://schemas.openxmlformats.org/officeDocument/2006/relationships/hyperlink" Target="https://dwp.nttdata.com/document/document-3706ab3013970fe400088cb5b88cf3a8-01UXZOCZ6AE3TXRLBG7REYB7FEFKKJ6KLE"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nttdatahr.service-now.com/data_finder?id=df_article_detail_page&amp;sys_id=70ffa6e99302b2d076f43ccdfaba10fd" TargetMode="External"/><Relationship Id="rId2" Type="http://schemas.openxmlformats.org/officeDocument/2006/relationships/image" Target="../media/image46.png"/><Relationship Id="rId1" Type="http://schemas.openxmlformats.org/officeDocument/2006/relationships/slideLayout" Target="../slideLayouts/slideLayout14.xml"/><Relationship Id="rId4" Type="http://schemas.openxmlformats.org/officeDocument/2006/relationships/hyperlink" Target="https://dwp.nttdata.com/document/document-3706ab3013970fe400088cb5b88cf3a8-01UXZOCZ6AE3TXRLBG7REYB7FEFKKJ6KLE"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nttdata.com/global/ja/news/topics/2025/120300/" TargetMode="External"/><Relationship Id="rId2" Type="http://schemas.openxmlformats.org/officeDocument/2006/relationships/image" Target="../media/image47.png"/><Relationship Id="rId1" Type="http://schemas.openxmlformats.org/officeDocument/2006/relationships/slideLayout" Target="../slideLayouts/slideLayout14.xml"/><Relationship Id="rId5" Type="http://schemas.openxmlformats.org/officeDocument/2006/relationships/hyperlink" Target="https://dwp.nttdata.com/document/document-3706ab3013970fe400088cb5b88cf3a8-01UXZOCZ6AE3TXRLBG7REYB7FEFKKJ6KLE" TargetMode="External"/><Relationship Id="rId4" Type="http://schemas.openxmlformats.org/officeDocument/2006/relationships/hyperlink" Target="https://nttdatahr.service-now.com/data_finder?id=df_article_detail_page&amp;sys_id=70ffa6e99302b2d076f43ccdfaba10f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4.xml"/><Relationship Id="rId4" Type="http://schemas.openxmlformats.org/officeDocument/2006/relationships/image" Target="../media/image73.png"/></Relationships>
</file>

<file path=ppt/slides/_rels/slide6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10EA-D1E9-E952-6C5F-23A87DD9F0F3}"/>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18F26C8-EE07-9A3A-71DC-04C12A32E5F0}"/>
              </a:ext>
            </a:extLst>
          </p:cNvPr>
          <p:cNvSpPr>
            <a:spLocks noGrp="1"/>
          </p:cNvSpPr>
          <p:nvPr>
            <p:ph type="body" sz="quarter" idx="12"/>
          </p:nvPr>
        </p:nvSpPr>
        <p:spPr/>
        <p:txBody>
          <a:bodyPr/>
          <a:lstStyle/>
          <a:p>
            <a:r>
              <a:rPr lang="ja-JP" altLang="en-US" dirty="0">
                <a:latin typeface="+mj-ea"/>
                <a:ea typeface="+mj-ea"/>
              </a:rPr>
              <a:t>生成</a:t>
            </a:r>
            <a:r>
              <a:rPr lang="en-US" altLang="ja-JP" dirty="0">
                <a:latin typeface="+mj-ea"/>
                <a:ea typeface="+mj-ea"/>
              </a:rPr>
              <a:t>AI</a:t>
            </a:r>
            <a:r>
              <a:rPr lang="ja-JP" altLang="en-US" dirty="0">
                <a:latin typeface="+mj-ea"/>
                <a:ea typeface="+mj-ea"/>
              </a:rPr>
              <a:t>の基礎</a:t>
            </a:r>
          </a:p>
        </p:txBody>
      </p:sp>
      <p:sp>
        <p:nvSpPr>
          <p:cNvPr id="7" name="テキスト プレースホルダー 4">
            <a:extLst>
              <a:ext uri="{FF2B5EF4-FFF2-40B4-BE49-F238E27FC236}">
                <a16:creationId xmlns:a16="http://schemas.microsoft.com/office/drawing/2014/main" id="{2BABA287-AE9E-D3CF-EB68-E6A283F29049}"/>
              </a:ext>
            </a:extLst>
          </p:cNvPr>
          <p:cNvSpPr txBox="1">
            <a:spLocks/>
          </p:cNvSpPr>
          <p:nvPr/>
        </p:nvSpPr>
        <p:spPr>
          <a:xfrm>
            <a:off x="7440789" y="339448"/>
            <a:ext cx="2173672" cy="524553"/>
          </a:xfrm>
          <a:prstGeom prst="rect">
            <a:avLst/>
          </a:prstGeom>
          <a:noFill/>
          <a:ln>
            <a:solidFill>
              <a:schemeClr val="bg1"/>
            </a:solidFill>
          </a:ln>
        </p:spPr>
        <p:style>
          <a:lnRef idx="2">
            <a:schemeClr val="accent2"/>
          </a:lnRef>
          <a:fillRef idx="1">
            <a:schemeClr val="lt1"/>
          </a:fillRef>
          <a:effectRef idx="0">
            <a:schemeClr val="accent2"/>
          </a:effectRef>
          <a:fontRef idx="minor">
            <a:schemeClr val="dk1"/>
          </a:fontRef>
        </p:style>
        <p:txBody>
          <a:bodyPr wrap="square" tIns="54000" bIns="54000" anchor="ctr">
            <a:spAutoFit/>
          </a:bodyPr>
          <a:lstStyle>
            <a:lvl1pPr marL="0" indent="0" algn="l" defTabSz="432000" rtl="0" eaLnBrk="0" fontAlgn="base" hangingPunct="0">
              <a:lnSpc>
                <a:spcPct val="100000"/>
              </a:lnSpc>
              <a:spcBef>
                <a:spcPts val="120"/>
              </a:spcBef>
              <a:spcAft>
                <a:spcPct val="0"/>
              </a:spcAft>
              <a:buFont typeface="+mj-lt"/>
              <a:buNone/>
              <a:defRPr kumimoji="1" sz="700" kern="1200">
                <a:solidFill>
                  <a:schemeClr val="bg1"/>
                </a:solidFill>
                <a:latin typeface="MS PGothic" charset="-128"/>
                <a:ea typeface="MS PGothic" charset="-128"/>
                <a:cs typeface="MS PGothic" charset="-128"/>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Arial"/>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900" dirty="0">
                <a:solidFill>
                  <a:srgbClr val="FFFFFF"/>
                </a:solidFill>
                <a:latin typeface="+mj-ea"/>
                <a:ea typeface="+mj-ea"/>
                <a:cs typeface="HGPGothicE" charset="-128"/>
              </a:rPr>
              <a:t>情 報 種 別 ： </a:t>
            </a:r>
            <a:r>
              <a:rPr lang="en-US" altLang="ja-JP" sz="900" dirty="0">
                <a:solidFill>
                  <a:srgbClr val="FFFFFF"/>
                </a:solidFill>
                <a:latin typeface="+mj-ea"/>
                <a:ea typeface="+mj-ea"/>
                <a:cs typeface="HGPGothicE" charset="-128"/>
              </a:rPr>
              <a:t>G</a:t>
            </a:r>
            <a:r>
              <a:rPr lang="ja-JP" altLang="en-US" sz="900" dirty="0">
                <a:solidFill>
                  <a:srgbClr val="FFFFFF"/>
                </a:solidFill>
                <a:latin typeface="+mj-ea"/>
                <a:ea typeface="+mj-ea"/>
                <a:cs typeface="HGPGothicE" charset="-128"/>
              </a:rPr>
              <a:t>外秘</a:t>
            </a:r>
            <a:br>
              <a:rPr lang="en-US" altLang="ja-JP" sz="900" dirty="0">
                <a:solidFill>
                  <a:srgbClr val="FFFFFF"/>
                </a:solidFill>
                <a:latin typeface="+mj-ea"/>
                <a:ea typeface="+mj-ea"/>
                <a:cs typeface="HGPGothicE" charset="-128"/>
              </a:rPr>
            </a:br>
            <a:r>
              <a:rPr lang="ja-JP" altLang="en-US" sz="900" dirty="0">
                <a:solidFill>
                  <a:srgbClr val="FFFFFF"/>
                </a:solidFill>
                <a:latin typeface="+mj-ea"/>
                <a:ea typeface="+mj-ea"/>
                <a:cs typeface="HGPGothicE" charset="-128"/>
              </a:rPr>
              <a:t>会　 社　 名 ： </a:t>
            </a:r>
            <a:r>
              <a:rPr lang="en-US" altLang="ja-JP" sz="900" dirty="0">
                <a:solidFill>
                  <a:srgbClr val="FFFFFF"/>
                </a:solidFill>
                <a:latin typeface="+mj-ea"/>
                <a:ea typeface="+mj-ea"/>
                <a:cs typeface="HGPGothicE" charset="-128"/>
              </a:rPr>
              <a:t>NTT</a:t>
            </a:r>
            <a:r>
              <a:rPr lang="ja-JP" altLang="en-US" sz="900" dirty="0">
                <a:solidFill>
                  <a:srgbClr val="FFFFFF"/>
                </a:solidFill>
                <a:latin typeface="+mj-ea"/>
                <a:ea typeface="+mj-ea"/>
                <a:cs typeface="HGPGothicE" charset="-128"/>
              </a:rPr>
              <a:t>データユニバーシティ</a:t>
            </a:r>
            <a:br>
              <a:rPr lang="en-US" altLang="ja-JP" sz="900" dirty="0">
                <a:solidFill>
                  <a:srgbClr val="FFFFFF"/>
                </a:solidFill>
                <a:latin typeface="+mj-ea"/>
                <a:ea typeface="+mj-ea"/>
                <a:cs typeface="HGPGothicE" charset="-128"/>
              </a:rPr>
            </a:br>
            <a:r>
              <a:rPr lang="ja-JP" altLang="en-US" sz="900" dirty="0">
                <a:solidFill>
                  <a:srgbClr val="FFFFFF"/>
                </a:solidFill>
                <a:latin typeface="+mj-ea"/>
                <a:ea typeface="+mj-ea"/>
                <a:cs typeface="HGPGothicE" charset="-128"/>
              </a:rPr>
              <a:t>情報所有者 ： </a:t>
            </a:r>
            <a:r>
              <a:rPr lang="en-US" altLang="ja-JP" sz="900" dirty="0" err="1">
                <a:solidFill>
                  <a:srgbClr val="FFFFFF"/>
                </a:solidFill>
                <a:latin typeface="+mj-ea"/>
                <a:ea typeface="+mj-ea"/>
                <a:cs typeface="HGPGothicE" charset="-128"/>
              </a:rPr>
              <a:t>AINative</a:t>
            </a:r>
            <a:r>
              <a:rPr lang="ja-JP" altLang="en-US" sz="900" dirty="0">
                <a:solidFill>
                  <a:srgbClr val="FFFFFF"/>
                </a:solidFill>
                <a:latin typeface="+mj-ea"/>
                <a:ea typeface="+mj-ea"/>
                <a:cs typeface="HGPGothicE" charset="-128"/>
              </a:rPr>
              <a:t>研修事務局</a:t>
            </a:r>
          </a:p>
        </p:txBody>
      </p:sp>
    </p:spTree>
    <p:extLst>
      <p:ext uri="{BB962C8B-B14F-4D97-AF65-F5344CB8AC3E}">
        <p14:creationId xmlns:p14="http://schemas.microsoft.com/office/powerpoint/2010/main" val="1529499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目次</a:t>
            </a:r>
            <a:endParaRPr kumimoji="1" lang="ja-JP" altLang="en-US" dirty="0"/>
          </a:p>
        </p:txBody>
      </p:sp>
      <p:sp>
        <p:nvSpPr>
          <p:cNvPr id="3" name="正方形/長方形 2"/>
          <p:cNvSpPr/>
          <p:nvPr/>
        </p:nvSpPr>
        <p:spPr>
          <a:xfrm>
            <a:off x="163773" y="697860"/>
            <a:ext cx="9628495"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25880"/>
            <a:r>
              <a:rPr lang="ja-JP" altLang="en-US" dirty="0">
                <a:solidFill>
                  <a:srgbClr val="404040"/>
                </a:solidFill>
                <a:latin typeface="+mn-ea"/>
              </a:rPr>
              <a:t>生成</a:t>
            </a:r>
            <a:r>
              <a:rPr lang="en-US" altLang="ja-JP" dirty="0">
                <a:solidFill>
                  <a:srgbClr val="404040"/>
                </a:solidFill>
                <a:latin typeface="+mn-ea"/>
              </a:rPr>
              <a:t>AI</a:t>
            </a:r>
            <a:r>
              <a:rPr lang="ja-JP" altLang="en-US" dirty="0">
                <a:solidFill>
                  <a:srgbClr val="404040"/>
                </a:solidFill>
                <a:latin typeface="+mn-ea"/>
              </a:rPr>
              <a:t>の基礎から実務活用まで、</a:t>
            </a:r>
            <a:r>
              <a:rPr lang="en-US" altLang="ja-JP" dirty="0">
                <a:solidFill>
                  <a:srgbClr val="404040"/>
                </a:solidFill>
                <a:latin typeface="+mn-ea"/>
              </a:rPr>
              <a:t>6</a:t>
            </a:r>
            <a:r>
              <a:rPr lang="ja-JP" altLang="en-US" dirty="0" err="1">
                <a:solidFill>
                  <a:srgbClr val="404040"/>
                </a:solidFill>
                <a:latin typeface="+mn-ea"/>
              </a:rPr>
              <a:t>つの</a:t>
            </a:r>
            <a:r>
              <a:rPr lang="ja-JP" altLang="en-US" dirty="0">
                <a:solidFill>
                  <a:srgbClr val="404040"/>
                </a:solidFill>
                <a:latin typeface="+mn-ea"/>
              </a:rPr>
              <a:t>章で段階的に学びます。​</a:t>
            </a: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01_</a:t>
            </a:r>
            <a:r>
              <a:rPr lang="ja-JP" altLang="en-US" b="1" dirty="0">
                <a:solidFill>
                  <a:srgbClr val="404040"/>
                </a:solidFill>
                <a:latin typeface="+mn-ea"/>
              </a:rPr>
              <a:t>オリエンテーションとマインドセット変革​</a:t>
            </a:r>
          </a:p>
          <a:p>
            <a:pPr defTabSz="925880"/>
            <a:r>
              <a:rPr lang="ja-JP" altLang="en-US" sz="1600" dirty="0">
                <a:solidFill>
                  <a:srgbClr val="404040"/>
                </a:solidFill>
                <a:latin typeface="+mn-ea"/>
              </a:rPr>
              <a:t>　研修の背景・目的、</a:t>
            </a:r>
            <a:r>
              <a:rPr lang="en-US" altLang="ja-JP" sz="1600" dirty="0">
                <a:solidFill>
                  <a:srgbClr val="404040"/>
                </a:solidFill>
                <a:latin typeface="+mn-ea"/>
              </a:rPr>
              <a:t>7</a:t>
            </a:r>
            <a:r>
              <a:rPr lang="ja-JP" altLang="en-US" sz="1600" dirty="0">
                <a:solidFill>
                  <a:srgbClr val="404040"/>
                </a:solidFill>
                <a:latin typeface="+mn-ea"/>
              </a:rPr>
              <a:t>日間の全体像、到達目標を確認し、生成</a:t>
            </a:r>
            <a:r>
              <a:rPr lang="en-US" altLang="ja-JP" sz="1600" dirty="0">
                <a:solidFill>
                  <a:srgbClr val="404040"/>
                </a:solidFill>
                <a:latin typeface="+mn-ea"/>
              </a:rPr>
              <a:t>AI</a:t>
            </a:r>
            <a:r>
              <a:rPr lang="ja-JP" altLang="en-US" sz="1600" dirty="0">
                <a:solidFill>
                  <a:srgbClr val="404040"/>
                </a:solidFill>
                <a:latin typeface="+mn-ea"/>
              </a:rPr>
              <a:t>と協働するための基本姿勢を共有します。​</a:t>
            </a: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02_AI</a:t>
            </a:r>
            <a:r>
              <a:rPr lang="ja-JP" altLang="en-US" b="1" dirty="0">
                <a:solidFill>
                  <a:srgbClr val="404040"/>
                </a:solidFill>
                <a:latin typeface="+mn-ea"/>
              </a:rPr>
              <a:t>・</a:t>
            </a:r>
            <a:r>
              <a:rPr lang="en-US" altLang="ja-JP" b="1" dirty="0">
                <a:solidFill>
                  <a:srgbClr val="404040"/>
                </a:solidFill>
                <a:latin typeface="+mn-ea"/>
              </a:rPr>
              <a:t>LLM</a:t>
            </a:r>
            <a:r>
              <a:rPr lang="ja-JP" altLang="en-US" b="1" dirty="0">
                <a:solidFill>
                  <a:srgbClr val="404040"/>
                </a:solidFill>
                <a:latin typeface="+mn-ea"/>
              </a:rPr>
              <a:t>の基礎理解​</a:t>
            </a:r>
          </a:p>
          <a:p>
            <a:pPr defTabSz="925880"/>
            <a:r>
              <a:rPr lang="ja-JP" altLang="en-US" sz="1600" dirty="0">
                <a:solidFill>
                  <a:srgbClr val="404040"/>
                </a:solidFill>
                <a:latin typeface="+mn-ea"/>
              </a:rPr>
              <a:t>　生成</a:t>
            </a:r>
            <a:r>
              <a:rPr lang="en-US" altLang="ja-JP" sz="1600" dirty="0">
                <a:solidFill>
                  <a:srgbClr val="404040"/>
                </a:solidFill>
                <a:latin typeface="+mn-ea"/>
              </a:rPr>
              <a:t>AI</a:t>
            </a:r>
            <a:r>
              <a:rPr lang="ja-JP" altLang="en-US" sz="1600" dirty="0">
                <a:solidFill>
                  <a:srgbClr val="404040"/>
                </a:solidFill>
                <a:latin typeface="+mn-ea"/>
              </a:rPr>
              <a:t>と従来型</a:t>
            </a:r>
            <a:r>
              <a:rPr lang="en-US" altLang="ja-JP" sz="1600" dirty="0">
                <a:solidFill>
                  <a:srgbClr val="404040"/>
                </a:solidFill>
                <a:latin typeface="+mn-ea"/>
              </a:rPr>
              <a:t>AI</a:t>
            </a:r>
            <a:r>
              <a:rPr lang="ja-JP" altLang="en-US" sz="1600" dirty="0">
                <a:solidFill>
                  <a:srgbClr val="404040"/>
                </a:solidFill>
                <a:latin typeface="+mn-ea"/>
              </a:rPr>
              <a:t>の違い、</a:t>
            </a:r>
            <a:r>
              <a:rPr lang="en-US" altLang="ja-JP" sz="1600" dirty="0">
                <a:solidFill>
                  <a:srgbClr val="404040"/>
                </a:solidFill>
                <a:latin typeface="+mn-ea"/>
              </a:rPr>
              <a:t>LLM</a:t>
            </a:r>
            <a:r>
              <a:rPr lang="ja-JP" altLang="en-US" sz="1600" dirty="0">
                <a:solidFill>
                  <a:srgbClr val="404040"/>
                </a:solidFill>
                <a:latin typeface="+mn-ea"/>
              </a:rPr>
              <a:t>の基本的な仕組み、生成</a:t>
            </a:r>
            <a:r>
              <a:rPr lang="en-US" altLang="ja-JP" sz="1600" dirty="0">
                <a:solidFill>
                  <a:srgbClr val="404040"/>
                </a:solidFill>
                <a:latin typeface="+mn-ea"/>
              </a:rPr>
              <a:t>AI</a:t>
            </a:r>
            <a:r>
              <a:rPr lang="ja-JP" altLang="en-US" sz="1600" dirty="0">
                <a:solidFill>
                  <a:srgbClr val="404040"/>
                </a:solidFill>
                <a:latin typeface="+mn-ea"/>
              </a:rPr>
              <a:t>の弱み、業務利用時の心得を学びます。​</a:t>
            </a: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03_NTT</a:t>
            </a:r>
            <a:r>
              <a:rPr lang="ja-JP" altLang="en-US" b="1" dirty="0">
                <a:solidFill>
                  <a:srgbClr val="404040"/>
                </a:solidFill>
                <a:latin typeface="+mn-ea"/>
              </a:rPr>
              <a:t>データが目指す</a:t>
            </a:r>
            <a:r>
              <a:rPr lang="en-US" altLang="ja-JP" b="1" dirty="0">
                <a:solidFill>
                  <a:srgbClr val="404040"/>
                </a:solidFill>
                <a:latin typeface="+mn-ea"/>
              </a:rPr>
              <a:t>AI</a:t>
            </a:r>
            <a:r>
              <a:rPr lang="ja-JP" altLang="en-US" b="1" dirty="0">
                <a:solidFill>
                  <a:srgbClr val="404040"/>
                </a:solidFill>
                <a:latin typeface="+mn-ea"/>
              </a:rPr>
              <a:t>ビジネス（</a:t>
            </a:r>
            <a:r>
              <a:rPr lang="en-US" altLang="ja-JP" b="1" dirty="0">
                <a:solidFill>
                  <a:srgbClr val="404040"/>
                </a:solidFill>
                <a:latin typeface="+mn-ea"/>
              </a:rPr>
              <a:t>Vision</a:t>
            </a:r>
            <a:r>
              <a:rPr lang="ja-JP" altLang="en-US" b="1" dirty="0">
                <a:solidFill>
                  <a:srgbClr val="404040"/>
                </a:solidFill>
                <a:latin typeface="+mn-ea"/>
              </a:rPr>
              <a:t>）​</a:t>
            </a:r>
          </a:p>
          <a:p>
            <a:pPr defTabSz="925880"/>
            <a:r>
              <a:rPr lang="ja-JP" altLang="en-US" sz="1600" dirty="0">
                <a:solidFill>
                  <a:srgbClr val="404040"/>
                </a:solidFill>
                <a:latin typeface="+mn-ea"/>
              </a:rPr>
              <a:t>　</a:t>
            </a:r>
            <a:r>
              <a:rPr lang="en-US" altLang="ja-JP" sz="1600" dirty="0">
                <a:solidFill>
                  <a:srgbClr val="404040"/>
                </a:solidFill>
                <a:latin typeface="+mn-ea"/>
              </a:rPr>
              <a:t>NTT</a:t>
            </a:r>
            <a:r>
              <a:rPr lang="ja-JP" altLang="en-US" sz="1600" dirty="0">
                <a:solidFill>
                  <a:srgbClr val="404040"/>
                </a:solidFill>
                <a:latin typeface="+mn-ea"/>
              </a:rPr>
              <a:t>データの</a:t>
            </a:r>
            <a:r>
              <a:rPr lang="en-US" altLang="ja-JP" sz="1600" dirty="0">
                <a:solidFill>
                  <a:srgbClr val="404040"/>
                </a:solidFill>
                <a:latin typeface="+mn-ea"/>
              </a:rPr>
              <a:t>AI</a:t>
            </a:r>
            <a:r>
              <a:rPr lang="ja-JP" altLang="en-US" sz="1600" dirty="0">
                <a:solidFill>
                  <a:srgbClr val="404040"/>
                </a:solidFill>
                <a:latin typeface="+mn-ea"/>
              </a:rPr>
              <a:t>戦略、</a:t>
            </a:r>
            <a:r>
              <a:rPr lang="en-US" altLang="ja-JP" sz="1600" dirty="0">
                <a:solidFill>
                  <a:srgbClr val="404040"/>
                </a:solidFill>
                <a:latin typeface="+mn-ea"/>
              </a:rPr>
              <a:t>Agentic AI</a:t>
            </a:r>
            <a:r>
              <a:rPr lang="ja-JP" altLang="en-US" sz="1600" dirty="0" err="1">
                <a:solidFill>
                  <a:srgbClr val="404040"/>
                </a:solidFill>
                <a:latin typeface="+mn-ea"/>
              </a:rPr>
              <a:t>、</a:t>
            </a:r>
            <a:r>
              <a:rPr lang="en-US" altLang="ja-JP" sz="1600" dirty="0">
                <a:solidFill>
                  <a:srgbClr val="404040"/>
                </a:solidFill>
                <a:latin typeface="+mn-ea"/>
              </a:rPr>
              <a:t>Smart AI Agent®</a:t>
            </a:r>
            <a:r>
              <a:rPr lang="ja-JP" altLang="en-US" sz="1600" dirty="0">
                <a:solidFill>
                  <a:srgbClr val="404040"/>
                </a:solidFill>
                <a:latin typeface="+mn-ea"/>
              </a:rPr>
              <a:t>構想、</a:t>
            </a:r>
            <a:r>
              <a:rPr lang="en-US" altLang="ja-JP" sz="1600" dirty="0">
                <a:solidFill>
                  <a:srgbClr val="404040"/>
                </a:solidFill>
                <a:latin typeface="+mn-ea"/>
              </a:rPr>
              <a:t>AI</a:t>
            </a:r>
            <a:r>
              <a:rPr lang="ja-JP" altLang="en-US" sz="1600" dirty="0">
                <a:solidFill>
                  <a:srgbClr val="404040"/>
                </a:solidFill>
                <a:latin typeface="+mn-ea"/>
              </a:rPr>
              <a:t>を起点とした業務変革の考え方と事例を</a:t>
            </a:r>
            <a:endParaRPr lang="en-US" altLang="ja-JP" sz="1600" dirty="0">
              <a:solidFill>
                <a:srgbClr val="404040"/>
              </a:solidFill>
              <a:latin typeface="+mn-ea"/>
            </a:endParaRPr>
          </a:p>
          <a:p>
            <a:pPr defTabSz="925880"/>
            <a:r>
              <a:rPr lang="ja-JP" altLang="en-US" sz="1600" dirty="0">
                <a:solidFill>
                  <a:srgbClr val="404040"/>
                </a:solidFill>
                <a:latin typeface="+mn-ea"/>
              </a:rPr>
              <a:t>　理解します。​</a:t>
            </a: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04_</a:t>
            </a:r>
            <a:r>
              <a:rPr lang="ja-JP" altLang="en-US" b="1" dirty="0">
                <a:solidFill>
                  <a:srgbClr val="404040"/>
                </a:solidFill>
                <a:latin typeface="+mn-ea"/>
              </a:rPr>
              <a:t>プロンプトエンジニアリング​</a:t>
            </a:r>
          </a:p>
          <a:p>
            <a:pPr defTabSz="925880"/>
            <a:r>
              <a:rPr lang="ja-JP" altLang="en-US" sz="1600" dirty="0">
                <a:solidFill>
                  <a:srgbClr val="404040"/>
                </a:solidFill>
                <a:latin typeface="+mn-ea"/>
              </a:rPr>
              <a:t>　プロンプトの基本を理解し、</a:t>
            </a:r>
            <a:r>
              <a:rPr lang="en-US" altLang="ja-JP" sz="1600" dirty="0">
                <a:solidFill>
                  <a:srgbClr val="404040"/>
                </a:solidFill>
                <a:latin typeface="+mn-ea"/>
              </a:rPr>
              <a:t>Role Prompting</a:t>
            </a:r>
            <a:r>
              <a:rPr lang="ja-JP" altLang="en-US" sz="1600" dirty="0" err="1">
                <a:solidFill>
                  <a:srgbClr val="404040"/>
                </a:solidFill>
                <a:latin typeface="+mn-ea"/>
              </a:rPr>
              <a:t>、</a:t>
            </a:r>
            <a:r>
              <a:rPr lang="ja-JP" altLang="en-US" sz="1600" dirty="0">
                <a:solidFill>
                  <a:srgbClr val="404040"/>
                </a:solidFill>
                <a:latin typeface="+mn-ea"/>
              </a:rPr>
              <a:t>区切り文字、</a:t>
            </a:r>
            <a:r>
              <a:rPr lang="en-US" altLang="ja-JP" sz="1600" dirty="0">
                <a:solidFill>
                  <a:srgbClr val="404040"/>
                </a:solidFill>
                <a:latin typeface="+mn-ea"/>
              </a:rPr>
              <a:t>Zero-shot</a:t>
            </a:r>
            <a:r>
              <a:rPr lang="ja-JP" altLang="en-US" sz="1600" dirty="0">
                <a:solidFill>
                  <a:srgbClr val="404040"/>
                </a:solidFill>
                <a:latin typeface="+mn-ea"/>
              </a:rPr>
              <a:t>／</a:t>
            </a:r>
            <a:r>
              <a:rPr lang="en-US" altLang="ja-JP" sz="1600" dirty="0">
                <a:solidFill>
                  <a:srgbClr val="404040"/>
                </a:solidFill>
                <a:latin typeface="+mn-ea"/>
              </a:rPr>
              <a:t>Few-shot</a:t>
            </a:r>
            <a:r>
              <a:rPr lang="ja-JP" altLang="en-US" sz="1600" dirty="0">
                <a:solidFill>
                  <a:srgbClr val="404040"/>
                </a:solidFill>
                <a:latin typeface="+mn-ea"/>
              </a:rPr>
              <a:t>などの実践技法を学びます。​</a:t>
            </a: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05_</a:t>
            </a:r>
            <a:r>
              <a:rPr lang="ja-JP" altLang="en-US" b="1" dirty="0">
                <a:solidFill>
                  <a:srgbClr val="404040"/>
                </a:solidFill>
                <a:latin typeface="+mn-ea"/>
              </a:rPr>
              <a:t>ハンズオン（</a:t>
            </a:r>
            <a:r>
              <a:rPr lang="en-US" altLang="ja-JP" b="1" dirty="0" err="1">
                <a:solidFill>
                  <a:srgbClr val="404040"/>
                </a:solidFill>
                <a:latin typeface="+mn-ea"/>
              </a:rPr>
              <a:t>ChatGPT</a:t>
            </a:r>
            <a:r>
              <a:rPr lang="ja-JP" altLang="en-US" b="1" dirty="0">
                <a:solidFill>
                  <a:srgbClr val="404040"/>
                </a:solidFill>
                <a:latin typeface="+mn-ea"/>
              </a:rPr>
              <a:t>）​</a:t>
            </a:r>
          </a:p>
          <a:p>
            <a:pPr defTabSz="925880"/>
            <a:r>
              <a:rPr lang="ja-JP" altLang="en-US" sz="1600" dirty="0">
                <a:solidFill>
                  <a:srgbClr val="404040"/>
                </a:solidFill>
                <a:latin typeface="+mn-ea"/>
              </a:rPr>
              <a:t>　顧客提案の骨子作成、プロトタイプ作成、学習コンテンツ作成を題材に、</a:t>
            </a:r>
            <a:r>
              <a:rPr lang="en-US" altLang="ja-JP" sz="1600" dirty="0" err="1">
                <a:solidFill>
                  <a:srgbClr val="404040"/>
                </a:solidFill>
                <a:latin typeface="+mn-ea"/>
              </a:rPr>
              <a:t>ChatGPT</a:t>
            </a:r>
            <a:r>
              <a:rPr lang="ja-JP" altLang="en-US" sz="1600" dirty="0">
                <a:solidFill>
                  <a:srgbClr val="404040"/>
                </a:solidFill>
                <a:latin typeface="+mn-ea"/>
              </a:rPr>
              <a:t>の実務的な活用を体験します。​</a:t>
            </a:r>
            <a:endParaRPr lang="ja-JP" altLang="en-US" sz="2000" dirty="0">
              <a:solidFill>
                <a:srgbClr val="404040"/>
              </a:solidFill>
              <a:latin typeface="+mn-ea"/>
            </a:endParaRPr>
          </a:p>
          <a:p>
            <a:pPr defTabSz="925880"/>
            <a:endParaRPr lang="ja-JP" altLang="en-US" sz="2000" dirty="0">
              <a:solidFill>
                <a:srgbClr val="404040"/>
              </a:solidFill>
              <a:latin typeface="+mn-ea"/>
            </a:endParaRPr>
          </a:p>
          <a:p>
            <a:pPr defTabSz="925880"/>
            <a:r>
              <a:rPr lang="en-US" altLang="ja-JP" b="1" dirty="0">
                <a:solidFill>
                  <a:srgbClr val="404040"/>
                </a:solidFill>
                <a:latin typeface="+mn-ea"/>
              </a:rPr>
              <a:t>06_</a:t>
            </a:r>
            <a:r>
              <a:rPr lang="ja-JP" altLang="en-US" b="1" dirty="0">
                <a:solidFill>
                  <a:srgbClr val="404040"/>
                </a:solidFill>
                <a:latin typeface="+mn-ea"/>
              </a:rPr>
              <a:t>ハンズオン（</a:t>
            </a:r>
            <a:r>
              <a:rPr lang="en-US" altLang="ja-JP" b="1" dirty="0">
                <a:solidFill>
                  <a:srgbClr val="404040"/>
                </a:solidFill>
                <a:latin typeface="+mn-ea"/>
              </a:rPr>
              <a:t>GitHub Copilot</a:t>
            </a:r>
            <a:r>
              <a:rPr lang="ja-JP" altLang="en-US" b="1" dirty="0">
                <a:solidFill>
                  <a:srgbClr val="404040"/>
                </a:solidFill>
                <a:latin typeface="+mn-ea"/>
              </a:rPr>
              <a:t>）​</a:t>
            </a:r>
          </a:p>
          <a:p>
            <a:pPr defTabSz="925880"/>
            <a:r>
              <a:rPr lang="ja-JP" altLang="en-US" sz="1600" dirty="0">
                <a:solidFill>
                  <a:srgbClr val="404040"/>
                </a:solidFill>
                <a:latin typeface="+mn-ea"/>
              </a:rPr>
              <a:t>　コード補完、</a:t>
            </a:r>
            <a:r>
              <a:rPr lang="en-US" altLang="ja-JP" sz="1600" dirty="0">
                <a:solidFill>
                  <a:srgbClr val="404040"/>
                </a:solidFill>
                <a:latin typeface="+mn-ea"/>
              </a:rPr>
              <a:t>Ask</a:t>
            </a:r>
            <a:r>
              <a:rPr lang="ja-JP" altLang="en-US" sz="1600" dirty="0" err="1">
                <a:solidFill>
                  <a:srgbClr val="404040"/>
                </a:solidFill>
                <a:latin typeface="+mn-ea"/>
              </a:rPr>
              <a:t>、</a:t>
            </a:r>
            <a:r>
              <a:rPr lang="en-US" altLang="ja-JP" sz="1600" dirty="0">
                <a:solidFill>
                  <a:srgbClr val="404040"/>
                </a:solidFill>
                <a:latin typeface="+mn-ea"/>
              </a:rPr>
              <a:t>Agent</a:t>
            </a:r>
            <a:r>
              <a:rPr lang="ja-JP" altLang="en-US" sz="1600" dirty="0" err="1">
                <a:solidFill>
                  <a:srgbClr val="404040"/>
                </a:solidFill>
                <a:latin typeface="+mn-ea"/>
              </a:rPr>
              <a:t>、</a:t>
            </a:r>
            <a:r>
              <a:rPr lang="en-US" altLang="ja-JP" sz="1600" dirty="0">
                <a:solidFill>
                  <a:srgbClr val="404040"/>
                </a:solidFill>
                <a:latin typeface="+mn-ea"/>
              </a:rPr>
              <a:t>Plan</a:t>
            </a:r>
            <a:r>
              <a:rPr lang="ja-JP" altLang="en-US" sz="1600" dirty="0">
                <a:solidFill>
                  <a:srgbClr val="404040"/>
                </a:solidFill>
                <a:latin typeface="+mn-ea"/>
              </a:rPr>
              <a:t>の各モードを使い、内容確認、文書作成、機能追加計画、実装までを体験します。​</a:t>
            </a:r>
          </a:p>
          <a:p>
            <a:pPr defTabSz="925880"/>
            <a:endParaRPr lang="en-US" altLang="ja-JP" sz="2000" dirty="0">
              <a:solidFill>
                <a:srgbClr val="404040"/>
              </a:solidFill>
              <a:latin typeface="+mn-ea"/>
            </a:endParaRPr>
          </a:p>
          <a:p>
            <a:pPr defTabSz="925880"/>
            <a:endParaRPr lang="ja-JP" altLang="en-US" sz="2000" dirty="0">
              <a:solidFill>
                <a:srgbClr val="404040"/>
              </a:solidFill>
              <a:latin typeface="+mn-ea"/>
            </a:endParaRPr>
          </a:p>
        </p:txBody>
      </p:sp>
    </p:spTree>
    <p:extLst>
      <p:ext uri="{BB962C8B-B14F-4D97-AF65-F5344CB8AC3E}">
        <p14:creationId xmlns:p14="http://schemas.microsoft.com/office/powerpoint/2010/main" val="482097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en-US" altLang="ja-JP" dirty="0"/>
              <a:t>01</a:t>
            </a:r>
            <a:endParaRPr kumimoji="1" lang="ja-JP" altLang="en-US" dirty="0"/>
          </a:p>
        </p:txBody>
      </p:sp>
      <p:sp>
        <p:nvSpPr>
          <p:cNvPr id="6" name="テキスト プレースホルダー 5"/>
          <p:cNvSpPr>
            <a:spLocks noGrp="1"/>
          </p:cNvSpPr>
          <p:nvPr>
            <p:ph type="body" sz="quarter" idx="16"/>
          </p:nvPr>
        </p:nvSpPr>
        <p:spPr/>
        <p:txBody>
          <a:bodyPr/>
          <a:lstStyle/>
          <a:p>
            <a:r>
              <a:rPr lang="ja-JP" altLang="en-US" dirty="0">
                <a:latin typeface="+mj-ea"/>
                <a:ea typeface="+mj-ea"/>
              </a:rPr>
              <a:t>オリエンテーションと</a:t>
            </a:r>
            <a:br>
              <a:rPr lang="en-US" altLang="ja-JP" dirty="0">
                <a:latin typeface="+mj-ea"/>
                <a:ea typeface="+mj-ea"/>
              </a:rPr>
            </a:br>
            <a:r>
              <a:rPr lang="ja-JP" altLang="en-US" dirty="0">
                <a:latin typeface="+mj-ea"/>
                <a:ea typeface="+mj-ea"/>
              </a:rPr>
              <a:t>マインドセット変革</a:t>
            </a:r>
          </a:p>
          <a:p>
            <a:endParaRPr kumimoji="1" lang="ja-JP" altLang="en-US" dirty="0">
              <a:latin typeface="+mj-ea"/>
              <a:ea typeface="+mj-ea"/>
            </a:endParaRPr>
          </a:p>
        </p:txBody>
      </p:sp>
    </p:spTree>
    <p:extLst>
      <p:ext uri="{BB962C8B-B14F-4D97-AF65-F5344CB8AC3E}">
        <p14:creationId xmlns:p14="http://schemas.microsoft.com/office/powerpoint/2010/main" val="1952568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latin typeface="+mn-ea"/>
                <a:ea typeface="+mn-ea"/>
              </a:rPr>
              <a:t>1-1. </a:t>
            </a:r>
            <a:r>
              <a:rPr lang="ja-JP" altLang="en-US" dirty="0">
                <a:latin typeface="+mn-ea"/>
                <a:ea typeface="+mn-ea"/>
              </a:rPr>
              <a:t>研修概要</a:t>
            </a:r>
          </a:p>
        </p:txBody>
      </p:sp>
      <p:sp>
        <p:nvSpPr>
          <p:cNvPr id="5" name="正方形/長方形 4"/>
          <p:cNvSpPr/>
          <p:nvPr/>
        </p:nvSpPr>
        <p:spPr>
          <a:xfrm>
            <a:off x="417290" y="908756"/>
            <a:ext cx="9326948"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25880"/>
            <a:r>
              <a:rPr lang="ja-JP" altLang="en-US" sz="2000" dirty="0">
                <a:solidFill>
                  <a:srgbClr val="404040"/>
                </a:solidFill>
                <a:latin typeface="+mn-ea"/>
              </a:rPr>
              <a:t>生成</a:t>
            </a:r>
            <a:r>
              <a:rPr lang="en-US" altLang="ja-JP" sz="2000" dirty="0">
                <a:solidFill>
                  <a:srgbClr val="404040"/>
                </a:solidFill>
                <a:latin typeface="+mn-ea"/>
              </a:rPr>
              <a:t>AI</a:t>
            </a:r>
            <a:r>
              <a:rPr lang="ja-JP" altLang="en-US" sz="2000" dirty="0">
                <a:solidFill>
                  <a:srgbClr val="404040"/>
                </a:solidFill>
                <a:latin typeface="+mn-ea"/>
              </a:rPr>
              <a:t>と協働しながら業務を自走する力を養い、</a:t>
            </a:r>
            <a:r>
              <a:rPr lang="en-US" altLang="ja-JP" sz="2000" dirty="0">
                <a:solidFill>
                  <a:srgbClr val="404040"/>
                </a:solidFill>
                <a:latin typeface="+mn-ea"/>
              </a:rPr>
              <a:t>AI</a:t>
            </a:r>
            <a:r>
              <a:rPr lang="ja-JP" altLang="en-US" sz="2000" dirty="0">
                <a:solidFill>
                  <a:srgbClr val="404040"/>
                </a:solidFill>
                <a:latin typeface="+mn-ea"/>
              </a:rPr>
              <a:t>時代の基盤となる人材を育成する研修</a:t>
            </a:r>
            <a:endParaRPr lang="en-US" altLang="ja-JP" sz="2000" dirty="0">
              <a:solidFill>
                <a:srgbClr val="404040"/>
              </a:solidFill>
              <a:latin typeface="+mn-ea"/>
            </a:endParaRPr>
          </a:p>
          <a:p>
            <a:pPr defTabSz="925880"/>
            <a:endParaRPr lang="en-US" altLang="ja-JP" sz="2000" dirty="0">
              <a:solidFill>
                <a:srgbClr val="404040"/>
              </a:solidFill>
              <a:latin typeface="+mn-ea"/>
            </a:endParaRPr>
          </a:p>
          <a:p>
            <a:pPr defTabSz="925880"/>
            <a:endParaRPr lang="ja-JP" altLang="en-US" sz="2000" dirty="0">
              <a:solidFill>
                <a:srgbClr val="404040"/>
              </a:solidFill>
              <a:latin typeface="+mn-ea"/>
            </a:endParaRPr>
          </a:p>
        </p:txBody>
      </p:sp>
      <p:sp>
        <p:nvSpPr>
          <p:cNvPr id="15" name="テキスト ボックス 14">
            <a:extLst>
              <a:ext uri="{FF2B5EF4-FFF2-40B4-BE49-F238E27FC236}">
                <a16:creationId xmlns:a16="http://schemas.microsoft.com/office/drawing/2014/main" id="{A40DCF9F-4FEA-E025-D53B-0539C5E644B3}"/>
              </a:ext>
            </a:extLst>
          </p:cNvPr>
          <p:cNvSpPr txBox="1"/>
          <p:nvPr/>
        </p:nvSpPr>
        <p:spPr>
          <a:xfrm>
            <a:off x="516803" y="1371051"/>
            <a:ext cx="9227435" cy="692306"/>
          </a:xfrm>
          <a:prstGeom prst="rect">
            <a:avLst/>
          </a:prstGeom>
          <a:noFill/>
        </p:spPr>
        <p:txBody>
          <a:bodyPr wrap="none" lIns="0" rIns="0" rtlCol="0">
            <a:noAutofit/>
          </a:bodyPr>
          <a:lstStyle/>
          <a:p>
            <a:pPr defTabSz="288000">
              <a:defRPr/>
            </a:pPr>
            <a:r>
              <a:rPr lang="ja-JP" altLang="en-US" sz="2000" dirty="0">
                <a:solidFill>
                  <a:srgbClr val="404040"/>
                </a:solidFill>
                <a:latin typeface="+mn-ea"/>
              </a:rPr>
              <a:t>ソフトウェア開発と企画提案を例に、生成</a:t>
            </a:r>
            <a:r>
              <a:rPr lang="en-US" altLang="ja-JP" sz="2000" dirty="0">
                <a:solidFill>
                  <a:srgbClr val="404040"/>
                </a:solidFill>
                <a:latin typeface="+mn-ea"/>
              </a:rPr>
              <a:t>AI</a:t>
            </a:r>
            <a:r>
              <a:rPr lang="ja-JP" altLang="en-US" sz="2000" dirty="0">
                <a:solidFill>
                  <a:srgbClr val="404040"/>
                </a:solidFill>
                <a:latin typeface="+mn-ea"/>
              </a:rPr>
              <a:t>の活用の基礎を学ぶ研修</a:t>
            </a:r>
            <a:endParaRPr lang="en-US" altLang="ja-JP" sz="2000" dirty="0">
              <a:solidFill>
                <a:srgbClr val="404040"/>
              </a:solidFill>
              <a:latin typeface="+mn-ea"/>
            </a:endParaRPr>
          </a:p>
          <a:p>
            <a:pPr defTabSz="288000">
              <a:defRPr/>
            </a:pPr>
            <a:r>
              <a:rPr lang="en-US" altLang="ja-JP" sz="2000" dirty="0">
                <a:solidFill>
                  <a:srgbClr val="404040"/>
                </a:solidFill>
                <a:latin typeface="+mn-ea"/>
              </a:rPr>
              <a:t>Java</a:t>
            </a:r>
            <a:r>
              <a:rPr lang="ja-JP" altLang="en-US" sz="2000" dirty="0">
                <a:solidFill>
                  <a:srgbClr val="404040"/>
                </a:solidFill>
                <a:latin typeface="+mn-ea"/>
              </a:rPr>
              <a:t>による</a:t>
            </a:r>
            <a:r>
              <a:rPr lang="en-US" altLang="ja-JP" sz="2000" dirty="0">
                <a:solidFill>
                  <a:srgbClr val="404040"/>
                </a:solidFill>
                <a:latin typeface="+mn-ea"/>
              </a:rPr>
              <a:t>AP</a:t>
            </a:r>
            <a:r>
              <a:rPr lang="ja-JP" altLang="en-US" sz="2000" dirty="0">
                <a:solidFill>
                  <a:srgbClr val="404040"/>
                </a:solidFill>
                <a:latin typeface="+mn-ea"/>
              </a:rPr>
              <a:t>開発・単体テストの演習と、企画・プロトタイプ作成・</a:t>
            </a:r>
            <a:endParaRPr lang="en-US" altLang="ja-JP" sz="2000" dirty="0">
              <a:solidFill>
                <a:srgbClr val="404040"/>
              </a:solidFill>
              <a:latin typeface="+mn-ea"/>
            </a:endParaRPr>
          </a:p>
          <a:p>
            <a:pPr defTabSz="288000">
              <a:defRPr/>
            </a:pPr>
            <a:r>
              <a:rPr lang="ja-JP" altLang="en-US" sz="2000" dirty="0">
                <a:solidFill>
                  <a:srgbClr val="404040"/>
                </a:solidFill>
                <a:latin typeface="+mn-ea"/>
              </a:rPr>
              <a:t>提案の実践課題に取り組み、開発と提案の両側面を体験する</a:t>
            </a:r>
          </a:p>
        </p:txBody>
      </p:sp>
      <p:sp>
        <p:nvSpPr>
          <p:cNvPr id="6" name="Shape 3"/>
          <p:cNvSpPr/>
          <p:nvPr/>
        </p:nvSpPr>
        <p:spPr>
          <a:xfrm>
            <a:off x="419005" y="2620637"/>
            <a:ext cx="5197156" cy="484632"/>
          </a:xfrm>
          <a:prstGeom prst="roundRect">
            <a:avLst>
              <a:gd name="adj" fmla="val 15094"/>
            </a:avLst>
          </a:prstGeom>
          <a:solidFill>
            <a:srgbClr val="0072BC"/>
          </a:solidFill>
          <a:ln w="12700">
            <a:solidFill>
              <a:srgbClr val="0072BC"/>
            </a:solidFill>
            <a:prstDash val="solid"/>
          </a:ln>
        </p:spPr>
        <p:txBody>
          <a:bodyPr/>
          <a:lstStyle/>
          <a:p>
            <a:endParaRPr lang="ja-JP" altLang="en-US"/>
          </a:p>
        </p:txBody>
      </p:sp>
      <p:sp>
        <p:nvSpPr>
          <p:cNvPr id="7" name="Text 4"/>
          <p:cNvSpPr/>
          <p:nvPr/>
        </p:nvSpPr>
        <p:spPr>
          <a:xfrm>
            <a:off x="601885" y="2730365"/>
            <a:ext cx="4885906" cy="219456"/>
          </a:xfrm>
          <a:prstGeom prst="rect">
            <a:avLst/>
          </a:prstGeom>
          <a:noFill/>
          <a:ln/>
        </p:spPr>
        <p:txBody>
          <a:bodyPr wrap="square" lIns="0" tIns="0" rIns="0" bIns="0" rtlCol="0" anchor="ctr"/>
          <a:lstStyle/>
          <a:p>
            <a:pPr marL="0" indent="0" algn="ctr">
              <a:buNone/>
            </a:pPr>
            <a:r>
              <a:rPr lang="en-US" sz="1500" b="1" dirty="0">
                <a:solidFill>
                  <a:srgbClr val="FFFFFF"/>
                </a:solidFill>
                <a:latin typeface="+mn-ea"/>
                <a:cs typeface="Yu Gothic" pitchFamily="34" charset="-120"/>
              </a:rPr>
              <a:t>PART 1｜バイブコーディングフェーズ　4日間</a:t>
            </a:r>
            <a:endParaRPr lang="en-US" sz="1500" dirty="0">
              <a:latin typeface="+mn-ea"/>
            </a:endParaRPr>
          </a:p>
        </p:txBody>
      </p:sp>
      <p:sp>
        <p:nvSpPr>
          <p:cNvPr id="8" name="Shape 5"/>
          <p:cNvSpPr/>
          <p:nvPr/>
        </p:nvSpPr>
        <p:spPr>
          <a:xfrm>
            <a:off x="6143678" y="2629781"/>
            <a:ext cx="3481274" cy="484632"/>
          </a:xfrm>
          <a:prstGeom prst="roundRect">
            <a:avLst>
              <a:gd name="adj" fmla="val 15094"/>
            </a:avLst>
          </a:prstGeom>
          <a:solidFill>
            <a:srgbClr val="F28C28"/>
          </a:solidFill>
          <a:ln w="12700">
            <a:solidFill>
              <a:srgbClr val="F28C28"/>
            </a:solidFill>
            <a:prstDash val="solid"/>
          </a:ln>
        </p:spPr>
        <p:txBody>
          <a:bodyPr/>
          <a:lstStyle/>
          <a:p>
            <a:endParaRPr lang="ja-JP" altLang="en-US"/>
          </a:p>
        </p:txBody>
      </p:sp>
      <p:sp>
        <p:nvSpPr>
          <p:cNvPr id="9" name="Text 6"/>
          <p:cNvSpPr/>
          <p:nvPr/>
        </p:nvSpPr>
        <p:spPr>
          <a:xfrm>
            <a:off x="6317414" y="2739509"/>
            <a:ext cx="3208514" cy="219456"/>
          </a:xfrm>
          <a:prstGeom prst="rect">
            <a:avLst/>
          </a:prstGeom>
          <a:noFill/>
          <a:ln/>
        </p:spPr>
        <p:txBody>
          <a:bodyPr wrap="square" lIns="0" tIns="0" rIns="0" bIns="0" rtlCol="0" anchor="ctr"/>
          <a:lstStyle/>
          <a:p>
            <a:pPr marL="0" indent="0" algn="ctr">
              <a:buNone/>
            </a:pPr>
            <a:r>
              <a:rPr lang="en-US" sz="1500" b="1" dirty="0">
                <a:solidFill>
                  <a:srgbClr val="FFFFFF"/>
                </a:solidFill>
                <a:latin typeface="+mn-ea"/>
                <a:cs typeface="Yu Gothic" pitchFamily="34" charset="-120"/>
              </a:rPr>
              <a:t>PART 2｜企画提案フェーズ　3日間</a:t>
            </a:r>
            <a:endParaRPr lang="en-US" sz="1500" dirty="0">
              <a:latin typeface="+mn-ea"/>
            </a:endParaRPr>
          </a:p>
        </p:txBody>
      </p:sp>
      <p:sp>
        <p:nvSpPr>
          <p:cNvPr id="10" name="Shape 7"/>
          <p:cNvSpPr/>
          <p:nvPr/>
        </p:nvSpPr>
        <p:spPr>
          <a:xfrm>
            <a:off x="1141381" y="3352157"/>
            <a:ext cx="8377508" cy="1"/>
          </a:xfrm>
          <a:prstGeom prst="line">
            <a:avLst/>
          </a:prstGeom>
          <a:noFill/>
          <a:ln w="27940">
            <a:solidFill>
              <a:srgbClr val="A6BAC7"/>
            </a:solidFill>
            <a:prstDash val="solid"/>
          </a:ln>
        </p:spPr>
        <p:txBody>
          <a:bodyPr/>
          <a:lstStyle/>
          <a:p>
            <a:endParaRPr lang="ja-JP" altLang="en-US"/>
          </a:p>
        </p:txBody>
      </p:sp>
      <p:sp>
        <p:nvSpPr>
          <p:cNvPr id="11" name="Shape 8"/>
          <p:cNvSpPr/>
          <p:nvPr/>
        </p:nvSpPr>
        <p:spPr>
          <a:xfrm>
            <a:off x="5724756" y="3187565"/>
            <a:ext cx="329176" cy="329184"/>
          </a:xfrm>
          <a:prstGeom prst="chevron">
            <a:avLst/>
          </a:prstGeom>
          <a:solidFill>
            <a:srgbClr val="FFFFFF">
              <a:alpha val="0"/>
            </a:srgbClr>
          </a:solidFill>
          <a:ln w="27940">
            <a:solidFill>
              <a:srgbClr val="F28C28"/>
            </a:solidFill>
            <a:prstDash val="solid"/>
          </a:ln>
        </p:spPr>
        <p:txBody>
          <a:bodyPr/>
          <a:lstStyle/>
          <a:p>
            <a:endParaRPr lang="ja-JP" altLang="en-US"/>
          </a:p>
        </p:txBody>
      </p:sp>
      <p:sp>
        <p:nvSpPr>
          <p:cNvPr id="12" name="Shape 9"/>
          <p:cNvSpPr/>
          <p:nvPr/>
        </p:nvSpPr>
        <p:spPr>
          <a:xfrm>
            <a:off x="1068229" y="3260717"/>
            <a:ext cx="164587" cy="182880"/>
          </a:xfrm>
          <a:prstGeom prst="ellipse">
            <a:avLst/>
          </a:prstGeom>
          <a:solidFill>
            <a:srgbClr val="0072BC"/>
          </a:solidFill>
          <a:ln w="12700">
            <a:solidFill>
              <a:srgbClr val="FFFFFF"/>
            </a:solidFill>
            <a:prstDash val="solid"/>
          </a:ln>
        </p:spPr>
        <p:txBody>
          <a:bodyPr/>
          <a:lstStyle/>
          <a:p>
            <a:endParaRPr lang="ja-JP" altLang="en-US"/>
          </a:p>
        </p:txBody>
      </p:sp>
      <p:sp>
        <p:nvSpPr>
          <p:cNvPr id="13" name="Shape 10"/>
          <p:cNvSpPr/>
          <p:nvPr/>
        </p:nvSpPr>
        <p:spPr>
          <a:xfrm>
            <a:off x="419005" y="3589901"/>
            <a:ext cx="1235091" cy="1197864"/>
          </a:xfrm>
          <a:prstGeom prst="roundRect">
            <a:avLst>
              <a:gd name="adj" fmla="val 4321"/>
            </a:avLst>
          </a:prstGeom>
          <a:solidFill>
            <a:srgbClr val="EAF6FD"/>
          </a:solidFill>
          <a:ln w="17780">
            <a:solidFill>
              <a:srgbClr val="0072BC"/>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14" name="Shape 11"/>
          <p:cNvSpPr/>
          <p:nvPr/>
        </p:nvSpPr>
        <p:spPr>
          <a:xfrm>
            <a:off x="528733" y="3717917"/>
            <a:ext cx="1052114" cy="310896"/>
          </a:xfrm>
          <a:prstGeom prst="roundRect">
            <a:avLst>
              <a:gd name="adj" fmla="val 17647"/>
            </a:avLst>
          </a:prstGeom>
          <a:solidFill>
            <a:srgbClr val="0072BC"/>
          </a:solidFill>
          <a:ln w="12700">
            <a:solidFill>
              <a:srgbClr val="0072BC"/>
            </a:solidFill>
            <a:prstDash val="solid"/>
          </a:ln>
        </p:spPr>
        <p:txBody>
          <a:bodyPr/>
          <a:lstStyle/>
          <a:p>
            <a:endParaRPr lang="ja-JP" altLang="en-US"/>
          </a:p>
        </p:txBody>
      </p:sp>
      <p:sp>
        <p:nvSpPr>
          <p:cNvPr id="16" name="Text 12"/>
          <p:cNvSpPr/>
          <p:nvPr/>
        </p:nvSpPr>
        <p:spPr>
          <a:xfrm>
            <a:off x="528733" y="3781925"/>
            <a:ext cx="1052114"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1</a:t>
            </a:r>
            <a:endParaRPr lang="en-US" sz="1100" dirty="0">
              <a:latin typeface="+mn-ea"/>
            </a:endParaRPr>
          </a:p>
        </p:txBody>
      </p:sp>
      <p:sp>
        <p:nvSpPr>
          <p:cNvPr id="18" name="Text 13"/>
          <p:cNvSpPr/>
          <p:nvPr/>
        </p:nvSpPr>
        <p:spPr>
          <a:xfrm>
            <a:off x="528733" y="4175117"/>
            <a:ext cx="1052114" cy="502920"/>
          </a:xfrm>
          <a:prstGeom prst="rect">
            <a:avLst/>
          </a:prstGeom>
          <a:noFill/>
          <a:ln/>
        </p:spPr>
        <p:txBody>
          <a:bodyPr wrap="square" lIns="381" tIns="381" rIns="381" bIns="381" rtlCol="0" anchor="ctr"/>
          <a:lstStyle/>
          <a:p>
            <a:pPr marL="0" indent="0" algn="ctr">
              <a:buNone/>
            </a:pPr>
            <a:r>
              <a:rPr lang="en-US" sz="1300" b="1" dirty="0">
                <a:solidFill>
                  <a:srgbClr val="0072BC"/>
                </a:solidFill>
                <a:latin typeface="+mn-ea"/>
                <a:cs typeface="Yu Gothic" pitchFamily="34" charset="-120"/>
              </a:rPr>
              <a:t>AI-Native</a:t>
            </a:r>
          </a:p>
          <a:p>
            <a:pPr marL="0" indent="0" algn="ctr">
              <a:buNone/>
            </a:pPr>
            <a:r>
              <a:rPr lang="en-US" sz="1300" b="1" dirty="0" err="1">
                <a:solidFill>
                  <a:srgbClr val="0072BC"/>
                </a:solidFill>
                <a:latin typeface="+mn-ea"/>
                <a:cs typeface="Yu Gothic" pitchFamily="34" charset="-120"/>
              </a:rPr>
              <a:t>基礎</a:t>
            </a:r>
            <a:endParaRPr lang="en-US" sz="1300" dirty="0">
              <a:latin typeface="+mn-ea"/>
            </a:endParaRPr>
          </a:p>
        </p:txBody>
      </p:sp>
      <p:sp>
        <p:nvSpPr>
          <p:cNvPr id="19" name="Shape 16"/>
          <p:cNvSpPr/>
          <p:nvPr/>
        </p:nvSpPr>
        <p:spPr>
          <a:xfrm>
            <a:off x="2402565" y="3260717"/>
            <a:ext cx="164587" cy="182880"/>
          </a:xfrm>
          <a:prstGeom prst="ellipse">
            <a:avLst/>
          </a:prstGeom>
          <a:solidFill>
            <a:srgbClr val="0072BC"/>
          </a:solidFill>
          <a:ln w="12700">
            <a:solidFill>
              <a:srgbClr val="FFFFFF"/>
            </a:solidFill>
            <a:prstDash val="solid"/>
          </a:ln>
        </p:spPr>
        <p:txBody>
          <a:bodyPr/>
          <a:lstStyle/>
          <a:p>
            <a:endParaRPr lang="ja-JP" altLang="en-US"/>
          </a:p>
        </p:txBody>
      </p:sp>
      <p:sp>
        <p:nvSpPr>
          <p:cNvPr id="20" name="Shape 17"/>
          <p:cNvSpPr/>
          <p:nvPr/>
        </p:nvSpPr>
        <p:spPr>
          <a:xfrm>
            <a:off x="1753341" y="3589901"/>
            <a:ext cx="1235091" cy="1197864"/>
          </a:xfrm>
          <a:prstGeom prst="roundRect">
            <a:avLst>
              <a:gd name="adj" fmla="val 4321"/>
            </a:avLst>
          </a:prstGeom>
          <a:solidFill>
            <a:srgbClr val="EAF6FD"/>
          </a:solidFill>
          <a:ln w="17780">
            <a:solidFill>
              <a:srgbClr val="0072BC"/>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21" name="Shape 18"/>
          <p:cNvSpPr/>
          <p:nvPr/>
        </p:nvSpPr>
        <p:spPr>
          <a:xfrm>
            <a:off x="1863069" y="3717917"/>
            <a:ext cx="1052114" cy="310896"/>
          </a:xfrm>
          <a:prstGeom prst="roundRect">
            <a:avLst>
              <a:gd name="adj" fmla="val 17647"/>
            </a:avLst>
          </a:prstGeom>
          <a:solidFill>
            <a:srgbClr val="0072BC"/>
          </a:solidFill>
          <a:ln w="12700">
            <a:solidFill>
              <a:srgbClr val="0072BC"/>
            </a:solidFill>
            <a:prstDash val="solid"/>
          </a:ln>
        </p:spPr>
        <p:txBody>
          <a:bodyPr/>
          <a:lstStyle/>
          <a:p>
            <a:endParaRPr lang="ja-JP" altLang="en-US"/>
          </a:p>
        </p:txBody>
      </p:sp>
      <p:sp>
        <p:nvSpPr>
          <p:cNvPr id="22" name="Text 19"/>
          <p:cNvSpPr/>
          <p:nvPr/>
        </p:nvSpPr>
        <p:spPr>
          <a:xfrm>
            <a:off x="1863069" y="3781925"/>
            <a:ext cx="1052114"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2</a:t>
            </a:r>
            <a:endParaRPr lang="en-US" sz="1100" dirty="0">
              <a:latin typeface="+mn-ea"/>
            </a:endParaRPr>
          </a:p>
        </p:txBody>
      </p:sp>
      <p:sp>
        <p:nvSpPr>
          <p:cNvPr id="23" name="Text 20"/>
          <p:cNvSpPr/>
          <p:nvPr/>
        </p:nvSpPr>
        <p:spPr>
          <a:xfrm>
            <a:off x="1863069" y="4175117"/>
            <a:ext cx="1052114" cy="502920"/>
          </a:xfrm>
          <a:prstGeom prst="rect">
            <a:avLst/>
          </a:prstGeom>
          <a:noFill/>
          <a:ln/>
        </p:spPr>
        <p:txBody>
          <a:bodyPr wrap="square" lIns="381" tIns="381" rIns="381" bIns="381" rtlCol="0" anchor="ctr"/>
          <a:lstStyle/>
          <a:p>
            <a:pPr marL="0" indent="0" algn="ctr">
              <a:buNone/>
            </a:pPr>
            <a:r>
              <a:rPr lang="en-US" sz="1300" b="1" dirty="0" err="1">
                <a:solidFill>
                  <a:srgbClr val="0072BC"/>
                </a:solidFill>
                <a:latin typeface="+mn-ea"/>
                <a:cs typeface="Yu Gothic" pitchFamily="34" charset="-120"/>
              </a:rPr>
              <a:t>開発基礎</a:t>
            </a:r>
            <a:endParaRPr lang="en-US" sz="1300" dirty="0">
              <a:latin typeface="+mn-ea"/>
            </a:endParaRPr>
          </a:p>
        </p:txBody>
      </p:sp>
      <p:sp>
        <p:nvSpPr>
          <p:cNvPr id="24" name="Shape 23"/>
          <p:cNvSpPr/>
          <p:nvPr/>
        </p:nvSpPr>
        <p:spPr>
          <a:xfrm>
            <a:off x="3709606" y="3260717"/>
            <a:ext cx="164587" cy="182880"/>
          </a:xfrm>
          <a:prstGeom prst="ellipse">
            <a:avLst/>
          </a:prstGeom>
          <a:solidFill>
            <a:srgbClr val="0072BC"/>
          </a:solidFill>
          <a:ln w="12700">
            <a:solidFill>
              <a:srgbClr val="FFFFFF"/>
            </a:solidFill>
            <a:prstDash val="solid"/>
          </a:ln>
        </p:spPr>
        <p:txBody>
          <a:bodyPr/>
          <a:lstStyle/>
          <a:p>
            <a:endParaRPr lang="ja-JP" altLang="en-US"/>
          </a:p>
        </p:txBody>
      </p:sp>
      <p:sp>
        <p:nvSpPr>
          <p:cNvPr id="25" name="Shape 24"/>
          <p:cNvSpPr/>
          <p:nvPr/>
        </p:nvSpPr>
        <p:spPr>
          <a:xfrm>
            <a:off x="3060382" y="3589901"/>
            <a:ext cx="1235091" cy="1197864"/>
          </a:xfrm>
          <a:prstGeom prst="roundRect">
            <a:avLst>
              <a:gd name="adj" fmla="val 4321"/>
            </a:avLst>
          </a:prstGeom>
          <a:solidFill>
            <a:srgbClr val="EAF6FD"/>
          </a:solidFill>
          <a:ln w="17780">
            <a:solidFill>
              <a:srgbClr val="0072BC"/>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26" name="Shape 25"/>
          <p:cNvSpPr/>
          <p:nvPr/>
        </p:nvSpPr>
        <p:spPr>
          <a:xfrm>
            <a:off x="3170110" y="3717917"/>
            <a:ext cx="1052114" cy="310896"/>
          </a:xfrm>
          <a:prstGeom prst="roundRect">
            <a:avLst>
              <a:gd name="adj" fmla="val 17647"/>
            </a:avLst>
          </a:prstGeom>
          <a:solidFill>
            <a:srgbClr val="0072BC"/>
          </a:solidFill>
          <a:ln w="12700">
            <a:solidFill>
              <a:srgbClr val="0072BC"/>
            </a:solidFill>
            <a:prstDash val="solid"/>
          </a:ln>
        </p:spPr>
        <p:txBody>
          <a:bodyPr/>
          <a:lstStyle/>
          <a:p>
            <a:endParaRPr lang="ja-JP" altLang="en-US"/>
          </a:p>
        </p:txBody>
      </p:sp>
      <p:sp>
        <p:nvSpPr>
          <p:cNvPr id="27" name="Text 26"/>
          <p:cNvSpPr/>
          <p:nvPr/>
        </p:nvSpPr>
        <p:spPr>
          <a:xfrm>
            <a:off x="3170110" y="3781925"/>
            <a:ext cx="1052114"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3</a:t>
            </a:r>
            <a:endParaRPr lang="en-US" sz="1100" dirty="0">
              <a:latin typeface="+mn-ea"/>
            </a:endParaRPr>
          </a:p>
        </p:txBody>
      </p:sp>
      <p:sp>
        <p:nvSpPr>
          <p:cNvPr id="28" name="Text 27"/>
          <p:cNvSpPr/>
          <p:nvPr/>
        </p:nvSpPr>
        <p:spPr>
          <a:xfrm>
            <a:off x="3078670" y="4175117"/>
            <a:ext cx="1219842" cy="502920"/>
          </a:xfrm>
          <a:prstGeom prst="rect">
            <a:avLst/>
          </a:prstGeom>
          <a:noFill/>
          <a:ln/>
        </p:spPr>
        <p:txBody>
          <a:bodyPr wrap="square" lIns="381" tIns="381" rIns="381" bIns="381" rtlCol="0" anchor="ctr"/>
          <a:lstStyle/>
          <a:p>
            <a:pPr marL="0" indent="0" algn="ctr">
              <a:buNone/>
            </a:pPr>
            <a:r>
              <a:rPr lang="en-US" sz="1300" b="1" dirty="0" err="1">
                <a:solidFill>
                  <a:srgbClr val="0072BC"/>
                </a:solidFill>
                <a:latin typeface="+mn-ea"/>
                <a:cs typeface="Yu Gothic" pitchFamily="34" charset="-120"/>
              </a:rPr>
              <a:t>実装・単体テスト</a:t>
            </a:r>
            <a:endParaRPr lang="en-US" sz="1300" dirty="0">
              <a:latin typeface="+mn-ea"/>
            </a:endParaRPr>
          </a:p>
        </p:txBody>
      </p:sp>
      <p:sp>
        <p:nvSpPr>
          <p:cNvPr id="29" name="Shape 30"/>
          <p:cNvSpPr/>
          <p:nvPr/>
        </p:nvSpPr>
        <p:spPr>
          <a:xfrm>
            <a:off x="5030294" y="3260717"/>
            <a:ext cx="164587" cy="182880"/>
          </a:xfrm>
          <a:prstGeom prst="ellipse">
            <a:avLst/>
          </a:prstGeom>
          <a:solidFill>
            <a:srgbClr val="0072BC"/>
          </a:solidFill>
          <a:ln w="12700">
            <a:solidFill>
              <a:srgbClr val="FFFFFF"/>
            </a:solidFill>
            <a:prstDash val="solid"/>
          </a:ln>
        </p:spPr>
        <p:txBody>
          <a:bodyPr/>
          <a:lstStyle/>
          <a:p>
            <a:endParaRPr lang="ja-JP" altLang="en-US"/>
          </a:p>
        </p:txBody>
      </p:sp>
      <p:sp>
        <p:nvSpPr>
          <p:cNvPr id="30" name="Shape 31"/>
          <p:cNvSpPr/>
          <p:nvPr/>
        </p:nvSpPr>
        <p:spPr>
          <a:xfrm>
            <a:off x="4381070" y="3589901"/>
            <a:ext cx="1235091" cy="1197864"/>
          </a:xfrm>
          <a:prstGeom prst="roundRect">
            <a:avLst>
              <a:gd name="adj" fmla="val 4321"/>
            </a:avLst>
          </a:prstGeom>
          <a:solidFill>
            <a:srgbClr val="EAF6FD"/>
          </a:solidFill>
          <a:ln w="17780">
            <a:solidFill>
              <a:srgbClr val="0072BC"/>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31" name="Shape 32"/>
          <p:cNvSpPr/>
          <p:nvPr/>
        </p:nvSpPr>
        <p:spPr>
          <a:xfrm>
            <a:off x="4490798" y="3717917"/>
            <a:ext cx="1052114" cy="310896"/>
          </a:xfrm>
          <a:prstGeom prst="roundRect">
            <a:avLst>
              <a:gd name="adj" fmla="val 17647"/>
            </a:avLst>
          </a:prstGeom>
          <a:solidFill>
            <a:srgbClr val="0072BC"/>
          </a:solidFill>
          <a:ln w="12700">
            <a:solidFill>
              <a:srgbClr val="0072BC"/>
            </a:solidFill>
            <a:prstDash val="solid"/>
          </a:ln>
        </p:spPr>
        <p:txBody>
          <a:bodyPr/>
          <a:lstStyle/>
          <a:p>
            <a:endParaRPr lang="ja-JP" altLang="en-US"/>
          </a:p>
        </p:txBody>
      </p:sp>
      <p:sp>
        <p:nvSpPr>
          <p:cNvPr id="32" name="Text 33"/>
          <p:cNvSpPr/>
          <p:nvPr/>
        </p:nvSpPr>
        <p:spPr>
          <a:xfrm>
            <a:off x="4490798" y="3781925"/>
            <a:ext cx="1052114"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4</a:t>
            </a:r>
            <a:endParaRPr lang="en-US" sz="1100" dirty="0">
              <a:latin typeface="+mn-ea"/>
            </a:endParaRPr>
          </a:p>
        </p:txBody>
      </p:sp>
      <p:sp>
        <p:nvSpPr>
          <p:cNvPr id="33" name="Text 34"/>
          <p:cNvSpPr/>
          <p:nvPr/>
        </p:nvSpPr>
        <p:spPr>
          <a:xfrm>
            <a:off x="4490798" y="4175117"/>
            <a:ext cx="1052114" cy="502920"/>
          </a:xfrm>
          <a:prstGeom prst="rect">
            <a:avLst/>
          </a:prstGeom>
          <a:noFill/>
          <a:ln/>
        </p:spPr>
        <p:txBody>
          <a:bodyPr wrap="square" lIns="381" tIns="381" rIns="381" bIns="381" rtlCol="0" anchor="ctr"/>
          <a:lstStyle/>
          <a:p>
            <a:pPr marL="0" indent="0" algn="ctr">
              <a:buNone/>
            </a:pPr>
            <a:r>
              <a:rPr lang="en-US" sz="1300" b="1" dirty="0" err="1">
                <a:solidFill>
                  <a:srgbClr val="0072BC"/>
                </a:solidFill>
                <a:latin typeface="+mn-ea"/>
                <a:cs typeface="Yu Gothic" pitchFamily="34" charset="-120"/>
              </a:rPr>
              <a:t>検証・振り返り</a:t>
            </a:r>
            <a:endParaRPr lang="en-US" sz="1300" dirty="0">
              <a:latin typeface="+mn-ea"/>
            </a:endParaRPr>
          </a:p>
        </p:txBody>
      </p:sp>
      <p:sp>
        <p:nvSpPr>
          <p:cNvPr id="34" name="Shape 37"/>
          <p:cNvSpPr/>
          <p:nvPr/>
        </p:nvSpPr>
        <p:spPr>
          <a:xfrm>
            <a:off x="6715178" y="3260717"/>
            <a:ext cx="164587" cy="182880"/>
          </a:xfrm>
          <a:prstGeom prst="ellipse">
            <a:avLst/>
          </a:prstGeom>
          <a:solidFill>
            <a:srgbClr val="F28C28"/>
          </a:solidFill>
          <a:ln w="12700">
            <a:solidFill>
              <a:srgbClr val="FFFFFF"/>
            </a:solidFill>
            <a:prstDash val="solid"/>
          </a:ln>
        </p:spPr>
        <p:txBody>
          <a:bodyPr/>
          <a:lstStyle/>
          <a:p>
            <a:endParaRPr lang="ja-JP" altLang="en-US"/>
          </a:p>
        </p:txBody>
      </p:sp>
      <p:sp>
        <p:nvSpPr>
          <p:cNvPr id="35" name="Shape 38"/>
          <p:cNvSpPr/>
          <p:nvPr/>
        </p:nvSpPr>
        <p:spPr>
          <a:xfrm>
            <a:off x="6143678" y="3589901"/>
            <a:ext cx="1105482" cy="1197864"/>
          </a:xfrm>
          <a:prstGeom prst="roundRect">
            <a:avLst>
              <a:gd name="adj" fmla="val 4828"/>
            </a:avLst>
          </a:prstGeom>
          <a:solidFill>
            <a:srgbClr val="FFF3E6"/>
          </a:solidFill>
          <a:ln w="17780">
            <a:solidFill>
              <a:srgbClr val="F28C28"/>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36" name="Shape 39"/>
          <p:cNvSpPr/>
          <p:nvPr/>
        </p:nvSpPr>
        <p:spPr>
          <a:xfrm>
            <a:off x="6253406" y="3717917"/>
            <a:ext cx="922505" cy="310896"/>
          </a:xfrm>
          <a:prstGeom prst="roundRect">
            <a:avLst>
              <a:gd name="adj" fmla="val 17647"/>
            </a:avLst>
          </a:prstGeom>
          <a:solidFill>
            <a:srgbClr val="F28C28"/>
          </a:solidFill>
          <a:ln w="12700">
            <a:solidFill>
              <a:srgbClr val="F28C28"/>
            </a:solidFill>
            <a:prstDash val="solid"/>
          </a:ln>
        </p:spPr>
        <p:txBody>
          <a:bodyPr/>
          <a:lstStyle/>
          <a:p>
            <a:endParaRPr lang="ja-JP" altLang="en-US"/>
          </a:p>
        </p:txBody>
      </p:sp>
      <p:sp>
        <p:nvSpPr>
          <p:cNvPr id="37" name="Text 40"/>
          <p:cNvSpPr/>
          <p:nvPr/>
        </p:nvSpPr>
        <p:spPr>
          <a:xfrm>
            <a:off x="6253406" y="3781925"/>
            <a:ext cx="922505"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5</a:t>
            </a:r>
            <a:endParaRPr lang="en-US" sz="1100" dirty="0">
              <a:latin typeface="+mn-ea"/>
            </a:endParaRPr>
          </a:p>
        </p:txBody>
      </p:sp>
      <p:sp>
        <p:nvSpPr>
          <p:cNvPr id="38" name="Text 41"/>
          <p:cNvSpPr/>
          <p:nvPr/>
        </p:nvSpPr>
        <p:spPr>
          <a:xfrm>
            <a:off x="6143678" y="4175117"/>
            <a:ext cx="1105482" cy="502920"/>
          </a:xfrm>
          <a:prstGeom prst="rect">
            <a:avLst/>
          </a:prstGeom>
          <a:noFill/>
          <a:ln/>
        </p:spPr>
        <p:txBody>
          <a:bodyPr wrap="square" lIns="381" tIns="381" rIns="381" bIns="381" rtlCol="0" anchor="ctr"/>
          <a:lstStyle/>
          <a:p>
            <a:pPr marL="0" indent="0" algn="ctr">
              <a:buNone/>
            </a:pPr>
            <a:r>
              <a:rPr lang="en-US" sz="1250" b="1" dirty="0" err="1">
                <a:solidFill>
                  <a:srgbClr val="F28C28"/>
                </a:solidFill>
                <a:latin typeface="+mn-ea"/>
                <a:cs typeface="Yu Gothic" pitchFamily="34" charset="-120"/>
              </a:rPr>
              <a:t>課題抽出</a:t>
            </a:r>
            <a:r>
              <a:rPr lang="en-US" sz="1250" b="1" dirty="0">
                <a:solidFill>
                  <a:srgbClr val="F28C28"/>
                </a:solidFill>
                <a:latin typeface="+mn-ea"/>
                <a:cs typeface="Yu Gothic" pitchFamily="34" charset="-120"/>
              </a:rPr>
              <a:t>・</a:t>
            </a:r>
          </a:p>
          <a:p>
            <a:pPr marL="0" indent="0" algn="ctr">
              <a:buNone/>
            </a:pPr>
            <a:r>
              <a:rPr lang="en-US" sz="1250" b="1" dirty="0" err="1">
                <a:solidFill>
                  <a:srgbClr val="F28C28"/>
                </a:solidFill>
                <a:latin typeface="+mn-ea"/>
                <a:cs typeface="Yu Gothic" pitchFamily="34" charset="-120"/>
              </a:rPr>
              <a:t>企画構想</a:t>
            </a:r>
            <a:endParaRPr lang="en-US" sz="1250" dirty="0">
              <a:latin typeface="+mn-ea"/>
            </a:endParaRPr>
          </a:p>
        </p:txBody>
      </p:sp>
      <p:sp>
        <p:nvSpPr>
          <p:cNvPr id="39" name="Shape 44"/>
          <p:cNvSpPr/>
          <p:nvPr/>
        </p:nvSpPr>
        <p:spPr>
          <a:xfrm>
            <a:off x="7909898" y="3260717"/>
            <a:ext cx="164587" cy="182880"/>
          </a:xfrm>
          <a:prstGeom prst="ellipse">
            <a:avLst/>
          </a:prstGeom>
          <a:solidFill>
            <a:srgbClr val="F28C28"/>
          </a:solidFill>
          <a:ln w="12700">
            <a:solidFill>
              <a:srgbClr val="FFFFFF"/>
            </a:solidFill>
            <a:prstDash val="solid"/>
          </a:ln>
        </p:spPr>
        <p:txBody>
          <a:bodyPr/>
          <a:lstStyle/>
          <a:p>
            <a:endParaRPr lang="ja-JP" altLang="en-US"/>
          </a:p>
        </p:txBody>
      </p:sp>
      <p:sp>
        <p:nvSpPr>
          <p:cNvPr id="40" name="Shape 45"/>
          <p:cNvSpPr/>
          <p:nvPr/>
        </p:nvSpPr>
        <p:spPr>
          <a:xfrm>
            <a:off x="7338398" y="3589901"/>
            <a:ext cx="1105482" cy="1197864"/>
          </a:xfrm>
          <a:prstGeom prst="roundRect">
            <a:avLst>
              <a:gd name="adj" fmla="val 4828"/>
            </a:avLst>
          </a:prstGeom>
          <a:solidFill>
            <a:srgbClr val="FFF3E6"/>
          </a:solidFill>
          <a:ln w="17780">
            <a:solidFill>
              <a:srgbClr val="F28C28"/>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41" name="Shape 46"/>
          <p:cNvSpPr/>
          <p:nvPr/>
        </p:nvSpPr>
        <p:spPr>
          <a:xfrm>
            <a:off x="7448126" y="3717917"/>
            <a:ext cx="922505" cy="310896"/>
          </a:xfrm>
          <a:prstGeom prst="roundRect">
            <a:avLst>
              <a:gd name="adj" fmla="val 17647"/>
            </a:avLst>
          </a:prstGeom>
          <a:solidFill>
            <a:srgbClr val="F28C28"/>
          </a:solidFill>
          <a:ln w="12700">
            <a:solidFill>
              <a:srgbClr val="F28C28"/>
            </a:solidFill>
            <a:prstDash val="solid"/>
          </a:ln>
        </p:spPr>
        <p:txBody>
          <a:bodyPr/>
          <a:lstStyle/>
          <a:p>
            <a:endParaRPr lang="ja-JP" altLang="en-US"/>
          </a:p>
        </p:txBody>
      </p:sp>
      <p:sp>
        <p:nvSpPr>
          <p:cNvPr id="42" name="Text 47"/>
          <p:cNvSpPr/>
          <p:nvPr/>
        </p:nvSpPr>
        <p:spPr>
          <a:xfrm>
            <a:off x="7448126" y="3781925"/>
            <a:ext cx="922505"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6</a:t>
            </a:r>
            <a:endParaRPr lang="en-US" sz="1100" dirty="0">
              <a:latin typeface="+mn-ea"/>
            </a:endParaRPr>
          </a:p>
        </p:txBody>
      </p:sp>
      <p:sp>
        <p:nvSpPr>
          <p:cNvPr id="43" name="Text 48"/>
          <p:cNvSpPr/>
          <p:nvPr/>
        </p:nvSpPr>
        <p:spPr>
          <a:xfrm>
            <a:off x="7338398" y="4175117"/>
            <a:ext cx="1105482" cy="502920"/>
          </a:xfrm>
          <a:prstGeom prst="rect">
            <a:avLst/>
          </a:prstGeom>
          <a:noFill/>
          <a:ln/>
        </p:spPr>
        <p:txBody>
          <a:bodyPr wrap="square" lIns="381" tIns="381" rIns="381" bIns="381" rtlCol="0" anchor="ctr"/>
          <a:lstStyle/>
          <a:p>
            <a:pPr marL="0" indent="0" algn="ctr">
              <a:buNone/>
            </a:pPr>
            <a:r>
              <a:rPr lang="en-US" sz="1250" b="1" dirty="0">
                <a:solidFill>
                  <a:srgbClr val="F28C28"/>
                </a:solidFill>
                <a:latin typeface="+mn-ea"/>
                <a:cs typeface="Yu Gothic" pitchFamily="34" charset="-120"/>
              </a:rPr>
              <a:t>要件・体験設計</a:t>
            </a:r>
            <a:endParaRPr lang="en-US" sz="1250" dirty="0">
              <a:latin typeface="+mn-ea"/>
            </a:endParaRPr>
          </a:p>
        </p:txBody>
      </p:sp>
      <p:sp>
        <p:nvSpPr>
          <p:cNvPr id="44" name="Shape 51"/>
          <p:cNvSpPr/>
          <p:nvPr/>
        </p:nvSpPr>
        <p:spPr>
          <a:xfrm>
            <a:off x="9090970" y="3260717"/>
            <a:ext cx="164587" cy="182880"/>
          </a:xfrm>
          <a:prstGeom prst="ellipse">
            <a:avLst/>
          </a:prstGeom>
          <a:solidFill>
            <a:srgbClr val="F28C28"/>
          </a:solidFill>
          <a:ln w="12700">
            <a:solidFill>
              <a:srgbClr val="FFFFFF"/>
            </a:solidFill>
            <a:prstDash val="solid"/>
          </a:ln>
        </p:spPr>
        <p:txBody>
          <a:bodyPr/>
          <a:lstStyle/>
          <a:p>
            <a:endParaRPr lang="ja-JP" altLang="en-US"/>
          </a:p>
        </p:txBody>
      </p:sp>
      <p:sp>
        <p:nvSpPr>
          <p:cNvPr id="45" name="Shape 52"/>
          <p:cNvSpPr/>
          <p:nvPr/>
        </p:nvSpPr>
        <p:spPr>
          <a:xfrm>
            <a:off x="8519470" y="3589901"/>
            <a:ext cx="1105482" cy="1197864"/>
          </a:xfrm>
          <a:prstGeom prst="roundRect">
            <a:avLst>
              <a:gd name="adj" fmla="val 4828"/>
            </a:avLst>
          </a:prstGeom>
          <a:solidFill>
            <a:srgbClr val="FFF3E6"/>
          </a:solidFill>
          <a:ln w="17780">
            <a:solidFill>
              <a:srgbClr val="F28C28"/>
            </a:solidFill>
            <a:prstDash val="solid"/>
          </a:ln>
          <a:effectLst>
            <a:outerShdw blurRad="19050" dist="6350" dir="2700000" algn="bl" rotWithShape="0">
              <a:srgbClr val="000000">
                <a:alpha val="13000"/>
              </a:srgbClr>
            </a:outerShdw>
          </a:effectLst>
        </p:spPr>
        <p:txBody>
          <a:bodyPr/>
          <a:lstStyle/>
          <a:p>
            <a:endParaRPr lang="ja-JP" altLang="en-US"/>
          </a:p>
        </p:txBody>
      </p:sp>
      <p:sp>
        <p:nvSpPr>
          <p:cNvPr id="46" name="Shape 53"/>
          <p:cNvSpPr/>
          <p:nvPr/>
        </p:nvSpPr>
        <p:spPr>
          <a:xfrm>
            <a:off x="8629198" y="3717917"/>
            <a:ext cx="922505" cy="310896"/>
          </a:xfrm>
          <a:prstGeom prst="roundRect">
            <a:avLst>
              <a:gd name="adj" fmla="val 17647"/>
            </a:avLst>
          </a:prstGeom>
          <a:solidFill>
            <a:srgbClr val="F28C28"/>
          </a:solidFill>
          <a:ln w="12700">
            <a:solidFill>
              <a:srgbClr val="F28C28"/>
            </a:solidFill>
            <a:prstDash val="solid"/>
          </a:ln>
        </p:spPr>
        <p:txBody>
          <a:bodyPr/>
          <a:lstStyle/>
          <a:p>
            <a:endParaRPr lang="ja-JP" altLang="en-US"/>
          </a:p>
        </p:txBody>
      </p:sp>
      <p:sp>
        <p:nvSpPr>
          <p:cNvPr id="47" name="Text 54"/>
          <p:cNvSpPr/>
          <p:nvPr/>
        </p:nvSpPr>
        <p:spPr>
          <a:xfrm>
            <a:off x="8629198" y="3781925"/>
            <a:ext cx="922505"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mn-ea"/>
                <a:cs typeface="Yu Gothic" pitchFamily="34" charset="-120"/>
              </a:rPr>
              <a:t>DAY 7</a:t>
            </a:r>
            <a:endParaRPr lang="en-US" sz="1100" dirty="0">
              <a:latin typeface="+mn-ea"/>
            </a:endParaRPr>
          </a:p>
        </p:txBody>
      </p:sp>
      <p:sp>
        <p:nvSpPr>
          <p:cNvPr id="48" name="Text 55"/>
          <p:cNvSpPr/>
          <p:nvPr/>
        </p:nvSpPr>
        <p:spPr>
          <a:xfrm>
            <a:off x="8519470" y="4175117"/>
            <a:ext cx="1082610" cy="502920"/>
          </a:xfrm>
          <a:prstGeom prst="rect">
            <a:avLst/>
          </a:prstGeom>
          <a:noFill/>
          <a:ln/>
        </p:spPr>
        <p:txBody>
          <a:bodyPr wrap="square" lIns="381" tIns="381" rIns="381" bIns="381" rtlCol="0" anchor="ctr"/>
          <a:lstStyle/>
          <a:p>
            <a:pPr marL="0" indent="0" algn="ctr">
              <a:buNone/>
            </a:pPr>
            <a:r>
              <a:rPr lang="en-US" sz="1250" b="1" dirty="0" err="1">
                <a:solidFill>
                  <a:srgbClr val="F28C28"/>
                </a:solidFill>
                <a:latin typeface="+mn-ea"/>
                <a:cs typeface="Yu Gothic" pitchFamily="34" charset="-120"/>
              </a:rPr>
              <a:t>提案・改善</a:t>
            </a:r>
            <a:endParaRPr lang="en-US" sz="1250" b="1" dirty="0">
              <a:solidFill>
                <a:srgbClr val="F28C28"/>
              </a:solidFill>
              <a:latin typeface="+mn-ea"/>
              <a:cs typeface="Yu Gothic" pitchFamily="34" charset="-120"/>
            </a:endParaRPr>
          </a:p>
          <a:p>
            <a:pPr marL="0" indent="0" algn="ctr">
              <a:buNone/>
            </a:pPr>
            <a:r>
              <a:rPr lang="en-US" sz="1250" b="1" dirty="0">
                <a:solidFill>
                  <a:srgbClr val="F28C28"/>
                </a:solidFill>
                <a:latin typeface="+mn-ea"/>
                <a:cs typeface="Yu Gothic" pitchFamily="34" charset="-120"/>
              </a:rPr>
              <a:t>・共有</a:t>
            </a:r>
            <a:endParaRPr lang="en-US" sz="1250" dirty="0">
              <a:latin typeface="+mn-ea"/>
            </a:endParaRPr>
          </a:p>
        </p:txBody>
      </p:sp>
      <p:sp>
        <p:nvSpPr>
          <p:cNvPr id="49" name="Shape 58"/>
          <p:cNvSpPr/>
          <p:nvPr/>
        </p:nvSpPr>
        <p:spPr>
          <a:xfrm>
            <a:off x="435434" y="5171811"/>
            <a:ext cx="9189720" cy="912081"/>
          </a:xfrm>
          <a:prstGeom prst="roundRect">
            <a:avLst>
              <a:gd name="adj" fmla="val 11111"/>
            </a:avLst>
          </a:prstGeom>
          <a:solidFill>
            <a:srgbClr val="F3F7F9"/>
          </a:solidFill>
          <a:ln w="12700">
            <a:solidFill>
              <a:srgbClr val="D6E1E8"/>
            </a:solidFill>
            <a:prstDash val="solid"/>
          </a:ln>
        </p:spPr>
        <p:txBody>
          <a:bodyPr/>
          <a:lstStyle/>
          <a:p>
            <a:endParaRPr lang="ja-JP" altLang="en-US"/>
          </a:p>
        </p:txBody>
      </p:sp>
      <p:sp>
        <p:nvSpPr>
          <p:cNvPr id="50" name="Text 59"/>
          <p:cNvSpPr/>
          <p:nvPr/>
        </p:nvSpPr>
        <p:spPr>
          <a:xfrm>
            <a:off x="618314" y="5522972"/>
            <a:ext cx="1600200" cy="219456"/>
          </a:xfrm>
          <a:prstGeom prst="rect">
            <a:avLst/>
          </a:prstGeom>
          <a:noFill/>
          <a:ln/>
        </p:spPr>
        <p:txBody>
          <a:bodyPr wrap="square" lIns="0" tIns="0" rIns="0" bIns="0" rtlCol="0" anchor="ctr"/>
          <a:lstStyle/>
          <a:p>
            <a:pPr marL="0" indent="0">
              <a:buNone/>
            </a:pPr>
            <a:r>
              <a:rPr lang="en-US" sz="2000" b="1" dirty="0">
                <a:solidFill>
                  <a:srgbClr val="143A52"/>
                </a:solidFill>
                <a:latin typeface="+mn-ea"/>
                <a:cs typeface="Yu Gothic" pitchFamily="34" charset="-120"/>
              </a:rPr>
              <a:t>7日間の到達イメージ</a:t>
            </a:r>
            <a:endParaRPr lang="en-US" sz="2000" dirty="0">
              <a:latin typeface="+mn-ea"/>
            </a:endParaRPr>
          </a:p>
        </p:txBody>
      </p:sp>
      <p:sp>
        <p:nvSpPr>
          <p:cNvPr id="51" name="Text 60"/>
          <p:cNvSpPr/>
          <p:nvPr/>
        </p:nvSpPr>
        <p:spPr>
          <a:xfrm>
            <a:off x="2270324" y="5479018"/>
            <a:ext cx="728023" cy="369448"/>
          </a:xfrm>
          <a:prstGeom prst="rect">
            <a:avLst/>
          </a:prstGeom>
          <a:solidFill>
            <a:srgbClr val="0072BC"/>
          </a:solidFill>
          <a:ln/>
        </p:spPr>
        <p:txBody>
          <a:bodyPr wrap="square" lIns="254" tIns="254" rIns="254" bIns="254" rtlCol="0" anchor="ctr"/>
          <a:lstStyle/>
          <a:p>
            <a:pPr marL="0" indent="0" algn="ctr">
              <a:buNone/>
            </a:pPr>
            <a:r>
              <a:rPr lang="en-US" sz="2000" b="1" dirty="0">
                <a:solidFill>
                  <a:srgbClr val="FFFFFF"/>
                </a:solidFill>
                <a:latin typeface="+mn-ea"/>
                <a:cs typeface="Yu Gothic" pitchFamily="34" charset="-120"/>
              </a:rPr>
              <a:t>開発</a:t>
            </a:r>
            <a:endParaRPr lang="en-US" sz="2000" dirty="0">
              <a:latin typeface="+mn-ea"/>
            </a:endParaRPr>
          </a:p>
        </p:txBody>
      </p:sp>
      <p:sp>
        <p:nvSpPr>
          <p:cNvPr id="52" name="Text 61"/>
          <p:cNvSpPr/>
          <p:nvPr/>
        </p:nvSpPr>
        <p:spPr>
          <a:xfrm>
            <a:off x="3178634" y="5513828"/>
            <a:ext cx="2423160" cy="228600"/>
          </a:xfrm>
          <a:prstGeom prst="rect">
            <a:avLst/>
          </a:prstGeom>
          <a:noFill/>
          <a:ln/>
        </p:spPr>
        <p:txBody>
          <a:bodyPr wrap="square" lIns="0" tIns="0" rIns="0" bIns="0" rtlCol="0" anchor="ctr"/>
          <a:lstStyle/>
          <a:p>
            <a:pPr marL="0" indent="0">
              <a:buNone/>
            </a:pPr>
            <a:r>
              <a:rPr lang="en-US" sz="2000" dirty="0">
                <a:solidFill>
                  <a:srgbClr val="333333"/>
                </a:solidFill>
                <a:latin typeface="+mn-ea"/>
                <a:cs typeface="Yu Gothic" pitchFamily="34" charset="-120"/>
              </a:rPr>
              <a:t>Java </a:t>
            </a:r>
            <a:r>
              <a:rPr lang="en-US" sz="2000" dirty="0" err="1">
                <a:solidFill>
                  <a:srgbClr val="333333"/>
                </a:solidFill>
                <a:latin typeface="+mn-ea"/>
                <a:cs typeface="Yu Gothic" pitchFamily="34" charset="-120"/>
              </a:rPr>
              <a:t>AP開発</a:t>
            </a:r>
            <a:r>
              <a:rPr lang="en-US" sz="2000" dirty="0">
                <a:solidFill>
                  <a:srgbClr val="333333"/>
                </a:solidFill>
                <a:latin typeface="+mn-ea"/>
                <a:cs typeface="Yu Gothic" pitchFamily="34" charset="-120"/>
              </a:rPr>
              <a:t>・</a:t>
            </a:r>
          </a:p>
          <a:p>
            <a:pPr marL="0" indent="0">
              <a:buNone/>
            </a:pPr>
            <a:r>
              <a:rPr lang="en-US" sz="2000" dirty="0" err="1">
                <a:solidFill>
                  <a:srgbClr val="333333"/>
                </a:solidFill>
                <a:latin typeface="+mn-ea"/>
                <a:cs typeface="Yu Gothic" pitchFamily="34" charset="-120"/>
              </a:rPr>
              <a:t>単体テストをAIと実践</a:t>
            </a:r>
            <a:endParaRPr lang="en-US" sz="2000" dirty="0">
              <a:latin typeface="+mn-ea"/>
            </a:endParaRPr>
          </a:p>
        </p:txBody>
      </p:sp>
      <p:sp>
        <p:nvSpPr>
          <p:cNvPr id="53" name="Text 62"/>
          <p:cNvSpPr/>
          <p:nvPr/>
        </p:nvSpPr>
        <p:spPr>
          <a:xfrm>
            <a:off x="5836484" y="5479018"/>
            <a:ext cx="728023" cy="369448"/>
          </a:xfrm>
          <a:prstGeom prst="rect">
            <a:avLst/>
          </a:prstGeom>
          <a:solidFill>
            <a:srgbClr val="F28C28"/>
          </a:solidFill>
          <a:ln/>
        </p:spPr>
        <p:txBody>
          <a:bodyPr wrap="square" lIns="254" tIns="254" rIns="254" bIns="254" rtlCol="0" anchor="ctr"/>
          <a:lstStyle/>
          <a:p>
            <a:pPr marL="0" indent="0" algn="ctr">
              <a:buNone/>
            </a:pPr>
            <a:r>
              <a:rPr lang="en-US" sz="2000" b="1" dirty="0">
                <a:solidFill>
                  <a:srgbClr val="FFFFFF"/>
                </a:solidFill>
                <a:latin typeface="+mn-ea"/>
                <a:cs typeface="Yu Gothic" pitchFamily="34" charset="-120"/>
              </a:rPr>
              <a:t>企画</a:t>
            </a:r>
            <a:endParaRPr lang="en-US" sz="2000" dirty="0">
              <a:latin typeface="+mn-ea"/>
            </a:endParaRPr>
          </a:p>
        </p:txBody>
      </p:sp>
      <p:sp>
        <p:nvSpPr>
          <p:cNvPr id="54" name="Text 63"/>
          <p:cNvSpPr/>
          <p:nvPr/>
        </p:nvSpPr>
        <p:spPr>
          <a:xfrm>
            <a:off x="6744794" y="5513828"/>
            <a:ext cx="2880360" cy="228600"/>
          </a:xfrm>
          <a:prstGeom prst="rect">
            <a:avLst/>
          </a:prstGeom>
          <a:noFill/>
          <a:ln/>
        </p:spPr>
        <p:txBody>
          <a:bodyPr wrap="square" lIns="0" tIns="0" rIns="0" bIns="0" rtlCol="0" anchor="ctr"/>
          <a:lstStyle/>
          <a:p>
            <a:pPr marL="0" indent="0">
              <a:buNone/>
            </a:pPr>
            <a:r>
              <a:rPr lang="en-US" sz="2000" dirty="0" err="1">
                <a:solidFill>
                  <a:srgbClr val="333333"/>
                </a:solidFill>
                <a:latin typeface="+mn-ea"/>
                <a:cs typeface="Yu Gothic" pitchFamily="34" charset="-120"/>
              </a:rPr>
              <a:t>企画・モック・提案</a:t>
            </a:r>
            <a:r>
              <a:rPr lang="en-US" sz="2000" dirty="0">
                <a:solidFill>
                  <a:srgbClr val="333333"/>
                </a:solidFill>
                <a:latin typeface="+mn-ea"/>
                <a:cs typeface="Yu Gothic" pitchFamily="34" charset="-120"/>
              </a:rPr>
              <a:t>・</a:t>
            </a:r>
          </a:p>
          <a:p>
            <a:pPr marL="0" indent="0">
              <a:buNone/>
            </a:pPr>
            <a:r>
              <a:rPr lang="en-US" sz="2000" dirty="0" err="1">
                <a:solidFill>
                  <a:srgbClr val="333333"/>
                </a:solidFill>
                <a:latin typeface="+mn-ea"/>
                <a:cs typeface="Yu Gothic" pitchFamily="34" charset="-120"/>
              </a:rPr>
              <a:t>改善をチームで実践</a:t>
            </a:r>
            <a:endParaRPr lang="en-US" sz="2000" dirty="0">
              <a:latin typeface="+mn-ea"/>
            </a:endParaRPr>
          </a:p>
        </p:txBody>
      </p:sp>
    </p:spTree>
    <p:extLst>
      <p:ext uri="{BB962C8B-B14F-4D97-AF65-F5344CB8AC3E}">
        <p14:creationId xmlns:p14="http://schemas.microsoft.com/office/powerpoint/2010/main" val="274671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54CC-8A1B-5BC5-B517-E48356CD9B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212740-E4A7-4DE8-CBDC-9C79D234B13C}"/>
              </a:ext>
            </a:extLst>
          </p:cNvPr>
          <p:cNvSpPr>
            <a:spLocks noGrp="1"/>
          </p:cNvSpPr>
          <p:nvPr>
            <p:ph type="title"/>
          </p:nvPr>
        </p:nvSpPr>
        <p:spPr/>
        <p:txBody>
          <a:bodyPr>
            <a:normAutofit/>
          </a:bodyPr>
          <a:lstStyle/>
          <a:p>
            <a:r>
              <a:rPr lang="en-US" altLang="ja-JP" dirty="0">
                <a:latin typeface="+mn-ea"/>
                <a:ea typeface="+mn-ea"/>
              </a:rPr>
              <a:t>1-2. </a:t>
            </a:r>
            <a:r>
              <a:rPr lang="ja-JP" altLang="en-US" dirty="0">
                <a:latin typeface="+mn-ea"/>
                <a:ea typeface="+mn-ea"/>
              </a:rPr>
              <a:t>背景・目的</a:t>
            </a:r>
          </a:p>
        </p:txBody>
      </p:sp>
      <p:sp>
        <p:nvSpPr>
          <p:cNvPr id="5" name="正方形/長方形 4">
            <a:extLst>
              <a:ext uri="{FF2B5EF4-FFF2-40B4-BE49-F238E27FC236}">
                <a16:creationId xmlns:a16="http://schemas.microsoft.com/office/drawing/2014/main" id="{C524C5A5-DAA7-72F1-2EBA-687315B31191}"/>
              </a:ext>
            </a:extLst>
          </p:cNvPr>
          <p:cNvSpPr/>
          <p:nvPr/>
        </p:nvSpPr>
        <p:spPr>
          <a:xfrm>
            <a:off x="156949" y="908756"/>
            <a:ext cx="9683087"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25880"/>
            <a:r>
              <a:rPr lang="ja-JP" altLang="en-US" sz="2000" dirty="0">
                <a:solidFill>
                  <a:srgbClr val="404040"/>
                </a:solidFill>
                <a:latin typeface="+mn-ea"/>
              </a:rPr>
              <a:t>生成</a:t>
            </a:r>
            <a:r>
              <a:rPr lang="en-US" altLang="ja-JP" sz="2000" dirty="0">
                <a:solidFill>
                  <a:srgbClr val="404040"/>
                </a:solidFill>
                <a:latin typeface="+mn-ea"/>
              </a:rPr>
              <a:t>AI</a:t>
            </a:r>
            <a:r>
              <a:rPr lang="ja-JP" altLang="en-US" sz="2000" dirty="0">
                <a:solidFill>
                  <a:srgbClr val="404040"/>
                </a:solidFill>
                <a:latin typeface="+mn-ea"/>
              </a:rPr>
              <a:t>により、システム開発は「人中心」から「</a:t>
            </a:r>
            <a:r>
              <a:rPr lang="en-US" altLang="ja-JP" sz="2000" dirty="0">
                <a:solidFill>
                  <a:srgbClr val="404040"/>
                </a:solidFill>
                <a:latin typeface="+mn-ea"/>
              </a:rPr>
              <a:t>AI</a:t>
            </a:r>
            <a:r>
              <a:rPr lang="ja-JP" altLang="en-US" sz="2000" dirty="0">
                <a:solidFill>
                  <a:srgbClr val="404040"/>
                </a:solidFill>
                <a:latin typeface="+mn-ea"/>
              </a:rPr>
              <a:t>前提」へと構造転換している</a:t>
            </a:r>
            <a:endParaRPr lang="en-US" altLang="ja-JP" sz="2000" dirty="0">
              <a:solidFill>
                <a:srgbClr val="404040"/>
              </a:solidFill>
              <a:latin typeface="+mn-ea"/>
            </a:endParaRPr>
          </a:p>
          <a:p>
            <a:pPr defTabSz="925880"/>
            <a:endParaRPr lang="en-US" altLang="ja-JP" sz="1400" dirty="0">
              <a:solidFill>
                <a:srgbClr val="404040"/>
              </a:solidFill>
              <a:latin typeface="+mn-ea"/>
            </a:endParaRPr>
          </a:p>
          <a:p>
            <a:pPr>
              <a:defRPr/>
            </a:pPr>
            <a:r>
              <a:rPr lang="ja-JP" altLang="en-US" sz="1400" b="1" u="sng" dirty="0">
                <a:solidFill>
                  <a:prstClr val="black"/>
                </a:solidFill>
                <a:latin typeface="+mn-ea"/>
              </a:rPr>
              <a:t>＜背景＞</a:t>
            </a:r>
            <a:endParaRPr lang="en-US" altLang="ja-JP" sz="1400" b="1" u="sng" dirty="0">
              <a:solidFill>
                <a:prstClr val="black"/>
              </a:solidFill>
              <a:latin typeface="+mn-ea"/>
            </a:endParaRPr>
          </a:p>
          <a:p>
            <a:pPr marL="182563" indent="-182563">
              <a:buFont typeface="Arial" panose="020B0604020202020204" pitchFamily="34" charset="0"/>
              <a:buChar char="•"/>
              <a:defRPr/>
            </a:pPr>
            <a:r>
              <a:rPr lang="ja-JP" altLang="en-US" sz="1400" dirty="0">
                <a:solidFill>
                  <a:prstClr val="black"/>
                </a:solidFill>
                <a:latin typeface="+mn-ea"/>
              </a:rPr>
              <a:t>生成</a:t>
            </a:r>
            <a:r>
              <a:rPr lang="en-US" altLang="ja-JP" sz="1400" dirty="0">
                <a:solidFill>
                  <a:prstClr val="black"/>
                </a:solidFill>
                <a:latin typeface="+mn-ea"/>
              </a:rPr>
              <a:t>AI</a:t>
            </a:r>
            <a:r>
              <a:rPr lang="ja-JP" altLang="en-US" sz="1400" dirty="0">
                <a:solidFill>
                  <a:prstClr val="black"/>
                </a:solidFill>
                <a:latin typeface="+mn-ea"/>
              </a:rPr>
              <a:t>の急速な進展により、要件定義・設計・実装・テストといった工程において、作業の自動化・高度化が急速に進んでいる</a:t>
            </a:r>
            <a:endParaRPr lang="en-US" altLang="ja-JP" sz="1400" dirty="0">
              <a:solidFill>
                <a:prstClr val="black"/>
              </a:solidFill>
              <a:latin typeface="+mn-ea"/>
            </a:endParaRPr>
          </a:p>
          <a:p>
            <a:pPr marL="182563" indent="-182563">
              <a:buFont typeface="Arial" panose="020B0604020202020204" pitchFamily="34" charset="0"/>
              <a:buChar char="•"/>
              <a:defRPr/>
            </a:pPr>
            <a:r>
              <a:rPr lang="ja-JP" altLang="en-US" sz="1400" dirty="0">
                <a:solidFill>
                  <a:prstClr val="black"/>
                </a:solidFill>
                <a:latin typeface="+mn-ea"/>
              </a:rPr>
              <a:t> これにより、従来の「人が成果物を作る開発」から、「</a:t>
            </a:r>
            <a:r>
              <a:rPr lang="en-US" altLang="ja-JP" sz="1400" dirty="0">
                <a:solidFill>
                  <a:prstClr val="black"/>
                </a:solidFill>
                <a:latin typeface="+mn-ea"/>
              </a:rPr>
              <a:t>AI</a:t>
            </a:r>
            <a:r>
              <a:rPr lang="ja-JP" altLang="en-US" sz="1400" dirty="0">
                <a:solidFill>
                  <a:prstClr val="black"/>
                </a:solidFill>
                <a:latin typeface="+mn-ea"/>
              </a:rPr>
              <a:t>と協働しながら成果物を創出する開発」へとパラダイムが変化</a:t>
            </a:r>
            <a:endParaRPr lang="en-US" altLang="ja-JP" sz="1400" dirty="0">
              <a:solidFill>
                <a:prstClr val="black"/>
              </a:solidFill>
              <a:latin typeface="+mn-ea"/>
            </a:endParaRPr>
          </a:p>
          <a:p>
            <a:pPr marL="182563" indent="-182563">
              <a:buFont typeface="Arial" panose="020B0604020202020204" pitchFamily="34" charset="0"/>
              <a:buChar char="•"/>
              <a:defRPr/>
            </a:pPr>
            <a:r>
              <a:rPr lang="ja-JP" altLang="en-US" sz="1400" dirty="0">
                <a:solidFill>
                  <a:prstClr val="black"/>
                </a:solidFill>
                <a:latin typeface="+mn-ea"/>
              </a:rPr>
              <a:t>一方で現状は、生成</a:t>
            </a:r>
            <a:r>
              <a:rPr lang="en-US" altLang="ja-JP" sz="1400" dirty="0">
                <a:solidFill>
                  <a:prstClr val="black"/>
                </a:solidFill>
                <a:latin typeface="+mn-ea"/>
              </a:rPr>
              <a:t>AI</a:t>
            </a:r>
            <a:r>
              <a:rPr lang="ja-JP" altLang="en-US" sz="1400" dirty="0">
                <a:solidFill>
                  <a:prstClr val="black"/>
                </a:solidFill>
                <a:latin typeface="+mn-ea"/>
              </a:rPr>
              <a:t>が個別ツールとしての利用に留まり、開発プロセス全体を前提とした活用設計には至っていない</a:t>
            </a:r>
            <a:endParaRPr lang="en-US" altLang="ja-JP" sz="1400" dirty="0">
              <a:solidFill>
                <a:prstClr val="black"/>
              </a:solidFill>
              <a:latin typeface="+mn-ea"/>
            </a:endParaRPr>
          </a:p>
          <a:p>
            <a:pPr marL="182563" indent="-182563">
              <a:buFont typeface="Arial" panose="020B0604020202020204" pitchFamily="34" charset="0"/>
              <a:buChar char="•"/>
              <a:defRPr/>
            </a:pPr>
            <a:r>
              <a:rPr lang="ja-JP" altLang="en-US" sz="1400" dirty="0">
                <a:solidFill>
                  <a:prstClr val="black"/>
                </a:solidFill>
                <a:latin typeface="+mn-ea"/>
              </a:rPr>
              <a:t>今後の競争力確保に向けは、ツール活用に留まらず、開発プロセスそのものを再設計できる人財の育成が急務である</a:t>
            </a:r>
            <a:endParaRPr lang="en-US" altLang="ja-JP" sz="1400" dirty="0">
              <a:solidFill>
                <a:prstClr val="black"/>
              </a:solidFill>
              <a:latin typeface="+mn-ea"/>
            </a:endParaRPr>
          </a:p>
          <a:p>
            <a:pPr>
              <a:defRPr/>
            </a:pPr>
            <a:endParaRPr lang="en-US" altLang="ja-JP" sz="1400" b="1" u="sng" dirty="0">
              <a:solidFill>
                <a:prstClr val="black"/>
              </a:solidFill>
              <a:latin typeface="+mn-ea"/>
            </a:endParaRPr>
          </a:p>
          <a:p>
            <a:pPr>
              <a:defRPr/>
            </a:pPr>
            <a:r>
              <a:rPr lang="ja-JP" altLang="en-US" sz="1400" b="1" u="sng" dirty="0">
                <a:solidFill>
                  <a:prstClr val="black"/>
                </a:solidFill>
                <a:latin typeface="+mn-ea"/>
              </a:rPr>
              <a:t>＜目的＞</a:t>
            </a:r>
            <a:endParaRPr lang="en-US" altLang="ja-JP" sz="1400" b="1" u="sng" dirty="0">
              <a:solidFill>
                <a:prstClr val="black"/>
              </a:solidFill>
              <a:latin typeface="+mn-ea"/>
            </a:endParaRPr>
          </a:p>
          <a:p>
            <a:pPr marL="182563" indent="-182563">
              <a:buFont typeface="Arial" panose="020B0604020202020204" pitchFamily="34" charset="0"/>
              <a:buChar char="•"/>
              <a:defRPr/>
            </a:pPr>
            <a:r>
              <a:rPr lang="ja-JP" altLang="en-US" sz="1400" b="1" dirty="0">
                <a:solidFill>
                  <a:prstClr val="black"/>
                </a:solidFill>
                <a:latin typeface="+mn-ea"/>
              </a:rPr>
              <a:t>この研修では、生成</a:t>
            </a:r>
            <a:r>
              <a:rPr lang="en-US" altLang="ja-JP" sz="1400" b="1" dirty="0">
                <a:solidFill>
                  <a:prstClr val="black"/>
                </a:solidFill>
                <a:latin typeface="+mn-ea"/>
              </a:rPr>
              <a:t>AI</a:t>
            </a:r>
            <a:r>
              <a:rPr lang="ja-JP" altLang="en-US" sz="1400" b="1" dirty="0">
                <a:solidFill>
                  <a:prstClr val="black"/>
                </a:solidFill>
                <a:latin typeface="+mn-ea"/>
              </a:rPr>
              <a:t>を活用した開発と企画・提案を実際に体験し、</a:t>
            </a:r>
            <a:r>
              <a:rPr lang="en-US" altLang="ja-JP" sz="1400" b="1" dirty="0">
                <a:solidFill>
                  <a:prstClr val="black"/>
                </a:solidFill>
                <a:latin typeface="+mn-ea"/>
              </a:rPr>
              <a:t>AI</a:t>
            </a:r>
            <a:r>
              <a:rPr lang="ja-JP" altLang="en-US" sz="1400" b="1" dirty="0">
                <a:solidFill>
                  <a:prstClr val="black"/>
                </a:solidFill>
                <a:latin typeface="+mn-ea"/>
              </a:rPr>
              <a:t>と協働して成果物をつくるための基礎的なスキルと考え方を身につける</a:t>
            </a:r>
            <a:endParaRPr lang="en-US" altLang="ja-JP" sz="1400" b="1" dirty="0">
              <a:solidFill>
                <a:prstClr val="black"/>
              </a:solidFill>
              <a:latin typeface="+mn-ea"/>
            </a:endParaRPr>
          </a:p>
          <a:p>
            <a:pPr marL="182563" indent="-182563">
              <a:buFont typeface="Arial" panose="020B0604020202020204" pitchFamily="34" charset="0"/>
              <a:buChar char="•"/>
              <a:defRPr/>
            </a:pPr>
            <a:r>
              <a:rPr lang="en-US" altLang="ja-JP" sz="1400" b="1" dirty="0">
                <a:solidFill>
                  <a:prstClr val="black"/>
                </a:solidFill>
                <a:latin typeface="+mn-ea"/>
              </a:rPr>
              <a:t>AI</a:t>
            </a:r>
            <a:r>
              <a:rPr lang="ja-JP" altLang="en-US" sz="1400" b="1" dirty="0">
                <a:solidFill>
                  <a:prstClr val="black"/>
                </a:solidFill>
                <a:latin typeface="+mn-ea"/>
              </a:rPr>
              <a:t>との対話や試行錯誤を重ねることで、配属後に自ら考えて仕事を進めるための土台をつくる</a:t>
            </a:r>
          </a:p>
          <a:p>
            <a:pPr>
              <a:defRPr/>
            </a:pPr>
            <a:endParaRPr lang="en-US" altLang="ja-JP" sz="1600" b="1" dirty="0">
              <a:solidFill>
                <a:prstClr val="black"/>
              </a:solidFill>
              <a:latin typeface="+mn-ea"/>
            </a:endParaRPr>
          </a:p>
        </p:txBody>
      </p:sp>
      <p:pic>
        <p:nvPicPr>
          <p:cNvPr id="34" name="図 33">
            <a:extLst>
              <a:ext uri="{FF2B5EF4-FFF2-40B4-BE49-F238E27FC236}">
                <a16:creationId xmlns:a16="http://schemas.microsoft.com/office/drawing/2014/main" id="{B6533636-8B7B-3119-4756-1BAE77325836}"/>
              </a:ext>
            </a:extLst>
          </p:cNvPr>
          <p:cNvPicPr>
            <a:picLocks noChangeAspect="1"/>
          </p:cNvPicPr>
          <p:nvPr/>
        </p:nvPicPr>
        <p:blipFill>
          <a:blip r:embed="rId2"/>
          <a:stretch>
            <a:fillRect/>
          </a:stretch>
        </p:blipFill>
        <p:spPr>
          <a:xfrm>
            <a:off x="813919" y="3880744"/>
            <a:ext cx="8700940" cy="2056991"/>
          </a:xfrm>
          <a:prstGeom prst="rect">
            <a:avLst/>
          </a:prstGeom>
        </p:spPr>
      </p:pic>
      <p:sp>
        <p:nvSpPr>
          <p:cNvPr id="6" name="正方形/長方形 5">
            <a:extLst>
              <a:ext uri="{FF2B5EF4-FFF2-40B4-BE49-F238E27FC236}">
                <a16:creationId xmlns:a16="http://schemas.microsoft.com/office/drawing/2014/main" id="{3B85E472-10E4-EEF9-B273-0470C1398C8B}"/>
              </a:ext>
            </a:extLst>
          </p:cNvPr>
          <p:cNvSpPr/>
          <p:nvPr/>
        </p:nvSpPr>
        <p:spPr>
          <a:xfrm>
            <a:off x="9970936" y="3037398"/>
            <a:ext cx="1073426" cy="580445"/>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rPr>
              <a:t>20260824</a:t>
            </a:r>
            <a:r>
              <a:rPr kumimoji="1" lang="ja-JP" altLang="en-US" sz="900" dirty="0">
                <a:solidFill>
                  <a:schemeClr val="tx1"/>
                </a:solidFill>
              </a:rPr>
              <a:t>小幡</a:t>
            </a:r>
            <a:endParaRPr kumimoji="1" lang="en-US" altLang="ja-JP" sz="900" dirty="0">
              <a:solidFill>
                <a:schemeClr val="tx1"/>
              </a:solidFill>
            </a:endParaRPr>
          </a:p>
          <a:p>
            <a:pPr algn="ctr"/>
            <a:r>
              <a:rPr lang="ja-JP" altLang="en-US" sz="900" dirty="0">
                <a:solidFill>
                  <a:schemeClr val="tx1"/>
                </a:solidFill>
              </a:rPr>
              <a:t>目的の記載を受講案内と同じものに修正</a:t>
            </a:r>
            <a:endParaRPr kumimoji="1" lang="ja-JP" altLang="en-US" sz="900" dirty="0">
              <a:solidFill>
                <a:schemeClr val="tx1"/>
              </a:solidFill>
            </a:endParaRPr>
          </a:p>
        </p:txBody>
      </p:sp>
    </p:spTree>
    <p:extLst>
      <p:ext uri="{BB962C8B-B14F-4D97-AF65-F5344CB8AC3E}">
        <p14:creationId xmlns:p14="http://schemas.microsoft.com/office/powerpoint/2010/main" val="4087364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23A7-A85B-31A7-4688-92A84E3A61B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9A7171-505F-BA7C-495F-30572EDAA7A8}"/>
              </a:ext>
            </a:extLst>
          </p:cNvPr>
          <p:cNvSpPr>
            <a:spLocks noGrp="1"/>
          </p:cNvSpPr>
          <p:nvPr>
            <p:ph type="title"/>
          </p:nvPr>
        </p:nvSpPr>
        <p:spPr/>
        <p:txBody>
          <a:bodyPr>
            <a:normAutofit/>
          </a:bodyPr>
          <a:lstStyle/>
          <a:p>
            <a:r>
              <a:rPr lang="en-US" altLang="ja-JP" dirty="0">
                <a:latin typeface="+mn-ea"/>
                <a:ea typeface="+mn-ea"/>
              </a:rPr>
              <a:t>1-3. </a:t>
            </a:r>
            <a:r>
              <a:rPr lang="ja-JP" altLang="en-US" dirty="0">
                <a:latin typeface="+mn-ea"/>
                <a:ea typeface="+mn-ea"/>
              </a:rPr>
              <a:t>研修ゴールと獲得可能な経験背景・目的</a:t>
            </a:r>
          </a:p>
        </p:txBody>
      </p:sp>
      <p:sp>
        <p:nvSpPr>
          <p:cNvPr id="5" name="正方形/長方形 4">
            <a:extLst>
              <a:ext uri="{FF2B5EF4-FFF2-40B4-BE49-F238E27FC236}">
                <a16:creationId xmlns:a16="http://schemas.microsoft.com/office/drawing/2014/main" id="{D49B83DB-FE1C-4305-E497-CE7ED332A6EC}"/>
              </a:ext>
            </a:extLst>
          </p:cNvPr>
          <p:cNvSpPr/>
          <p:nvPr/>
        </p:nvSpPr>
        <p:spPr>
          <a:xfrm>
            <a:off x="417290" y="908756"/>
            <a:ext cx="9240688" cy="49051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defTabSz="925880"/>
            <a:r>
              <a:rPr lang="en-US" altLang="ja-JP" sz="2000" dirty="0">
                <a:solidFill>
                  <a:srgbClr val="404040"/>
                </a:solidFill>
                <a:latin typeface="+mn-ea"/>
              </a:rPr>
              <a:t>AI</a:t>
            </a:r>
            <a:r>
              <a:rPr lang="ja-JP" altLang="en-US" sz="2000" dirty="0">
                <a:solidFill>
                  <a:srgbClr val="404040"/>
                </a:solidFill>
                <a:latin typeface="+mn-ea"/>
              </a:rPr>
              <a:t>を活用した開発プロセスを一通り実行し、再現可能な業務スキルを獲得する</a:t>
            </a:r>
          </a:p>
          <a:p>
            <a:pPr defTabSz="925880"/>
            <a:endParaRPr lang="ja-JP" altLang="en-US" sz="2000" dirty="0">
              <a:solidFill>
                <a:srgbClr val="404040"/>
              </a:solidFill>
              <a:latin typeface="+mn-ea"/>
            </a:endParaRPr>
          </a:p>
          <a:p>
            <a:pPr defTabSz="925880"/>
            <a:r>
              <a:rPr lang="ja-JP" altLang="en-US" sz="1400" b="1" u="sng" dirty="0">
                <a:solidFill>
                  <a:srgbClr val="404040"/>
                </a:solidFill>
                <a:latin typeface="+mn-ea"/>
              </a:rPr>
              <a:t>＜研修ゴール＞</a:t>
            </a:r>
          </a:p>
          <a:p>
            <a:pPr defTabSz="925880"/>
            <a:r>
              <a:rPr lang="ja-JP" altLang="en-US" sz="1400" dirty="0">
                <a:solidFill>
                  <a:srgbClr val="404040"/>
                </a:solidFill>
                <a:latin typeface="+mn-ea"/>
              </a:rPr>
              <a:t>研修を終えたとき、皆さんは次の状態に到達しています。</a:t>
            </a:r>
          </a:p>
          <a:p>
            <a:pPr marL="342900" indent="-342900" defTabSz="925880">
              <a:buFont typeface="+mj-lt"/>
              <a:buAutoNum type="arabicPeriod"/>
            </a:pPr>
            <a:r>
              <a:rPr lang="ja-JP" altLang="en-US" sz="1400" u="sng" dirty="0">
                <a:solidFill>
                  <a:srgbClr val="404040"/>
                </a:solidFill>
                <a:latin typeface="+mn-ea"/>
              </a:rPr>
              <a:t>生成</a:t>
            </a:r>
            <a:r>
              <a:rPr lang="en-US" altLang="ja-JP" sz="1400" u="sng" dirty="0">
                <a:solidFill>
                  <a:srgbClr val="404040"/>
                </a:solidFill>
                <a:latin typeface="+mn-ea"/>
              </a:rPr>
              <a:t>AI</a:t>
            </a:r>
            <a:r>
              <a:rPr lang="ja-JP" altLang="en-US" sz="1400" u="sng" dirty="0">
                <a:solidFill>
                  <a:srgbClr val="404040"/>
                </a:solidFill>
                <a:latin typeface="+mn-ea"/>
              </a:rPr>
              <a:t>を活用して成果物を作成できる</a:t>
            </a:r>
            <a:r>
              <a:rPr lang="ja-JP" altLang="en-US" sz="1400" dirty="0">
                <a:solidFill>
                  <a:srgbClr val="404040"/>
                </a:solidFill>
                <a:latin typeface="+mn-ea"/>
              </a:rPr>
              <a:t>：</a:t>
            </a:r>
            <a:br>
              <a:rPr lang="ja-JP" altLang="en-US" sz="1400" dirty="0">
                <a:solidFill>
                  <a:srgbClr val="404040"/>
                </a:solidFill>
                <a:latin typeface="+mn-ea"/>
              </a:rPr>
            </a:br>
            <a:r>
              <a:rPr lang="en-US" altLang="ja-JP" sz="1400" dirty="0">
                <a:solidFill>
                  <a:srgbClr val="404040"/>
                </a:solidFill>
                <a:latin typeface="+mn-ea"/>
              </a:rPr>
              <a:t>ChatGPT</a:t>
            </a:r>
            <a:r>
              <a:rPr lang="ja-JP" altLang="en-US" sz="1400" dirty="0">
                <a:solidFill>
                  <a:srgbClr val="404040"/>
                </a:solidFill>
                <a:latin typeface="+mn-ea"/>
              </a:rPr>
              <a:t>や</a:t>
            </a:r>
            <a:r>
              <a:rPr lang="en-US" altLang="ja-JP" sz="1400" dirty="0">
                <a:solidFill>
                  <a:srgbClr val="404040"/>
                </a:solidFill>
                <a:latin typeface="+mn-ea"/>
              </a:rPr>
              <a:t>GitHub Copilot</a:t>
            </a:r>
            <a:r>
              <a:rPr lang="ja-JP" altLang="en-US" sz="1400" dirty="0">
                <a:solidFill>
                  <a:srgbClr val="404040"/>
                </a:solidFill>
                <a:latin typeface="+mn-ea"/>
              </a:rPr>
              <a:t>等を用いて、開発や企画・提案に必要な成果物を自ら作成できる</a:t>
            </a:r>
            <a:endParaRPr lang="en-US" altLang="ja-JP" sz="1400" dirty="0">
              <a:solidFill>
                <a:srgbClr val="404040"/>
              </a:solidFill>
              <a:latin typeface="+mn-ea"/>
            </a:endParaRPr>
          </a:p>
          <a:p>
            <a:pPr marL="342900" indent="-342900" defTabSz="925880">
              <a:buFont typeface="+mj-lt"/>
              <a:buAutoNum type="arabicPeriod"/>
            </a:pPr>
            <a:r>
              <a:rPr lang="en-US" altLang="ja-JP" sz="1400" u="sng" dirty="0">
                <a:solidFill>
                  <a:srgbClr val="404040"/>
                </a:solidFill>
                <a:latin typeface="+mn-ea"/>
              </a:rPr>
              <a:t>AI</a:t>
            </a:r>
            <a:r>
              <a:rPr lang="ja-JP" altLang="en-US" sz="1400" u="sng" dirty="0">
                <a:solidFill>
                  <a:srgbClr val="404040"/>
                </a:solidFill>
                <a:latin typeface="+mn-ea"/>
              </a:rPr>
              <a:t>との試行錯誤により成果物の品質を高めることができる：</a:t>
            </a:r>
            <a:br>
              <a:rPr lang="ja-JP" altLang="en-US" sz="1400" dirty="0">
                <a:solidFill>
                  <a:srgbClr val="404040"/>
                </a:solidFill>
                <a:latin typeface="+mn-ea"/>
              </a:rPr>
            </a:br>
            <a:r>
              <a:rPr lang="en-US" altLang="ja-JP" sz="1400" dirty="0">
                <a:solidFill>
                  <a:srgbClr val="404040"/>
                </a:solidFill>
                <a:latin typeface="+mn-ea"/>
              </a:rPr>
              <a:t>AI</a:t>
            </a:r>
            <a:r>
              <a:rPr lang="ja-JP" altLang="en-US" sz="1400" dirty="0">
                <a:solidFill>
                  <a:srgbClr val="404040"/>
                </a:solidFill>
                <a:latin typeface="+mn-ea"/>
              </a:rPr>
              <a:t>への指示を工夫しながら、生成された成果物を評価・改善し、より良い成果につなげられる</a:t>
            </a:r>
            <a:endParaRPr lang="en-US" altLang="ja-JP" sz="1400" dirty="0">
              <a:solidFill>
                <a:srgbClr val="404040"/>
              </a:solidFill>
              <a:latin typeface="+mn-ea"/>
            </a:endParaRPr>
          </a:p>
          <a:p>
            <a:pPr marL="342900" indent="-342900" defTabSz="925880">
              <a:buFont typeface="+mj-lt"/>
              <a:buAutoNum type="arabicPeriod"/>
            </a:pPr>
            <a:r>
              <a:rPr lang="en-US" altLang="ja-JP" sz="1400" u="sng" dirty="0">
                <a:solidFill>
                  <a:srgbClr val="404040"/>
                </a:solidFill>
                <a:latin typeface="+mn-ea"/>
              </a:rPr>
              <a:t>AI</a:t>
            </a:r>
            <a:r>
              <a:rPr lang="ja-JP" altLang="en-US" sz="1400" u="sng" dirty="0">
                <a:solidFill>
                  <a:srgbClr val="404040"/>
                </a:solidFill>
                <a:latin typeface="+mn-ea"/>
              </a:rPr>
              <a:t>を活用した開発の進め方を理解できるようになる：</a:t>
            </a:r>
            <a:br>
              <a:rPr lang="ja-JP" altLang="en-US" sz="1400" dirty="0">
                <a:solidFill>
                  <a:srgbClr val="404040"/>
                </a:solidFill>
                <a:latin typeface="+mn-ea"/>
              </a:rPr>
            </a:br>
            <a:r>
              <a:rPr lang="ja-JP" altLang="en-US" sz="1400" dirty="0">
                <a:solidFill>
                  <a:srgbClr val="404040"/>
                </a:solidFill>
                <a:latin typeface="+mn-ea"/>
              </a:rPr>
              <a:t>バイブコーディング演習を通じて開発の基本的な流れを把握し、自ら動作するプログラムを作成できる</a:t>
            </a:r>
            <a:endParaRPr lang="en-US" altLang="ja-JP" sz="1400" dirty="0">
              <a:solidFill>
                <a:srgbClr val="404040"/>
              </a:solidFill>
              <a:latin typeface="+mn-ea"/>
            </a:endParaRPr>
          </a:p>
          <a:p>
            <a:pPr marL="342900" indent="-342900" defTabSz="925880">
              <a:buFont typeface="+mj-lt"/>
              <a:buAutoNum type="arabicPeriod"/>
            </a:pPr>
            <a:r>
              <a:rPr lang="en-US" altLang="ja-JP" sz="1400" u="sng" dirty="0">
                <a:solidFill>
                  <a:srgbClr val="404040"/>
                </a:solidFill>
                <a:latin typeface="+mn-ea"/>
              </a:rPr>
              <a:t>AI</a:t>
            </a:r>
            <a:r>
              <a:rPr lang="ja-JP" altLang="en-US" sz="1400" u="sng" dirty="0">
                <a:solidFill>
                  <a:srgbClr val="404040"/>
                </a:solidFill>
                <a:latin typeface="+mn-ea"/>
              </a:rPr>
              <a:t>を活用した企画・提案の進め方を理解できるようになる：</a:t>
            </a:r>
            <a:br>
              <a:rPr lang="ja-JP" altLang="en-US" sz="1400" u="sng" dirty="0">
                <a:solidFill>
                  <a:srgbClr val="404040"/>
                </a:solidFill>
                <a:latin typeface="+mn-ea"/>
              </a:rPr>
            </a:br>
            <a:r>
              <a:rPr lang="ja-JP" altLang="en-US" sz="1400" dirty="0">
                <a:solidFill>
                  <a:srgbClr val="404040"/>
                </a:solidFill>
                <a:latin typeface="+mn-ea"/>
              </a:rPr>
              <a:t>課題分析、アイデア創出、企画立案、プロトタイプ作成、提案資料作成までを実践できる</a:t>
            </a:r>
            <a:endParaRPr lang="en-US" altLang="ja-JP" sz="1400" dirty="0">
              <a:solidFill>
                <a:srgbClr val="404040"/>
              </a:solidFill>
              <a:latin typeface="+mn-ea"/>
            </a:endParaRPr>
          </a:p>
          <a:p>
            <a:pPr marL="342900" indent="-342900" defTabSz="925880">
              <a:buFont typeface="+mj-lt"/>
              <a:buAutoNum type="arabicPeriod"/>
            </a:pPr>
            <a:r>
              <a:rPr lang="en-US" altLang="ja-JP" sz="1400" u="sng" dirty="0">
                <a:solidFill>
                  <a:srgbClr val="404040"/>
                </a:solidFill>
                <a:latin typeface="+mn-ea"/>
              </a:rPr>
              <a:t>AI</a:t>
            </a:r>
            <a:r>
              <a:rPr lang="ja-JP" altLang="en-US" sz="1400" u="sng" dirty="0">
                <a:solidFill>
                  <a:srgbClr val="404040"/>
                </a:solidFill>
                <a:latin typeface="+mn-ea"/>
              </a:rPr>
              <a:t>時代の働き方の基礎を習得できる：</a:t>
            </a:r>
            <a:br>
              <a:rPr lang="ja-JP" altLang="en-US" sz="1400" dirty="0">
                <a:solidFill>
                  <a:srgbClr val="404040"/>
                </a:solidFill>
                <a:latin typeface="+mn-ea"/>
              </a:rPr>
            </a:br>
            <a:r>
              <a:rPr lang="ja-JP" altLang="en-US" sz="1400" dirty="0">
                <a:solidFill>
                  <a:srgbClr val="404040"/>
                </a:solidFill>
                <a:latin typeface="+mn-ea"/>
              </a:rPr>
              <a:t>生産性と品質を高める仕事の進め方を理解し、配属後の業務で実践する第一歩を踏み出せる</a:t>
            </a:r>
          </a:p>
          <a:p>
            <a:pPr defTabSz="925880"/>
            <a:endParaRPr lang="en-US" altLang="ja-JP" sz="1400" dirty="0">
              <a:solidFill>
                <a:srgbClr val="404040"/>
              </a:solidFill>
              <a:latin typeface="+mn-ea"/>
            </a:endParaRPr>
          </a:p>
          <a:p>
            <a:pPr defTabSz="925880"/>
            <a:r>
              <a:rPr lang="ja-JP" altLang="en-US" sz="1400" b="1" u="sng" dirty="0">
                <a:solidFill>
                  <a:srgbClr val="404040"/>
                </a:solidFill>
                <a:latin typeface="+mn-ea"/>
              </a:rPr>
              <a:t>＜獲得可能な経験＞</a:t>
            </a:r>
          </a:p>
          <a:p>
            <a:pPr defTabSz="925880"/>
            <a:r>
              <a:rPr lang="ja-JP" altLang="en-US" sz="1400" dirty="0">
                <a:solidFill>
                  <a:srgbClr val="404040"/>
                </a:solidFill>
                <a:latin typeface="+mn-ea"/>
              </a:rPr>
              <a:t>・ </a:t>
            </a:r>
            <a:r>
              <a:rPr lang="en-US" altLang="ja-JP" sz="1400" dirty="0">
                <a:solidFill>
                  <a:srgbClr val="404040"/>
                </a:solidFill>
                <a:latin typeface="+mn-ea"/>
              </a:rPr>
              <a:t>ChatGPT </a:t>
            </a:r>
            <a:r>
              <a:rPr lang="ja-JP" altLang="en-US" sz="1400" dirty="0">
                <a:solidFill>
                  <a:srgbClr val="404040"/>
                </a:solidFill>
                <a:latin typeface="+mn-ea"/>
              </a:rPr>
              <a:t>を用いた 「調査・整理」、「叩き台資料作成」、「モックアプリ開発」、</a:t>
            </a:r>
            <a:endParaRPr lang="en-US" altLang="ja-JP" sz="1400" dirty="0">
              <a:solidFill>
                <a:srgbClr val="404040"/>
              </a:solidFill>
              <a:latin typeface="+mn-ea"/>
            </a:endParaRPr>
          </a:p>
          <a:p>
            <a:pPr defTabSz="925880"/>
            <a:r>
              <a:rPr lang="ja-JP" altLang="en-US" sz="1400" dirty="0">
                <a:solidFill>
                  <a:srgbClr val="404040"/>
                </a:solidFill>
                <a:latin typeface="+mn-ea"/>
              </a:rPr>
              <a:t>　「企画・提案書骨子作成」、「成果物</a:t>
            </a:r>
            <a:r>
              <a:rPr lang="en-US" altLang="ja-JP" sz="1400" dirty="0">
                <a:solidFill>
                  <a:srgbClr val="404040"/>
                </a:solidFill>
                <a:latin typeface="+mn-ea"/>
              </a:rPr>
              <a:t>RV</a:t>
            </a:r>
            <a:r>
              <a:rPr lang="ja-JP" altLang="en-US" sz="1400" dirty="0">
                <a:solidFill>
                  <a:srgbClr val="404040"/>
                </a:solidFill>
                <a:latin typeface="+mn-ea"/>
              </a:rPr>
              <a:t>」の経験</a:t>
            </a:r>
          </a:p>
          <a:p>
            <a:pPr defTabSz="925880"/>
            <a:r>
              <a:rPr lang="ja-JP" altLang="en-US" sz="1400" dirty="0">
                <a:solidFill>
                  <a:srgbClr val="404040"/>
                </a:solidFill>
                <a:latin typeface="+mn-ea"/>
              </a:rPr>
              <a:t>・ </a:t>
            </a:r>
            <a:r>
              <a:rPr lang="en-US" altLang="ja-JP" sz="1400" dirty="0">
                <a:solidFill>
                  <a:srgbClr val="404040"/>
                </a:solidFill>
                <a:latin typeface="+mn-ea"/>
              </a:rPr>
              <a:t>GitHub Copilot </a:t>
            </a:r>
            <a:r>
              <a:rPr lang="ja-JP" altLang="en-US" sz="1400" dirty="0">
                <a:solidFill>
                  <a:srgbClr val="404040"/>
                </a:solidFill>
                <a:latin typeface="+mn-ea"/>
              </a:rPr>
              <a:t>を用いた </a:t>
            </a:r>
            <a:r>
              <a:rPr lang="en-US" altLang="ja-JP" sz="1400" dirty="0">
                <a:solidFill>
                  <a:srgbClr val="404040"/>
                </a:solidFill>
                <a:latin typeface="+mn-ea"/>
              </a:rPr>
              <a:t>AI</a:t>
            </a:r>
            <a:r>
              <a:rPr lang="ja-JP" altLang="en-US" sz="1400" dirty="0">
                <a:solidFill>
                  <a:srgbClr val="404040"/>
                </a:solidFill>
                <a:latin typeface="+mn-ea"/>
              </a:rPr>
              <a:t>エージェント への作業指示および上述の成果物作成・修正・</a:t>
            </a:r>
            <a:endParaRPr lang="en-US" altLang="ja-JP" sz="1400" dirty="0">
              <a:solidFill>
                <a:srgbClr val="404040"/>
              </a:solidFill>
              <a:latin typeface="+mn-ea"/>
            </a:endParaRPr>
          </a:p>
          <a:p>
            <a:pPr defTabSz="925880"/>
            <a:r>
              <a:rPr lang="ja-JP" altLang="en-US" sz="1400" dirty="0">
                <a:solidFill>
                  <a:srgbClr val="404040"/>
                </a:solidFill>
                <a:latin typeface="+mn-ea"/>
              </a:rPr>
              <a:t>　 </a:t>
            </a:r>
            <a:r>
              <a:rPr lang="en-US" altLang="ja-JP" sz="1400" dirty="0">
                <a:solidFill>
                  <a:srgbClr val="404040"/>
                </a:solidFill>
                <a:latin typeface="+mn-ea"/>
              </a:rPr>
              <a:t>RV</a:t>
            </a:r>
            <a:r>
              <a:rPr lang="ja-JP" altLang="en-US" sz="1400" dirty="0">
                <a:solidFill>
                  <a:srgbClr val="404040"/>
                </a:solidFill>
                <a:latin typeface="+mn-ea"/>
              </a:rPr>
              <a:t>の経験</a:t>
            </a:r>
          </a:p>
          <a:p>
            <a:pPr defTabSz="925880"/>
            <a:r>
              <a:rPr lang="ja-JP" altLang="en-US" sz="1400" dirty="0">
                <a:solidFill>
                  <a:srgbClr val="404040"/>
                </a:solidFill>
                <a:latin typeface="+mn-ea"/>
              </a:rPr>
              <a:t>・ </a:t>
            </a:r>
            <a:r>
              <a:rPr lang="en-US" altLang="ja-JP" sz="1400" dirty="0">
                <a:solidFill>
                  <a:srgbClr val="404040"/>
                </a:solidFill>
                <a:latin typeface="+mn-ea"/>
              </a:rPr>
              <a:t>GitHub Copilot </a:t>
            </a:r>
            <a:r>
              <a:rPr lang="ja-JP" altLang="en-US" sz="1400" dirty="0">
                <a:solidFill>
                  <a:srgbClr val="404040"/>
                </a:solidFill>
                <a:latin typeface="+mn-ea"/>
              </a:rPr>
              <a:t>を用いる際の 各種ハーネスエンジニアリング に向けた</a:t>
            </a:r>
            <a:r>
              <a:rPr lang="en-US" altLang="ja-JP" sz="1400" dirty="0">
                <a:solidFill>
                  <a:srgbClr val="404040"/>
                </a:solidFill>
                <a:latin typeface="+mn-ea"/>
              </a:rPr>
              <a:t>AI</a:t>
            </a:r>
            <a:r>
              <a:rPr lang="ja-JP" altLang="en-US" sz="1400" dirty="0">
                <a:solidFill>
                  <a:srgbClr val="404040"/>
                </a:solidFill>
                <a:latin typeface="+mn-ea"/>
              </a:rPr>
              <a:t>動作環境の改善経験</a:t>
            </a:r>
          </a:p>
          <a:p>
            <a:pPr defTabSz="925880"/>
            <a:r>
              <a:rPr lang="ja-JP" altLang="en-US" sz="1400" dirty="0">
                <a:solidFill>
                  <a:srgbClr val="404040"/>
                </a:solidFill>
                <a:latin typeface="+mn-ea"/>
              </a:rPr>
              <a:t>・ 生産性向上および品質向上を実現するための開発プロセスの改善経験</a:t>
            </a:r>
          </a:p>
          <a:p>
            <a:pPr defTabSz="925880"/>
            <a:endParaRPr lang="ja-JP" altLang="en-US" sz="1400" dirty="0">
              <a:solidFill>
                <a:srgbClr val="404040"/>
              </a:solidFill>
              <a:latin typeface="+mn-ea"/>
            </a:endParaRPr>
          </a:p>
          <a:p>
            <a:pPr defTabSz="925880"/>
            <a:r>
              <a:rPr lang="en-US" altLang="ja-JP" sz="1400" b="1" dirty="0">
                <a:solidFill>
                  <a:srgbClr val="FF0000"/>
                </a:solidFill>
                <a:latin typeface="+mn-ea"/>
              </a:rPr>
              <a:t>※ </a:t>
            </a:r>
            <a:r>
              <a:rPr lang="ja-JP" altLang="en-US" sz="1400" b="1" dirty="0">
                <a:solidFill>
                  <a:srgbClr val="FF0000"/>
                </a:solidFill>
                <a:latin typeface="+mn-ea"/>
              </a:rPr>
              <a:t>高度な自走ではなく、実務適用の初期レベル到達を目標とする</a:t>
            </a:r>
          </a:p>
        </p:txBody>
      </p:sp>
      <p:sp>
        <p:nvSpPr>
          <p:cNvPr id="4" name="正方形/長方形 3">
            <a:extLst>
              <a:ext uri="{FF2B5EF4-FFF2-40B4-BE49-F238E27FC236}">
                <a16:creationId xmlns:a16="http://schemas.microsoft.com/office/drawing/2014/main" id="{D6B23A4F-6D4D-6634-786C-511956CC042B}"/>
              </a:ext>
            </a:extLst>
          </p:cNvPr>
          <p:cNvSpPr/>
          <p:nvPr/>
        </p:nvSpPr>
        <p:spPr>
          <a:xfrm>
            <a:off x="9970936" y="2297926"/>
            <a:ext cx="1073426" cy="906450"/>
          </a:xfrm>
          <a:prstGeom prst="rect">
            <a:avLst/>
          </a:prstGeom>
          <a:solidFill>
            <a:schemeClr val="accent2">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900" dirty="0">
                <a:solidFill>
                  <a:schemeClr val="tx1"/>
                </a:solidFill>
              </a:rPr>
              <a:t>20260824</a:t>
            </a:r>
            <a:r>
              <a:rPr kumimoji="1" lang="ja-JP" altLang="en-US" sz="900" dirty="0">
                <a:solidFill>
                  <a:schemeClr val="tx1"/>
                </a:solidFill>
              </a:rPr>
              <a:t>小幡</a:t>
            </a:r>
            <a:endParaRPr kumimoji="1" lang="en-US" altLang="ja-JP" sz="900" dirty="0">
              <a:solidFill>
                <a:schemeClr val="tx1"/>
              </a:solidFill>
            </a:endParaRPr>
          </a:p>
          <a:p>
            <a:pPr algn="ctr"/>
            <a:r>
              <a:rPr lang="ja-JP" altLang="en-US" sz="900" dirty="0">
                <a:solidFill>
                  <a:schemeClr val="tx1"/>
                </a:solidFill>
              </a:rPr>
              <a:t>研修のゴールの記載を受講案内と同じものに修正</a:t>
            </a:r>
            <a:endParaRPr kumimoji="1" lang="ja-JP" altLang="en-US" sz="900" dirty="0">
              <a:solidFill>
                <a:schemeClr val="tx1"/>
              </a:solidFill>
            </a:endParaRPr>
          </a:p>
        </p:txBody>
      </p:sp>
    </p:spTree>
    <p:extLst>
      <p:ext uri="{BB962C8B-B14F-4D97-AF65-F5344CB8AC3E}">
        <p14:creationId xmlns:p14="http://schemas.microsoft.com/office/powerpoint/2010/main" val="1929696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pPr defTabSz="457166"/>
            <a:r>
              <a:rPr lang="en-US" altLang="ja-JP" spc="150" dirty="0">
                <a:solidFill>
                  <a:schemeClr val="accent2"/>
                </a:solidFill>
              </a:rPr>
              <a:t>02</a:t>
            </a:r>
            <a:endParaRPr lang="ja-JP" altLang="en-US" spc="150" dirty="0">
              <a:solidFill>
                <a:schemeClr val="accent2"/>
              </a:solidFill>
            </a:endParaRPr>
          </a:p>
        </p:txBody>
      </p:sp>
      <p:sp>
        <p:nvSpPr>
          <p:cNvPr id="6" name="テキスト プレースホルダー 5"/>
          <p:cNvSpPr>
            <a:spLocks noGrp="1"/>
          </p:cNvSpPr>
          <p:nvPr>
            <p:ph type="body" sz="quarter" idx="16"/>
          </p:nvPr>
        </p:nvSpPr>
        <p:spPr/>
        <p:txBody>
          <a:bodyPr/>
          <a:lstStyle/>
          <a:p>
            <a:r>
              <a:rPr lang="en-US" altLang="ja-JP" dirty="0">
                <a:latin typeface="+mj-ea"/>
                <a:ea typeface="+mj-ea"/>
              </a:rPr>
              <a:t>AI</a:t>
            </a:r>
            <a:r>
              <a:rPr lang="ja-JP" altLang="en-US" dirty="0">
                <a:latin typeface="+mj-ea"/>
                <a:ea typeface="+mj-ea"/>
              </a:rPr>
              <a:t>・</a:t>
            </a:r>
            <a:r>
              <a:rPr lang="en-US" altLang="ja-JP" dirty="0">
                <a:latin typeface="+mj-ea"/>
                <a:ea typeface="+mj-ea"/>
              </a:rPr>
              <a:t>LLM</a:t>
            </a:r>
            <a:r>
              <a:rPr lang="ja-JP" altLang="en-US" dirty="0">
                <a:latin typeface="+mj-ea"/>
                <a:ea typeface="+mj-ea"/>
              </a:rPr>
              <a:t>の基礎理解</a:t>
            </a:r>
          </a:p>
        </p:txBody>
      </p:sp>
    </p:spTree>
    <p:extLst>
      <p:ext uri="{BB962C8B-B14F-4D97-AF65-F5344CB8AC3E}">
        <p14:creationId xmlns:p14="http://schemas.microsoft.com/office/powerpoint/2010/main" val="173000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C3449-7D52-D9ED-B407-067EB39A07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616F05-1997-8009-9350-BF1DEE981D76}"/>
              </a:ext>
            </a:extLst>
          </p:cNvPr>
          <p:cNvSpPr>
            <a:spLocks noGrp="1"/>
          </p:cNvSpPr>
          <p:nvPr>
            <p:ph type="title"/>
          </p:nvPr>
        </p:nvSpPr>
        <p:spPr/>
        <p:txBody>
          <a:bodyPr>
            <a:normAutofit/>
          </a:bodyPr>
          <a:lstStyle/>
          <a:p>
            <a:r>
              <a:rPr lang="en-US" altLang="ja-JP" dirty="0">
                <a:latin typeface="+mn-ea"/>
                <a:ea typeface="+mn-ea"/>
              </a:rPr>
              <a:t>2-1. </a:t>
            </a:r>
            <a:r>
              <a:rPr lang="ja-JP" altLang="en-US" dirty="0">
                <a:latin typeface="+mn-ea"/>
                <a:ea typeface="+mn-ea"/>
              </a:rPr>
              <a:t>生成</a:t>
            </a:r>
            <a:r>
              <a:rPr lang="en-US" altLang="ja-JP" dirty="0">
                <a:latin typeface="+mn-ea"/>
                <a:ea typeface="+mn-ea"/>
              </a:rPr>
              <a:t>AI</a:t>
            </a:r>
            <a:r>
              <a:rPr lang="ja-JP" altLang="en-US" dirty="0">
                <a:latin typeface="+mn-ea"/>
                <a:ea typeface="+mn-ea"/>
              </a:rPr>
              <a:t>（</a:t>
            </a:r>
            <a:r>
              <a:rPr lang="en-US" altLang="ja-JP" dirty="0">
                <a:latin typeface="+mn-ea"/>
                <a:ea typeface="+mn-ea"/>
              </a:rPr>
              <a:t>Generative AI</a:t>
            </a:r>
            <a:r>
              <a:rPr lang="ja-JP" altLang="en-US" dirty="0">
                <a:latin typeface="+mn-ea"/>
                <a:ea typeface="+mn-ea"/>
              </a:rPr>
              <a:t>）とは？</a:t>
            </a:r>
          </a:p>
        </p:txBody>
      </p:sp>
      <p:sp>
        <p:nvSpPr>
          <p:cNvPr id="4" name="Shape 0">
            <a:extLst>
              <a:ext uri="{FF2B5EF4-FFF2-40B4-BE49-F238E27FC236}">
                <a16:creationId xmlns:a16="http://schemas.microsoft.com/office/drawing/2014/main" id="{A3B26407-612D-D12B-4BF1-FC0842B3B273}"/>
              </a:ext>
            </a:extLst>
          </p:cNvPr>
          <p:cNvSpPr/>
          <p:nvPr/>
        </p:nvSpPr>
        <p:spPr>
          <a:xfrm>
            <a:off x="382100" y="1524306"/>
            <a:ext cx="9145043" cy="1429207"/>
          </a:xfrm>
          <a:prstGeom prst="roundRect">
            <a:avLst>
              <a:gd name="adj" fmla="val 5310"/>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7" name="Shape 1">
            <a:extLst>
              <a:ext uri="{FF2B5EF4-FFF2-40B4-BE49-F238E27FC236}">
                <a16:creationId xmlns:a16="http://schemas.microsoft.com/office/drawing/2014/main" id="{509BD8B0-5988-89D6-EC56-C2BB81DEAD63}"/>
              </a:ext>
            </a:extLst>
          </p:cNvPr>
          <p:cNvSpPr/>
          <p:nvPr/>
        </p:nvSpPr>
        <p:spPr>
          <a:xfrm>
            <a:off x="382100" y="3095245"/>
            <a:ext cx="9145043" cy="1429207"/>
          </a:xfrm>
          <a:prstGeom prst="roundRect">
            <a:avLst>
              <a:gd name="adj" fmla="val 5310"/>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9" name="Shape 2">
            <a:extLst>
              <a:ext uri="{FF2B5EF4-FFF2-40B4-BE49-F238E27FC236}">
                <a16:creationId xmlns:a16="http://schemas.microsoft.com/office/drawing/2014/main" id="{23A7A1F2-276D-BDC0-9341-E8BEE3465EA0}"/>
              </a:ext>
            </a:extLst>
          </p:cNvPr>
          <p:cNvSpPr/>
          <p:nvPr/>
        </p:nvSpPr>
        <p:spPr>
          <a:xfrm>
            <a:off x="382100" y="4667099"/>
            <a:ext cx="9145043" cy="1429207"/>
          </a:xfrm>
          <a:prstGeom prst="roundRect">
            <a:avLst>
              <a:gd name="adj" fmla="val 5310"/>
            </a:avLst>
          </a:prstGeom>
          <a:solidFill>
            <a:srgbClr val="FFFAF0"/>
          </a:solidFill>
          <a:ln/>
        </p:spPr>
        <p:txBody>
          <a:bodyPr/>
          <a:lstStyle/>
          <a:p>
            <a:pPr defTabSz="925880"/>
            <a:endParaRPr lang="ja-JP" altLang="en-US" sz="2000">
              <a:solidFill>
                <a:srgbClr val="000000"/>
              </a:solidFill>
              <a:latin typeface="+mn-ea"/>
            </a:endParaRPr>
          </a:p>
        </p:txBody>
      </p:sp>
      <p:sp>
        <p:nvSpPr>
          <p:cNvPr id="11" name="Shape 3">
            <a:extLst>
              <a:ext uri="{FF2B5EF4-FFF2-40B4-BE49-F238E27FC236}">
                <a16:creationId xmlns:a16="http://schemas.microsoft.com/office/drawing/2014/main" id="{855622E4-3CE8-9EEF-BABC-5A693DF30329}"/>
              </a:ext>
            </a:extLst>
          </p:cNvPr>
          <p:cNvSpPr/>
          <p:nvPr/>
        </p:nvSpPr>
        <p:spPr>
          <a:xfrm>
            <a:off x="382100" y="4667099"/>
            <a:ext cx="46091" cy="1429207"/>
          </a:xfrm>
          <a:prstGeom prst="roundRect">
            <a:avLst>
              <a:gd name="adj" fmla="val 131746"/>
            </a:avLst>
          </a:prstGeom>
          <a:solidFill>
            <a:srgbClr val="FCD34D"/>
          </a:solidFill>
          <a:ln w="12700">
            <a:solidFill>
              <a:srgbClr val="FCD34D">
                <a:alpha val="0"/>
              </a:srgbClr>
            </a:solidFill>
            <a:prstDash val="solid"/>
          </a:ln>
        </p:spPr>
        <p:txBody>
          <a:bodyPr/>
          <a:lstStyle/>
          <a:p>
            <a:pPr defTabSz="925880"/>
            <a:endParaRPr lang="ja-JP" altLang="en-US" sz="2000">
              <a:solidFill>
                <a:srgbClr val="000000"/>
              </a:solidFill>
              <a:latin typeface="+mn-ea"/>
            </a:endParaRPr>
          </a:p>
        </p:txBody>
      </p:sp>
      <p:pic>
        <p:nvPicPr>
          <p:cNvPr id="13" name="Image 0" descr="gen-dedup-90f884924de54ac812ad76606f67c408.png">
            <a:extLst>
              <a:ext uri="{FF2B5EF4-FFF2-40B4-BE49-F238E27FC236}">
                <a16:creationId xmlns:a16="http://schemas.microsoft.com/office/drawing/2014/main" id="{F1FDA127-4FE6-8ADC-831E-AF407516F7FF}"/>
              </a:ext>
            </a:extLst>
          </p:cNvPr>
          <p:cNvPicPr>
            <a:picLocks noChangeAspect="1"/>
          </p:cNvPicPr>
          <p:nvPr/>
        </p:nvPicPr>
        <p:blipFill>
          <a:blip r:embed="rId2"/>
          <a:srcRect l="-384" r="-384"/>
          <a:stretch/>
        </p:blipFill>
        <p:spPr>
          <a:xfrm>
            <a:off x="382100" y="1524306"/>
            <a:ext cx="46091" cy="1429207"/>
          </a:xfrm>
          <a:prstGeom prst="rect">
            <a:avLst/>
          </a:prstGeom>
        </p:spPr>
      </p:pic>
      <p:pic>
        <p:nvPicPr>
          <p:cNvPr id="15" name="Image 1" descr="gen-dedup-90f884924de54ac812ad76606f67c408.png">
            <a:extLst>
              <a:ext uri="{FF2B5EF4-FFF2-40B4-BE49-F238E27FC236}">
                <a16:creationId xmlns:a16="http://schemas.microsoft.com/office/drawing/2014/main" id="{463A45A8-1C36-D897-3773-9C237DA091C6}"/>
              </a:ext>
            </a:extLst>
          </p:cNvPr>
          <p:cNvPicPr>
            <a:picLocks noChangeAspect="1"/>
          </p:cNvPicPr>
          <p:nvPr/>
        </p:nvPicPr>
        <p:blipFill>
          <a:blip r:embed="rId2"/>
          <a:srcRect l="-384" r="-384"/>
          <a:stretch/>
        </p:blipFill>
        <p:spPr>
          <a:xfrm>
            <a:off x="382100" y="3095245"/>
            <a:ext cx="46091" cy="1429207"/>
          </a:xfrm>
          <a:prstGeom prst="rect">
            <a:avLst/>
          </a:prstGeom>
        </p:spPr>
      </p:pic>
      <p:sp>
        <p:nvSpPr>
          <p:cNvPr id="17" name="Text 7">
            <a:extLst>
              <a:ext uri="{FF2B5EF4-FFF2-40B4-BE49-F238E27FC236}">
                <a16:creationId xmlns:a16="http://schemas.microsoft.com/office/drawing/2014/main" id="{779D5831-A7E1-6473-B20A-29AB5E2DF6F0}"/>
              </a:ext>
            </a:extLst>
          </p:cNvPr>
          <p:cNvSpPr txBox="1"/>
          <p:nvPr/>
        </p:nvSpPr>
        <p:spPr>
          <a:xfrm>
            <a:off x="457995" y="1047902"/>
            <a:ext cx="8992870" cy="228600"/>
          </a:xfrm>
          <a:prstGeom prst="rect">
            <a:avLst/>
          </a:prstGeom>
          <a:noFill/>
          <a:ln/>
        </p:spPr>
        <p:txBody>
          <a:bodyPr wrap="none" lIns="0" tIns="0" rIns="0" bIns="0" rtlCol="0" anchor="ctr"/>
          <a:lstStyle/>
          <a:p>
            <a:pPr defTabSz="925880"/>
            <a:r>
              <a:rPr lang="en-US" sz="2000" dirty="0">
                <a:solidFill>
                  <a:srgbClr val="404040"/>
                </a:solidFill>
                <a:latin typeface="+mn-ea"/>
              </a:rPr>
              <a:t>「</a:t>
            </a:r>
            <a:r>
              <a:rPr lang="en-US" sz="2000" dirty="0" err="1">
                <a:solidFill>
                  <a:srgbClr val="404040"/>
                </a:solidFill>
                <a:latin typeface="+mn-ea"/>
              </a:rPr>
              <a:t>作業」から「ディレクション」へ</a:t>
            </a:r>
            <a:r>
              <a:rPr lang="en-US" sz="2000" dirty="0">
                <a:solidFill>
                  <a:srgbClr val="404040"/>
                </a:solidFill>
                <a:latin typeface="+mn-ea"/>
              </a:rPr>
              <a:t> ── </a:t>
            </a:r>
            <a:r>
              <a:rPr lang="en-US" sz="2000" dirty="0" err="1">
                <a:solidFill>
                  <a:srgbClr val="404040"/>
                </a:solidFill>
                <a:latin typeface="+mn-ea"/>
              </a:rPr>
              <a:t>AI時代の働き方の変化</a:t>
            </a:r>
            <a:endParaRPr lang="en-US" sz="2000" dirty="0">
              <a:solidFill>
                <a:srgbClr val="404040"/>
              </a:solidFill>
              <a:latin typeface="+mn-ea"/>
            </a:endParaRPr>
          </a:p>
        </p:txBody>
      </p:sp>
      <p:sp>
        <p:nvSpPr>
          <p:cNvPr id="19" name="Text 8">
            <a:extLst>
              <a:ext uri="{FF2B5EF4-FFF2-40B4-BE49-F238E27FC236}">
                <a16:creationId xmlns:a16="http://schemas.microsoft.com/office/drawing/2014/main" id="{F52CCCE8-9369-A027-F9EA-5DAC8E34C82A}"/>
              </a:ext>
            </a:extLst>
          </p:cNvPr>
          <p:cNvSpPr txBox="1"/>
          <p:nvPr/>
        </p:nvSpPr>
        <p:spPr>
          <a:xfrm>
            <a:off x="610700" y="1714501"/>
            <a:ext cx="8992870"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自らデータを「生成」するAI</a:t>
            </a:r>
            <a:endParaRPr lang="en-US" sz="2000" dirty="0">
              <a:solidFill>
                <a:srgbClr val="000000"/>
              </a:solidFill>
              <a:latin typeface="+mn-ea"/>
            </a:endParaRPr>
          </a:p>
        </p:txBody>
      </p:sp>
      <p:sp>
        <p:nvSpPr>
          <p:cNvPr id="21" name="Text 9">
            <a:extLst>
              <a:ext uri="{FF2B5EF4-FFF2-40B4-BE49-F238E27FC236}">
                <a16:creationId xmlns:a16="http://schemas.microsoft.com/office/drawing/2014/main" id="{58711512-E998-5DD6-1BA7-5070BD7206E8}"/>
              </a:ext>
            </a:extLst>
          </p:cNvPr>
          <p:cNvSpPr txBox="1"/>
          <p:nvPr/>
        </p:nvSpPr>
        <p:spPr>
          <a:xfrm>
            <a:off x="610700" y="2095805"/>
            <a:ext cx="8840697" cy="762610"/>
          </a:xfrm>
          <a:prstGeom prst="rect">
            <a:avLst/>
          </a:prstGeom>
          <a:noFill/>
          <a:ln/>
        </p:spPr>
        <p:txBody>
          <a:bodyPr wrap="square" lIns="0" tIns="0" rIns="0" bIns="0" rtlCol="0" anchor="ctr"/>
          <a:lstStyle/>
          <a:p>
            <a:pPr defTabSz="925880"/>
            <a:r>
              <a:rPr lang="en-US" sz="2000" dirty="0">
                <a:solidFill>
                  <a:srgbClr val="333333"/>
                </a:solidFill>
                <a:latin typeface="+mn-ea"/>
                <a:cs typeface="游ゴシック" pitchFamily="34" charset="-120"/>
              </a:rPr>
              <a:t>学習した膨大なデータをもとに、</a:t>
            </a:r>
            <a:r>
              <a:rPr lang="en-US" sz="2000" b="1" dirty="0">
                <a:solidFill>
                  <a:srgbClr val="E60012"/>
                </a:solidFill>
                <a:latin typeface="+mn-ea"/>
                <a:cs typeface="游ゴシック" pitchFamily="34" charset="-120"/>
              </a:rPr>
              <a:t>テキスト、画像、音声</a:t>
            </a:r>
            <a:r>
              <a:rPr lang="en-US" sz="2000" dirty="0">
                <a:solidFill>
                  <a:srgbClr val="333333"/>
                </a:solidFill>
                <a:latin typeface="+mn-ea"/>
                <a:cs typeface="游ゴシック" pitchFamily="34" charset="-120"/>
              </a:rPr>
              <a:t>などを新しく生み出すAIのことです。</a:t>
            </a:r>
            <a:endParaRPr lang="en-US" sz="2000" dirty="0">
              <a:solidFill>
                <a:srgbClr val="000000"/>
              </a:solidFill>
              <a:latin typeface="+mn-ea"/>
            </a:endParaRPr>
          </a:p>
        </p:txBody>
      </p:sp>
      <p:sp>
        <p:nvSpPr>
          <p:cNvPr id="23" name="Text 10">
            <a:extLst>
              <a:ext uri="{FF2B5EF4-FFF2-40B4-BE49-F238E27FC236}">
                <a16:creationId xmlns:a16="http://schemas.microsoft.com/office/drawing/2014/main" id="{B5CEAF46-5127-6EE5-5106-7655261BA5C7}"/>
              </a:ext>
            </a:extLst>
          </p:cNvPr>
          <p:cNvSpPr txBox="1"/>
          <p:nvPr/>
        </p:nvSpPr>
        <p:spPr>
          <a:xfrm>
            <a:off x="610700" y="3286355"/>
            <a:ext cx="8992870"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自然言語インターフェース</a:t>
            </a:r>
            <a:endParaRPr lang="en-US" sz="2000" dirty="0">
              <a:solidFill>
                <a:srgbClr val="000000"/>
              </a:solidFill>
              <a:latin typeface="+mn-ea"/>
            </a:endParaRPr>
          </a:p>
        </p:txBody>
      </p:sp>
      <p:sp>
        <p:nvSpPr>
          <p:cNvPr id="25" name="Text 11">
            <a:extLst>
              <a:ext uri="{FF2B5EF4-FFF2-40B4-BE49-F238E27FC236}">
                <a16:creationId xmlns:a16="http://schemas.microsoft.com/office/drawing/2014/main" id="{A8C2B6FD-02E5-4938-2751-3D20AAAA4C8E}"/>
              </a:ext>
            </a:extLst>
          </p:cNvPr>
          <p:cNvSpPr txBox="1"/>
          <p:nvPr/>
        </p:nvSpPr>
        <p:spPr>
          <a:xfrm>
            <a:off x="610700" y="3666744"/>
            <a:ext cx="8840697" cy="762610"/>
          </a:xfrm>
          <a:prstGeom prst="rect">
            <a:avLst/>
          </a:prstGeom>
          <a:noFill/>
          <a:ln/>
        </p:spPr>
        <p:txBody>
          <a:bodyPr wrap="square" lIns="0" tIns="0" rIns="0" bIns="0" rtlCol="0" anchor="ctr"/>
          <a:lstStyle/>
          <a:p>
            <a:pPr defTabSz="925880"/>
            <a:r>
              <a:rPr lang="en-US" sz="2000" dirty="0" err="1">
                <a:solidFill>
                  <a:srgbClr val="333333"/>
                </a:solidFill>
                <a:latin typeface="+mn-ea"/>
                <a:cs typeface="游ゴシック" pitchFamily="34" charset="-120"/>
              </a:rPr>
              <a:t>人間が普段使っている言葉（日本語や英語）で指示を出すだけで</a:t>
            </a:r>
            <a:r>
              <a:rPr lang="en-US" sz="2000" dirty="0">
                <a:solidFill>
                  <a:srgbClr val="333333"/>
                </a:solidFill>
                <a:latin typeface="+mn-ea"/>
                <a:cs typeface="游ゴシック" pitchFamily="34" charset="-120"/>
              </a:rPr>
              <a:t>、</a:t>
            </a:r>
          </a:p>
          <a:p>
            <a:pPr defTabSz="925880"/>
            <a:r>
              <a:rPr lang="en-US" sz="2000" dirty="0" err="1">
                <a:solidFill>
                  <a:srgbClr val="333333"/>
                </a:solidFill>
                <a:latin typeface="+mn-ea"/>
                <a:cs typeface="游ゴシック" pitchFamily="34" charset="-120"/>
              </a:rPr>
              <a:t>高度な処理を実行できます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27" name="Text 12">
            <a:extLst>
              <a:ext uri="{FF2B5EF4-FFF2-40B4-BE49-F238E27FC236}">
                <a16:creationId xmlns:a16="http://schemas.microsoft.com/office/drawing/2014/main" id="{3D5E867E-0B09-3C3F-C960-4FC7F2228524}"/>
              </a:ext>
            </a:extLst>
          </p:cNvPr>
          <p:cNvSpPr txBox="1"/>
          <p:nvPr/>
        </p:nvSpPr>
        <p:spPr>
          <a:xfrm>
            <a:off x="610700" y="4858208"/>
            <a:ext cx="8992870" cy="286207"/>
          </a:xfrm>
          <a:prstGeom prst="rect">
            <a:avLst/>
          </a:prstGeom>
          <a:noFill/>
          <a:ln/>
        </p:spPr>
        <p:txBody>
          <a:bodyPr wrap="none" lIns="0" tIns="0" rIns="0" bIns="0" rtlCol="0" anchor="ctr"/>
          <a:lstStyle/>
          <a:p>
            <a:pPr defTabSz="925880"/>
            <a:r>
              <a:rPr lang="en-US" sz="2000" b="1" dirty="0">
                <a:solidFill>
                  <a:srgbClr val="E60012"/>
                </a:solidFill>
                <a:latin typeface="+mn-ea"/>
                <a:cs typeface="游ゴシック" pitchFamily="34" charset="-120"/>
              </a:rPr>
              <a:t>◆ 「作業」から「ディレクション」へ</a:t>
            </a:r>
            <a:endParaRPr lang="en-US" sz="2000" dirty="0">
              <a:solidFill>
                <a:srgbClr val="000000"/>
              </a:solidFill>
              <a:latin typeface="+mn-ea"/>
            </a:endParaRPr>
          </a:p>
        </p:txBody>
      </p:sp>
      <p:sp>
        <p:nvSpPr>
          <p:cNvPr id="29" name="Text 13">
            <a:extLst>
              <a:ext uri="{FF2B5EF4-FFF2-40B4-BE49-F238E27FC236}">
                <a16:creationId xmlns:a16="http://schemas.microsoft.com/office/drawing/2014/main" id="{2786F0A9-562C-D3CA-4999-BB99E89937BE}"/>
              </a:ext>
            </a:extLst>
          </p:cNvPr>
          <p:cNvSpPr txBox="1"/>
          <p:nvPr/>
        </p:nvSpPr>
        <p:spPr>
          <a:xfrm>
            <a:off x="610700" y="5238598"/>
            <a:ext cx="8840697" cy="762610"/>
          </a:xfrm>
          <a:prstGeom prst="rect">
            <a:avLst/>
          </a:prstGeom>
          <a:noFill/>
          <a:ln/>
        </p:spPr>
        <p:txBody>
          <a:bodyPr wrap="square" lIns="0" tIns="0" rIns="0" bIns="0" rtlCol="0" anchor="ctr"/>
          <a:lstStyle/>
          <a:p>
            <a:pPr defTabSz="925880"/>
            <a:r>
              <a:rPr lang="en-US" sz="2000" dirty="0">
                <a:solidFill>
                  <a:srgbClr val="333333"/>
                </a:solidFill>
                <a:latin typeface="+mn-ea"/>
                <a:cs typeface="游ゴシック" pitchFamily="34" charset="-120"/>
              </a:rPr>
              <a:t>人間が手を動かす時代から、</a:t>
            </a:r>
            <a:r>
              <a:rPr lang="en-US" sz="2000" b="1" dirty="0">
                <a:solidFill>
                  <a:srgbClr val="E60012"/>
                </a:solidFill>
                <a:latin typeface="+mn-ea"/>
                <a:cs typeface="游ゴシック" pitchFamily="34" charset="-120"/>
              </a:rPr>
              <a:t>AIにどう指示を出すか</a:t>
            </a:r>
            <a:r>
              <a:rPr lang="en-US" sz="2000" dirty="0">
                <a:solidFill>
                  <a:srgbClr val="333333"/>
                </a:solidFill>
                <a:latin typeface="+mn-ea"/>
                <a:cs typeface="游ゴシック" pitchFamily="34" charset="-120"/>
              </a:rPr>
              <a:t>を考える時代へ変化しています。</a:t>
            </a:r>
            <a:endParaRPr lang="en-US" sz="2000" dirty="0">
              <a:solidFill>
                <a:srgbClr val="000000"/>
              </a:solidFill>
              <a:latin typeface="+mn-ea"/>
            </a:endParaRPr>
          </a:p>
        </p:txBody>
      </p:sp>
    </p:spTree>
    <p:extLst>
      <p:ext uri="{BB962C8B-B14F-4D97-AF65-F5344CB8AC3E}">
        <p14:creationId xmlns:p14="http://schemas.microsoft.com/office/powerpoint/2010/main" val="2224681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D0AD5-C7E5-D0CB-02A3-A5DB116E51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C5C926-B89E-50D3-C8B7-A078D1EB7C76}"/>
              </a:ext>
            </a:extLst>
          </p:cNvPr>
          <p:cNvSpPr>
            <a:spLocks noGrp="1"/>
          </p:cNvSpPr>
          <p:nvPr>
            <p:ph type="title"/>
          </p:nvPr>
        </p:nvSpPr>
        <p:spPr/>
        <p:txBody>
          <a:bodyPr>
            <a:normAutofit/>
          </a:bodyPr>
          <a:lstStyle/>
          <a:p>
            <a:r>
              <a:rPr lang="en-US" altLang="ja-JP" dirty="0">
                <a:latin typeface="+mn-ea"/>
                <a:ea typeface="+mn-ea"/>
              </a:rPr>
              <a:t>2-2.</a:t>
            </a:r>
            <a:r>
              <a:rPr lang="ja-JP" altLang="en-US" dirty="0">
                <a:latin typeface="+mn-ea"/>
                <a:ea typeface="+mn-ea"/>
              </a:rPr>
              <a:t> 従来型</a:t>
            </a:r>
            <a:r>
              <a:rPr lang="en-US" altLang="ja-JP" dirty="0">
                <a:latin typeface="+mn-ea"/>
                <a:ea typeface="+mn-ea"/>
              </a:rPr>
              <a:t>AI</a:t>
            </a:r>
            <a:r>
              <a:rPr lang="ja-JP" altLang="en-US" dirty="0">
                <a:latin typeface="+mn-ea"/>
                <a:ea typeface="+mn-ea"/>
              </a:rPr>
              <a:t>と生成</a:t>
            </a:r>
            <a:r>
              <a:rPr lang="en-US" altLang="ja-JP" dirty="0">
                <a:latin typeface="+mn-ea"/>
                <a:ea typeface="+mn-ea"/>
              </a:rPr>
              <a:t>AI</a:t>
            </a:r>
            <a:r>
              <a:rPr lang="ja-JP" altLang="en-US" dirty="0">
                <a:latin typeface="+mn-ea"/>
                <a:ea typeface="+mn-ea"/>
              </a:rPr>
              <a:t>の比較</a:t>
            </a:r>
          </a:p>
        </p:txBody>
      </p:sp>
      <p:sp>
        <p:nvSpPr>
          <p:cNvPr id="5" name="Shape 0">
            <a:extLst>
              <a:ext uri="{FF2B5EF4-FFF2-40B4-BE49-F238E27FC236}">
                <a16:creationId xmlns:a16="http://schemas.microsoft.com/office/drawing/2014/main" id="{E734F332-A423-9C65-9A30-CFDCFF27F497}"/>
              </a:ext>
            </a:extLst>
          </p:cNvPr>
          <p:cNvSpPr/>
          <p:nvPr/>
        </p:nvSpPr>
        <p:spPr>
          <a:xfrm>
            <a:off x="382099" y="1429208"/>
            <a:ext cx="4574008" cy="4858207"/>
          </a:xfrm>
          <a:prstGeom prst="roundRect">
            <a:avLst>
              <a:gd name="adj" fmla="val 791"/>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8" name="Shape 1">
            <a:extLst>
              <a:ext uri="{FF2B5EF4-FFF2-40B4-BE49-F238E27FC236}">
                <a16:creationId xmlns:a16="http://schemas.microsoft.com/office/drawing/2014/main" id="{93EB4BF2-D38F-3A65-1EAD-395E26CAB1A0}"/>
              </a:ext>
            </a:extLst>
          </p:cNvPr>
          <p:cNvSpPr/>
          <p:nvPr/>
        </p:nvSpPr>
        <p:spPr>
          <a:xfrm>
            <a:off x="5145822" y="1429208"/>
            <a:ext cx="4574008" cy="4858207"/>
          </a:xfrm>
          <a:prstGeom prst="roundRect">
            <a:avLst>
              <a:gd name="adj" fmla="val 791"/>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2" name="Image 0" descr="gen-dedup-95738481a58666960e1015b639d8f72e.png">
            <a:extLst>
              <a:ext uri="{FF2B5EF4-FFF2-40B4-BE49-F238E27FC236}">
                <a16:creationId xmlns:a16="http://schemas.microsoft.com/office/drawing/2014/main" id="{B859145F-79CC-A072-51B3-503620669E31}"/>
              </a:ext>
            </a:extLst>
          </p:cNvPr>
          <p:cNvPicPr>
            <a:picLocks noChangeAspect="1"/>
          </p:cNvPicPr>
          <p:nvPr/>
        </p:nvPicPr>
        <p:blipFill>
          <a:blip r:embed="rId2"/>
          <a:srcRect t="-401" b="-401"/>
          <a:stretch/>
        </p:blipFill>
        <p:spPr>
          <a:xfrm>
            <a:off x="572295" y="2018995"/>
            <a:ext cx="4263667" cy="19202"/>
          </a:xfrm>
          <a:prstGeom prst="rect">
            <a:avLst/>
          </a:prstGeom>
        </p:spPr>
      </p:pic>
      <p:sp>
        <p:nvSpPr>
          <p:cNvPr id="16" name="Shape 2">
            <a:extLst>
              <a:ext uri="{FF2B5EF4-FFF2-40B4-BE49-F238E27FC236}">
                <a16:creationId xmlns:a16="http://schemas.microsoft.com/office/drawing/2014/main" id="{6156521D-F440-B342-19AB-DF5FF7D8B5F3}"/>
              </a:ext>
            </a:extLst>
          </p:cNvPr>
          <p:cNvSpPr/>
          <p:nvPr/>
        </p:nvSpPr>
        <p:spPr>
          <a:xfrm>
            <a:off x="572295" y="2190902"/>
            <a:ext cx="4263667" cy="342900"/>
          </a:xfrm>
          <a:prstGeom prst="roundRect">
            <a:avLst>
              <a:gd name="adj" fmla="val 50133"/>
            </a:avLst>
          </a:prstGeom>
          <a:solidFill>
            <a:srgbClr val="DDDDDD"/>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20" name="Shape 3">
            <a:extLst>
              <a:ext uri="{FF2B5EF4-FFF2-40B4-BE49-F238E27FC236}">
                <a16:creationId xmlns:a16="http://schemas.microsoft.com/office/drawing/2014/main" id="{6B53C712-10D1-ECC0-FE44-3F8BE51D00D2}"/>
              </a:ext>
            </a:extLst>
          </p:cNvPr>
          <p:cNvSpPr/>
          <p:nvPr/>
        </p:nvSpPr>
        <p:spPr>
          <a:xfrm>
            <a:off x="572295" y="4858207"/>
            <a:ext cx="4263667" cy="1238098"/>
          </a:xfrm>
          <a:prstGeom prst="roundRect">
            <a:avLst>
              <a:gd name="adj" fmla="val 6130"/>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24" name="Image 1" descr="gen-dedup-151e4f36a52956d6b816810960a72816.png">
            <a:extLst>
              <a:ext uri="{FF2B5EF4-FFF2-40B4-BE49-F238E27FC236}">
                <a16:creationId xmlns:a16="http://schemas.microsoft.com/office/drawing/2014/main" id="{585B631E-7B06-D0EB-DBD4-C11A952FDB3D}"/>
              </a:ext>
            </a:extLst>
          </p:cNvPr>
          <p:cNvPicPr>
            <a:picLocks noChangeAspect="1"/>
          </p:cNvPicPr>
          <p:nvPr/>
        </p:nvPicPr>
        <p:blipFill>
          <a:blip r:embed="rId3"/>
          <a:srcRect t="-401" b="-401"/>
          <a:stretch/>
        </p:blipFill>
        <p:spPr>
          <a:xfrm>
            <a:off x="5336019" y="2018995"/>
            <a:ext cx="4263667" cy="19202"/>
          </a:xfrm>
          <a:prstGeom prst="rect">
            <a:avLst/>
          </a:prstGeom>
        </p:spPr>
      </p:pic>
      <p:sp>
        <p:nvSpPr>
          <p:cNvPr id="28" name="Shape 4">
            <a:extLst>
              <a:ext uri="{FF2B5EF4-FFF2-40B4-BE49-F238E27FC236}">
                <a16:creationId xmlns:a16="http://schemas.microsoft.com/office/drawing/2014/main" id="{436536B6-29E2-5BB5-C196-D5CFD14E89BC}"/>
              </a:ext>
            </a:extLst>
          </p:cNvPr>
          <p:cNvSpPr/>
          <p:nvPr/>
        </p:nvSpPr>
        <p:spPr>
          <a:xfrm>
            <a:off x="5336019" y="2190902"/>
            <a:ext cx="4263667" cy="342900"/>
          </a:xfrm>
          <a:prstGeom prst="roundRect">
            <a:avLst>
              <a:gd name="adj" fmla="val 50133"/>
            </a:avLst>
          </a:prstGeom>
          <a:solidFill>
            <a:srgbClr val="FCD34D"/>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1" name="Shape 5">
            <a:extLst>
              <a:ext uri="{FF2B5EF4-FFF2-40B4-BE49-F238E27FC236}">
                <a16:creationId xmlns:a16="http://schemas.microsoft.com/office/drawing/2014/main" id="{6B576E2A-C411-97FA-CA2C-19131B7D0CF6}"/>
              </a:ext>
            </a:extLst>
          </p:cNvPr>
          <p:cNvSpPr/>
          <p:nvPr/>
        </p:nvSpPr>
        <p:spPr>
          <a:xfrm>
            <a:off x="5336019" y="4858207"/>
            <a:ext cx="4263667" cy="1238098"/>
          </a:xfrm>
          <a:prstGeom prst="roundRect">
            <a:avLst>
              <a:gd name="adj" fmla="val 6130"/>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3" name="Text 9">
            <a:extLst>
              <a:ext uri="{FF2B5EF4-FFF2-40B4-BE49-F238E27FC236}">
                <a16:creationId xmlns:a16="http://schemas.microsoft.com/office/drawing/2014/main" id="{6D976E1C-CA75-EC2B-D4BD-6D9948A81486}"/>
              </a:ext>
            </a:extLst>
          </p:cNvPr>
          <p:cNvSpPr txBox="1"/>
          <p:nvPr/>
        </p:nvSpPr>
        <p:spPr>
          <a:xfrm>
            <a:off x="457995" y="1047902"/>
            <a:ext cx="9301500" cy="228600"/>
          </a:xfrm>
          <a:prstGeom prst="rect">
            <a:avLst/>
          </a:prstGeom>
          <a:noFill/>
          <a:ln/>
        </p:spPr>
        <p:txBody>
          <a:bodyPr wrap="none" lIns="0" tIns="0" rIns="0" bIns="0" rtlCol="0" anchor="ctr"/>
          <a:lstStyle/>
          <a:p>
            <a:pPr defTabSz="925880"/>
            <a:r>
              <a:rPr lang="en-US" sz="2000" dirty="0">
                <a:solidFill>
                  <a:srgbClr val="404040"/>
                </a:solidFill>
                <a:latin typeface="+mn-ea"/>
              </a:rPr>
              <a:t>「</a:t>
            </a:r>
            <a:r>
              <a:rPr lang="en-US" sz="2000" dirty="0" err="1">
                <a:solidFill>
                  <a:srgbClr val="404040"/>
                </a:solidFill>
                <a:latin typeface="+mn-ea"/>
              </a:rPr>
              <a:t>判断するAI」から「作り出すAI」へ</a:t>
            </a:r>
            <a:endParaRPr lang="en-US" sz="2000" dirty="0">
              <a:solidFill>
                <a:srgbClr val="404040"/>
              </a:solidFill>
              <a:latin typeface="+mn-ea"/>
            </a:endParaRPr>
          </a:p>
        </p:txBody>
      </p:sp>
      <p:sp>
        <p:nvSpPr>
          <p:cNvPr id="35" name="Text 10">
            <a:extLst>
              <a:ext uri="{FF2B5EF4-FFF2-40B4-BE49-F238E27FC236}">
                <a16:creationId xmlns:a16="http://schemas.microsoft.com/office/drawing/2014/main" id="{05D2CCBB-1858-25C9-D2A8-C3BE92FBE052}"/>
              </a:ext>
            </a:extLst>
          </p:cNvPr>
          <p:cNvSpPr txBox="1"/>
          <p:nvPr/>
        </p:nvSpPr>
        <p:spPr>
          <a:xfrm>
            <a:off x="572295" y="1619402"/>
            <a:ext cx="4264411" cy="342900"/>
          </a:xfrm>
          <a:prstGeom prst="rect">
            <a:avLst/>
          </a:prstGeom>
          <a:noFill/>
          <a:ln/>
        </p:spPr>
        <p:txBody>
          <a:bodyPr wrap="none" lIns="0" tIns="0" rIns="0" bIns="0" rtlCol="0" anchor="ctr"/>
          <a:lstStyle/>
          <a:p>
            <a:pPr algn="ctr" defTabSz="925880"/>
            <a:r>
              <a:rPr lang="en-US" sz="2000" b="1" dirty="0">
                <a:solidFill>
                  <a:srgbClr val="333333"/>
                </a:solidFill>
                <a:latin typeface="+mn-ea"/>
                <a:cs typeface="游ゴシック" pitchFamily="34" charset="-120"/>
              </a:rPr>
              <a:t>従来のAI（識別型AI）</a:t>
            </a:r>
            <a:endParaRPr lang="en-US" sz="2000" dirty="0">
              <a:solidFill>
                <a:srgbClr val="000000"/>
              </a:solidFill>
              <a:latin typeface="+mn-ea"/>
            </a:endParaRPr>
          </a:p>
        </p:txBody>
      </p:sp>
      <p:sp>
        <p:nvSpPr>
          <p:cNvPr id="37" name="Text 11">
            <a:extLst>
              <a:ext uri="{FF2B5EF4-FFF2-40B4-BE49-F238E27FC236}">
                <a16:creationId xmlns:a16="http://schemas.microsoft.com/office/drawing/2014/main" id="{32307ACA-D603-F57A-9B37-8073F2880015}"/>
              </a:ext>
            </a:extLst>
          </p:cNvPr>
          <p:cNvSpPr txBox="1"/>
          <p:nvPr/>
        </p:nvSpPr>
        <p:spPr>
          <a:xfrm>
            <a:off x="572295" y="2190902"/>
            <a:ext cx="4264411" cy="342900"/>
          </a:xfrm>
          <a:prstGeom prst="rect">
            <a:avLst/>
          </a:prstGeom>
          <a:noFill/>
          <a:ln/>
        </p:spPr>
        <p:txBody>
          <a:bodyPr wrap="none" lIns="0" tIns="0" rIns="0" bIns="0" rtlCol="0" anchor="ctr"/>
          <a:lstStyle/>
          <a:p>
            <a:pPr algn="ctr" defTabSz="925880"/>
            <a:r>
              <a:rPr lang="en-US" sz="2000" b="1" dirty="0">
                <a:solidFill>
                  <a:srgbClr val="333333"/>
                </a:solidFill>
                <a:latin typeface="+mn-ea"/>
                <a:cs typeface="游ゴシック" pitchFamily="34" charset="-120"/>
              </a:rPr>
              <a:t>目的：データの分類・予測</a:t>
            </a:r>
            <a:endParaRPr lang="en-US" sz="2000" dirty="0">
              <a:solidFill>
                <a:srgbClr val="000000"/>
              </a:solidFill>
              <a:latin typeface="+mn-ea"/>
            </a:endParaRPr>
          </a:p>
        </p:txBody>
      </p:sp>
      <p:sp>
        <p:nvSpPr>
          <p:cNvPr id="39" name="Text 12">
            <a:extLst>
              <a:ext uri="{FF2B5EF4-FFF2-40B4-BE49-F238E27FC236}">
                <a16:creationId xmlns:a16="http://schemas.microsoft.com/office/drawing/2014/main" id="{A38DB877-4C28-18A4-7718-DE712D9B6C56}"/>
              </a:ext>
            </a:extLst>
          </p:cNvPr>
          <p:cNvSpPr txBox="1"/>
          <p:nvPr/>
        </p:nvSpPr>
        <p:spPr>
          <a:xfrm>
            <a:off x="762490" y="2688336"/>
            <a:ext cx="4108867" cy="1884578"/>
          </a:xfrm>
          <a:prstGeom prst="rect">
            <a:avLst/>
          </a:prstGeom>
          <a:noFill/>
          <a:ln/>
        </p:spPr>
        <p:txBody>
          <a:bodyPr wrap="square" lIns="0" tIns="0" rIns="0" bIns="0" rtlCol="0" anchor="t"/>
          <a:lstStyle/>
          <a:p>
            <a:pPr defTabSz="925880">
              <a:lnSpc>
                <a:spcPts val="2730"/>
              </a:lnSpc>
            </a:pPr>
            <a:r>
              <a:rPr lang="en-US" sz="2000" dirty="0">
                <a:solidFill>
                  <a:srgbClr val="333333"/>
                </a:solidFill>
                <a:latin typeface="+mn-ea"/>
                <a:cs typeface="游ゴシック" pitchFamily="34" charset="-120"/>
              </a:rPr>
              <a:t>・迷惑メールの自動振り分け</a:t>
            </a:r>
            <a:endParaRPr lang="en-US" sz="2000" dirty="0">
              <a:solidFill>
                <a:srgbClr val="000000"/>
              </a:solidFill>
              <a:latin typeface="+mn-ea"/>
            </a:endParaRPr>
          </a:p>
          <a:p>
            <a:pPr defTabSz="925880">
              <a:lnSpc>
                <a:spcPts val="2730"/>
              </a:lnSpc>
            </a:pPr>
            <a:r>
              <a:rPr lang="en-US" sz="2000" dirty="0">
                <a:solidFill>
                  <a:srgbClr val="333333"/>
                </a:solidFill>
                <a:latin typeface="+mn-ea"/>
                <a:cs typeface="游ゴシック" pitchFamily="34" charset="-120"/>
              </a:rPr>
              <a:t>・画像に写っているのが犬か猫かの判定</a:t>
            </a:r>
            <a:endParaRPr lang="en-US" sz="2000" dirty="0">
              <a:solidFill>
                <a:srgbClr val="000000"/>
              </a:solidFill>
              <a:latin typeface="+mn-ea"/>
            </a:endParaRPr>
          </a:p>
          <a:p>
            <a:pPr defTabSz="925880">
              <a:lnSpc>
                <a:spcPts val="2730"/>
              </a:lnSpc>
            </a:pPr>
            <a:r>
              <a:rPr lang="en-US" sz="2000" dirty="0">
                <a:solidFill>
                  <a:srgbClr val="333333"/>
                </a:solidFill>
                <a:latin typeface="+mn-ea"/>
                <a:cs typeface="游ゴシック" pitchFamily="34" charset="-120"/>
              </a:rPr>
              <a:t>・過去のデータに基づく売上予測</a:t>
            </a:r>
            <a:endParaRPr lang="en-US" sz="2000" dirty="0">
              <a:solidFill>
                <a:srgbClr val="000000"/>
              </a:solidFill>
              <a:latin typeface="+mn-ea"/>
            </a:endParaRPr>
          </a:p>
        </p:txBody>
      </p:sp>
      <p:sp>
        <p:nvSpPr>
          <p:cNvPr id="41" name="Text 13">
            <a:extLst>
              <a:ext uri="{FF2B5EF4-FFF2-40B4-BE49-F238E27FC236}">
                <a16:creationId xmlns:a16="http://schemas.microsoft.com/office/drawing/2014/main" id="{3C45E843-65D8-149C-98AC-0755F0C399E2}"/>
              </a:ext>
            </a:extLst>
          </p:cNvPr>
          <p:cNvSpPr txBox="1"/>
          <p:nvPr/>
        </p:nvSpPr>
        <p:spPr>
          <a:xfrm>
            <a:off x="762490" y="5009998"/>
            <a:ext cx="3954069" cy="228600"/>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特徴</a:t>
            </a:r>
            <a:endParaRPr lang="en-US" sz="2000" dirty="0">
              <a:solidFill>
                <a:srgbClr val="000000"/>
              </a:solidFill>
              <a:latin typeface="+mn-ea"/>
            </a:endParaRPr>
          </a:p>
        </p:txBody>
      </p:sp>
      <p:sp>
        <p:nvSpPr>
          <p:cNvPr id="43" name="Text 14">
            <a:extLst>
              <a:ext uri="{FF2B5EF4-FFF2-40B4-BE49-F238E27FC236}">
                <a16:creationId xmlns:a16="http://schemas.microsoft.com/office/drawing/2014/main" id="{595282F8-AD27-482D-CAC7-C18459CFB695}"/>
              </a:ext>
            </a:extLst>
          </p:cNvPr>
          <p:cNvSpPr txBox="1"/>
          <p:nvPr/>
        </p:nvSpPr>
        <p:spPr>
          <a:xfrm>
            <a:off x="762490" y="5370929"/>
            <a:ext cx="3954069" cy="887882"/>
          </a:xfrm>
          <a:prstGeom prst="rect">
            <a:avLst/>
          </a:prstGeom>
          <a:noFill/>
          <a:ln/>
        </p:spPr>
        <p:txBody>
          <a:bodyPr wrap="square" lIns="0" tIns="0" rIns="0" bIns="0" rtlCol="0" anchor="t"/>
          <a:lstStyle/>
          <a:p>
            <a:pPr defTabSz="925880">
              <a:lnSpc>
                <a:spcPts val="1920"/>
              </a:lnSpc>
            </a:pPr>
            <a:r>
              <a:rPr lang="en-US" sz="2000" dirty="0">
                <a:solidFill>
                  <a:srgbClr val="333333"/>
                </a:solidFill>
                <a:latin typeface="+mn-ea"/>
                <a:cs typeface="游ゴシック" pitchFamily="34" charset="-120"/>
              </a:rPr>
              <a:t>従来AIは</a:t>
            </a:r>
            <a:r>
              <a:rPr lang="en-US" sz="2000" b="1" dirty="0">
                <a:solidFill>
                  <a:srgbClr val="333333"/>
                </a:solidFill>
                <a:latin typeface="+mn-ea"/>
                <a:cs typeface="游ゴシック" pitchFamily="34" charset="-120"/>
              </a:rPr>
              <a:t>「判断するAI」</a:t>
            </a:r>
            <a:r>
              <a:rPr lang="en-US" sz="2000" dirty="0">
                <a:solidFill>
                  <a:srgbClr val="333333"/>
                </a:solidFill>
                <a:latin typeface="+mn-ea"/>
                <a:cs typeface="游ゴシック" pitchFamily="34" charset="-120"/>
              </a:rPr>
              <a:t>。</a:t>
            </a:r>
            <a:endParaRPr lang="en-US" sz="2000" dirty="0">
              <a:solidFill>
                <a:srgbClr val="000000"/>
              </a:solidFill>
              <a:latin typeface="+mn-ea"/>
            </a:endParaRPr>
          </a:p>
          <a:p>
            <a:pPr defTabSz="925880">
              <a:lnSpc>
                <a:spcPts val="1920"/>
              </a:lnSpc>
            </a:pPr>
            <a:r>
              <a:rPr lang="en-US" sz="2000" dirty="0">
                <a:solidFill>
                  <a:srgbClr val="333333"/>
                </a:solidFill>
                <a:latin typeface="+mn-ea"/>
                <a:cs typeface="游ゴシック" pitchFamily="34" charset="-120"/>
              </a:rPr>
              <a:t>すでにあるデータを見て</a:t>
            </a:r>
            <a:endParaRPr lang="en-US" sz="2000" dirty="0">
              <a:solidFill>
                <a:srgbClr val="000000"/>
              </a:solidFill>
              <a:latin typeface="+mn-ea"/>
            </a:endParaRPr>
          </a:p>
          <a:p>
            <a:pPr defTabSz="925880">
              <a:lnSpc>
                <a:spcPts val="1920"/>
              </a:lnSpc>
            </a:pPr>
            <a:r>
              <a:rPr lang="en-US" sz="2000" dirty="0">
                <a:solidFill>
                  <a:srgbClr val="333333"/>
                </a:solidFill>
                <a:latin typeface="+mn-ea"/>
                <a:cs typeface="游ゴシック" pitchFamily="34" charset="-120"/>
              </a:rPr>
              <a:t>「これは何か？」を答える。</a:t>
            </a:r>
            <a:endParaRPr lang="en-US" sz="2000" dirty="0">
              <a:solidFill>
                <a:srgbClr val="000000"/>
              </a:solidFill>
              <a:latin typeface="+mn-ea"/>
            </a:endParaRPr>
          </a:p>
        </p:txBody>
      </p:sp>
      <p:sp>
        <p:nvSpPr>
          <p:cNvPr id="45" name="Text 15">
            <a:extLst>
              <a:ext uri="{FF2B5EF4-FFF2-40B4-BE49-F238E27FC236}">
                <a16:creationId xmlns:a16="http://schemas.microsoft.com/office/drawing/2014/main" id="{9D6BAFD5-8502-69CC-1E1B-08AA9C7D6834}"/>
              </a:ext>
            </a:extLst>
          </p:cNvPr>
          <p:cNvSpPr txBox="1"/>
          <p:nvPr/>
        </p:nvSpPr>
        <p:spPr>
          <a:xfrm>
            <a:off x="5336019" y="1619402"/>
            <a:ext cx="4264411" cy="342900"/>
          </a:xfrm>
          <a:prstGeom prst="rect">
            <a:avLst/>
          </a:prstGeom>
          <a:noFill/>
          <a:ln/>
        </p:spPr>
        <p:txBody>
          <a:bodyPr wrap="none" lIns="0" tIns="0" rIns="0" bIns="0" rtlCol="0" anchor="ctr"/>
          <a:lstStyle/>
          <a:p>
            <a:pPr algn="ctr" defTabSz="925880"/>
            <a:r>
              <a:rPr lang="en-US" sz="2000" b="1" dirty="0">
                <a:solidFill>
                  <a:srgbClr val="333333"/>
                </a:solidFill>
                <a:latin typeface="+mn-ea"/>
                <a:cs typeface="游ゴシック" pitchFamily="34" charset="-120"/>
              </a:rPr>
              <a:t>生成AI（Generative AI）</a:t>
            </a:r>
            <a:endParaRPr lang="en-US" sz="2000" dirty="0">
              <a:solidFill>
                <a:srgbClr val="000000"/>
              </a:solidFill>
              <a:latin typeface="+mn-ea"/>
            </a:endParaRPr>
          </a:p>
        </p:txBody>
      </p:sp>
      <p:sp>
        <p:nvSpPr>
          <p:cNvPr id="47" name="Text 16">
            <a:extLst>
              <a:ext uri="{FF2B5EF4-FFF2-40B4-BE49-F238E27FC236}">
                <a16:creationId xmlns:a16="http://schemas.microsoft.com/office/drawing/2014/main" id="{ADB52994-4175-403D-3403-C387B0B9DECF}"/>
              </a:ext>
            </a:extLst>
          </p:cNvPr>
          <p:cNvSpPr txBox="1"/>
          <p:nvPr/>
        </p:nvSpPr>
        <p:spPr>
          <a:xfrm>
            <a:off x="5336019" y="2190902"/>
            <a:ext cx="4264411" cy="342900"/>
          </a:xfrm>
          <a:prstGeom prst="rect">
            <a:avLst/>
          </a:prstGeom>
          <a:noFill/>
          <a:ln/>
        </p:spPr>
        <p:txBody>
          <a:bodyPr wrap="none" lIns="0" tIns="0" rIns="0" bIns="0" rtlCol="0" anchor="ctr"/>
          <a:lstStyle/>
          <a:p>
            <a:pPr algn="ctr" defTabSz="925880"/>
            <a:r>
              <a:rPr lang="en-US" sz="2000" b="1" dirty="0">
                <a:solidFill>
                  <a:srgbClr val="333333"/>
                </a:solidFill>
                <a:latin typeface="+mn-ea"/>
                <a:cs typeface="游ゴシック" pitchFamily="34" charset="-120"/>
              </a:rPr>
              <a:t>目的：新しいコンテンツの創造</a:t>
            </a:r>
            <a:endParaRPr lang="en-US" sz="2000" dirty="0">
              <a:solidFill>
                <a:srgbClr val="000000"/>
              </a:solidFill>
              <a:latin typeface="+mn-ea"/>
            </a:endParaRPr>
          </a:p>
        </p:txBody>
      </p:sp>
      <p:sp>
        <p:nvSpPr>
          <p:cNvPr id="49" name="Text 17">
            <a:extLst>
              <a:ext uri="{FF2B5EF4-FFF2-40B4-BE49-F238E27FC236}">
                <a16:creationId xmlns:a16="http://schemas.microsoft.com/office/drawing/2014/main" id="{AAE331F6-61DD-59C2-8997-0835611097CD}"/>
              </a:ext>
            </a:extLst>
          </p:cNvPr>
          <p:cNvSpPr txBox="1"/>
          <p:nvPr/>
        </p:nvSpPr>
        <p:spPr>
          <a:xfrm>
            <a:off x="5527128" y="2688336"/>
            <a:ext cx="4108867" cy="1884578"/>
          </a:xfrm>
          <a:prstGeom prst="rect">
            <a:avLst/>
          </a:prstGeom>
          <a:noFill/>
          <a:ln/>
        </p:spPr>
        <p:txBody>
          <a:bodyPr wrap="square" lIns="0" tIns="0" rIns="0" bIns="0" rtlCol="0" anchor="t"/>
          <a:lstStyle/>
          <a:p>
            <a:pPr defTabSz="925880">
              <a:lnSpc>
                <a:spcPts val="2730"/>
              </a:lnSpc>
            </a:pPr>
            <a:r>
              <a:rPr lang="en-US" sz="2000" dirty="0">
                <a:solidFill>
                  <a:srgbClr val="333333"/>
                </a:solidFill>
                <a:latin typeface="+mn-ea"/>
                <a:cs typeface="游ゴシック" pitchFamily="34" charset="-120"/>
              </a:rPr>
              <a:t>・キーワードからの企画書作成</a:t>
            </a:r>
            <a:endParaRPr lang="en-US" sz="2000" dirty="0">
              <a:solidFill>
                <a:srgbClr val="000000"/>
              </a:solidFill>
              <a:latin typeface="+mn-ea"/>
            </a:endParaRPr>
          </a:p>
          <a:p>
            <a:pPr defTabSz="925880">
              <a:lnSpc>
                <a:spcPts val="2730"/>
              </a:lnSpc>
            </a:pPr>
            <a:r>
              <a:rPr lang="en-US" sz="2000" dirty="0">
                <a:solidFill>
                  <a:srgbClr val="333333"/>
                </a:solidFill>
                <a:latin typeface="+mn-ea"/>
                <a:cs typeface="游ゴシック" pitchFamily="34" charset="-120"/>
              </a:rPr>
              <a:t>・長文の要約や構造化データの抽出</a:t>
            </a:r>
            <a:endParaRPr lang="en-US" sz="2000" dirty="0">
              <a:solidFill>
                <a:srgbClr val="000000"/>
              </a:solidFill>
              <a:latin typeface="+mn-ea"/>
            </a:endParaRPr>
          </a:p>
          <a:p>
            <a:pPr defTabSz="925880">
              <a:lnSpc>
                <a:spcPts val="2730"/>
              </a:lnSpc>
            </a:pPr>
            <a:r>
              <a:rPr lang="en-US" sz="2000" dirty="0">
                <a:solidFill>
                  <a:srgbClr val="333333"/>
                </a:solidFill>
                <a:latin typeface="+mn-ea"/>
                <a:cs typeface="游ゴシック" pitchFamily="34" charset="-120"/>
              </a:rPr>
              <a:t>・自然な対話を行うチャットボット</a:t>
            </a:r>
            <a:endParaRPr lang="en-US" sz="2000" dirty="0">
              <a:solidFill>
                <a:srgbClr val="000000"/>
              </a:solidFill>
              <a:latin typeface="+mn-ea"/>
            </a:endParaRPr>
          </a:p>
        </p:txBody>
      </p:sp>
      <p:sp>
        <p:nvSpPr>
          <p:cNvPr id="51" name="Text 18">
            <a:extLst>
              <a:ext uri="{FF2B5EF4-FFF2-40B4-BE49-F238E27FC236}">
                <a16:creationId xmlns:a16="http://schemas.microsoft.com/office/drawing/2014/main" id="{956909CF-FA0D-F939-30F9-8EF022BB5DE1}"/>
              </a:ext>
            </a:extLst>
          </p:cNvPr>
          <p:cNvSpPr txBox="1"/>
          <p:nvPr/>
        </p:nvSpPr>
        <p:spPr>
          <a:xfrm>
            <a:off x="5527128" y="5009998"/>
            <a:ext cx="3954069" cy="228600"/>
          </a:xfrm>
          <a:prstGeom prst="rect">
            <a:avLst/>
          </a:prstGeom>
          <a:noFill/>
          <a:ln/>
        </p:spPr>
        <p:txBody>
          <a:bodyPr wrap="none" lIns="0" tIns="0" rIns="0" bIns="0" rtlCol="0" anchor="ctr"/>
          <a:lstStyle/>
          <a:p>
            <a:pPr defTabSz="925880"/>
            <a:r>
              <a:rPr lang="en-US" sz="2000" b="1" dirty="0">
                <a:solidFill>
                  <a:srgbClr val="E60012"/>
                </a:solidFill>
                <a:latin typeface="+mn-ea"/>
                <a:cs typeface="游ゴシック" pitchFamily="34" charset="-120"/>
              </a:rPr>
              <a:t>💡 特徴</a:t>
            </a:r>
            <a:endParaRPr lang="en-US" sz="2000" dirty="0">
              <a:solidFill>
                <a:srgbClr val="000000"/>
              </a:solidFill>
              <a:latin typeface="+mn-ea"/>
            </a:endParaRPr>
          </a:p>
        </p:txBody>
      </p:sp>
      <p:sp>
        <p:nvSpPr>
          <p:cNvPr id="53" name="Text 19">
            <a:extLst>
              <a:ext uri="{FF2B5EF4-FFF2-40B4-BE49-F238E27FC236}">
                <a16:creationId xmlns:a16="http://schemas.microsoft.com/office/drawing/2014/main" id="{A7609372-863F-2E5F-6896-4E815E27CBC6}"/>
              </a:ext>
            </a:extLst>
          </p:cNvPr>
          <p:cNvSpPr txBox="1"/>
          <p:nvPr/>
        </p:nvSpPr>
        <p:spPr>
          <a:xfrm>
            <a:off x="5527128" y="5370929"/>
            <a:ext cx="4077186" cy="887882"/>
          </a:xfrm>
          <a:prstGeom prst="rect">
            <a:avLst/>
          </a:prstGeom>
          <a:noFill/>
          <a:ln/>
        </p:spPr>
        <p:txBody>
          <a:bodyPr wrap="square" lIns="0" tIns="0" rIns="0" bIns="0" rtlCol="0" anchor="t"/>
          <a:lstStyle/>
          <a:p>
            <a:pPr defTabSz="925880">
              <a:lnSpc>
                <a:spcPts val="1920"/>
              </a:lnSpc>
            </a:pPr>
            <a:r>
              <a:rPr lang="en-US" sz="2000" dirty="0">
                <a:solidFill>
                  <a:srgbClr val="333333"/>
                </a:solidFill>
                <a:latin typeface="+mn-ea"/>
                <a:cs typeface="游ゴシック" pitchFamily="34" charset="-120"/>
              </a:rPr>
              <a:t>生成AIは</a:t>
            </a:r>
            <a:r>
              <a:rPr lang="en-US" sz="2000" b="1" dirty="0">
                <a:solidFill>
                  <a:srgbClr val="333333"/>
                </a:solidFill>
                <a:latin typeface="+mn-ea"/>
                <a:cs typeface="游ゴシック" pitchFamily="34" charset="-120"/>
              </a:rPr>
              <a:t>「作り出すAI」</a:t>
            </a:r>
            <a:r>
              <a:rPr lang="en-US" sz="2000" dirty="0">
                <a:solidFill>
                  <a:srgbClr val="333333"/>
                </a:solidFill>
                <a:latin typeface="+mn-ea"/>
                <a:cs typeface="游ゴシック" pitchFamily="34" charset="-120"/>
              </a:rPr>
              <a:t>。</a:t>
            </a:r>
            <a:endParaRPr lang="en-US" sz="2000" dirty="0">
              <a:solidFill>
                <a:srgbClr val="000000"/>
              </a:solidFill>
              <a:latin typeface="+mn-ea"/>
            </a:endParaRPr>
          </a:p>
          <a:p>
            <a:pPr defTabSz="925880">
              <a:lnSpc>
                <a:spcPts val="1920"/>
              </a:lnSpc>
            </a:pPr>
            <a:r>
              <a:rPr lang="en-US" sz="2000" dirty="0">
                <a:solidFill>
                  <a:srgbClr val="333333"/>
                </a:solidFill>
                <a:latin typeface="+mn-ea"/>
                <a:cs typeface="游ゴシック" pitchFamily="34" charset="-120"/>
              </a:rPr>
              <a:t>文章・画像・音声など、人間が作るような</a:t>
            </a:r>
            <a:endParaRPr lang="en-US" sz="2000" dirty="0">
              <a:solidFill>
                <a:srgbClr val="000000"/>
              </a:solidFill>
              <a:latin typeface="+mn-ea"/>
            </a:endParaRPr>
          </a:p>
          <a:p>
            <a:pPr defTabSz="925880">
              <a:lnSpc>
                <a:spcPts val="1920"/>
              </a:lnSpc>
            </a:pPr>
            <a:r>
              <a:rPr lang="en-US" sz="2000" dirty="0">
                <a:solidFill>
                  <a:srgbClr val="333333"/>
                </a:solidFill>
                <a:latin typeface="+mn-ea"/>
                <a:cs typeface="游ゴシック" pitchFamily="34" charset="-120"/>
              </a:rPr>
              <a:t>新しいコンテンツを生み出す。</a:t>
            </a:r>
            <a:endParaRPr lang="en-US" sz="2000" dirty="0">
              <a:solidFill>
                <a:srgbClr val="000000"/>
              </a:solidFill>
              <a:latin typeface="+mn-ea"/>
            </a:endParaRPr>
          </a:p>
        </p:txBody>
      </p:sp>
    </p:spTree>
    <p:extLst>
      <p:ext uri="{BB962C8B-B14F-4D97-AF65-F5344CB8AC3E}">
        <p14:creationId xmlns:p14="http://schemas.microsoft.com/office/powerpoint/2010/main" val="2483581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9417-0DEB-EF0B-CCB1-7DE69B345D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AB8446-28E5-9E35-FB69-7C9BAF8455A2}"/>
              </a:ext>
            </a:extLst>
          </p:cNvPr>
          <p:cNvSpPr>
            <a:spLocks noGrp="1"/>
          </p:cNvSpPr>
          <p:nvPr>
            <p:ph type="title"/>
          </p:nvPr>
        </p:nvSpPr>
        <p:spPr/>
        <p:txBody>
          <a:bodyPr>
            <a:normAutofit/>
          </a:bodyPr>
          <a:lstStyle/>
          <a:p>
            <a:r>
              <a:rPr lang="en-US" altLang="ja-JP" dirty="0">
                <a:latin typeface="+mn-ea"/>
                <a:ea typeface="+mn-ea"/>
              </a:rPr>
              <a:t>2-3. LLM</a:t>
            </a:r>
            <a:r>
              <a:rPr lang="ja-JP" altLang="en-US" dirty="0">
                <a:latin typeface="+mn-ea"/>
                <a:ea typeface="+mn-ea"/>
              </a:rPr>
              <a:t>（大規模言語モデル）の仕組み</a:t>
            </a:r>
          </a:p>
        </p:txBody>
      </p:sp>
      <p:sp>
        <p:nvSpPr>
          <p:cNvPr id="5" name="Shape 0">
            <a:extLst>
              <a:ext uri="{FF2B5EF4-FFF2-40B4-BE49-F238E27FC236}">
                <a16:creationId xmlns:a16="http://schemas.microsoft.com/office/drawing/2014/main" id="{B9A8590D-9D4C-55AE-5C04-4B529077157F}"/>
              </a:ext>
            </a:extLst>
          </p:cNvPr>
          <p:cNvSpPr/>
          <p:nvPr/>
        </p:nvSpPr>
        <p:spPr>
          <a:xfrm>
            <a:off x="382099" y="1429208"/>
            <a:ext cx="4574008" cy="4858207"/>
          </a:xfrm>
          <a:prstGeom prst="roundRect">
            <a:avLst>
              <a:gd name="adj" fmla="val 791"/>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8" name="Shape 1">
            <a:extLst>
              <a:ext uri="{FF2B5EF4-FFF2-40B4-BE49-F238E27FC236}">
                <a16:creationId xmlns:a16="http://schemas.microsoft.com/office/drawing/2014/main" id="{CD42BCC6-446F-A738-C2D5-5E84009C921D}"/>
              </a:ext>
            </a:extLst>
          </p:cNvPr>
          <p:cNvSpPr/>
          <p:nvPr/>
        </p:nvSpPr>
        <p:spPr>
          <a:xfrm>
            <a:off x="5145822" y="1429208"/>
            <a:ext cx="4574008" cy="4858207"/>
          </a:xfrm>
          <a:prstGeom prst="roundRect">
            <a:avLst>
              <a:gd name="adj" fmla="val 791"/>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3" name="Text 9">
            <a:extLst>
              <a:ext uri="{FF2B5EF4-FFF2-40B4-BE49-F238E27FC236}">
                <a16:creationId xmlns:a16="http://schemas.microsoft.com/office/drawing/2014/main" id="{120A71C3-18EA-6307-D5D1-3989051A9E3B}"/>
              </a:ext>
            </a:extLst>
          </p:cNvPr>
          <p:cNvSpPr txBox="1"/>
          <p:nvPr/>
        </p:nvSpPr>
        <p:spPr>
          <a:xfrm>
            <a:off x="457995" y="1047902"/>
            <a:ext cx="9301500" cy="228600"/>
          </a:xfrm>
          <a:prstGeom prst="rect">
            <a:avLst/>
          </a:prstGeom>
          <a:noFill/>
          <a:ln/>
        </p:spPr>
        <p:txBody>
          <a:bodyPr wrap="none" lIns="0" tIns="0" rIns="0" bIns="0" rtlCol="0" anchor="ctr"/>
          <a:lstStyle/>
          <a:p>
            <a:pPr defTabSz="925880"/>
            <a:r>
              <a:rPr lang="en-US" altLang="ja-JP" sz="2000" dirty="0">
                <a:solidFill>
                  <a:srgbClr val="404040"/>
                </a:solidFill>
                <a:latin typeface="+mn-ea"/>
              </a:rPr>
              <a:t>ChatGPT</a:t>
            </a:r>
            <a:r>
              <a:rPr lang="ja-JP" altLang="en-US" sz="2000" dirty="0">
                <a:solidFill>
                  <a:srgbClr val="404040"/>
                </a:solidFill>
                <a:latin typeface="+mn-ea"/>
              </a:rPr>
              <a:t>や</a:t>
            </a:r>
            <a:r>
              <a:rPr lang="en-US" altLang="ja-JP" sz="2000" dirty="0">
                <a:solidFill>
                  <a:srgbClr val="404040"/>
                </a:solidFill>
                <a:latin typeface="+mn-ea"/>
              </a:rPr>
              <a:t>Copilot</a:t>
            </a:r>
            <a:r>
              <a:rPr lang="ja-JP" altLang="en-US" sz="2000" dirty="0">
                <a:solidFill>
                  <a:srgbClr val="404040"/>
                </a:solidFill>
                <a:latin typeface="+mn-ea"/>
              </a:rPr>
              <a:t>の頭脳 ── </a:t>
            </a:r>
            <a:r>
              <a:rPr lang="en-US" altLang="ja-JP" sz="2000" dirty="0">
                <a:solidFill>
                  <a:srgbClr val="404040"/>
                </a:solidFill>
                <a:latin typeface="+mn-ea"/>
              </a:rPr>
              <a:t>LLM</a:t>
            </a:r>
            <a:r>
              <a:rPr lang="ja-JP" altLang="en-US" sz="2000" dirty="0">
                <a:solidFill>
                  <a:srgbClr val="404040"/>
                </a:solidFill>
                <a:latin typeface="+mn-ea"/>
              </a:rPr>
              <a:t>は「超高度な次単語予測マシン」</a:t>
            </a:r>
            <a:endParaRPr lang="en-US" sz="2000" dirty="0">
              <a:solidFill>
                <a:srgbClr val="404040"/>
              </a:solidFill>
              <a:latin typeface="+mn-ea"/>
            </a:endParaRPr>
          </a:p>
        </p:txBody>
      </p:sp>
      <p:sp>
        <p:nvSpPr>
          <p:cNvPr id="4" name="Shape 0">
            <a:extLst>
              <a:ext uri="{FF2B5EF4-FFF2-40B4-BE49-F238E27FC236}">
                <a16:creationId xmlns:a16="http://schemas.microsoft.com/office/drawing/2014/main" id="{57A49E1A-60AD-3EDB-461C-DF4539B7E46D}"/>
              </a:ext>
            </a:extLst>
          </p:cNvPr>
          <p:cNvSpPr/>
          <p:nvPr/>
        </p:nvSpPr>
        <p:spPr>
          <a:xfrm>
            <a:off x="382099" y="1524305"/>
            <a:ext cx="9263272" cy="1238098"/>
          </a:xfrm>
          <a:prstGeom prst="roundRect">
            <a:avLst>
              <a:gd name="adj" fmla="val 6130"/>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7" name="Shape 1">
            <a:extLst>
              <a:ext uri="{FF2B5EF4-FFF2-40B4-BE49-F238E27FC236}">
                <a16:creationId xmlns:a16="http://schemas.microsoft.com/office/drawing/2014/main" id="{9BC84739-0F17-CDE3-EE5C-086F43DB41A1}"/>
              </a:ext>
            </a:extLst>
          </p:cNvPr>
          <p:cNvSpPr/>
          <p:nvPr/>
        </p:nvSpPr>
        <p:spPr>
          <a:xfrm>
            <a:off x="382099" y="2905049"/>
            <a:ext cx="9263272" cy="1714500"/>
          </a:xfrm>
          <a:prstGeom prst="roundRect">
            <a:avLst>
              <a:gd name="adj" fmla="val 4427"/>
            </a:avLst>
          </a:prstGeom>
          <a:solidFill>
            <a:srgbClr val="FEF2F2"/>
          </a:solidFill>
          <a:ln/>
        </p:spPr>
        <p:txBody>
          <a:bodyPr/>
          <a:lstStyle/>
          <a:p>
            <a:pPr defTabSz="925880"/>
            <a:endParaRPr lang="ja-JP" altLang="en-US" sz="2000">
              <a:solidFill>
                <a:srgbClr val="000000"/>
              </a:solidFill>
              <a:latin typeface="+mn-ea"/>
            </a:endParaRPr>
          </a:p>
        </p:txBody>
      </p:sp>
      <p:sp>
        <p:nvSpPr>
          <p:cNvPr id="10" name="Shape 2">
            <a:extLst>
              <a:ext uri="{FF2B5EF4-FFF2-40B4-BE49-F238E27FC236}">
                <a16:creationId xmlns:a16="http://schemas.microsoft.com/office/drawing/2014/main" id="{E1D33930-239E-CE85-6EF7-7793942EFC79}"/>
              </a:ext>
            </a:extLst>
          </p:cNvPr>
          <p:cNvSpPr/>
          <p:nvPr/>
        </p:nvSpPr>
        <p:spPr>
          <a:xfrm>
            <a:off x="382100" y="2905049"/>
            <a:ext cx="46687" cy="1714500"/>
          </a:xfrm>
          <a:prstGeom prst="roundRect">
            <a:avLst>
              <a:gd name="adj" fmla="val 131746"/>
            </a:avLst>
          </a:prstGeom>
          <a:solidFill>
            <a:srgbClr val="FF0000"/>
          </a:solidFill>
          <a:ln w="12700">
            <a:solidFill>
              <a:srgbClr val="FF0000">
                <a:alpha val="0"/>
              </a:srgbClr>
            </a:solidFill>
            <a:prstDash val="solid"/>
          </a:ln>
        </p:spPr>
        <p:txBody>
          <a:bodyPr/>
          <a:lstStyle/>
          <a:p>
            <a:pPr defTabSz="925880"/>
            <a:endParaRPr lang="ja-JP" altLang="en-US" sz="2000">
              <a:solidFill>
                <a:srgbClr val="000000"/>
              </a:solidFill>
              <a:latin typeface="+mn-ea"/>
            </a:endParaRPr>
          </a:p>
        </p:txBody>
      </p:sp>
      <p:sp>
        <p:nvSpPr>
          <p:cNvPr id="13" name="Shape 3">
            <a:extLst>
              <a:ext uri="{FF2B5EF4-FFF2-40B4-BE49-F238E27FC236}">
                <a16:creationId xmlns:a16="http://schemas.microsoft.com/office/drawing/2014/main" id="{76FA64A4-02F8-2F4D-90F9-34A0CB0B9EA9}"/>
              </a:ext>
            </a:extLst>
          </p:cNvPr>
          <p:cNvSpPr/>
          <p:nvPr/>
        </p:nvSpPr>
        <p:spPr>
          <a:xfrm>
            <a:off x="382099" y="4762196"/>
            <a:ext cx="9263272" cy="1429207"/>
          </a:xfrm>
          <a:prstGeom prst="roundRect">
            <a:avLst>
              <a:gd name="adj" fmla="val 5310"/>
            </a:avLst>
          </a:prstGeom>
          <a:solidFill>
            <a:srgbClr val="EFF6FF"/>
          </a:solidFill>
          <a:ln/>
        </p:spPr>
        <p:txBody>
          <a:bodyPr/>
          <a:lstStyle/>
          <a:p>
            <a:pPr defTabSz="925880"/>
            <a:endParaRPr lang="ja-JP" altLang="en-US" sz="2000">
              <a:solidFill>
                <a:srgbClr val="000000"/>
              </a:solidFill>
              <a:latin typeface="+mn-ea"/>
            </a:endParaRPr>
          </a:p>
        </p:txBody>
      </p:sp>
      <p:sp>
        <p:nvSpPr>
          <p:cNvPr id="15" name="Shape 4">
            <a:extLst>
              <a:ext uri="{FF2B5EF4-FFF2-40B4-BE49-F238E27FC236}">
                <a16:creationId xmlns:a16="http://schemas.microsoft.com/office/drawing/2014/main" id="{2AF1C5F2-B003-B80C-999E-0148D83F9A58}"/>
              </a:ext>
            </a:extLst>
          </p:cNvPr>
          <p:cNvSpPr/>
          <p:nvPr/>
        </p:nvSpPr>
        <p:spPr>
          <a:xfrm>
            <a:off x="382100" y="4762196"/>
            <a:ext cx="46687" cy="1429207"/>
          </a:xfrm>
          <a:prstGeom prst="roundRect">
            <a:avLst>
              <a:gd name="adj" fmla="val 131746"/>
            </a:avLst>
          </a:prstGeom>
          <a:solidFill>
            <a:srgbClr val="3B82F6"/>
          </a:solidFill>
          <a:ln w="12700">
            <a:solidFill>
              <a:srgbClr val="3B82F6">
                <a:alpha val="0"/>
              </a:srgbClr>
            </a:solidFill>
            <a:prstDash val="solid"/>
          </a:ln>
        </p:spPr>
        <p:txBody>
          <a:bodyPr/>
          <a:lstStyle/>
          <a:p>
            <a:pPr defTabSz="925880"/>
            <a:endParaRPr lang="ja-JP" altLang="en-US" sz="2000">
              <a:solidFill>
                <a:srgbClr val="000000"/>
              </a:solidFill>
              <a:latin typeface="+mn-ea"/>
            </a:endParaRPr>
          </a:p>
        </p:txBody>
      </p:sp>
      <p:pic>
        <p:nvPicPr>
          <p:cNvPr id="18" name="Image 0" descr="gen-dedup-9a7b5ff5ff2fd315620088992b236c26.png">
            <a:extLst>
              <a:ext uri="{FF2B5EF4-FFF2-40B4-BE49-F238E27FC236}">
                <a16:creationId xmlns:a16="http://schemas.microsoft.com/office/drawing/2014/main" id="{C15BA7B2-C851-912C-B966-C4D4EB17D65C}"/>
              </a:ext>
            </a:extLst>
          </p:cNvPr>
          <p:cNvPicPr>
            <a:picLocks noChangeAspect="1"/>
          </p:cNvPicPr>
          <p:nvPr/>
        </p:nvPicPr>
        <p:blipFill>
          <a:blip r:embed="rId2"/>
          <a:srcRect l="-406" r="-406"/>
          <a:stretch/>
        </p:blipFill>
        <p:spPr>
          <a:xfrm>
            <a:off x="382100" y="1524305"/>
            <a:ext cx="46687" cy="1238098"/>
          </a:xfrm>
          <a:prstGeom prst="rect">
            <a:avLst/>
          </a:prstGeom>
        </p:spPr>
      </p:pic>
      <p:sp>
        <p:nvSpPr>
          <p:cNvPr id="21" name="Text 9">
            <a:extLst>
              <a:ext uri="{FF2B5EF4-FFF2-40B4-BE49-F238E27FC236}">
                <a16:creationId xmlns:a16="http://schemas.microsoft.com/office/drawing/2014/main" id="{8EE7B270-7797-667F-3B25-A8929A297364}"/>
              </a:ext>
            </a:extLst>
          </p:cNvPr>
          <p:cNvSpPr txBox="1"/>
          <p:nvPr/>
        </p:nvSpPr>
        <p:spPr>
          <a:xfrm>
            <a:off x="610700" y="1695299"/>
            <a:ext cx="9109131"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LLMとは</a:t>
            </a:r>
            <a:endParaRPr lang="en-US" sz="2000" dirty="0">
              <a:solidFill>
                <a:srgbClr val="000000"/>
              </a:solidFill>
              <a:latin typeface="+mn-ea"/>
            </a:endParaRPr>
          </a:p>
        </p:txBody>
      </p:sp>
      <p:sp>
        <p:nvSpPr>
          <p:cNvPr id="23" name="Text 10">
            <a:extLst>
              <a:ext uri="{FF2B5EF4-FFF2-40B4-BE49-F238E27FC236}">
                <a16:creationId xmlns:a16="http://schemas.microsoft.com/office/drawing/2014/main" id="{47BC25F7-2930-53E5-1CD5-6ECC7ECF89FA}"/>
              </a:ext>
            </a:extLst>
          </p:cNvPr>
          <p:cNvSpPr txBox="1"/>
          <p:nvPr/>
        </p:nvSpPr>
        <p:spPr>
          <a:xfrm>
            <a:off x="610699" y="1997050"/>
            <a:ext cx="8954990" cy="708660"/>
          </a:xfrm>
          <a:prstGeom prst="rect">
            <a:avLst/>
          </a:prstGeom>
          <a:noFill/>
          <a:ln/>
        </p:spPr>
        <p:txBody>
          <a:bodyPr wrap="square" lIns="0" tIns="0" rIns="0" bIns="0" rtlCol="0" anchor="t"/>
          <a:lstStyle/>
          <a:p>
            <a:pPr defTabSz="925880">
              <a:lnSpc>
                <a:spcPts val="2210"/>
              </a:lnSpc>
            </a:pPr>
            <a:r>
              <a:rPr lang="en-US" sz="2000" b="1" dirty="0">
                <a:solidFill>
                  <a:srgbClr val="333333"/>
                </a:solidFill>
                <a:latin typeface="+mn-ea"/>
                <a:cs typeface="游ゴシック" pitchFamily="34" charset="-120"/>
              </a:rPr>
              <a:t>L</a:t>
            </a:r>
            <a:r>
              <a:rPr lang="en-US" sz="2000" dirty="0">
                <a:solidFill>
                  <a:srgbClr val="333333"/>
                </a:solidFill>
                <a:latin typeface="+mn-ea"/>
                <a:cs typeface="游ゴシック" pitchFamily="34" charset="-120"/>
              </a:rPr>
              <a:t>arge </a:t>
            </a:r>
            <a:r>
              <a:rPr lang="en-US" sz="2000" b="1" dirty="0">
                <a:solidFill>
                  <a:srgbClr val="333333"/>
                </a:solidFill>
                <a:latin typeface="+mn-ea"/>
                <a:cs typeface="游ゴシック" pitchFamily="34" charset="-120"/>
              </a:rPr>
              <a:t>L</a:t>
            </a:r>
            <a:r>
              <a:rPr lang="en-US" sz="2000" dirty="0">
                <a:solidFill>
                  <a:srgbClr val="333333"/>
                </a:solidFill>
                <a:latin typeface="+mn-ea"/>
                <a:cs typeface="游ゴシック" pitchFamily="34" charset="-120"/>
              </a:rPr>
              <a:t>anguage </a:t>
            </a:r>
            <a:r>
              <a:rPr lang="en-US" sz="2000" b="1" dirty="0">
                <a:solidFill>
                  <a:srgbClr val="333333"/>
                </a:solidFill>
                <a:latin typeface="+mn-ea"/>
                <a:cs typeface="游ゴシック" pitchFamily="34" charset="-120"/>
              </a:rPr>
              <a:t>M</a:t>
            </a:r>
            <a:r>
              <a:rPr lang="en-US" sz="2000" dirty="0">
                <a:solidFill>
                  <a:srgbClr val="333333"/>
                </a:solidFill>
                <a:latin typeface="+mn-ea"/>
                <a:cs typeface="游ゴシック" pitchFamily="34" charset="-120"/>
              </a:rPr>
              <a:t>odel の略。</a:t>
            </a:r>
            <a:endParaRPr lang="en-US" sz="2000" dirty="0">
              <a:solidFill>
                <a:srgbClr val="000000"/>
              </a:solidFill>
              <a:latin typeface="+mn-ea"/>
            </a:endParaRPr>
          </a:p>
          <a:p>
            <a:pPr defTabSz="925880">
              <a:lnSpc>
                <a:spcPts val="2210"/>
              </a:lnSpc>
            </a:pPr>
            <a:r>
              <a:rPr lang="en-US" sz="2000" dirty="0">
                <a:solidFill>
                  <a:srgbClr val="333333"/>
                </a:solidFill>
                <a:latin typeface="+mn-ea"/>
                <a:cs typeface="游ゴシック" pitchFamily="34" charset="-120"/>
              </a:rPr>
              <a:t>ChatGPTやCopilotの頭脳にあたる部分です。</a:t>
            </a:r>
            <a:endParaRPr lang="en-US" sz="2000" dirty="0">
              <a:solidFill>
                <a:srgbClr val="000000"/>
              </a:solidFill>
              <a:latin typeface="+mn-ea"/>
            </a:endParaRPr>
          </a:p>
        </p:txBody>
      </p:sp>
      <p:sp>
        <p:nvSpPr>
          <p:cNvPr id="26" name="Text 11">
            <a:extLst>
              <a:ext uri="{FF2B5EF4-FFF2-40B4-BE49-F238E27FC236}">
                <a16:creationId xmlns:a16="http://schemas.microsoft.com/office/drawing/2014/main" id="{EFCD0DB6-3D38-9F42-1CD5-4DA845760617}"/>
              </a:ext>
            </a:extLst>
          </p:cNvPr>
          <p:cNvSpPr txBox="1"/>
          <p:nvPr/>
        </p:nvSpPr>
        <p:spPr>
          <a:xfrm>
            <a:off x="610700" y="3095245"/>
            <a:ext cx="9109131" cy="286207"/>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 超高度な「次単語予測」</a:t>
            </a:r>
            <a:endParaRPr lang="en-US" sz="2000" dirty="0">
              <a:solidFill>
                <a:srgbClr val="000000"/>
              </a:solidFill>
              <a:latin typeface="+mn-ea"/>
            </a:endParaRPr>
          </a:p>
        </p:txBody>
      </p:sp>
      <p:sp>
        <p:nvSpPr>
          <p:cNvPr id="29" name="Text 12">
            <a:extLst>
              <a:ext uri="{FF2B5EF4-FFF2-40B4-BE49-F238E27FC236}">
                <a16:creationId xmlns:a16="http://schemas.microsoft.com/office/drawing/2014/main" id="{0C646D13-BB03-1A5D-9C02-7B7E600A637B}"/>
              </a:ext>
            </a:extLst>
          </p:cNvPr>
          <p:cNvSpPr txBox="1"/>
          <p:nvPr/>
        </p:nvSpPr>
        <p:spPr>
          <a:xfrm>
            <a:off x="610699" y="3427171"/>
            <a:ext cx="8954990" cy="1097280"/>
          </a:xfrm>
          <a:prstGeom prst="rect">
            <a:avLst/>
          </a:prstGeom>
          <a:noFill/>
          <a:ln/>
        </p:spPr>
        <p:txBody>
          <a:bodyPr wrap="square" lIns="0" tIns="0" rIns="0" bIns="0" rtlCol="0" anchor="t"/>
          <a:lstStyle/>
          <a:p>
            <a:pPr defTabSz="925880">
              <a:lnSpc>
                <a:spcPts val="2340"/>
              </a:lnSpc>
            </a:pPr>
            <a:r>
              <a:rPr lang="en-US" sz="2000" dirty="0">
                <a:solidFill>
                  <a:srgbClr val="333333"/>
                </a:solidFill>
                <a:latin typeface="+mn-ea"/>
                <a:cs typeface="游ゴシック" pitchFamily="34" charset="-120"/>
              </a:rPr>
              <a:t>実はLLMは人間のように意味を理解しているわけではありません。</a:t>
            </a:r>
            <a:endParaRPr lang="en-US" sz="2000" dirty="0">
              <a:solidFill>
                <a:srgbClr val="000000"/>
              </a:solidFill>
              <a:latin typeface="+mn-ea"/>
            </a:endParaRPr>
          </a:p>
          <a:p>
            <a:pPr defTabSz="925880">
              <a:lnSpc>
                <a:spcPts val="2340"/>
              </a:lnSpc>
            </a:pPr>
            <a:r>
              <a:rPr lang="en-US" sz="2000" b="1" dirty="0">
                <a:solidFill>
                  <a:srgbClr val="FF0000"/>
                </a:solidFill>
                <a:latin typeface="+mn-ea"/>
                <a:cs typeface="游ゴシック" pitchFamily="34" charset="-120"/>
              </a:rPr>
              <a:t>「この文脈の次に続く最も確率の高い単語」</a:t>
            </a:r>
            <a:r>
              <a:rPr lang="en-US" sz="2000" dirty="0">
                <a:solidFill>
                  <a:srgbClr val="333333"/>
                </a:solidFill>
                <a:latin typeface="+mn-ea"/>
                <a:cs typeface="游ゴシック" pitchFamily="34" charset="-120"/>
              </a:rPr>
              <a:t>を計算し続けているだけです。</a:t>
            </a:r>
            <a:endParaRPr lang="en-US" sz="2000" dirty="0">
              <a:solidFill>
                <a:srgbClr val="000000"/>
              </a:solidFill>
              <a:latin typeface="+mn-ea"/>
            </a:endParaRPr>
          </a:p>
        </p:txBody>
      </p:sp>
      <p:sp>
        <p:nvSpPr>
          <p:cNvPr id="32" name="Text 13">
            <a:extLst>
              <a:ext uri="{FF2B5EF4-FFF2-40B4-BE49-F238E27FC236}">
                <a16:creationId xmlns:a16="http://schemas.microsoft.com/office/drawing/2014/main" id="{877FD521-742F-0CA5-1932-DBFD8E3DAC52}"/>
              </a:ext>
            </a:extLst>
          </p:cNvPr>
          <p:cNvSpPr txBox="1"/>
          <p:nvPr/>
        </p:nvSpPr>
        <p:spPr>
          <a:xfrm>
            <a:off x="610700" y="4953306"/>
            <a:ext cx="9109131" cy="286207"/>
          </a:xfrm>
          <a:prstGeom prst="rect">
            <a:avLst/>
          </a:prstGeom>
          <a:noFill/>
          <a:ln/>
        </p:spPr>
        <p:txBody>
          <a:bodyPr wrap="none" lIns="0" tIns="0" rIns="0" bIns="0" rtlCol="0" anchor="ctr"/>
          <a:lstStyle/>
          <a:p>
            <a:pPr defTabSz="925880"/>
            <a:r>
              <a:rPr lang="en-US" sz="2000" b="1" dirty="0">
                <a:solidFill>
                  <a:srgbClr val="3B82F6"/>
                </a:solidFill>
                <a:latin typeface="+mn-ea"/>
                <a:cs typeface="游ゴシック" pitchFamily="34" charset="-120"/>
              </a:rPr>
              <a:t>◆ なぜ精度が高いのか</a:t>
            </a:r>
            <a:endParaRPr lang="en-US" sz="2000" dirty="0">
              <a:solidFill>
                <a:srgbClr val="000000"/>
              </a:solidFill>
              <a:latin typeface="+mn-ea"/>
            </a:endParaRPr>
          </a:p>
        </p:txBody>
      </p:sp>
      <p:sp>
        <p:nvSpPr>
          <p:cNvPr id="36" name="Text 14">
            <a:extLst>
              <a:ext uri="{FF2B5EF4-FFF2-40B4-BE49-F238E27FC236}">
                <a16:creationId xmlns:a16="http://schemas.microsoft.com/office/drawing/2014/main" id="{E78ED345-A8CE-5250-0125-7AD1F1CFC063}"/>
              </a:ext>
            </a:extLst>
          </p:cNvPr>
          <p:cNvSpPr txBox="1"/>
          <p:nvPr/>
        </p:nvSpPr>
        <p:spPr>
          <a:xfrm>
            <a:off x="610699" y="5284319"/>
            <a:ext cx="8954990" cy="811987"/>
          </a:xfrm>
          <a:prstGeom prst="rect">
            <a:avLst/>
          </a:prstGeom>
          <a:noFill/>
          <a:ln/>
        </p:spPr>
        <p:txBody>
          <a:bodyPr wrap="square" lIns="0" tIns="0" rIns="0" bIns="0" rtlCol="0" anchor="t"/>
          <a:lstStyle/>
          <a:p>
            <a:pPr defTabSz="925880">
              <a:lnSpc>
                <a:spcPts val="2340"/>
              </a:lnSpc>
            </a:pPr>
            <a:r>
              <a:rPr lang="en-US" sz="2000" dirty="0">
                <a:solidFill>
                  <a:srgbClr val="333333"/>
                </a:solidFill>
                <a:latin typeface="+mn-ea"/>
                <a:cs typeface="游ゴシック" pitchFamily="34" charset="-120"/>
              </a:rPr>
              <a:t>インターネット上の膨大なテキストデータを学習しているため、</a:t>
            </a:r>
            <a:endParaRPr lang="en-US" sz="2000" dirty="0">
              <a:solidFill>
                <a:srgbClr val="000000"/>
              </a:solidFill>
              <a:latin typeface="+mn-ea"/>
            </a:endParaRPr>
          </a:p>
          <a:p>
            <a:pPr defTabSz="925880">
              <a:lnSpc>
                <a:spcPts val="2340"/>
              </a:lnSpc>
            </a:pPr>
            <a:r>
              <a:rPr lang="en-US" sz="2000" b="1" dirty="0">
                <a:solidFill>
                  <a:srgbClr val="333333"/>
                </a:solidFill>
                <a:latin typeface="+mn-ea"/>
                <a:cs typeface="游ゴシック" pitchFamily="34" charset="-120"/>
              </a:rPr>
              <a:t>極めて精度の高い予測</a:t>
            </a:r>
            <a:r>
              <a:rPr lang="en-US" sz="2000" dirty="0">
                <a:solidFill>
                  <a:srgbClr val="333333"/>
                </a:solidFill>
                <a:latin typeface="+mn-ea"/>
                <a:cs typeface="游ゴシック" pitchFamily="34" charset="-120"/>
              </a:rPr>
              <a:t>が可能になります。</a:t>
            </a:r>
            <a:endParaRPr lang="en-US" sz="2000" dirty="0">
              <a:solidFill>
                <a:srgbClr val="000000"/>
              </a:solidFill>
              <a:latin typeface="+mn-ea"/>
            </a:endParaRPr>
          </a:p>
        </p:txBody>
      </p:sp>
    </p:spTree>
    <p:extLst>
      <p:ext uri="{BB962C8B-B14F-4D97-AF65-F5344CB8AC3E}">
        <p14:creationId xmlns:p14="http://schemas.microsoft.com/office/powerpoint/2010/main" val="240474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131E-C734-9D6A-3A98-5280B3B12C9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B15A13-2A76-6904-0530-3CE8D6CE04CA}"/>
              </a:ext>
            </a:extLst>
          </p:cNvPr>
          <p:cNvSpPr>
            <a:spLocks noGrp="1"/>
          </p:cNvSpPr>
          <p:nvPr>
            <p:ph type="title"/>
          </p:nvPr>
        </p:nvSpPr>
        <p:spPr/>
        <p:txBody>
          <a:bodyPr>
            <a:normAutofit/>
          </a:bodyPr>
          <a:lstStyle/>
          <a:p>
            <a:r>
              <a:rPr lang="en-US" altLang="ja-JP" dirty="0">
                <a:latin typeface="+mn-ea"/>
                <a:ea typeface="+mn-ea"/>
              </a:rPr>
              <a:t>2-4.</a:t>
            </a:r>
            <a:r>
              <a:rPr lang="ja-JP" altLang="en-US" dirty="0">
                <a:latin typeface="+mn-ea"/>
                <a:ea typeface="+mn-ea"/>
              </a:rPr>
              <a:t> 生成</a:t>
            </a:r>
            <a:r>
              <a:rPr lang="en-US" altLang="ja-JP" dirty="0">
                <a:latin typeface="+mn-ea"/>
                <a:ea typeface="+mn-ea"/>
              </a:rPr>
              <a:t>AI</a:t>
            </a:r>
            <a:r>
              <a:rPr lang="ja-JP" altLang="en-US" dirty="0">
                <a:latin typeface="+mn-ea"/>
                <a:ea typeface="+mn-ea"/>
              </a:rPr>
              <a:t>の「苦手なこと」（弱み）</a:t>
            </a:r>
          </a:p>
        </p:txBody>
      </p:sp>
      <p:sp>
        <p:nvSpPr>
          <p:cNvPr id="6" name="Shape 0">
            <a:extLst>
              <a:ext uri="{FF2B5EF4-FFF2-40B4-BE49-F238E27FC236}">
                <a16:creationId xmlns:a16="http://schemas.microsoft.com/office/drawing/2014/main" id="{908882F3-9762-4FA3-B7CE-746CD73F2904}"/>
              </a:ext>
            </a:extLst>
          </p:cNvPr>
          <p:cNvSpPr/>
          <p:nvPr/>
        </p:nvSpPr>
        <p:spPr>
          <a:xfrm>
            <a:off x="382099" y="1429208"/>
            <a:ext cx="9221470" cy="1524305"/>
          </a:xfrm>
          <a:prstGeom prst="roundRect">
            <a:avLst>
              <a:gd name="adj" fmla="val 4979"/>
            </a:avLst>
          </a:prstGeom>
          <a:solidFill>
            <a:srgbClr val="FEF2F2"/>
          </a:solidFill>
          <a:ln/>
        </p:spPr>
        <p:txBody>
          <a:bodyPr/>
          <a:lstStyle/>
          <a:p>
            <a:pPr defTabSz="925880"/>
            <a:endParaRPr lang="ja-JP" altLang="en-US" sz="2000">
              <a:solidFill>
                <a:srgbClr val="000000"/>
              </a:solidFill>
              <a:latin typeface="+mn-ea"/>
            </a:endParaRPr>
          </a:p>
        </p:txBody>
      </p:sp>
      <p:sp>
        <p:nvSpPr>
          <p:cNvPr id="11" name="Shape 1">
            <a:extLst>
              <a:ext uri="{FF2B5EF4-FFF2-40B4-BE49-F238E27FC236}">
                <a16:creationId xmlns:a16="http://schemas.microsoft.com/office/drawing/2014/main" id="{0CBCB589-908B-A27B-A981-BE722F196654}"/>
              </a:ext>
            </a:extLst>
          </p:cNvPr>
          <p:cNvSpPr/>
          <p:nvPr/>
        </p:nvSpPr>
        <p:spPr>
          <a:xfrm>
            <a:off x="382100" y="1429208"/>
            <a:ext cx="46476" cy="1524305"/>
          </a:xfrm>
          <a:prstGeom prst="roundRect">
            <a:avLst>
              <a:gd name="adj" fmla="val 131746"/>
            </a:avLst>
          </a:prstGeom>
          <a:solidFill>
            <a:srgbClr val="FF0000"/>
          </a:solidFill>
          <a:ln w="12700">
            <a:solidFill>
              <a:srgbClr val="FF0000">
                <a:alpha val="0"/>
              </a:srgbClr>
            </a:solidFill>
            <a:prstDash val="solid"/>
          </a:ln>
        </p:spPr>
        <p:txBody>
          <a:bodyPr/>
          <a:lstStyle/>
          <a:p>
            <a:pPr defTabSz="925880"/>
            <a:endParaRPr lang="ja-JP" altLang="en-US" sz="2000">
              <a:solidFill>
                <a:srgbClr val="000000"/>
              </a:solidFill>
              <a:latin typeface="+mn-ea"/>
            </a:endParaRPr>
          </a:p>
        </p:txBody>
      </p:sp>
      <p:sp>
        <p:nvSpPr>
          <p:cNvPr id="14" name="Shape 2">
            <a:extLst>
              <a:ext uri="{FF2B5EF4-FFF2-40B4-BE49-F238E27FC236}">
                <a16:creationId xmlns:a16="http://schemas.microsoft.com/office/drawing/2014/main" id="{B4207558-49DF-A703-154E-994291D41F94}"/>
              </a:ext>
            </a:extLst>
          </p:cNvPr>
          <p:cNvSpPr/>
          <p:nvPr/>
        </p:nvSpPr>
        <p:spPr>
          <a:xfrm>
            <a:off x="382099" y="3095245"/>
            <a:ext cx="9221470" cy="1524305"/>
          </a:xfrm>
          <a:prstGeom prst="roundRect">
            <a:avLst>
              <a:gd name="adj" fmla="val 4979"/>
            </a:avLst>
          </a:prstGeom>
          <a:solidFill>
            <a:srgbClr val="FEF2F2"/>
          </a:solidFill>
          <a:ln/>
        </p:spPr>
        <p:txBody>
          <a:bodyPr/>
          <a:lstStyle/>
          <a:p>
            <a:pPr defTabSz="925880"/>
            <a:endParaRPr lang="ja-JP" altLang="en-US" sz="2000">
              <a:solidFill>
                <a:srgbClr val="000000"/>
              </a:solidFill>
              <a:latin typeface="+mn-ea"/>
            </a:endParaRPr>
          </a:p>
        </p:txBody>
      </p:sp>
      <p:sp>
        <p:nvSpPr>
          <p:cNvPr id="17" name="Shape 3">
            <a:extLst>
              <a:ext uri="{FF2B5EF4-FFF2-40B4-BE49-F238E27FC236}">
                <a16:creationId xmlns:a16="http://schemas.microsoft.com/office/drawing/2014/main" id="{816D5710-5DD2-8F7A-D631-BE281B70077C}"/>
              </a:ext>
            </a:extLst>
          </p:cNvPr>
          <p:cNvSpPr/>
          <p:nvPr/>
        </p:nvSpPr>
        <p:spPr>
          <a:xfrm>
            <a:off x="382100" y="3095245"/>
            <a:ext cx="46476" cy="1524305"/>
          </a:xfrm>
          <a:prstGeom prst="roundRect">
            <a:avLst>
              <a:gd name="adj" fmla="val 131746"/>
            </a:avLst>
          </a:prstGeom>
          <a:solidFill>
            <a:srgbClr val="FF0000"/>
          </a:solidFill>
          <a:ln w="12700">
            <a:solidFill>
              <a:srgbClr val="FF0000">
                <a:alpha val="0"/>
              </a:srgbClr>
            </a:solidFill>
            <a:prstDash val="solid"/>
          </a:ln>
        </p:spPr>
        <p:txBody>
          <a:bodyPr/>
          <a:lstStyle/>
          <a:p>
            <a:pPr defTabSz="925880"/>
            <a:endParaRPr lang="ja-JP" altLang="en-US" sz="2000">
              <a:solidFill>
                <a:srgbClr val="000000"/>
              </a:solidFill>
              <a:latin typeface="+mn-ea"/>
            </a:endParaRPr>
          </a:p>
        </p:txBody>
      </p:sp>
      <p:sp>
        <p:nvSpPr>
          <p:cNvPr id="20" name="Shape 4">
            <a:extLst>
              <a:ext uri="{FF2B5EF4-FFF2-40B4-BE49-F238E27FC236}">
                <a16:creationId xmlns:a16="http://schemas.microsoft.com/office/drawing/2014/main" id="{CF9AFA02-0159-6A75-7866-60F13FEB909A}"/>
              </a:ext>
            </a:extLst>
          </p:cNvPr>
          <p:cNvSpPr/>
          <p:nvPr/>
        </p:nvSpPr>
        <p:spPr>
          <a:xfrm>
            <a:off x="382099" y="4762196"/>
            <a:ext cx="9221470" cy="1524305"/>
          </a:xfrm>
          <a:prstGeom prst="roundRect">
            <a:avLst>
              <a:gd name="adj" fmla="val 4979"/>
            </a:avLst>
          </a:prstGeom>
          <a:solidFill>
            <a:srgbClr val="FEF2F2"/>
          </a:solidFill>
          <a:ln/>
        </p:spPr>
        <p:txBody>
          <a:bodyPr/>
          <a:lstStyle/>
          <a:p>
            <a:pPr defTabSz="925880"/>
            <a:endParaRPr lang="ja-JP" altLang="en-US" sz="2000">
              <a:solidFill>
                <a:srgbClr val="000000"/>
              </a:solidFill>
              <a:latin typeface="+mn-ea"/>
            </a:endParaRPr>
          </a:p>
        </p:txBody>
      </p:sp>
      <p:sp>
        <p:nvSpPr>
          <p:cNvPr id="24" name="Shape 5">
            <a:extLst>
              <a:ext uri="{FF2B5EF4-FFF2-40B4-BE49-F238E27FC236}">
                <a16:creationId xmlns:a16="http://schemas.microsoft.com/office/drawing/2014/main" id="{C2734F70-8E97-AC39-92D0-A54762A74714}"/>
              </a:ext>
            </a:extLst>
          </p:cNvPr>
          <p:cNvSpPr/>
          <p:nvPr/>
        </p:nvSpPr>
        <p:spPr>
          <a:xfrm>
            <a:off x="382100" y="4762196"/>
            <a:ext cx="46476" cy="1524305"/>
          </a:xfrm>
          <a:prstGeom prst="roundRect">
            <a:avLst>
              <a:gd name="adj" fmla="val 131746"/>
            </a:avLst>
          </a:prstGeom>
          <a:solidFill>
            <a:srgbClr val="FF0000"/>
          </a:solidFill>
          <a:ln w="12700">
            <a:solidFill>
              <a:srgbClr val="FF0000">
                <a:alpha val="0"/>
              </a:srgbClr>
            </a:solidFill>
            <a:prstDash val="solid"/>
          </a:ln>
        </p:spPr>
        <p:txBody>
          <a:bodyPr/>
          <a:lstStyle/>
          <a:p>
            <a:pPr defTabSz="925880"/>
            <a:endParaRPr lang="ja-JP" altLang="en-US" sz="2000">
              <a:solidFill>
                <a:srgbClr val="000000"/>
              </a:solidFill>
              <a:latin typeface="+mn-ea"/>
            </a:endParaRPr>
          </a:p>
        </p:txBody>
      </p:sp>
      <p:sp>
        <p:nvSpPr>
          <p:cNvPr id="27" name="Shape 6">
            <a:extLst>
              <a:ext uri="{FF2B5EF4-FFF2-40B4-BE49-F238E27FC236}">
                <a16:creationId xmlns:a16="http://schemas.microsoft.com/office/drawing/2014/main" id="{47DD15DA-3E6B-3380-E325-096B388460AC}"/>
              </a:ext>
            </a:extLst>
          </p:cNvPr>
          <p:cNvSpPr/>
          <p:nvPr/>
        </p:nvSpPr>
        <p:spPr>
          <a:xfrm>
            <a:off x="610700" y="1638606"/>
            <a:ext cx="430089" cy="533095"/>
          </a:xfrm>
          <a:prstGeom prst="ellipse">
            <a:avLst/>
          </a:prstGeom>
          <a:solidFill>
            <a:srgbClr val="FF000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0" name="Shape 7">
            <a:extLst>
              <a:ext uri="{FF2B5EF4-FFF2-40B4-BE49-F238E27FC236}">
                <a16:creationId xmlns:a16="http://schemas.microsoft.com/office/drawing/2014/main" id="{2A1D7DEB-CB73-0A30-6709-608D8D8B2485}"/>
              </a:ext>
            </a:extLst>
          </p:cNvPr>
          <p:cNvSpPr/>
          <p:nvPr/>
        </p:nvSpPr>
        <p:spPr>
          <a:xfrm>
            <a:off x="610700" y="3305557"/>
            <a:ext cx="430089" cy="533095"/>
          </a:xfrm>
          <a:prstGeom prst="ellipse">
            <a:avLst/>
          </a:prstGeom>
          <a:solidFill>
            <a:srgbClr val="FF000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4" name="Shape 8">
            <a:extLst>
              <a:ext uri="{FF2B5EF4-FFF2-40B4-BE49-F238E27FC236}">
                <a16:creationId xmlns:a16="http://schemas.microsoft.com/office/drawing/2014/main" id="{8963331F-B5EB-6B0D-C76A-9FC6DFE27E7C}"/>
              </a:ext>
            </a:extLst>
          </p:cNvPr>
          <p:cNvSpPr/>
          <p:nvPr/>
        </p:nvSpPr>
        <p:spPr>
          <a:xfrm>
            <a:off x="610700" y="4972508"/>
            <a:ext cx="430089" cy="533095"/>
          </a:xfrm>
          <a:prstGeom prst="ellipse">
            <a:avLst/>
          </a:prstGeom>
          <a:solidFill>
            <a:srgbClr val="FF000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7" name="Text 12">
            <a:extLst>
              <a:ext uri="{FF2B5EF4-FFF2-40B4-BE49-F238E27FC236}">
                <a16:creationId xmlns:a16="http://schemas.microsoft.com/office/drawing/2014/main" id="{322E0B98-E2D8-F3C3-EAA7-8488DD443182}"/>
              </a:ext>
            </a:extLst>
          </p:cNvPr>
          <p:cNvSpPr txBox="1"/>
          <p:nvPr/>
        </p:nvSpPr>
        <p:spPr>
          <a:xfrm>
            <a:off x="457995" y="1047902"/>
            <a:ext cx="9068025" cy="228600"/>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a:t>
            </a:r>
            <a:r>
              <a:rPr lang="ja-JP" altLang="en-US" sz="2000" b="1" dirty="0">
                <a:solidFill>
                  <a:srgbClr val="FF0000"/>
                </a:solidFill>
                <a:latin typeface="+mn-ea"/>
                <a:cs typeface="游ゴシック" pitchFamily="34" charset="-120"/>
              </a:rPr>
              <a:t>　</a:t>
            </a:r>
            <a:r>
              <a:rPr lang="en-US" sz="2000" b="1" dirty="0">
                <a:solidFill>
                  <a:srgbClr val="FF0000"/>
                </a:solidFill>
                <a:latin typeface="+mn-ea"/>
                <a:cs typeface="游ゴシック" pitchFamily="34" charset="-120"/>
              </a:rPr>
              <a:t>業務利用で必ず押さえるべき3つの弱み</a:t>
            </a:r>
            <a:endParaRPr lang="en-US" sz="2000" dirty="0">
              <a:solidFill>
                <a:srgbClr val="000000"/>
              </a:solidFill>
              <a:latin typeface="+mn-ea"/>
            </a:endParaRPr>
          </a:p>
        </p:txBody>
      </p:sp>
      <p:sp>
        <p:nvSpPr>
          <p:cNvPr id="39" name="Text 13">
            <a:extLst>
              <a:ext uri="{FF2B5EF4-FFF2-40B4-BE49-F238E27FC236}">
                <a16:creationId xmlns:a16="http://schemas.microsoft.com/office/drawing/2014/main" id="{C8C2D3BC-16B9-31F3-9085-0364909656CE}"/>
              </a:ext>
            </a:extLst>
          </p:cNvPr>
          <p:cNvSpPr txBox="1"/>
          <p:nvPr/>
        </p:nvSpPr>
        <p:spPr>
          <a:xfrm>
            <a:off x="610700" y="1638605"/>
            <a:ext cx="430827" cy="534010"/>
          </a:xfrm>
          <a:prstGeom prst="rect">
            <a:avLst/>
          </a:prstGeom>
          <a:noFill/>
          <a:ln/>
        </p:spPr>
        <p:txBody>
          <a:bodyPr wrap="none" lIns="0" tIns="0" rIns="0" bIns="0" rtlCol="0" anchor="ctr"/>
          <a:lstStyle/>
          <a:p>
            <a:pPr algn="ctr" defTabSz="925880"/>
            <a:r>
              <a:rPr lang="en-US" sz="2000" b="1" dirty="0">
                <a:solidFill>
                  <a:srgbClr val="FFFFFF"/>
                </a:solidFill>
                <a:latin typeface="+mn-ea"/>
                <a:cs typeface="游ゴシック" pitchFamily="34" charset="-120"/>
              </a:rPr>
              <a:t>!</a:t>
            </a:r>
            <a:endParaRPr lang="en-US" sz="2000" dirty="0">
              <a:solidFill>
                <a:srgbClr val="000000"/>
              </a:solidFill>
              <a:latin typeface="+mn-ea"/>
            </a:endParaRPr>
          </a:p>
        </p:txBody>
      </p:sp>
      <p:sp>
        <p:nvSpPr>
          <p:cNvPr id="41" name="Text 14">
            <a:extLst>
              <a:ext uri="{FF2B5EF4-FFF2-40B4-BE49-F238E27FC236}">
                <a16:creationId xmlns:a16="http://schemas.microsoft.com/office/drawing/2014/main" id="{0FCCE1AF-841A-3168-F704-7E5AD237EFBE}"/>
              </a:ext>
            </a:extLst>
          </p:cNvPr>
          <p:cNvSpPr txBox="1"/>
          <p:nvPr/>
        </p:nvSpPr>
        <p:spPr>
          <a:xfrm>
            <a:off x="1430002" y="1638605"/>
            <a:ext cx="8299323" cy="305410"/>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情報の「正確性」の担保</a:t>
            </a:r>
            <a:endParaRPr lang="en-US" sz="2000" dirty="0">
              <a:solidFill>
                <a:srgbClr val="000000"/>
              </a:solidFill>
              <a:latin typeface="+mn-ea"/>
            </a:endParaRPr>
          </a:p>
        </p:txBody>
      </p:sp>
      <p:sp>
        <p:nvSpPr>
          <p:cNvPr id="43" name="Text 15">
            <a:extLst>
              <a:ext uri="{FF2B5EF4-FFF2-40B4-BE49-F238E27FC236}">
                <a16:creationId xmlns:a16="http://schemas.microsoft.com/office/drawing/2014/main" id="{0497448E-2FA0-1547-A119-E1E56F54F09E}"/>
              </a:ext>
            </a:extLst>
          </p:cNvPr>
          <p:cNvSpPr txBox="1"/>
          <p:nvPr/>
        </p:nvSpPr>
        <p:spPr>
          <a:xfrm>
            <a:off x="1430002" y="1977848"/>
            <a:ext cx="8299323" cy="898855"/>
          </a:xfrm>
          <a:prstGeom prst="rect">
            <a:avLst/>
          </a:prstGeom>
          <a:noFill/>
          <a:ln/>
        </p:spPr>
        <p:txBody>
          <a:bodyPr wrap="square" lIns="0" tIns="0" rIns="0" bIns="0" rtlCol="0" anchor="t"/>
          <a:lstStyle/>
          <a:p>
            <a:pPr defTabSz="925880">
              <a:lnSpc>
                <a:spcPts val="2210"/>
              </a:lnSpc>
            </a:pPr>
            <a:r>
              <a:rPr lang="en-US" sz="2000" dirty="0">
                <a:solidFill>
                  <a:srgbClr val="333333"/>
                </a:solidFill>
                <a:latin typeface="+mn-ea"/>
                <a:cs typeface="游ゴシック" pitchFamily="34" charset="-120"/>
              </a:rPr>
              <a:t>もっともらしい嘘（</a:t>
            </a:r>
            <a:r>
              <a:rPr lang="en-US" sz="2000" b="1" dirty="0">
                <a:solidFill>
                  <a:srgbClr val="FF0000"/>
                </a:solidFill>
                <a:latin typeface="+mn-ea"/>
                <a:cs typeface="游ゴシック" pitchFamily="34" charset="-120"/>
              </a:rPr>
              <a:t>ハルシネーション</a:t>
            </a:r>
            <a:r>
              <a:rPr lang="en-US" sz="2000" dirty="0">
                <a:solidFill>
                  <a:srgbClr val="333333"/>
                </a:solidFill>
                <a:latin typeface="+mn-ea"/>
                <a:cs typeface="游ゴシック" pitchFamily="34" charset="-120"/>
              </a:rPr>
              <a:t>）をつくことがあります。</a:t>
            </a:r>
            <a:endParaRPr lang="en-US" sz="2000" dirty="0">
              <a:solidFill>
                <a:srgbClr val="000000"/>
              </a:solidFill>
              <a:latin typeface="+mn-ea"/>
            </a:endParaRPr>
          </a:p>
          <a:p>
            <a:pPr defTabSz="925880">
              <a:lnSpc>
                <a:spcPts val="2210"/>
              </a:lnSpc>
            </a:pPr>
            <a:r>
              <a:rPr lang="en-US" sz="2000" dirty="0">
                <a:solidFill>
                  <a:srgbClr val="333333"/>
                </a:solidFill>
                <a:latin typeface="+mn-ea"/>
                <a:cs typeface="游ゴシック" pitchFamily="34" charset="-120"/>
              </a:rPr>
              <a:t>出力結果のファクトチェックは</a:t>
            </a:r>
            <a:r>
              <a:rPr lang="en-US" sz="2000" b="1" dirty="0">
                <a:solidFill>
                  <a:srgbClr val="333333"/>
                </a:solidFill>
                <a:latin typeface="+mn-ea"/>
                <a:cs typeface="游ゴシック" pitchFamily="34" charset="-120"/>
              </a:rPr>
              <a:t>人間が必ず行う必要</a:t>
            </a:r>
            <a:r>
              <a:rPr lang="en-US" sz="2000" dirty="0">
                <a:solidFill>
                  <a:srgbClr val="333333"/>
                </a:solidFill>
                <a:latin typeface="+mn-ea"/>
                <a:cs typeface="游ゴシック" pitchFamily="34" charset="-120"/>
              </a:rPr>
              <a:t>があります。</a:t>
            </a:r>
            <a:endParaRPr lang="en-US" sz="2000" dirty="0">
              <a:solidFill>
                <a:srgbClr val="000000"/>
              </a:solidFill>
              <a:latin typeface="+mn-ea"/>
            </a:endParaRPr>
          </a:p>
        </p:txBody>
      </p:sp>
      <p:sp>
        <p:nvSpPr>
          <p:cNvPr id="45" name="Text 16">
            <a:extLst>
              <a:ext uri="{FF2B5EF4-FFF2-40B4-BE49-F238E27FC236}">
                <a16:creationId xmlns:a16="http://schemas.microsoft.com/office/drawing/2014/main" id="{06A66254-FBF3-C133-E9CF-6AC3079CCABE}"/>
              </a:ext>
            </a:extLst>
          </p:cNvPr>
          <p:cNvSpPr txBox="1"/>
          <p:nvPr/>
        </p:nvSpPr>
        <p:spPr>
          <a:xfrm>
            <a:off x="610700" y="3305556"/>
            <a:ext cx="430827" cy="534010"/>
          </a:xfrm>
          <a:prstGeom prst="rect">
            <a:avLst/>
          </a:prstGeom>
          <a:noFill/>
          <a:ln/>
        </p:spPr>
        <p:txBody>
          <a:bodyPr wrap="none" lIns="0" tIns="0" rIns="0" bIns="0" rtlCol="0" anchor="ctr"/>
          <a:lstStyle/>
          <a:p>
            <a:pPr algn="ctr" defTabSz="925880"/>
            <a:r>
              <a:rPr lang="en-US" sz="2000" b="1" dirty="0">
                <a:solidFill>
                  <a:srgbClr val="FFFFFF"/>
                </a:solidFill>
                <a:latin typeface="+mn-ea"/>
                <a:cs typeface="游ゴシック" pitchFamily="34" charset="-120"/>
              </a:rPr>
              <a:t>!</a:t>
            </a:r>
            <a:endParaRPr lang="en-US" sz="2000" dirty="0">
              <a:solidFill>
                <a:srgbClr val="000000"/>
              </a:solidFill>
              <a:latin typeface="+mn-ea"/>
            </a:endParaRPr>
          </a:p>
        </p:txBody>
      </p:sp>
      <p:sp>
        <p:nvSpPr>
          <p:cNvPr id="47" name="Text 17">
            <a:extLst>
              <a:ext uri="{FF2B5EF4-FFF2-40B4-BE49-F238E27FC236}">
                <a16:creationId xmlns:a16="http://schemas.microsoft.com/office/drawing/2014/main" id="{21BF9E68-5E88-1A92-665C-9608C917D975}"/>
              </a:ext>
            </a:extLst>
          </p:cNvPr>
          <p:cNvSpPr txBox="1"/>
          <p:nvPr/>
        </p:nvSpPr>
        <p:spPr>
          <a:xfrm>
            <a:off x="1430002" y="3305556"/>
            <a:ext cx="8299323" cy="305410"/>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高度に専門的・クローズドな知識</a:t>
            </a:r>
            <a:endParaRPr lang="en-US" sz="2000" dirty="0">
              <a:solidFill>
                <a:srgbClr val="000000"/>
              </a:solidFill>
              <a:latin typeface="+mn-ea"/>
            </a:endParaRPr>
          </a:p>
        </p:txBody>
      </p:sp>
      <p:sp>
        <p:nvSpPr>
          <p:cNvPr id="49" name="Text 18">
            <a:extLst>
              <a:ext uri="{FF2B5EF4-FFF2-40B4-BE49-F238E27FC236}">
                <a16:creationId xmlns:a16="http://schemas.microsoft.com/office/drawing/2014/main" id="{943105D0-1B2B-7AA4-7E80-CCB4157BAED2}"/>
              </a:ext>
            </a:extLst>
          </p:cNvPr>
          <p:cNvSpPr txBox="1"/>
          <p:nvPr/>
        </p:nvSpPr>
        <p:spPr>
          <a:xfrm>
            <a:off x="1430002" y="3644799"/>
            <a:ext cx="8299323" cy="898855"/>
          </a:xfrm>
          <a:prstGeom prst="rect">
            <a:avLst/>
          </a:prstGeom>
          <a:noFill/>
          <a:ln/>
        </p:spPr>
        <p:txBody>
          <a:bodyPr wrap="square" lIns="0" tIns="0" rIns="0" bIns="0" rtlCol="0" anchor="t"/>
          <a:lstStyle/>
          <a:p>
            <a:pPr defTabSz="925880">
              <a:lnSpc>
                <a:spcPts val="2210"/>
              </a:lnSpc>
            </a:pPr>
            <a:r>
              <a:rPr lang="en-US" sz="2000" b="1" dirty="0" err="1">
                <a:solidFill>
                  <a:srgbClr val="333333"/>
                </a:solidFill>
                <a:latin typeface="+mn-ea"/>
                <a:cs typeface="游ゴシック" pitchFamily="34" charset="-120"/>
              </a:rPr>
              <a:t>自社独自の社内ルール</a:t>
            </a:r>
            <a:r>
              <a:rPr lang="en-US" sz="2000" dirty="0" err="1">
                <a:solidFill>
                  <a:srgbClr val="333333"/>
                </a:solidFill>
                <a:latin typeface="+mn-ea"/>
                <a:cs typeface="游ゴシック" pitchFamily="34" charset="-120"/>
              </a:rPr>
              <a:t>や、インターネット上に存在しない最新のニッチな</a:t>
            </a:r>
            <a:endParaRPr lang="en-US" sz="2000" dirty="0">
              <a:solidFill>
                <a:srgbClr val="333333"/>
              </a:solidFill>
              <a:latin typeface="+mn-ea"/>
              <a:cs typeface="游ゴシック" pitchFamily="34" charset="-120"/>
            </a:endParaRPr>
          </a:p>
          <a:p>
            <a:pPr defTabSz="925880">
              <a:lnSpc>
                <a:spcPts val="2210"/>
              </a:lnSpc>
            </a:pPr>
            <a:r>
              <a:rPr lang="en-US" sz="2000" dirty="0" err="1">
                <a:solidFill>
                  <a:srgbClr val="333333"/>
                </a:solidFill>
                <a:latin typeface="+mn-ea"/>
                <a:cs typeface="游ゴシック" pitchFamily="34" charset="-120"/>
              </a:rPr>
              <a:t>情報については正しく回答できません</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51" name="Text 19">
            <a:extLst>
              <a:ext uri="{FF2B5EF4-FFF2-40B4-BE49-F238E27FC236}">
                <a16:creationId xmlns:a16="http://schemas.microsoft.com/office/drawing/2014/main" id="{4366A6B3-260A-4A4E-5171-BC4054DE95BB}"/>
              </a:ext>
            </a:extLst>
          </p:cNvPr>
          <p:cNvSpPr txBox="1"/>
          <p:nvPr/>
        </p:nvSpPr>
        <p:spPr>
          <a:xfrm>
            <a:off x="610700" y="4972507"/>
            <a:ext cx="430827" cy="534010"/>
          </a:xfrm>
          <a:prstGeom prst="rect">
            <a:avLst/>
          </a:prstGeom>
          <a:noFill/>
          <a:ln/>
        </p:spPr>
        <p:txBody>
          <a:bodyPr wrap="none" lIns="0" tIns="0" rIns="0" bIns="0" rtlCol="0" anchor="ctr"/>
          <a:lstStyle/>
          <a:p>
            <a:pPr algn="ctr" defTabSz="925880"/>
            <a:r>
              <a:rPr lang="en-US" sz="2000" b="1" dirty="0">
                <a:solidFill>
                  <a:srgbClr val="FFFFFF"/>
                </a:solidFill>
                <a:latin typeface="+mn-ea"/>
                <a:cs typeface="游ゴシック" pitchFamily="34" charset="-120"/>
              </a:rPr>
              <a:t>!</a:t>
            </a:r>
            <a:endParaRPr lang="en-US" sz="2000" dirty="0">
              <a:solidFill>
                <a:srgbClr val="000000"/>
              </a:solidFill>
              <a:latin typeface="+mn-ea"/>
            </a:endParaRPr>
          </a:p>
        </p:txBody>
      </p:sp>
      <p:sp>
        <p:nvSpPr>
          <p:cNvPr id="53" name="Text 20">
            <a:extLst>
              <a:ext uri="{FF2B5EF4-FFF2-40B4-BE49-F238E27FC236}">
                <a16:creationId xmlns:a16="http://schemas.microsoft.com/office/drawing/2014/main" id="{74FEABE7-DE7A-EAB7-7A33-51BC18269A7B}"/>
              </a:ext>
            </a:extLst>
          </p:cNvPr>
          <p:cNvSpPr txBox="1"/>
          <p:nvPr/>
        </p:nvSpPr>
        <p:spPr>
          <a:xfrm>
            <a:off x="1430002" y="4972507"/>
            <a:ext cx="8299323" cy="305410"/>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「暗黙の了解」の理解</a:t>
            </a:r>
            <a:endParaRPr lang="en-US" sz="2000" dirty="0">
              <a:solidFill>
                <a:srgbClr val="000000"/>
              </a:solidFill>
              <a:latin typeface="+mn-ea"/>
            </a:endParaRPr>
          </a:p>
        </p:txBody>
      </p:sp>
      <p:sp>
        <p:nvSpPr>
          <p:cNvPr id="55" name="Text 21">
            <a:extLst>
              <a:ext uri="{FF2B5EF4-FFF2-40B4-BE49-F238E27FC236}">
                <a16:creationId xmlns:a16="http://schemas.microsoft.com/office/drawing/2014/main" id="{7B312BE2-A555-EE89-9F91-DA06C0EDD365}"/>
              </a:ext>
            </a:extLst>
          </p:cNvPr>
          <p:cNvSpPr txBox="1"/>
          <p:nvPr/>
        </p:nvSpPr>
        <p:spPr>
          <a:xfrm>
            <a:off x="1430002" y="5311751"/>
            <a:ext cx="8299323" cy="898855"/>
          </a:xfrm>
          <a:prstGeom prst="rect">
            <a:avLst/>
          </a:prstGeom>
          <a:noFill/>
          <a:ln/>
        </p:spPr>
        <p:txBody>
          <a:bodyPr wrap="square" lIns="0" tIns="0" rIns="0" bIns="0" rtlCol="0" anchor="t"/>
          <a:lstStyle/>
          <a:p>
            <a:pPr defTabSz="925880">
              <a:lnSpc>
                <a:spcPts val="2210"/>
              </a:lnSpc>
            </a:pPr>
            <a:r>
              <a:rPr lang="en-US" sz="2000" dirty="0">
                <a:solidFill>
                  <a:srgbClr val="333333"/>
                </a:solidFill>
                <a:latin typeface="+mn-ea"/>
                <a:cs typeface="游ゴシック" pitchFamily="34" charset="-120"/>
              </a:rPr>
              <a:t>言葉になっていない</a:t>
            </a:r>
            <a:r>
              <a:rPr lang="en-US" sz="2000" b="1" dirty="0">
                <a:solidFill>
                  <a:srgbClr val="333333"/>
                </a:solidFill>
                <a:latin typeface="+mn-ea"/>
                <a:cs typeface="游ゴシック" pitchFamily="34" charset="-120"/>
              </a:rPr>
              <a:t>背景や空気を読むことはできません</a:t>
            </a:r>
            <a:r>
              <a:rPr lang="en-US" sz="2000" dirty="0">
                <a:solidFill>
                  <a:srgbClr val="333333"/>
                </a:solidFill>
                <a:latin typeface="+mn-ea"/>
                <a:cs typeface="游ゴシック" pitchFamily="34" charset="-120"/>
              </a:rPr>
              <a:t>。</a:t>
            </a:r>
            <a:endParaRPr lang="en-US" sz="2000" dirty="0">
              <a:solidFill>
                <a:srgbClr val="000000"/>
              </a:solidFill>
              <a:latin typeface="+mn-ea"/>
            </a:endParaRPr>
          </a:p>
          <a:p>
            <a:pPr defTabSz="925880">
              <a:lnSpc>
                <a:spcPts val="2210"/>
              </a:lnSpc>
            </a:pPr>
            <a:r>
              <a:rPr lang="en-US" sz="2000" dirty="0">
                <a:solidFill>
                  <a:srgbClr val="333333"/>
                </a:solidFill>
                <a:latin typeface="+mn-ea"/>
                <a:cs typeface="游ゴシック" pitchFamily="34" charset="-120"/>
              </a:rPr>
              <a:t>指示は、</a:t>
            </a:r>
            <a:r>
              <a:rPr lang="en-US" sz="2000" b="1" dirty="0">
                <a:solidFill>
                  <a:srgbClr val="FF0000"/>
                </a:solidFill>
                <a:latin typeface="+mn-ea"/>
                <a:cs typeface="游ゴシック" pitchFamily="34" charset="-120"/>
              </a:rPr>
              <a:t>前提条件を含めて具体的に言語化</a:t>
            </a:r>
            <a:r>
              <a:rPr lang="en-US" sz="2000" dirty="0">
                <a:solidFill>
                  <a:srgbClr val="333333"/>
                </a:solidFill>
                <a:latin typeface="+mn-ea"/>
                <a:cs typeface="游ゴシック" pitchFamily="34" charset="-120"/>
              </a:rPr>
              <a:t>する必要があります。</a:t>
            </a:r>
            <a:endParaRPr lang="en-US" sz="2000" dirty="0">
              <a:solidFill>
                <a:srgbClr val="000000"/>
              </a:solidFill>
              <a:latin typeface="+mn-ea"/>
            </a:endParaRPr>
          </a:p>
        </p:txBody>
      </p:sp>
    </p:spTree>
    <p:extLst>
      <p:ext uri="{BB962C8B-B14F-4D97-AF65-F5344CB8AC3E}">
        <p14:creationId xmlns:p14="http://schemas.microsoft.com/office/powerpoint/2010/main" val="3045007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DC7DF-524F-4087-F719-59FAB9AEE8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712B70-6354-CF57-5A25-5E35604F48DE}"/>
              </a:ext>
            </a:extLst>
          </p:cNvPr>
          <p:cNvSpPr>
            <a:spLocks noGrp="1"/>
          </p:cNvSpPr>
          <p:nvPr>
            <p:ph type="title"/>
          </p:nvPr>
        </p:nvSpPr>
        <p:spPr/>
        <p:txBody>
          <a:bodyPr>
            <a:normAutofit/>
          </a:bodyPr>
          <a:lstStyle/>
          <a:p>
            <a:r>
              <a:rPr lang="en-US" altLang="ja-JP" dirty="0">
                <a:latin typeface="+mn-ea"/>
                <a:ea typeface="+mn-ea"/>
              </a:rPr>
              <a:t>2-5.</a:t>
            </a:r>
            <a:r>
              <a:rPr lang="ja-JP" altLang="en-US" dirty="0">
                <a:latin typeface="+mn-ea"/>
                <a:ea typeface="+mn-ea"/>
              </a:rPr>
              <a:t> 生成</a:t>
            </a:r>
            <a:r>
              <a:rPr lang="en-US" altLang="ja-JP" dirty="0">
                <a:latin typeface="+mn-ea"/>
                <a:ea typeface="+mn-ea"/>
              </a:rPr>
              <a:t>AI</a:t>
            </a:r>
            <a:r>
              <a:rPr lang="ja-JP" altLang="en-US" dirty="0">
                <a:latin typeface="+mn-ea"/>
                <a:ea typeface="+mn-ea"/>
              </a:rPr>
              <a:t>を使う心得８条</a:t>
            </a:r>
          </a:p>
        </p:txBody>
      </p:sp>
      <p:sp>
        <p:nvSpPr>
          <p:cNvPr id="33" name="Text 9">
            <a:extLst>
              <a:ext uri="{FF2B5EF4-FFF2-40B4-BE49-F238E27FC236}">
                <a16:creationId xmlns:a16="http://schemas.microsoft.com/office/drawing/2014/main" id="{8001DE72-48DB-7E0B-C0DD-D699B12569C7}"/>
              </a:ext>
            </a:extLst>
          </p:cNvPr>
          <p:cNvSpPr txBox="1"/>
          <p:nvPr/>
        </p:nvSpPr>
        <p:spPr>
          <a:xfrm>
            <a:off x="457995" y="1047902"/>
            <a:ext cx="9301500" cy="228600"/>
          </a:xfrm>
          <a:prstGeom prst="rect">
            <a:avLst/>
          </a:prstGeom>
          <a:noFill/>
          <a:ln/>
        </p:spPr>
        <p:txBody>
          <a:bodyPr wrap="none" lIns="0" tIns="0" rIns="0" bIns="0" rtlCol="0" anchor="t"/>
          <a:lstStyle/>
          <a:p>
            <a:pPr defTabSz="925880"/>
            <a:r>
              <a:rPr lang="en-US" altLang="ja-JP" sz="2000" dirty="0">
                <a:solidFill>
                  <a:srgbClr val="000000"/>
                </a:solidFill>
                <a:latin typeface="+mn-ea"/>
              </a:rPr>
              <a:t>POSTS</a:t>
            </a:r>
            <a:r>
              <a:rPr lang="ja-JP" altLang="en-US" sz="2000" dirty="0">
                <a:solidFill>
                  <a:srgbClr val="000000"/>
                </a:solidFill>
                <a:latin typeface="+mn-ea"/>
              </a:rPr>
              <a:t>代表　梶谷健人氏の「入社一年目の生成</a:t>
            </a:r>
            <a:r>
              <a:rPr lang="en-US" altLang="ja-JP" sz="2000" dirty="0">
                <a:solidFill>
                  <a:srgbClr val="000000"/>
                </a:solidFill>
                <a:latin typeface="+mn-ea"/>
              </a:rPr>
              <a:t>AI</a:t>
            </a:r>
            <a:r>
              <a:rPr lang="ja-JP" altLang="en-US" sz="2000" dirty="0">
                <a:solidFill>
                  <a:srgbClr val="000000"/>
                </a:solidFill>
                <a:latin typeface="+mn-ea"/>
              </a:rPr>
              <a:t>の教科書」</a:t>
            </a:r>
            <a:r>
              <a:rPr lang="en-US" altLang="ja-JP" sz="2000" dirty="0">
                <a:solidFill>
                  <a:srgbClr val="000000"/>
                </a:solidFill>
                <a:latin typeface="+mn-ea"/>
              </a:rPr>
              <a:t>※</a:t>
            </a:r>
            <a:r>
              <a:rPr lang="ja-JP" altLang="en-US" sz="2000" dirty="0">
                <a:solidFill>
                  <a:srgbClr val="000000"/>
                </a:solidFill>
                <a:latin typeface="+mn-ea"/>
              </a:rPr>
              <a:t>より抜粋。</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en-US" altLang="ja-JP" sz="2000" dirty="0">
                <a:solidFill>
                  <a:srgbClr val="000000"/>
                </a:solidFill>
                <a:latin typeface="+mn-ea"/>
              </a:rPr>
              <a:t>※ </a:t>
            </a:r>
            <a:r>
              <a:rPr lang="en-US" altLang="ja-JP" sz="2000" dirty="0">
                <a:solidFill>
                  <a:srgbClr val="000000"/>
                </a:solidFill>
                <a:latin typeface="+mn-ea"/>
                <a:hlinkClick r:id="rId2"/>
              </a:rPr>
              <a:t>https://note.com/kajiken0630/n/nceb7f1b4fdd6</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① </a:t>
            </a:r>
            <a:r>
              <a:rPr lang="en-US" altLang="ja-JP" sz="2000" dirty="0">
                <a:solidFill>
                  <a:srgbClr val="000000"/>
                </a:solidFill>
                <a:latin typeface="+mn-ea"/>
              </a:rPr>
              <a:t>AI</a:t>
            </a:r>
            <a:r>
              <a:rPr lang="ja-JP" altLang="en-US" sz="2000" dirty="0">
                <a:solidFill>
                  <a:srgbClr val="000000"/>
                </a:solidFill>
                <a:latin typeface="+mn-ea"/>
              </a:rPr>
              <a:t>を「０→</a:t>
            </a:r>
            <a:r>
              <a:rPr lang="en-US" altLang="ja-JP" sz="2000" dirty="0">
                <a:solidFill>
                  <a:srgbClr val="000000"/>
                </a:solidFill>
                <a:latin typeface="+mn-ea"/>
              </a:rPr>
              <a:t>100</a:t>
            </a:r>
            <a:r>
              <a:rPr lang="ja-JP" altLang="en-US" sz="2000" dirty="0">
                <a:solidFill>
                  <a:srgbClr val="000000"/>
                </a:solidFill>
                <a:latin typeface="+mn-ea"/>
              </a:rPr>
              <a:t>」で使おうとしない</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② </a:t>
            </a:r>
            <a:r>
              <a:rPr lang="en-US" altLang="ja-JP" sz="2000" dirty="0">
                <a:solidFill>
                  <a:srgbClr val="000000"/>
                </a:solidFill>
                <a:latin typeface="+mn-ea"/>
              </a:rPr>
              <a:t>AI</a:t>
            </a:r>
            <a:r>
              <a:rPr lang="ja-JP" altLang="en-US" sz="2000" dirty="0">
                <a:solidFill>
                  <a:srgbClr val="000000"/>
                </a:solidFill>
                <a:latin typeface="+mn-ea"/>
              </a:rPr>
              <a:t>を「思考の下処理」として使う</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③ </a:t>
            </a:r>
            <a:r>
              <a:rPr lang="en-US" altLang="ja-JP" sz="2000" dirty="0">
                <a:solidFill>
                  <a:srgbClr val="000000"/>
                </a:solidFill>
                <a:latin typeface="+mn-ea"/>
              </a:rPr>
              <a:t>LLM</a:t>
            </a:r>
            <a:r>
              <a:rPr lang="ja-JP" altLang="en-US" sz="2000" dirty="0">
                <a:solidFill>
                  <a:srgbClr val="000000"/>
                </a:solidFill>
                <a:latin typeface="+mn-ea"/>
              </a:rPr>
              <a:t>は物事を「理解しているわけではない」ことを理解する</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④ </a:t>
            </a:r>
            <a:r>
              <a:rPr lang="en-US" altLang="ja-JP" sz="2000" dirty="0">
                <a:solidFill>
                  <a:srgbClr val="000000"/>
                </a:solidFill>
                <a:latin typeface="+mn-ea"/>
              </a:rPr>
              <a:t>AI</a:t>
            </a:r>
            <a:r>
              <a:rPr lang="ja-JP" altLang="en-US" sz="2000" dirty="0">
                <a:solidFill>
                  <a:srgbClr val="000000"/>
                </a:solidFill>
                <a:latin typeface="+mn-ea"/>
              </a:rPr>
              <a:t>への評価を１ヶ月以上固定化しない</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⑤ </a:t>
            </a:r>
            <a:r>
              <a:rPr lang="en-US" altLang="ja-JP" sz="2000" dirty="0">
                <a:solidFill>
                  <a:srgbClr val="000000"/>
                </a:solidFill>
                <a:latin typeface="+mn-ea"/>
              </a:rPr>
              <a:t>AI</a:t>
            </a:r>
            <a:r>
              <a:rPr lang="ja-JP" altLang="en-US" sz="2000" dirty="0">
                <a:solidFill>
                  <a:srgbClr val="000000"/>
                </a:solidFill>
                <a:latin typeface="+mn-ea"/>
              </a:rPr>
              <a:t>は人間を代替するものではなく、エンパワーメントするものとして捉える</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⑥ 「本の表紙」ではなく「中身」を読む</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⑦ 良いプロンプトとは即ち「部下への良い指示」であると知る</a:t>
            </a:r>
            <a:endParaRPr lang="en-US" altLang="ja-JP" sz="2000" dirty="0">
              <a:solidFill>
                <a:srgbClr val="000000"/>
              </a:solidFill>
              <a:latin typeface="+mn-ea"/>
            </a:endParaRPr>
          </a:p>
          <a:p>
            <a:pPr defTabSz="925880"/>
            <a:r>
              <a:rPr lang="en-US" altLang="ja-JP" sz="2000" dirty="0">
                <a:solidFill>
                  <a:srgbClr val="000000"/>
                </a:solidFill>
                <a:latin typeface="+mn-ea"/>
              </a:rPr>
              <a:t>	</a:t>
            </a:r>
            <a:r>
              <a:rPr lang="ja-JP" altLang="en-US" sz="2000" dirty="0">
                <a:solidFill>
                  <a:srgbClr val="000000"/>
                </a:solidFill>
                <a:latin typeface="+mn-ea"/>
              </a:rPr>
              <a:t>⑧ ガイドラインや社内ルールを踏まえて活用する</a:t>
            </a:r>
            <a:endParaRPr lang="en-US" altLang="ja-JP" sz="2000" dirty="0">
              <a:solidFill>
                <a:srgbClr val="000000"/>
              </a:solidFill>
              <a:latin typeface="+mn-ea"/>
            </a:endParaRPr>
          </a:p>
        </p:txBody>
      </p:sp>
    </p:spTree>
    <p:extLst>
      <p:ext uri="{BB962C8B-B14F-4D97-AF65-F5344CB8AC3E}">
        <p14:creationId xmlns:p14="http://schemas.microsoft.com/office/powerpoint/2010/main" val="1108443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pPr defTabSz="457166"/>
            <a:r>
              <a:rPr lang="en-US" altLang="ja-JP" spc="150" dirty="0">
                <a:solidFill>
                  <a:schemeClr val="accent2"/>
                </a:solidFill>
              </a:rPr>
              <a:t>03</a:t>
            </a:r>
            <a:endParaRPr lang="ja-JP" altLang="en-US" spc="150" dirty="0">
              <a:solidFill>
                <a:schemeClr val="accent2"/>
              </a:solidFill>
            </a:endParaRPr>
          </a:p>
        </p:txBody>
      </p:sp>
      <p:sp>
        <p:nvSpPr>
          <p:cNvPr id="6" name="テキスト プレースホルダー 5"/>
          <p:cNvSpPr>
            <a:spLocks noGrp="1"/>
          </p:cNvSpPr>
          <p:nvPr>
            <p:ph type="body" sz="quarter" idx="16"/>
          </p:nvPr>
        </p:nvSpPr>
        <p:spPr/>
        <p:txBody>
          <a:bodyPr/>
          <a:lstStyle/>
          <a:p>
            <a:r>
              <a:rPr lang="en-US" altLang="ja-JP" dirty="0">
                <a:latin typeface="+mj-ea"/>
                <a:ea typeface="+mj-ea"/>
              </a:rPr>
              <a:t>NTT</a:t>
            </a:r>
            <a:r>
              <a:rPr lang="ja-JP" altLang="en-US" dirty="0">
                <a:latin typeface="+mj-ea"/>
                <a:ea typeface="+mj-ea"/>
              </a:rPr>
              <a:t>データが目指す</a:t>
            </a:r>
            <a:br>
              <a:rPr lang="en-US" altLang="ja-JP" dirty="0">
                <a:latin typeface="+mj-ea"/>
                <a:ea typeface="+mj-ea"/>
              </a:rPr>
            </a:br>
            <a:r>
              <a:rPr lang="en-US" altLang="ja-JP" dirty="0">
                <a:latin typeface="+mj-ea"/>
                <a:ea typeface="+mj-ea"/>
              </a:rPr>
              <a:t>AI</a:t>
            </a:r>
            <a:r>
              <a:rPr lang="ja-JP" altLang="en-US" dirty="0">
                <a:latin typeface="+mj-ea"/>
                <a:ea typeface="+mj-ea"/>
              </a:rPr>
              <a:t>ビジネス（</a:t>
            </a:r>
            <a:r>
              <a:rPr lang="en-US" altLang="ja-JP" dirty="0">
                <a:latin typeface="+mj-ea"/>
                <a:ea typeface="+mj-ea"/>
              </a:rPr>
              <a:t>Vision</a:t>
            </a:r>
            <a:r>
              <a:rPr lang="ja-JP" altLang="en-US" dirty="0">
                <a:latin typeface="+mj-ea"/>
                <a:ea typeface="+mj-ea"/>
              </a:rPr>
              <a:t>）</a:t>
            </a:r>
            <a:endParaRPr lang="en-US" altLang="ja-JP" dirty="0">
              <a:latin typeface="+mj-ea"/>
              <a:ea typeface="+mj-ea"/>
            </a:endParaRPr>
          </a:p>
          <a:p>
            <a:endParaRPr lang="en-US" altLang="ja-JP" sz="2400" dirty="0">
              <a:latin typeface="+mj-ea"/>
              <a:ea typeface="+mj-ea"/>
            </a:endParaRPr>
          </a:p>
          <a:p>
            <a:r>
              <a:rPr lang="ja-JP" altLang="en-US" sz="2400" dirty="0">
                <a:latin typeface="+mj-ea"/>
                <a:ea typeface="+mj-ea"/>
              </a:rPr>
              <a:t>　　　～　</a:t>
            </a:r>
            <a:r>
              <a:rPr lang="en-US" altLang="ja-JP" sz="2400" dirty="0">
                <a:latin typeface="+mj-ea"/>
                <a:ea typeface="+mj-ea"/>
              </a:rPr>
              <a:t>FY26 </a:t>
            </a:r>
            <a:r>
              <a:rPr lang="ja-JP" altLang="en-US" sz="2400" dirty="0">
                <a:latin typeface="+mj-ea"/>
                <a:ea typeface="+mj-ea"/>
              </a:rPr>
              <a:t>新人研修「</a:t>
            </a:r>
            <a:r>
              <a:rPr lang="en-US" altLang="ja-JP" sz="2400" dirty="0">
                <a:latin typeface="+mj-ea"/>
                <a:ea typeface="+mj-ea"/>
              </a:rPr>
              <a:t>AI</a:t>
            </a:r>
            <a:r>
              <a:rPr lang="ja-JP" altLang="en-US" sz="2400" dirty="0">
                <a:latin typeface="+mj-ea"/>
                <a:ea typeface="+mj-ea"/>
              </a:rPr>
              <a:t>基礎」より　</a:t>
            </a:r>
            <a:r>
              <a:rPr lang="ja-JP" altLang="en-US" sz="2400" dirty="0">
                <a:latin typeface="+mj-ea"/>
              </a:rPr>
              <a:t>～</a:t>
            </a:r>
            <a:endParaRPr lang="en-US" altLang="ja-JP" sz="2400" dirty="0">
              <a:latin typeface="+mj-ea"/>
              <a:ea typeface="+mj-ea"/>
            </a:endParaRPr>
          </a:p>
          <a:p>
            <a:endParaRPr lang="en-US" altLang="ja-JP" dirty="0">
              <a:latin typeface="+mj-ea"/>
              <a:ea typeface="+mj-ea"/>
            </a:endParaRPr>
          </a:p>
          <a:p>
            <a:endParaRPr lang="ja-JP" altLang="en-US" dirty="0">
              <a:latin typeface="+mj-ea"/>
              <a:ea typeface="+mj-ea"/>
            </a:endParaRPr>
          </a:p>
        </p:txBody>
      </p:sp>
    </p:spTree>
    <p:extLst>
      <p:ext uri="{BB962C8B-B14F-4D97-AF65-F5344CB8AC3E}">
        <p14:creationId xmlns:p14="http://schemas.microsoft.com/office/powerpoint/2010/main" val="1849181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500F-4DBF-37A7-277A-FFAEBCA84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8CD51F-6960-CC19-BE92-43FC151E9BFE}"/>
              </a:ext>
            </a:extLst>
          </p:cNvPr>
          <p:cNvSpPr>
            <a:spLocks noGrp="1"/>
          </p:cNvSpPr>
          <p:nvPr>
            <p:ph type="title"/>
          </p:nvPr>
        </p:nvSpPr>
        <p:spPr/>
        <p:txBody>
          <a:bodyPr>
            <a:normAutofit/>
          </a:bodyPr>
          <a:lstStyle/>
          <a:p>
            <a:r>
              <a:rPr lang="en-US" altLang="ja-JP" dirty="0">
                <a:latin typeface="+mn-ea"/>
                <a:ea typeface="+mn-ea"/>
              </a:rPr>
              <a:t>3-1. </a:t>
            </a:r>
            <a:r>
              <a:rPr lang="ja-JP" altLang="en-US" dirty="0">
                <a:latin typeface="+mn-ea"/>
                <a:ea typeface="+mn-ea"/>
              </a:rPr>
              <a:t>本モジュールで学ぶこと①</a:t>
            </a:r>
          </a:p>
        </p:txBody>
      </p:sp>
      <p:sp>
        <p:nvSpPr>
          <p:cNvPr id="4" name="Google Shape;583;p3">
            <a:extLst>
              <a:ext uri="{FF2B5EF4-FFF2-40B4-BE49-F238E27FC236}">
                <a16:creationId xmlns:a16="http://schemas.microsoft.com/office/drawing/2014/main" id="{D1591379-9BEE-AB03-DC4A-65A500152495}"/>
              </a:ext>
            </a:extLst>
          </p:cNvPr>
          <p:cNvSpPr txBox="1"/>
          <p:nvPr/>
        </p:nvSpPr>
        <p:spPr>
          <a:xfrm>
            <a:off x="258884"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01</a:t>
            </a:r>
            <a:endParaRPr lang="ja-JP" altLang="en-US" sz="2000" b="1" dirty="0">
              <a:solidFill>
                <a:srgbClr val="FFFFFF"/>
              </a:solidFill>
              <a:latin typeface="+mn-ea"/>
              <a:cs typeface="MS PGothic"/>
              <a:sym typeface="MS PGothic"/>
            </a:endParaRPr>
          </a:p>
        </p:txBody>
      </p:sp>
      <p:sp>
        <p:nvSpPr>
          <p:cNvPr id="6" name="Google Shape;583;p3">
            <a:extLst>
              <a:ext uri="{FF2B5EF4-FFF2-40B4-BE49-F238E27FC236}">
                <a16:creationId xmlns:a16="http://schemas.microsoft.com/office/drawing/2014/main" id="{A4401AC0-371B-0BFA-3907-55EE4F1C67FD}"/>
              </a:ext>
            </a:extLst>
          </p:cNvPr>
          <p:cNvSpPr txBox="1"/>
          <p:nvPr/>
        </p:nvSpPr>
        <p:spPr>
          <a:xfrm>
            <a:off x="3474994"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02</a:t>
            </a:r>
            <a:endParaRPr lang="ja-JP" altLang="en-US" sz="2000" b="1" dirty="0">
              <a:solidFill>
                <a:srgbClr val="FFFFFF"/>
              </a:solidFill>
              <a:latin typeface="+mn-ea"/>
              <a:cs typeface="MS PGothic"/>
              <a:sym typeface="MS PGothic"/>
            </a:endParaRPr>
          </a:p>
        </p:txBody>
      </p:sp>
      <p:sp>
        <p:nvSpPr>
          <p:cNvPr id="9" name="Google Shape;583;p3">
            <a:extLst>
              <a:ext uri="{FF2B5EF4-FFF2-40B4-BE49-F238E27FC236}">
                <a16:creationId xmlns:a16="http://schemas.microsoft.com/office/drawing/2014/main" id="{E29A9BA3-9740-EF18-F334-8849E5070AF8}"/>
              </a:ext>
            </a:extLst>
          </p:cNvPr>
          <p:cNvSpPr txBox="1"/>
          <p:nvPr/>
        </p:nvSpPr>
        <p:spPr>
          <a:xfrm>
            <a:off x="6549704"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algn="ctr" defTabSz="925880"/>
            <a:r>
              <a:rPr lang="en-US" altLang="zh-TW" sz="2000" b="1" dirty="0">
                <a:solidFill>
                  <a:srgbClr val="FFFFFF"/>
                </a:solidFill>
                <a:latin typeface="+mn-ea"/>
                <a:cs typeface="MS PGothic"/>
                <a:sym typeface="MS PGothic"/>
              </a:rPr>
              <a:t>03</a:t>
            </a:r>
            <a:endParaRPr lang="ja-JP" altLang="en-US" sz="2000" b="1" dirty="0">
              <a:solidFill>
                <a:srgbClr val="FFFFFF"/>
              </a:solidFill>
              <a:latin typeface="+mn-ea"/>
              <a:cs typeface="MS PGothic"/>
              <a:sym typeface="MS PGothic"/>
            </a:endParaRPr>
          </a:p>
        </p:txBody>
      </p:sp>
      <p:sp>
        <p:nvSpPr>
          <p:cNvPr id="28" name="Google Shape;601;p3">
            <a:extLst>
              <a:ext uri="{FF2B5EF4-FFF2-40B4-BE49-F238E27FC236}">
                <a16:creationId xmlns:a16="http://schemas.microsoft.com/office/drawing/2014/main" id="{A0C9F144-9F72-3AC4-EFE0-38EAAB28F4F3}"/>
              </a:ext>
            </a:extLst>
          </p:cNvPr>
          <p:cNvSpPr/>
          <p:nvPr/>
        </p:nvSpPr>
        <p:spPr>
          <a:xfrm>
            <a:off x="25888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3" name="Google Shape;601;p3">
            <a:extLst>
              <a:ext uri="{FF2B5EF4-FFF2-40B4-BE49-F238E27FC236}">
                <a16:creationId xmlns:a16="http://schemas.microsoft.com/office/drawing/2014/main" id="{B25D7664-E892-4CCF-DC76-74CEE475C367}"/>
              </a:ext>
            </a:extLst>
          </p:cNvPr>
          <p:cNvSpPr/>
          <p:nvPr/>
        </p:nvSpPr>
        <p:spPr>
          <a:xfrm>
            <a:off x="347499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7" name="Google Shape;601;p3">
            <a:extLst>
              <a:ext uri="{FF2B5EF4-FFF2-40B4-BE49-F238E27FC236}">
                <a16:creationId xmlns:a16="http://schemas.microsoft.com/office/drawing/2014/main" id="{8237323F-61C8-7778-1107-D1342569B8C2}"/>
              </a:ext>
            </a:extLst>
          </p:cNvPr>
          <p:cNvSpPr/>
          <p:nvPr/>
        </p:nvSpPr>
        <p:spPr>
          <a:xfrm>
            <a:off x="6549110"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7" name="正方形/長方形 6">
            <a:extLst>
              <a:ext uri="{FF2B5EF4-FFF2-40B4-BE49-F238E27FC236}">
                <a16:creationId xmlns:a16="http://schemas.microsoft.com/office/drawing/2014/main" id="{AF0DD174-848D-957D-FD5F-6DE32398ED94}"/>
              </a:ext>
            </a:extLst>
          </p:cNvPr>
          <p:cNvSpPr/>
          <p:nvPr/>
        </p:nvSpPr>
        <p:spPr>
          <a:xfrm>
            <a:off x="3370483" y="1176056"/>
            <a:ext cx="626450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2000" dirty="0">
              <a:solidFill>
                <a:srgbClr val="FFFFFF"/>
              </a:solidFill>
              <a:latin typeface="+mn-ea"/>
            </a:endParaRPr>
          </a:p>
        </p:txBody>
      </p:sp>
      <p:sp>
        <p:nvSpPr>
          <p:cNvPr id="8" name="正方形/長方形 7">
            <a:extLst>
              <a:ext uri="{FF2B5EF4-FFF2-40B4-BE49-F238E27FC236}">
                <a16:creationId xmlns:a16="http://schemas.microsoft.com/office/drawing/2014/main" id="{35552B6A-7B8B-E91F-D605-7AC775606B7D}"/>
              </a:ext>
            </a:extLst>
          </p:cNvPr>
          <p:cNvSpPr/>
          <p:nvPr/>
        </p:nvSpPr>
        <p:spPr>
          <a:xfrm>
            <a:off x="167017" y="1176056"/>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2000" dirty="0">
              <a:solidFill>
                <a:srgbClr val="FFFFFF"/>
              </a:solidFill>
              <a:latin typeface="+mn-ea"/>
            </a:endParaRPr>
          </a:p>
        </p:txBody>
      </p:sp>
      <p:sp>
        <p:nvSpPr>
          <p:cNvPr id="5" name="テキスト ボックス 4">
            <a:extLst>
              <a:ext uri="{FF2B5EF4-FFF2-40B4-BE49-F238E27FC236}">
                <a16:creationId xmlns:a16="http://schemas.microsoft.com/office/drawing/2014/main" id="{7E708CA5-D8DA-59B5-4662-4A2430B8AA0B}"/>
              </a:ext>
            </a:extLst>
          </p:cNvPr>
          <p:cNvSpPr txBox="1"/>
          <p:nvPr/>
        </p:nvSpPr>
        <p:spPr>
          <a:xfrm>
            <a:off x="258884" y="2305157"/>
            <a:ext cx="2898605" cy="461665"/>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① </a:t>
            </a:r>
            <a:r>
              <a:rPr lang="en-US" altLang="ja-JP" sz="2000" b="1" dirty="0">
                <a:solidFill>
                  <a:srgbClr val="000000"/>
                </a:solidFill>
                <a:latin typeface="+mn-ea"/>
              </a:rPr>
              <a:t>NTT</a:t>
            </a:r>
            <a:r>
              <a:rPr lang="ja-JP" altLang="en-US" sz="2000" b="1" dirty="0">
                <a:solidFill>
                  <a:srgbClr val="000000"/>
                </a:solidFill>
                <a:latin typeface="+mn-ea"/>
              </a:rPr>
              <a:t>データの</a:t>
            </a:r>
            <a:r>
              <a:rPr lang="en-US" altLang="ja-JP" sz="2000" b="1" dirty="0">
                <a:solidFill>
                  <a:srgbClr val="000000"/>
                </a:solidFill>
                <a:latin typeface="+mn-ea"/>
              </a:rPr>
              <a:t>AI</a:t>
            </a:r>
            <a:r>
              <a:rPr lang="ja-JP" altLang="en-US" sz="2000" b="1" dirty="0">
                <a:solidFill>
                  <a:srgbClr val="000000"/>
                </a:solidFill>
                <a:latin typeface="+mn-ea"/>
              </a:rPr>
              <a:t>戦略</a:t>
            </a:r>
          </a:p>
        </p:txBody>
      </p:sp>
      <p:cxnSp>
        <p:nvCxnSpPr>
          <p:cNvPr id="10" name="直線コネクタ 9">
            <a:extLst>
              <a:ext uri="{FF2B5EF4-FFF2-40B4-BE49-F238E27FC236}">
                <a16:creationId xmlns:a16="http://schemas.microsoft.com/office/drawing/2014/main" id="{2777A8BD-1768-BBA2-F37A-723CA9716B40}"/>
              </a:ext>
            </a:extLst>
          </p:cNvPr>
          <p:cNvCxnSpPr>
            <a:cxnSpLocks/>
          </p:cNvCxnSpPr>
          <p:nvPr/>
        </p:nvCxnSpPr>
        <p:spPr>
          <a:xfrm>
            <a:off x="46232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27840DA-733D-DE65-FC86-6DF60046DFB5}"/>
              </a:ext>
            </a:extLst>
          </p:cNvPr>
          <p:cNvSpPr txBox="1"/>
          <p:nvPr/>
        </p:nvSpPr>
        <p:spPr>
          <a:xfrm>
            <a:off x="302070" y="3643453"/>
            <a:ext cx="2799185" cy="1569660"/>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a:t>
            </a:r>
            <a:r>
              <a:rPr lang="en-US" altLang="ja-JP" sz="2000" dirty="0">
                <a:solidFill>
                  <a:srgbClr val="000000"/>
                </a:solidFill>
                <a:latin typeface="+mn-ea"/>
              </a:rPr>
              <a:t>Quality Growth</a:t>
            </a:r>
            <a:r>
              <a:rPr lang="ja-JP" altLang="en-US" sz="2000" dirty="0">
                <a:solidFill>
                  <a:srgbClr val="000000"/>
                </a:solidFill>
                <a:latin typeface="+mn-ea"/>
              </a:rPr>
              <a:t>」を掲げ、</a:t>
            </a:r>
            <a:r>
              <a:rPr lang="en-US" altLang="ja-JP" sz="2000" dirty="0">
                <a:solidFill>
                  <a:srgbClr val="000000"/>
                </a:solidFill>
                <a:latin typeface="+mn-ea"/>
              </a:rPr>
              <a:t>AI</a:t>
            </a:r>
            <a:r>
              <a:rPr lang="ja-JP" altLang="en-US" sz="2000" dirty="0">
                <a:solidFill>
                  <a:srgbClr val="000000"/>
                </a:solidFill>
                <a:latin typeface="+mn-ea"/>
              </a:rPr>
              <a:t>をどのように事業の中核に据えているかを理解する。</a:t>
            </a:r>
          </a:p>
        </p:txBody>
      </p:sp>
      <p:sp>
        <p:nvSpPr>
          <p:cNvPr id="12" name="テキスト ボックス 11">
            <a:extLst>
              <a:ext uri="{FF2B5EF4-FFF2-40B4-BE49-F238E27FC236}">
                <a16:creationId xmlns:a16="http://schemas.microsoft.com/office/drawing/2014/main" id="{EA25EA7E-2A03-D74A-04B9-20165B009B4A}"/>
              </a:ext>
            </a:extLst>
          </p:cNvPr>
          <p:cNvSpPr txBox="1"/>
          <p:nvPr/>
        </p:nvSpPr>
        <p:spPr>
          <a:xfrm>
            <a:off x="3474994" y="2299052"/>
            <a:ext cx="2895249" cy="830997"/>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② 生成</a:t>
            </a:r>
            <a:r>
              <a:rPr lang="en-US" altLang="ja-JP" sz="2000" b="1" dirty="0">
                <a:solidFill>
                  <a:srgbClr val="000000"/>
                </a:solidFill>
                <a:latin typeface="+mn-ea"/>
              </a:rPr>
              <a:t>AI</a:t>
            </a:r>
            <a:r>
              <a:rPr lang="ja-JP" altLang="en-US" sz="2000" b="1" dirty="0">
                <a:solidFill>
                  <a:srgbClr val="000000"/>
                </a:solidFill>
                <a:latin typeface="+mn-ea"/>
              </a:rPr>
              <a:t>の進化と</a:t>
            </a:r>
            <a:r>
              <a:rPr lang="en-US" altLang="ja-JP" sz="2000" b="1" dirty="0">
                <a:solidFill>
                  <a:srgbClr val="000000"/>
                </a:solidFill>
                <a:latin typeface="+mn-ea"/>
              </a:rPr>
              <a:t>Agentic AI</a:t>
            </a:r>
          </a:p>
        </p:txBody>
      </p:sp>
      <p:sp>
        <p:nvSpPr>
          <p:cNvPr id="14" name="テキスト ボックス 13">
            <a:extLst>
              <a:ext uri="{FF2B5EF4-FFF2-40B4-BE49-F238E27FC236}">
                <a16:creationId xmlns:a16="http://schemas.microsoft.com/office/drawing/2014/main" id="{480C0C1F-999E-2FEB-411A-429A52C134BD}"/>
              </a:ext>
            </a:extLst>
          </p:cNvPr>
          <p:cNvSpPr txBox="1"/>
          <p:nvPr/>
        </p:nvSpPr>
        <p:spPr>
          <a:xfrm>
            <a:off x="3518181" y="3643453"/>
            <a:ext cx="2799185" cy="1897571"/>
          </a:xfrm>
          <a:prstGeom prst="rect">
            <a:avLst/>
          </a:prstGeom>
          <a:noFill/>
        </p:spPr>
        <p:txBody>
          <a:bodyPr wrap="square">
            <a:spAutoFit/>
          </a:bodyPr>
          <a:lstStyle/>
          <a:p>
            <a:pPr defTabSz="925880">
              <a:lnSpc>
                <a:spcPct val="120000"/>
              </a:lnSpc>
            </a:pPr>
            <a:r>
              <a:rPr lang="ja-JP" altLang="en-US" sz="2000" dirty="0">
                <a:solidFill>
                  <a:srgbClr val="000000"/>
                </a:solidFill>
                <a:latin typeface="+mn-ea"/>
              </a:rPr>
              <a:t>生成</a:t>
            </a:r>
            <a:r>
              <a:rPr lang="en-US" altLang="ja-JP" sz="2000" dirty="0">
                <a:solidFill>
                  <a:srgbClr val="000000"/>
                </a:solidFill>
                <a:latin typeface="+mn-ea"/>
              </a:rPr>
              <a:t>AI</a:t>
            </a:r>
            <a:r>
              <a:rPr lang="ja-JP" altLang="en-US" sz="2000" dirty="0">
                <a:solidFill>
                  <a:srgbClr val="000000"/>
                </a:solidFill>
                <a:latin typeface="+mn-ea"/>
              </a:rPr>
              <a:t>が</a:t>
            </a:r>
            <a:r>
              <a:rPr lang="en-US" altLang="ja-JP" sz="2000" dirty="0">
                <a:solidFill>
                  <a:srgbClr val="000000"/>
                </a:solidFill>
                <a:latin typeface="+mn-ea"/>
              </a:rPr>
              <a:t>Level1</a:t>
            </a:r>
            <a:r>
              <a:rPr lang="ja-JP" altLang="en-US" sz="2000" dirty="0">
                <a:solidFill>
                  <a:srgbClr val="000000"/>
                </a:solidFill>
                <a:latin typeface="+mn-ea"/>
              </a:rPr>
              <a:t>（チャットボット）から</a:t>
            </a:r>
            <a:r>
              <a:rPr lang="en-US" altLang="ja-JP" sz="2000" dirty="0">
                <a:solidFill>
                  <a:srgbClr val="000000"/>
                </a:solidFill>
                <a:latin typeface="+mn-ea"/>
              </a:rPr>
              <a:t>Level3</a:t>
            </a:r>
            <a:r>
              <a:rPr lang="ja-JP" altLang="en-US" sz="2000" dirty="0">
                <a:solidFill>
                  <a:srgbClr val="000000"/>
                </a:solidFill>
                <a:latin typeface="+mn-ea"/>
              </a:rPr>
              <a:t>（エージェント）へ進化する中で、何が変わるのかを理解する。</a:t>
            </a:r>
          </a:p>
        </p:txBody>
      </p:sp>
      <p:sp>
        <p:nvSpPr>
          <p:cNvPr id="15" name="テキスト ボックス 14">
            <a:extLst>
              <a:ext uri="{FF2B5EF4-FFF2-40B4-BE49-F238E27FC236}">
                <a16:creationId xmlns:a16="http://schemas.microsoft.com/office/drawing/2014/main" id="{FBDBC7C5-4811-FF09-D631-25FFD51D8A69}"/>
              </a:ext>
            </a:extLst>
          </p:cNvPr>
          <p:cNvSpPr txBox="1"/>
          <p:nvPr/>
        </p:nvSpPr>
        <p:spPr>
          <a:xfrm>
            <a:off x="6545754" y="2275789"/>
            <a:ext cx="2912843" cy="1200329"/>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③ </a:t>
            </a:r>
            <a:r>
              <a:rPr lang="en-US" altLang="ja-JP" sz="2000" b="1" dirty="0">
                <a:solidFill>
                  <a:srgbClr val="000000"/>
                </a:solidFill>
                <a:latin typeface="+mn-ea"/>
              </a:rPr>
              <a:t>NTT</a:t>
            </a:r>
            <a:r>
              <a:rPr lang="ja-JP" altLang="en-US" sz="2000" b="1" dirty="0">
                <a:solidFill>
                  <a:srgbClr val="000000"/>
                </a:solidFill>
                <a:latin typeface="+mn-ea"/>
              </a:rPr>
              <a:t>データが描く</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未来と社員として</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知っておくべきこと</a:t>
            </a:r>
          </a:p>
        </p:txBody>
      </p:sp>
      <p:sp>
        <p:nvSpPr>
          <p:cNvPr id="17" name="テキスト ボックス 16">
            <a:extLst>
              <a:ext uri="{FF2B5EF4-FFF2-40B4-BE49-F238E27FC236}">
                <a16:creationId xmlns:a16="http://schemas.microsoft.com/office/drawing/2014/main" id="{E1338468-5306-0393-71FE-A4B7CDFED326}"/>
              </a:ext>
            </a:extLst>
          </p:cNvPr>
          <p:cNvSpPr txBox="1"/>
          <p:nvPr/>
        </p:nvSpPr>
        <p:spPr>
          <a:xfrm>
            <a:off x="6598819" y="3643453"/>
            <a:ext cx="2799185" cy="1938992"/>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データが描く</a:t>
            </a:r>
            <a:r>
              <a:rPr lang="en-US" altLang="ja-JP" sz="2000" dirty="0">
                <a:solidFill>
                  <a:srgbClr val="000000"/>
                </a:solidFill>
                <a:latin typeface="+mn-ea"/>
              </a:rPr>
              <a:t>AI</a:t>
            </a:r>
            <a:r>
              <a:rPr lang="ja-JP" altLang="en-US" sz="2000" dirty="0">
                <a:solidFill>
                  <a:srgbClr val="000000"/>
                </a:solidFill>
                <a:latin typeface="+mn-ea"/>
              </a:rPr>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816C9B70-41E0-DEFB-44E4-F93087DD250E}"/>
              </a:ext>
            </a:extLst>
          </p:cNvPr>
          <p:cNvCxnSpPr>
            <a:cxnSpLocks/>
          </p:cNvCxnSpPr>
          <p:nvPr/>
        </p:nvCxnSpPr>
        <p:spPr>
          <a:xfrm>
            <a:off x="3713978"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06B42E29-7FA7-B662-A332-04AF9E959AC8}"/>
              </a:ext>
            </a:extLst>
          </p:cNvPr>
          <p:cNvCxnSpPr>
            <a:cxnSpLocks/>
          </p:cNvCxnSpPr>
          <p:nvPr/>
        </p:nvCxnSpPr>
        <p:spPr>
          <a:xfrm>
            <a:off x="675859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8570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2BFA-68F9-EBC7-B8CB-964406A0BA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FBFF63-C415-C4C3-5F64-BA091BAF86C6}"/>
              </a:ext>
            </a:extLst>
          </p:cNvPr>
          <p:cNvSpPr>
            <a:spLocks noGrp="1"/>
          </p:cNvSpPr>
          <p:nvPr>
            <p:ph type="title"/>
          </p:nvPr>
        </p:nvSpPr>
        <p:spPr/>
        <p:txBody>
          <a:bodyPr>
            <a:normAutofit/>
          </a:bodyPr>
          <a:lstStyle/>
          <a:p>
            <a:r>
              <a:rPr lang="en-US" altLang="ja-JP" dirty="0">
                <a:latin typeface="+mn-ea"/>
                <a:ea typeface="+mn-ea"/>
              </a:rPr>
              <a:t>3-2. NTT</a:t>
            </a:r>
            <a:r>
              <a:rPr lang="ja-JP" altLang="en-US" dirty="0">
                <a:latin typeface="+mn-ea"/>
                <a:ea typeface="+mn-ea"/>
              </a:rPr>
              <a:t>データの</a:t>
            </a:r>
            <a:r>
              <a:rPr lang="en-US" altLang="ja-JP" dirty="0">
                <a:latin typeface="+mn-ea"/>
                <a:ea typeface="+mn-ea"/>
              </a:rPr>
              <a:t>AI</a:t>
            </a:r>
            <a:r>
              <a:rPr lang="ja-JP" altLang="en-US" dirty="0">
                <a:latin typeface="+mn-ea"/>
                <a:ea typeface="+mn-ea"/>
              </a:rPr>
              <a:t>戦略：</a:t>
            </a:r>
            <a:r>
              <a:rPr lang="en-US" altLang="ja-JP" dirty="0">
                <a:latin typeface="+mn-ea"/>
                <a:ea typeface="+mn-ea"/>
              </a:rPr>
              <a:t>Quality Growth</a:t>
            </a:r>
            <a:r>
              <a:rPr lang="ja-JP" altLang="en-US" dirty="0">
                <a:latin typeface="+mn-ea"/>
                <a:ea typeface="+mn-ea"/>
              </a:rPr>
              <a:t>とは</a:t>
            </a:r>
          </a:p>
        </p:txBody>
      </p:sp>
      <p:sp>
        <p:nvSpPr>
          <p:cNvPr id="29" name="テキスト ボックス 25">
            <a:extLst>
              <a:ext uri="{FF2B5EF4-FFF2-40B4-BE49-F238E27FC236}">
                <a16:creationId xmlns:a16="http://schemas.microsoft.com/office/drawing/2014/main" id="{B10924B4-7747-056C-6C7F-00FF03711390}"/>
              </a:ext>
            </a:extLst>
          </p:cNvPr>
          <p:cNvSpPr txBox="1"/>
          <p:nvPr/>
        </p:nvSpPr>
        <p:spPr>
          <a:xfrm>
            <a:off x="882532" y="2561902"/>
            <a:ext cx="1833230" cy="400110"/>
          </a:xfrm>
          <a:prstGeom prst="rect">
            <a:avLst/>
          </a:prstGeom>
          <a:noFill/>
        </p:spPr>
        <p:txBody>
          <a:bodyPr wrap="square">
            <a:spAutoFit/>
          </a:bodyPr>
          <a:lstStyle/>
          <a:p>
            <a:pPr algn="ctr">
              <a:defRPr/>
            </a:pPr>
            <a:r>
              <a:rPr kumimoji="0" lang="ja-JP" altLang="en-US" sz="2000" b="1" kern="0" spc="46" dirty="0">
                <a:solidFill>
                  <a:srgbClr val="000000"/>
                </a:solidFill>
                <a:latin typeface="+mn-ea"/>
                <a:cs typeface="Meiryo UI Bold" pitchFamily="34" charset="-120"/>
              </a:rPr>
              <a:t>主力事業</a:t>
            </a:r>
            <a:endParaRPr kumimoji="0" lang="ja-JP" altLang="en-US" sz="2000" b="1" kern="0" dirty="0">
              <a:solidFill>
                <a:srgbClr val="000000"/>
              </a:solidFill>
              <a:latin typeface="+mn-ea"/>
            </a:endParaRPr>
          </a:p>
        </p:txBody>
      </p:sp>
      <p:cxnSp>
        <p:nvCxnSpPr>
          <p:cNvPr id="30" name="Straight Connector 6">
            <a:extLst>
              <a:ext uri="{FF2B5EF4-FFF2-40B4-BE49-F238E27FC236}">
                <a16:creationId xmlns:a16="http://schemas.microsoft.com/office/drawing/2014/main" id="{1F211442-A97D-8CDB-1426-DAD306BD1484}"/>
              </a:ext>
            </a:extLst>
          </p:cNvPr>
          <p:cNvCxnSpPr>
            <a:cxnSpLocks/>
          </p:cNvCxnSpPr>
          <p:nvPr/>
        </p:nvCxnSpPr>
        <p:spPr>
          <a:xfrm>
            <a:off x="576995" y="2901673"/>
            <a:ext cx="2291537" cy="0"/>
          </a:xfrm>
          <a:prstGeom prst="line">
            <a:avLst/>
          </a:prstGeom>
          <a:noFill/>
          <a:ln w="6350" cap="rnd" cmpd="sng" algn="ctr">
            <a:solidFill>
              <a:srgbClr val="000000"/>
            </a:solidFill>
            <a:prstDash val="solid"/>
            <a:round/>
          </a:ln>
          <a:effectLst/>
        </p:spPr>
      </p:cxnSp>
      <p:sp>
        <p:nvSpPr>
          <p:cNvPr id="31" name="Arrow: Pentagon 28">
            <a:extLst>
              <a:ext uri="{FF2B5EF4-FFF2-40B4-BE49-F238E27FC236}">
                <a16:creationId xmlns:a16="http://schemas.microsoft.com/office/drawing/2014/main" id="{E5A8B34E-F07B-F9E6-59C9-2E913A74F2DE}"/>
              </a:ext>
            </a:extLst>
          </p:cNvPr>
          <p:cNvSpPr/>
          <p:nvPr/>
        </p:nvSpPr>
        <p:spPr>
          <a:xfrm>
            <a:off x="579177" y="5243412"/>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algn="ctr">
              <a:defRPr/>
            </a:pPr>
            <a:r>
              <a:rPr kumimoji="0" lang="en-US" sz="1600" b="1" kern="0">
                <a:solidFill>
                  <a:srgbClr val="FFFFFF"/>
                </a:solidFill>
                <a:latin typeface="+mn-ea"/>
              </a:rPr>
              <a:t>Technology Solutions</a:t>
            </a:r>
          </a:p>
        </p:txBody>
      </p:sp>
      <p:sp>
        <p:nvSpPr>
          <p:cNvPr id="32" name="Arrow: Pentagon 29">
            <a:extLst>
              <a:ext uri="{FF2B5EF4-FFF2-40B4-BE49-F238E27FC236}">
                <a16:creationId xmlns:a16="http://schemas.microsoft.com/office/drawing/2014/main" id="{D04AFA28-0E38-6F65-C19D-83F02DD04169}"/>
              </a:ext>
            </a:extLst>
          </p:cNvPr>
          <p:cNvSpPr/>
          <p:nvPr/>
        </p:nvSpPr>
        <p:spPr>
          <a:xfrm>
            <a:off x="579177" y="4549830"/>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algn="ctr">
              <a:defRPr/>
            </a:pPr>
            <a:r>
              <a:rPr kumimoji="0" lang="en-US" sz="1600" b="1" kern="0">
                <a:solidFill>
                  <a:srgbClr val="FFFFFF"/>
                </a:solidFill>
                <a:latin typeface="+mn-ea"/>
              </a:rPr>
              <a:t>DC &amp; Connectivity</a:t>
            </a:r>
          </a:p>
        </p:txBody>
      </p:sp>
      <p:sp>
        <p:nvSpPr>
          <p:cNvPr id="3" name="Arrow: Pentagon 30">
            <a:extLst>
              <a:ext uri="{FF2B5EF4-FFF2-40B4-BE49-F238E27FC236}">
                <a16:creationId xmlns:a16="http://schemas.microsoft.com/office/drawing/2014/main" id="{B7CB492B-ECCB-0CB6-9DE9-BD4EF752B4E3}"/>
              </a:ext>
            </a:extLst>
          </p:cNvPr>
          <p:cNvSpPr/>
          <p:nvPr/>
        </p:nvSpPr>
        <p:spPr>
          <a:xfrm>
            <a:off x="579177" y="3856249"/>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algn="ctr">
              <a:defRPr/>
            </a:pPr>
            <a:r>
              <a:rPr kumimoji="0" lang="en-US" sz="1600" b="1" kern="0">
                <a:solidFill>
                  <a:srgbClr val="FFFFFF"/>
                </a:solidFill>
                <a:latin typeface="+mn-ea"/>
              </a:rPr>
              <a:t>IT Services</a:t>
            </a:r>
          </a:p>
        </p:txBody>
      </p:sp>
      <p:sp>
        <p:nvSpPr>
          <p:cNvPr id="34" name="Arrow: Pentagon 31">
            <a:extLst>
              <a:ext uri="{FF2B5EF4-FFF2-40B4-BE49-F238E27FC236}">
                <a16:creationId xmlns:a16="http://schemas.microsoft.com/office/drawing/2014/main" id="{64A92343-B075-1064-1875-A640D81E2C6C}"/>
              </a:ext>
            </a:extLst>
          </p:cNvPr>
          <p:cNvSpPr/>
          <p:nvPr/>
        </p:nvSpPr>
        <p:spPr>
          <a:xfrm>
            <a:off x="579177" y="3162668"/>
            <a:ext cx="2386619" cy="492808"/>
          </a:xfrm>
          <a:prstGeom prst="homePlate">
            <a:avLst>
              <a:gd name="adj" fmla="val 34314"/>
            </a:avLst>
          </a:prstGeom>
          <a:solidFill>
            <a:srgbClr val="0072BC"/>
          </a:solidFill>
          <a:ln w="9525" cap="flat" cmpd="sng" algn="ctr">
            <a:noFill/>
            <a:prstDash val="solid"/>
            <a:miter lim="800000"/>
          </a:ln>
          <a:effectLst/>
        </p:spPr>
        <p:txBody>
          <a:bodyPr rtlCol="0" anchor="ctr"/>
          <a:lstStyle/>
          <a:p>
            <a:pPr algn="ctr">
              <a:defRPr/>
            </a:pPr>
            <a:r>
              <a:rPr kumimoji="0" lang="en-US" sz="1600" b="1" kern="0">
                <a:solidFill>
                  <a:srgbClr val="FFFFFF"/>
                </a:solidFill>
                <a:latin typeface="+mn-ea"/>
              </a:rPr>
              <a:t>Consulting</a:t>
            </a:r>
          </a:p>
        </p:txBody>
      </p:sp>
      <p:sp>
        <p:nvSpPr>
          <p:cNvPr id="35" name="矢印: 五方向 34">
            <a:extLst>
              <a:ext uri="{FF2B5EF4-FFF2-40B4-BE49-F238E27FC236}">
                <a16:creationId xmlns:a16="http://schemas.microsoft.com/office/drawing/2014/main" id="{866F32DC-808D-3394-3BF7-145A9DA42F2F}"/>
              </a:ext>
            </a:extLst>
          </p:cNvPr>
          <p:cNvSpPr/>
          <p:nvPr/>
        </p:nvSpPr>
        <p:spPr>
          <a:xfrm flipH="1">
            <a:off x="3440700" y="2204114"/>
            <a:ext cx="6217104" cy="3705377"/>
          </a:xfrm>
          <a:prstGeom prst="homePlate">
            <a:avLst>
              <a:gd name="adj" fmla="val 0"/>
            </a:avLst>
          </a:prstGeom>
          <a:solidFill>
            <a:srgbClr val="19A3FC">
              <a:lumMod val="20000"/>
              <a:lumOff val="80000"/>
            </a:srgbClr>
          </a:solidFill>
          <a:ln w="9525" cap="flat" cmpd="sng" algn="ctr">
            <a:noFill/>
            <a:prstDash val="solid"/>
            <a:miter lim="800000"/>
          </a:ln>
          <a:effectLst/>
        </p:spPr>
        <p:txBody>
          <a:bodyPr rtlCol="0" anchor="ctr"/>
          <a:lstStyle/>
          <a:p>
            <a:pPr algn="ctr">
              <a:defRPr/>
            </a:pPr>
            <a:endParaRPr kumimoji="0" lang="ja-JP" altLang="en-US" kern="0" err="1">
              <a:solidFill>
                <a:srgbClr val="070F26"/>
              </a:solidFill>
              <a:latin typeface="+mn-ea"/>
            </a:endParaRPr>
          </a:p>
        </p:txBody>
      </p:sp>
      <p:sp>
        <p:nvSpPr>
          <p:cNvPr id="36" name="テキスト ボックス 26">
            <a:extLst>
              <a:ext uri="{FF2B5EF4-FFF2-40B4-BE49-F238E27FC236}">
                <a16:creationId xmlns:a16="http://schemas.microsoft.com/office/drawing/2014/main" id="{63835962-8115-A54F-7749-4FDC1E58556E}"/>
              </a:ext>
            </a:extLst>
          </p:cNvPr>
          <p:cNvSpPr txBox="1"/>
          <p:nvPr/>
        </p:nvSpPr>
        <p:spPr>
          <a:xfrm>
            <a:off x="3642452" y="2220706"/>
            <a:ext cx="2569669" cy="400110"/>
          </a:xfrm>
          <a:prstGeom prst="rect">
            <a:avLst/>
          </a:prstGeom>
          <a:noFill/>
        </p:spPr>
        <p:txBody>
          <a:bodyPr wrap="square">
            <a:spAutoFit/>
          </a:bodyPr>
          <a:lstStyle/>
          <a:p>
            <a:pPr algn="ctr">
              <a:defRPr/>
            </a:pPr>
            <a:r>
              <a:rPr lang="en-US" altLang="ja-JP" sz="2000" b="1" kern="0" spc="46" dirty="0">
                <a:solidFill>
                  <a:srgbClr val="0072BC">
                    <a:lumMod val="75000"/>
                  </a:srgbClr>
                </a:solidFill>
                <a:latin typeface="+mn-ea"/>
                <a:cs typeface="Meiryo UI Bold" pitchFamily="34" charset="-120"/>
              </a:rPr>
              <a:t>Focus Areas</a:t>
            </a:r>
          </a:p>
        </p:txBody>
      </p:sp>
      <p:cxnSp>
        <p:nvCxnSpPr>
          <p:cNvPr id="13" name="Straight Connector 36">
            <a:extLst>
              <a:ext uri="{FF2B5EF4-FFF2-40B4-BE49-F238E27FC236}">
                <a16:creationId xmlns:a16="http://schemas.microsoft.com/office/drawing/2014/main" id="{6AE7E0E1-C82F-C232-2C94-DE67E5552660}"/>
              </a:ext>
            </a:extLst>
          </p:cNvPr>
          <p:cNvCxnSpPr>
            <a:cxnSpLocks/>
          </p:cNvCxnSpPr>
          <p:nvPr/>
        </p:nvCxnSpPr>
        <p:spPr>
          <a:xfrm>
            <a:off x="6368094" y="2901673"/>
            <a:ext cx="3176481" cy="0"/>
          </a:xfrm>
          <a:prstGeom prst="line">
            <a:avLst/>
          </a:prstGeom>
          <a:noFill/>
          <a:ln w="6350" cap="rnd" cmpd="sng" algn="ctr">
            <a:solidFill>
              <a:srgbClr val="0072BC">
                <a:lumMod val="50000"/>
              </a:srgbClr>
            </a:solidFill>
            <a:prstDash val="solid"/>
            <a:round/>
          </a:ln>
          <a:effectLst/>
        </p:spPr>
      </p:cxnSp>
      <p:sp>
        <p:nvSpPr>
          <p:cNvPr id="38" name="テキスト ボックス 26">
            <a:extLst>
              <a:ext uri="{FF2B5EF4-FFF2-40B4-BE49-F238E27FC236}">
                <a16:creationId xmlns:a16="http://schemas.microsoft.com/office/drawing/2014/main" id="{A000B0D7-7FE0-AE83-7411-451643E878B0}"/>
              </a:ext>
            </a:extLst>
          </p:cNvPr>
          <p:cNvSpPr txBox="1"/>
          <p:nvPr/>
        </p:nvSpPr>
        <p:spPr>
          <a:xfrm>
            <a:off x="6427869" y="2220706"/>
            <a:ext cx="3030708" cy="707886"/>
          </a:xfrm>
          <a:prstGeom prst="rect">
            <a:avLst/>
          </a:prstGeom>
          <a:noFill/>
        </p:spPr>
        <p:txBody>
          <a:bodyPr wrap="square">
            <a:spAutoFit/>
          </a:bodyPr>
          <a:lstStyle/>
          <a:p>
            <a:pPr algn="ctr">
              <a:defRPr/>
            </a:pPr>
            <a:r>
              <a:rPr kumimoji="0" lang="en-US" altLang="ja-JP" sz="2000" b="1" kern="0" dirty="0">
                <a:solidFill>
                  <a:srgbClr val="0072BC">
                    <a:lumMod val="75000"/>
                  </a:srgbClr>
                </a:solidFill>
                <a:latin typeface="+mn-ea"/>
              </a:rPr>
              <a:t>Full-stack Partner Ecosystem</a:t>
            </a:r>
            <a:endParaRPr kumimoji="0" lang="ja-JP" altLang="en-US" sz="2000" b="1" kern="0" dirty="0">
              <a:solidFill>
                <a:srgbClr val="0072BC">
                  <a:lumMod val="75000"/>
                </a:srgbClr>
              </a:solidFill>
              <a:latin typeface="+mn-ea"/>
            </a:endParaRPr>
          </a:p>
        </p:txBody>
      </p:sp>
      <p:sp>
        <p:nvSpPr>
          <p:cNvPr id="40" name="四角形: 角を丸くする 39">
            <a:extLst>
              <a:ext uri="{FF2B5EF4-FFF2-40B4-BE49-F238E27FC236}">
                <a16:creationId xmlns:a16="http://schemas.microsoft.com/office/drawing/2014/main" id="{C6CC39AE-F0CE-702E-F2C2-DD14BC244F71}"/>
              </a:ext>
            </a:extLst>
          </p:cNvPr>
          <p:cNvSpPr/>
          <p:nvPr/>
        </p:nvSpPr>
        <p:spPr>
          <a:xfrm>
            <a:off x="3591957" y="4835282"/>
            <a:ext cx="2643477" cy="917238"/>
          </a:xfrm>
          <a:prstGeom prst="roundRect">
            <a:avLst>
              <a:gd name="adj" fmla="val 7927"/>
            </a:avLst>
          </a:prstGeom>
          <a:solidFill>
            <a:srgbClr val="005B96"/>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endParaRPr kumimoji="0" lang="ja-JP" altLang="en-US" sz="12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16" name="Rectangle 11">
            <a:extLst>
              <a:ext uri="{FF2B5EF4-FFF2-40B4-BE49-F238E27FC236}">
                <a16:creationId xmlns:a16="http://schemas.microsoft.com/office/drawing/2014/main" id="{2468234D-BDF0-8D7B-5A99-168AB9E7D624}"/>
              </a:ext>
            </a:extLst>
          </p:cNvPr>
          <p:cNvSpPr>
            <a:spLocks noChangeArrowheads="1"/>
          </p:cNvSpPr>
          <p:nvPr/>
        </p:nvSpPr>
        <p:spPr bwMode="auto">
          <a:xfrm>
            <a:off x="3989213" y="5106445"/>
            <a:ext cx="1846655" cy="3870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478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762000" eaLnBrk="0" hangingPunct="0">
              <a:defRPr sz="2400">
                <a:solidFill>
                  <a:schemeClr val="tx1"/>
                </a:solidFill>
                <a:latin typeface="Times New Roman" panose="02020603050405020304" pitchFamily="18" charset="0"/>
              </a:defRPr>
            </a:lvl1pPr>
            <a:lvl2pPr marL="571500" algn="l" defTabSz="762000" eaLnBrk="0" hangingPunct="0">
              <a:defRPr sz="2400">
                <a:solidFill>
                  <a:schemeClr val="tx1"/>
                </a:solidFill>
                <a:latin typeface="Times New Roman" panose="02020603050405020304" pitchFamily="18" charset="0"/>
              </a:defRPr>
            </a:lvl2pPr>
            <a:lvl3pPr marL="1143000" algn="l" defTabSz="762000" eaLnBrk="0" hangingPunct="0">
              <a:defRPr sz="2400">
                <a:solidFill>
                  <a:schemeClr val="tx1"/>
                </a:solidFill>
                <a:latin typeface="Times New Roman" panose="02020603050405020304" pitchFamily="18" charset="0"/>
              </a:defRPr>
            </a:lvl3pPr>
            <a:lvl4pPr marL="1714500" algn="l" defTabSz="762000" eaLnBrk="0" hangingPunct="0">
              <a:defRPr sz="2400">
                <a:solidFill>
                  <a:schemeClr val="tx1"/>
                </a:solidFill>
                <a:latin typeface="Times New Roman" panose="02020603050405020304" pitchFamily="18" charset="0"/>
              </a:defRPr>
            </a:lvl4pPr>
            <a:lvl5pPr marL="2286000" algn="l" defTabSz="762000" eaLnBrk="0" hangingPunct="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defTabSz="914400" eaLnBrk="1" fontAlgn="base" hangingPunct="1">
              <a:lnSpc>
                <a:spcPct val="90000"/>
              </a:lnSpc>
              <a:spcBef>
                <a:spcPct val="0"/>
              </a:spcBef>
              <a:spcAft>
                <a:spcPct val="0"/>
              </a:spcAft>
              <a:defRPr/>
            </a:pPr>
            <a:r>
              <a:rPr kumimoji="0" lang="en-US" altLang="ja-JP" sz="1800" b="1" dirty="0">
                <a:solidFill>
                  <a:srgbClr val="FFFFFF"/>
                </a:solidFill>
                <a:effectLst>
                  <a:glow rad="101600">
                    <a:srgbClr val="003050"/>
                  </a:glow>
                </a:effectLst>
                <a:latin typeface="+mn-ea"/>
              </a:rPr>
              <a:t>Next-Gen Infrastructure</a:t>
            </a:r>
            <a:endParaRPr kumimoji="0" lang="ja-JP" altLang="en-US" sz="1800" b="1" dirty="0">
              <a:solidFill>
                <a:srgbClr val="FFFFFF"/>
              </a:solidFill>
              <a:effectLst>
                <a:glow rad="101600">
                  <a:srgbClr val="003050"/>
                </a:glow>
              </a:effectLst>
              <a:latin typeface="+mn-ea"/>
            </a:endParaRPr>
          </a:p>
        </p:txBody>
      </p:sp>
      <p:sp>
        <p:nvSpPr>
          <p:cNvPr id="42" name="四角形: 角を丸くする 41">
            <a:extLst>
              <a:ext uri="{FF2B5EF4-FFF2-40B4-BE49-F238E27FC236}">
                <a16:creationId xmlns:a16="http://schemas.microsoft.com/office/drawing/2014/main" id="{83FB0543-39A7-81EF-6424-C4A85B22CD00}"/>
              </a:ext>
            </a:extLst>
          </p:cNvPr>
          <p:cNvSpPr/>
          <p:nvPr/>
        </p:nvSpPr>
        <p:spPr>
          <a:xfrm>
            <a:off x="3591957" y="3782811"/>
            <a:ext cx="2643477" cy="1021990"/>
          </a:xfrm>
          <a:prstGeom prst="roundRect">
            <a:avLst>
              <a:gd name="adj" fmla="val 7752"/>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endParaRPr kumimoji="0" lang="ja-JP" altLang="en-US" sz="12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18" name="四角形: 上の 2 つの角を丸める 17">
            <a:extLst>
              <a:ext uri="{FF2B5EF4-FFF2-40B4-BE49-F238E27FC236}">
                <a16:creationId xmlns:a16="http://schemas.microsoft.com/office/drawing/2014/main" id="{3C379BA7-79D2-70D6-4C4D-5282B18A9FB0}"/>
              </a:ext>
            </a:extLst>
          </p:cNvPr>
          <p:cNvSpPr/>
          <p:nvPr/>
        </p:nvSpPr>
        <p:spPr>
          <a:xfrm>
            <a:off x="3749226" y="2968383"/>
            <a:ext cx="546255" cy="953230"/>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defRPr/>
            </a:pPr>
            <a:endParaRPr lang="ja-JP" altLang="en-US" sz="20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44" name="四角形: 上の 2 つの角を丸める 43">
            <a:extLst>
              <a:ext uri="{FF2B5EF4-FFF2-40B4-BE49-F238E27FC236}">
                <a16:creationId xmlns:a16="http://schemas.microsoft.com/office/drawing/2014/main" id="{59C9E5C3-5352-B246-CE44-C4031B0C79EF}"/>
              </a:ext>
            </a:extLst>
          </p:cNvPr>
          <p:cNvSpPr/>
          <p:nvPr/>
        </p:nvSpPr>
        <p:spPr>
          <a:xfrm>
            <a:off x="4347246" y="2966483"/>
            <a:ext cx="546255" cy="953230"/>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defRPr/>
            </a:pPr>
            <a:endParaRPr lang="ja-JP" altLang="en-US" sz="20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45" name="四角形: 上の 2 つの角を丸める 44">
            <a:extLst>
              <a:ext uri="{FF2B5EF4-FFF2-40B4-BE49-F238E27FC236}">
                <a16:creationId xmlns:a16="http://schemas.microsoft.com/office/drawing/2014/main" id="{12C0F88C-02B5-3C8A-FF58-549BA839A5CC}"/>
              </a:ext>
            </a:extLst>
          </p:cNvPr>
          <p:cNvSpPr/>
          <p:nvPr/>
        </p:nvSpPr>
        <p:spPr>
          <a:xfrm>
            <a:off x="4945267" y="2966483"/>
            <a:ext cx="546255" cy="953230"/>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defRPr/>
            </a:pPr>
            <a:endParaRPr lang="ja-JP" altLang="en-US" sz="20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19" name="四角形: 上の 2 つの角を丸める 18">
            <a:extLst>
              <a:ext uri="{FF2B5EF4-FFF2-40B4-BE49-F238E27FC236}">
                <a16:creationId xmlns:a16="http://schemas.microsoft.com/office/drawing/2014/main" id="{D8615878-70A5-287B-CDE8-01D886090635}"/>
              </a:ext>
            </a:extLst>
          </p:cNvPr>
          <p:cNvSpPr/>
          <p:nvPr/>
        </p:nvSpPr>
        <p:spPr>
          <a:xfrm>
            <a:off x="5543288" y="2966483"/>
            <a:ext cx="546255" cy="953230"/>
          </a:xfrm>
          <a:prstGeom prst="round2SameRect">
            <a:avLst>
              <a:gd name="adj1" fmla="val 15882"/>
              <a:gd name="adj2" fmla="val 0"/>
            </a:avLst>
          </a:prstGeom>
          <a:solidFill>
            <a:srgbClr val="0EC3CF"/>
          </a:solidFill>
          <a:ln w="317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algn="ctr">
              <a:defRPr/>
            </a:pPr>
            <a:endParaRPr lang="ja-JP" altLang="en-US" sz="2000" b="1" kern="0" err="1">
              <a:solidFill>
                <a:srgbClr val="0072BC"/>
              </a:solidFill>
              <a:effectLst>
                <a:glow rad="101600">
                  <a:srgbClr val="0072BC">
                    <a:lumMod val="20000"/>
                    <a:lumOff val="80000"/>
                    <a:alpha val="60000"/>
                  </a:srgbClr>
                </a:glow>
              </a:effectLst>
              <a:latin typeface="+mn-ea"/>
              <a:cs typeface="Noto Sans" panose="020B0502040504020204" pitchFamily="34" charset="0"/>
            </a:endParaRPr>
          </a:p>
        </p:txBody>
      </p:sp>
      <p:sp>
        <p:nvSpPr>
          <p:cNvPr id="47" name="Rectangle 11">
            <a:extLst>
              <a:ext uri="{FF2B5EF4-FFF2-40B4-BE49-F238E27FC236}">
                <a16:creationId xmlns:a16="http://schemas.microsoft.com/office/drawing/2014/main" id="{6BCA9267-F55F-C747-6AB0-B442ED8789B9}"/>
              </a:ext>
            </a:extLst>
          </p:cNvPr>
          <p:cNvSpPr>
            <a:spLocks noChangeArrowheads="1"/>
          </p:cNvSpPr>
          <p:nvPr/>
        </p:nvSpPr>
        <p:spPr bwMode="auto">
          <a:xfrm>
            <a:off x="3612903" y="4039764"/>
            <a:ext cx="2601596" cy="355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478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762000" eaLnBrk="0" hangingPunct="0">
              <a:defRPr sz="2400">
                <a:solidFill>
                  <a:schemeClr val="tx1"/>
                </a:solidFill>
                <a:latin typeface="Times New Roman" panose="02020603050405020304" pitchFamily="18" charset="0"/>
              </a:defRPr>
            </a:lvl1pPr>
            <a:lvl2pPr marL="571500" algn="l" defTabSz="762000" eaLnBrk="0" hangingPunct="0">
              <a:defRPr sz="2400">
                <a:solidFill>
                  <a:schemeClr val="tx1"/>
                </a:solidFill>
                <a:latin typeface="Times New Roman" panose="02020603050405020304" pitchFamily="18" charset="0"/>
              </a:defRPr>
            </a:lvl2pPr>
            <a:lvl3pPr marL="1143000" algn="l" defTabSz="762000" eaLnBrk="0" hangingPunct="0">
              <a:defRPr sz="2400">
                <a:solidFill>
                  <a:schemeClr val="tx1"/>
                </a:solidFill>
                <a:latin typeface="Times New Roman" panose="02020603050405020304" pitchFamily="18" charset="0"/>
              </a:defRPr>
            </a:lvl3pPr>
            <a:lvl4pPr marL="1714500" algn="l" defTabSz="762000" eaLnBrk="0" hangingPunct="0">
              <a:defRPr sz="2400">
                <a:solidFill>
                  <a:schemeClr val="tx1"/>
                </a:solidFill>
                <a:latin typeface="Times New Roman" panose="02020603050405020304" pitchFamily="18" charset="0"/>
              </a:defRPr>
            </a:lvl4pPr>
            <a:lvl5pPr marL="2286000" algn="l" defTabSz="762000" eaLnBrk="0" hangingPunct="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defTabSz="914400" eaLnBrk="1" fontAlgn="base" hangingPunct="1">
              <a:lnSpc>
                <a:spcPct val="90000"/>
              </a:lnSpc>
              <a:spcBef>
                <a:spcPct val="0"/>
              </a:spcBef>
              <a:spcAft>
                <a:spcPct val="0"/>
              </a:spcAft>
              <a:defRPr/>
            </a:pPr>
            <a:r>
              <a:rPr kumimoji="0" lang="en-US" altLang="ja-JP" sz="1800" b="1" dirty="0">
                <a:solidFill>
                  <a:srgbClr val="FFFFFF"/>
                </a:solidFill>
                <a:effectLst>
                  <a:glow rad="101600">
                    <a:srgbClr val="097881"/>
                  </a:glow>
                </a:effectLst>
                <a:latin typeface="+mn-ea"/>
              </a:rPr>
              <a:t>AI-empowered</a:t>
            </a:r>
            <a:br>
              <a:rPr kumimoji="0" lang="en-US" altLang="ja-JP" sz="1800" b="1" dirty="0">
                <a:solidFill>
                  <a:srgbClr val="FFFFFF"/>
                </a:solidFill>
                <a:effectLst>
                  <a:glow rad="101600">
                    <a:srgbClr val="097881"/>
                  </a:glow>
                </a:effectLst>
                <a:latin typeface="+mn-ea"/>
              </a:rPr>
            </a:br>
            <a:r>
              <a:rPr kumimoji="0" lang="en-US" altLang="ja-JP" sz="1800" b="1" dirty="0">
                <a:solidFill>
                  <a:srgbClr val="FFFFFF"/>
                </a:solidFill>
                <a:effectLst>
                  <a:glow rad="101600">
                    <a:srgbClr val="097881"/>
                  </a:glow>
                </a:effectLst>
                <a:latin typeface="+mn-ea"/>
              </a:rPr>
              <a:t>New Value &amp; Productivity</a:t>
            </a:r>
            <a:endParaRPr kumimoji="0" lang="ja-JP" altLang="en-US" sz="1800" b="1" dirty="0">
              <a:solidFill>
                <a:srgbClr val="FFFFFF"/>
              </a:solidFill>
              <a:effectLst>
                <a:glow rad="101600">
                  <a:srgbClr val="097881"/>
                </a:glow>
              </a:effectLst>
              <a:latin typeface="+mn-ea"/>
            </a:endParaRPr>
          </a:p>
        </p:txBody>
      </p:sp>
      <p:pic>
        <p:nvPicPr>
          <p:cNvPr id="48" name="図 47" descr="テキスト, アイコン&#10;&#10;AI 生成コンテンツは誤りを含む可能性があります。">
            <a:extLst>
              <a:ext uri="{FF2B5EF4-FFF2-40B4-BE49-F238E27FC236}">
                <a16:creationId xmlns:a16="http://schemas.microsoft.com/office/drawing/2014/main" id="{3457839B-B1CD-EFFD-5A7D-B56B23A4782F}"/>
              </a:ext>
            </a:extLst>
          </p:cNvPr>
          <p:cNvPicPr>
            <a:picLocks noChangeAspect="1"/>
          </p:cNvPicPr>
          <p:nvPr/>
        </p:nvPicPr>
        <p:blipFill>
          <a:blip r:embed="rId2" cstate="hqprint">
            <a:duotone>
              <a:srgbClr val="19A3FC">
                <a:shade val="45000"/>
                <a:satMod val="135000"/>
              </a:srgbClr>
              <a:prstClr val="white"/>
            </a:duotone>
            <a:extLst>
              <a:ext uri="{28A0092B-C50C-407E-A947-70E740481C1C}">
                <a14:useLocalDpi xmlns:a14="http://schemas.microsoft.com/office/drawing/2010/main"/>
              </a:ext>
            </a:extLst>
          </a:blip>
          <a:stretch>
            <a:fillRect/>
          </a:stretch>
        </p:blipFill>
        <p:spPr>
          <a:xfrm>
            <a:off x="3618810" y="5407099"/>
            <a:ext cx="431818" cy="375902"/>
          </a:xfrm>
          <a:prstGeom prst="rect">
            <a:avLst/>
          </a:prstGeom>
          <a:effectLst>
            <a:glow rad="101600">
              <a:srgbClr val="00DFED">
                <a:satMod val="175000"/>
                <a:alpha val="40000"/>
              </a:srgbClr>
            </a:glow>
          </a:effectLst>
        </p:spPr>
      </p:pic>
      <p:pic>
        <p:nvPicPr>
          <p:cNvPr id="49" name="図 48" descr="テキスト, アイコン&#10;&#10;AI 生成コンテンツは誤りを含む可能性があります。">
            <a:extLst>
              <a:ext uri="{FF2B5EF4-FFF2-40B4-BE49-F238E27FC236}">
                <a16:creationId xmlns:a16="http://schemas.microsoft.com/office/drawing/2014/main" id="{53A9A07E-F72D-A13D-203C-BAF2CECB6B72}"/>
              </a:ext>
            </a:extLst>
          </p:cNvPr>
          <p:cNvPicPr>
            <a:picLocks noChangeAspect="1"/>
          </p:cNvPicPr>
          <p:nvPr/>
        </p:nvPicPr>
        <p:blipFill>
          <a:blip r:embed="rId2" cstate="hqprint">
            <a:duotone>
              <a:srgbClr val="19A3FC">
                <a:shade val="45000"/>
                <a:satMod val="135000"/>
              </a:srgbClr>
              <a:prstClr val="white"/>
            </a:duotone>
            <a:extLst>
              <a:ext uri="{28A0092B-C50C-407E-A947-70E740481C1C}">
                <a14:useLocalDpi xmlns:a14="http://schemas.microsoft.com/office/drawing/2010/main"/>
              </a:ext>
            </a:extLst>
          </a:blip>
          <a:stretch>
            <a:fillRect/>
          </a:stretch>
        </p:blipFill>
        <p:spPr>
          <a:xfrm>
            <a:off x="3589567" y="4458505"/>
            <a:ext cx="431818" cy="375902"/>
          </a:xfrm>
          <a:prstGeom prst="rect">
            <a:avLst/>
          </a:prstGeom>
          <a:effectLst>
            <a:glow rad="101600">
              <a:srgbClr val="005B96">
                <a:satMod val="175000"/>
                <a:alpha val="40000"/>
              </a:srgbClr>
            </a:glow>
          </a:effectLst>
        </p:spPr>
      </p:pic>
      <p:cxnSp>
        <p:nvCxnSpPr>
          <p:cNvPr id="20" name="Straight Connector 11">
            <a:extLst>
              <a:ext uri="{FF2B5EF4-FFF2-40B4-BE49-F238E27FC236}">
                <a16:creationId xmlns:a16="http://schemas.microsoft.com/office/drawing/2014/main" id="{82A7893E-7F3D-A584-4EB6-5F337A99CF76}"/>
              </a:ext>
            </a:extLst>
          </p:cNvPr>
          <p:cNvCxnSpPr>
            <a:cxnSpLocks/>
          </p:cNvCxnSpPr>
          <p:nvPr/>
        </p:nvCxnSpPr>
        <p:spPr>
          <a:xfrm>
            <a:off x="3638878" y="2920528"/>
            <a:ext cx="2573243" cy="0"/>
          </a:xfrm>
          <a:prstGeom prst="line">
            <a:avLst/>
          </a:prstGeom>
          <a:noFill/>
          <a:ln w="6350" cap="rnd" cmpd="sng" algn="ctr">
            <a:solidFill>
              <a:srgbClr val="0072BC">
                <a:lumMod val="50000"/>
              </a:srgbClr>
            </a:solidFill>
            <a:prstDash val="solid"/>
            <a:round/>
          </a:ln>
          <a:effectLst/>
        </p:spPr>
      </p:cxnSp>
      <p:sp>
        <p:nvSpPr>
          <p:cNvPr id="52" name="Rectangle 11">
            <a:extLst>
              <a:ext uri="{FF2B5EF4-FFF2-40B4-BE49-F238E27FC236}">
                <a16:creationId xmlns:a16="http://schemas.microsoft.com/office/drawing/2014/main" id="{280C7ABD-D007-21AA-00B8-1A0A981065B9}"/>
              </a:ext>
            </a:extLst>
          </p:cNvPr>
          <p:cNvSpPr/>
          <p:nvPr/>
        </p:nvSpPr>
        <p:spPr>
          <a:xfrm>
            <a:off x="3691109" y="3029268"/>
            <a:ext cx="623817" cy="235175"/>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Banking</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54" name="Rectangle 12">
            <a:extLst>
              <a:ext uri="{FF2B5EF4-FFF2-40B4-BE49-F238E27FC236}">
                <a16:creationId xmlns:a16="http://schemas.microsoft.com/office/drawing/2014/main" id="{0977CB4B-FADC-B62D-2EF4-4502DC78C94F}"/>
              </a:ext>
            </a:extLst>
          </p:cNvPr>
          <p:cNvSpPr/>
          <p:nvPr/>
        </p:nvSpPr>
        <p:spPr>
          <a:xfrm>
            <a:off x="4233417" y="3048396"/>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Insurance</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56" name="Rectangle 13">
            <a:extLst>
              <a:ext uri="{FF2B5EF4-FFF2-40B4-BE49-F238E27FC236}">
                <a16:creationId xmlns:a16="http://schemas.microsoft.com/office/drawing/2014/main" id="{90712A1A-514E-97DD-46FE-643ED161FE59}"/>
              </a:ext>
            </a:extLst>
          </p:cNvPr>
          <p:cNvSpPr/>
          <p:nvPr/>
        </p:nvSpPr>
        <p:spPr>
          <a:xfrm>
            <a:off x="4892639" y="3046313"/>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Automotive</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58" name="Rectangle 14">
            <a:extLst>
              <a:ext uri="{FF2B5EF4-FFF2-40B4-BE49-F238E27FC236}">
                <a16:creationId xmlns:a16="http://schemas.microsoft.com/office/drawing/2014/main" id="{82A0D0B4-AB07-59B7-66ED-E6C12D141B9A}"/>
              </a:ext>
            </a:extLst>
          </p:cNvPr>
          <p:cNvSpPr/>
          <p:nvPr/>
        </p:nvSpPr>
        <p:spPr>
          <a:xfrm>
            <a:off x="5487235" y="3050396"/>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Industrial</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60" name="Rectangle 31">
            <a:extLst>
              <a:ext uri="{FF2B5EF4-FFF2-40B4-BE49-F238E27FC236}">
                <a16:creationId xmlns:a16="http://schemas.microsoft.com/office/drawing/2014/main" id="{44F1F93D-4D72-D9E8-A086-E971C6D016FF}"/>
              </a:ext>
            </a:extLst>
          </p:cNvPr>
          <p:cNvSpPr/>
          <p:nvPr/>
        </p:nvSpPr>
        <p:spPr>
          <a:xfrm>
            <a:off x="3967187" y="3391711"/>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CPG</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62" name="Rectangle 32">
            <a:extLst>
              <a:ext uri="{FF2B5EF4-FFF2-40B4-BE49-F238E27FC236}">
                <a16:creationId xmlns:a16="http://schemas.microsoft.com/office/drawing/2014/main" id="{A64CCBF4-BCCD-D6EF-40B8-BD651A439C66}"/>
              </a:ext>
            </a:extLst>
          </p:cNvPr>
          <p:cNvSpPr/>
          <p:nvPr/>
        </p:nvSpPr>
        <p:spPr>
          <a:xfrm>
            <a:off x="4593205" y="3397538"/>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a:solidFill>
                  <a:srgbClr val="FFFFFF"/>
                </a:solidFill>
                <a:effectLst>
                  <a:glow rad="101600">
                    <a:srgbClr val="070F26">
                      <a:lumMod val="90000"/>
                      <a:lumOff val="10000"/>
                      <a:alpha val="60000"/>
                    </a:srgbClr>
                  </a:glow>
                </a:effectLst>
                <a:latin typeface="+mn-ea"/>
              </a:rPr>
              <a:t>Public</a:t>
            </a:r>
            <a:endParaRPr kumimoji="0" lang="ja-JP" altLang="en-US" sz="1200" kern="0">
              <a:solidFill>
                <a:srgbClr val="FFFFFF"/>
              </a:solidFill>
              <a:effectLst>
                <a:glow rad="101600">
                  <a:srgbClr val="070F26">
                    <a:lumMod val="90000"/>
                    <a:lumOff val="10000"/>
                    <a:alpha val="60000"/>
                  </a:srgbClr>
                </a:glow>
              </a:effectLst>
              <a:latin typeface="+mn-ea"/>
            </a:endParaRPr>
          </a:p>
        </p:txBody>
      </p:sp>
      <p:sp>
        <p:nvSpPr>
          <p:cNvPr id="64" name="Rectangle 33">
            <a:extLst>
              <a:ext uri="{FF2B5EF4-FFF2-40B4-BE49-F238E27FC236}">
                <a16:creationId xmlns:a16="http://schemas.microsoft.com/office/drawing/2014/main" id="{58097C0E-691E-175B-9252-CC39D986F8C8}"/>
              </a:ext>
            </a:extLst>
          </p:cNvPr>
          <p:cNvSpPr/>
          <p:nvPr/>
        </p:nvSpPr>
        <p:spPr>
          <a:xfrm>
            <a:off x="5230200" y="3400152"/>
            <a:ext cx="686198" cy="258692"/>
          </a:xfrm>
          <a:prstGeom prst="rect">
            <a:avLst/>
          </a:prstGeom>
          <a:noFill/>
          <a:ln w="25400" cap="flat" cmpd="sng" algn="ctr">
            <a:noFill/>
            <a:prstDash val="solid"/>
          </a:ln>
          <a:effectLst/>
        </p:spPr>
        <p:txBody>
          <a:bodyPr wrap="none" lIns="36000" tIns="36000" rIns="36000" bIns="36000" rtlCol="0" anchor="ctr"/>
          <a:lstStyle/>
          <a:p>
            <a:pPr algn="ctr">
              <a:lnSpc>
                <a:spcPct val="110000"/>
              </a:lnSpc>
              <a:spcBef>
                <a:spcPts val="600"/>
              </a:spcBef>
              <a:defRPr/>
            </a:pPr>
            <a:r>
              <a:rPr kumimoji="0" lang="en-US" altLang="ja-JP" sz="1200" kern="0" dirty="0">
                <a:solidFill>
                  <a:srgbClr val="FFFFFF"/>
                </a:solidFill>
                <a:effectLst>
                  <a:glow rad="101600">
                    <a:srgbClr val="070F26">
                      <a:lumMod val="90000"/>
                      <a:lumOff val="10000"/>
                      <a:alpha val="60000"/>
                    </a:srgbClr>
                  </a:glow>
                </a:effectLst>
                <a:latin typeface="+mn-ea"/>
              </a:rPr>
              <a:t>Telecom</a:t>
            </a:r>
            <a:endParaRPr kumimoji="0" lang="ja-JP" altLang="en-US" sz="1200" kern="0" dirty="0">
              <a:solidFill>
                <a:srgbClr val="FFFFFF"/>
              </a:solidFill>
              <a:effectLst>
                <a:glow rad="101600">
                  <a:srgbClr val="070F26">
                    <a:lumMod val="90000"/>
                    <a:lumOff val="10000"/>
                    <a:alpha val="60000"/>
                  </a:srgbClr>
                </a:glow>
              </a:effectLst>
              <a:latin typeface="+mn-ea"/>
            </a:endParaRPr>
          </a:p>
        </p:txBody>
      </p:sp>
      <p:sp>
        <p:nvSpPr>
          <p:cNvPr id="65" name="テキスト ボックス 64">
            <a:extLst>
              <a:ext uri="{FF2B5EF4-FFF2-40B4-BE49-F238E27FC236}">
                <a16:creationId xmlns:a16="http://schemas.microsoft.com/office/drawing/2014/main" id="{35A31179-0BBE-EFD6-D706-F8D2A350346C}"/>
              </a:ext>
            </a:extLst>
          </p:cNvPr>
          <p:cNvSpPr txBox="1"/>
          <p:nvPr/>
        </p:nvSpPr>
        <p:spPr>
          <a:xfrm>
            <a:off x="5674978" y="3399206"/>
            <a:ext cx="754818" cy="258692"/>
          </a:xfrm>
          <a:prstGeom prst="rect">
            <a:avLst/>
          </a:prstGeom>
          <a:noFill/>
        </p:spPr>
        <p:txBody>
          <a:bodyPr wrap="none" lIns="0" rIns="0" rtlCol="0" anchor="ctr">
            <a:noAutofit/>
          </a:bodyPr>
          <a:lstStyle/>
          <a:p>
            <a:pPr algn="ctr" defTabSz="288000">
              <a:defRPr/>
            </a:pPr>
            <a:r>
              <a:rPr kumimoji="0" lang="ja-JP" altLang="en-US" sz="1600" kern="0" dirty="0">
                <a:solidFill>
                  <a:srgbClr val="FFFFFF"/>
                </a:solidFill>
                <a:effectLst>
                  <a:glow rad="101600">
                    <a:srgbClr val="070F26">
                      <a:lumMod val="90000"/>
                      <a:lumOff val="10000"/>
                      <a:alpha val="60000"/>
                    </a:srgbClr>
                  </a:glow>
                </a:effectLst>
                <a:latin typeface="+mn-ea"/>
              </a:rPr>
              <a:t>・・・</a:t>
            </a:r>
            <a:endParaRPr kumimoji="0" lang="ja-JP" altLang="en-US" sz="1600" kern="0" dirty="0">
              <a:solidFill>
                <a:srgbClr val="FFFFFF"/>
              </a:solidFill>
              <a:latin typeface="+mn-ea"/>
            </a:endParaRPr>
          </a:p>
        </p:txBody>
      </p:sp>
      <p:sp>
        <p:nvSpPr>
          <p:cNvPr id="66" name="正方形/長方形 65">
            <a:extLst>
              <a:ext uri="{FF2B5EF4-FFF2-40B4-BE49-F238E27FC236}">
                <a16:creationId xmlns:a16="http://schemas.microsoft.com/office/drawing/2014/main" id="{8B900A8B-CC35-63FC-D8A9-58DE850856E0}"/>
              </a:ext>
            </a:extLst>
          </p:cNvPr>
          <p:cNvSpPr/>
          <p:nvPr/>
        </p:nvSpPr>
        <p:spPr>
          <a:xfrm>
            <a:off x="6257346" y="3929356"/>
            <a:ext cx="824343"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a:solidFill>
                  <a:srgbClr val="FFFFFF"/>
                </a:solidFill>
                <a:latin typeface="+mn-ea"/>
              </a:rPr>
              <a:t>AI</a:t>
            </a:r>
            <a:br>
              <a:rPr kumimoji="0" lang="en-US" altLang="ja-JP" sz="1000" b="1" kern="0">
                <a:solidFill>
                  <a:srgbClr val="FFFFFF"/>
                </a:solidFill>
                <a:latin typeface="+mn-ea"/>
              </a:rPr>
            </a:br>
            <a:r>
              <a:rPr kumimoji="0" lang="en-US" altLang="ja-JP" sz="1000" b="1" kern="0">
                <a:solidFill>
                  <a:srgbClr val="FFFFFF"/>
                </a:solidFill>
                <a:latin typeface="+mn-ea"/>
              </a:rPr>
              <a:t>Platform</a:t>
            </a:r>
            <a:endParaRPr kumimoji="0" lang="ja-JP" altLang="en-US" sz="1000" b="1" kern="0">
              <a:solidFill>
                <a:srgbClr val="FFFFFF"/>
              </a:solidFill>
              <a:latin typeface="+mn-ea"/>
            </a:endParaRPr>
          </a:p>
        </p:txBody>
      </p:sp>
      <p:sp>
        <p:nvSpPr>
          <p:cNvPr id="67" name="正方形/長方形 66">
            <a:extLst>
              <a:ext uri="{FF2B5EF4-FFF2-40B4-BE49-F238E27FC236}">
                <a16:creationId xmlns:a16="http://schemas.microsoft.com/office/drawing/2014/main" id="{4E4A94B3-DD85-C891-E338-9494BD1E28A8}"/>
              </a:ext>
            </a:extLst>
          </p:cNvPr>
          <p:cNvSpPr/>
          <p:nvPr/>
        </p:nvSpPr>
        <p:spPr>
          <a:xfrm>
            <a:off x="6257345" y="4868860"/>
            <a:ext cx="824344"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a:solidFill>
                  <a:srgbClr val="FFFFFF"/>
                </a:solidFill>
                <a:latin typeface="+mn-ea"/>
              </a:rPr>
              <a:t>Cloud Platform</a:t>
            </a:r>
            <a:endParaRPr kumimoji="0" lang="ja-JP" altLang="en-US" sz="1000" b="1" kern="0">
              <a:solidFill>
                <a:srgbClr val="FFFFFF"/>
              </a:solidFill>
              <a:latin typeface="+mn-ea"/>
            </a:endParaRPr>
          </a:p>
        </p:txBody>
      </p:sp>
      <p:sp>
        <p:nvSpPr>
          <p:cNvPr id="68" name="正方形/長方形 67">
            <a:extLst>
              <a:ext uri="{FF2B5EF4-FFF2-40B4-BE49-F238E27FC236}">
                <a16:creationId xmlns:a16="http://schemas.microsoft.com/office/drawing/2014/main" id="{AA384788-718B-F112-37F0-539FE0954B57}"/>
              </a:ext>
            </a:extLst>
          </p:cNvPr>
          <p:cNvSpPr/>
          <p:nvPr/>
        </p:nvSpPr>
        <p:spPr>
          <a:xfrm>
            <a:off x="6251475" y="3459604"/>
            <a:ext cx="824343"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a:solidFill>
                  <a:srgbClr val="FFFFFF"/>
                </a:solidFill>
                <a:latin typeface="+mn-ea"/>
              </a:rPr>
              <a:t>Biz Apps</a:t>
            </a:r>
            <a:endParaRPr kumimoji="0" lang="ja-JP" altLang="en-US" sz="1000" b="1" kern="0">
              <a:solidFill>
                <a:srgbClr val="FFFFFF"/>
              </a:solidFill>
              <a:latin typeface="+mn-ea"/>
            </a:endParaRPr>
          </a:p>
        </p:txBody>
      </p:sp>
      <p:sp>
        <p:nvSpPr>
          <p:cNvPr id="69" name="正方形/長方形 68">
            <a:extLst>
              <a:ext uri="{FF2B5EF4-FFF2-40B4-BE49-F238E27FC236}">
                <a16:creationId xmlns:a16="http://schemas.microsoft.com/office/drawing/2014/main" id="{EB372334-D8E8-8F91-908D-82B4024A8E21}"/>
              </a:ext>
            </a:extLst>
          </p:cNvPr>
          <p:cNvSpPr/>
          <p:nvPr/>
        </p:nvSpPr>
        <p:spPr>
          <a:xfrm>
            <a:off x="6251474" y="5338613"/>
            <a:ext cx="824344"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dirty="0">
                <a:solidFill>
                  <a:srgbClr val="FFFFFF"/>
                </a:solidFill>
                <a:latin typeface="+mn-ea"/>
              </a:rPr>
              <a:t>Security</a:t>
            </a:r>
          </a:p>
        </p:txBody>
      </p:sp>
      <p:sp>
        <p:nvSpPr>
          <p:cNvPr id="70" name="正方形/長方形 69">
            <a:extLst>
              <a:ext uri="{FF2B5EF4-FFF2-40B4-BE49-F238E27FC236}">
                <a16:creationId xmlns:a16="http://schemas.microsoft.com/office/drawing/2014/main" id="{236210DD-B3FD-D906-BC01-3C63BAD2690B}"/>
              </a:ext>
            </a:extLst>
          </p:cNvPr>
          <p:cNvSpPr/>
          <p:nvPr/>
        </p:nvSpPr>
        <p:spPr>
          <a:xfrm>
            <a:off x="6257346" y="4399108"/>
            <a:ext cx="824343"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a:solidFill>
                  <a:srgbClr val="FFFFFF"/>
                </a:solidFill>
                <a:latin typeface="+mn-ea"/>
              </a:rPr>
              <a:t>Data Platform</a:t>
            </a:r>
            <a:endParaRPr kumimoji="0" lang="ja-JP" altLang="en-US" sz="1000" b="1" kern="0">
              <a:solidFill>
                <a:srgbClr val="FFFFFF"/>
              </a:solidFill>
              <a:latin typeface="+mn-ea"/>
            </a:endParaRPr>
          </a:p>
        </p:txBody>
      </p:sp>
      <p:sp>
        <p:nvSpPr>
          <p:cNvPr id="71" name="正方形/長方形 70">
            <a:extLst>
              <a:ext uri="{FF2B5EF4-FFF2-40B4-BE49-F238E27FC236}">
                <a16:creationId xmlns:a16="http://schemas.microsoft.com/office/drawing/2014/main" id="{C951DD70-C543-D237-B346-2609FFB78369}"/>
              </a:ext>
            </a:extLst>
          </p:cNvPr>
          <p:cNvSpPr/>
          <p:nvPr/>
        </p:nvSpPr>
        <p:spPr>
          <a:xfrm>
            <a:off x="6253097" y="2989852"/>
            <a:ext cx="816874" cy="413907"/>
          </a:xfrm>
          <a:prstGeom prst="rect">
            <a:avLst/>
          </a:prstGeom>
          <a:solidFill>
            <a:srgbClr val="FFFFFF">
              <a:lumMod val="75000"/>
            </a:srgbClr>
          </a:solidFill>
          <a:ln w="3175" cap="flat"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lnSpc>
                <a:spcPct val="110000"/>
              </a:lnSpc>
              <a:spcBef>
                <a:spcPts val="600"/>
              </a:spcBef>
              <a:defRPr/>
            </a:pPr>
            <a:r>
              <a:rPr kumimoji="0" lang="en-US" altLang="ja-JP" sz="1000" b="1" kern="0" dirty="0">
                <a:solidFill>
                  <a:srgbClr val="FFFFFF"/>
                </a:solidFill>
                <a:latin typeface="+mn-ea"/>
              </a:rPr>
              <a:t>Industry</a:t>
            </a:r>
            <a:br>
              <a:rPr kumimoji="0" lang="en-US" altLang="ja-JP" sz="1000" b="1" kern="0" dirty="0">
                <a:solidFill>
                  <a:srgbClr val="FFFFFF"/>
                </a:solidFill>
                <a:latin typeface="+mn-ea"/>
              </a:rPr>
            </a:br>
            <a:r>
              <a:rPr kumimoji="0" lang="en-US" altLang="ja-JP" sz="1000" b="1" kern="0" dirty="0">
                <a:solidFill>
                  <a:srgbClr val="FFFFFF"/>
                </a:solidFill>
                <a:latin typeface="+mn-ea"/>
              </a:rPr>
              <a:t>Vertical</a:t>
            </a:r>
            <a:endParaRPr kumimoji="0" lang="ja-JP" altLang="en-US" sz="1000" b="1" kern="0" dirty="0">
              <a:solidFill>
                <a:srgbClr val="FFFFFF"/>
              </a:solidFill>
              <a:latin typeface="+mn-ea"/>
            </a:endParaRPr>
          </a:p>
        </p:txBody>
      </p:sp>
      <p:pic>
        <p:nvPicPr>
          <p:cNvPr id="72" name="Picture 10" descr="Download SAP SE Logo in SVG Vector or PNG File Format - Logo.wine">
            <a:extLst>
              <a:ext uri="{FF2B5EF4-FFF2-40B4-BE49-F238E27FC236}">
                <a16:creationId xmlns:a16="http://schemas.microsoft.com/office/drawing/2014/main" id="{B1EE9FF4-350D-71CD-F5D2-F1F4C7F09E8E}"/>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8078616" y="3541996"/>
            <a:ext cx="481850" cy="30760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a:extLst>
              <a:ext uri="{FF2B5EF4-FFF2-40B4-BE49-F238E27FC236}">
                <a16:creationId xmlns:a16="http://schemas.microsoft.com/office/drawing/2014/main" id="{F427D62B-AC89-F1E4-8B92-E2D921144CA0}"/>
              </a:ext>
            </a:extLst>
          </p:cNvPr>
          <p:cNvPicPr>
            <a:picLocks noChangeAspect="1" noChangeArrowheads="1"/>
          </p:cNvPicPr>
          <p:nvPr/>
        </p:nvPicPr>
        <p:blipFill>
          <a:blip r:embed="rId4" cstate="hqprint">
            <a:extLst>
              <a:ext uri="{28A0092B-C50C-407E-A947-70E740481C1C}">
                <a14:useLocalDpi xmlns:a14="http://schemas.microsoft.com/office/drawing/2010/main"/>
              </a:ext>
            </a:extLst>
          </a:blip>
          <a:srcRect/>
          <a:stretch>
            <a:fillRect/>
          </a:stretch>
        </p:blipFill>
        <p:spPr bwMode="auto">
          <a:xfrm>
            <a:off x="7511991" y="3560987"/>
            <a:ext cx="383009" cy="256747"/>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2" descr="DataRobot AI Platform Customer Reviews 2025 | Machine Learning">
            <a:extLst>
              <a:ext uri="{FF2B5EF4-FFF2-40B4-BE49-F238E27FC236}">
                <a16:creationId xmlns:a16="http://schemas.microsoft.com/office/drawing/2014/main" id="{3F65CD3C-0418-9103-82F9-138AC9A8A4B3}"/>
              </a:ext>
            </a:extLst>
          </p:cNvPr>
          <p:cNvPicPr>
            <a:picLocks noChangeAspect="1" noChangeArrowheads="1"/>
          </p:cNvPicPr>
          <p:nvPr/>
        </p:nvPicPr>
        <p:blipFill>
          <a:blip r:embed="rId5" cstate="hqprint">
            <a:extLst>
              <a:ext uri="{28A0092B-C50C-407E-A947-70E740481C1C}">
                <a14:useLocalDpi xmlns:a14="http://schemas.microsoft.com/office/drawing/2010/main"/>
              </a:ext>
            </a:extLst>
          </a:blip>
          <a:srcRect/>
          <a:stretch>
            <a:fillRect/>
          </a:stretch>
        </p:blipFill>
        <p:spPr bwMode="auto">
          <a:xfrm>
            <a:off x="7696973" y="4059846"/>
            <a:ext cx="690368" cy="17187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a:extLst>
              <a:ext uri="{FF2B5EF4-FFF2-40B4-BE49-F238E27FC236}">
                <a16:creationId xmlns:a16="http://schemas.microsoft.com/office/drawing/2014/main" id="{FCAC3F01-B573-AE71-5E28-378F131D9214}"/>
              </a:ext>
            </a:extLst>
          </p:cNvPr>
          <p:cNvPicPr>
            <a:picLocks noChangeAspect="1" noChangeArrowheads="1"/>
          </p:cNvPicPr>
          <p:nvPr/>
        </p:nvPicPr>
        <p:blipFill>
          <a:blip r:embed="rId6" cstate="hqprint">
            <a:extLst>
              <a:ext uri="{28A0092B-C50C-407E-A947-70E740481C1C}">
                <a14:useLocalDpi xmlns:a14="http://schemas.microsoft.com/office/drawing/2010/main"/>
              </a:ext>
            </a:extLst>
          </a:blip>
          <a:srcRect/>
          <a:stretch>
            <a:fillRect/>
          </a:stretch>
        </p:blipFill>
        <p:spPr bwMode="auto">
          <a:xfrm>
            <a:off x="7133048" y="4091424"/>
            <a:ext cx="507555" cy="131944"/>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8">
            <a:extLst>
              <a:ext uri="{FF2B5EF4-FFF2-40B4-BE49-F238E27FC236}">
                <a16:creationId xmlns:a16="http://schemas.microsoft.com/office/drawing/2014/main" id="{E4AD286D-93D4-7EF6-05D9-144403B514C2}"/>
              </a:ext>
            </a:extLst>
          </p:cNvPr>
          <p:cNvPicPr>
            <a:picLocks noChangeAspect="1" noChangeArrowheads="1"/>
          </p:cNvPicPr>
          <p:nvPr/>
        </p:nvPicPr>
        <p:blipFill>
          <a:blip r:embed="rId7" cstate="hqprint">
            <a:extLst>
              <a:ext uri="{28A0092B-C50C-407E-A947-70E740481C1C}">
                <a14:useLocalDpi xmlns:a14="http://schemas.microsoft.com/office/drawing/2010/main"/>
              </a:ext>
            </a:extLst>
          </a:blip>
          <a:srcRect/>
          <a:stretch>
            <a:fillRect/>
          </a:stretch>
        </p:blipFill>
        <p:spPr bwMode="auto">
          <a:xfrm>
            <a:off x="8443715" y="4119472"/>
            <a:ext cx="576767" cy="101181"/>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Mistral Ai PNG Logo — Download Free Transparent Logo">
            <a:extLst>
              <a:ext uri="{FF2B5EF4-FFF2-40B4-BE49-F238E27FC236}">
                <a16:creationId xmlns:a16="http://schemas.microsoft.com/office/drawing/2014/main" id="{E05AB867-78BE-641B-8E3F-254E02863A87}"/>
              </a:ext>
            </a:extLst>
          </p:cNvPr>
          <p:cNvPicPr>
            <a:picLocks noChangeAspect="1" noChangeArrowheads="1"/>
          </p:cNvPicPr>
          <p:nvPr/>
        </p:nvPicPr>
        <p:blipFill>
          <a:blip r:embed="rId8" cstate="hqprint">
            <a:extLst>
              <a:ext uri="{28A0092B-C50C-407E-A947-70E740481C1C}">
                <a14:useLocalDpi xmlns:a14="http://schemas.microsoft.com/office/drawing/2010/main"/>
              </a:ext>
            </a:extLst>
          </a:blip>
          <a:srcRect/>
          <a:stretch>
            <a:fillRect/>
          </a:stretch>
        </p:blipFill>
        <p:spPr bwMode="auto">
          <a:xfrm>
            <a:off x="9080301" y="4109142"/>
            <a:ext cx="433334" cy="132912"/>
          </a:xfrm>
          <a:prstGeom prst="rect">
            <a:avLst/>
          </a:prstGeom>
          <a:noFill/>
          <a:extLst>
            <a:ext uri="{909E8E84-426E-40DD-AFC4-6F175D3DCCD1}">
              <a14:hiddenFill xmlns:a14="http://schemas.microsoft.com/office/drawing/2010/main">
                <a:solidFill>
                  <a:srgbClr val="FFFFFF"/>
                </a:solidFill>
              </a14:hiddenFill>
            </a:ext>
          </a:extLst>
        </p:spPr>
      </p:pic>
      <p:pic>
        <p:nvPicPr>
          <p:cNvPr id="78" name="グラフィックス 77">
            <a:extLst>
              <a:ext uri="{FF2B5EF4-FFF2-40B4-BE49-F238E27FC236}">
                <a16:creationId xmlns:a16="http://schemas.microsoft.com/office/drawing/2014/main" id="{DE532ABF-9192-A475-3C03-7751BAF484C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01136" y="4546252"/>
            <a:ext cx="702216" cy="106568"/>
          </a:xfrm>
          <a:prstGeom prst="rect">
            <a:avLst/>
          </a:prstGeom>
        </p:spPr>
      </p:pic>
      <p:pic>
        <p:nvPicPr>
          <p:cNvPr id="79" name="図 78" descr="ロゴ が含まれている画像&#10;&#10;AI 生成コンテンツは誤りを含む可能性があります。">
            <a:extLst>
              <a:ext uri="{FF2B5EF4-FFF2-40B4-BE49-F238E27FC236}">
                <a16:creationId xmlns:a16="http://schemas.microsoft.com/office/drawing/2014/main" id="{80DBFDD9-2452-68A0-141D-B8A71DE521A5}"/>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8420271" y="4526978"/>
            <a:ext cx="636513" cy="145119"/>
          </a:xfrm>
          <a:prstGeom prst="rect">
            <a:avLst/>
          </a:prstGeom>
        </p:spPr>
      </p:pic>
      <p:pic>
        <p:nvPicPr>
          <p:cNvPr id="80" name="図 79">
            <a:extLst>
              <a:ext uri="{FF2B5EF4-FFF2-40B4-BE49-F238E27FC236}">
                <a16:creationId xmlns:a16="http://schemas.microsoft.com/office/drawing/2014/main" id="{929E9AC9-4518-53CE-A7E2-1E5351BF05A5}"/>
              </a:ext>
            </a:extLst>
          </p:cNvPr>
          <p:cNvPicPr>
            <a:picLocks noChangeAspect="1" noChangeArrowheads="1"/>
          </p:cNvPicPr>
          <p:nvPr/>
        </p:nvPicPr>
        <p:blipFill>
          <a:blip r:embed="rId11">
            <a:extLst>
              <a:ext uri="{28A0092B-C50C-407E-A947-70E740481C1C}">
                <a14:useLocalDpi xmlns:a14="http://schemas.microsoft.com/office/drawing/2010/main"/>
              </a:ext>
            </a:extLst>
          </a:blip>
          <a:srcRect/>
          <a:stretch>
            <a:fillRect/>
          </a:stretch>
        </p:blipFill>
        <p:spPr bwMode="auto">
          <a:xfrm>
            <a:off x="7665058" y="4958053"/>
            <a:ext cx="568053" cy="22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6" descr="Cisco Logo PNG Transparent &amp; SVG Vector - Freebie Supply">
            <a:extLst>
              <a:ext uri="{FF2B5EF4-FFF2-40B4-BE49-F238E27FC236}">
                <a16:creationId xmlns:a16="http://schemas.microsoft.com/office/drawing/2014/main" id="{A6CA8D72-2206-343E-BCE3-5392CC5C09B4}"/>
              </a:ext>
            </a:extLst>
          </p:cNvPr>
          <p:cNvPicPr>
            <a:picLocks noChangeAspect="1" noChangeArrowheads="1"/>
          </p:cNvPicPr>
          <p:nvPr/>
        </p:nvPicPr>
        <p:blipFill>
          <a:blip r:embed="rId12" cstate="hqprint">
            <a:extLst>
              <a:ext uri="{28A0092B-C50C-407E-A947-70E740481C1C}">
                <a14:useLocalDpi xmlns:a14="http://schemas.microsoft.com/office/drawing/2010/main"/>
              </a:ext>
            </a:extLst>
          </a:blip>
          <a:srcRect/>
          <a:stretch>
            <a:fillRect/>
          </a:stretch>
        </p:blipFill>
        <p:spPr bwMode="auto">
          <a:xfrm>
            <a:off x="7134802" y="5468143"/>
            <a:ext cx="295972" cy="150083"/>
          </a:xfrm>
          <a:prstGeom prst="rect">
            <a:avLst/>
          </a:prstGeom>
          <a:noFill/>
          <a:extLst>
            <a:ext uri="{909E8E84-426E-40DD-AFC4-6F175D3DCCD1}">
              <a14:hiddenFill xmlns:a14="http://schemas.microsoft.com/office/drawing/2010/main">
                <a:solidFill>
                  <a:srgbClr val="FFFFFF"/>
                </a:solidFill>
              </a14:hiddenFill>
            </a:ext>
          </a:extLst>
        </p:spPr>
      </p:pic>
      <p:pic>
        <p:nvPicPr>
          <p:cNvPr id="82" name="図 81" descr="図形&#10;&#10;AI 生成コンテンツは誤りを含む可能性があります。">
            <a:extLst>
              <a:ext uri="{FF2B5EF4-FFF2-40B4-BE49-F238E27FC236}">
                <a16:creationId xmlns:a16="http://schemas.microsoft.com/office/drawing/2014/main" id="{3F822AC1-FDE5-A965-A2AA-4BAABFA913EF}"/>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7475822" y="5497427"/>
            <a:ext cx="522556" cy="91515"/>
          </a:xfrm>
          <a:prstGeom prst="rect">
            <a:avLst/>
          </a:prstGeom>
        </p:spPr>
      </p:pic>
      <p:pic>
        <p:nvPicPr>
          <p:cNvPr id="83" name="Picture 6">
            <a:extLst>
              <a:ext uri="{FF2B5EF4-FFF2-40B4-BE49-F238E27FC236}">
                <a16:creationId xmlns:a16="http://schemas.microsoft.com/office/drawing/2014/main" id="{D2FBA58A-3C66-B98F-FF23-C93837A7F1C9}"/>
              </a:ext>
            </a:extLst>
          </p:cNvPr>
          <p:cNvPicPr>
            <a:picLocks noChangeAspect="1" noChangeArrowheads="1"/>
          </p:cNvPicPr>
          <p:nvPr/>
        </p:nvPicPr>
        <p:blipFill>
          <a:blip r:embed="rId14" cstate="hqprint">
            <a:extLst>
              <a:ext uri="{28A0092B-C50C-407E-A947-70E740481C1C}">
                <a14:useLocalDpi xmlns:a14="http://schemas.microsoft.com/office/drawing/2010/main"/>
              </a:ext>
            </a:extLst>
          </a:blip>
          <a:srcRect/>
          <a:stretch>
            <a:fillRect/>
          </a:stretch>
        </p:blipFill>
        <p:spPr bwMode="auto">
          <a:xfrm>
            <a:off x="8655764" y="3656584"/>
            <a:ext cx="576767" cy="8198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
            <a:extLst>
              <a:ext uri="{FF2B5EF4-FFF2-40B4-BE49-F238E27FC236}">
                <a16:creationId xmlns:a16="http://schemas.microsoft.com/office/drawing/2014/main" id="{2AC44653-2E7D-D825-A760-769C2A2840AB}"/>
              </a:ext>
            </a:extLst>
          </p:cNvPr>
          <p:cNvPicPr>
            <a:picLocks noChangeAspect="1" noChangeArrowheads="1"/>
          </p:cNvPicPr>
          <p:nvPr/>
        </p:nvPicPr>
        <p:blipFill>
          <a:blip r:embed="rId15" cstate="hqprint">
            <a:extLst>
              <a:ext uri="{28A0092B-C50C-407E-A947-70E740481C1C}">
                <a14:useLocalDpi xmlns:a14="http://schemas.microsoft.com/office/drawing/2010/main"/>
              </a:ext>
            </a:extLst>
          </a:blip>
          <a:srcRect/>
          <a:stretch>
            <a:fillRect/>
          </a:stretch>
        </p:blipFill>
        <p:spPr bwMode="auto">
          <a:xfrm>
            <a:off x="7268009" y="5023771"/>
            <a:ext cx="229763" cy="131752"/>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10">
            <a:extLst>
              <a:ext uri="{FF2B5EF4-FFF2-40B4-BE49-F238E27FC236}">
                <a16:creationId xmlns:a16="http://schemas.microsoft.com/office/drawing/2014/main" id="{B89692EA-3692-D5FC-1AD9-5283CFA5CBC9}"/>
              </a:ext>
            </a:extLst>
          </p:cNvPr>
          <p:cNvPicPr>
            <a:picLocks noChangeAspect="1" noChangeArrowheads="1"/>
          </p:cNvPicPr>
          <p:nvPr/>
        </p:nvPicPr>
        <p:blipFill>
          <a:blip r:embed="rId16" cstate="hqprint">
            <a:extLst>
              <a:ext uri="{28A0092B-C50C-407E-A947-70E740481C1C}">
                <a14:useLocalDpi xmlns:a14="http://schemas.microsoft.com/office/drawing/2010/main"/>
              </a:ext>
            </a:extLst>
          </a:blip>
          <a:srcRect/>
          <a:stretch>
            <a:fillRect/>
          </a:stretch>
        </p:blipFill>
        <p:spPr bwMode="auto">
          <a:xfrm>
            <a:off x="8244631" y="5031147"/>
            <a:ext cx="697889" cy="103896"/>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0">
            <a:extLst>
              <a:ext uri="{FF2B5EF4-FFF2-40B4-BE49-F238E27FC236}">
                <a16:creationId xmlns:a16="http://schemas.microsoft.com/office/drawing/2014/main" id="{B8472E80-9E81-ED9B-0AA2-4AEFFD8E2E77}"/>
              </a:ext>
            </a:extLst>
          </p:cNvPr>
          <p:cNvPicPr>
            <a:picLocks noChangeAspect="1" noChangeArrowheads="1"/>
          </p:cNvPicPr>
          <p:nvPr/>
        </p:nvPicPr>
        <p:blipFill>
          <a:blip r:embed="rId17" cstate="hqprint">
            <a:extLst>
              <a:ext uri="{28A0092B-C50C-407E-A947-70E740481C1C}">
                <a14:useLocalDpi xmlns:a14="http://schemas.microsoft.com/office/drawing/2010/main"/>
              </a:ext>
            </a:extLst>
          </a:blip>
          <a:srcRect/>
          <a:stretch>
            <a:fillRect/>
          </a:stretch>
        </p:blipFill>
        <p:spPr bwMode="auto">
          <a:xfrm>
            <a:off x="9119206" y="5478997"/>
            <a:ext cx="406250" cy="128374"/>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2">
            <a:extLst>
              <a:ext uri="{FF2B5EF4-FFF2-40B4-BE49-F238E27FC236}">
                <a16:creationId xmlns:a16="http://schemas.microsoft.com/office/drawing/2014/main" id="{B844A638-5191-6DB3-A383-A3ACE7632323}"/>
              </a:ext>
            </a:extLst>
          </p:cNvPr>
          <p:cNvPicPr>
            <a:picLocks noChangeAspect="1" noChangeArrowheads="1"/>
          </p:cNvPicPr>
          <p:nvPr/>
        </p:nvPicPr>
        <p:blipFill>
          <a:blip r:embed="rId18" cstate="hqprint">
            <a:extLst>
              <a:ext uri="{28A0092B-C50C-407E-A947-70E740481C1C}">
                <a14:useLocalDpi xmlns:a14="http://schemas.microsoft.com/office/drawing/2010/main"/>
              </a:ext>
            </a:extLst>
          </a:blip>
          <a:srcRect/>
          <a:stretch>
            <a:fillRect/>
          </a:stretch>
        </p:blipFill>
        <p:spPr bwMode="auto">
          <a:xfrm>
            <a:off x="8043426" y="5505744"/>
            <a:ext cx="576767" cy="1022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6" descr="Zscaler">
            <a:extLst>
              <a:ext uri="{FF2B5EF4-FFF2-40B4-BE49-F238E27FC236}">
                <a16:creationId xmlns:a16="http://schemas.microsoft.com/office/drawing/2014/main" id="{E99C8CF0-6A9D-5410-0912-46B3C1F25011}"/>
              </a:ext>
            </a:extLst>
          </p:cNvPr>
          <p:cNvPicPr>
            <a:picLocks noChangeAspect="1" noChangeArrowheads="1"/>
          </p:cNvPicPr>
          <p:nvPr/>
        </p:nvPicPr>
        <p:blipFill>
          <a:blip r:embed="rId19" cstate="hqprint">
            <a:extLst>
              <a:ext uri="{28A0092B-C50C-407E-A947-70E740481C1C}">
                <a14:useLocalDpi xmlns:a14="http://schemas.microsoft.com/office/drawing/2010/main"/>
              </a:ext>
            </a:extLst>
          </a:blip>
          <a:srcRect/>
          <a:stretch>
            <a:fillRect/>
          </a:stretch>
        </p:blipFill>
        <p:spPr bwMode="auto">
          <a:xfrm>
            <a:off x="8665240" y="5445292"/>
            <a:ext cx="408919" cy="195782"/>
          </a:xfrm>
          <a:prstGeom prst="rect">
            <a:avLst/>
          </a:prstGeom>
          <a:noFill/>
          <a:extLst>
            <a:ext uri="{909E8E84-426E-40DD-AFC4-6F175D3DCCD1}">
              <a14:hiddenFill xmlns:a14="http://schemas.microsoft.com/office/drawing/2010/main">
                <a:solidFill>
                  <a:srgbClr val="FFFFFF"/>
                </a:solidFill>
              </a14:hiddenFill>
            </a:ext>
          </a:extLst>
        </p:spPr>
      </p:pic>
      <p:pic>
        <p:nvPicPr>
          <p:cNvPr id="89" name="図 88" descr="ロゴ&#10;&#10;AI 生成コンテンツは誤りを含む可能性があります。">
            <a:extLst>
              <a:ext uri="{FF2B5EF4-FFF2-40B4-BE49-F238E27FC236}">
                <a16:creationId xmlns:a16="http://schemas.microsoft.com/office/drawing/2014/main" id="{AE42970C-4515-6604-BA1E-D57CB7782AE5}"/>
              </a:ext>
            </a:extLst>
          </p:cNvPr>
          <p:cNvPicPr>
            <a:picLocks noChangeAspect="1"/>
          </p:cNvPicPr>
          <p:nvPr/>
        </p:nvPicPr>
        <p:blipFill>
          <a:blip r:embed="rId20" cstate="hqprint">
            <a:extLst>
              <a:ext uri="{28A0092B-C50C-407E-A947-70E740481C1C}">
                <a14:useLocalDpi xmlns:a14="http://schemas.microsoft.com/office/drawing/2010/main"/>
              </a:ext>
            </a:extLst>
          </a:blip>
          <a:stretch>
            <a:fillRect/>
          </a:stretch>
        </p:blipFill>
        <p:spPr>
          <a:xfrm>
            <a:off x="9020482" y="5004620"/>
            <a:ext cx="524093" cy="156950"/>
          </a:xfrm>
          <a:prstGeom prst="rect">
            <a:avLst/>
          </a:prstGeom>
        </p:spPr>
      </p:pic>
      <p:cxnSp>
        <p:nvCxnSpPr>
          <p:cNvPr id="90" name="直線コネクタ 89">
            <a:extLst>
              <a:ext uri="{FF2B5EF4-FFF2-40B4-BE49-F238E27FC236}">
                <a16:creationId xmlns:a16="http://schemas.microsoft.com/office/drawing/2014/main" id="{956929C7-364C-4612-C86E-94B8EB1CC83B}"/>
              </a:ext>
            </a:extLst>
          </p:cNvPr>
          <p:cNvCxnSpPr>
            <a:cxnSpLocks/>
          </p:cNvCxnSpPr>
          <p:nvPr/>
        </p:nvCxnSpPr>
        <p:spPr>
          <a:xfrm>
            <a:off x="7097239" y="2990871"/>
            <a:ext cx="0" cy="2761649"/>
          </a:xfrm>
          <a:prstGeom prst="line">
            <a:avLst/>
          </a:prstGeom>
          <a:noFill/>
          <a:ln w="19050" cap="flat" cmpd="sng" algn="ctr">
            <a:solidFill>
              <a:srgbClr val="FFFFFF">
                <a:lumMod val="75000"/>
              </a:srgbClr>
            </a:solidFill>
            <a:prstDash val="solid"/>
          </a:ln>
          <a:effectLst/>
        </p:spPr>
      </p:cxnSp>
      <p:grpSp>
        <p:nvGrpSpPr>
          <p:cNvPr id="91" name="グループ化 90">
            <a:extLst>
              <a:ext uri="{FF2B5EF4-FFF2-40B4-BE49-F238E27FC236}">
                <a16:creationId xmlns:a16="http://schemas.microsoft.com/office/drawing/2014/main" id="{7257A26C-99DD-2BEE-D029-B23CF5B6D900}"/>
              </a:ext>
            </a:extLst>
          </p:cNvPr>
          <p:cNvGrpSpPr/>
          <p:nvPr/>
        </p:nvGrpSpPr>
        <p:grpSpPr>
          <a:xfrm>
            <a:off x="6362223" y="3431602"/>
            <a:ext cx="3221975" cy="2351399"/>
            <a:chOff x="7504686" y="2768619"/>
            <a:chExt cx="4664210" cy="3272249"/>
          </a:xfrm>
        </p:grpSpPr>
        <p:cxnSp>
          <p:nvCxnSpPr>
            <p:cNvPr id="92" name="直線コネクタ 91">
              <a:extLst>
                <a:ext uri="{FF2B5EF4-FFF2-40B4-BE49-F238E27FC236}">
                  <a16:creationId xmlns:a16="http://schemas.microsoft.com/office/drawing/2014/main" id="{6AE7DE61-C49C-4160-A55B-52000FD1C4E1}"/>
                </a:ext>
              </a:extLst>
            </p:cNvPr>
            <p:cNvCxnSpPr>
              <a:cxnSpLocks/>
            </p:cNvCxnSpPr>
            <p:nvPr/>
          </p:nvCxnSpPr>
          <p:spPr>
            <a:xfrm>
              <a:off x="7504686" y="2768619"/>
              <a:ext cx="4664210" cy="0"/>
            </a:xfrm>
            <a:prstGeom prst="line">
              <a:avLst/>
            </a:prstGeom>
            <a:noFill/>
            <a:ln w="19050" cap="flat" cmpd="sng" algn="ctr">
              <a:solidFill>
                <a:srgbClr val="FFFFFF">
                  <a:lumMod val="75000"/>
                </a:srgbClr>
              </a:solidFill>
              <a:prstDash val="dash"/>
            </a:ln>
            <a:effectLst/>
          </p:spPr>
        </p:cxnSp>
        <p:cxnSp>
          <p:nvCxnSpPr>
            <p:cNvPr id="93" name="直線コネクタ 92">
              <a:extLst>
                <a:ext uri="{FF2B5EF4-FFF2-40B4-BE49-F238E27FC236}">
                  <a16:creationId xmlns:a16="http://schemas.microsoft.com/office/drawing/2014/main" id="{B79DADC8-92E9-4B38-B218-673858E39788}"/>
                </a:ext>
              </a:extLst>
            </p:cNvPr>
            <p:cNvCxnSpPr>
              <a:cxnSpLocks/>
            </p:cNvCxnSpPr>
            <p:nvPr/>
          </p:nvCxnSpPr>
          <p:spPr>
            <a:xfrm>
              <a:off x="7504686" y="3429000"/>
              <a:ext cx="4664210" cy="0"/>
            </a:xfrm>
            <a:prstGeom prst="line">
              <a:avLst/>
            </a:prstGeom>
            <a:noFill/>
            <a:ln w="19050" cap="flat" cmpd="sng" algn="ctr">
              <a:solidFill>
                <a:srgbClr val="FFFFFF">
                  <a:lumMod val="75000"/>
                </a:srgbClr>
              </a:solidFill>
              <a:prstDash val="dash"/>
            </a:ln>
            <a:effectLst/>
          </p:spPr>
        </p:cxnSp>
        <p:cxnSp>
          <p:nvCxnSpPr>
            <p:cNvPr id="94" name="直線コネクタ 93">
              <a:extLst>
                <a:ext uri="{FF2B5EF4-FFF2-40B4-BE49-F238E27FC236}">
                  <a16:creationId xmlns:a16="http://schemas.microsoft.com/office/drawing/2014/main" id="{AA2300C7-B7C9-2FA3-0259-2C0F8B46BCB3}"/>
                </a:ext>
              </a:extLst>
            </p:cNvPr>
            <p:cNvCxnSpPr>
              <a:cxnSpLocks/>
            </p:cNvCxnSpPr>
            <p:nvPr/>
          </p:nvCxnSpPr>
          <p:spPr>
            <a:xfrm>
              <a:off x="7504686" y="4079551"/>
              <a:ext cx="4664210" cy="0"/>
            </a:xfrm>
            <a:prstGeom prst="line">
              <a:avLst/>
            </a:prstGeom>
            <a:noFill/>
            <a:ln w="19050" cap="flat" cmpd="sng" algn="ctr">
              <a:solidFill>
                <a:srgbClr val="FFFFFF">
                  <a:lumMod val="75000"/>
                </a:srgbClr>
              </a:solidFill>
              <a:prstDash val="dash"/>
            </a:ln>
            <a:effectLst/>
          </p:spPr>
        </p:cxnSp>
        <p:cxnSp>
          <p:nvCxnSpPr>
            <p:cNvPr id="95" name="直線コネクタ 94">
              <a:extLst>
                <a:ext uri="{FF2B5EF4-FFF2-40B4-BE49-F238E27FC236}">
                  <a16:creationId xmlns:a16="http://schemas.microsoft.com/office/drawing/2014/main" id="{41E405D1-45B7-11DE-93FD-F98FE230DE63}"/>
                </a:ext>
              </a:extLst>
            </p:cNvPr>
            <p:cNvCxnSpPr>
              <a:cxnSpLocks/>
            </p:cNvCxnSpPr>
            <p:nvPr/>
          </p:nvCxnSpPr>
          <p:spPr>
            <a:xfrm>
              <a:off x="7504686" y="4736332"/>
              <a:ext cx="4664210" cy="0"/>
            </a:xfrm>
            <a:prstGeom prst="line">
              <a:avLst/>
            </a:prstGeom>
            <a:noFill/>
            <a:ln w="19050" cap="flat" cmpd="sng" algn="ctr">
              <a:solidFill>
                <a:srgbClr val="FFFFFF">
                  <a:lumMod val="75000"/>
                </a:srgbClr>
              </a:solidFill>
              <a:prstDash val="dash"/>
            </a:ln>
            <a:effectLst/>
          </p:spPr>
        </p:cxnSp>
        <p:cxnSp>
          <p:nvCxnSpPr>
            <p:cNvPr id="96" name="直線コネクタ 95">
              <a:extLst>
                <a:ext uri="{FF2B5EF4-FFF2-40B4-BE49-F238E27FC236}">
                  <a16:creationId xmlns:a16="http://schemas.microsoft.com/office/drawing/2014/main" id="{CEBDEAAC-7EAE-657C-F69F-680D6E3DC168}"/>
                </a:ext>
              </a:extLst>
            </p:cNvPr>
            <p:cNvCxnSpPr>
              <a:cxnSpLocks/>
            </p:cNvCxnSpPr>
            <p:nvPr/>
          </p:nvCxnSpPr>
          <p:spPr>
            <a:xfrm>
              <a:off x="7504686" y="5379720"/>
              <a:ext cx="4664210" cy="0"/>
            </a:xfrm>
            <a:prstGeom prst="line">
              <a:avLst/>
            </a:prstGeom>
            <a:noFill/>
            <a:ln w="19050" cap="flat" cmpd="sng" algn="ctr">
              <a:solidFill>
                <a:srgbClr val="FFFFFF">
                  <a:lumMod val="75000"/>
                </a:srgbClr>
              </a:solidFill>
              <a:prstDash val="dash"/>
            </a:ln>
            <a:effectLst/>
          </p:spPr>
        </p:cxnSp>
        <p:cxnSp>
          <p:nvCxnSpPr>
            <p:cNvPr id="97" name="直線コネクタ 96">
              <a:extLst>
                <a:ext uri="{FF2B5EF4-FFF2-40B4-BE49-F238E27FC236}">
                  <a16:creationId xmlns:a16="http://schemas.microsoft.com/office/drawing/2014/main" id="{548A5FF6-D8B5-2436-C433-F5A159310DB1}"/>
                </a:ext>
              </a:extLst>
            </p:cNvPr>
            <p:cNvCxnSpPr>
              <a:cxnSpLocks/>
            </p:cNvCxnSpPr>
            <p:nvPr/>
          </p:nvCxnSpPr>
          <p:spPr>
            <a:xfrm>
              <a:off x="7504686" y="6040868"/>
              <a:ext cx="4664210" cy="0"/>
            </a:xfrm>
            <a:prstGeom prst="line">
              <a:avLst/>
            </a:prstGeom>
            <a:noFill/>
            <a:ln w="19050" cap="flat" cmpd="sng" algn="ctr">
              <a:solidFill>
                <a:srgbClr val="FFFFFF">
                  <a:lumMod val="75000"/>
                </a:srgbClr>
              </a:solidFill>
              <a:prstDash val="dash"/>
            </a:ln>
            <a:effectLst/>
          </p:spPr>
        </p:cxnSp>
      </p:grpSp>
      <p:sp>
        <p:nvSpPr>
          <p:cNvPr id="98" name="二等辺三角形 97">
            <a:extLst>
              <a:ext uri="{FF2B5EF4-FFF2-40B4-BE49-F238E27FC236}">
                <a16:creationId xmlns:a16="http://schemas.microsoft.com/office/drawing/2014/main" id="{B40DC4A7-ACA4-9E9D-9C79-CA0D2851704C}"/>
              </a:ext>
            </a:extLst>
          </p:cNvPr>
          <p:cNvSpPr/>
          <p:nvPr/>
        </p:nvSpPr>
        <p:spPr>
          <a:xfrm rot="16200000">
            <a:off x="1744532" y="4195649"/>
            <a:ext cx="3243818" cy="146008"/>
          </a:xfrm>
          <a:prstGeom prst="triangle">
            <a:avLst>
              <a:gd name="adj" fmla="val 49815"/>
            </a:avLst>
          </a:prstGeom>
          <a:solidFill>
            <a:srgbClr val="19A3FC">
              <a:lumMod val="20000"/>
              <a:lumOff val="80000"/>
            </a:srgbClr>
          </a:solidFill>
          <a:ln w="9525" cap="flat" cmpd="sng" algn="ctr">
            <a:noFill/>
            <a:prstDash val="solid"/>
            <a:miter lim="800000"/>
          </a:ln>
          <a:effectLst/>
        </p:spPr>
        <p:txBody>
          <a:bodyPr rtlCol="0" anchor="ctr"/>
          <a:lstStyle/>
          <a:p>
            <a:pPr algn="ctr">
              <a:defRPr/>
            </a:pPr>
            <a:endParaRPr kumimoji="0" lang="ja-JP" altLang="en-US" kern="0" err="1">
              <a:solidFill>
                <a:srgbClr val="070F26"/>
              </a:solidFill>
              <a:latin typeface="+mn-ea"/>
            </a:endParaRPr>
          </a:p>
        </p:txBody>
      </p:sp>
      <p:sp>
        <p:nvSpPr>
          <p:cNvPr id="108" name="テキスト ボックス 107">
            <a:extLst>
              <a:ext uri="{FF2B5EF4-FFF2-40B4-BE49-F238E27FC236}">
                <a16:creationId xmlns:a16="http://schemas.microsoft.com/office/drawing/2014/main" id="{44DE3F3E-F592-2A43-2C48-3F3F5936B16D}"/>
              </a:ext>
            </a:extLst>
          </p:cNvPr>
          <p:cNvSpPr txBox="1"/>
          <p:nvPr/>
        </p:nvSpPr>
        <p:spPr>
          <a:xfrm>
            <a:off x="7219661" y="2953301"/>
            <a:ext cx="2272080" cy="461665"/>
          </a:xfrm>
          <a:prstGeom prst="rect">
            <a:avLst/>
          </a:prstGeom>
          <a:solidFill>
            <a:srgbClr val="FFFFFF">
              <a:alpha val="70000"/>
            </a:srgbClr>
          </a:solidFill>
        </p:spPr>
        <p:txBody>
          <a:bodyPr wrap="square" rtlCol="0" anchor="b">
            <a:spAutoFit/>
          </a:bodyPr>
          <a:lstStyle/>
          <a:p>
            <a:pPr algn="ctr">
              <a:defRPr/>
            </a:pPr>
            <a:r>
              <a:rPr kumimoji="0" lang="en-US" altLang="ja-JP" sz="1200" b="1" kern="0" dirty="0">
                <a:solidFill>
                  <a:srgbClr val="000000">
                    <a:lumMod val="85000"/>
                    <a:lumOff val="15000"/>
                  </a:srgbClr>
                </a:solidFill>
                <a:latin typeface="+mn-ea"/>
              </a:rPr>
              <a:t>Industry-Specific</a:t>
            </a:r>
            <a:r>
              <a:rPr kumimoji="0" lang="ja-JP" altLang="en-US" sz="1200" b="1" kern="0" dirty="0">
                <a:solidFill>
                  <a:srgbClr val="000000">
                    <a:lumMod val="85000"/>
                    <a:lumOff val="15000"/>
                  </a:srgbClr>
                </a:solidFill>
                <a:latin typeface="+mn-ea"/>
              </a:rPr>
              <a:t> </a:t>
            </a:r>
            <a:br>
              <a:rPr kumimoji="0" lang="en-US" altLang="ja-JP" sz="1200" b="1" kern="0" dirty="0">
                <a:solidFill>
                  <a:srgbClr val="000000">
                    <a:lumMod val="85000"/>
                    <a:lumOff val="15000"/>
                  </a:srgbClr>
                </a:solidFill>
                <a:latin typeface="+mn-ea"/>
              </a:rPr>
            </a:br>
            <a:r>
              <a:rPr kumimoji="0" lang="en-US" altLang="ja-JP" sz="1200" b="1" kern="0" dirty="0">
                <a:solidFill>
                  <a:srgbClr val="000000">
                    <a:lumMod val="85000"/>
                    <a:lumOff val="15000"/>
                  </a:srgbClr>
                </a:solidFill>
                <a:latin typeface="+mn-ea"/>
              </a:rPr>
              <a:t>Technology Partner</a:t>
            </a:r>
            <a:endParaRPr kumimoji="0" lang="ja-JP" altLang="en-US" sz="1200" kern="0" dirty="0">
              <a:solidFill>
                <a:srgbClr val="000000">
                  <a:lumMod val="85000"/>
                  <a:lumOff val="15000"/>
                </a:srgbClr>
              </a:solidFill>
              <a:latin typeface="+mn-ea"/>
            </a:endParaRPr>
          </a:p>
        </p:txBody>
      </p:sp>
      <p:sp>
        <p:nvSpPr>
          <p:cNvPr id="21" name="テキスト ボックス 20">
            <a:extLst>
              <a:ext uri="{FF2B5EF4-FFF2-40B4-BE49-F238E27FC236}">
                <a16:creationId xmlns:a16="http://schemas.microsoft.com/office/drawing/2014/main" id="{A3571D8F-27D7-9289-ABF3-D8B2ED5DAADB}"/>
              </a:ext>
            </a:extLst>
          </p:cNvPr>
          <p:cNvSpPr txBox="1"/>
          <p:nvPr/>
        </p:nvSpPr>
        <p:spPr>
          <a:xfrm>
            <a:off x="3941938" y="5890854"/>
            <a:ext cx="5844900"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21"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21"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21"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
        <p:nvSpPr>
          <p:cNvPr id="23" name="テキスト ボックス 22">
            <a:extLst>
              <a:ext uri="{FF2B5EF4-FFF2-40B4-BE49-F238E27FC236}">
                <a16:creationId xmlns:a16="http://schemas.microsoft.com/office/drawing/2014/main" id="{D54E1A1E-BE1C-0887-578F-309A3F59E2EE}"/>
              </a:ext>
            </a:extLst>
          </p:cNvPr>
          <p:cNvSpPr txBox="1"/>
          <p:nvPr/>
        </p:nvSpPr>
        <p:spPr>
          <a:xfrm>
            <a:off x="261790" y="978654"/>
            <a:ext cx="9301500" cy="1323439"/>
          </a:xfrm>
          <a:prstGeom prst="rect">
            <a:avLst/>
          </a:prstGeom>
          <a:noFill/>
        </p:spPr>
        <p:txBody>
          <a:bodyPr wrap="square">
            <a:spAutoFit/>
          </a:bodyPr>
          <a:lstStyle/>
          <a:p>
            <a:pPr defTabSz="925880"/>
            <a:r>
              <a:rPr lang="ja-JP" altLang="en-US" sz="2000" dirty="0">
                <a:solidFill>
                  <a:srgbClr val="404040"/>
                </a:solidFill>
                <a:latin typeface="+mn-ea"/>
              </a:rPr>
              <a:t>NTTデータは</a:t>
            </a:r>
            <a:r>
              <a:rPr lang="ja-JP" altLang="en-US" sz="2000" dirty="0">
                <a:solidFill>
                  <a:srgbClr val="19A3FC"/>
                </a:solidFill>
                <a:latin typeface="+mn-ea"/>
              </a:rPr>
              <a:t>「顧客への価値提供を最大化し、持続的な成長と両立する質を伴った成長」＝ Quality Growth </a:t>
            </a:r>
            <a:r>
              <a:rPr lang="ja-JP" altLang="en-US" sz="2000" dirty="0">
                <a:solidFill>
                  <a:srgbClr val="404040"/>
                </a:solidFill>
                <a:latin typeface="+mn-ea"/>
              </a:rPr>
              <a:t>の実現を目指しています。</a:t>
            </a:r>
          </a:p>
          <a:p>
            <a:pPr defTabSz="925880"/>
            <a:r>
              <a:rPr lang="ja-JP" altLang="en-US" sz="2000" dirty="0">
                <a:solidFill>
                  <a:srgbClr val="404040"/>
                </a:solidFill>
                <a:latin typeface="+mn-ea"/>
              </a:rPr>
              <a:t>そのための中核戦略が、AIを全事業に組み込んだ「AI-empowered New Value &amp; Productivity」です。</a:t>
            </a:r>
          </a:p>
        </p:txBody>
      </p:sp>
    </p:spTree>
    <p:extLst>
      <p:ext uri="{BB962C8B-B14F-4D97-AF65-F5344CB8AC3E}">
        <p14:creationId xmlns:p14="http://schemas.microsoft.com/office/powerpoint/2010/main" val="70301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FBC1-8310-1BE8-5FF7-A0190C120E1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B1FB35-8C0E-4F20-BF51-C0742237FF81}"/>
              </a:ext>
            </a:extLst>
          </p:cNvPr>
          <p:cNvSpPr>
            <a:spLocks noGrp="1"/>
          </p:cNvSpPr>
          <p:nvPr>
            <p:ph type="title"/>
          </p:nvPr>
        </p:nvSpPr>
        <p:spPr/>
        <p:txBody>
          <a:bodyPr>
            <a:normAutofit/>
          </a:bodyPr>
          <a:lstStyle/>
          <a:p>
            <a:r>
              <a:rPr lang="en-US" altLang="ja-JP" dirty="0">
                <a:latin typeface="+mn-ea"/>
                <a:ea typeface="+mn-ea"/>
              </a:rPr>
              <a:t>3-3.</a:t>
            </a:r>
            <a:r>
              <a:rPr lang="ja-JP" altLang="en-US" dirty="0">
                <a:latin typeface="+mn-ea"/>
                <a:ea typeface="+mn-ea"/>
              </a:rPr>
              <a:t> なぜ今、</a:t>
            </a:r>
            <a:r>
              <a:rPr lang="en-US" altLang="ja-JP" dirty="0">
                <a:latin typeface="+mn-ea"/>
                <a:ea typeface="+mn-ea"/>
              </a:rPr>
              <a:t>AI</a:t>
            </a:r>
            <a:r>
              <a:rPr lang="ja-JP" altLang="en-US" dirty="0">
                <a:latin typeface="+mn-ea"/>
                <a:ea typeface="+mn-ea"/>
              </a:rPr>
              <a:t>が重要なのか</a:t>
            </a:r>
          </a:p>
        </p:txBody>
      </p:sp>
      <p:sp>
        <p:nvSpPr>
          <p:cNvPr id="23" name="テキスト ボックス 22">
            <a:extLst>
              <a:ext uri="{FF2B5EF4-FFF2-40B4-BE49-F238E27FC236}">
                <a16:creationId xmlns:a16="http://schemas.microsoft.com/office/drawing/2014/main" id="{40A40DBF-EF4E-E57C-7EE3-6E567311DCEC}"/>
              </a:ext>
            </a:extLst>
          </p:cNvPr>
          <p:cNvSpPr txBox="1"/>
          <p:nvPr/>
        </p:nvSpPr>
        <p:spPr>
          <a:xfrm>
            <a:off x="268864" y="1047233"/>
            <a:ext cx="9301500" cy="707886"/>
          </a:xfrm>
          <a:prstGeom prst="rect">
            <a:avLst/>
          </a:prstGeom>
          <a:noFill/>
        </p:spPr>
        <p:txBody>
          <a:bodyPr wrap="square">
            <a:spAutoFit/>
          </a:bodyPr>
          <a:lstStyle/>
          <a:p>
            <a:pPr defTabSz="925880"/>
            <a:r>
              <a:rPr lang="ja-JP" altLang="en-US" sz="2000" dirty="0">
                <a:solidFill>
                  <a:srgbClr val="404040"/>
                </a:solidFill>
                <a:latin typeface="+mn-ea"/>
              </a:rPr>
              <a:t>生成</a:t>
            </a:r>
            <a:r>
              <a:rPr lang="en-US" altLang="ja-JP" sz="2000" dirty="0">
                <a:solidFill>
                  <a:srgbClr val="404040"/>
                </a:solidFill>
                <a:latin typeface="+mn-ea"/>
              </a:rPr>
              <a:t>AI</a:t>
            </a:r>
            <a:r>
              <a:rPr lang="ja-JP" altLang="en-US" sz="2000" dirty="0">
                <a:solidFill>
                  <a:srgbClr val="404040"/>
                </a:solidFill>
                <a:latin typeface="+mn-ea"/>
              </a:rPr>
              <a:t>の活用レベルが、企業や事業の命運を左右するようになっています。</a:t>
            </a:r>
          </a:p>
          <a:p>
            <a:pPr defTabSz="925880"/>
            <a:r>
              <a:rPr lang="en-US" altLang="ja-JP" sz="2000" dirty="0">
                <a:solidFill>
                  <a:srgbClr val="19A3FC"/>
                </a:solidFill>
                <a:latin typeface="+mn-ea"/>
              </a:rPr>
              <a:t>NTT</a:t>
            </a:r>
            <a:r>
              <a:rPr lang="ja-JP" altLang="en-US" sz="2000" dirty="0">
                <a:solidFill>
                  <a:srgbClr val="19A3FC"/>
                </a:solidFill>
                <a:latin typeface="+mn-ea"/>
              </a:rPr>
              <a:t>データ社員として、この変化を正しく理解することが求められます。</a:t>
            </a:r>
          </a:p>
        </p:txBody>
      </p:sp>
      <p:sp>
        <p:nvSpPr>
          <p:cNvPr id="5" name="正方形/長方形 4">
            <a:extLst>
              <a:ext uri="{FF2B5EF4-FFF2-40B4-BE49-F238E27FC236}">
                <a16:creationId xmlns:a16="http://schemas.microsoft.com/office/drawing/2014/main" id="{AF3E0B34-CE97-ACB8-8EA0-2293E037018D}"/>
              </a:ext>
            </a:extLst>
          </p:cNvPr>
          <p:cNvSpPr/>
          <p:nvPr/>
        </p:nvSpPr>
        <p:spPr>
          <a:xfrm>
            <a:off x="372270" y="4260390"/>
            <a:ext cx="3523775" cy="1778779"/>
          </a:xfrm>
          <a:prstGeom prst="rect">
            <a:avLst/>
          </a:prstGeom>
          <a:solidFill>
            <a:schemeClr val="bg1">
              <a:lumMod val="95000"/>
            </a:schemeClr>
          </a:solidFill>
          <a:ln w="9525">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defTabSz="925880"/>
            <a:r>
              <a:rPr lang="ja-JP" altLang="en-US" sz="1600" b="1" u="sng" dirty="0">
                <a:solidFill>
                  <a:srgbClr val="000000"/>
                </a:solidFill>
                <a:latin typeface="+mn-ea"/>
              </a:rPr>
              <a:t>生成</a:t>
            </a:r>
            <a:r>
              <a:rPr lang="en-US" altLang="ja-JP" sz="1600" b="1" u="sng" dirty="0">
                <a:solidFill>
                  <a:srgbClr val="000000"/>
                </a:solidFill>
                <a:latin typeface="+mn-ea"/>
              </a:rPr>
              <a:t>AI</a:t>
            </a:r>
            <a:r>
              <a:rPr lang="ja-JP" altLang="en-US" sz="1600" b="1" u="sng" dirty="0">
                <a:solidFill>
                  <a:srgbClr val="000000"/>
                </a:solidFill>
                <a:latin typeface="+mn-ea"/>
              </a:rPr>
              <a:t>活用による競争激化</a:t>
            </a:r>
            <a:endParaRPr lang="en-US" altLang="ja-JP" sz="1600" b="1" u="sng" dirty="0">
              <a:solidFill>
                <a:srgbClr val="000000"/>
              </a:solidFill>
              <a:latin typeface="+mn-ea"/>
            </a:endParaRPr>
          </a:p>
          <a:p>
            <a:pPr algn="ctr" defTabSz="925880"/>
            <a:endParaRPr lang="en-US" altLang="ja-JP" sz="800" dirty="0">
              <a:solidFill>
                <a:srgbClr val="000000"/>
              </a:solidFill>
              <a:latin typeface="+mn-ea"/>
            </a:endParaRPr>
          </a:p>
          <a:p>
            <a:pPr defTabSz="925880"/>
            <a:r>
              <a:rPr lang="en-US" altLang="ja-JP" sz="1200" dirty="0">
                <a:solidFill>
                  <a:srgbClr val="000000"/>
                </a:solidFill>
                <a:latin typeface="+mn-ea"/>
              </a:rPr>
              <a:t>QCD</a:t>
            </a:r>
            <a:r>
              <a:rPr lang="ja-JP" altLang="en-US" sz="1200" dirty="0">
                <a:solidFill>
                  <a:srgbClr val="000000"/>
                </a:solidFill>
                <a:latin typeface="+mn-ea"/>
              </a:rPr>
              <a:t>の非連続な進化や参入障壁を突破する企業の登場</a:t>
            </a:r>
            <a:endParaRPr lang="en-US" altLang="ja-JP" sz="1200" dirty="0">
              <a:solidFill>
                <a:srgbClr val="000000"/>
              </a:solidFill>
              <a:latin typeface="+mn-ea"/>
            </a:endParaRPr>
          </a:p>
          <a:p>
            <a:pPr marL="285750" indent="-285750" defTabSz="925880">
              <a:spcBef>
                <a:spcPts val="300"/>
              </a:spcBef>
              <a:buFont typeface="Arial" panose="020B0604020202020204" pitchFamily="34" charset="0"/>
              <a:buChar char="►"/>
            </a:pPr>
            <a:r>
              <a:rPr lang="ja-JP" altLang="en-US" sz="1200" b="1" dirty="0">
                <a:solidFill>
                  <a:srgbClr val="2A485C"/>
                </a:solidFill>
                <a:latin typeface="+mn-ea"/>
              </a:rPr>
              <a:t>提供価値の劣後や価格競争により、利益や優秀な人財を喪失する懸念</a:t>
            </a:r>
            <a:endParaRPr lang="ja-JP" altLang="en-US" sz="1200" dirty="0">
              <a:solidFill>
                <a:srgbClr val="2A485C"/>
              </a:solidFill>
              <a:latin typeface="+mn-ea"/>
            </a:endParaRPr>
          </a:p>
        </p:txBody>
      </p:sp>
      <p:sp>
        <p:nvSpPr>
          <p:cNvPr id="7" name="正方形/長方形 6">
            <a:extLst>
              <a:ext uri="{FF2B5EF4-FFF2-40B4-BE49-F238E27FC236}">
                <a16:creationId xmlns:a16="http://schemas.microsoft.com/office/drawing/2014/main" id="{4828245E-D95D-8350-715E-9B9DB3BB4712}"/>
              </a:ext>
            </a:extLst>
          </p:cNvPr>
          <p:cNvSpPr/>
          <p:nvPr/>
        </p:nvSpPr>
        <p:spPr>
          <a:xfrm>
            <a:off x="372270" y="2333418"/>
            <a:ext cx="3523775" cy="1778779"/>
          </a:xfrm>
          <a:prstGeom prst="rect">
            <a:avLst/>
          </a:prstGeom>
          <a:solidFill>
            <a:schemeClr val="bg1">
              <a:lumMod val="95000"/>
            </a:schemeClr>
          </a:solidFill>
          <a:ln w="9525">
            <a:solidFill>
              <a:schemeClr val="bg1">
                <a:lumMod val="9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defTabSz="925880"/>
            <a:r>
              <a:rPr lang="ja-JP" altLang="en-US" sz="1600" b="1" u="sng" dirty="0">
                <a:solidFill>
                  <a:srgbClr val="000000"/>
                </a:solidFill>
                <a:latin typeface="+mn-ea"/>
              </a:rPr>
              <a:t>国内労働人口の減少</a:t>
            </a:r>
            <a:endParaRPr lang="en-US" altLang="ja-JP" sz="1600" b="1" u="sng" dirty="0">
              <a:solidFill>
                <a:srgbClr val="000000"/>
              </a:solidFill>
              <a:latin typeface="+mn-ea"/>
            </a:endParaRPr>
          </a:p>
          <a:p>
            <a:pPr algn="ctr" defTabSz="925880"/>
            <a:endParaRPr lang="en-US" altLang="ja-JP" sz="800" dirty="0">
              <a:solidFill>
                <a:srgbClr val="000000"/>
              </a:solidFill>
              <a:latin typeface="+mn-ea"/>
            </a:endParaRPr>
          </a:p>
          <a:p>
            <a:pPr defTabSz="925880"/>
            <a:r>
              <a:rPr lang="ja-JP" altLang="en-US" sz="1200" dirty="0">
                <a:solidFill>
                  <a:srgbClr val="000000"/>
                </a:solidFill>
                <a:latin typeface="+mn-ea"/>
              </a:rPr>
              <a:t>熟練者の大量退職や加速度的な労働人口減少による人財確保難</a:t>
            </a:r>
            <a:endParaRPr lang="en-US" altLang="ja-JP" sz="1200" dirty="0">
              <a:solidFill>
                <a:srgbClr val="000000"/>
              </a:solidFill>
              <a:latin typeface="+mn-ea"/>
            </a:endParaRPr>
          </a:p>
          <a:p>
            <a:pPr marL="285750" indent="-285750" defTabSz="925880">
              <a:spcBef>
                <a:spcPts val="300"/>
              </a:spcBef>
              <a:buFont typeface="Arial" panose="020B0604020202020204" pitchFamily="34" charset="0"/>
              <a:buChar char="►"/>
            </a:pPr>
            <a:r>
              <a:rPr lang="ja-JP" altLang="en-US" sz="1200" b="1" dirty="0">
                <a:solidFill>
                  <a:srgbClr val="2A485C"/>
                </a:solidFill>
                <a:latin typeface="+mn-ea"/>
              </a:rPr>
              <a:t>独自ノウハウ喪失やサービスレベル低下・現場負担増の懸念</a:t>
            </a:r>
            <a:endParaRPr lang="en-US" altLang="ja-JP" sz="1200" b="1" dirty="0">
              <a:solidFill>
                <a:srgbClr val="2A485C"/>
              </a:solidFill>
              <a:latin typeface="+mn-ea"/>
            </a:endParaRPr>
          </a:p>
        </p:txBody>
      </p:sp>
      <p:sp>
        <p:nvSpPr>
          <p:cNvPr id="9" name="二等辺三角形 8">
            <a:extLst>
              <a:ext uri="{FF2B5EF4-FFF2-40B4-BE49-F238E27FC236}">
                <a16:creationId xmlns:a16="http://schemas.microsoft.com/office/drawing/2014/main" id="{DDE610D5-712F-C0A8-50D7-7CE00C71E7BD}"/>
              </a:ext>
            </a:extLst>
          </p:cNvPr>
          <p:cNvSpPr/>
          <p:nvPr/>
        </p:nvSpPr>
        <p:spPr>
          <a:xfrm rot="5400000">
            <a:off x="3136210" y="3828313"/>
            <a:ext cx="2704733" cy="648001"/>
          </a:xfrm>
          <a:prstGeom prst="triangle">
            <a:avLst/>
          </a:prstGeom>
          <a:solidFill>
            <a:schemeClr val="accent5">
              <a:lumMod val="20000"/>
              <a:lumOff val="80000"/>
            </a:schemeClr>
          </a:solidFill>
          <a:ln w="9525">
            <a:solidFill>
              <a:schemeClr val="bg1">
                <a:lumMod val="85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defTabSz="925880"/>
            <a:endParaRPr lang="ja-JP" altLang="en-US" sz="1600">
              <a:solidFill>
                <a:srgbClr val="070F26"/>
              </a:solidFill>
              <a:latin typeface="+mn-ea"/>
            </a:endParaRPr>
          </a:p>
        </p:txBody>
      </p:sp>
      <p:sp>
        <p:nvSpPr>
          <p:cNvPr id="11" name="テキスト ボックス 10">
            <a:extLst>
              <a:ext uri="{FF2B5EF4-FFF2-40B4-BE49-F238E27FC236}">
                <a16:creationId xmlns:a16="http://schemas.microsoft.com/office/drawing/2014/main" id="{A60FF65E-319F-D315-CFBA-0F9D349A46C3}"/>
              </a:ext>
            </a:extLst>
          </p:cNvPr>
          <p:cNvSpPr txBox="1"/>
          <p:nvPr/>
        </p:nvSpPr>
        <p:spPr>
          <a:xfrm>
            <a:off x="3719341" y="3652268"/>
            <a:ext cx="1293159" cy="1008000"/>
          </a:xfrm>
          <a:prstGeom prst="rect">
            <a:avLst/>
          </a:prstGeom>
          <a:noFill/>
        </p:spPr>
        <p:txBody>
          <a:bodyPr wrap="square" lIns="0" rIns="0" rtlCol="0" anchor="ctr">
            <a:noAutofit/>
          </a:bodyPr>
          <a:lstStyle/>
          <a:p>
            <a:pPr algn="ctr" defTabSz="288000"/>
            <a:r>
              <a:rPr lang="ja-JP" altLang="en-US" sz="1400" b="1" dirty="0">
                <a:solidFill>
                  <a:srgbClr val="000000"/>
                </a:solidFill>
                <a:latin typeface="+mn-ea"/>
              </a:rPr>
              <a:t>生成</a:t>
            </a:r>
            <a:r>
              <a:rPr lang="en-US" altLang="ja-JP" sz="1400" b="1" dirty="0">
                <a:solidFill>
                  <a:srgbClr val="000000"/>
                </a:solidFill>
                <a:latin typeface="+mn-ea"/>
              </a:rPr>
              <a:t>AI</a:t>
            </a:r>
            <a:r>
              <a:rPr lang="ja-JP" altLang="en-US" sz="1400" b="1" dirty="0">
                <a:solidFill>
                  <a:srgbClr val="000000"/>
                </a:solidFill>
                <a:latin typeface="+mn-ea"/>
              </a:rPr>
              <a:t>の</a:t>
            </a:r>
            <a:endParaRPr lang="en-US" altLang="ja-JP" sz="1400" b="1" dirty="0">
              <a:solidFill>
                <a:srgbClr val="000000"/>
              </a:solidFill>
              <a:latin typeface="+mn-ea"/>
            </a:endParaRPr>
          </a:p>
          <a:p>
            <a:pPr algn="ctr" defTabSz="288000"/>
            <a:r>
              <a:rPr lang="ja-JP" altLang="en-US" sz="1400" b="1" dirty="0">
                <a:solidFill>
                  <a:srgbClr val="000000"/>
                </a:solidFill>
                <a:latin typeface="+mn-ea"/>
              </a:rPr>
              <a:t>活用レベルが</a:t>
            </a:r>
            <a:endParaRPr lang="en-US" altLang="ja-JP" sz="1400" b="1" dirty="0">
              <a:solidFill>
                <a:srgbClr val="000000"/>
              </a:solidFill>
              <a:latin typeface="+mn-ea"/>
            </a:endParaRPr>
          </a:p>
          <a:p>
            <a:pPr algn="ctr" defTabSz="288000"/>
            <a:r>
              <a:rPr lang="ja-JP" altLang="en-US" sz="1400" b="1" dirty="0">
                <a:solidFill>
                  <a:srgbClr val="000000"/>
                </a:solidFill>
                <a:latin typeface="+mn-ea"/>
              </a:rPr>
              <a:t>企業や事業の</a:t>
            </a:r>
            <a:endParaRPr lang="en-US" altLang="ja-JP" sz="1400" b="1" dirty="0">
              <a:solidFill>
                <a:srgbClr val="000000"/>
              </a:solidFill>
              <a:latin typeface="+mn-ea"/>
            </a:endParaRPr>
          </a:p>
          <a:p>
            <a:pPr algn="ctr" defTabSz="288000"/>
            <a:r>
              <a:rPr lang="ja-JP" altLang="en-US" sz="1400" b="1" dirty="0">
                <a:solidFill>
                  <a:srgbClr val="000000"/>
                </a:solidFill>
                <a:latin typeface="+mn-ea"/>
              </a:rPr>
              <a:t>命運を左右</a:t>
            </a:r>
          </a:p>
        </p:txBody>
      </p:sp>
      <p:sp>
        <p:nvSpPr>
          <p:cNvPr id="14" name="正方形/長方形 13">
            <a:extLst>
              <a:ext uri="{FF2B5EF4-FFF2-40B4-BE49-F238E27FC236}">
                <a16:creationId xmlns:a16="http://schemas.microsoft.com/office/drawing/2014/main" id="{A165DE13-5D18-8DB8-B449-54251EEA823B}"/>
              </a:ext>
            </a:extLst>
          </p:cNvPr>
          <p:cNvSpPr/>
          <p:nvPr/>
        </p:nvSpPr>
        <p:spPr>
          <a:xfrm>
            <a:off x="4933759" y="5092846"/>
            <a:ext cx="4880337" cy="946323"/>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defTabSz="925880"/>
            <a:r>
              <a:rPr lang="ja-JP" altLang="en-US" sz="1400" b="1" dirty="0">
                <a:solidFill>
                  <a:srgbClr val="002060"/>
                </a:solidFill>
                <a:latin typeface="+mn-ea"/>
              </a:rPr>
              <a:t>生成</a:t>
            </a:r>
            <a:r>
              <a:rPr lang="en-US" altLang="ja-JP" sz="1400" b="1" dirty="0">
                <a:solidFill>
                  <a:srgbClr val="002060"/>
                </a:solidFill>
                <a:latin typeface="+mn-ea"/>
              </a:rPr>
              <a:t>AI</a:t>
            </a:r>
            <a:r>
              <a:rPr lang="ja-JP" altLang="en-US" sz="1400" b="1" dirty="0">
                <a:solidFill>
                  <a:srgbClr val="002060"/>
                </a:solidFill>
                <a:latin typeface="+mn-ea"/>
              </a:rPr>
              <a:t>による変革を推進できる人財の拡充</a:t>
            </a:r>
            <a:r>
              <a:rPr lang="ja-JP" altLang="en-US" sz="1050" dirty="0">
                <a:solidFill>
                  <a:srgbClr val="070F26"/>
                </a:solidFill>
                <a:latin typeface="+mn-ea"/>
              </a:rPr>
              <a:t>（</a:t>
            </a:r>
            <a:r>
              <a:rPr lang="en-US" altLang="ja-JP" sz="1050" dirty="0">
                <a:solidFill>
                  <a:srgbClr val="070F26"/>
                </a:solidFill>
                <a:latin typeface="+mn-ea"/>
              </a:rPr>
              <a:t>AI-Native Company</a:t>
            </a:r>
            <a:r>
              <a:rPr lang="ja-JP" altLang="en-US" sz="1050" dirty="0">
                <a:solidFill>
                  <a:srgbClr val="070F26"/>
                </a:solidFill>
                <a:latin typeface="+mn-ea"/>
              </a:rPr>
              <a:t>）</a:t>
            </a:r>
            <a:endParaRPr lang="en-US" altLang="ja-JP" sz="1400" dirty="0">
              <a:solidFill>
                <a:srgbClr val="070F26"/>
              </a:solidFill>
              <a:latin typeface="+mn-ea"/>
            </a:endParaRPr>
          </a:p>
          <a:p>
            <a:pPr marL="285750" indent="-285750">
              <a:spcBef>
                <a:spcPts val="300"/>
              </a:spcBef>
              <a:buFont typeface="Arial" panose="020B0604020202020204" pitchFamily="34" charset="0"/>
              <a:buChar char="•"/>
              <a:defRPr/>
            </a:pPr>
            <a:r>
              <a:rPr lang="ja-JP" altLang="en-US" sz="1100" dirty="0">
                <a:solidFill>
                  <a:srgbClr val="070F26"/>
                </a:solidFill>
                <a:latin typeface="+mn-ea"/>
              </a:rPr>
              <a:t>全社員が生成</a:t>
            </a:r>
            <a:r>
              <a:rPr lang="en-US" altLang="ja-JP" sz="1100" dirty="0">
                <a:solidFill>
                  <a:srgbClr val="070F26"/>
                </a:solidFill>
                <a:latin typeface="+mn-ea"/>
              </a:rPr>
              <a:t>AI</a:t>
            </a:r>
            <a:r>
              <a:rPr lang="ja-JP" altLang="en-US" sz="1100" dirty="0">
                <a:solidFill>
                  <a:srgbClr val="070F26"/>
                </a:solidFill>
                <a:latin typeface="+mn-ea"/>
              </a:rPr>
              <a:t>ドリブンで発想</a:t>
            </a:r>
            <a:endParaRPr lang="en-US" altLang="ja-JP" sz="1100" dirty="0">
              <a:solidFill>
                <a:srgbClr val="070F26"/>
              </a:solidFill>
              <a:latin typeface="+mn-ea"/>
            </a:endParaRPr>
          </a:p>
          <a:p>
            <a:pPr marL="285750" indent="-285750">
              <a:spcBef>
                <a:spcPts val="300"/>
              </a:spcBef>
              <a:buFont typeface="Arial" panose="020B0604020202020204" pitchFamily="34" charset="0"/>
              <a:buChar char="•"/>
              <a:defRPr/>
            </a:pPr>
            <a:r>
              <a:rPr lang="ja-JP" altLang="en-US" sz="1100" dirty="0">
                <a:solidFill>
                  <a:srgbClr val="070F26"/>
                </a:solidFill>
                <a:latin typeface="+mn-ea"/>
              </a:rPr>
              <a:t>生成</a:t>
            </a:r>
            <a:r>
              <a:rPr lang="en-US" altLang="ja-JP" sz="1100" dirty="0">
                <a:solidFill>
                  <a:srgbClr val="070F26"/>
                </a:solidFill>
                <a:latin typeface="+mn-ea"/>
              </a:rPr>
              <a:t>AI</a:t>
            </a:r>
            <a:r>
              <a:rPr lang="ja-JP" altLang="en-US" sz="1100" dirty="0">
                <a:solidFill>
                  <a:srgbClr val="070F26"/>
                </a:solidFill>
                <a:latin typeface="+mn-ea"/>
              </a:rPr>
              <a:t>を武器として使いこなして各職場で変革を実践</a:t>
            </a:r>
          </a:p>
        </p:txBody>
      </p:sp>
      <p:sp>
        <p:nvSpPr>
          <p:cNvPr id="17" name="正方形/長方形 16">
            <a:extLst>
              <a:ext uri="{FF2B5EF4-FFF2-40B4-BE49-F238E27FC236}">
                <a16:creationId xmlns:a16="http://schemas.microsoft.com/office/drawing/2014/main" id="{B4B58893-93D9-081F-516E-877FF3A0753B}"/>
              </a:ext>
            </a:extLst>
          </p:cNvPr>
          <p:cNvSpPr/>
          <p:nvPr/>
        </p:nvSpPr>
        <p:spPr>
          <a:xfrm>
            <a:off x="4933759" y="4103438"/>
            <a:ext cx="4880337" cy="918008"/>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defTabSz="925880"/>
            <a:r>
              <a:rPr lang="ja-JP" altLang="en-US" sz="1400" b="1" dirty="0">
                <a:solidFill>
                  <a:srgbClr val="002060"/>
                </a:solidFill>
                <a:latin typeface="+mn-ea"/>
              </a:rPr>
              <a:t>生成</a:t>
            </a:r>
            <a:r>
              <a:rPr lang="en-US" altLang="ja-JP" sz="1400" b="1" dirty="0">
                <a:solidFill>
                  <a:srgbClr val="002060"/>
                </a:solidFill>
                <a:latin typeface="+mn-ea"/>
              </a:rPr>
              <a:t>AI</a:t>
            </a:r>
            <a:r>
              <a:rPr lang="ja-JP" altLang="en-US" sz="1400" b="1" dirty="0">
                <a:solidFill>
                  <a:srgbClr val="002060"/>
                </a:solidFill>
                <a:latin typeface="+mn-ea"/>
              </a:rPr>
              <a:t>を前提としたシステム・データの整備</a:t>
            </a:r>
            <a:r>
              <a:rPr lang="ja-JP" altLang="en-US" sz="1000" dirty="0">
                <a:solidFill>
                  <a:srgbClr val="070F26"/>
                </a:solidFill>
                <a:latin typeface="+mn-ea"/>
              </a:rPr>
              <a:t>（</a:t>
            </a:r>
            <a:r>
              <a:rPr lang="en-US" altLang="ja-JP" sz="1000" dirty="0">
                <a:solidFill>
                  <a:srgbClr val="070F26"/>
                </a:solidFill>
                <a:latin typeface="+mn-ea"/>
              </a:rPr>
              <a:t>AI-Ready System/Data</a:t>
            </a:r>
            <a:r>
              <a:rPr lang="ja-JP" altLang="en-US" sz="1000" dirty="0">
                <a:solidFill>
                  <a:srgbClr val="070F26"/>
                </a:solidFill>
                <a:latin typeface="+mn-ea"/>
              </a:rPr>
              <a:t>）</a:t>
            </a:r>
            <a:endParaRPr lang="en-US" altLang="ja-JP" sz="1400" dirty="0">
              <a:solidFill>
                <a:srgbClr val="070F26"/>
              </a:solidFill>
              <a:latin typeface="+mn-ea"/>
            </a:endParaRPr>
          </a:p>
          <a:p>
            <a:pPr marL="285750" indent="-285750">
              <a:spcBef>
                <a:spcPts val="300"/>
              </a:spcBef>
              <a:buFont typeface="Arial" panose="020B0604020202020204" pitchFamily="34" charset="0"/>
              <a:buChar char="•"/>
              <a:defRPr/>
            </a:pPr>
            <a:r>
              <a:rPr lang="ja-JP" altLang="en-US" sz="1100" dirty="0">
                <a:solidFill>
                  <a:srgbClr val="070F26"/>
                </a:solidFill>
                <a:latin typeface="+mn-ea"/>
              </a:rPr>
              <a:t>生成</a:t>
            </a:r>
            <a:r>
              <a:rPr lang="en-US" altLang="ja-JP" sz="1100" dirty="0">
                <a:solidFill>
                  <a:srgbClr val="070F26"/>
                </a:solidFill>
                <a:latin typeface="+mn-ea"/>
              </a:rPr>
              <a:t>AI×</a:t>
            </a:r>
            <a:r>
              <a:rPr lang="ja-JP" altLang="en-US" sz="1100" dirty="0">
                <a:solidFill>
                  <a:srgbClr val="070F26"/>
                </a:solidFill>
                <a:latin typeface="+mn-ea"/>
              </a:rPr>
              <a:t>基幹システム</a:t>
            </a:r>
            <a:r>
              <a:rPr lang="en-US" altLang="ja-JP" sz="1100" dirty="0">
                <a:solidFill>
                  <a:srgbClr val="070F26"/>
                </a:solidFill>
                <a:latin typeface="+mn-ea"/>
              </a:rPr>
              <a:t>×</a:t>
            </a:r>
            <a:r>
              <a:rPr lang="ja-JP" altLang="en-US" sz="1100" dirty="0">
                <a:solidFill>
                  <a:srgbClr val="070F26"/>
                </a:solidFill>
                <a:latin typeface="+mn-ea"/>
              </a:rPr>
              <a:t>独自データを結合し、活用可能に</a:t>
            </a:r>
            <a:endParaRPr lang="en-US" altLang="ja-JP" sz="1100" dirty="0">
              <a:solidFill>
                <a:srgbClr val="070F26"/>
              </a:solidFill>
              <a:latin typeface="+mn-ea"/>
            </a:endParaRPr>
          </a:p>
          <a:p>
            <a:pPr marL="285750" indent="-285750">
              <a:spcBef>
                <a:spcPts val="300"/>
              </a:spcBef>
              <a:buFont typeface="Arial" panose="020B0604020202020204" pitchFamily="34" charset="0"/>
              <a:buChar char="•"/>
              <a:defRPr/>
            </a:pPr>
            <a:r>
              <a:rPr lang="ja-JP" altLang="en-US" sz="1100" dirty="0">
                <a:solidFill>
                  <a:srgbClr val="070F26"/>
                </a:solidFill>
                <a:latin typeface="+mn-ea"/>
              </a:rPr>
              <a:t>全社レベルでガバナンス・セキュリティを担保</a:t>
            </a:r>
          </a:p>
        </p:txBody>
      </p:sp>
      <p:sp>
        <p:nvSpPr>
          <p:cNvPr id="24" name="正方形/長方形 23">
            <a:extLst>
              <a:ext uri="{FF2B5EF4-FFF2-40B4-BE49-F238E27FC236}">
                <a16:creationId xmlns:a16="http://schemas.microsoft.com/office/drawing/2014/main" id="{505D673F-8400-F1A9-51FE-93B307EF1C64}"/>
              </a:ext>
            </a:extLst>
          </p:cNvPr>
          <p:cNvSpPr/>
          <p:nvPr/>
        </p:nvSpPr>
        <p:spPr>
          <a:xfrm>
            <a:off x="4933759" y="2389518"/>
            <a:ext cx="1712931" cy="163431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defTabSz="925880"/>
            <a:r>
              <a:rPr lang="ja-JP" altLang="en-US" sz="1400" b="1" dirty="0">
                <a:solidFill>
                  <a:srgbClr val="002060"/>
                </a:solidFill>
                <a:latin typeface="+mn-ea"/>
              </a:rPr>
              <a:t>生成</a:t>
            </a:r>
            <a:r>
              <a:rPr lang="en-US" altLang="ja-JP" sz="1400" b="1" dirty="0">
                <a:solidFill>
                  <a:srgbClr val="002060"/>
                </a:solidFill>
                <a:latin typeface="+mn-ea"/>
              </a:rPr>
              <a:t>AI</a:t>
            </a:r>
            <a:r>
              <a:rPr lang="ja-JP" altLang="en-US" sz="1400" b="1" dirty="0">
                <a:solidFill>
                  <a:srgbClr val="002060"/>
                </a:solidFill>
                <a:latin typeface="+mn-ea"/>
              </a:rPr>
              <a:t>を前提とした</a:t>
            </a:r>
            <a:endParaRPr lang="en-US" altLang="ja-JP" sz="1400" b="1" dirty="0">
              <a:solidFill>
                <a:srgbClr val="002060"/>
              </a:solidFill>
              <a:latin typeface="+mn-ea"/>
            </a:endParaRPr>
          </a:p>
          <a:p>
            <a:pPr algn="ctr" defTabSz="925880"/>
            <a:r>
              <a:rPr lang="ja-JP" altLang="en-US" sz="1400" b="1" dirty="0">
                <a:solidFill>
                  <a:srgbClr val="002060"/>
                </a:solidFill>
                <a:latin typeface="+mn-ea"/>
              </a:rPr>
              <a:t>ビジネス・業務の</a:t>
            </a:r>
            <a:endParaRPr lang="en-US" altLang="ja-JP" sz="1400" b="1" dirty="0">
              <a:solidFill>
                <a:srgbClr val="002060"/>
              </a:solidFill>
              <a:latin typeface="+mn-ea"/>
            </a:endParaRPr>
          </a:p>
          <a:p>
            <a:pPr algn="ctr" defTabSz="925880"/>
            <a:r>
              <a:rPr lang="ja-JP" altLang="en-US" sz="1400" b="1" dirty="0">
                <a:solidFill>
                  <a:srgbClr val="002060"/>
                </a:solidFill>
                <a:latin typeface="+mn-ea"/>
              </a:rPr>
              <a:t>抜本的な再設計に</a:t>
            </a:r>
            <a:endParaRPr lang="en-US" altLang="ja-JP" sz="1400" b="1" dirty="0">
              <a:solidFill>
                <a:srgbClr val="002060"/>
              </a:solidFill>
              <a:latin typeface="+mn-ea"/>
            </a:endParaRPr>
          </a:p>
          <a:p>
            <a:pPr algn="ctr" defTabSz="925880"/>
            <a:r>
              <a:rPr lang="ja-JP" altLang="en-US" sz="1400" b="1" dirty="0">
                <a:solidFill>
                  <a:srgbClr val="002060"/>
                </a:solidFill>
                <a:latin typeface="+mn-ea"/>
              </a:rPr>
              <a:t>よる成果創出</a:t>
            </a:r>
          </a:p>
        </p:txBody>
      </p:sp>
      <p:sp>
        <p:nvSpPr>
          <p:cNvPr id="26" name="正方形/長方形 25">
            <a:extLst>
              <a:ext uri="{FF2B5EF4-FFF2-40B4-BE49-F238E27FC236}">
                <a16:creationId xmlns:a16="http://schemas.microsoft.com/office/drawing/2014/main" id="{27068B68-ABFA-3E44-31C2-113932864374}"/>
              </a:ext>
            </a:extLst>
          </p:cNvPr>
          <p:cNvSpPr/>
          <p:nvPr/>
        </p:nvSpPr>
        <p:spPr>
          <a:xfrm>
            <a:off x="6747653" y="2389518"/>
            <a:ext cx="3066443"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defTabSz="925880"/>
            <a:r>
              <a:rPr lang="ja-JP" altLang="en-US" sz="1400" b="1" dirty="0">
                <a:solidFill>
                  <a:srgbClr val="002060"/>
                </a:solidFill>
                <a:latin typeface="+mn-ea"/>
              </a:rPr>
              <a:t>競争</a:t>
            </a:r>
            <a:r>
              <a:rPr lang="en-US" altLang="ja-JP" sz="1400" b="1" dirty="0">
                <a:solidFill>
                  <a:srgbClr val="002060"/>
                </a:solidFill>
                <a:latin typeface="+mn-ea"/>
              </a:rPr>
              <a:t>/</a:t>
            </a:r>
            <a:r>
              <a:rPr lang="ja-JP" altLang="en-US" sz="1400" b="1" dirty="0">
                <a:solidFill>
                  <a:srgbClr val="002060"/>
                </a:solidFill>
                <a:latin typeface="+mn-ea"/>
              </a:rPr>
              <a:t>価値創造領域での優位性確立</a:t>
            </a:r>
            <a:endParaRPr lang="en-US" altLang="ja-JP" sz="1400" b="1" dirty="0">
              <a:solidFill>
                <a:srgbClr val="002060"/>
              </a:solidFill>
              <a:latin typeface="+mn-ea"/>
            </a:endParaRPr>
          </a:p>
          <a:p>
            <a:pPr defTabSz="925880">
              <a:spcBef>
                <a:spcPts val="300"/>
              </a:spcBef>
            </a:pPr>
            <a:r>
              <a:rPr lang="ja-JP" altLang="en-US" sz="1100" dirty="0">
                <a:solidFill>
                  <a:srgbClr val="070F26"/>
                </a:solidFill>
                <a:latin typeface="+mn-ea"/>
              </a:rPr>
              <a:t>・限られた人財を集中・組織を再設計</a:t>
            </a:r>
            <a:endParaRPr lang="en-US" altLang="ja-JP" sz="1100" dirty="0">
              <a:solidFill>
                <a:srgbClr val="070F26"/>
              </a:solidFill>
              <a:latin typeface="+mn-ea"/>
            </a:endParaRPr>
          </a:p>
          <a:p>
            <a:pPr defTabSz="925880">
              <a:spcBef>
                <a:spcPts val="300"/>
              </a:spcBef>
            </a:pPr>
            <a:r>
              <a:rPr lang="ja-JP" altLang="en-US" sz="1100" dirty="0">
                <a:solidFill>
                  <a:srgbClr val="070F26"/>
                </a:solidFill>
                <a:latin typeface="+mn-ea"/>
              </a:rPr>
              <a:t>・生成</a:t>
            </a:r>
            <a:r>
              <a:rPr lang="en-US" altLang="ja-JP" sz="1100" dirty="0">
                <a:solidFill>
                  <a:srgbClr val="070F26"/>
                </a:solidFill>
                <a:latin typeface="+mn-ea"/>
              </a:rPr>
              <a:t>AI</a:t>
            </a:r>
            <a:r>
              <a:rPr lang="ja-JP" altLang="en-US" sz="1100" dirty="0">
                <a:solidFill>
                  <a:srgbClr val="070F26"/>
                </a:solidFill>
                <a:latin typeface="+mn-ea"/>
              </a:rPr>
              <a:t>で人財の能力を拡張し、創造性を発揮</a:t>
            </a:r>
          </a:p>
        </p:txBody>
      </p:sp>
      <p:sp>
        <p:nvSpPr>
          <p:cNvPr id="28" name="正方形/長方形 27">
            <a:extLst>
              <a:ext uri="{FF2B5EF4-FFF2-40B4-BE49-F238E27FC236}">
                <a16:creationId xmlns:a16="http://schemas.microsoft.com/office/drawing/2014/main" id="{E3B82108-C6E2-7B85-1C66-49E6F3538483}"/>
              </a:ext>
            </a:extLst>
          </p:cNvPr>
          <p:cNvSpPr/>
          <p:nvPr/>
        </p:nvSpPr>
        <p:spPr>
          <a:xfrm>
            <a:off x="6747653" y="3289058"/>
            <a:ext cx="3066443" cy="734779"/>
          </a:xfrm>
          <a:prstGeom prst="rect">
            <a:avLst/>
          </a:prstGeom>
          <a:solidFill>
            <a:schemeClr val="bg2">
              <a:lumMod val="20000"/>
              <a:lumOff val="80000"/>
            </a:schemeClr>
          </a:solidFill>
          <a:ln w="9525">
            <a:solidFill>
              <a:schemeClr val="bg2">
                <a:lumMod val="20000"/>
                <a:lumOff val="80000"/>
              </a:schemeClr>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p>
            <a:pPr defTabSz="925880"/>
            <a:r>
              <a:rPr lang="ja-JP" altLang="en-US" sz="1400" b="1" dirty="0">
                <a:solidFill>
                  <a:srgbClr val="002060"/>
                </a:solidFill>
                <a:latin typeface="+mn-ea"/>
              </a:rPr>
              <a:t>非競争領域の徹底的な効率化</a:t>
            </a:r>
            <a:endParaRPr lang="en-US" altLang="ja-JP" sz="1400" b="1" dirty="0">
              <a:solidFill>
                <a:srgbClr val="002060"/>
              </a:solidFill>
              <a:latin typeface="+mn-ea"/>
            </a:endParaRPr>
          </a:p>
          <a:p>
            <a:pPr defTabSz="925880">
              <a:spcBef>
                <a:spcPts val="300"/>
              </a:spcBef>
            </a:pPr>
            <a:r>
              <a:rPr lang="ja-JP" altLang="en-US" sz="1100" dirty="0">
                <a:solidFill>
                  <a:srgbClr val="070F26"/>
                </a:solidFill>
                <a:latin typeface="+mn-ea"/>
              </a:rPr>
              <a:t>・業務を標準化・自動化・外部化</a:t>
            </a:r>
            <a:endParaRPr lang="en-US" altLang="ja-JP" sz="1100" dirty="0">
              <a:solidFill>
                <a:srgbClr val="070F26"/>
              </a:solidFill>
              <a:latin typeface="+mn-ea"/>
            </a:endParaRPr>
          </a:p>
          <a:p>
            <a:pPr defTabSz="925880">
              <a:spcBef>
                <a:spcPts val="300"/>
              </a:spcBef>
            </a:pPr>
            <a:r>
              <a:rPr lang="ja-JP" altLang="en-US" sz="1100" dirty="0">
                <a:solidFill>
                  <a:srgbClr val="070F26"/>
                </a:solidFill>
                <a:latin typeface="+mn-ea"/>
              </a:rPr>
              <a:t>・競争領域にリソースをシフト</a:t>
            </a:r>
          </a:p>
        </p:txBody>
      </p:sp>
      <p:sp>
        <p:nvSpPr>
          <p:cNvPr id="37" name="正方形/長方形 36">
            <a:extLst>
              <a:ext uri="{FF2B5EF4-FFF2-40B4-BE49-F238E27FC236}">
                <a16:creationId xmlns:a16="http://schemas.microsoft.com/office/drawing/2014/main" id="{ADE29B58-AE51-96E3-5D97-7E1E9201DA5B}"/>
              </a:ext>
            </a:extLst>
          </p:cNvPr>
          <p:cNvSpPr/>
          <p:nvPr/>
        </p:nvSpPr>
        <p:spPr>
          <a:xfrm>
            <a:off x="321779" y="2141493"/>
            <a:ext cx="3600000" cy="0"/>
          </a:xfrm>
          <a:prstGeom prst="rect">
            <a:avLst/>
          </a:prstGeom>
          <a:solidFill>
            <a:schemeClr val="bg1"/>
          </a:solid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defTabSz="925880"/>
            <a:r>
              <a:rPr lang="ja-JP" altLang="en-US" b="1" dirty="0">
                <a:solidFill>
                  <a:srgbClr val="070F26"/>
                </a:solidFill>
                <a:latin typeface="+mn-ea"/>
              </a:rPr>
              <a:t>社会・企業を取り巻く環境の変化</a:t>
            </a:r>
          </a:p>
        </p:txBody>
      </p:sp>
      <p:sp>
        <p:nvSpPr>
          <p:cNvPr id="43" name="正方形/長方形 42">
            <a:extLst>
              <a:ext uri="{FF2B5EF4-FFF2-40B4-BE49-F238E27FC236}">
                <a16:creationId xmlns:a16="http://schemas.microsoft.com/office/drawing/2014/main" id="{C67DBDE5-EA1C-91E0-AEF1-095DA57EBF40}"/>
              </a:ext>
            </a:extLst>
          </p:cNvPr>
          <p:cNvSpPr/>
          <p:nvPr/>
        </p:nvSpPr>
        <p:spPr>
          <a:xfrm>
            <a:off x="4900099" y="2141493"/>
            <a:ext cx="4622589" cy="0"/>
          </a:xfrm>
          <a:prstGeom prst="rect">
            <a:avLst/>
          </a:prstGeom>
          <a:solidFill>
            <a:schemeClr val="bg1"/>
          </a:solid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b" anchorCtr="0" forceAA="0" compatLnSpc="1">
            <a:prstTxWarp prst="textNoShape">
              <a:avLst/>
            </a:prstTxWarp>
            <a:noAutofit/>
          </a:bodyPr>
          <a:lstStyle/>
          <a:p>
            <a:pPr algn="ctr" defTabSz="925880"/>
            <a:r>
              <a:rPr lang="ja-JP" altLang="en-US" b="1" dirty="0">
                <a:solidFill>
                  <a:srgbClr val="070F26"/>
                </a:solidFill>
                <a:latin typeface="+mn-ea"/>
              </a:rPr>
              <a:t>生成</a:t>
            </a:r>
            <a:r>
              <a:rPr lang="en-US" altLang="ja-JP" b="1" dirty="0">
                <a:solidFill>
                  <a:srgbClr val="070F26"/>
                </a:solidFill>
                <a:latin typeface="+mn-ea"/>
              </a:rPr>
              <a:t>AI</a:t>
            </a:r>
            <a:r>
              <a:rPr lang="ja-JP" altLang="en-US" b="1" dirty="0">
                <a:solidFill>
                  <a:srgbClr val="070F26"/>
                </a:solidFill>
                <a:latin typeface="+mn-ea"/>
              </a:rPr>
              <a:t>時代にお客様に求められる変革</a:t>
            </a:r>
            <a:endParaRPr lang="en-US" altLang="ja-JP" b="1" dirty="0">
              <a:solidFill>
                <a:srgbClr val="070F26"/>
              </a:solidFill>
              <a:latin typeface="+mn-ea"/>
            </a:endParaRPr>
          </a:p>
          <a:p>
            <a:pPr algn="ctr" defTabSz="925880"/>
            <a:endParaRPr lang="ja-JP" altLang="en-US" sz="200" b="1" dirty="0">
              <a:solidFill>
                <a:srgbClr val="070F26"/>
              </a:solidFill>
              <a:latin typeface="+mn-ea"/>
            </a:endParaRPr>
          </a:p>
        </p:txBody>
      </p:sp>
      <p:sp>
        <p:nvSpPr>
          <p:cNvPr id="50" name="テキスト ボックス 49">
            <a:extLst>
              <a:ext uri="{FF2B5EF4-FFF2-40B4-BE49-F238E27FC236}">
                <a16:creationId xmlns:a16="http://schemas.microsoft.com/office/drawing/2014/main" id="{1FC27039-3F06-A727-158A-D8310096378E}"/>
              </a:ext>
            </a:extLst>
          </p:cNvPr>
          <p:cNvSpPr txBox="1"/>
          <p:nvPr/>
        </p:nvSpPr>
        <p:spPr>
          <a:xfrm>
            <a:off x="3896044" y="6086267"/>
            <a:ext cx="5703216"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Tree>
    <p:extLst>
      <p:ext uri="{BB962C8B-B14F-4D97-AF65-F5344CB8AC3E}">
        <p14:creationId xmlns:p14="http://schemas.microsoft.com/office/powerpoint/2010/main" val="2101301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9FCA-D70D-3DBC-0711-F7BF81A148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74E772-A299-4DFB-4056-9320DDBF3F4B}"/>
              </a:ext>
            </a:extLst>
          </p:cNvPr>
          <p:cNvSpPr>
            <a:spLocks noGrp="1"/>
          </p:cNvSpPr>
          <p:nvPr>
            <p:ph type="title"/>
          </p:nvPr>
        </p:nvSpPr>
        <p:spPr/>
        <p:txBody>
          <a:bodyPr>
            <a:normAutofit/>
          </a:bodyPr>
          <a:lstStyle/>
          <a:p>
            <a:r>
              <a:rPr lang="en-US" altLang="ja-JP" dirty="0">
                <a:latin typeface="+mn-ea"/>
                <a:ea typeface="+mn-ea"/>
              </a:rPr>
              <a:t>3-4.</a:t>
            </a:r>
            <a:r>
              <a:rPr lang="ja-JP" altLang="en-US" dirty="0">
                <a:latin typeface="+mn-ea"/>
                <a:ea typeface="+mn-ea"/>
              </a:rPr>
              <a:t> 生成</a:t>
            </a:r>
            <a:r>
              <a:rPr lang="en-US" altLang="ja-JP" dirty="0">
                <a:latin typeface="+mn-ea"/>
                <a:ea typeface="+mn-ea"/>
              </a:rPr>
              <a:t>AI</a:t>
            </a:r>
            <a:r>
              <a:rPr lang="ja-JP" altLang="en-US" dirty="0">
                <a:latin typeface="+mn-ea"/>
                <a:ea typeface="+mn-ea"/>
              </a:rPr>
              <a:t>の進化：今、どこにいるか</a:t>
            </a:r>
          </a:p>
        </p:txBody>
      </p:sp>
      <p:sp>
        <p:nvSpPr>
          <p:cNvPr id="23" name="テキスト ボックス 22">
            <a:extLst>
              <a:ext uri="{FF2B5EF4-FFF2-40B4-BE49-F238E27FC236}">
                <a16:creationId xmlns:a16="http://schemas.microsoft.com/office/drawing/2014/main" id="{F448BB80-165C-509E-9997-69CEEB00A7FC}"/>
              </a:ext>
            </a:extLst>
          </p:cNvPr>
          <p:cNvSpPr txBox="1"/>
          <p:nvPr/>
        </p:nvSpPr>
        <p:spPr>
          <a:xfrm>
            <a:off x="268864" y="1047233"/>
            <a:ext cx="9301500" cy="707886"/>
          </a:xfrm>
          <a:prstGeom prst="rect">
            <a:avLst/>
          </a:prstGeom>
          <a:noFill/>
        </p:spPr>
        <p:txBody>
          <a:bodyPr wrap="square">
            <a:spAutoFit/>
          </a:bodyPr>
          <a:lstStyle/>
          <a:p>
            <a:pPr defTabSz="925880"/>
            <a:r>
              <a:rPr lang="ja-JP" altLang="en-US" sz="2000" dirty="0">
                <a:solidFill>
                  <a:srgbClr val="404040"/>
                </a:solidFill>
                <a:latin typeface="+mn-ea"/>
              </a:rPr>
              <a:t>生成</a:t>
            </a:r>
            <a:r>
              <a:rPr lang="en-US" altLang="ja-JP" sz="2000" dirty="0">
                <a:solidFill>
                  <a:srgbClr val="404040"/>
                </a:solidFill>
                <a:latin typeface="+mn-ea"/>
              </a:rPr>
              <a:t>AI</a:t>
            </a:r>
            <a:r>
              <a:rPr lang="ja-JP" altLang="en-US" sz="2000" dirty="0">
                <a:solidFill>
                  <a:srgbClr val="404040"/>
                </a:solidFill>
                <a:latin typeface="+mn-ea"/>
              </a:rPr>
              <a:t>は急速に進化しています。現在は</a:t>
            </a:r>
            <a:r>
              <a:rPr lang="en-US" altLang="ja-JP" sz="2000" dirty="0">
                <a:solidFill>
                  <a:srgbClr val="404040"/>
                </a:solidFill>
                <a:latin typeface="+mn-ea"/>
              </a:rPr>
              <a:t>Level1〜2</a:t>
            </a:r>
            <a:r>
              <a:rPr lang="ja-JP" altLang="en-US" sz="2000" dirty="0">
                <a:solidFill>
                  <a:srgbClr val="404040"/>
                </a:solidFill>
                <a:latin typeface="+mn-ea"/>
              </a:rPr>
              <a:t>の段階ですが、</a:t>
            </a:r>
            <a:r>
              <a:rPr lang="en-US" altLang="ja-JP" sz="2000" dirty="0">
                <a:solidFill>
                  <a:srgbClr val="404040"/>
                </a:solidFill>
                <a:latin typeface="+mn-ea"/>
              </a:rPr>
              <a:t>2027</a:t>
            </a:r>
            <a:r>
              <a:rPr lang="ja-JP" altLang="en-US" sz="2000" dirty="0">
                <a:solidFill>
                  <a:srgbClr val="404040"/>
                </a:solidFill>
                <a:latin typeface="+mn-ea"/>
              </a:rPr>
              <a:t>年以降には</a:t>
            </a:r>
            <a:r>
              <a:rPr lang="en-US" altLang="ja-JP" sz="2000" dirty="0">
                <a:solidFill>
                  <a:srgbClr val="404040"/>
                </a:solidFill>
                <a:latin typeface="+mn-ea"/>
              </a:rPr>
              <a:t>Level3</a:t>
            </a:r>
            <a:r>
              <a:rPr lang="ja-JP" altLang="en-US" sz="2000" dirty="0">
                <a:solidFill>
                  <a:srgbClr val="404040"/>
                </a:solidFill>
                <a:latin typeface="+mn-ea"/>
              </a:rPr>
              <a:t>「エージェント」へ移行し、</a:t>
            </a:r>
            <a:r>
              <a:rPr lang="ja-JP" altLang="en-US" sz="2000" dirty="0">
                <a:solidFill>
                  <a:srgbClr val="19A3FC"/>
                </a:solidFill>
                <a:latin typeface="+mn-ea"/>
              </a:rPr>
              <a:t>業務の主役が</a:t>
            </a:r>
            <a:r>
              <a:rPr lang="en-US" altLang="ja-JP" sz="2000" dirty="0">
                <a:solidFill>
                  <a:srgbClr val="19A3FC"/>
                </a:solidFill>
                <a:latin typeface="+mn-ea"/>
              </a:rPr>
              <a:t>AI</a:t>
            </a:r>
            <a:r>
              <a:rPr lang="ja-JP" altLang="en-US" sz="2000" dirty="0">
                <a:solidFill>
                  <a:srgbClr val="19A3FC"/>
                </a:solidFill>
                <a:latin typeface="+mn-ea"/>
              </a:rPr>
              <a:t>になる世界観</a:t>
            </a:r>
            <a:r>
              <a:rPr lang="ja-JP" altLang="en-US" sz="2000" dirty="0">
                <a:solidFill>
                  <a:srgbClr val="404040"/>
                </a:solidFill>
                <a:latin typeface="+mn-ea"/>
              </a:rPr>
              <a:t>が現実になりつつあります。</a:t>
            </a:r>
          </a:p>
        </p:txBody>
      </p:sp>
      <p:sp>
        <p:nvSpPr>
          <p:cNvPr id="8" name="テキスト ボックス 7">
            <a:extLst>
              <a:ext uri="{FF2B5EF4-FFF2-40B4-BE49-F238E27FC236}">
                <a16:creationId xmlns:a16="http://schemas.microsoft.com/office/drawing/2014/main" id="{363378DE-5C3B-418B-9A9A-DB0D1A9287D1}"/>
              </a:ext>
            </a:extLst>
          </p:cNvPr>
          <p:cNvSpPr txBox="1"/>
          <p:nvPr/>
        </p:nvSpPr>
        <p:spPr>
          <a:xfrm>
            <a:off x="371006" y="5971278"/>
            <a:ext cx="2592000" cy="266011"/>
          </a:xfrm>
          <a:prstGeom prst="rect">
            <a:avLst/>
          </a:prstGeom>
          <a:noFill/>
        </p:spPr>
        <p:txBody>
          <a:bodyPr wrap="square" lIns="0" rIns="0" rtlCol="0">
            <a:noAutofit/>
          </a:bodyPr>
          <a:lstStyle/>
          <a:p>
            <a:pPr defTabSz="288000">
              <a:defRPr/>
            </a:pPr>
            <a:r>
              <a:rPr lang="ja-JP" altLang="en-US" sz="1000" dirty="0">
                <a:solidFill>
                  <a:srgbClr val="404040"/>
                </a:solidFill>
                <a:latin typeface="+mn-ea"/>
              </a:rPr>
              <a:t>（出典）</a:t>
            </a:r>
            <a:r>
              <a:rPr lang="en-US" altLang="ja-JP" sz="1000" dirty="0">
                <a:solidFill>
                  <a:srgbClr val="404040"/>
                </a:solidFill>
                <a:latin typeface="+mn-ea"/>
              </a:rPr>
              <a:t>OpenAI</a:t>
            </a:r>
            <a:r>
              <a:rPr lang="ja-JP" altLang="en-US" sz="1000" dirty="0">
                <a:solidFill>
                  <a:srgbClr val="404040"/>
                </a:solidFill>
                <a:latin typeface="+mn-ea"/>
              </a:rPr>
              <a:t>、シグマクシス</a:t>
            </a:r>
          </a:p>
        </p:txBody>
      </p:sp>
      <p:sp>
        <p:nvSpPr>
          <p:cNvPr id="12" name="テキスト ボックス 11">
            <a:extLst>
              <a:ext uri="{FF2B5EF4-FFF2-40B4-BE49-F238E27FC236}">
                <a16:creationId xmlns:a16="http://schemas.microsoft.com/office/drawing/2014/main" id="{96388025-6F8E-93E6-1368-DCD927D5C545}"/>
              </a:ext>
            </a:extLst>
          </p:cNvPr>
          <p:cNvSpPr txBox="1"/>
          <p:nvPr/>
        </p:nvSpPr>
        <p:spPr>
          <a:xfrm>
            <a:off x="4061876" y="5899444"/>
            <a:ext cx="5765417"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grpSp>
        <p:nvGrpSpPr>
          <p:cNvPr id="3" name="グループ化 2"/>
          <p:cNvGrpSpPr/>
          <p:nvPr/>
        </p:nvGrpSpPr>
        <p:grpSpPr>
          <a:xfrm>
            <a:off x="371006" y="2153445"/>
            <a:ext cx="9301500" cy="3469348"/>
            <a:chOff x="371006" y="2153445"/>
            <a:chExt cx="9301500" cy="3469348"/>
          </a:xfrm>
        </p:grpSpPr>
        <p:pic>
          <p:nvPicPr>
            <p:cNvPr id="4" name="図 3">
              <a:extLst>
                <a:ext uri="{FF2B5EF4-FFF2-40B4-BE49-F238E27FC236}">
                  <a16:creationId xmlns:a16="http://schemas.microsoft.com/office/drawing/2014/main" id="{753AE7A0-AC27-8879-2AD4-57B9B8199583}"/>
                </a:ext>
              </a:extLst>
            </p:cNvPr>
            <p:cNvPicPr>
              <a:picLocks noChangeAspect="1"/>
            </p:cNvPicPr>
            <p:nvPr/>
          </p:nvPicPr>
          <p:blipFill>
            <a:blip r:embed="rId3"/>
            <a:stretch>
              <a:fillRect/>
            </a:stretch>
          </p:blipFill>
          <p:spPr>
            <a:xfrm>
              <a:off x="371006" y="2157137"/>
              <a:ext cx="9301500" cy="3465656"/>
            </a:xfrm>
            <a:prstGeom prst="rect">
              <a:avLst/>
            </a:prstGeom>
          </p:spPr>
        </p:pic>
        <p:sp>
          <p:nvSpPr>
            <p:cNvPr id="7" name="矢印: 五方向 23">
              <a:extLst>
                <a:ext uri="{FF2B5EF4-FFF2-40B4-BE49-F238E27FC236}">
                  <a16:creationId xmlns:a16="http://schemas.microsoft.com/office/drawing/2014/main" id="{FA378CF3-DDC4-34D4-6A5F-2C0223B429BE}"/>
                </a:ext>
              </a:extLst>
            </p:cNvPr>
            <p:cNvSpPr/>
            <p:nvPr/>
          </p:nvSpPr>
          <p:spPr>
            <a:xfrm>
              <a:off x="1485342" y="2153445"/>
              <a:ext cx="1919776" cy="220098"/>
            </a:xfrm>
            <a:prstGeom prst="homePlate">
              <a:avLst/>
            </a:prstGeom>
            <a:solidFill>
              <a:srgbClr val="2A485C"/>
            </a:solidFill>
            <a:ln w="9525">
              <a:noFill/>
              <a:prstDash val="sysDo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srgbClr val="FFFFFF"/>
                  </a:solidFill>
                  <a:effectLst/>
                  <a:uLnTx/>
                  <a:uFillTx/>
                  <a:latin typeface="Noto Sans" panose="020B0502040504020204" pitchFamily="34" charset="0"/>
                  <a:ea typeface="Noto Sans" panose="020B0502040504020204" pitchFamily="34" charset="0"/>
                  <a:cs typeface="Noto Sans" panose="020B0502040504020204" pitchFamily="34" charset="0"/>
                </a:rPr>
                <a:t>現在</a:t>
              </a:r>
              <a:endParaRPr kumimoji="1" lang="ja-JP" altLang="en-US" sz="1100" b="1" i="0" u="none" strike="noStrike" kern="1200" cap="none" spc="0" normalizeH="0" baseline="0" noProof="0" dirty="0">
                <a:ln>
                  <a:noFill/>
                </a:ln>
                <a:solidFill>
                  <a:srgbClr val="FFFFFF"/>
                </a:solidFill>
                <a:effectLst/>
                <a:uLnTx/>
                <a:uFillTx/>
                <a:latin typeface="Noto Sans" panose="020B0502040504020204" pitchFamily="34" charset="0"/>
                <a:ea typeface="+mj-ea"/>
                <a:cs typeface="Noto Sans" panose="020B0502040504020204" pitchFamily="34" charset="0"/>
              </a:endParaRPr>
            </a:p>
          </p:txBody>
        </p:sp>
      </p:grpSp>
    </p:spTree>
    <p:extLst>
      <p:ext uri="{BB962C8B-B14F-4D97-AF65-F5344CB8AC3E}">
        <p14:creationId xmlns:p14="http://schemas.microsoft.com/office/powerpoint/2010/main" val="4198821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500F-4DBF-37A7-277A-FFAEBCA84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8CD51F-6960-CC19-BE92-43FC151E9BFE}"/>
              </a:ext>
            </a:extLst>
          </p:cNvPr>
          <p:cNvSpPr>
            <a:spLocks noGrp="1"/>
          </p:cNvSpPr>
          <p:nvPr>
            <p:ph type="title"/>
          </p:nvPr>
        </p:nvSpPr>
        <p:spPr/>
        <p:txBody>
          <a:bodyPr>
            <a:normAutofit/>
          </a:bodyPr>
          <a:lstStyle/>
          <a:p>
            <a:r>
              <a:rPr lang="en-US" altLang="ja-JP" dirty="0">
                <a:latin typeface="+mn-ea"/>
                <a:ea typeface="+mn-ea"/>
              </a:rPr>
              <a:t>3-5. </a:t>
            </a:r>
            <a:r>
              <a:rPr lang="ja-JP" altLang="en-US" dirty="0">
                <a:latin typeface="+mn-ea"/>
                <a:ea typeface="+mn-ea"/>
              </a:rPr>
              <a:t>本モジュールで学ぶこと②</a:t>
            </a:r>
          </a:p>
        </p:txBody>
      </p:sp>
      <p:sp>
        <p:nvSpPr>
          <p:cNvPr id="4" name="Google Shape;583;p3">
            <a:extLst>
              <a:ext uri="{FF2B5EF4-FFF2-40B4-BE49-F238E27FC236}">
                <a16:creationId xmlns:a16="http://schemas.microsoft.com/office/drawing/2014/main" id="{D1591379-9BEE-AB03-DC4A-65A500152495}"/>
              </a:ext>
            </a:extLst>
          </p:cNvPr>
          <p:cNvSpPr txBox="1"/>
          <p:nvPr/>
        </p:nvSpPr>
        <p:spPr>
          <a:xfrm>
            <a:off x="258884"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01</a:t>
            </a:r>
            <a:endParaRPr lang="ja-JP" altLang="en-US" sz="2000" b="1" dirty="0">
              <a:solidFill>
                <a:srgbClr val="FFFFFF"/>
              </a:solidFill>
              <a:latin typeface="+mn-ea"/>
              <a:cs typeface="MS PGothic"/>
              <a:sym typeface="MS PGothic"/>
            </a:endParaRPr>
          </a:p>
        </p:txBody>
      </p:sp>
      <p:sp>
        <p:nvSpPr>
          <p:cNvPr id="6" name="Google Shape;583;p3">
            <a:extLst>
              <a:ext uri="{FF2B5EF4-FFF2-40B4-BE49-F238E27FC236}">
                <a16:creationId xmlns:a16="http://schemas.microsoft.com/office/drawing/2014/main" id="{A4401AC0-371B-0BFA-3907-55EE4F1C67FD}"/>
              </a:ext>
            </a:extLst>
          </p:cNvPr>
          <p:cNvSpPr txBox="1"/>
          <p:nvPr/>
        </p:nvSpPr>
        <p:spPr>
          <a:xfrm>
            <a:off x="3474994"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02</a:t>
            </a:r>
            <a:endParaRPr lang="ja-JP" altLang="en-US" sz="2000" b="1" dirty="0">
              <a:solidFill>
                <a:srgbClr val="FFFFFF"/>
              </a:solidFill>
              <a:latin typeface="+mn-ea"/>
              <a:cs typeface="MS PGothic"/>
              <a:sym typeface="MS PGothic"/>
            </a:endParaRPr>
          </a:p>
        </p:txBody>
      </p:sp>
      <p:sp>
        <p:nvSpPr>
          <p:cNvPr id="9" name="Google Shape;583;p3">
            <a:extLst>
              <a:ext uri="{FF2B5EF4-FFF2-40B4-BE49-F238E27FC236}">
                <a16:creationId xmlns:a16="http://schemas.microsoft.com/office/drawing/2014/main" id="{E29A9BA3-9740-EF18-F334-8849E5070AF8}"/>
              </a:ext>
            </a:extLst>
          </p:cNvPr>
          <p:cNvSpPr txBox="1"/>
          <p:nvPr/>
        </p:nvSpPr>
        <p:spPr>
          <a:xfrm>
            <a:off x="6549704"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algn="ctr" defTabSz="925880"/>
            <a:r>
              <a:rPr lang="en-US" altLang="zh-TW" sz="2000" b="1" dirty="0">
                <a:solidFill>
                  <a:srgbClr val="FFFFFF"/>
                </a:solidFill>
                <a:latin typeface="+mn-ea"/>
                <a:cs typeface="MS PGothic"/>
                <a:sym typeface="MS PGothic"/>
              </a:rPr>
              <a:t>03</a:t>
            </a:r>
            <a:endParaRPr lang="ja-JP" altLang="en-US" sz="2000" b="1" dirty="0">
              <a:solidFill>
                <a:srgbClr val="FFFFFF"/>
              </a:solidFill>
              <a:latin typeface="+mn-ea"/>
              <a:cs typeface="MS PGothic"/>
              <a:sym typeface="MS PGothic"/>
            </a:endParaRPr>
          </a:p>
        </p:txBody>
      </p:sp>
      <p:sp>
        <p:nvSpPr>
          <p:cNvPr id="28" name="Google Shape;601;p3">
            <a:extLst>
              <a:ext uri="{FF2B5EF4-FFF2-40B4-BE49-F238E27FC236}">
                <a16:creationId xmlns:a16="http://schemas.microsoft.com/office/drawing/2014/main" id="{A0C9F144-9F72-3AC4-EFE0-38EAAB28F4F3}"/>
              </a:ext>
            </a:extLst>
          </p:cNvPr>
          <p:cNvSpPr/>
          <p:nvPr/>
        </p:nvSpPr>
        <p:spPr>
          <a:xfrm>
            <a:off x="25888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3" name="Google Shape;601;p3">
            <a:extLst>
              <a:ext uri="{FF2B5EF4-FFF2-40B4-BE49-F238E27FC236}">
                <a16:creationId xmlns:a16="http://schemas.microsoft.com/office/drawing/2014/main" id="{B25D7664-E892-4CCF-DC76-74CEE475C367}"/>
              </a:ext>
            </a:extLst>
          </p:cNvPr>
          <p:cNvSpPr/>
          <p:nvPr/>
        </p:nvSpPr>
        <p:spPr>
          <a:xfrm>
            <a:off x="347499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7" name="Google Shape;601;p3">
            <a:extLst>
              <a:ext uri="{FF2B5EF4-FFF2-40B4-BE49-F238E27FC236}">
                <a16:creationId xmlns:a16="http://schemas.microsoft.com/office/drawing/2014/main" id="{8237323F-61C8-7778-1107-D1342569B8C2}"/>
              </a:ext>
            </a:extLst>
          </p:cNvPr>
          <p:cNvSpPr/>
          <p:nvPr/>
        </p:nvSpPr>
        <p:spPr>
          <a:xfrm>
            <a:off x="6549110"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5" name="テキスト ボックス 4">
            <a:extLst>
              <a:ext uri="{FF2B5EF4-FFF2-40B4-BE49-F238E27FC236}">
                <a16:creationId xmlns:a16="http://schemas.microsoft.com/office/drawing/2014/main" id="{7E708CA5-D8DA-59B5-4662-4A2430B8AA0B}"/>
              </a:ext>
            </a:extLst>
          </p:cNvPr>
          <p:cNvSpPr txBox="1"/>
          <p:nvPr/>
        </p:nvSpPr>
        <p:spPr>
          <a:xfrm>
            <a:off x="258884" y="2305157"/>
            <a:ext cx="2898605" cy="461665"/>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① </a:t>
            </a:r>
            <a:r>
              <a:rPr lang="en-US" altLang="ja-JP" sz="2000" b="1" dirty="0">
                <a:solidFill>
                  <a:srgbClr val="000000"/>
                </a:solidFill>
                <a:latin typeface="+mn-ea"/>
              </a:rPr>
              <a:t>NTT</a:t>
            </a:r>
            <a:r>
              <a:rPr lang="ja-JP" altLang="en-US" sz="2000" b="1" dirty="0">
                <a:solidFill>
                  <a:srgbClr val="000000"/>
                </a:solidFill>
                <a:latin typeface="+mn-ea"/>
              </a:rPr>
              <a:t>データの</a:t>
            </a:r>
            <a:r>
              <a:rPr lang="en-US" altLang="ja-JP" sz="2000" b="1" dirty="0">
                <a:solidFill>
                  <a:srgbClr val="000000"/>
                </a:solidFill>
                <a:latin typeface="+mn-ea"/>
              </a:rPr>
              <a:t>AI</a:t>
            </a:r>
            <a:r>
              <a:rPr lang="ja-JP" altLang="en-US" sz="2000" b="1" dirty="0">
                <a:solidFill>
                  <a:srgbClr val="000000"/>
                </a:solidFill>
                <a:latin typeface="+mn-ea"/>
              </a:rPr>
              <a:t>戦略</a:t>
            </a:r>
          </a:p>
        </p:txBody>
      </p:sp>
      <p:cxnSp>
        <p:nvCxnSpPr>
          <p:cNvPr id="10" name="直線コネクタ 9">
            <a:extLst>
              <a:ext uri="{FF2B5EF4-FFF2-40B4-BE49-F238E27FC236}">
                <a16:creationId xmlns:a16="http://schemas.microsoft.com/office/drawing/2014/main" id="{2777A8BD-1768-BBA2-F37A-723CA9716B40}"/>
              </a:ext>
            </a:extLst>
          </p:cNvPr>
          <p:cNvCxnSpPr>
            <a:cxnSpLocks/>
          </p:cNvCxnSpPr>
          <p:nvPr/>
        </p:nvCxnSpPr>
        <p:spPr>
          <a:xfrm>
            <a:off x="46232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27840DA-733D-DE65-FC86-6DF60046DFB5}"/>
              </a:ext>
            </a:extLst>
          </p:cNvPr>
          <p:cNvSpPr txBox="1"/>
          <p:nvPr/>
        </p:nvSpPr>
        <p:spPr>
          <a:xfrm>
            <a:off x="302070" y="3643453"/>
            <a:ext cx="2799185" cy="1569660"/>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a:t>
            </a:r>
            <a:r>
              <a:rPr lang="en-US" altLang="ja-JP" sz="2000" dirty="0">
                <a:solidFill>
                  <a:srgbClr val="000000"/>
                </a:solidFill>
                <a:latin typeface="+mn-ea"/>
              </a:rPr>
              <a:t>Quality Growth</a:t>
            </a:r>
            <a:r>
              <a:rPr lang="ja-JP" altLang="en-US" sz="2000" dirty="0">
                <a:solidFill>
                  <a:srgbClr val="000000"/>
                </a:solidFill>
                <a:latin typeface="+mn-ea"/>
              </a:rPr>
              <a:t>」を掲げ、</a:t>
            </a:r>
            <a:r>
              <a:rPr lang="en-US" altLang="ja-JP" sz="2000" dirty="0">
                <a:solidFill>
                  <a:srgbClr val="000000"/>
                </a:solidFill>
                <a:latin typeface="+mn-ea"/>
              </a:rPr>
              <a:t>AI</a:t>
            </a:r>
            <a:r>
              <a:rPr lang="ja-JP" altLang="en-US" sz="2000" dirty="0">
                <a:solidFill>
                  <a:srgbClr val="000000"/>
                </a:solidFill>
                <a:latin typeface="+mn-ea"/>
              </a:rPr>
              <a:t>をどのように事業の中核に据えているかを理解する。</a:t>
            </a:r>
          </a:p>
        </p:txBody>
      </p:sp>
      <p:sp>
        <p:nvSpPr>
          <p:cNvPr id="12" name="テキスト ボックス 11">
            <a:extLst>
              <a:ext uri="{FF2B5EF4-FFF2-40B4-BE49-F238E27FC236}">
                <a16:creationId xmlns:a16="http://schemas.microsoft.com/office/drawing/2014/main" id="{EA25EA7E-2A03-D74A-04B9-20165B009B4A}"/>
              </a:ext>
            </a:extLst>
          </p:cNvPr>
          <p:cNvSpPr txBox="1"/>
          <p:nvPr/>
        </p:nvSpPr>
        <p:spPr>
          <a:xfrm>
            <a:off x="3474994" y="2299052"/>
            <a:ext cx="2895249" cy="830997"/>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② 生成</a:t>
            </a:r>
            <a:r>
              <a:rPr lang="en-US" altLang="ja-JP" sz="2000" b="1" dirty="0">
                <a:solidFill>
                  <a:srgbClr val="000000"/>
                </a:solidFill>
                <a:latin typeface="+mn-ea"/>
              </a:rPr>
              <a:t>AI</a:t>
            </a:r>
            <a:r>
              <a:rPr lang="ja-JP" altLang="en-US" sz="2000" b="1" dirty="0">
                <a:solidFill>
                  <a:srgbClr val="000000"/>
                </a:solidFill>
                <a:latin typeface="+mn-ea"/>
              </a:rPr>
              <a:t>の進化と</a:t>
            </a:r>
            <a:r>
              <a:rPr lang="en-US" altLang="ja-JP" sz="2000" b="1" dirty="0">
                <a:solidFill>
                  <a:srgbClr val="000000"/>
                </a:solidFill>
                <a:latin typeface="+mn-ea"/>
              </a:rPr>
              <a:t>Agentic AI</a:t>
            </a:r>
          </a:p>
        </p:txBody>
      </p:sp>
      <p:sp>
        <p:nvSpPr>
          <p:cNvPr id="14" name="テキスト ボックス 13">
            <a:extLst>
              <a:ext uri="{FF2B5EF4-FFF2-40B4-BE49-F238E27FC236}">
                <a16:creationId xmlns:a16="http://schemas.microsoft.com/office/drawing/2014/main" id="{480C0C1F-999E-2FEB-411A-429A52C134BD}"/>
              </a:ext>
            </a:extLst>
          </p:cNvPr>
          <p:cNvSpPr txBox="1"/>
          <p:nvPr/>
        </p:nvSpPr>
        <p:spPr>
          <a:xfrm>
            <a:off x="3518181" y="3643453"/>
            <a:ext cx="2799185" cy="1897571"/>
          </a:xfrm>
          <a:prstGeom prst="rect">
            <a:avLst/>
          </a:prstGeom>
          <a:noFill/>
        </p:spPr>
        <p:txBody>
          <a:bodyPr wrap="square">
            <a:spAutoFit/>
          </a:bodyPr>
          <a:lstStyle/>
          <a:p>
            <a:pPr defTabSz="925880">
              <a:lnSpc>
                <a:spcPct val="120000"/>
              </a:lnSpc>
            </a:pPr>
            <a:r>
              <a:rPr lang="ja-JP" altLang="en-US" sz="2000" dirty="0">
                <a:solidFill>
                  <a:srgbClr val="000000"/>
                </a:solidFill>
                <a:latin typeface="+mn-ea"/>
              </a:rPr>
              <a:t>生成</a:t>
            </a:r>
            <a:r>
              <a:rPr lang="en-US" altLang="ja-JP" sz="2000" dirty="0">
                <a:solidFill>
                  <a:srgbClr val="000000"/>
                </a:solidFill>
                <a:latin typeface="+mn-ea"/>
              </a:rPr>
              <a:t>AI</a:t>
            </a:r>
            <a:r>
              <a:rPr lang="ja-JP" altLang="en-US" sz="2000" dirty="0">
                <a:solidFill>
                  <a:srgbClr val="000000"/>
                </a:solidFill>
                <a:latin typeface="+mn-ea"/>
              </a:rPr>
              <a:t>が</a:t>
            </a:r>
            <a:r>
              <a:rPr lang="en-US" altLang="ja-JP" sz="2000" dirty="0">
                <a:solidFill>
                  <a:srgbClr val="000000"/>
                </a:solidFill>
                <a:latin typeface="+mn-ea"/>
              </a:rPr>
              <a:t>Level1</a:t>
            </a:r>
            <a:r>
              <a:rPr lang="ja-JP" altLang="en-US" sz="2000" dirty="0">
                <a:solidFill>
                  <a:srgbClr val="000000"/>
                </a:solidFill>
                <a:latin typeface="+mn-ea"/>
              </a:rPr>
              <a:t>（チャットボット）から</a:t>
            </a:r>
            <a:r>
              <a:rPr lang="en-US" altLang="ja-JP" sz="2000" dirty="0">
                <a:solidFill>
                  <a:srgbClr val="000000"/>
                </a:solidFill>
                <a:latin typeface="+mn-ea"/>
              </a:rPr>
              <a:t>Level3</a:t>
            </a:r>
            <a:r>
              <a:rPr lang="ja-JP" altLang="en-US" sz="2000" dirty="0">
                <a:solidFill>
                  <a:srgbClr val="000000"/>
                </a:solidFill>
                <a:latin typeface="+mn-ea"/>
              </a:rPr>
              <a:t>（エージェント）へ進化する中で、何が変わるのかを理解する。</a:t>
            </a:r>
          </a:p>
        </p:txBody>
      </p:sp>
      <p:sp>
        <p:nvSpPr>
          <p:cNvPr id="15" name="テキスト ボックス 14">
            <a:extLst>
              <a:ext uri="{FF2B5EF4-FFF2-40B4-BE49-F238E27FC236}">
                <a16:creationId xmlns:a16="http://schemas.microsoft.com/office/drawing/2014/main" id="{FBDBC7C5-4811-FF09-D631-25FFD51D8A69}"/>
              </a:ext>
            </a:extLst>
          </p:cNvPr>
          <p:cNvSpPr txBox="1"/>
          <p:nvPr/>
        </p:nvSpPr>
        <p:spPr>
          <a:xfrm>
            <a:off x="6545754" y="2275789"/>
            <a:ext cx="2912843" cy="1200329"/>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③ </a:t>
            </a:r>
            <a:r>
              <a:rPr lang="en-US" altLang="ja-JP" sz="2000" b="1" dirty="0">
                <a:solidFill>
                  <a:srgbClr val="000000"/>
                </a:solidFill>
                <a:latin typeface="+mn-ea"/>
              </a:rPr>
              <a:t>NTT</a:t>
            </a:r>
            <a:r>
              <a:rPr lang="ja-JP" altLang="en-US" sz="2000" b="1" dirty="0">
                <a:solidFill>
                  <a:srgbClr val="000000"/>
                </a:solidFill>
                <a:latin typeface="+mn-ea"/>
              </a:rPr>
              <a:t>データが描く</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未来と社員として</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知っておくべきこと</a:t>
            </a:r>
          </a:p>
        </p:txBody>
      </p:sp>
      <p:sp>
        <p:nvSpPr>
          <p:cNvPr id="17" name="テキスト ボックス 16">
            <a:extLst>
              <a:ext uri="{FF2B5EF4-FFF2-40B4-BE49-F238E27FC236}">
                <a16:creationId xmlns:a16="http://schemas.microsoft.com/office/drawing/2014/main" id="{E1338468-5306-0393-71FE-A4B7CDFED326}"/>
              </a:ext>
            </a:extLst>
          </p:cNvPr>
          <p:cNvSpPr txBox="1"/>
          <p:nvPr/>
        </p:nvSpPr>
        <p:spPr>
          <a:xfrm>
            <a:off x="6598819" y="3643453"/>
            <a:ext cx="2799185" cy="1938992"/>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データが描く</a:t>
            </a:r>
            <a:r>
              <a:rPr lang="en-US" altLang="ja-JP" sz="2000" dirty="0">
                <a:solidFill>
                  <a:srgbClr val="000000"/>
                </a:solidFill>
                <a:latin typeface="+mn-ea"/>
              </a:rPr>
              <a:t>AI</a:t>
            </a:r>
            <a:r>
              <a:rPr lang="ja-JP" altLang="en-US" sz="2000" dirty="0">
                <a:solidFill>
                  <a:srgbClr val="000000"/>
                </a:solidFill>
                <a:latin typeface="+mn-ea"/>
              </a:rPr>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816C9B70-41E0-DEFB-44E4-F93087DD250E}"/>
              </a:ext>
            </a:extLst>
          </p:cNvPr>
          <p:cNvCxnSpPr>
            <a:cxnSpLocks/>
          </p:cNvCxnSpPr>
          <p:nvPr/>
        </p:nvCxnSpPr>
        <p:spPr>
          <a:xfrm>
            <a:off x="3713978"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06B42E29-7FA7-B662-A332-04AF9E959AC8}"/>
              </a:ext>
            </a:extLst>
          </p:cNvPr>
          <p:cNvCxnSpPr>
            <a:cxnSpLocks/>
          </p:cNvCxnSpPr>
          <p:nvPr/>
        </p:nvCxnSpPr>
        <p:spPr>
          <a:xfrm>
            <a:off x="675859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B65E52AB-1624-225A-F6A0-CDBB7B31B28A}"/>
              </a:ext>
            </a:extLst>
          </p:cNvPr>
          <p:cNvSpPr/>
          <p:nvPr/>
        </p:nvSpPr>
        <p:spPr>
          <a:xfrm>
            <a:off x="3376906" y="1176056"/>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1400" dirty="0">
              <a:solidFill>
                <a:srgbClr val="FFFFFF"/>
              </a:solidFill>
              <a:latin typeface="+mn-ea"/>
            </a:endParaRPr>
          </a:p>
        </p:txBody>
      </p:sp>
      <p:sp>
        <p:nvSpPr>
          <p:cNvPr id="21" name="正方形/長方形 20">
            <a:extLst>
              <a:ext uri="{FF2B5EF4-FFF2-40B4-BE49-F238E27FC236}">
                <a16:creationId xmlns:a16="http://schemas.microsoft.com/office/drawing/2014/main" id="{69AA8833-F44F-9511-10C2-40442C685104}"/>
              </a:ext>
            </a:extLst>
          </p:cNvPr>
          <p:cNvSpPr/>
          <p:nvPr/>
        </p:nvSpPr>
        <p:spPr>
          <a:xfrm>
            <a:off x="6495083" y="1205611"/>
            <a:ext cx="310848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1400" dirty="0">
              <a:solidFill>
                <a:srgbClr val="FFFFFF"/>
              </a:solidFill>
              <a:latin typeface="+mn-ea"/>
            </a:endParaRPr>
          </a:p>
        </p:txBody>
      </p:sp>
      <p:sp>
        <p:nvSpPr>
          <p:cNvPr id="22" name="正方形/長方形 21">
            <a:extLst>
              <a:ext uri="{FF2B5EF4-FFF2-40B4-BE49-F238E27FC236}">
                <a16:creationId xmlns:a16="http://schemas.microsoft.com/office/drawing/2014/main" id="{41387F2A-4437-07C7-BEAB-66B4D46C8CF1}"/>
              </a:ext>
            </a:extLst>
          </p:cNvPr>
          <p:cNvSpPr/>
          <p:nvPr/>
        </p:nvSpPr>
        <p:spPr>
          <a:xfrm>
            <a:off x="134841" y="1205611"/>
            <a:ext cx="310848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1400" dirty="0">
              <a:solidFill>
                <a:srgbClr val="FFFFFF"/>
              </a:solidFill>
              <a:latin typeface="+mn-ea"/>
            </a:endParaRPr>
          </a:p>
        </p:txBody>
      </p:sp>
    </p:spTree>
    <p:extLst>
      <p:ext uri="{BB962C8B-B14F-4D97-AF65-F5344CB8AC3E}">
        <p14:creationId xmlns:p14="http://schemas.microsoft.com/office/powerpoint/2010/main" val="2072387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33690-C3FB-7F2A-C263-1E700E60FE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BF2088-D6FA-2A9C-A1B4-94E4550DEDEC}"/>
              </a:ext>
            </a:extLst>
          </p:cNvPr>
          <p:cNvSpPr>
            <a:spLocks noGrp="1"/>
          </p:cNvSpPr>
          <p:nvPr>
            <p:ph type="title"/>
          </p:nvPr>
        </p:nvSpPr>
        <p:spPr/>
        <p:txBody>
          <a:bodyPr>
            <a:normAutofit/>
          </a:bodyPr>
          <a:lstStyle/>
          <a:p>
            <a:r>
              <a:rPr lang="en-US" altLang="ja-JP" dirty="0">
                <a:latin typeface="+mn-ea"/>
                <a:ea typeface="+mn-ea"/>
              </a:rPr>
              <a:t>3-6.</a:t>
            </a:r>
            <a:r>
              <a:rPr lang="ja-JP" altLang="en-US" dirty="0">
                <a:latin typeface="+mn-ea"/>
                <a:ea typeface="+mn-ea"/>
              </a:rPr>
              <a:t> エージェント</a:t>
            </a:r>
            <a:r>
              <a:rPr lang="en-US" altLang="ja-JP" dirty="0">
                <a:latin typeface="+mn-ea"/>
                <a:ea typeface="+mn-ea"/>
              </a:rPr>
              <a:t>AI</a:t>
            </a:r>
            <a:r>
              <a:rPr lang="ja-JP" altLang="en-US" dirty="0">
                <a:latin typeface="+mn-ea"/>
                <a:ea typeface="+mn-ea"/>
              </a:rPr>
              <a:t>（</a:t>
            </a:r>
            <a:r>
              <a:rPr lang="en-US" altLang="ja-JP" dirty="0">
                <a:latin typeface="+mn-ea"/>
                <a:ea typeface="+mn-ea"/>
              </a:rPr>
              <a:t>Agentic AI</a:t>
            </a:r>
            <a:r>
              <a:rPr lang="ja-JP" altLang="en-US" dirty="0">
                <a:latin typeface="+mn-ea"/>
                <a:ea typeface="+mn-ea"/>
              </a:rPr>
              <a:t>）とは何か</a:t>
            </a:r>
          </a:p>
        </p:txBody>
      </p:sp>
      <p:sp>
        <p:nvSpPr>
          <p:cNvPr id="23" name="テキスト ボックス 22">
            <a:extLst>
              <a:ext uri="{FF2B5EF4-FFF2-40B4-BE49-F238E27FC236}">
                <a16:creationId xmlns:a16="http://schemas.microsoft.com/office/drawing/2014/main" id="{AAAA0BCC-29BA-B144-51E3-06A4027ED680}"/>
              </a:ext>
            </a:extLst>
          </p:cNvPr>
          <p:cNvSpPr txBox="1"/>
          <p:nvPr/>
        </p:nvSpPr>
        <p:spPr>
          <a:xfrm>
            <a:off x="268864" y="1047233"/>
            <a:ext cx="9550700" cy="707886"/>
          </a:xfrm>
          <a:prstGeom prst="rect">
            <a:avLst/>
          </a:prstGeom>
          <a:noFill/>
        </p:spPr>
        <p:txBody>
          <a:bodyPr wrap="square">
            <a:spAutoFit/>
          </a:bodyPr>
          <a:lstStyle/>
          <a:p>
            <a:pPr defTabSz="925880"/>
            <a:r>
              <a:rPr lang="ja-JP" altLang="en-US" sz="2000" dirty="0">
                <a:solidFill>
                  <a:srgbClr val="404040"/>
                </a:solidFill>
                <a:latin typeface="+mn-ea"/>
              </a:rPr>
              <a:t>エージェント</a:t>
            </a:r>
            <a:r>
              <a:rPr lang="en-US" altLang="ja-JP" sz="2000" dirty="0">
                <a:solidFill>
                  <a:srgbClr val="404040"/>
                </a:solidFill>
                <a:latin typeface="+mn-ea"/>
              </a:rPr>
              <a:t>AI</a:t>
            </a:r>
            <a:r>
              <a:rPr lang="ja-JP" altLang="en-US" sz="2000" dirty="0">
                <a:solidFill>
                  <a:srgbClr val="404040"/>
                </a:solidFill>
                <a:latin typeface="+mn-ea"/>
              </a:rPr>
              <a:t>（</a:t>
            </a:r>
            <a:r>
              <a:rPr lang="en-US" altLang="ja-JP" sz="2000" dirty="0">
                <a:solidFill>
                  <a:srgbClr val="404040"/>
                </a:solidFill>
                <a:latin typeface="+mn-ea"/>
              </a:rPr>
              <a:t>Agentic AI</a:t>
            </a:r>
            <a:r>
              <a:rPr lang="ja-JP" altLang="en-US" sz="2000" dirty="0">
                <a:solidFill>
                  <a:srgbClr val="404040"/>
                </a:solidFill>
                <a:latin typeface="+mn-ea"/>
              </a:rPr>
              <a:t>）とは、</a:t>
            </a:r>
            <a:r>
              <a:rPr lang="ja-JP" altLang="en-US" sz="2000" dirty="0">
                <a:solidFill>
                  <a:srgbClr val="19A3FC"/>
                </a:solidFill>
                <a:latin typeface="+mn-ea"/>
              </a:rPr>
              <a:t>目標を達成するために、自律的に考え、</a:t>
            </a:r>
            <a:endParaRPr lang="en-US" altLang="ja-JP" sz="2000" dirty="0">
              <a:solidFill>
                <a:srgbClr val="19A3FC"/>
              </a:solidFill>
              <a:latin typeface="+mn-ea"/>
            </a:endParaRPr>
          </a:p>
          <a:p>
            <a:pPr defTabSz="925880"/>
            <a:r>
              <a:rPr lang="ja-JP" altLang="en-US" sz="2000" dirty="0">
                <a:solidFill>
                  <a:srgbClr val="19A3FC"/>
                </a:solidFill>
                <a:latin typeface="+mn-ea"/>
              </a:rPr>
              <a:t>環境や状況の変化を認識し、意思決定を行って行動する</a:t>
            </a:r>
            <a:r>
              <a:rPr lang="en-US" altLang="ja-JP" sz="2000" dirty="0">
                <a:solidFill>
                  <a:srgbClr val="19A3FC"/>
                </a:solidFill>
                <a:latin typeface="+mn-ea"/>
              </a:rPr>
              <a:t>AI</a:t>
            </a:r>
            <a:r>
              <a:rPr lang="ja-JP" altLang="en-US" sz="2000" dirty="0">
                <a:solidFill>
                  <a:srgbClr val="19A3FC"/>
                </a:solidFill>
                <a:latin typeface="+mn-ea"/>
              </a:rPr>
              <a:t>の総称です。</a:t>
            </a:r>
          </a:p>
        </p:txBody>
      </p:sp>
      <p:pic>
        <p:nvPicPr>
          <p:cNvPr id="3" name="Google Shape;331;p37">
            <a:extLst>
              <a:ext uri="{FF2B5EF4-FFF2-40B4-BE49-F238E27FC236}">
                <a16:creationId xmlns:a16="http://schemas.microsoft.com/office/drawing/2014/main" id="{F5F65465-DC85-87F6-3E4A-40392A90B76B}"/>
              </a:ext>
            </a:extLst>
          </p:cNvPr>
          <p:cNvPicPr preferRelativeResize="0"/>
          <p:nvPr/>
        </p:nvPicPr>
        <p:blipFill rotWithShape="1">
          <a:blip r:embed="rId2">
            <a:alphaModFix/>
          </a:blip>
          <a:srcRect l="41374" r="7718"/>
          <a:stretch/>
        </p:blipFill>
        <p:spPr>
          <a:xfrm>
            <a:off x="660462" y="2093133"/>
            <a:ext cx="2669558" cy="2359239"/>
          </a:xfrm>
          <a:prstGeom prst="rect">
            <a:avLst/>
          </a:prstGeom>
          <a:noFill/>
          <a:ln>
            <a:noFill/>
          </a:ln>
        </p:spPr>
      </p:pic>
      <p:sp>
        <p:nvSpPr>
          <p:cNvPr id="5" name="Google Shape;334;p37">
            <a:extLst>
              <a:ext uri="{FF2B5EF4-FFF2-40B4-BE49-F238E27FC236}">
                <a16:creationId xmlns:a16="http://schemas.microsoft.com/office/drawing/2014/main" id="{72651D07-10E6-F03B-E367-22C6402826E4}"/>
              </a:ext>
            </a:extLst>
          </p:cNvPr>
          <p:cNvSpPr txBox="1"/>
          <p:nvPr/>
        </p:nvSpPr>
        <p:spPr>
          <a:xfrm>
            <a:off x="660461" y="4739899"/>
            <a:ext cx="4744051" cy="933586"/>
          </a:xfrm>
          <a:prstGeom prst="rect">
            <a:avLst/>
          </a:prstGeom>
          <a:noFill/>
          <a:ln>
            <a:noFill/>
          </a:ln>
        </p:spPr>
        <p:txBody>
          <a:bodyPr spcFirstLastPara="1" wrap="square" lIns="91425" tIns="45700" rIns="91425" bIns="45700" anchor="ctr" anchorCtr="0">
            <a:noAutofit/>
          </a:bodyPr>
          <a:lstStyle/>
          <a:p>
            <a:pPr defTabSz="925880">
              <a:lnSpc>
                <a:spcPct val="130000"/>
              </a:lnSpc>
              <a:buClr>
                <a:srgbClr val="262626"/>
              </a:buClr>
              <a:buSzPts val="2000"/>
            </a:pPr>
            <a:r>
              <a:rPr lang="ja-JP" altLang="en-US" sz="2000" dirty="0">
                <a:solidFill>
                  <a:srgbClr val="404040"/>
                </a:solidFill>
                <a:latin typeface="+mn-ea"/>
              </a:rPr>
              <a:t>単に質問に答えるだけでなく、</a:t>
            </a:r>
            <a:endParaRPr lang="en-US" altLang="ja-JP" sz="2000" dirty="0">
              <a:solidFill>
                <a:srgbClr val="404040"/>
              </a:solidFill>
              <a:latin typeface="+mn-ea"/>
            </a:endParaRPr>
          </a:p>
          <a:p>
            <a:pPr defTabSz="925880">
              <a:lnSpc>
                <a:spcPct val="130000"/>
              </a:lnSpc>
              <a:buClr>
                <a:srgbClr val="262626"/>
              </a:buClr>
              <a:buSzPts val="2000"/>
            </a:pPr>
            <a:r>
              <a:rPr lang="ja-JP" altLang="en-US" sz="2000" dirty="0">
                <a:solidFill>
                  <a:srgbClr val="404040"/>
                </a:solidFill>
                <a:latin typeface="+mn-ea"/>
              </a:rPr>
              <a:t>人間のように「計画→実行→評価→改善」の</a:t>
            </a:r>
            <a:endParaRPr lang="en-US" altLang="ja-JP" sz="2000" dirty="0">
              <a:solidFill>
                <a:srgbClr val="404040"/>
              </a:solidFill>
              <a:latin typeface="+mn-ea"/>
            </a:endParaRPr>
          </a:p>
          <a:p>
            <a:pPr defTabSz="925880">
              <a:lnSpc>
                <a:spcPct val="130000"/>
              </a:lnSpc>
              <a:buClr>
                <a:srgbClr val="262626"/>
              </a:buClr>
              <a:buSzPts val="2000"/>
            </a:pPr>
            <a:r>
              <a:rPr lang="ja-JP" altLang="en-US" sz="2000" dirty="0">
                <a:solidFill>
                  <a:srgbClr val="404040"/>
                </a:solidFill>
                <a:latin typeface="+mn-ea"/>
              </a:rPr>
              <a:t>サイクルを回して業務を代行してくれます</a:t>
            </a:r>
            <a:endParaRPr lang="en-US" sz="2000" dirty="0">
              <a:solidFill>
                <a:srgbClr val="404040"/>
              </a:solidFill>
              <a:latin typeface="+mn-ea"/>
              <a:sym typeface="Noto Sans JP"/>
            </a:endParaRPr>
          </a:p>
        </p:txBody>
      </p:sp>
      <p:pic>
        <p:nvPicPr>
          <p:cNvPr id="6" name="Picture 2" descr="PDCA - かわいいフリーイラスト素材集【ぴくらいく】｜商用利用可">
            <a:extLst>
              <a:ext uri="{FF2B5EF4-FFF2-40B4-BE49-F238E27FC236}">
                <a16:creationId xmlns:a16="http://schemas.microsoft.com/office/drawing/2014/main" id="{6E652799-36E9-E411-5782-995322C2FB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6374" y="1570453"/>
            <a:ext cx="4103032" cy="4103032"/>
          </a:xfrm>
          <a:prstGeom prst="rect">
            <a:avLst/>
          </a:prstGeom>
          <a:noFill/>
          <a:extLst>
            <a:ext uri="{909E8E84-426E-40DD-AFC4-6F175D3DCCD1}">
              <a14:hiddenFill xmlns:a14="http://schemas.microsoft.com/office/drawing/2010/main">
                <a:solidFill>
                  <a:srgbClr val="FFFFFF"/>
                </a:solidFill>
              </a14:hiddenFill>
            </a:ext>
          </a:extLst>
        </p:spPr>
      </p:pic>
      <p:cxnSp>
        <p:nvCxnSpPr>
          <p:cNvPr id="7" name="Google Shape;335;p37">
            <a:extLst>
              <a:ext uri="{FF2B5EF4-FFF2-40B4-BE49-F238E27FC236}">
                <a16:creationId xmlns:a16="http://schemas.microsoft.com/office/drawing/2014/main" id="{A23B8929-E2A7-F582-9B4A-834D15EFEC37}"/>
              </a:ext>
            </a:extLst>
          </p:cNvPr>
          <p:cNvCxnSpPr>
            <a:cxnSpLocks/>
          </p:cNvCxnSpPr>
          <p:nvPr/>
        </p:nvCxnSpPr>
        <p:spPr>
          <a:xfrm>
            <a:off x="3510775" y="3613502"/>
            <a:ext cx="1515533" cy="0"/>
          </a:xfrm>
          <a:prstGeom prst="straightConnector1">
            <a:avLst/>
          </a:prstGeom>
          <a:noFill/>
          <a:ln w="57150" cap="flat" cmpd="sng">
            <a:solidFill>
              <a:srgbClr val="BFBFBF"/>
            </a:solidFill>
            <a:prstDash val="solid"/>
            <a:miter lim="800000"/>
            <a:headEnd type="none" w="sm" len="sm"/>
            <a:tailEnd type="triangle" w="med" len="med"/>
          </a:ln>
        </p:spPr>
      </p:cxnSp>
    </p:spTree>
    <p:extLst>
      <p:ext uri="{BB962C8B-B14F-4D97-AF65-F5344CB8AC3E}">
        <p14:creationId xmlns:p14="http://schemas.microsoft.com/office/powerpoint/2010/main" val="1510626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625E1-C518-935B-2031-DD8BD9D36A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A49EEB-3B1D-83AB-84A6-DECF14AC1B82}"/>
              </a:ext>
            </a:extLst>
          </p:cNvPr>
          <p:cNvSpPr>
            <a:spLocks noGrp="1"/>
          </p:cNvSpPr>
          <p:nvPr>
            <p:ph type="title"/>
          </p:nvPr>
        </p:nvSpPr>
        <p:spPr/>
        <p:txBody>
          <a:bodyPr>
            <a:normAutofit/>
          </a:bodyPr>
          <a:lstStyle/>
          <a:p>
            <a:r>
              <a:rPr lang="en-US" altLang="ja-JP" dirty="0">
                <a:latin typeface="+mn-ea"/>
                <a:ea typeface="+mn-ea"/>
              </a:rPr>
              <a:t>3-7. </a:t>
            </a:r>
            <a:r>
              <a:rPr lang="ja-JP" altLang="en-US" dirty="0">
                <a:latin typeface="+mn-ea"/>
                <a:ea typeface="+mn-ea"/>
              </a:rPr>
              <a:t>エージェントの処理</a:t>
            </a:r>
          </a:p>
        </p:txBody>
      </p:sp>
      <p:sp>
        <p:nvSpPr>
          <p:cNvPr id="4" name="四角形: 角を丸くする 3">
            <a:extLst>
              <a:ext uri="{FF2B5EF4-FFF2-40B4-BE49-F238E27FC236}">
                <a16:creationId xmlns:a16="http://schemas.microsoft.com/office/drawing/2014/main" id="{C9F63002-1A3C-4342-2224-C74338D3AA8B}"/>
              </a:ext>
            </a:extLst>
          </p:cNvPr>
          <p:cNvSpPr/>
          <p:nvPr/>
        </p:nvSpPr>
        <p:spPr>
          <a:xfrm>
            <a:off x="355251" y="2212602"/>
            <a:ext cx="9301501" cy="3780838"/>
          </a:xfrm>
          <a:prstGeom prst="roundRect">
            <a:avLst>
              <a:gd name="adj" fmla="val 6611"/>
            </a:avLst>
          </a:prstGeom>
          <a:solidFill>
            <a:srgbClr val="0074C4">
              <a:alpha val="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925880"/>
            <a:endParaRPr lang="ja-JP" altLang="en-US" sz="2000">
              <a:solidFill>
                <a:srgbClr val="FFFFFF"/>
              </a:solidFill>
              <a:latin typeface="+mn-ea"/>
            </a:endParaRPr>
          </a:p>
        </p:txBody>
      </p:sp>
      <p:sp>
        <p:nvSpPr>
          <p:cNvPr id="9" name="四角形: 角を丸くする 8">
            <a:extLst>
              <a:ext uri="{FF2B5EF4-FFF2-40B4-BE49-F238E27FC236}">
                <a16:creationId xmlns:a16="http://schemas.microsoft.com/office/drawing/2014/main" id="{2CD70E98-1223-A554-89F6-6A10887F4888}"/>
              </a:ext>
            </a:extLst>
          </p:cNvPr>
          <p:cNvSpPr/>
          <p:nvPr/>
        </p:nvSpPr>
        <p:spPr>
          <a:xfrm>
            <a:off x="438295" y="1145967"/>
            <a:ext cx="1463970" cy="6604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sz="1600">
                <a:solidFill>
                  <a:srgbClr val="000000"/>
                </a:solidFill>
                <a:latin typeface="+mn-ea"/>
              </a:rPr>
              <a:t>プロンプトでの</a:t>
            </a:r>
            <a:endParaRPr lang="en-US" altLang="ja-JP" sz="1600">
              <a:solidFill>
                <a:srgbClr val="000000"/>
              </a:solidFill>
              <a:latin typeface="+mn-ea"/>
            </a:endParaRPr>
          </a:p>
          <a:p>
            <a:pPr algn="ctr" defTabSz="925880"/>
            <a:r>
              <a:rPr lang="ja-JP" altLang="en-US" sz="1600">
                <a:solidFill>
                  <a:srgbClr val="000000"/>
                </a:solidFill>
                <a:latin typeface="+mn-ea"/>
              </a:rPr>
              <a:t>タスク指示</a:t>
            </a:r>
          </a:p>
        </p:txBody>
      </p:sp>
      <p:cxnSp>
        <p:nvCxnSpPr>
          <p:cNvPr id="10" name="直線矢印コネクタ 9">
            <a:extLst>
              <a:ext uri="{FF2B5EF4-FFF2-40B4-BE49-F238E27FC236}">
                <a16:creationId xmlns:a16="http://schemas.microsoft.com/office/drawing/2014/main" id="{5F41F1D2-5AF5-6E6F-C5B1-9FCFB7CAF6E1}"/>
              </a:ext>
            </a:extLst>
          </p:cNvPr>
          <p:cNvCxnSpPr>
            <a:cxnSpLocks/>
            <a:stCxn id="9" idx="2"/>
          </p:cNvCxnSpPr>
          <p:nvPr/>
        </p:nvCxnSpPr>
        <p:spPr>
          <a:xfrm>
            <a:off x="1170281" y="1806367"/>
            <a:ext cx="1" cy="635000"/>
          </a:xfrm>
          <a:prstGeom prst="straightConnector1">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四角形: 角を丸くする 10">
            <a:extLst>
              <a:ext uri="{FF2B5EF4-FFF2-40B4-BE49-F238E27FC236}">
                <a16:creationId xmlns:a16="http://schemas.microsoft.com/office/drawing/2014/main" id="{ABD37317-9B36-3BC6-5C6C-CBC506734577}"/>
              </a:ext>
            </a:extLst>
          </p:cNvPr>
          <p:cNvSpPr/>
          <p:nvPr/>
        </p:nvSpPr>
        <p:spPr>
          <a:xfrm>
            <a:off x="438296" y="2432901"/>
            <a:ext cx="1463967" cy="351673"/>
          </a:xfrm>
          <a:prstGeom prst="roundRect">
            <a:avLst/>
          </a:prstGeom>
          <a:solidFill>
            <a:srgbClr val="0074C4"/>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sz="1600">
                <a:solidFill>
                  <a:srgbClr val="FFFFFF"/>
                </a:solidFill>
                <a:latin typeface="+mn-ea"/>
              </a:rPr>
              <a:t>エージェント</a:t>
            </a:r>
          </a:p>
        </p:txBody>
      </p:sp>
      <p:pic>
        <p:nvPicPr>
          <p:cNvPr id="12" name="図 11">
            <a:extLst>
              <a:ext uri="{FF2B5EF4-FFF2-40B4-BE49-F238E27FC236}">
                <a16:creationId xmlns:a16="http://schemas.microsoft.com/office/drawing/2014/main" id="{7D29BF49-6AF4-3436-730C-F55499E6CF32}"/>
              </a:ext>
            </a:extLst>
          </p:cNvPr>
          <p:cNvPicPr>
            <a:picLocks noChangeAspect="1"/>
          </p:cNvPicPr>
          <p:nvPr/>
        </p:nvPicPr>
        <p:blipFill>
          <a:blip r:embed="rId2"/>
          <a:srcRect l="7966" r="27754" b="5911"/>
          <a:stretch/>
        </p:blipFill>
        <p:spPr>
          <a:xfrm>
            <a:off x="2143179" y="1074809"/>
            <a:ext cx="810000" cy="798661"/>
          </a:xfrm>
          <a:prstGeom prst="ellipse">
            <a:avLst/>
          </a:prstGeom>
          <a:ln>
            <a:solidFill>
              <a:schemeClr val="bg1">
                <a:lumMod val="50000"/>
              </a:schemeClr>
            </a:solidFill>
          </a:ln>
        </p:spPr>
      </p:pic>
      <p:sp>
        <p:nvSpPr>
          <p:cNvPr id="13" name="Text 3">
            <a:extLst>
              <a:ext uri="{FF2B5EF4-FFF2-40B4-BE49-F238E27FC236}">
                <a16:creationId xmlns:a16="http://schemas.microsoft.com/office/drawing/2014/main" id="{47EECCBB-6C18-7260-7AC0-FD95C4FAE1CF}"/>
              </a:ext>
            </a:extLst>
          </p:cNvPr>
          <p:cNvSpPr/>
          <p:nvPr/>
        </p:nvSpPr>
        <p:spPr>
          <a:xfrm>
            <a:off x="3320840" y="1272718"/>
            <a:ext cx="3898826" cy="402840"/>
          </a:xfrm>
          <a:prstGeom prst="rect">
            <a:avLst/>
          </a:prstGeom>
          <a:noFill/>
          <a:ln/>
        </p:spPr>
        <p:txBody>
          <a:bodyPr wrap="square" lIns="0" tIns="0" rIns="0" bIns="0" rtlCol="0" anchor="t"/>
          <a:lstStyle/>
          <a:p>
            <a:pPr defTabSz="925880">
              <a:lnSpc>
                <a:spcPts val="2850"/>
              </a:lnSpc>
            </a:pPr>
            <a:r>
              <a:rPr lang="ja-JP" altLang="en-US" sz="2000" b="1" dirty="0">
                <a:solidFill>
                  <a:srgbClr val="0074C4"/>
                </a:solidFill>
                <a:latin typeface="+mn-ea"/>
              </a:rPr>
              <a:t>〇〇（特定の業務）</a:t>
            </a:r>
            <a:r>
              <a:rPr lang="ja-JP" altLang="en-US" sz="2000" dirty="0">
                <a:solidFill>
                  <a:srgbClr val="000000">
                    <a:lumMod val="75000"/>
                    <a:lumOff val="25000"/>
                  </a:srgbClr>
                </a:solidFill>
                <a:latin typeface="+mn-ea"/>
              </a:rPr>
              <a:t>を実行して！</a:t>
            </a:r>
            <a:endParaRPr lang="en-US" altLang="ja-JP" sz="2000" dirty="0">
              <a:solidFill>
                <a:srgbClr val="000000">
                  <a:lumMod val="75000"/>
                  <a:lumOff val="25000"/>
                </a:srgbClr>
              </a:solidFill>
              <a:latin typeface="+mn-ea"/>
            </a:endParaRPr>
          </a:p>
        </p:txBody>
      </p:sp>
      <p:sp>
        <p:nvSpPr>
          <p:cNvPr id="14" name="四角形: 角を丸くする 13">
            <a:extLst>
              <a:ext uri="{FF2B5EF4-FFF2-40B4-BE49-F238E27FC236}">
                <a16:creationId xmlns:a16="http://schemas.microsoft.com/office/drawing/2014/main" id="{3FDED423-76A7-C96B-0A14-DFC42E6EB4B6}"/>
              </a:ext>
            </a:extLst>
          </p:cNvPr>
          <p:cNvSpPr/>
          <p:nvPr/>
        </p:nvSpPr>
        <p:spPr>
          <a:xfrm>
            <a:off x="4265818" y="3716638"/>
            <a:ext cx="1305240" cy="754586"/>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en-US" altLang="ja-JP">
                <a:solidFill>
                  <a:srgbClr val="000000"/>
                </a:solidFill>
                <a:latin typeface="+mn-ea"/>
              </a:rPr>
              <a:t>LLM</a:t>
            </a:r>
            <a:endParaRPr lang="ja-JP" altLang="en-US">
              <a:solidFill>
                <a:srgbClr val="000000"/>
              </a:solidFill>
              <a:latin typeface="+mn-ea"/>
            </a:endParaRPr>
          </a:p>
        </p:txBody>
      </p:sp>
      <p:sp>
        <p:nvSpPr>
          <p:cNvPr id="15" name="四角形: 角を丸くする 14">
            <a:extLst>
              <a:ext uri="{FF2B5EF4-FFF2-40B4-BE49-F238E27FC236}">
                <a16:creationId xmlns:a16="http://schemas.microsoft.com/office/drawing/2014/main" id="{3CA85A47-49F9-D3F3-3C59-89C5FA21BE99}"/>
              </a:ext>
            </a:extLst>
          </p:cNvPr>
          <p:cNvSpPr/>
          <p:nvPr/>
        </p:nvSpPr>
        <p:spPr>
          <a:xfrm>
            <a:off x="4053277" y="2840545"/>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dirty="0">
                <a:solidFill>
                  <a:srgbClr val="000000"/>
                </a:solidFill>
                <a:latin typeface="+mn-ea"/>
              </a:rPr>
              <a:t>計画：</a:t>
            </a:r>
            <a:r>
              <a:rPr lang="en-US" altLang="ja-JP" dirty="0">
                <a:solidFill>
                  <a:srgbClr val="000000"/>
                </a:solidFill>
                <a:latin typeface="+mn-ea"/>
              </a:rPr>
              <a:t>Plan</a:t>
            </a:r>
            <a:endParaRPr lang="ja-JP" altLang="en-US" dirty="0">
              <a:solidFill>
                <a:srgbClr val="000000"/>
              </a:solidFill>
              <a:latin typeface="+mn-ea"/>
            </a:endParaRPr>
          </a:p>
        </p:txBody>
      </p:sp>
      <p:sp>
        <p:nvSpPr>
          <p:cNvPr id="16" name="四角形: 角を丸くする 15">
            <a:extLst>
              <a:ext uri="{FF2B5EF4-FFF2-40B4-BE49-F238E27FC236}">
                <a16:creationId xmlns:a16="http://schemas.microsoft.com/office/drawing/2014/main" id="{AE3F322E-DDBB-43F8-9222-2F00E4B3E93D}"/>
              </a:ext>
            </a:extLst>
          </p:cNvPr>
          <p:cNvSpPr/>
          <p:nvPr/>
        </p:nvSpPr>
        <p:spPr>
          <a:xfrm>
            <a:off x="5982349" y="381352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a:solidFill>
                  <a:srgbClr val="000000"/>
                </a:solidFill>
                <a:latin typeface="+mn-ea"/>
              </a:rPr>
              <a:t>行動：</a:t>
            </a:r>
            <a:r>
              <a:rPr lang="en-US" altLang="ja-JP">
                <a:solidFill>
                  <a:srgbClr val="000000"/>
                </a:solidFill>
                <a:latin typeface="+mn-ea"/>
              </a:rPr>
              <a:t>Do</a:t>
            </a:r>
            <a:endParaRPr lang="ja-JP" altLang="en-US">
              <a:solidFill>
                <a:srgbClr val="000000"/>
              </a:solidFill>
              <a:latin typeface="+mn-ea"/>
            </a:endParaRPr>
          </a:p>
        </p:txBody>
      </p:sp>
      <p:sp>
        <p:nvSpPr>
          <p:cNvPr id="17" name="四角形: 角を丸くする 16">
            <a:extLst>
              <a:ext uri="{FF2B5EF4-FFF2-40B4-BE49-F238E27FC236}">
                <a16:creationId xmlns:a16="http://schemas.microsoft.com/office/drawing/2014/main" id="{EDC7683F-6AF7-0F15-C0D0-9717914F66B8}"/>
              </a:ext>
            </a:extLst>
          </p:cNvPr>
          <p:cNvSpPr/>
          <p:nvPr/>
        </p:nvSpPr>
        <p:spPr>
          <a:xfrm>
            <a:off x="4053277" y="478254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a:solidFill>
                  <a:srgbClr val="000000"/>
                </a:solidFill>
                <a:latin typeface="+mn-ea"/>
              </a:rPr>
              <a:t>評価：</a:t>
            </a:r>
            <a:r>
              <a:rPr lang="en-US" altLang="ja-JP">
                <a:solidFill>
                  <a:srgbClr val="000000"/>
                </a:solidFill>
                <a:latin typeface="+mn-ea"/>
              </a:rPr>
              <a:t>Check</a:t>
            </a:r>
            <a:endParaRPr lang="ja-JP" altLang="en-US">
              <a:solidFill>
                <a:srgbClr val="000000"/>
              </a:solidFill>
              <a:latin typeface="+mn-ea"/>
            </a:endParaRPr>
          </a:p>
        </p:txBody>
      </p:sp>
      <p:sp>
        <p:nvSpPr>
          <p:cNvPr id="18" name="四角形: 角を丸くする 17">
            <a:extLst>
              <a:ext uri="{FF2B5EF4-FFF2-40B4-BE49-F238E27FC236}">
                <a16:creationId xmlns:a16="http://schemas.microsoft.com/office/drawing/2014/main" id="{9537C07C-EF12-5AD3-7208-E6C0C7CBE0DA}"/>
              </a:ext>
            </a:extLst>
          </p:cNvPr>
          <p:cNvSpPr/>
          <p:nvPr/>
        </p:nvSpPr>
        <p:spPr>
          <a:xfrm>
            <a:off x="2124207" y="3813529"/>
            <a:ext cx="1730320" cy="560800"/>
          </a:xfrm>
          <a:prstGeom prst="roundRect">
            <a:avLst/>
          </a:prstGeom>
          <a:no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r>
              <a:rPr lang="ja-JP" altLang="en-US" dirty="0">
                <a:solidFill>
                  <a:srgbClr val="000000"/>
                </a:solidFill>
                <a:latin typeface="+mn-ea"/>
              </a:rPr>
              <a:t>改善：</a:t>
            </a:r>
            <a:r>
              <a:rPr lang="en-US" altLang="ja-JP" dirty="0">
                <a:solidFill>
                  <a:srgbClr val="000000"/>
                </a:solidFill>
                <a:latin typeface="+mn-ea"/>
              </a:rPr>
              <a:t>Action</a:t>
            </a:r>
            <a:endParaRPr lang="ja-JP" altLang="en-US" dirty="0">
              <a:solidFill>
                <a:srgbClr val="000000"/>
              </a:solidFill>
              <a:latin typeface="+mn-ea"/>
            </a:endParaRPr>
          </a:p>
        </p:txBody>
      </p:sp>
      <p:cxnSp>
        <p:nvCxnSpPr>
          <p:cNvPr id="19" name="コネクタ: カギ線 18">
            <a:extLst>
              <a:ext uri="{FF2B5EF4-FFF2-40B4-BE49-F238E27FC236}">
                <a16:creationId xmlns:a16="http://schemas.microsoft.com/office/drawing/2014/main" id="{B0A7C9F3-89EE-5EE3-ADEF-BECBE20B79F3}"/>
              </a:ext>
            </a:extLst>
          </p:cNvPr>
          <p:cNvCxnSpPr>
            <a:cxnSpLocks/>
          </p:cNvCxnSpPr>
          <p:nvPr/>
        </p:nvCxnSpPr>
        <p:spPr>
          <a:xfrm rot="5400000">
            <a:off x="5971243" y="4186684"/>
            <a:ext cx="688621" cy="1063912"/>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AF3E98DE-8CF7-805A-6D46-FF55292C1FC9}"/>
              </a:ext>
            </a:extLst>
          </p:cNvPr>
          <p:cNvCxnSpPr>
            <a:cxnSpLocks/>
          </p:cNvCxnSpPr>
          <p:nvPr/>
        </p:nvCxnSpPr>
        <p:spPr>
          <a:xfrm rot="10800000">
            <a:off x="2989368" y="4374331"/>
            <a:ext cx="1063909" cy="688621"/>
          </a:xfrm>
          <a:prstGeom prst="bentConnector2">
            <a:avLst/>
          </a:prstGeom>
          <a:ln>
            <a:solidFill>
              <a:srgbClr val="007B7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コネクタ: カギ線 20">
            <a:extLst>
              <a:ext uri="{FF2B5EF4-FFF2-40B4-BE49-F238E27FC236}">
                <a16:creationId xmlns:a16="http://schemas.microsoft.com/office/drawing/2014/main" id="{FC6F4373-6968-C18C-AD5F-5108975ECF2C}"/>
              </a:ext>
            </a:extLst>
          </p:cNvPr>
          <p:cNvCxnSpPr>
            <a:cxnSpLocks/>
          </p:cNvCxnSpPr>
          <p:nvPr/>
        </p:nvCxnSpPr>
        <p:spPr>
          <a:xfrm rot="5400000" flipH="1" flipV="1">
            <a:off x="3175031" y="2935285"/>
            <a:ext cx="692583" cy="1063909"/>
          </a:xfrm>
          <a:prstGeom prst="bentConnector2">
            <a:avLst/>
          </a:prstGeom>
          <a:ln>
            <a:solidFill>
              <a:srgbClr val="007B7E"/>
            </a:solidFill>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34076BEA-EC10-54F7-ADAD-1C39BD402534}"/>
              </a:ext>
            </a:extLst>
          </p:cNvPr>
          <p:cNvCxnSpPr>
            <a:cxnSpLocks/>
          </p:cNvCxnSpPr>
          <p:nvPr/>
        </p:nvCxnSpPr>
        <p:spPr>
          <a:xfrm>
            <a:off x="5783596" y="3120948"/>
            <a:ext cx="1063912" cy="692583"/>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014D0435-9EC6-7074-3999-BB2295B61263}"/>
              </a:ext>
            </a:extLst>
          </p:cNvPr>
          <p:cNvCxnSpPr>
            <a:cxnSpLocks/>
          </p:cNvCxnSpPr>
          <p:nvPr/>
        </p:nvCxnSpPr>
        <p:spPr>
          <a:xfrm>
            <a:off x="4773277" y="3401345"/>
            <a:ext cx="0" cy="315292"/>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45E83C4-0572-1412-4E62-BBF180895748}"/>
              </a:ext>
            </a:extLst>
          </p:cNvPr>
          <p:cNvCxnSpPr>
            <a:cxnSpLocks/>
          </p:cNvCxnSpPr>
          <p:nvPr/>
        </p:nvCxnSpPr>
        <p:spPr>
          <a:xfrm flipV="1">
            <a:off x="5054512" y="3401345"/>
            <a:ext cx="0" cy="311326"/>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8235C9A6-83D8-2893-2791-8676BCCFC81F}"/>
              </a:ext>
            </a:extLst>
          </p:cNvPr>
          <p:cNvCxnSpPr>
            <a:cxnSpLocks/>
          </p:cNvCxnSpPr>
          <p:nvPr/>
        </p:nvCxnSpPr>
        <p:spPr>
          <a:xfrm>
            <a:off x="4773277" y="4467256"/>
            <a:ext cx="0" cy="315292"/>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9E081FE1-626C-86C9-FA77-FD875F4BB89E}"/>
              </a:ext>
            </a:extLst>
          </p:cNvPr>
          <p:cNvCxnSpPr>
            <a:cxnSpLocks/>
          </p:cNvCxnSpPr>
          <p:nvPr/>
        </p:nvCxnSpPr>
        <p:spPr>
          <a:xfrm flipV="1">
            <a:off x="5054512" y="4471223"/>
            <a:ext cx="0" cy="311326"/>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0AEBFCC5-A0D6-1DAB-8A42-9D4B805A2CC9}"/>
              </a:ext>
            </a:extLst>
          </p:cNvPr>
          <p:cNvCxnSpPr>
            <a:cxnSpLocks/>
          </p:cNvCxnSpPr>
          <p:nvPr/>
        </p:nvCxnSpPr>
        <p:spPr>
          <a:xfrm flipV="1">
            <a:off x="3859864" y="4184647"/>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A1CEBA17-F0F4-6EB1-11F4-7492DAA139D2}"/>
              </a:ext>
            </a:extLst>
          </p:cNvPr>
          <p:cNvCxnSpPr>
            <a:cxnSpLocks/>
          </p:cNvCxnSpPr>
          <p:nvPr/>
        </p:nvCxnSpPr>
        <p:spPr>
          <a:xfrm flipH="1" flipV="1">
            <a:off x="3854528" y="3982594"/>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7BCB235A-2692-274D-8800-0AD5CF407B00}"/>
              </a:ext>
            </a:extLst>
          </p:cNvPr>
          <p:cNvCxnSpPr>
            <a:cxnSpLocks/>
          </p:cNvCxnSpPr>
          <p:nvPr/>
        </p:nvCxnSpPr>
        <p:spPr>
          <a:xfrm flipV="1">
            <a:off x="5564838" y="4184647"/>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063CEF47-E322-2A04-5A5A-6C419F3C7633}"/>
              </a:ext>
            </a:extLst>
          </p:cNvPr>
          <p:cNvCxnSpPr>
            <a:cxnSpLocks/>
          </p:cNvCxnSpPr>
          <p:nvPr/>
        </p:nvCxnSpPr>
        <p:spPr>
          <a:xfrm flipH="1" flipV="1">
            <a:off x="5559502" y="3982594"/>
            <a:ext cx="411291" cy="1"/>
          </a:xfrm>
          <a:prstGeom prst="straightConnector1">
            <a:avLst/>
          </a:prstGeom>
          <a:ln w="952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CEA0AAF-8836-5238-D829-1035191DEAF2}"/>
              </a:ext>
            </a:extLst>
          </p:cNvPr>
          <p:cNvSpPr txBox="1"/>
          <p:nvPr/>
        </p:nvSpPr>
        <p:spPr>
          <a:xfrm>
            <a:off x="2059197" y="2462383"/>
            <a:ext cx="5718481" cy="307777"/>
          </a:xfrm>
          <a:prstGeom prst="rect">
            <a:avLst/>
          </a:prstGeom>
          <a:noFill/>
        </p:spPr>
        <p:txBody>
          <a:bodyPr wrap="square" rtlCol="0">
            <a:spAutoFit/>
          </a:bodyPr>
          <a:lstStyle/>
          <a:p>
            <a:pPr algn="ctr" defTabSz="925880"/>
            <a:r>
              <a:rPr lang="ja-JP" altLang="en-US" sz="1400" b="1" dirty="0">
                <a:solidFill>
                  <a:srgbClr val="002060"/>
                </a:solidFill>
                <a:latin typeface="+mn-ea"/>
              </a:rPr>
              <a:t>① タスク分解、優先順位の実施、ワークフロー（思考ロジック）の検討</a:t>
            </a:r>
          </a:p>
        </p:txBody>
      </p:sp>
      <p:sp>
        <p:nvSpPr>
          <p:cNvPr id="32" name="テキスト ボックス 31">
            <a:extLst>
              <a:ext uri="{FF2B5EF4-FFF2-40B4-BE49-F238E27FC236}">
                <a16:creationId xmlns:a16="http://schemas.microsoft.com/office/drawing/2014/main" id="{95C8C441-9C5C-7AB3-D24B-A91731F8A869}"/>
              </a:ext>
            </a:extLst>
          </p:cNvPr>
          <p:cNvSpPr txBox="1"/>
          <p:nvPr/>
        </p:nvSpPr>
        <p:spPr>
          <a:xfrm>
            <a:off x="6847510" y="4394630"/>
            <a:ext cx="2451105" cy="932563"/>
          </a:xfrm>
          <a:prstGeom prst="rect">
            <a:avLst/>
          </a:prstGeom>
          <a:noFill/>
        </p:spPr>
        <p:txBody>
          <a:bodyPr wrap="square" rtlCol="0">
            <a:spAutoFit/>
          </a:bodyPr>
          <a:lstStyle/>
          <a:p>
            <a:pPr algn="ctr" defTabSz="925880">
              <a:lnSpc>
                <a:spcPct val="130000"/>
              </a:lnSpc>
            </a:pPr>
            <a:r>
              <a:rPr lang="ja-JP" altLang="en-US" sz="1400" b="1" dirty="0">
                <a:solidFill>
                  <a:srgbClr val="002060"/>
                </a:solidFill>
                <a:latin typeface="+mn-ea"/>
              </a:rPr>
              <a:t>② 優先度の高いものから</a:t>
            </a:r>
            <a:endParaRPr lang="en-US" altLang="ja-JP" sz="1400" b="1" dirty="0">
              <a:solidFill>
                <a:srgbClr val="002060"/>
              </a:solidFill>
              <a:latin typeface="+mn-ea"/>
            </a:endParaRPr>
          </a:p>
          <a:p>
            <a:pPr algn="ctr" defTabSz="925880">
              <a:lnSpc>
                <a:spcPct val="130000"/>
              </a:lnSpc>
            </a:pPr>
            <a:r>
              <a:rPr lang="ja-JP" altLang="en-US" sz="1400" b="1" dirty="0">
                <a:solidFill>
                  <a:srgbClr val="002060"/>
                </a:solidFill>
                <a:latin typeface="+mn-ea"/>
              </a:rPr>
              <a:t>プロンプトを実行し、</a:t>
            </a:r>
            <a:endParaRPr lang="en-US" altLang="ja-JP" sz="1400" b="1" dirty="0">
              <a:solidFill>
                <a:srgbClr val="002060"/>
              </a:solidFill>
              <a:latin typeface="+mn-ea"/>
            </a:endParaRPr>
          </a:p>
          <a:p>
            <a:pPr algn="ctr" defTabSz="925880">
              <a:lnSpc>
                <a:spcPct val="130000"/>
              </a:lnSpc>
            </a:pPr>
            <a:r>
              <a:rPr lang="en-US" altLang="ja-JP" sz="1400" b="1" dirty="0">
                <a:solidFill>
                  <a:srgbClr val="002060"/>
                </a:solidFill>
                <a:latin typeface="+mn-ea"/>
              </a:rPr>
              <a:t>LLM</a:t>
            </a:r>
            <a:r>
              <a:rPr lang="ja-JP" altLang="en-US" sz="1400" b="1" dirty="0">
                <a:solidFill>
                  <a:srgbClr val="002060"/>
                </a:solidFill>
                <a:latin typeface="+mn-ea"/>
              </a:rPr>
              <a:t>と対話・行動を繰り返す</a:t>
            </a:r>
          </a:p>
        </p:txBody>
      </p:sp>
      <p:sp>
        <p:nvSpPr>
          <p:cNvPr id="33" name="テキスト ボックス 32">
            <a:extLst>
              <a:ext uri="{FF2B5EF4-FFF2-40B4-BE49-F238E27FC236}">
                <a16:creationId xmlns:a16="http://schemas.microsoft.com/office/drawing/2014/main" id="{B8882913-EE31-5519-F57F-6EBDCBFE5F6C}"/>
              </a:ext>
            </a:extLst>
          </p:cNvPr>
          <p:cNvSpPr txBox="1"/>
          <p:nvPr/>
        </p:nvSpPr>
        <p:spPr>
          <a:xfrm>
            <a:off x="3556360" y="5515511"/>
            <a:ext cx="2724154" cy="932563"/>
          </a:xfrm>
          <a:prstGeom prst="rect">
            <a:avLst/>
          </a:prstGeom>
          <a:noFill/>
        </p:spPr>
        <p:txBody>
          <a:bodyPr wrap="square" rtlCol="0">
            <a:spAutoFit/>
          </a:bodyPr>
          <a:lstStyle/>
          <a:p>
            <a:pPr algn="ctr" defTabSz="925880">
              <a:lnSpc>
                <a:spcPct val="130000"/>
              </a:lnSpc>
            </a:pPr>
            <a:r>
              <a:rPr lang="ja-JP" altLang="en-US" sz="1400" b="1" dirty="0">
                <a:solidFill>
                  <a:srgbClr val="002060"/>
                </a:solidFill>
                <a:latin typeface="+mn-ea"/>
              </a:rPr>
              <a:t>③ 出力結果を評価し</a:t>
            </a:r>
            <a:endParaRPr lang="en-US" altLang="ja-JP" sz="1400" b="1" dirty="0">
              <a:solidFill>
                <a:srgbClr val="002060"/>
              </a:solidFill>
              <a:latin typeface="+mn-ea"/>
            </a:endParaRPr>
          </a:p>
          <a:p>
            <a:pPr algn="ctr" defTabSz="925880">
              <a:lnSpc>
                <a:spcPct val="130000"/>
              </a:lnSpc>
            </a:pPr>
            <a:r>
              <a:rPr lang="ja-JP" altLang="en-US" sz="1400" b="1" dirty="0">
                <a:solidFill>
                  <a:srgbClr val="002060"/>
                </a:solidFill>
                <a:latin typeface="+mn-ea"/>
              </a:rPr>
              <a:t>業務が遂行されたかの可否を判断</a:t>
            </a:r>
            <a:endParaRPr lang="en-US" altLang="ja-JP" sz="1400" b="1" dirty="0">
              <a:solidFill>
                <a:srgbClr val="002060"/>
              </a:solidFill>
              <a:latin typeface="+mn-ea"/>
            </a:endParaRPr>
          </a:p>
          <a:p>
            <a:pPr algn="ctr" defTabSz="925880">
              <a:lnSpc>
                <a:spcPct val="130000"/>
              </a:lnSpc>
            </a:pPr>
            <a:r>
              <a:rPr lang="ja-JP" altLang="en-US" sz="1400" b="1" dirty="0">
                <a:solidFill>
                  <a:srgbClr val="002060"/>
                </a:solidFill>
                <a:latin typeface="+mn-ea"/>
              </a:rPr>
              <a:t>→ 結果を基に再度</a:t>
            </a:r>
            <a:r>
              <a:rPr lang="en-US" altLang="ja-JP" sz="1400" b="1" dirty="0">
                <a:solidFill>
                  <a:srgbClr val="002060"/>
                </a:solidFill>
                <a:latin typeface="+mn-ea"/>
              </a:rPr>
              <a:t>PDCA</a:t>
            </a:r>
            <a:r>
              <a:rPr lang="ja-JP" altLang="en-US" sz="1400" b="1" dirty="0">
                <a:solidFill>
                  <a:srgbClr val="002060"/>
                </a:solidFill>
                <a:latin typeface="+mn-ea"/>
              </a:rPr>
              <a:t>を回す</a:t>
            </a:r>
            <a:endParaRPr lang="en-US" altLang="ja-JP" sz="1400" b="1" dirty="0">
              <a:solidFill>
                <a:srgbClr val="002060"/>
              </a:solidFill>
              <a:latin typeface="+mn-ea"/>
            </a:endParaRPr>
          </a:p>
        </p:txBody>
      </p:sp>
      <p:sp>
        <p:nvSpPr>
          <p:cNvPr id="34" name="テキスト ボックス 33">
            <a:extLst>
              <a:ext uri="{FF2B5EF4-FFF2-40B4-BE49-F238E27FC236}">
                <a16:creationId xmlns:a16="http://schemas.microsoft.com/office/drawing/2014/main" id="{849CE8E8-152F-C69A-D680-31016E41DC62}"/>
              </a:ext>
            </a:extLst>
          </p:cNvPr>
          <p:cNvSpPr txBox="1"/>
          <p:nvPr/>
        </p:nvSpPr>
        <p:spPr>
          <a:xfrm>
            <a:off x="446757" y="4460749"/>
            <a:ext cx="2451105" cy="932563"/>
          </a:xfrm>
          <a:prstGeom prst="rect">
            <a:avLst/>
          </a:prstGeom>
          <a:noFill/>
        </p:spPr>
        <p:txBody>
          <a:bodyPr wrap="square" rtlCol="0">
            <a:spAutoFit/>
          </a:bodyPr>
          <a:lstStyle/>
          <a:p>
            <a:pPr algn="ctr" defTabSz="925880">
              <a:lnSpc>
                <a:spcPct val="130000"/>
              </a:lnSpc>
            </a:pPr>
            <a:r>
              <a:rPr lang="ja-JP" altLang="en-US" sz="1400" b="1" dirty="0">
                <a:solidFill>
                  <a:srgbClr val="002060"/>
                </a:solidFill>
                <a:latin typeface="+mn-ea"/>
              </a:rPr>
              <a:t>② </a:t>
            </a:r>
            <a:r>
              <a:rPr lang="en-US" altLang="ja-JP" sz="1400" b="1" dirty="0">
                <a:solidFill>
                  <a:srgbClr val="002060"/>
                </a:solidFill>
                <a:latin typeface="+mn-ea"/>
              </a:rPr>
              <a:t>PDC</a:t>
            </a:r>
            <a:r>
              <a:rPr lang="ja-JP" altLang="en-US" sz="1400" b="1" dirty="0">
                <a:solidFill>
                  <a:srgbClr val="002060"/>
                </a:solidFill>
                <a:latin typeface="+mn-ea"/>
              </a:rPr>
              <a:t>の結果を基に</a:t>
            </a:r>
            <a:endParaRPr lang="en-US" altLang="ja-JP" sz="1400" b="1" dirty="0">
              <a:solidFill>
                <a:srgbClr val="002060"/>
              </a:solidFill>
              <a:latin typeface="+mn-ea"/>
            </a:endParaRPr>
          </a:p>
          <a:p>
            <a:pPr algn="ctr" defTabSz="925880">
              <a:lnSpc>
                <a:spcPct val="130000"/>
              </a:lnSpc>
            </a:pPr>
            <a:r>
              <a:rPr lang="ja-JP" altLang="en-US" sz="1400" b="1" dirty="0">
                <a:solidFill>
                  <a:srgbClr val="002060"/>
                </a:solidFill>
                <a:latin typeface="+mn-ea"/>
              </a:rPr>
              <a:t>振り返って自己改善に務める</a:t>
            </a:r>
            <a:endParaRPr lang="en-US" altLang="ja-JP" sz="1400" b="1" dirty="0">
              <a:solidFill>
                <a:srgbClr val="002060"/>
              </a:solidFill>
              <a:latin typeface="+mn-ea"/>
            </a:endParaRPr>
          </a:p>
          <a:p>
            <a:pPr algn="ctr" defTabSz="925880">
              <a:lnSpc>
                <a:spcPct val="130000"/>
              </a:lnSpc>
            </a:pPr>
            <a:r>
              <a:rPr lang="ja-JP" altLang="en-US" sz="1400" b="1" dirty="0">
                <a:solidFill>
                  <a:srgbClr val="002060"/>
                </a:solidFill>
                <a:latin typeface="+mn-ea"/>
              </a:rPr>
              <a:t>→ 失敗した場合も</a:t>
            </a:r>
            <a:r>
              <a:rPr lang="ja-JP" altLang="en-US" sz="1400" b="1" u="sng" dirty="0">
                <a:solidFill>
                  <a:srgbClr val="002060"/>
                </a:solidFill>
                <a:latin typeface="+mn-ea"/>
              </a:rPr>
              <a:t>結果を記憶</a:t>
            </a:r>
            <a:endParaRPr lang="en-US" altLang="ja-JP" sz="1400" b="1" u="sng" dirty="0">
              <a:solidFill>
                <a:srgbClr val="002060"/>
              </a:solidFill>
              <a:latin typeface="+mn-ea"/>
            </a:endParaRPr>
          </a:p>
        </p:txBody>
      </p:sp>
    </p:spTree>
    <p:extLst>
      <p:ext uri="{BB962C8B-B14F-4D97-AF65-F5344CB8AC3E}">
        <p14:creationId xmlns:p14="http://schemas.microsoft.com/office/powerpoint/2010/main" val="4019763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500F-4DBF-37A7-277A-FFAEBCA84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8CD51F-6960-CC19-BE92-43FC151E9BFE}"/>
              </a:ext>
            </a:extLst>
          </p:cNvPr>
          <p:cNvSpPr>
            <a:spLocks noGrp="1"/>
          </p:cNvSpPr>
          <p:nvPr>
            <p:ph type="title"/>
          </p:nvPr>
        </p:nvSpPr>
        <p:spPr/>
        <p:txBody>
          <a:bodyPr>
            <a:normAutofit/>
          </a:bodyPr>
          <a:lstStyle/>
          <a:p>
            <a:r>
              <a:rPr lang="en-US" altLang="ja-JP" dirty="0">
                <a:latin typeface="+mn-ea"/>
                <a:ea typeface="+mn-ea"/>
              </a:rPr>
              <a:t>3-8. </a:t>
            </a:r>
            <a:r>
              <a:rPr lang="ja-JP" altLang="en-US" dirty="0">
                <a:latin typeface="+mn-ea"/>
                <a:ea typeface="+mn-ea"/>
              </a:rPr>
              <a:t>本モジュールで学ぶこと③</a:t>
            </a:r>
          </a:p>
        </p:txBody>
      </p:sp>
      <p:sp>
        <p:nvSpPr>
          <p:cNvPr id="4" name="Google Shape;583;p3">
            <a:extLst>
              <a:ext uri="{FF2B5EF4-FFF2-40B4-BE49-F238E27FC236}">
                <a16:creationId xmlns:a16="http://schemas.microsoft.com/office/drawing/2014/main" id="{D1591379-9BEE-AB03-DC4A-65A500152495}"/>
              </a:ext>
            </a:extLst>
          </p:cNvPr>
          <p:cNvSpPr txBox="1"/>
          <p:nvPr/>
        </p:nvSpPr>
        <p:spPr>
          <a:xfrm>
            <a:off x="258884" y="1329619"/>
            <a:ext cx="2898605" cy="541362"/>
          </a:xfrm>
          <a:prstGeom prst="rect">
            <a:avLst/>
          </a:prstGeom>
          <a:solidFill>
            <a:srgbClr val="9DC6C0"/>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01</a:t>
            </a:r>
            <a:endParaRPr lang="ja-JP" altLang="en-US" sz="2000" b="1" dirty="0">
              <a:solidFill>
                <a:srgbClr val="FFFFFF"/>
              </a:solidFill>
              <a:latin typeface="+mn-ea"/>
              <a:cs typeface="MS PGothic"/>
              <a:sym typeface="MS PGothic"/>
            </a:endParaRPr>
          </a:p>
        </p:txBody>
      </p:sp>
      <p:sp>
        <p:nvSpPr>
          <p:cNvPr id="6" name="Google Shape;583;p3">
            <a:extLst>
              <a:ext uri="{FF2B5EF4-FFF2-40B4-BE49-F238E27FC236}">
                <a16:creationId xmlns:a16="http://schemas.microsoft.com/office/drawing/2014/main" id="{A4401AC0-371B-0BFA-3907-55EE4F1C67FD}"/>
              </a:ext>
            </a:extLst>
          </p:cNvPr>
          <p:cNvSpPr txBox="1"/>
          <p:nvPr/>
        </p:nvSpPr>
        <p:spPr>
          <a:xfrm>
            <a:off x="3474994" y="1329619"/>
            <a:ext cx="2898605" cy="541362"/>
          </a:xfrm>
          <a:prstGeom prst="rect">
            <a:avLst/>
          </a:prstGeom>
          <a:solidFill>
            <a:srgbClr val="6CAABF"/>
          </a:solidFill>
          <a:ln>
            <a:noFill/>
          </a:ln>
        </p:spPr>
        <p:txBody>
          <a:bodyPr spcFirstLastPara="1" wrap="square" lIns="91425" tIns="45700" rIns="91425" bIns="45700" anchor="ctr" anchorCtr="0">
            <a:noAutofit/>
          </a:bodyPr>
          <a:lstStyle/>
          <a:p>
            <a:pPr algn="ctr" defTabSz="925880"/>
            <a:r>
              <a:rPr lang="en-US" altLang="ja-JP" sz="2000" b="1" dirty="0">
                <a:solidFill>
                  <a:srgbClr val="FFFFFF"/>
                </a:solidFill>
                <a:latin typeface="+mn-ea"/>
                <a:cs typeface="MS PGothic"/>
                <a:sym typeface="MS PGothic"/>
              </a:rPr>
              <a:t>02</a:t>
            </a:r>
            <a:endParaRPr lang="ja-JP" altLang="en-US" sz="2000" b="1" dirty="0">
              <a:solidFill>
                <a:srgbClr val="FFFFFF"/>
              </a:solidFill>
              <a:latin typeface="+mn-ea"/>
              <a:cs typeface="MS PGothic"/>
              <a:sym typeface="MS PGothic"/>
            </a:endParaRPr>
          </a:p>
        </p:txBody>
      </p:sp>
      <p:sp>
        <p:nvSpPr>
          <p:cNvPr id="9" name="Google Shape;583;p3">
            <a:extLst>
              <a:ext uri="{FF2B5EF4-FFF2-40B4-BE49-F238E27FC236}">
                <a16:creationId xmlns:a16="http://schemas.microsoft.com/office/drawing/2014/main" id="{E29A9BA3-9740-EF18-F334-8849E5070AF8}"/>
              </a:ext>
            </a:extLst>
          </p:cNvPr>
          <p:cNvSpPr txBox="1"/>
          <p:nvPr/>
        </p:nvSpPr>
        <p:spPr>
          <a:xfrm>
            <a:off x="6549704" y="1329619"/>
            <a:ext cx="2898605" cy="541362"/>
          </a:xfrm>
          <a:prstGeom prst="rect">
            <a:avLst/>
          </a:prstGeom>
          <a:solidFill>
            <a:srgbClr val="2B88C2"/>
          </a:solidFill>
          <a:ln>
            <a:noFill/>
          </a:ln>
        </p:spPr>
        <p:txBody>
          <a:bodyPr spcFirstLastPara="1" wrap="square" lIns="91425" tIns="45700" rIns="91425" bIns="45700" anchor="ctr" anchorCtr="0">
            <a:noAutofit/>
          </a:bodyPr>
          <a:lstStyle/>
          <a:p>
            <a:pPr algn="ctr" defTabSz="925880"/>
            <a:r>
              <a:rPr lang="en-US" altLang="zh-TW" sz="2000" b="1" dirty="0">
                <a:solidFill>
                  <a:srgbClr val="FFFFFF"/>
                </a:solidFill>
                <a:latin typeface="+mn-ea"/>
                <a:cs typeface="MS PGothic"/>
                <a:sym typeface="MS PGothic"/>
              </a:rPr>
              <a:t>03</a:t>
            </a:r>
            <a:endParaRPr lang="ja-JP" altLang="en-US" sz="2000" b="1" dirty="0">
              <a:solidFill>
                <a:srgbClr val="FFFFFF"/>
              </a:solidFill>
              <a:latin typeface="+mn-ea"/>
              <a:cs typeface="MS PGothic"/>
              <a:sym typeface="MS PGothic"/>
            </a:endParaRPr>
          </a:p>
        </p:txBody>
      </p:sp>
      <p:sp>
        <p:nvSpPr>
          <p:cNvPr id="28" name="Google Shape;601;p3">
            <a:extLst>
              <a:ext uri="{FF2B5EF4-FFF2-40B4-BE49-F238E27FC236}">
                <a16:creationId xmlns:a16="http://schemas.microsoft.com/office/drawing/2014/main" id="{A0C9F144-9F72-3AC4-EFE0-38EAAB28F4F3}"/>
              </a:ext>
            </a:extLst>
          </p:cNvPr>
          <p:cNvSpPr/>
          <p:nvPr/>
        </p:nvSpPr>
        <p:spPr>
          <a:xfrm>
            <a:off x="25888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3" name="Google Shape;601;p3">
            <a:extLst>
              <a:ext uri="{FF2B5EF4-FFF2-40B4-BE49-F238E27FC236}">
                <a16:creationId xmlns:a16="http://schemas.microsoft.com/office/drawing/2014/main" id="{B25D7664-E892-4CCF-DC76-74CEE475C367}"/>
              </a:ext>
            </a:extLst>
          </p:cNvPr>
          <p:cNvSpPr/>
          <p:nvPr/>
        </p:nvSpPr>
        <p:spPr>
          <a:xfrm>
            <a:off x="3474994"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37" name="Google Shape;601;p3">
            <a:extLst>
              <a:ext uri="{FF2B5EF4-FFF2-40B4-BE49-F238E27FC236}">
                <a16:creationId xmlns:a16="http://schemas.microsoft.com/office/drawing/2014/main" id="{8237323F-61C8-7778-1107-D1342569B8C2}"/>
              </a:ext>
            </a:extLst>
          </p:cNvPr>
          <p:cNvSpPr/>
          <p:nvPr/>
        </p:nvSpPr>
        <p:spPr>
          <a:xfrm>
            <a:off x="6549110" y="2101253"/>
            <a:ext cx="2898605" cy="3576637"/>
          </a:xfrm>
          <a:prstGeom prst="rect">
            <a:avLst/>
          </a:prstGeom>
          <a:noFill/>
          <a:ln w="28575" cap="flat" cmpd="sng">
            <a:solidFill>
              <a:schemeClr val="bg1">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algn="ctr" defTabSz="925880"/>
            <a:endParaRPr sz="2000">
              <a:solidFill>
                <a:srgbClr val="000000">
                  <a:lumMod val="85000"/>
                  <a:lumOff val="15000"/>
                </a:srgbClr>
              </a:solidFill>
              <a:latin typeface="+mn-ea"/>
              <a:cs typeface="MS PGothic"/>
              <a:sym typeface="MS PGothic"/>
            </a:endParaRPr>
          </a:p>
        </p:txBody>
      </p:sp>
      <p:sp>
        <p:nvSpPr>
          <p:cNvPr id="5" name="テキスト ボックス 4">
            <a:extLst>
              <a:ext uri="{FF2B5EF4-FFF2-40B4-BE49-F238E27FC236}">
                <a16:creationId xmlns:a16="http://schemas.microsoft.com/office/drawing/2014/main" id="{7E708CA5-D8DA-59B5-4662-4A2430B8AA0B}"/>
              </a:ext>
            </a:extLst>
          </p:cNvPr>
          <p:cNvSpPr txBox="1"/>
          <p:nvPr/>
        </p:nvSpPr>
        <p:spPr>
          <a:xfrm>
            <a:off x="258884" y="2305157"/>
            <a:ext cx="2898605" cy="461665"/>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① </a:t>
            </a:r>
            <a:r>
              <a:rPr lang="en-US" altLang="ja-JP" sz="2000" b="1" dirty="0">
                <a:solidFill>
                  <a:srgbClr val="000000"/>
                </a:solidFill>
                <a:latin typeface="+mn-ea"/>
              </a:rPr>
              <a:t>NTT</a:t>
            </a:r>
            <a:r>
              <a:rPr lang="ja-JP" altLang="en-US" sz="2000" b="1" dirty="0">
                <a:solidFill>
                  <a:srgbClr val="000000"/>
                </a:solidFill>
                <a:latin typeface="+mn-ea"/>
              </a:rPr>
              <a:t>データの</a:t>
            </a:r>
            <a:r>
              <a:rPr lang="en-US" altLang="ja-JP" sz="2000" b="1" dirty="0">
                <a:solidFill>
                  <a:srgbClr val="000000"/>
                </a:solidFill>
                <a:latin typeface="+mn-ea"/>
              </a:rPr>
              <a:t>AI</a:t>
            </a:r>
            <a:r>
              <a:rPr lang="ja-JP" altLang="en-US" sz="2000" b="1" dirty="0">
                <a:solidFill>
                  <a:srgbClr val="000000"/>
                </a:solidFill>
                <a:latin typeface="+mn-ea"/>
              </a:rPr>
              <a:t>戦略</a:t>
            </a:r>
          </a:p>
        </p:txBody>
      </p:sp>
      <p:cxnSp>
        <p:nvCxnSpPr>
          <p:cNvPr id="10" name="直線コネクタ 9">
            <a:extLst>
              <a:ext uri="{FF2B5EF4-FFF2-40B4-BE49-F238E27FC236}">
                <a16:creationId xmlns:a16="http://schemas.microsoft.com/office/drawing/2014/main" id="{2777A8BD-1768-BBA2-F37A-723CA9716B40}"/>
              </a:ext>
            </a:extLst>
          </p:cNvPr>
          <p:cNvCxnSpPr>
            <a:cxnSpLocks/>
          </p:cNvCxnSpPr>
          <p:nvPr/>
        </p:nvCxnSpPr>
        <p:spPr>
          <a:xfrm>
            <a:off x="46232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27840DA-733D-DE65-FC86-6DF60046DFB5}"/>
              </a:ext>
            </a:extLst>
          </p:cNvPr>
          <p:cNvSpPr txBox="1"/>
          <p:nvPr/>
        </p:nvSpPr>
        <p:spPr>
          <a:xfrm>
            <a:off x="302070" y="3643453"/>
            <a:ext cx="2799185" cy="1569660"/>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a:t>
            </a:r>
            <a:r>
              <a:rPr lang="en-US" altLang="ja-JP" sz="2000" dirty="0">
                <a:solidFill>
                  <a:srgbClr val="000000"/>
                </a:solidFill>
                <a:latin typeface="+mn-ea"/>
              </a:rPr>
              <a:t>Quality Growth</a:t>
            </a:r>
            <a:r>
              <a:rPr lang="ja-JP" altLang="en-US" sz="2000" dirty="0">
                <a:solidFill>
                  <a:srgbClr val="000000"/>
                </a:solidFill>
                <a:latin typeface="+mn-ea"/>
              </a:rPr>
              <a:t>」を掲げ、</a:t>
            </a:r>
            <a:r>
              <a:rPr lang="en-US" altLang="ja-JP" sz="2000" dirty="0">
                <a:solidFill>
                  <a:srgbClr val="000000"/>
                </a:solidFill>
                <a:latin typeface="+mn-ea"/>
              </a:rPr>
              <a:t>AI</a:t>
            </a:r>
            <a:r>
              <a:rPr lang="ja-JP" altLang="en-US" sz="2000" dirty="0">
                <a:solidFill>
                  <a:srgbClr val="000000"/>
                </a:solidFill>
                <a:latin typeface="+mn-ea"/>
              </a:rPr>
              <a:t>をどのように事業の中核に据えているかを理解する。</a:t>
            </a:r>
          </a:p>
        </p:txBody>
      </p:sp>
      <p:sp>
        <p:nvSpPr>
          <p:cNvPr id="12" name="テキスト ボックス 11">
            <a:extLst>
              <a:ext uri="{FF2B5EF4-FFF2-40B4-BE49-F238E27FC236}">
                <a16:creationId xmlns:a16="http://schemas.microsoft.com/office/drawing/2014/main" id="{EA25EA7E-2A03-D74A-04B9-20165B009B4A}"/>
              </a:ext>
            </a:extLst>
          </p:cNvPr>
          <p:cNvSpPr txBox="1"/>
          <p:nvPr/>
        </p:nvSpPr>
        <p:spPr>
          <a:xfrm>
            <a:off x="3474994" y="2299052"/>
            <a:ext cx="2895249" cy="830997"/>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② 生成</a:t>
            </a:r>
            <a:r>
              <a:rPr lang="en-US" altLang="ja-JP" sz="2000" b="1" dirty="0">
                <a:solidFill>
                  <a:srgbClr val="000000"/>
                </a:solidFill>
                <a:latin typeface="+mn-ea"/>
              </a:rPr>
              <a:t>AI</a:t>
            </a:r>
            <a:r>
              <a:rPr lang="ja-JP" altLang="en-US" sz="2000" b="1" dirty="0">
                <a:solidFill>
                  <a:srgbClr val="000000"/>
                </a:solidFill>
                <a:latin typeface="+mn-ea"/>
              </a:rPr>
              <a:t>の進化と</a:t>
            </a:r>
            <a:r>
              <a:rPr lang="en-US" altLang="ja-JP" sz="2000" b="1" dirty="0">
                <a:solidFill>
                  <a:srgbClr val="000000"/>
                </a:solidFill>
                <a:latin typeface="+mn-ea"/>
              </a:rPr>
              <a:t>Agentic AI</a:t>
            </a:r>
          </a:p>
        </p:txBody>
      </p:sp>
      <p:sp>
        <p:nvSpPr>
          <p:cNvPr id="14" name="テキスト ボックス 13">
            <a:extLst>
              <a:ext uri="{FF2B5EF4-FFF2-40B4-BE49-F238E27FC236}">
                <a16:creationId xmlns:a16="http://schemas.microsoft.com/office/drawing/2014/main" id="{480C0C1F-999E-2FEB-411A-429A52C134BD}"/>
              </a:ext>
            </a:extLst>
          </p:cNvPr>
          <p:cNvSpPr txBox="1"/>
          <p:nvPr/>
        </p:nvSpPr>
        <p:spPr>
          <a:xfrm>
            <a:off x="3518181" y="3643453"/>
            <a:ext cx="2799185" cy="1897571"/>
          </a:xfrm>
          <a:prstGeom prst="rect">
            <a:avLst/>
          </a:prstGeom>
          <a:noFill/>
        </p:spPr>
        <p:txBody>
          <a:bodyPr wrap="square">
            <a:spAutoFit/>
          </a:bodyPr>
          <a:lstStyle/>
          <a:p>
            <a:pPr defTabSz="925880">
              <a:lnSpc>
                <a:spcPct val="120000"/>
              </a:lnSpc>
            </a:pPr>
            <a:r>
              <a:rPr lang="ja-JP" altLang="en-US" sz="2000" dirty="0">
                <a:solidFill>
                  <a:srgbClr val="000000"/>
                </a:solidFill>
                <a:latin typeface="+mn-ea"/>
              </a:rPr>
              <a:t>生成</a:t>
            </a:r>
            <a:r>
              <a:rPr lang="en-US" altLang="ja-JP" sz="2000" dirty="0">
                <a:solidFill>
                  <a:srgbClr val="000000"/>
                </a:solidFill>
                <a:latin typeface="+mn-ea"/>
              </a:rPr>
              <a:t>AI</a:t>
            </a:r>
            <a:r>
              <a:rPr lang="ja-JP" altLang="en-US" sz="2000" dirty="0">
                <a:solidFill>
                  <a:srgbClr val="000000"/>
                </a:solidFill>
                <a:latin typeface="+mn-ea"/>
              </a:rPr>
              <a:t>が</a:t>
            </a:r>
            <a:r>
              <a:rPr lang="en-US" altLang="ja-JP" sz="2000" dirty="0">
                <a:solidFill>
                  <a:srgbClr val="000000"/>
                </a:solidFill>
                <a:latin typeface="+mn-ea"/>
              </a:rPr>
              <a:t>Level1</a:t>
            </a:r>
            <a:r>
              <a:rPr lang="ja-JP" altLang="en-US" sz="2000" dirty="0">
                <a:solidFill>
                  <a:srgbClr val="000000"/>
                </a:solidFill>
                <a:latin typeface="+mn-ea"/>
              </a:rPr>
              <a:t>（チャットボット）から</a:t>
            </a:r>
            <a:r>
              <a:rPr lang="en-US" altLang="ja-JP" sz="2000" dirty="0">
                <a:solidFill>
                  <a:srgbClr val="000000"/>
                </a:solidFill>
                <a:latin typeface="+mn-ea"/>
              </a:rPr>
              <a:t>Level3</a:t>
            </a:r>
            <a:r>
              <a:rPr lang="ja-JP" altLang="en-US" sz="2000" dirty="0">
                <a:solidFill>
                  <a:srgbClr val="000000"/>
                </a:solidFill>
                <a:latin typeface="+mn-ea"/>
              </a:rPr>
              <a:t>（エージェント）へ進化する中で、何が変わるのかを理解する。</a:t>
            </a:r>
          </a:p>
        </p:txBody>
      </p:sp>
      <p:sp>
        <p:nvSpPr>
          <p:cNvPr id="15" name="テキスト ボックス 14">
            <a:extLst>
              <a:ext uri="{FF2B5EF4-FFF2-40B4-BE49-F238E27FC236}">
                <a16:creationId xmlns:a16="http://schemas.microsoft.com/office/drawing/2014/main" id="{FBDBC7C5-4811-FF09-D631-25FFD51D8A69}"/>
              </a:ext>
            </a:extLst>
          </p:cNvPr>
          <p:cNvSpPr txBox="1"/>
          <p:nvPr/>
        </p:nvSpPr>
        <p:spPr>
          <a:xfrm>
            <a:off x="6545754" y="2275789"/>
            <a:ext cx="2912843" cy="1200329"/>
          </a:xfrm>
          <a:prstGeom prst="rect">
            <a:avLst/>
          </a:prstGeom>
          <a:noFill/>
        </p:spPr>
        <p:txBody>
          <a:bodyPr wrap="square">
            <a:spAutoFit/>
          </a:bodyPr>
          <a:lstStyle/>
          <a:p>
            <a:pPr algn="ctr" defTabSz="925880">
              <a:lnSpc>
                <a:spcPct val="120000"/>
              </a:lnSpc>
            </a:pPr>
            <a:r>
              <a:rPr lang="ja-JP" altLang="en-US" sz="2000" b="1" dirty="0">
                <a:solidFill>
                  <a:srgbClr val="000000"/>
                </a:solidFill>
                <a:latin typeface="+mn-ea"/>
              </a:rPr>
              <a:t>③ </a:t>
            </a:r>
            <a:r>
              <a:rPr lang="en-US" altLang="ja-JP" sz="2000" b="1" dirty="0">
                <a:solidFill>
                  <a:srgbClr val="000000"/>
                </a:solidFill>
                <a:latin typeface="+mn-ea"/>
              </a:rPr>
              <a:t>NTT</a:t>
            </a:r>
            <a:r>
              <a:rPr lang="ja-JP" altLang="en-US" sz="2000" b="1" dirty="0">
                <a:solidFill>
                  <a:srgbClr val="000000"/>
                </a:solidFill>
                <a:latin typeface="+mn-ea"/>
              </a:rPr>
              <a:t>データが描く</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未来と社員として</a:t>
            </a:r>
            <a:endParaRPr lang="en-US" altLang="ja-JP" sz="2000" b="1" dirty="0">
              <a:solidFill>
                <a:srgbClr val="000000"/>
              </a:solidFill>
              <a:latin typeface="+mn-ea"/>
            </a:endParaRPr>
          </a:p>
          <a:p>
            <a:pPr algn="ctr" defTabSz="925880">
              <a:lnSpc>
                <a:spcPct val="120000"/>
              </a:lnSpc>
            </a:pPr>
            <a:r>
              <a:rPr lang="ja-JP" altLang="en-US" sz="2000" b="1" dirty="0">
                <a:solidFill>
                  <a:srgbClr val="000000"/>
                </a:solidFill>
                <a:latin typeface="+mn-ea"/>
              </a:rPr>
              <a:t>知っておくべきこと</a:t>
            </a:r>
          </a:p>
        </p:txBody>
      </p:sp>
      <p:sp>
        <p:nvSpPr>
          <p:cNvPr id="17" name="テキスト ボックス 16">
            <a:extLst>
              <a:ext uri="{FF2B5EF4-FFF2-40B4-BE49-F238E27FC236}">
                <a16:creationId xmlns:a16="http://schemas.microsoft.com/office/drawing/2014/main" id="{E1338468-5306-0393-71FE-A4B7CDFED326}"/>
              </a:ext>
            </a:extLst>
          </p:cNvPr>
          <p:cNvSpPr txBox="1"/>
          <p:nvPr/>
        </p:nvSpPr>
        <p:spPr>
          <a:xfrm>
            <a:off x="6598819" y="3643453"/>
            <a:ext cx="2799185" cy="1938992"/>
          </a:xfrm>
          <a:prstGeom prst="rect">
            <a:avLst/>
          </a:prstGeom>
          <a:noFill/>
        </p:spPr>
        <p:txBody>
          <a:bodyPr wrap="square">
            <a:spAutoFit/>
          </a:bodyPr>
          <a:lstStyle/>
          <a:p>
            <a:pPr defTabSz="925880">
              <a:lnSpc>
                <a:spcPct val="120000"/>
              </a:lnSpc>
            </a:pPr>
            <a:r>
              <a:rPr lang="en-US" altLang="ja-JP" sz="2000" dirty="0">
                <a:solidFill>
                  <a:srgbClr val="000000"/>
                </a:solidFill>
                <a:latin typeface="+mn-ea"/>
              </a:rPr>
              <a:t>NTT</a:t>
            </a:r>
            <a:r>
              <a:rPr lang="ja-JP" altLang="en-US" sz="2000" dirty="0">
                <a:solidFill>
                  <a:srgbClr val="000000"/>
                </a:solidFill>
                <a:latin typeface="+mn-ea"/>
              </a:rPr>
              <a:t>データが描く</a:t>
            </a:r>
            <a:r>
              <a:rPr lang="en-US" altLang="ja-JP" sz="2000" dirty="0">
                <a:solidFill>
                  <a:srgbClr val="000000"/>
                </a:solidFill>
                <a:latin typeface="+mn-ea"/>
              </a:rPr>
              <a:t>AI</a:t>
            </a:r>
            <a:r>
              <a:rPr lang="ja-JP" altLang="en-US" sz="2000" dirty="0">
                <a:solidFill>
                  <a:srgbClr val="000000"/>
                </a:solidFill>
                <a:latin typeface="+mn-ea"/>
              </a:rPr>
              <a:t>活用の未来像を理解したうえで、その実現に向けて社員として知っておくべき考え方や事例を学ぶ。</a:t>
            </a:r>
          </a:p>
        </p:txBody>
      </p:sp>
      <p:cxnSp>
        <p:nvCxnSpPr>
          <p:cNvPr id="27" name="直線コネクタ 26">
            <a:extLst>
              <a:ext uri="{FF2B5EF4-FFF2-40B4-BE49-F238E27FC236}">
                <a16:creationId xmlns:a16="http://schemas.microsoft.com/office/drawing/2014/main" id="{816C9B70-41E0-DEFB-44E4-F93087DD250E}"/>
              </a:ext>
            </a:extLst>
          </p:cNvPr>
          <p:cNvCxnSpPr>
            <a:cxnSpLocks/>
          </p:cNvCxnSpPr>
          <p:nvPr/>
        </p:nvCxnSpPr>
        <p:spPr>
          <a:xfrm>
            <a:off x="3713978"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06B42E29-7FA7-B662-A332-04AF9E959AC8}"/>
              </a:ext>
            </a:extLst>
          </p:cNvPr>
          <p:cNvCxnSpPr>
            <a:cxnSpLocks/>
          </p:cNvCxnSpPr>
          <p:nvPr/>
        </p:nvCxnSpPr>
        <p:spPr>
          <a:xfrm>
            <a:off x="6758595" y="3517740"/>
            <a:ext cx="2479632" cy="0"/>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B30C3855-A8FC-B486-AEFB-61CC74CCBD0D}"/>
              </a:ext>
            </a:extLst>
          </p:cNvPr>
          <p:cNvSpPr/>
          <p:nvPr/>
        </p:nvSpPr>
        <p:spPr>
          <a:xfrm>
            <a:off x="6480208" y="1176056"/>
            <a:ext cx="3036404" cy="5061233"/>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1400" dirty="0">
              <a:solidFill>
                <a:srgbClr val="FFFFFF"/>
              </a:solidFill>
              <a:latin typeface="+mn-ea"/>
            </a:endParaRPr>
          </a:p>
        </p:txBody>
      </p:sp>
      <p:sp>
        <p:nvSpPr>
          <p:cNvPr id="24" name="正方形/長方形 23">
            <a:extLst>
              <a:ext uri="{FF2B5EF4-FFF2-40B4-BE49-F238E27FC236}">
                <a16:creationId xmlns:a16="http://schemas.microsoft.com/office/drawing/2014/main" id="{DE8B1DDE-51C1-2F30-B1B7-8A799470EED2}"/>
              </a:ext>
            </a:extLst>
          </p:cNvPr>
          <p:cNvSpPr/>
          <p:nvPr/>
        </p:nvSpPr>
        <p:spPr>
          <a:xfrm>
            <a:off x="162397" y="1192614"/>
            <a:ext cx="6264506" cy="5061233"/>
          </a:xfrm>
          <a:prstGeom prst="rect">
            <a:avLst/>
          </a:prstGeom>
          <a:solidFill>
            <a:srgbClr val="000000">
              <a:alpha val="30196"/>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25880"/>
            <a:endParaRPr lang="ja-JP" altLang="en-US" sz="1400" dirty="0">
              <a:solidFill>
                <a:srgbClr val="FFFFFF"/>
              </a:solidFill>
              <a:latin typeface="+mn-ea"/>
            </a:endParaRPr>
          </a:p>
        </p:txBody>
      </p:sp>
    </p:spTree>
    <p:extLst>
      <p:ext uri="{BB962C8B-B14F-4D97-AF65-F5344CB8AC3E}">
        <p14:creationId xmlns:p14="http://schemas.microsoft.com/office/powerpoint/2010/main" val="650987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9B4C1-9266-E103-537B-0477E02E19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EC2CAF-DA6B-5E7D-A182-7B1C8DB66699}"/>
              </a:ext>
            </a:extLst>
          </p:cNvPr>
          <p:cNvSpPr>
            <a:spLocks noGrp="1"/>
          </p:cNvSpPr>
          <p:nvPr>
            <p:ph type="title"/>
          </p:nvPr>
        </p:nvSpPr>
        <p:spPr/>
        <p:txBody>
          <a:bodyPr>
            <a:normAutofit/>
          </a:bodyPr>
          <a:lstStyle/>
          <a:p>
            <a:r>
              <a:rPr lang="en-US" altLang="ja-JP" dirty="0">
                <a:latin typeface="+mn-ea"/>
                <a:ea typeface="+mn-ea"/>
              </a:rPr>
              <a:t>3-9. NTT</a:t>
            </a:r>
            <a:r>
              <a:rPr lang="ja-JP" altLang="en-US" dirty="0">
                <a:latin typeface="+mn-ea"/>
                <a:ea typeface="+mn-ea"/>
              </a:rPr>
              <a:t>データが描く未来：</a:t>
            </a:r>
            <a:r>
              <a:rPr lang="en-US" altLang="ja-JP" dirty="0">
                <a:latin typeface="+mn-ea"/>
                <a:ea typeface="+mn-ea"/>
              </a:rPr>
              <a:t>Smart AI Agent®</a:t>
            </a:r>
            <a:endParaRPr lang="ja-JP" altLang="en-US" dirty="0">
              <a:latin typeface="+mn-ea"/>
              <a:ea typeface="+mn-ea"/>
            </a:endParaRPr>
          </a:p>
        </p:txBody>
      </p:sp>
      <p:sp>
        <p:nvSpPr>
          <p:cNvPr id="79" name="テキスト ボックス 78">
            <a:extLst>
              <a:ext uri="{FF2B5EF4-FFF2-40B4-BE49-F238E27FC236}">
                <a16:creationId xmlns:a16="http://schemas.microsoft.com/office/drawing/2014/main" id="{D8A746A3-D737-1039-626E-6AA862B4C290}"/>
              </a:ext>
            </a:extLst>
          </p:cNvPr>
          <p:cNvSpPr txBox="1"/>
          <p:nvPr/>
        </p:nvSpPr>
        <p:spPr>
          <a:xfrm>
            <a:off x="3882676" y="6019532"/>
            <a:ext cx="5956881"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2"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
        <p:nvSpPr>
          <p:cNvPr id="81" name="テキスト ボックス 80">
            <a:extLst>
              <a:ext uri="{FF2B5EF4-FFF2-40B4-BE49-F238E27FC236}">
                <a16:creationId xmlns:a16="http://schemas.microsoft.com/office/drawing/2014/main" id="{4B79378F-1C3F-8EE5-55A5-74539DDC57D5}"/>
              </a:ext>
            </a:extLst>
          </p:cNvPr>
          <p:cNvSpPr txBox="1"/>
          <p:nvPr/>
        </p:nvSpPr>
        <p:spPr>
          <a:xfrm>
            <a:off x="268864" y="1047233"/>
            <a:ext cx="9301500" cy="1015663"/>
          </a:xfrm>
          <a:prstGeom prst="rect">
            <a:avLst/>
          </a:prstGeom>
          <a:noFill/>
        </p:spPr>
        <p:txBody>
          <a:bodyPr wrap="square">
            <a:spAutoFit/>
          </a:bodyPr>
          <a:lstStyle/>
          <a:p>
            <a:pPr defTabSz="925880"/>
            <a:r>
              <a:rPr lang="en-US" altLang="ja-JP" sz="2000" dirty="0">
                <a:solidFill>
                  <a:srgbClr val="404040"/>
                </a:solidFill>
                <a:latin typeface="+mn-ea"/>
              </a:rPr>
              <a:t>NTT</a:t>
            </a:r>
            <a:r>
              <a:rPr lang="ja-JP" altLang="en-US" sz="2000" dirty="0">
                <a:solidFill>
                  <a:srgbClr val="404040"/>
                </a:solidFill>
                <a:latin typeface="+mn-ea"/>
              </a:rPr>
              <a:t>データでは</a:t>
            </a:r>
            <a:r>
              <a:rPr lang="ja-JP" altLang="en-US" sz="2000" u="sng" dirty="0">
                <a:solidFill>
                  <a:srgbClr val="404040"/>
                </a:solidFill>
                <a:latin typeface="+mn-ea"/>
              </a:rPr>
              <a:t>「</a:t>
            </a:r>
            <a:r>
              <a:rPr lang="en-US" altLang="ja-JP" sz="2000" u="sng" dirty="0">
                <a:solidFill>
                  <a:srgbClr val="404040"/>
                </a:solidFill>
                <a:latin typeface="+mn-ea"/>
              </a:rPr>
              <a:t>Smart AI Agent®</a:t>
            </a:r>
            <a:r>
              <a:rPr lang="ja-JP" altLang="en-US" sz="2000" u="sng" dirty="0">
                <a:solidFill>
                  <a:srgbClr val="404040"/>
                </a:solidFill>
                <a:latin typeface="+mn-ea"/>
              </a:rPr>
              <a:t>」構想を掲げ、複数の</a:t>
            </a:r>
            <a:r>
              <a:rPr lang="en-US" altLang="ja-JP" sz="2000" u="sng" dirty="0">
                <a:solidFill>
                  <a:srgbClr val="404040"/>
                </a:solidFill>
                <a:latin typeface="+mn-ea"/>
              </a:rPr>
              <a:t>AI</a:t>
            </a:r>
            <a:r>
              <a:rPr lang="ja-JP" altLang="en-US" sz="2000" u="sng" dirty="0">
                <a:solidFill>
                  <a:srgbClr val="404040"/>
                </a:solidFill>
                <a:latin typeface="+mn-ea"/>
              </a:rPr>
              <a:t>エージェントが自律的に協働し、</a:t>
            </a:r>
            <a:r>
              <a:rPr lang="ja-JP" altLang="en-US" sz="2000" dirty="0">
                <a:solidFill>
                  <a:srgbClr val="19A3FC"/>
                </a:solidFill>
                <a:latin typeface="+mn-ea"/>
              </a:rPr>
              <a:t>業務の抜本的変革による</a:t>
            </a:r>
            <a:r>
              <a:rPr lang="en-US" altLang="ja-JP" sz="2000" dirty="0">
                <a:solidFill>
                  <a:srgbClr val="19A3FC"/>
                </a:solidFill>
                <a:latin typeface="+mn-ea"/>
              </a:rPr>
              <a:t>P/L</a:t>
            </a:r>
            <a:r>
              <a:rPr lang="ja-JP" altLang="en-US" sz="2000" dirty="0">
                <a:solidFill>
                  <a:srgbClr val="19A3FC"/>
                </a:solidFill>
                <a:latin typeface="+mn-ea"/>
              </a:rPr>
              <a:t>インパクト（売上拡大・コスト削減など、利益への効果）創出・新たなビジネス価値創造の実現を目指しています。</a:t>
            </a:r>
          </a:p>
        </p:txBody>
      </p:sp>
      <p:pic>
        <p:nvPicPr>
          <p:cNvPr id="8" name="図 7"/>
          <p:cNvPicPr>
            <a:picLocks noChangeAspect="1"/>
          </p:cNvPicPr>
          <p:nvPr/>
        </p:nvPicPr>
        <p:blipFill>
          <a:blip r:embed="rId3"/>
          <a:stretch>
            <a:fillRect/>
          </a:stretch>
        </p:blipFill>
        <p:spPr>
          <a:xfrm>
            <a:off x="976169" y="2232777"/>
            <a:ext cx="7953298" cy="3519205"/>
          </a:xfrm>
          <a:prstGeom prst="rect">
            <a:avLst/>
          </a:prstGeom>
        </p:spPr>
      </p:pic>
    </p:spTree>
    <p:extLst>
      <p:ext uri="{BB962C8B-B14F-4D97-AF65-F5344CB8AC3E}">
        <p14:creationId xmlns:p14="http://schemas.microsoft.com/office/powerpoint/2010/main" val="3073499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763BA-B740-C0C7-9CC1-5ED978E29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77A7F7-7948-31F7-B5A8-0DF00F91A78B}"/>
              </a:ext>
            </a:extLst>
          </p:cNvPr>
          <p:cNvSpPr>
            <a:spLocks noGrp="1"/>
          </p:cNvSpPr>
          <p:nvPr>
            <p:ph type="title"/>
          </p:nvPr>
        </p:nvSpPr>
        <p:spPr/>
        <p:txBody>
          <a:bodyPr>
            <a:normAutofit/>
          </a:bodyPr>
          <a:lstStyle/>
          <a:p>
            <a:r>
              <a:rPr lang="en-US" altLang="ja-JP" dirty="0">
                <a:latin typeface="+mn-ea"/>
                <a:ea typeface="+mn-ea"/>
              </a:rPr>
              <a:t>3-10. AI</a:t>
            </a:r>
            <a:r>
              <a:rPr lang="ja-JP" altLang="en-US" dirty="0">
                <a:latin typeface="+mn-ea"/>
                <a:ea typeface="+mn-ea"/>
              </a:rPr>
              <a:t>の強みを生かした業務変革の進め方</a:t>
            </a:r>
          </a:p>
        </p:txBody>
      </p:sp>
      <p:pic>
        <p:nvPicPr>
          <p:cNvPr id="4" name="図 3">
            <a:extLst>
              <a:ext uri="{FF2B5EF4-FFF2-40B4-BE49-F238E27FC236}">
                <a16:creationId xmlns:a16="http://schemas.microsoft.com/office/drawing/2014/main" id="{CFF98756-2838-4FC1-67BF-4CDCE56374F9}"/>
              </a:ext>
            </a:extLst>
          </p:cNvPr>
          <p:cNvPicPr>
            <a:picLocks noChangeAspect="1"/>
          </p:cNvPicPr>
          <p:nvPr/>
        </p:nvPicPr>
        <p:blipFill>
          <a:blip r:embed="rId2"/>
          <a:stretch>
            <a:fillRect/>
          </a:stretch>
        </p:blipFill>
        <p:spPr>
          <a:xfrm>
            <a:off x="573226" y="2102331"/>
            <a:ext cx="8761136" cy="3235725"/>
          </a:xfrm>
          <a:prstGeom prst="rect">
            <a:avLst/>
          </a:prstGeom>
        </p:spPr>
      </p:pic>
      <p:sp>
        <p:nvSpPr>
          <p:cNvPr id="6" name="テキスト ボックス 5">
            <a:extLst>
              <a:ext uri="{FF2B5EF4-FFF2-40B4-BE49-F238E27FC236}">
                <a16:creationId xmlns:a16="http://schemas.microsoft.com/office/drawing/2014/main" id="{CBC1A770-6F73-FB58-2A3F-54B57032EE3A}"/>
              </a:ext>
            </a:extLst>
          </p:cNvPr>
          <p:cNvSpPr txBox="1"/>
          <p:nvPr/>
        </p:nvSpPr>
        <p:spPr>
          <a:xfrm>
            <a:off x="4137590" y="5802652"/>
            <a:ext cx="5769204"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
        <p:nvSpPr>
          <p:cNvPr id="8" name="テキスト ボックス 7">
            <a:extLst>
              <a:ext uri="{FF2B5EF4-FFF2-40B4-BE49-F238E27FC236}">
                <a16:creationId xmlns:a16="http://schemas.microsoft.com/office/drawing/2014/main" id="{6D4B111D-3655-15F3-3EE3-F38A95885363}"/>
              </a:ext>
            </a:extLst>
          </p:cNvPr>
          <p:cNvSpPr txBox="1"/>
          <p:nvPr/>
        </p:nvSpPr>
        <p:spPr>
          <a:xfrm>
            <a:off x="268863" y="1047233"/>
            <a:ext cx="9482461" cy="707886"/>
          </a:xfrm>
          <a:prstGeom prst="rect">
            <a:avLst/>
          </a:prstGeom>
          <a:noFill/>
        </p:spPr>
        <p:txBody>
          <a:bodyPr wrap="square">
            <a:spAutoFit/>
          </a:bodyPr>
          <a:lstStyle/>
          <a:p>
            <a:pPr defTabSz="925880"/>
            <a:r>
              <a:rPr lang="en-US" altLang="ja-JP" sz="2000" dirty="0">
                <a:solidFill>
                  <a:srgbClr val="404040"/>
                </a:solidFill>
                <a:latin typeface="+mn-ea"/>
              </a:rPr>
              <a:t>AI</a:t>
            </a:r>
            <a:r>
              <a:rPr lang="ja-JP" altLang="en-US" sz="2000" dirty="0">
                <a:solidFill>
                  <a:srgbClr val="404040"/>
                </a:solidFill>
                <a:latin typeface="+mn-ea"/>
              </a:rPr>
              <a:t>によるお客様の抜本的な業務変革のポイントは</a:t>
            </a:r>
            <a:r>
              <a:rPr lang="en-US" altLang="ja-JP" sz="2000" dirty="0">
                <a:solidFill>
                  <a:srgbClr val="404040"/>
                </a:solidFill>
                <a:latin typeface="+mn-ea"/>
              </a:rPr>
              <a:t>AI</a:t>
            </a:r>
            <a:r>
              <a:rPr lang="ja-JP" altLang="en-US" sz="2000" dirty="0">
                <a:solidFill>
                  <a:srgbClr val="404040"/>
                </a:solidFill>
                <a:latin typeface="+mn-ea"/>
              </a:rPr>
              <a:t>の強みや業務適用の発想の観点を</a:t>
            </a:r>
            <a:endParaRPr lang="en-US" altLang="ja-JP" sz="2000" dirty="0">
              <a:solidFill>
                <a:srgbClr val="404040"/>
              </a:solidFill>
              <a:latin typeface="+mn-ea"/>
            </a:endParaRPr>
          </a:p>
          <a:p>
            <a:pPr defTabSz="925880"/>
            <a:r>
              <a:rPr lang="ja-JP" altLang="en-US" sz="2000" dirty="0">
                <a:solidFill>
                  <a:srgbClr val="404040"/>
                </a:solidFill>
                <a:latin typeface="+mn-ea"/>
              </a:rPr>
              <a:t>踏まえ、</a:t>
            </a:r>
            <a:r>
              <a:rPr lang="ja-JP" altLang="en-US" sz="2000" dirty="0">
                <a:solidFill>
                  <a:srgbClr val="19A3FC"/>
                </a:solidFill>
                <a:latin typeface="+mn-ea"/>
              </a:rPr>
              <a:t>従来の考え方を転換させ、</a:t>
            </a:r>
            <a:r>
              <a:rPr lang="en-US" altLang="ja-JP" sz="2000" dirty="0">
                <a:solidFill>
                  <a:srgbClr val="19A3FC"/>
                </a:solidFill>
                <a:latin typeface="+mn-ea"/>
              </a:rPr>
              <a:t>AI</a:t>
            </a:r>
            <a:r>
              <a:rPr lang="ja-JP" altLang="en-US" sz="2000" dirty="0">
                <a:solidFill>
                  <a:srgbClr val="19A3FC"/>
                </a:solidFill>
                <a:latin typeface="+mn-ea"/>
              </a:rPr>
              <a:t>を起点とした顧客企業の変革を提言・実現することです。</a:t>
            </a:r>
          </a:p>
        </p:txBody>
      </p:sp>
    </p:spTree>
    <p:extLst>
      <p:ext uri="{BB962C8B-B14F-4D97-AF65-F5344CB8AC3E}">
        <p14:creationId xmlns:p14="http://schemas.microsoft.com/office/powerpoint/2010/main" val="2359815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A3E6-F1C4-97C2-FB88-6653984AA0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6A1CC8-30BA-BE47-0A35-A0E65D1AF90B}"/>
              </a:ext>
            </a:extLst>
          </p:cNvPr>
          <p:cNvSpPr>
            <a:spLocks noGrp="1"/>
          </p:cNvSpPr>
          <p:nvPr>
            <p:ph type="title"/>
          </p:nvPr>
        </p:nvSpPr>
        <p:spPr/>
        <p:txBody>
          <a:bodyPr>
            <a:normAutofit/>
          </a:bodyPr>
          <a:lstStyle/>
          <a:p>
            <a:r>
              <a:rPr lang="en-US" altLang="ja-JP" dirty="0">
                <a:latin typeface="+mn-ea"/>
                <a:ea typeface="+mn-ea"/>
              </a:rPr>
              <a:t>3-11. AI</a:t>
            </a:r>
            <a:r>
              <a:rPr lang="ja-JP" altLang="en-US" dirty="0">
                <a:latin typeface="+mn-ea"/>
                <a:ea typeface="+mn-ea"/>
              </a:rPr>
              <a:t>の強みを生かすポイント：人と</a:t>
            </a:r>
            <a:r>
              <a:rPr lang="en-US" altLang="ja-JP" dirty="0">
                <a:latin typeface="+mn-ea"/>
                <a:ea typeface="+mn-ea"/>
              </a:rPr>
              <a:t>AI</a:t>
            </a:r>
            <a:r>
              <a:rPr lang="ja-JP" altLang="en-US" dirty="0">
                <a:latin typeface="+mn-ea"/>
                <a:ea typeface="+mn-ea"/>
              </a:rPr>
              <a:t>との役割分担</a:t>
            </a:r>
          </a:p>
        </p:txBody>
      </p:sp>
      <p:pic>
        <p:nvPicPr>
          <p:cNvPr id="4" name="図 3">
            <a:extLst>
              <a:ext uri="{FF2B5EF4-FFF2-40B4-BE49-F238E27FC236}">
                <a16:creationId xmlns:a16="http://schemas.microsoft.com/office/drawing/2014/main" id="{A8558825-29B9-6C2B-7943-4D915E0AA910}"/>
              </a:ext>
            </a:extLst>
          </p:cNvPr>
          <p:cNvPicPr>
            <a:picLocks noChangeAspect="1"/>
          </p:cNvPicPr>
          <p:nvPr/>
        </p:nvPicPr>
        <p:blipFill>
          <a:blip r:embed="rId2"/>
          <a:stretch>
            <a:fillRect/>
          </a:stretch>
        </p:blipFill>
        <p:spPr>
          <a:xfrm>
            <a:off x="445721" y="1970202"/>
            <a:ext cx="9157849" cy="3587310"/>
          </a:xfrm>
          <a:prstGeom prst="rect">
            <a:avLst/>
          </a:prstGeom>
        </p:spPr>
      </p:pic>
      <p:sp>
        <p:nvSpPr>
          <p:cNvPr id="6" name="テキスト ボックス 5">
            <a:extLst>
              <a:ext uri="{FF2B5EF4-FFF2-40B4-BE49-F238E27FC236}">
                <a16:creationId xmlns:a16="http://schemas.microsoft.com/office/drawing/2014/main" id="{CFAEB320-EFB5-0113-6219-53501F8613BE}"/>
              </a:ext>
            </a:extLst>
          </p:cNvPr>
          <p:cNvSpPr txBox="1"/>
          <p:nvPr/>
        </p:nvSpPr>
        <p:spPr>
          <a:xfrm>
            <a:off x="3894065" y="6003346"/>
            <a:ext cx="5878539"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
        <p:nvSpPr>
          <p:cNvPr id="8" name="テキスト ボックス 7">
            <a:extLst>
              <a:ext uri="{FF2B5EF4-FFF2-40B4-BE49-F238E27FC236}">
                <a16:creationId xmlns:a16="http://schemas.microsoft.com/office/drawing/2014/main" id="{799BA4D8-B28D-74E7-ED22-06EC4860FF59}"/>
              </a:ext>
            </a:extLst>
          </p:cNvPr>
          <p:cNvSpPr txBox="1"/>
          <p:nvPr/>
        </p:nvSpPr>
        <p:spPr>
          <a:xfrm>
            <a:off x="268864" y="1047233"/>
            <a:ext cx="9301500" cy="707886"/>
          </a:xfrm>
          <a:prstGeom prst="rect">
            <a:avLst/>
          </a:prstGeom>
          <a:noFill/>
        </p:spPr>
        <p:txBody>
          <a:bodyPr wrap="square">
            <a:spAutoFit/>
          </a:bodyPr>
          <a:lstStyle/>
          <a:p>
            <a:pPr defTabSz="925880"/>
            <a:r>
              <a:rPr lang="en-US" altLang="ja-JP" sz="2000" dirty="0">
                <a:solidFill>
                  <a:srgbClr val="404040"/>
                </a:solidFill>
                <a:latin typeface="+mn-ea"/>
              </a:rPr>
              <a:t>AI</a:t>
            </a:r>
            <a:r>
              <a:rPr lang="ja-JP" altLang="en-US" sz="2000" dirty="0">
                <a:solidFill>
                  <a:srgbClr val="404040"/>
                </a:solidFill>
                <a:latin typeface="+mn-ea"/>
              </a:rPr>
              <a:t>を前提として業務を再設計する際には、</a:t>
            </a:r>
            <a:r>
              <a:rPr lang="ja-JP" altLang="en-US" sz="2000" dirty="0">
                <a:solidFill>
                  <a:srgbClr val="19A3FC"/>
                </a:solidFill>
                <a:latin typeface="+mn-ea"/>
              </a:rPr>
              <a:t>人と</a:t>
            </a:r>
            <a:r>
              <a:rPr lang="en-US" altLang="ja-JP" sz="2000" dirty="0">
                <a:solidFill>
                  <a:srgbClr val="19A3FC"/>
                </a:solidFill>
                <a:latin typeface="+mn-ea"/>
              </a:rPr>
              <a:t>AI</a:t>
            </a:r>
            <a:r>
              <a:rPr lang="ja-JP" altLang="en-US" sz="2000" dirty="0">
                <a:solidFill>
                  <a:srgbClr val="19A3FC"/>
                </a:solidFill>
                <a:latin typeface="+mn-ea"/>
              </a:rPr>
              <a:t>の役割分担の再定義し、</a:t>
            </a:r>
          </a:p>
          <a:p>
            <a:pPr defTabSz="925880"/>
            <a:r>
              <a:rPr lang="en-US" altLang="ja-JP" sz="2000" dirty="0">
                <a:solidFill>
                  <a:srgbClr val="19A3FC"/>
                </a:solidFill>
                <a:latin typeface="+mn-ea"/>
              </a:rPr>
              <a:t>AI</a:t>
            </a:r>
            <a:r>
              <a:rPr lang="ja-JP" altLang="en-US" sz="2000" dirty="0">
                <a:solidFill>
                  <a:srgbClr val="19A3FC"/>
                </a:solidFill>
                <a:latin typeface="+mn-ea"/>
              </a:rPr>
              <a:t>の強みを最大限に活用することで</a:t>
            </a:r>
            <a:r>
              <a:rPr lang="ja-JP" altLang="en-US" sz="2000" dirty="0">
                <a:solidFill>
                  <a:srgbClr val="404040"/>
                </a:solidFill>
                <a:latin typeface="+mn-ea"/>
              </a:rPr>
              <a:t>、人間だけでは実現できない価値の創出を図ります。</a:t>
            </a:r>
          </a:p>
        </p:txBody>
      </p:sp>
    </p:spTree>
    <p:extLst>
      <p:ext uri="{BB962C8B-B14F-4D97-AF65-F5344CB8AC3E}">
        <p14:creationId xmlns:p14="http://schemas.microsoft.com/office/powerpoint/2010/main" val="992395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5E4E2-990F-374E-BF47-273E186500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054D179-867C-789B-4523-305B8E6450AA}"/>
              </a:ext>
            </a:extLst>
          </p:cNvPr>
          <p:cNvSpPr>
            <a:spLocks noGrp="1"/>
          </p:cNvSpPr>
          <p:nvPr>
            <p:ph type="title"/>
          </p:nvPr>
        </p:nvSpPr>
        <p:spPr/>
        <p:txBody>
          <a:bodyPr>
            <a:normAutofit/>
          </a:bodyPr>
          <a:lstStyle/>
          <a:p>
            <a:r>
              <a:rPr lang="en-US" altLang="ja-JP" dirty="0">
                <a:latin typeface="+mn-ea"/>
                <a:ea typeface="+mn-ea"/>
              </a:rPr>
              <a:t>3-12. AI</a:t>
            </a:r>
            <a:r>
              <a:rPr lang="ja-JP" altLang="en-US" dirty="0">
                <a:latin typeface="+mn-ea"/>
                <a:ea typeface="+mn-ea"/>
              </a:rPr>
              <a:t>の強みを生かすポイント：プロセス自体を</a:t>
            </a:r>
            <a:r>
              <a:rPr lang="en-US" altLang="ja-JP" dirty="0">
                <a:latin typeface="+mn-ea"/>
                <a:ea typeface="+mn-ea"/>
              </a:rPr>
              <a:t>AI</a:t>
            </a:r>
            <a:r>
              <a:rPr lang="ja-JP" altLang="en-US" dirty="0">
                <a:latin typeface="+mn-ea"/>
                <a:ea typeface="+mn-ea"/>
              </a:rPr>
              <a:t>前提で再設計</a:t>
            </a:r>
          </a:p>
        </p:txBody>
      </p:sp>
      <p:pic>
        <p:nvPicPr>
          <p:cNvPr id="70" name="図 69">
            <a:extLst>
              <a:ext uri="{FF2B5EF4-FFF2-40B4-BE49-F238E27FC236}">
                <a16:creationId xmlns:a16="http://schemas.microsoft.com/office/drawing/2014/main" id="{28D7B424-0593-1F16-ABCF-5E12706DAC2C}"/>
              </a:ext>
            </a:extLst>
          </p:cNvPr>
          <p:cNvPicPr>
            <a:picLocks noChangeAspect="1"/>
          </p:cNvPicPr>
          <p:nvPr/>
        </p:nvPicPr>
        <p:blipFill>
          <a:blip r:embed="rId2"/>
          <a:stretch>
            <a:fillRect/>
          </a:stretch>
        </p:blipFill>
        <p:spPr>
          <a:xfrm>
            <a:off x="14442" y="2202831"/>
            <a:ext cx="9906000" cy="3574276"/>
          </a:xfrm>
          <a:prstGeom prst="rect">
            <a:avLst/>
          </a:prstGeom>
        </p:spPr>
      </p:pic>
      <p:sp>
        <p:nvSpPr>
          <p:cNvPr id="72" name="テキスト ボックス 71">
            <a:extLst>
              <a:ext uri="{FF2B5EF4-FFF2-40B4-BE49-F238E27FC236}">
                <a16:creationId xmlns:a16="http://schemas.microsoft.com/office/drawing/2014/main" id="{89F104BC-ECF4-B0B8-BB2C-1A6182A98AB7}"/>
              </a:ext>
            </a:extLst>
          </p:cNvPr>
          <p:cNvSpPr txBox="1"/>
          <p:nvPr/>
        </p:nvSpPr>
        <p:spPr>
          <a:xfrm>
            <a:off x="4063748" y="5833890"/>
            <a:ext cx="5737785" cy="492443"/>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03_AI</a:t>
            </a:r>
            <a:r>
              <a:rPr lang="ja-JP" altLang="en-US" sz="1000" dirty="0">
                <a:solidFill>
                  <a:srgbClr val="404040"/>
                </a:solidFill>
                <a:latin typeface="+mn-ea"/>
              </a:rPr>
              <a:t>を活用した業務改革をリードするための実践プログラム</a:t>
            </a:r>
            <a:r>
              <a:rPr lang="en-US" altLang="ja-JP" sz="1000" dirty="0">
                <a:solidFill>
                  <a:srgbClr val="404040"/>
                </a:solidFill>
                <a:latin typeface="+mn-ea"/>
              </a:rPr>
              <a:t>_</a:t>
            </a:r>
            <a:r>
              <a:rPr lang="ja-JP" altLang="en-US" sz="1000" dirty="0">
                <a:solidFill>
                  <a:srgbClr val="404040"/>
                </a:solidFill>
                <a:latin typeface="+mn-ea"/>
              </a:rPr>
              <a:t>営業コンサル編</a:t>
            </a:r>
            <a:r>
              <a:rPr lang="en-US" altLang="ja-JP" sz="1000" dirty="0">
                <a:solidFill>
                  <a:srgbClr val="404040"/>
                </a:solidFill>
                <a:latin typeface="+mn-ea"/>
              </a:rPr>
              <a:t>_Rev1209 3.pptx</a:t>
            </a:r>
          </a:p>
          <a:p>
            <a:pPr defTabSz="925880">
              <a:lnSpc>
                <a:spcPct val="130000"/>
              </a:lnSpc>
            </a:pP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を活用した業務改革をリードするための実践プログラム </a:t>
            </a:r>
            <a:r>
              <a:rPr lang="en-US" altLang="ja-JP" sz="1000" dirty="0">
                <a:solidFill>
                  <a:srgbClr val="404040"/>
                </a:solidFill>
                <a:latin typeface="+mn-ea"/>
                <a:hlinkClick r:id="rId3" tooltip="https://dwp.nttdata.com/hashtag/dwp-2025-11-17-001?ref=d3c0f086-903b-4188-b785-f808c143cda5">
                  <a:extLst>
                    <a:ext uri="{A12FA001-AC4F-418D-AE19-62706E023703}">
                      <ahyp:hlinkClr xmlns:ahyp="http://schemas.microsoft.com/office/drawing/2018/hyperlinkcolor" val="tx"/>
                    </a:ext>
                  </a:extLst>
                </a:hlinkClick>
              </a:rPr>
              <a:t>- NTT DATA Digital Workplace</a:t>
            </a:r>
            <a:endParaRPr lang="ja-JP" altLang="en-US" sz="1000" dirty="0">
              <a:solidFill>
                <a:srgbClr val="404040"/>
              </a:solidFill>
              <a:latin typeface="+mn-ea"/>
            </a:endParaRPr>
          </a:p>
        </p:txBody>
      </p:sp>
      <p:sp>
        <p:nvSpPr>
          <p:cNvPr id="74" name="テキスト ボックス 73">
            <a:extLst>
              <a:ext uri="{FF2B5EF4-FFF2-40B4-BE49-F238E27FC236}">
                <a16:creationId xmlns:a16="http://schemas.microsoft.com/office/drawing/2014/main" id="{590264BD-854E-C3B1-B272-B825456C074E}"/>
              </a:ext>
            </a:extLst>
          </p:cNvPr>
          <p:cNvSpPr txBox="1"/>
          <p:nvPr/>
        </p:nvSpPr>
        <p:spPr>
          <a:xfrm>
            <a:off x="268864" y="1047233"/>
            <a:ext cx="9301500" cy="1015663"/>
          </a:xfrm>
          <a:prstGeom prst="rect">
            <a:avLst/>
          </a:prstGeom>
          <a:noFill/>
        </p:spPr>
        <p:txBody>
          <a:bodyPr wrap="square">
            <a:spAutoFit/>
          </a:bodyPr>
          <a:lstStyle/>
          <a:p>
            <a:pPr defTabSz="925880"/>
            <a:r>
              <a:rPr lang="en-US" altLang="ja-JP" sz="2000" b="1" dirty="0">
                <a:solidFill>
                  <a:srgbClr val="404040"/>
                </a:solidFill>
                <a:latin typeface="+mn-ea"/>
              </a:rPr>
              <a:t>AI</a:t>
            </a:r>
            <a:r>
              <a:rPr lang="ja-JP" altLang="en-US" sz="2000" b="1" dirty="0">
                <a:solidFill>
                  <a:srgbClr val="404040"/>
                </a:solidFill>
                <a:latin typeface="+mn-ea"/>
              </a:rPr>
              <a:t>によるお客様の抜本的な業務変革のポイント</a:t>
            </a:r>
            <a:r>
              <a:rPr lang="ja-JP" altLang="en-US" sz="2000" dirty="0">
                <a:solidFill>
                  <a:srgbClr val="404040"/>
                </a:solidFill>
                <a:latin typeface="+mn-ea"/>
              </a:rPr>
              <a:t>は</a:t>
            </a:r>
          </a:p>
          <a:p>
            <a:pPr defTabSz="925880"/>
            <a:r>
              <a:rPr lang="en-US" altLang="ja-JP" sz="2000" dirty="0">
                <a:solidFill>
                  <a:srgbClr val="404040"/>
                </a:solidFill>
                <a:latin typeface="+mn-ea"/>
              </a:rPr>
              <a:t>AI</a:t>
            </a:r>
            <a:r>
              <a:rPr lang="ja-JP" altLang="en-US" sz="2000" dirty="0">
                <a:solidFill>
                  <a:srgbClr val="404040"/>
                </a:solidFill>
                <a:latin typeface="+mn-ea"/>
              </a:rPr>
              <a:t>を補助的に使用して既存業務の効率化を図るのではなく、</a:t>
            </a:r>
            <a:r>
              <a:rPr lang="ja-JP" altLang="en-US" sz="2000" u="sng" dirty="0">
                <a:solidFill>
                  <a:srgbClr val="19A3FC"/>
                </a:solidFill>
                <a:latin typeface="+mn-ea"/>
              </a:rPr>
              <a:t>プロセス自体を</a:t>
            </a:r>
            <a:r>
              <a:rPr lang="en-US" altLang="ja-JP" sz="2000" u="sng" dirty="0">
                <a:solidFill>
                  <a:srgbClr val="19A3FC"/>
                </a:solidFill>
                <a:latin typeface="+mn-ea"/>
              </a:rPr>
              <a:t>AI</a:t>
            </a:r>
            <a:r>
              <a:rPr lang="ja-JP" altLang="en-US" sz="2000" u="sng" dirty="0">
                <a:solidFill>
                  <a:srgbClr val="19A3FC"/>
                </a:solidFill>
                <a:latin typeface="+mn-ea"/>
              </a:rPr>
              <a:t>前提で再設計</a:t>
            </a:r>
            <a:r>
              <a:rPr lang="ja-JP" altLang="en-US" sz="2000" dirty="0">
                <a:solidFill>
                  <a:srgbClr val="404040"/>
                </a:solidFill>
                <a:latin typeface="+mn-ea"/>
              </a:rPr>
              <a:t>することです。</a:t>
            </a:r>
          </a:p>
        </p:txBody>
      </p:sp>
    </p:spTree>
    <p:extLst>
      <p:ext uri="{BB962C8B-B14F-4D97-AF65-F5344CB8AC3E}">
        <p14:creationId xmlns:p14="http://schemas.microsoft.com/office/powerpoint/2010/main" val="3847220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A4E7-D4BA-A606-EE5C-D732EC10B6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8340FD-A224-DF6F-1C25-867DA822967C}"/>
              </a:ext>
            </a:extLst>
          </p:cNvPr>
          <p:cNvSpPr>
            <a:spLocks noGrp="1"/>
          </p:cNvSpPr>
          <p:nvPr>
            <p:ph type="title"/>
          </p:nvPr>
        </p:nvSpPr>
        <p:spPr/>
        <p:txBody>
          <a:bodyPr>
            <a:normAutofit/>
          </a:bodyPr>
          <a:lstStyle/>
          <a:p>
            <a:r>
              <a:rPr lang="en-US" altLang="ja-JP" dirty="0">
                <a:latin typeface="+mn-ea"/>
                <a:ea typeface="+mn-ea"/>
              </a:rPr>
              <a:t>3-13. JAL</a:t>
            </a:r>
            <a:r>
              <a:rPr lang="ja-JP" altLang="en-US" dirty="0">
                <a:latin typeface="+mn-ea"/>
                <a:ea typeface="+mn-ea"/>
              </a:rPr>
              <a:t>カード様 </a:t>
            </a:r>
            <a:r>
              <a:rPr lang="en-US" altLang="ja-JP" dirty="0">
                <a:latin typeface="+mn-ea"/>
                <a:ea typeface="+mn-ea"/>
              </a:rPr>
              <a:t>-  AI</a:t>
            </a:r>
            <a:r>
              <a:rPr lang="ja-JP" altLang="en-US" dirty="0">
                <a:latin typeface="+mn-ea"/>
                <a:ea typeface="+mn-ea"/>
              </a:rPr>
              <a:t>バーチャル顧客を活用したマーケティング高度化</a:t>
            </a:r>
          </a:p>
        </p:txBody>
      </p:sp>
      <p:sp>
        <p:nvSpPr>
          <p:cNvPr id="5" name="テキスト ボックス 4">
            <a:extLst>
              <a:ext uri="{FF2B5EF4-FFF2-40B4-BE49-F238E27FC236}">
                <a16:creationId xmlns:a16="http://schemas.microsoft.com/office/drawing/2014/main" id="{CFEF7DD4-9F70-F482-0264-9AC772EDA505}"/>
              </a:ext>
            </a:extLst>
          </p:cNvPr>
          <p:cNvSpPr txBox="1"/>
          <p:nvPr/>
        </p:nvSpPr>
        <p:spPr>
          <a:xfrm>
            <a:off x="268864" y="1047233"/>
            <a:ext cx="9301500" cy="1631216"/>
          </a:xfrm>
          <a:prstGeom prst="rect">
            <a:avLst/>
          </a:prstGeom>
          <a:noFill/>
        </p:spPr>
        <p:txBody>
          <a:bodyPr wrap="square">
            <a:spAutoFit/>
          </a:bodyPr>
          <a:lstStyle/>
          <a:p>
            <a:pPr defTabSz="925880"/>
            <a:r>
              <a:rPr lang="ja-JP" altLang="en-US" sz="2000" b="1" dirty="0">
                <a:solidFill>
                  <a:srgbClr val="404040"/>
                </a:solidFill>
                <a:latin typeface="+mn-ea"/>
              </a:rPr>
              <a:t>「</a:t>
            </a:r>
            <a:r>
              <a:rPr lang="en-US" altLang="ja-JP" sz="2000" b="1" dirty="0">
                <a:solidFill>
                  <a:srgbClr val="404040"/>
                </a:solidFill>
                <a:latin typeface="+mn-ea"/>
              </a:rPr>
              <a:t>AI </a:t>
            </a:r>
            <a:r>
              <a:rPr lang="ja-JP" altLang="en-US" sz="2000" b="1" dirty="0">
                <a:solidFill>
                  <a:srgbClr val="404040"/>
                </a:solidFill>
                <a:latin typeface="+mn-ea"/>
              </a:rPr>
              <a:t>バーチャル顧客」 の会話から</a:t>
            </a:r>
            <a:r>
              <a:rPr lang="en-US" altLang="ja-JP" sz="2000" b="1" dirty="0">
                <a:solidFill>
                  <a:srgbClr val="404040"/>
                </a:solidFill>
                <a:latin typeface="+mn-ea"/>
              </a:rPr>
              <a:t>JAL</a:t>
            </a:r>
            <a:r>
              <a:rPr lang="ja-JP" altLang="en-US" sz="2000" b="1" dirty="0">
                <a:solidFill>
                  <a:srgbClr val="404040"/>
                </a:solidFill>
                <a:latin typeface="+mn-ea"/>
              </a:rPr>
              <a:t>カード会員への効果的なマーケティング施策を</a:t>
            </a:r>
            <a:endParaRPr lang="en-US" altLang="ja-JP" sz="2000" b="1" dirty="0">
              <a:solidFill>
                <a:srgbClr val="404040"/>
              </a:solidFill>
              <a:latin typeface="+mn-ea"/>
            </a:endParaRPr>
          </a:p>
          <a:p>
            <a:pPr defTabSz="925880"/>
            <a:r>
              <a:rPr lang="ja-JP" altLang="en-US" sz="2000" b="1" dirty="0">
                <a:solidFill>
                  <a:srgbClr val="404040"/>
                </a:solidFill>
                <a:latin typeface="+mn-ea"/>
              </a:rPr>
              <a:t>導出した事例です。</a:t>
            </a:r>
          </a:p>
          <a:p>
            <a:pPr defTabSz="925880"/>
            <a:r>
              <a:rPr lang="en-US" altLang="ja-JP" sz="2000" b="1" dirty="0">
                <a:solidFill>
                  <a:srgbClr val="404040"/>
                </a:solidFill>
                <a:latin typeface="+mn-ea"/>
              </a:rPr>
              <a:t>【</a:t>
            </a:r>
            <a:r>
              <a:rPr lang="ja-JP" altLang="en-US" sz="2000" b="1" dirty="0">
                <a:solidFill>
                  <a:srgbClr val="404040"/>
                </a:solidFill>
                <a:latin typeface="+mn-ea"/>
              </a:rPr>
              <a:t>成果</a:t>
            </a:r>
            <a:r>
              <a:rPr lang="en-US" altLang="ja-JP" sz="2000" b="1" dirty="0">
                <a:solidFill>
                  <a:srgbClr val="404040"/>
                </a:solidFill>
                <a:latin typeface="+mn-ea"/>
              </a:rPr>
              <a:t>】</a:t>
            </a:r>
          </a:p>
          <a:p>
            <a:pPr defTabSz="925880"/>
            <a:r>
              <a:rPr lang="en-US" altLang="ja-JP" sz="2000" b="1" dirty="0">
                <a:solidFill>
                  <a:srgbClr val="404040"/>
                </a:solidFill>
                <a:latin typeface="+mn-ea"/>
              </a:rPr>
              <a:t> AI</a:t>
            </a:r>
            <a:r>
              <a:rPr lang="ja-JP" altLang="en-US" sz="2000" b="1" dirty="0">
                <a:solidFill>
                  <a:srgbClr val="404040"/>
                </a:solidFill>
                <a:latin typeface="+mn-ea"/>
              </a:rPr>
              <a:t>上のグループインタビューにより得られた示唆をもとにターゲット選定することで、販促プロモーションの購買率が</a:t>
            </a:r>
            <a:r>
              <a:rPr lang="en-US" altLang="ja-JP" sz="2000" b="1" dirty="0">
                <a:solidFill>
                  <a:srgbClr val="404040"/>
                </a:solidFill>
                <a:latin typeface="+mn-ea"/>
              </a:rPr>
              <a:t>3.0%</a:t>
            </a:r>
            <a:r>
              <a:rPr lang="ja-JP" altLang="en-US" sz="2000" b="1" dirty="0">
                <a:solidFill>
                  <a:srgbClr val="404040"/>
                </a:solidFill>
                <a:latin typeface="+mn-ea"/>
              </a:rPr>
              <a:t>向上</a:t>
            </a:r>
          </a:p>
        </p:txBody>
      </p:sp>
      <p:pic>
        <p:nvPicPr>
          <p:cNvPr id="7" name="図 6">
            <a:extLst>
              <a:ext uri="{FF2B5EF4-FFF2-40B4-BE49-F238E27FC236}">
                <a16:creationId xmlns:a16="http://schemas.microsoft.com/office/drawing/2014/main" id="{180224B4-8DB2-6F28-D662-0761F3977539}"/>
              </a:ext>
            </a:extLst>
          </p:cNvPr>
          <p:cNvPicPr>
            <a:picLocks noChangeAspect="1"/>
          </p:cNvPicPr>
          <p:nvPr/>
        </p:nvPicPr>
        <p:blipFill>
          <a:blip r:embed="rId2"/>
          <a:stretch>
            <a:fillRect/>
          </a:stretch>
        </p:blipFill>
        <p:spPr>
          <a:xfrm>
            <a:off x="268864" y="2825728"/>
            <a:ext cx="9517484" cy="2703447"/>
          </a:xfrm>
          <a:prstGeom prst="rect">
            <a:avLst/>
          </a:prstGeom>
        </p:spPr>
      </p:pic>
      <p:sp>
        <p:nvSpPr>
          <p:cNvPr id="35" name="テキスト ボックス 34">
            <a:extLst>
              <a:ext uri="{FF2B5EF4-FFF2-40B4-BE49-F238E27FC236}">
                <a16:creationId xmlns:a16="http://schemas.microsoft.com/office/drawing/2014/main" id="{484AD260-34A7-49B8-B3AB-636F4B418A68}"/>
              </a:ext>
            </a:extLst>
          </p:cNvPr>
          <p:cNvSpPr txBox="1"/>
          <p:nvPr/>
        </p:nvSpPr>
        <p:spPr>
          <a:xfrm>
            <a:off x="5027606" y="5716752"/>
            <a:ext cx="4532684" cy="600164"/>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09_Japan Analyst Day 2025_</a:t>
            </a:r>
            <a:r>
              <a:rPr lang="ja-JP" altLang="en-US" sz="1000" dirty="0">
                <a:solidFill>
                  <a:srgbClr val="404040"/>
                </a:solidFill>
                <a:latin typeface="+mn-ea"/>
              </a:rPr>
              <a:t>配布用</a:t>
            </a:r>
            <a:r>
              <a:rPr lang="en-US" altLang="ja-JP" sz="1000" dirty="0">
                <a:solidFill>
                  <a:srgbClr val="404040"/>
                </a:solidFill>
                <a:latin typeface="+mn-ea"/>
              </a:rPr>
              <a:t>.pdf</a:t>
            </a:r>
          </a:p>
          <a:p>
            <a:pPr defTabSz="925880"/>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endParaRPr lang="en-US" altLang="ja-JP" sz="1000" dirty="0">
              <a:solidFill>
                <a:srgbClr val="404040"/>
              </a:solidFill>
              <a:latin typeface="+mn-ea"/>
            </a:endParaRPr>
          </a:p>
          <a:p>
            <a:pPr defTabSz="925880"/>
            <a:r>
              <a:rPr lang="en-US" altLang="ja-JP"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n-ea"/>
            </a:endParaRPr>
          </a:p>
        </p:txBody>
      </p:sp>
    </p:spTree>
    <p:extLst>
      <p:ext uri="{BB962C8B-B14F-4D97-AF65-F5344CB8AC3E}">
        <p14:creationId xmlns:p14="http://schemas.microsoft.com/office/powerpoint/2010/main" val="3035883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F587-BC51-6B1C-46FC-39D9FE93B1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6BAF68-813B-D1C6-ABE5-AC1020AC1CD3}"/>
              </a:ext>
            </a:extLst>
          </p:cNvPr>
          <p:cNvSpPr>
            <a:spLocks noGrp="1"/>
          </p:cNvSpPr>
          <p:nvPr>
            <p:ph type="title"/>
          </p:nvPr>
        </p:nvSpPr>
        <p:spPr/>
        <p:txBody>
          <a:bodyPr>
            <a:normAutofit/>
          </a:bodyPr>
          <a:lstStyle/>
          <a:p>
            <a:r>
              <a:rPr lang="en-US" altLang="ja-JP" dirty="0">
                <a:latin typeface="+mn-ea"/>
                <a:ea typeface="+mn-ea"/>
              </a:rPr>
              <a:t>3-14. </a:t>
            </a:r>
            <a:r>
              <a:rPr lang="ja-JP" altLang="en-US" dirty="0">
                <a:latin typeface="+mn-ea"/>
                <a:ea typeface="+mn-ea"/>
              </a:rPr>
              <a:t>大手メディアサービス会社</a:t>
            </a:r>
            <a:r>
              <a:rPr lang="en-US" altLang="ja-JP" dirty="0">
                <a:latin typeface="+mn-ea"/>
                <a:ea typeface="+mn-ea"/>
              </a:rPr>
              <a:t> - AI-BPO</a:t>
            </a:r>
            <a:r>
              <a:rPr lang="ja-JP" altLang="en-US" dirty="0">
                <a:latin typeface="+mn-ea"/>
                <a:ea typeface="+mn-ea"/>
              </a:rPr>
              <a:t>によるオペレーション変革</a:t>
            </a:r>
          </a:p>
        </p:txBody>
      </p:sp>
      <p:pic>
        <p:nvPicPr>
          <p:cNvPr id="8" name="図 7">
            <a:extLst>
              <a:ext uri="{FF2B5EF4-FFF2-40B4-BE49-F238E27FC236}">
                <a16:creationId xmlns:a16="http://schemas.microsoft.com/office/drawing/2014/main" id="{BDAA9CA2-7C64-5EB9-2334-94EB9FBB90C5}"/>
              </a:ext>
            </a:extLst>
          </p:cNvPr>
          <p:cNvPicPr>
            <a:picLocks noChangeAspect="1"/>
          </p:cNvPicPr>
          <p:nvPr/>
        </p:nvPicPr>
        <p:blipFill>
          <a:blip r:embed="rId2"/>
          <a:stretch>
            <a:fillRect/>
          </a:stretch>
        </p:blipFill>
        <p:spPr>
          <a:xfrm>
            <a:off x="1002929" y="3164013"/>
            <a:ext cx="7383620" cy="2877698"/>
          </a:xfrm>
          <a:prstGeom prst="rect">
            <a:avLst/>
          </a:prstGeom>
        </p:spPr>
      </p:pic>
      <p:sp>
        <p:nvSpPr>
          <p:cNvPr id="71" name="テキスト ボックス 70">
            <a:extLst>
              <a:ext uri="{FF2B5EF4-FFF2-40B4-BE49-F238E27FC236}">
                <a16:creationId xmlns:a16="http://schemas.microsoft.com/office/drawing/2014/main" id="{6990C36A-1F41-E7C6-A43F-6741ACBBF9FF}"/>
              </a:ext>
            </a:extLst>
          </p:cNvPr>
          <p:cNvSpPr txBox="1"/>
          <p:nvPr/>
        </p:nvSpPr>
        <p:spPr>
          <a:xfrm>
            <a:off x="750201" y="6033363"/>
            <a:ext cx="9157387" cy="446276"/>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09_Japan Analyst Day 2025_</a:t>
            </a:r>
            <a:r>
              <a:rPr lang="ja-JP" altLang="en-US" sz="1000" dirty="0">
                <a:solidFill>
                  <a:srgbClr val="404040"/>
                </a:solidFill>
                <a:latin typeface="+mn-ea"/>
              </a:rPr>
              <a:t>配布用</a:t>
            </a:r>
            <a:r>
              <a:rPr lang="en-US" altLang="ja-JP" sz="1000" dirty="0">
                <a:solidFill>
                  <a:srgbClr val="404040"/>
                </a:solidFill>
                <a:latin typeface="+mn-ea"/>
              </a:rPr>
              <a:t>.pdf</a:t>
            </a:r>
          </a:p>
          <a:p>
            <a:pPr defTabSz="925880"/>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n-ea"/>
                <a:hlinkClick r:id="rId3"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r>
              <a:rPr lang="en-US" altLang="ja-JP"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n-ea"/>
                <a:hlinkClick r:id="rId4"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n-ea"/>
            </a:endParaRPr>
          </a:p>
        </p:txBody>
      </p:sp>
      <p:sp>
        <p:nvSpPr>
          <p:cNvPr id="73" name="テキスト ボックス 72">
            <a:extLst>
              <a:ext uri="{FF2B5EF4-FFF2-40B4-BE49-F238E27FC236}">
                <a16:creationId xmlns:a16="http://schemas.microsoft.com/office/drawing/2014/main" id="{BE6235C2-2BEE-52F9-3EDD-FB27072765B8}"/>
              </a:ext>
            </a:extLst>
          </p:cNvPr>
          <p:cNvSpPr txBox="1"/>
          <p:nvPr/>
        </p:nvSpPr>
        <p:spPr>
          <a:xfrm>
            <a:off x="268864" y="1047234"/>
            <a:ext cx="9564087" cy="2092881"/>
          </a:xfrm>
          <a:prstGeom prst="rect">
            <a:avLst/>
          </a:prstGeom>
          <a:noFill/>
        </p:spPr>
        <p:txBody>
          <a:bodyPr wrap="square">
            <a:spAutoFit/>
          </a:bodyPr>
          <a:lstStyle/>
          <a:p>
            <a:pPr defTabSz="925880">
              <a:lnSpc>
                <a:spcPct val="130000"/>
              </a:lnSpc>
            </a:pPr>
            <a:r>
              <a:rPr lang="ja-JP" altLang="en-US" sz="2000" b="1" dirty="0">
                <a:solidFill>
                  <a:srgbClr val="333333"/>
                </a:solidFill>
                <a:latin typeface="+mn-ea"/>
              </a:rPr>
              <a:t>生成</a:t>
            </a:r>
            <a:r>
              <a:rPr lang="en-US" altLang="ja-JP" sz="2000" b="1" dirty="0">
                <a:solidFill>
                  <a:srgbClr val="333333"/>
                </a:solidFill>
                <a:latin typeface="+mn-ea"/>
              </a:rPr>
              <a:t>AI</a:t>
            </a:r>
            <a:r>
              <a:rPr lang="ja-JP" altLang="en-US" sz="2000" b="1" dirty="0">
                <a:solidFill>
                  <a:srgbClr val="333333"/>
                </a:solidFill>
                <a:latin typeface="+mn-ea"/>
              </a:rPr>
              <a:t>を活用し、従来は人手で行っていた校閲作業・文化的適合性確認など）を</a:t>
            </a:r>
            <a:endParaRPr lang="en-US" altLang="ja-JP" sz="2000" b="1" dirty="0">
              <a:solidFill>
                <a:srgbClr val="333333"/>
              </a:solidFill>
              <a:latin typeface="+mn-ea"/>
            </a:endParaRPr>
          </a:p>
          <a:p>
            <a:pPr defTabSz="925880">
              <a:lnSpc>
                <a:spcPct val="130000"/>
              </a:lnSpc>
            </a:pPr>
            <a:r>
              <a:rPr lang="ja-JP" altLang="en-US" sz="2000" b="1" dirty="0">
                <a:solidFill>
                  <a:srgbClr val="333333"/>
                </a:solidFill>
                <a:latin typeface="+mn-ea"/>
              </a:rPr>
              <a:t>効率化した事例です。</a:t>
            </a:r>
            <a:endParaRPr lang="en-US" altLang="ja-JP" sz="2000" b="1" dirty="0">
              <a:solidFill>
                <a:srgbClr val="333333"/>
              </a:solidFill>
              <a:latin typeface="+mn-ea"/>
            </a:endParaRPr>
          </a:p>
          <a:p>
            <a:pPr defTabSz="925880">
              <a:lnSpc>
                <a:spcPct val="130000"/>
              </a:lnSpc>
            </a:pPr>
            <a:r>
              <a:rPr lang="en-US" altLang="ja-JP" sz="2000" b="1" dirty="0">
                <a:solidFill>
                  <a:srgbClr val="333333"/>
                </a:solidFill>
                <a:latin typeface="+mn-ea"/>
              </a:rPr>
              <a:t>【</a:t>
            </a:r>
            <a:r>
              <a:rPr lang="ja-JP" altLang="en-US" sz="2000" b="1" dirty="0">
                <a:solidFill>
                  <a:srgbClr val="333333"/>
                </a:solidFill>
                <a:latin typeface="+mn-ea"/>
              </a:rPr>
              <a:t>成果</a:t>
            </a:r>
            <a:r>
              <a:rPr lang="en-US" altLang="ja-JP" sz="2000" b="1" dirty="0">
                <a:solidFill>
                  <a:srgbClr val="333333"/>
                </a:solidFill>
                <a:latin typeface="+mn-ea"/>
              </a:rPr>
              <a:t>】</a:t>
            </a:r>
          </a:p>
          <a:p>
            <a:pPr defTabSz="925880">
              <a:lnSpc>
                <a:spcPct val="130000"/>
              </a:lnSpc>
            </a:pPr>
            <a:r>
              <a:rPr lang="ja-JP" altLang="en-US" sz="2000" b="1" dirty="0">
                <a:solidFill>
                  <a:srgbClr val="333333"/>
                </a:solidFill>
                <a:latin typeface="+mn-ea"/>
              </a:rPr>
              <a:t>校閲ミスを </a:t>
            </a:r>
            <a:r>
              <a:rPr lang="en-US" altLang="ja-JP" sz="2000" b="1" dirty="0">
                <a:solidFill>
                  <a:srgbClr val="333333"/>
                </a:solidFill>
                <a:latin typeface="+mn-ea"/>
              </a:rPr>
              <a:t>96</a:t>
            </a:r>
            <a:r>
              <a:rPr lang="ja-JP" altLang="en-US" sz="2000" b="1" dirty="0">
                <a:solidFill>
                  <a:srgbClr val="333333"/>
                </a:solidFill>
                <a:latin typeface="+mn-ea"/>
              </a:rPr>
              <a:t>％削減、作業期間を</a:t>
            </a:r>
            <a:r>
              <a:rPr lang="en-US" altLang="ja-JP" sz="2000" b="1" dirty="0">
                <a:solidFill>
                  <a:srgbClr val="333333"/>
                </a:solidFill>
                <a:latin typeface="+mn-ea"/>
              </a:rPr>
              <a:t>1/3</a:t>
            </a:r>
            <a:r>
              <a:rPr lang="ja-JP" altLang="en-US" sz="2000" b="1" dirty="0">
                <a:solidFill>
                  <a:srgbClr val="333333"/>
                </a:solidFill>
                <a:latin typeface="+mn-ea"/>
              </a:rPr>
              <a:t>に短縮（誤字脱字検出、文法チェック、トーン・スタイルの統一、規則、</a:t>
            </a:r>
            <a:r>
              <a:rPr lang="en-US" altLang="ja-JP" sz="2000" b="1" dirty="0">
                <a:solidFill>
                  <a:srgbClr val="333333"/>
                </a:solidFill>
                <a:latin typeface="+mn-ea"/>
              </a:rPr>
              <a:t>1</a:t>
            </a:r>
            <a:r>
              <a:rPr lang="ja-JP" altLang="en-US" sz="2000" b="1" dirty="0">
                <a:solidFill>
                  <a:srgbClr val="333333"/>
                </a:solidFill>
                <a:latin typeface="+mn-ea"/>
              </a:rPr>
              <a:t>日あたり処理量は</a:t>
            </a:r>
            <a:r>
              <a:rPr lang="en-US" altLang="ja-JP" sz="2000" b="1" dirty="0">
                <a:solidFill>
                  <a:srgbClr val="333333"/>
                </a:solidFill>
                <a:latin typeface="+mn-ea"/>
              </a:rPr>
              <a:t>5</a:t>
            </a:r>
            <a:r>
              <a:rPr lang="ja-JP" altLang="en-US" sz="2000" b="1" dirty="0">
                <a:solidFill>
                  <a:srgbClr val="333333"/>
                </a:solidFill>
                <a:latin typeface="+mn-ea"/>
              </a:rPr>
              <a:t>倍に増加。）</a:t>
            </a:r>
          </a:p>
        </p:txBody>
      </p:sp>
    </p:spTree>
    <p:extLst>
      <p:ext uri="{BB962C8B-B14F-4D97-AF65-F5344CB8AC3E}">
        <p14:creationId xmlns:p14="http://schemas.microsoft.com/office/powerpoint/2010/main" val="507030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F483-1C24-EF74-65E1-5E4EEEC5EB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9127E-AC93-D203-B016-9ECAD5EE2304}"/>
              </a:ext>
            </a:extLst>
          </p:cNvPr>
          <p:cNvSpPr>
            <a:spLocks noGrp="1"/>
          </p:cNvSpPr>
          <p:nvPr>
            <p:ph type="title"/>
          </p:nvPr>
        </p:nvSpPr>
        <p:spPr/>
        <p:txBody>
          <a:bodyPr>
            <a:normAutofit/>
          </a:bodyPr>
          <a:lstStyle/>
          <a:p>
            <a:r>
              <a:rPr lang="en-US" altLang="ja-JP" dirty="0">
                <a:latin typeface="+mn-ea"/>
                <a:ea typeface="+mn-ea"/>
              </a:rPr>
              <a:t>Appendix</a:t>
            </a:r>
            <a:r>
              <a:rPr lang="ja-JP" altLang="en-US" dirty="0">
                <a:latin typeface="+mn-ea"/>
                <a:ea typeface="+mn-ea"/>
              </a:rPr>
              <a:t>：りそな様</a:t>
            </a:r>
            <a:r>
              <a:rPr lang="en-US" altLang="ja-JP" dirty="0">
                <a:latin typeface="+mn-ea"/>
                <a:ea typeface="+mn-ea"/>
              </a:rPr>
              <a:t> - AI </a:t>
            </a:r>
            <a:r>
              <a:rPr lang="en-US" altLang="ja-JP" dirty="0" err="1">
                <a:latin typeface="+mn-ea"/>
                <a:ea typeface="+mn-ea"/>
              </a:rPr>
              <a:t>CoE</a:t>
            </a:r>
            <a:r>
              <a:rPr lang="ja-JP" altLang="en-US" dirty="0">
                <a:latin typeface="+mn-ea"/>
                <a:ea typeface="+mn-ea"/>
              </a:rPr>
              <a:t>と生成</a:t>
            </a:r>
            <a:r>
              <a:rPr lang="en-US" altLang="ja-JP" dirty="0">
                <a:latin typeface="+mn-ea"/>
                <a:ea typeface="+mn-ea"/>
              </a:rPr>
              <a:t>AI</a:t>
            </a:r>
            <a:r>
              <a:rPr lang="ja-JP" altLang="en-US" dirty="0">
                <a:latin typeface="+mn-ea"/>
                <a:ea typeface="+mn-ea"/>
              </a:rPr>
              <a:t>人財育成アカデミーの推進</a:t>
            </a:r>
            <a:endParaRPr lang="en-US" altLang="ja-JP" dirty="0">
              <a:latin typeface="+mn-ea"/>
              <a:ea typeface="+mn-ea"/>
            </a:endParaRPr>
          </a:p>
        </p:txBody>
      </p:sp>
      <p:pic>
        <p:nvPicPr>
          <p:cNvPr id="4" name="Picture 2">
            <a:extLst>
              <a:ext uri="{FF2B5EF4-FFF2-40B4-BE49-F238E27FC236}">
                <a16:creationId xmlns:a16="http://schemas.microsoft.com/office/drawing/2014/main" id="{07014FE5-6C54-6D80-C5F6-768FC8C6E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53" y="1920398"/>
            <a:ext cx="9663164" cy="393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5">
            <a:extLst>
              <a:ext uri="{FF2B5EF4-FFF2-40B4-BE49-F238E27FC236}">
                <a16:creationId xmlns:a16="http://schemas.microsoft.com/office/drawing/2014/main" id="{DC8000B9-0AE1-12CF-1276-E8E6E8871352}"/>
              </a:ext>
            </a:extLst>
          </p:cNvPr>
          <p:cNvSpPr txBox="1"/>
          <p:nvPr/>
        </p:nvSpPr>
        <p:spPr>
          <a:xfrm>
            <a:off x="372269" y="5926182"/>
            <a:ext cx="6409074" cy="246221"/>
          </a:xfrm>
          <a:prstGeom prst="rect">
            <a:avLst/>
          </a:prstGeom>
          <a:noFill/>
        </p:spPr>
        <p:txBody>
          <a:bodyPr wrap="square">
            <a:spAutoFit/>
          </a:bodyPr>
          <a:lstStyle/>
          <a:p>
            <a:pPr defTabSz="925880"/>
            <a:r>
              <a:rPr lang="ja-JP" altLang="en-US" sz="1000" dirty="0">
                <a:solidFill>
                  <a:srgbClr val="000000"/>
                </a:solidFill>
                <a:latin typeface="+mn-ea"/>
                <a:hlinkClick r:id="rId3"/>
              </a:rPr>
              <a:t>参考：金融業界最大規模の生成</a:t>
            </a:r>
            <a:r>
              <a:rPr lang="en-US" altLang="ja-JP" sz="1000" dirty="0">
                <a:solidFill>
                  <a:srgbClr val="000000"/>
                </a:solidFill>
                <a:latin typeface="+mn-ea"/>
                <a:hlinkClick r:id="rId3"/>
              </a:rPr>
              <a:t>AI</a:t>
            </a:r>
            <a:r>
              <a:rPr lang="ja-JP" altLang="en-US" sz="1000" dirty="0">
                <a:solidFill>
                  <a:srgbClr val="000000"/>
                </a:solidFill>
                <a:latin typeface="+mn-ea"/>
                <a:hlinkClick r:id="rId3"/>
              </a:rPr>
              <a:t>人財育成アカデミーをりそなグループに提供</a:t>
            </a:r>
            <a:endParaRPr lang="ja-JP" altLang="en-US" sz="1000" dirty="0">
              <a:solidFill>
                <a:srgbClr val="000000"/>
              </a:solidFill>
              <a:latin typeface="+mn-ea"/>
            </a:endParaRPr>
          </a:p>
        </p:txBody>
      </p:sp>
      <p:sp>
        <p:nvSpPr>
          <p:cNvPr id="8" name="テキスト ボックス 7">
            <a:extLst>
              <a:ext uri="{FF2B5EF4-FFF2-40B4-BE49-F238E27FC236}">
                <a16:creationId xmlns:a16="http://schemas.microsoft.com/office/drawing/2014/main" id="{378E8671-FA74-C2AB-F237-C1D699157AB1}"/>
              </a:ext>
            </a:extLst>
          </p:cNvPr>
          <p:cNvSpPr txBox="1"/>
          <p:nvPr/>
        </p:nvSpPr>
        <p:spPr>
          <a:xfrm>
            <a:off x="5243292" y="5824314"/>
            <a:ext cx="4663503" cy="600164"/>
          </a:xfrm>
          <a:prstGeom prst="rect">
            <a:avLst/>
          </a:prstGeom>
          <a:noFill/>
        </p:spPr>
        <p:txBody>
          <a:bodyPr wrap="square">
            <a:spAutoFit/>
          </a:bodyPr>
          <a:lstStyle/>
          <a:p>
            <a:pPr defTabSz="925880">
              <a:lnSpc>
                <a:spcPct val="130000"/>
              </a:lnSpc>
            </a:pPr>
            <a:r>
              <a:rPr lang="ja-JP" altLang="en-US" sz="1000" dirty="0">
                <a:solidFill>
                  <a:srgbClr val="404040"/>
                </a:solidFill>
                <a:latin typeface="+mn-ea"/>
              </a:rPr>
              <a:t>引用元：</a:t>
            </a:r>
            <a:r>
              <a:rPr lang="en-US" altLang="ja-JP" sz="1000" dirty="0">
                <a:solidFill>
                  <a:srgbClr val="404040"/>
                </a:solidFill>
                <a:latin typeface="+mn-ea"/>
              </a:rPr>
              <a:t>09_Japan Analyst Day 2025_</a:t>
            </a:r>
            <a:r>
              <a:rPr lang="ja-JP" altLang="en-US" sz="1000" dirty="0">
                <a:solidFill>
                  <a:srgbClr val="404040"/>
                </a:solidFill>
                <a:latin typeface="+mn-ea"/>
              </a:rPr>
              <a:t>配布用</a:t>
            </a:r>
            <a:r>
              <a:rPr lang="en-US" altLang="ja-JP" sz="1000" dirty="0">
                <a:solidFill>
                  <a:srgbClr val="404040"/>
                </a:solidFill>
                <a:latin typeface="+mn-ea"/>
              </a:rPr>
              <a:t>.pdf</a:t>
            </a:r>
          </a:p>
          <a:p>
            <a:pPr defTabSz="925880"/>
            <a:r>
              <a:rPr lang="en-US" altLang="ja-JP" sz="1000" dirty="0">
                <a:solidFill>
                  <a:srgbClr val="404040"/>
                </a:solidFill>
                <a:latin typeface="+mn-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NTT DATA</a:t>
            </a:r>
            <a:r>
              <a:rPr lang="ja-JP" altLang="en-US" sz="1000" dirty="0">
                <a:solidFill>
                  <a:srgbClr val="404040"/>
                </a:solidFill>
                <a:latin typeface="+mn-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の</a:t>
            </a:r>
            <a:r>
              <a:rPr lang="en-US" altLang="ja-JP" sz="1000" dirty="0">
                <a:solidFill>
                  <a:srgbClr val="404040"/>
                </a:solidFill>
                <a:latin typeface="+mn-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AI</a:t>
            </a:r>
            <a:r>
              <a:rPr lang="ja-JP" altLang="en-US" sz="1000" dirty="0">
                <a:solidFill>
                  <a:srgbClr val="404040"/>
                </a:solidFill>
                <a:latin typeface="+mn-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ビジネスのキーパーソンが語る現在地と未来 </a:t>
            </a:r>
            <a:r>
              <a:rPr lang="en-US" altLang="ja-JP" sz="1000" dirty="0">
                <a:solidFill>
                  <a:srgbClr val="404040"/>
                </a:solidFill>
                <a:latin typeface="+mn-ea"/>
                <a:hlinkClick r:id="rId4" tooltip="https://nttdatahr.service-now.com/data_finder?id=df_article_detail_page&amp;sys_id=70ffa6e99302b2d076f43ccdfaba10fd">
                  <a:extLst>
                    <a:ext uri="{A12FA001-AC4F-418D-AE19-62706E023703}">
                      <ahyp:hlinkClr xmlns:ahyp="http://schemas.microsoft.com/office/drawing/2018/hyperlinkcolor" val="tx"/>
                    </a:ext>
                  </a:extLst>
                </a:hlinkClick>
              </a:rPr>
              <a:t>- DATA FINDER</a:t>
            </a:r>
            <a:endParaRPr lang="en-US" altLang="ja-JP" sz="1000" dirty="0">
              <a:solidFill>
                <a:srgbClr val="404040"/>
              </a:solidFill>
              <a:latin typeface="+mn-ea"/>
            </a:endParaRPr>
          </a:p>
          <a:p>
            <a:pPr defTabSz="925880"/>
            <a:r>
              <a:rPr lang="en-US" altLang="ja-JP" sz="1000" dirty="0">
                <a:solidFill>
                  <a:srgbClr val="404040"/>
                </a:solidFill>
                <a:latin typeface="+mn-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09_Japan Analyst Day 2025_</a:t>
            </a:r>
            <a:r>
              <a:rPr lang="ja-JP" altLang="en-US" sz="1000" dirty="0">
                <a:solidFill>
                  <a:srgbClr val="404040"/>
                </a:solidFill>
                <a:latin typeface="+mn-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配布用</a:t>
            </a:r>
            <a:r>
              <a:rPr lang="en-US" altLang="ja-JP" sz="1000" dirty="0">
                <a:solidFill>
                  <a:srgbClr val="404040"/>
                </a:solidFill>
                <a:latin typeface="+mn-ea"/>
                <a:hlinkClick r:id="rId5" tooltip="https://dwp.nttdata.com/document/document-3706ab3013970fe400088cb5b88cf3a8-01uxzocz6ae3txrlbg7reyb7fefkkj6kle">
                  <a:extLst>
                    <a:ext uri="{A12FA001-AC4F-418D-AE19-62706E023703}">
                      <ahyp:hlinkClr xmlns:ahyp="http://schemas.microsoft.com/office/drawing/2018/hyperlinkcolor" val="tx"/>
                    </a:ext>
                  </a:extLst>
                </a:hlinkClick>
              </a:rPr>
              <a:t>.pdf - NTT DATA Digital Workplace</a:t>
            </a:r>
            <a:endParaRPr lang="ja-JP" altLang="en-US" sz="1000" dirty="0">
              <a:solidFill>
                <a:srgbClr val="404040"/>
              </a:solidFill>
              <a:latin typeface="+mn-ea"/>
            </a:endParaRPr>
          </a:p>
        </p:txBody>
      </p:sp>
      <p:sp>
        <p:nvSpPr>
          <p:cNvPr id="10" name="テキスト ボックス 9">
            <a:extLst>
              <a:ext uri="{FF2B5EF4-FFF2-40B4-BE49-F238E27FC236}">
                <a16:creationId xmlns:a16="http://schemas.microsoft.com/office/drawing/2014/main" id="{E652D5FC-1A01-2B37-C84A-0278EBBAEEFC}"/>
              </a:ext>
            </a:extLst>
          </p:cNvPr>
          <p:cNvSpPr txBox="1"/>
          <p:nvPr/>
        </p:nvSpPr>
        <p:spPr>
          <a:xfrm>
            <a:off x="268864" y="1047233"/>
            <a:ext cx="9564087" cy="843436"/>
          </a:xfrm>
          <a:prstGeom prst="rect">
            <a:avLst/>
          </a:prstGeom>
          <a:noFill/>
        </p:spPr>
        <p:txBody>
          <a:bodyPr wrap="square">
            <a:spAutoFit/>
          </a:bodyPr>
          <a:lstStyle/>
          <a:p>
            <a:pPr defTabSz="925880">
              <a:lnSpc>
                <a:spcPct val="130000"/>
              </a:lnSpc>
            </a:pPr>
            <a:r>
              <a:rPr lang="ja-JP" altLang="en-US" sz="2000" b="1" dirty="0">
                <a:solidFill>
                  <a:srgbClr val="333333"/>
                </a:solidFill>
                <a:latin typeface="+mn-ea"/>
              </a:rPr>
              <a:t>りそな様は</a:t>
            </a:r>
            <a:r>
              <a:rPr lang="en-US" altLang="ja-JP" sz="2000" b="1" dirty="0">
                <a:solidFill>
                  <a:srgbClr val="333333"/>
                </a:solidFill>
                <a:latin typeface="+mn-ea"/>
              </a:rPr>
              <a:t>NTT</a:t>
            </a:r>
            <a:r>
              <a:rPr lang="ja-JP" altLang="en-US" sz="2000" b="1" dirty="0">
                <a:solidFill>
                  <a:srgbClr val="333333"/>
                </a:solidFill>
                <a:latin typeface="+mn-ea"/>
              </a:rPr>
              <a:t>データ支援の元で</a:t>
            </a:r>
            <a:endParaRPr lang="en-US" altLang="ja-JP" sz="2000" b="1" dirty="0">
              <a:solidFill>
                <a:srgbClr val="333333"/>
              </a:solidFill>
              <a:latin typeface="+mn-ea"/>
            </a:endParaRPr>
          </a:p>
          <a:p>
            <a:pPr defTabSz="925880">
              <a:lnSpc>
                <a:spcPct val="130000"/>
              </a:lnSpc>
            </a:pPr>
            <a:r>
              <a:rPr lang="en-US" altLang="ja-JP" sz="2000" b="1" dirty="0">
                <a:solidFill>
                  <a:srgbClr val="333333"/>
                </a:solidFill>
                <a:latin typeface="+mn-ea"/>
              </a:rPr>
              <a:t>AI</a:t>
            </a:r>
            <a:r>
              <a:rPr lang="ja-JP" altLang="en-US" sz="2000" b="1" dirty="0">
                <a:solidFill>
                  <a:srgbClr val="333333"/>
                </a:solidFill>
                <a:latin typeface="+mn-ea"/>
              </a:rPr>
              <a:t>ドリブンの企画・推進組織「</a:t>
            </a:r>
            <a:r>
              <a:rPr lang="en-US" altLang="ja-JP" sz="2000" b="1" dirty="0">
                <a:solidFill>
                  <a:srgbClr val="333333"/>
                </a:solidFill>
                <a:latin typeface="+mn-ea"/>
              </a:rPr>
              <a:t>AI </a:t>
            </a:r>
            <a:r>
              <a:rPr lang="en-US" altLang="ja-JP" sz="2000" b="1" dirty="0" err="1">
                <a:solidFill>
                  <a:srgbClr val="333333"/>
                </a:solidFill>
                <a:latin typeface="+mn-ea"/>
              </a:rPr>
              <a:t>CoE</a:t>
            </a:r>
            <a:r>
              <a:rPr lang="ja-JP" altLang="en-US" sz="2000" b="1" dirty="0">
                <a:solidFill>
                  <a:srgbClr val="333333"/>
                </a:solidFill>
                <a:latin typeface="+mn-ea"/>
              </a:rPr>
              <a:t>」を設置。生成</a:t>
            </a:r>
            <a:r>
              <a:rPr lang="en-US" altLang="ja-JP" sz="2000" b="1" dirty="0">
                <a:solidFill>
                  <a:srgbClr val="333333"/>
                </a:solidFill>
                <a:latin typeface="+mn-ea"/>
              </a:rPr>
              <a:t>AI</a:t>
            </a:r>
            <a:r>
              <a:rPr lang="ja-JP" altLang="en-US" sz="2000" b="1" dirty="0">
                <a:solidFill>
                  <a:srgbClr val="333333"/>
                </a:solidFill>
                <a:latin typeface="+mn-ea"/>
              </a:rPr>
              <a:t>人財育成アカデミーを推進中。</a:t>
            </a:r>
          </a:p>
        </p:txBody>
      </p:sp>
    </p:spTree>
    <p:extLst>
      <p:ext uri="{BB962C8B-B14F-4D97-AF65-F5344CB8AC3E}">
        <p14:creationId xmlns:p14="http://schemas.microsoft.com/office/powerpoint/2010/main" val="2192573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pPr defTabSz="457166"/>
            <a:r>
              <a:rPr lang="en-US" altLang="ja-JP" spc="150" dirty="0">
                <a:solidFill>
                  <a:schemeClr val="accent2"/>
                </a:solidFill>
              </a:rPr>
              <a:t>04</a:t>
            </a:r>
            <a:endParaRPr lang="ja-JP" altLang="en-US" spc="150" dirty="0">
              <a:solidFill>
                <a:schemeClr val="accent2"/>
              </a:solidFill>
            </a:endParaRPr>
          </a:p>
        </p:txBody>
      </p:sp>
      <p:sp>
        <p:nvSpPr>
          <p:cNvPr id="6" name="テキスト プレースホルダー 5"/>
          <p:cNvSpPr>
            <a:spLocks noGrp="1"/>
          </p:cNvSpPr>
          <p:nvPr>
            <p:ph type="body" sz="quarter" idx="16"/>
          </p:nvPr>
        </p:nvSpPr>
        <p:spPr/>
        <p:txBody>
          <a:bodyPr/>
          <a:lstStyle/>
          <a:p>
            <a:r>
              <a:rPr lang="ja-JP" altLang="en-US" dirty="0">
                <a:latin typeface="+mj-ea"/>
                <a:ea typeface="+mj-ea"/>
              </a:rPr>
              <a:t>プロンプト</a:t>
            </a:r>
            <a:br>
              <a:rPr lang="en-US" altLang="ja-JP" dirty="0">
                <a:latin typeface="+mj-ea"/>
                <a:ea typeface="+mj-ea"/>
              </a:rPr>
            </a:br>
            <a:r>
              <a:rPr lang="ja-JP" altLang="en-US" dirty="0">
                <a:latin typeface="+mj-ea"/>
                <a:ea typeface="+mj-ea"/>
              </a:rPr>
              <a:t>エンジニアリング</a:t>
            </a:r>
          </a:p>
        </p:txBody>
      </p:sp>
    </p:spTree>
    <p:extLst>
      <p:ext uri="{BB962C8B-B14F-4D97-AF65-F5344CB8AC3E}">
        <p14:creationId xmlns:p14="http://schemas.microsoft.com/office/powerpoint/2010/main" val="4066414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96CB-49D9-5090-BBED-3AD52E84DD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A86135-7E5B-C585-7883-BE8BC696BD42}"/>
              </a:ext>
            </a:extLst>
          </p:cNvPr>
          <p:cNvSpPr>
            <a:spLocks noGrp="1"/>
          </p:cNvSpPr>
          <p:nvPr>
            <p:ph type="title"/>
          </p:nvPr>
        </p:nvSpPr>
        <p:spPr/>
        <p:txBody>
          <a:bodyPr>
            <a:normAutofit/>
          </a:bodyPr>
          <a:lstStyle/>
          <a:p>
            <a:r>
              <a:rPr lang="en-US" altLang="ja-JP" dirty="0">
                <a:latin typeface="+mn-ea"/>
                <a:ea typeface="+mn-ea"/>
              </a:rPr>
              <a:t>4-1.</a:t>
            </a:r>
            <a:r>
              <a:rPr lang="ja-JP" altLang="en-US" dirty="0">
                <a:latin typeface="+mn-ea"/>
                <a:ea typeface="+mn-ea"/>
              </a:rPr>
              <a:t> プロンプトとは</a:t>
            </a:r>
            <a:r>
              <a:rPr lang="en-US" altLang="ja-JP" dirty="0">
                <a:latin typeface="+mn-ea"/>
                <a:ea typeface="+mn-ea"/>
              </a:rPr>
              <a:t>?</a:t>
            </a:r>
            <a:endParaRPr lang="ja-JP" altLang="en-US" dirty="0">
              <a:latin typeface="+mn-ea"/>
              <a:ea typeface="+mn-ea"/>
            </a:endParaRPr>
          </a:p>
        </p:txBody>
      </p:sp>
      <p:sp>
        <p:nvSpPr>
          <p:cNvPr id="4" name="Shape 0">
            <a:extLst>
              <a:ext uri="{FF2B5EF4-FFF2-40B4-BE49-F238E27FC236}">
                <a16:creationId xmlns:a16="http://schemas.microsoft.com/office/drawing/2014/main" id="{C754D0CB-6999-789F-D643-894C106C1D78}"/>
              </a:ext>
            </a:extLst>
          </p:cNvPr>
          <p:cNvSpPr/>
          <p:nvPr/>
        </p:nvSpPr>
        <p:spPr>
          <a:xfrm>
            <a:off x="382099" y="1524306"/>
            <a:ext cx="9301499" cy="2095805"/>
          </a:xfrm>
          <a:prstGeom prst="roundRect">
            <a:avLst>
              <a:gd name="adj" fmla="val 3621"/>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6" name="Shape 1">
            <a:extLst>
              <a:ext uri="{FF2B5EF4-FFF2-40B4-BE49-F238E27FC236}">
                <a16:creationId xmlns:a16="http://schemas.microsoft.com/office/drawing/2014/main" id="{0FAFBC64-CF38-C6AF-2C0E-3BE3698E642D}"/>
              </a:ext>
            </a:extLst>
          </p:cNvPr>
          <p:cNvSpPr/>
          <p:nvPr/>
        </p:nvSpPr>
        <p:spPr>
          <a:xfrm>
            <a:off x="382099" y="3810306"/>
            <a:ext cx="9301499" cy="2476195"/>
          </a:xfrm>
          <a:prstGeom prst="roundRect">
            <a:avLst>
              <a:gd name="adj" fmla="val 3065"/>
            </a:avLst>
          </a:prstGeom>
          <a:solidFill>
            <a:srgbClr val="FFFAF0"/>
          </a:solidFill>
          <a:ln/>
        </p:spPr>
        <p:txBody>
          <a:bodyPr/>
          <a:lstStyle/>
          <a:p>
            <a:pPr defTabSz="925880"/>
            <a:endParaRPr lang="ja-JP" altLang="en-US" sz="2000">
              <a:solidFill>
                <a:srgbClr val="000000"/>
              </a:solidFill>
              <a:latin typeface="+mn-ea"/>
            </a:endParaRPr>
          </a:p>
        </p:txBody>
      </p:sp>
      <p:sp>
        <p:nvSpPr>
          <p:cNvPr id="9" name="Shape 2">
            <a:extLst>
              <a:ext uri="{FF2B5EF4-FFF2-40B4-BE49-F238E27FC236}">
                <a16:creationId xmlns:a16="http://schemas.microsoft.com/office/drawing/2014/main" id="{F4C8AF34-E005-E83E-61D5-61978F964D89}"/>
              </a:ext>
            </a:extLst>
          </p:cNvPr>
          <p:cNvSpPr/>
          <p:nvPr/>
        </p:nvSpPr>
        <p:spPr>
          <a:xfrm>
            <a:off x="382099" y="3810306"/>
            <a:ext cx="46880" cy="2476195"/>
          </a:xfrm>
          <a:prstGeom prst="roundRect">
            <a:avLst>
              <a:gd name="adj" fmla="val 131746"/>
            </a:avLst>
          </a:prstGeom>
          <a:solidFill>
            <a:srgbClr val="FCD34D"/>
          </a:solidFill>
          <a:ln w="12700">
            <a:solidFill>
              <a:srgbClr val="FCD34D">
                <a:alpha val="0"/>
              </a:srgbClr>
            </a:solidFill>
            <a:prstDash val="solid"/>
          </a:ln>
        </p:spPr>
        <p:txBody>
          <a:bodyPr/>
          <a:lstStyle/>
          <a:p>
            <a:pPr defTabSz="925880"/>
            <a:endParaRPr lang="ja-JP" altLang="en-US" sz="2000">
              <a:solidFill>
                <a:srgbClr val="000000"/>
              </a:solidFill>
              <a:latin typeface="+mn-ea"/>
            </a:endParaRPr>
          </a:p>
        </p:txBody>
      </p:sp>
      <p:pic>
        <p:nvPicPr>
          <p:cNvPr id="11" name="Image 0" descr="gen-dedup-28a62ff789f532b31f6f4c49f9798648.png">
            <a:extLst>
              <a:ext uri="{FF2B5EF4-FFF2-40B4-BE49-F238E27FC236}">
                <a16:creationId xmlns:a16="http://schemas.microsoft.com/office/drawing/2014/main" id="{DB0791BA-9294-C06E-921A-052D464CE7A5}"/>
              </a:ext>
            </a:extLst>
          </p:cNvPr>
          <p:cNvPicPr>
            <a:picLocks noChangeAspect="1"/>
          </p:cNvPicPr>
          <p:nvPr/>
        </p:nvPicPr>
        <p:blipFill>
          <a:blip r:embed="rId2"/>
          <a:srcRect l="-393" r="-393"/>
          <a:stretch/>
        </p:blipFill>
        <p:spPr>
          <a:xfrm>
            <a:off x="382099" y="1524306"/>
            <a:ext cx="46880" cy="2095805"/>
          </a:xfrm>
          <a:prstGeom prst="rect">
            <a:avLst/>
          </a:prstGeom>
        </p:spPr>
      </p:pic>
      <p:pic>
        <p:nvPicPr>
          <p:cNvPr id="13" name="Image 2" descr="gen-dedup-dd294a42066df35297570c8af299a789.png">
            <a:extLst>
              <a:ext uri="{FF2B5EF4-FFF2-40B4-BE49-F238E27FC236}">
                <a16:creationId xmlns:a16="http://schemas.microsoft.com/office/drawing/2014/main" id="{63D843F7-46D2-E7A6-8F95-6652992CBB6C}"/>
              </a:ext>
            </a:extLst>
          </p:cNvPr>
          <p:cNvPicPr>
            <a:picLocks noChangeAspect="1"/>
          </p:cNvPicPr>
          <p:nvPr/>
        </p:nvPicPr>
        <p:blipFill>
          <a:blip r:embed="rId3"/>
          <a:srcRect l="-385" r="-385"/>
          <a:stretch/>
        </p:blipFill>
        <p:spPr>
          <a:xfrm>
            <a:off x="762490" y="2667305"/>
            <a:ext cx="619852" cy="28346"/>
          </a:xfrm>
          <a:prstGeom prst="rect">
            <a:avLst/>
          </a:prstGeom>
        </p:spPr>
      </p:pic>
      <p:sp>
        <p:nvSpPr>
          <p:cNvPr id="15" name="Text 6">
            <a:extLst>
              <a:ext uri="{FF2B5EF4-FFF2-40B4-BE49-F238E27FC236}">
                <a16:creationId xmlns:a16="http://schemas.microsoft.com/office/drawing/2014/main" id="{C9E0823B-63FC-9D90-05E6-20F696BC23FF}"/>
              </a:ext>
            </a:extLst>
          </p:cNvPr>
          <p:cNvSpPr txBox="1"/>
          <p:nvPr/>
        </p:nvSpPr>
        <p:spPr>
          <a:xfrm>
            <a:off x="457995" y="1047902"/>
            <a:ext cx="9146722" cy="228600"/>
          </a:xfrm>
          <a:prstGeom prst="rect">
            <a:avLst/>
          </a:prstGeom>
          <a:noFill/>
          <a:ln/>
        </p:spPr>
        <p:txBody>
          <a:bodyPr wrap="none" lIns="0" tIns="0" rIns="0" bIns="0" rtlCol="0" anchor="ctr"/>
          <a:lstStyle/>
          <a:p>
            <a:pPr defTabSz="925880"/>
            <a:r>
              <a:rPr lang="en-US" sz="2000" dirty="0" err="1">
                <a:solidFill>
                  <a:srgbClr val="404040"/>
                </a:solidFill>
                <a:latin typeface="+mn-ea"/>
              </a:rPr>
              <a:t>プロンプトとは「AIへの操縦桿</a:t>
            </a:r>
            <a:r>
              <a:rPr lang="en-US" sz="2000" dirty="0">
                <a:solidFill>
                  <a:srgbClr val="404040"/>
                </a:solidFill>
                <a:latin typeface="+mn-ea"/>
              </a:rPr>
              <a:t>」</a:t>
            </a:r>
          </a:p>
        </p:txBody>
      </p:sp>
      <p:sp>
        <p:nvSpPr>
          <p:cNvPr id="17" name="Text 7">
            <a:extLst>
              <a:ext uri="{FF2B5EF4-FFF2-40B4-BE49-F238E27FC236}">
                <a16:creationId xmlns:a16="http://schemas.microsoft.com/office/drawing/2014/main" id="{162075E2-A7DD-EA99-F7E7-7CB6108A71E2}"/>
              </a:ext>
            </a:extLst>
          </p:cNvPr>
          <p:cNvSpPr txBox="1"/>
          <p:nvPr/>
        </p:nvSpPr>
        <p:spPr>
          <a:xfrm>
            <a:off x="762489" y="1904695"/>
            <a:ext cx="8991945" cy="571500"/>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プロンプトとは「AIへの操縦桿」</a:t>
            </a:r>
            <a:endParaRPr lang="en-US" sz="2000" dirty="0">
              <a:solidFill>
                <a:srgbClr val="000000"/>
              </a:solidFill>
              <a:latin typeface="+mn-ea"/>
            </a:endParaRPr>
          </a:p>
        </p:txBody>
      </p:sp>
      <p:sp>
        <p:nvSpPr>
          <p:cNvPr id="19" name="Text 8">
            <a:extLst>
              <a:ext uri="{FF2B5EF4-FFF2-40B4-BE49-F238E27FC236}">
                <a16:creationId xmlns:a16="http://schemas.microsoft.com/office/drawing/2014/main" id="{9575A18E-2DEA-0720-8405-00BB413DC465}"/>
              </a:ext>
            </a:extLst>
          </p:cNvPr>
          <p:cNvSpPr txBox="1"/>
          <p:nvPr/>
        </p:nvSpPr>
        <p:spPr>
          <a:xfrm>
            <a:off x="762489" y="2876702"/>
            <a:ext cx="8836424" cy="571500"/>
          </a:xfrm>
          <a:prstGeom prst="rect">
            <a:avLst/>
          </a:prstGeom>
          <a:noFill/>
          <a:ln/>
        </p:spPr>
        <p:txBody>
          <a:bodyPr wrap="square" lIns="0" tIns="0" rIns="0" bIns="0" rtlCol="0" anchor="ctr"/>
          <a:lstStyle/>
          <a:p>
            <a:pPr defTabSz="925880"/>
            <a:r>
              <a:rPr lang="en-US" sz="2000" dirty="0" err="1">
                <a:solidFill>
                  <a:srgbClr val="333333"/>
                </a:solidFill>
                <a:latin typeface="+mn-ea"/>
                <a:cs typeface="游ゴシック" pitchFamily="34" charset="-120"/>
              </a:rPr>
              <a:t>プロンプト（Prompt）とは、生成AIに対して「何をしてほしいか」を伝える指示文</a:t>
            </a:r>
            <a:r>
              <a:rPr lang="ja-JP" altLang="en-US" sz="2000" dirty="0" err="1">
                <a:solidFill>
                  <a:srgbClr val="333333"/>
                </a:solidFill>
                <a:latin typeface="+mn-ea"/>
                <a:cs typeface="游ゴシック" pitchFamily="34" charset="-120"/>
              </a:rPr>
              <a:t>です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21" name="Text 9">
            <a:extLst>
              <a:ext uri="{FF2B5EF4-FFF2-40B4-BE49-F238E27FC236}">
                <a16:creationId xmlns:a16="http://schemas.microsoft.com/office/drawing/2014/main" id="{08315C3D-808C-78B9-005D-0A4607E6A114}"/>
              </a:ext>
            </a:extLst>
          </p:cNvPr>
          <p:cNvSpPr txBox="1"/>
          <p:nvPr/>
        </p:nvSpPr>
        <p:spPr>
          <a:xfrm>
            <a:off x="610700" y="4058107"/>
            <a:ext cx="9146722" cy="305410"/>
          </a:xfrm>
          <a:prstGeom prst="rect">
            <a:avLst/>
          </a:prstGeom>
          <a:noFill/>
          <a:ln/>
        </p:spPr>
        <p:txBody>
          <a:bodyPr wrap="none" lIns="0" tIns="0" rIns="0" bIns="0" rtlCol="0" anchor="ctr"/>
          <a:lstStyle/>
          <a:p>
            <a:pPr defTabSz="925880"/>
            <a:r>
              <a:rPr lang="en-US" sz="2000" b="1" dirty="0">
                <a:solidFill>
                  <a:srgbClr val="B45309"/>
                </a:solidFill>
                <a:latin typeface="+mn-ea"/>
                <a:cs typeface="游ゴシック" pitchFamily="34" charset="-120"/>
              </a:rPr>
              <a:t>💡 AIから高品質な回答を引き出す鍵</a:t>
            </a:r>
            <a:endParaRPr lang="en-US" sz="2000" dirty="0">
              <a:solidFill>
                <a:srgbClr val="000000"/>
              </a:solidFill>
              <a:latin typeface="+mn-ea"/>
            </a:endParaRPr>
          </a:p>
        </p:txBody>
      </p:sp>
      <p:sp>
        <p:nvSpPr>
          <p:cNvPr id="23" name="Text 10">
            <a:extLst>
              <a:ext uri="{FF2B5EF4-FFF2-40B4-BE49-F238E27FC236}">
                <a16:creationId xmlns:a16="http://schemas.microsoft.com/office/drawing/2014/main" id="{FCD23638-509C-8508-6229-A14909A676AE}"/>
              </a:ext>
            </a:extLst>
          </p:cNvPr>
          <p:cNvSpPr txBox="1"/>
          <p:nvPr/>
        </p:nvSpPr>
        <p:spPr>
          <a:xfrm>
            <a:off x="610699" y="4414723"/>
            <a:ext cx="8991945" cy="1700784"/>
          </a:xfrm>
          <a:prstGeom prst="rect">
            <a:avLst/>
          </a:prstGeom>
          <a:noFill/>
          <a:ln/>
        </p:spPr>
        <p:txBody>
          <a:bodyPr wrap="square" lIns="0" tIns="0" rIns="0" bIns="0" rtlCol="0" anchor="ctr"/>
          <a:lstStyle/>
          <a:p>
            <a:pPr defTabSz="925880">
              <a:lnSpc>
                <a:spcPts val="3200"/>
              </a:lnSpc>
            </a:pPr>
            <a:r>
              <a:rPr lang="en-US" sz="2000" dirty="0">
                <a:solidFill>
                  <a:srgbClr val="333333"/>
                </a:solidFill>
                <a:latin typeface="+mn-ea"/>
                <a:cs typeface="游ゴシック" pitchFamily="34" charset="-120"/>
              </a:rPr>
              <a:t>AIから高品質な回答を引き出せるかどうかは、</a:t>
            </a:r>
            <a:endParaRPr lang="en-US" sz="2000" dirty="0">
              <a:solidFill>
                <a:srgbClr val="000000"/>
              </a:solidFill>
              <a:latin typeface="+mn-ea"/>
            </a:endParaRPr>
          </a:p>
          <a:p>
            <a:pPr defTabSz="925880">
              <a:lnSpc>
                <a:spcPts val="3200"/>
              </a:lnSpc>
            </a:pPr>
            <a:r>
              <a:rPr lang="en-US" sz="2000" b="1" dirty="0">
                <a:solidFill>
                  <a:srgbClr val="E60012"/>
                </a:solidFill>
                <a:latin typeface="+mn-ea"/>
                <a:cs typeface="游ゴシック" pitchFamily="34" charset="-120"/>
              </a:rPr>
              <a:t>「日本語でいかに論理的かつ具体的に要件を定義できるか（プロンプト力）」</a:t>
            </a:r>
            <a:endParaRPr lang="en-US" sz="2000" dirty="0">
              <a:solidFill>
                <a:srgbClr val="000000"/>
              </a:solidFill>
              <a:latin typeface="+mn-ea"/>
            </a:endParaRPr>
          </a:p>
          <a:p>
            <a:pPr defTabSz="925880">
              <a:lnSpc>
                <a:spcPts val="3200"/>
              </a:lnSpc>
            </a:pPr>
            <a:r>
              <a:rPr lang="en-US" sz="2000" dirty="0" err="1">
                <a:solidFill>
                  <a:srgbClr val="333333"/>
                </a:solidFill>
                <a:latin typeface="+mn-ea"/>
                <a:cs typeface="游ゴシック" pitchFamily="34" charset="-120"/>
              </a:rPr>
              <a:t>にかかっています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Tree>
    <p:extLst>
      <p:ext uri="{BB962C8B-B14F-4D97-AF65-F5344CB8AC3E}">
        <p14:creationId xmlns:p14="http://schemas.microsoft.com/office/powerpoint/2010/main" val="311663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F93B-0614-CD44-1E7B-2138520897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EE6C7DE-7128-C46A-2A59-B9065E7C46CD}"/>
              </a:ext>
            </a:extLst>
          </p:cNvPr>
          <p:cNvSpPr>
            <a:spLocks noGrp="1"/>
          </p:cNvSpPr>
          <p:nvPr>
            <p:ph type="title"/>
          </p:nvPr>
        </p:nvSpPr>
        <p:spPr/>
        <p:txBody>
          <a:bodyPr>
            <a:normAutofit/>
          </a:bodyPr>
          <a:lstStyle/>
          <a:p>
            <a:r>
              <a:rPr lang="en-US" altLang="ja-JP" dirty="0">
                <a:latin typeface="+mn-ea"/>
                <a:ea typeface="+mn-ea"/>
              </a:rPr>
              <a:t>4-2.</a:t>
            </a:r>
            <a:r>
              <a:rPr lang="ja-JP" altLang="en-US" dirty="0">
                <a:latin typeface="+mn-ea"/>
                <a:ea typeface="+mn-ea"/>
              </a:rPr>
              <a:t> プロンプトを構成する</a:t>
            </a:r>
            <a:r>
              <a:rPr lang="en-US" altLang="ja-JP" dirty="0">
                <a:latin typeface="+mn-ea"/>
                <a:ea typeface="+mn-ea"/>
              </a:rPr>
              <a:t>4</a:t>
            </a:r>
            <a:r>
              <a:rPr lang="ja-JP" altLang="en-US" dirty="0">
                <a:latin typeface="+mn-ea"/>
                <a:ea typeface="+mn-ea"/>
              </a:rPr>
              <a:t>つの要素</a:t>
            </a:r>
          </a:p>
        </p:txBody>
      </p:sp>
      <p:sp>
        <p:nvSpPr>
          <p:cNvPr id="5" name="Shape 0">
            <a:extLst>
              <a:ext uri="{FF2B5EF4-FFF2-40B4-BE49-F238E27FC236}">
                <a16:creationId xmlns:a16="http://schemas.microsoft.com/office/drawing/2014/main" id="{F115D3D6-9B60-37EA-FEF5-BBCAE9A95141}"/>
              </a:ext>
            </a:extLst>
          </p:cNvPr>
          <p:cNvSpPr/>
          <p:nvPr/>
        </p:nvSpPr>
        <p:spPr>
          <a:xfrm>
            <a:off x="307674" y="1524306"/>
            <a:ext cx="4620134" cy="2333549"/>
          </a:xfrm>
          <a:prstGeom prst="roundRect">
            <a:avLst>
              <a:gd name="adj" fmla="val 3252"/>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8" name="Shape 1">
            <a:extLst>
              <a:ext uri="{FF2B5EF4-FFF2-40B4-BE49-F238E27FC236}">
                <a16:creationId xmlns:a16="http://schemas.microsoft.com/office/drawing/2014/main" id="{C4C5544B-830D-D080-10B2-820360069F71}"/>
              </a:ext>
            </a:extLst>
          </p:cNvPr>
          <p:cNvSpPr/>
          <p:nvPr/>
        </p:nvSpPr>
        <p:spPr>
          <a:xfrm>
            <a:off x="5090249" y="1524306"/>
            <a:ext cx="4620134" cy="2333549"/>
          </a:xfrm>
          <a:prstGeom prst="roundRect">
            <a:avLst>
              <a:gd name="adj" fmla="val 3252"/>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12" name="Shape 2">
            <a:extLst>
              <a:ext uri="{FF2B5EF4-FFF2-40B4-BE49-F238E27FC236}">
                <a16:creationId xmlns:a16="http://schemas.microsoft.com/office/drawing/2014/main" id="{BEFCBE63-3DB9-9368-28AF-4138FDB8EF5C}"/>
              </a:ext>
            </a:extLst>
          </p:cNvPr>
          <p:cNvSpPr/>
          <p:nvPr/>
        </p:nvSpPr>
        <p:spPr>
          <a:xfrm>
            <a:off x="307674" y="4000501"/>
            <a:ext cx="4620134" cy="2333549"/>
          </a:xfrm>
          <a:prstGeom prst="roundRect">
            <a:avLst>
              <a:gd name="adj" fmla="val 3252"/>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16" name="Shape 3">
            <a:extLst>
              <a:ext uri="{FF2B5EF4-FFF2-40B4-BE49-F238E27FC236}">
                <a16:creationId xmlns:a16="http://schemas.microsoft.com/office/drawing/2014/main" id="{B84D54BB-E973-05B9-FE56-1E94F8D22118}"/>
              </a:ext>
            </a:extLst>
          </p:cNvPr>
          <p:cNvSpPr/>
          <p:nvPr/>
        </p:nvSpPr>
        <p:spPr>
          <a:xfrm>
            <a:off x="5090249" y="4000501"/>
            <a:ext cx="4620134" cy="2333549"/>
          </a:xfrm>
          <a:prstGeom prst="roundRect">
            <a:avLst>
              <a:gd name="adj" fmla="val 3252"/>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20" name="Image 0" descr="gen-dedup-3bb9877b1250c4b35bc584ee5314b09b.png">
            <a:extLst>
              <a:ext uri="{FF2B5EF4-FFF2-40B4-BE49-F238E27FC236}">
                <a16:creationId xmlns:a16="http://schemas.microsoft.com/office/drawing/2014/main" id="{C3C95801-3BA2-E05F-F696-2F86B45F590A}"/>
              </a:ext>
            </a:extLst>
          </p:cNvPr>
          <p:cNvPicPr>
            <a:picLocks noChangeAspect="1"/>
          </p:cNvPicPr>
          <p:nvPr/>
        </p:nvPicPr>
        <p:blipFill>
          <a:blip r:embed="rId2"/>
          <a:srcRect l="-402" r="-402"/>
          <a:stretch/>
        </p:blipFill>
        <p:spPr>
          <a:xfrm>
            <a:off x="382100" y="1524306"/>
            <a:ext cx="45719" cy="2333549"/>
          </a:xfrm>
          <a:prstGeom prst="rect">
            <a:avLst/>
          </a:prstGeom>
        </p:spPr>
      </p:pic>
      <p:pic>
        <p:nvPicPr>
          <p:cNvPr id="24" name="Image 1" descr="gen-dedup-3bb9877b1250c4b35bc584ee5314b09b.png">
            <a:extLst>
              <a:ext uri="{FF2B5EF4-FFF2-40B4-BE49-F238E27FC236}">
                <a16:creationId xmlns:a16="http://schemas.microsoft.com/office/drawing/2014/main" id="{D54BAB42-E93F-4FDD-2D1B-C8CC5042173C}"/>
              </a:ext>
            </a:extLst>
          </p:cNvPr>
          <p:cNvPicPr>
            <a:picLocks noChangeAspect="1"/>
          </p:cNvPicPr>
          <p:nvPr/>
        </p:nvPicPr>
        <p:blipFill>
          <a:blip r:embed="rId2"/>
          <a:srcRect l="-402" r="-402"/>
          <a:stretch/>
        </p:blipFill>
        <p:spPr>
          <a:xfrm>
            <a:off x="5164675" y="1524306"/>
            <a:ext cx="45719" cy="2333549"/>
          </a:xfrm>
          <a:prstGeom prst="rect">
            <a:avLst/>
          </a:prstGeom>
        </p:spPr>
      </p:pic>
      <p:pic>
        <p:nvPicPr>
          <p:cNvPr id="26" name="Image 2" descr="gen-dedup-c4b325d1064f52c43644d9fefd487857.png">
            <a:extLst>
              <a:ext uri="{FF2B5EF4-FFF2-40B4-BE49-F238E27FC236}">
                <a16:creationId xmlns:a16="http://schemas.microsoft.com/office/drawing/2014/main" id="{4248EFA4-7AE5-0353-1F3C-F7FAF0A2301B}"/>
              </a:ext>
            </a:extLst>
          </p:cNvPr>
          <p:cNvPicPr>
            <a:picLocks noChangeAspect="1"/>
          </p:cNvPicPr>
          <p:nvPr/>
        </p:nvPicPr>
        <p:blipFill>
          <a:blip r:embed="rId3"/>
          <a:srcRect l="-402" r="-402"/>
          <a:stretch/>
        </p:blipFill>
        <p:spPr>
          <a:xfrm>
            <a:off x="382100" y="4000501"/>
            <a:ext cx="45719" cy="2333549"/>
          </a:xfrm>
          <a:prstGeom prst="rect">
            <a:avLst/>
          </a:prstGeom>
        </p:spPr>
      </p:pic>
      <p:pic>
        <p:nvPicPr>
          <p:cNvPr id="28" name="Image 3" descr="gen-dedup-c4b325d1064f52c43644d9fefd487857.png">
            <a:extLst>
              <a:ext uri="{FF2B5EF4-FFF2-40B4-BE49-F238E27FC236}">
                <a16:creationId xmlns:a16="http://schemas.microsoft.com/office/drawing/2014/main" id="{C6DCAC87-D345-2952-504D-74D95DFA47A9}"/>
              </a:ext>
            </a:extLst>
          </p:cNvPr>
          <p:cNvPicPr>
            <a:picLocks noChangeAspect="1"/>
          </p:cNvPicPr>
          <p:nvPr/>
        </p:nvPicPr>
        <p:blipFill>
          <a:blip r:embed="rId3"/>
          <a:srcRect l="-402" r="-402"/>
          <a:stretch/>
        </p:blipFill>
        <p:spPr>
          <a:xfrm>
            <a:off x="5164675" y="4000501"/>
            <a:ext cx="45719" cy="2333549"/>
          </a:xfrm>
          <a:prstGeom prst="rect">
            <a:avLst/>
          </a:prstGeom>
        </p:spPr>
      </p:pic>
      <p:sp>
        <p:nvSpPr>
          <p:cNvPr id="30" name="Text 7">
            <a:extLst>
              <a:ext uri="{FF2B5EF4-FFF2-40B4-BE49-F238E27FC236}">
                <a16:creationId xmlns:a16="http://schemas.microsoft.com/office/drawing/2014/main" id="{0574DAB3-1D0C-C6D8-D86B-EC87AA417F87}"/>
              </a:ext>
            </a:extLst>
          </p:cNvPr>
          <p:cNvSpPr txBox="1"/>
          <p:nvPr/>
        </p:nvSpPr>
        <p:spPr>
          <a:xfrm>
            <a:off x="457995" y="1047902"/>
            <a:ext cx="7036413" cy="228600"/>
          </a:xfrm>
          <a:prstGeom prst="rect">
            <a:avLst/>
          </a:prstGeom>
          <a:noFill/>
          <a:ln/>
        </p:spPr>
        <p:txBody>
          <a:bodyPr wrap="none" lIns="0" tIns="0" rIns="0" bIns="0" rtlCol="0" anchor="ctr"/>
          <a:lstStyle/>
          <a:p>
            <a:pPr defTabSz="925880"/>
            <a:r>
              <a:rPr lang="en-US" sz="2000" dirty="0">
                <a:solidFill>
                  <a:srgbClr val="404040"/>
                </a:solidFill>
                <a:latin typeface="+mn-ea"/>
              </a:rPr>
              <a:t>プロンプトを構成する4つの要素 ── Role / Context / Task / Format</a:t>
            </a:r>
          </a:p>
        </p:txBody>
      </p:sp>
      <p:sp>
        <p:nvSpPr>
          <p:cNvPr id="32" name="Text 8">
            <a:extLst>
              <a:ext uri="{FF2B5EF4-FFF2-40B4-BE49-F238E27FC236}">
                <a16:creationId xmlns:a16="http://schemas.microsoft.com/office/drawing/2014/main" id="{06A609C1-2441-0D9D-75A6-299E3963BAB2}"/>
              </a:ext>
            </a:extLst>
          </p:cNvPr>
          <p:cNvSpPr txBox="1"/>
          <p:nvPr/>
        </p:nvSpPr>
        <p:spPr>
          <a:xfrm>
            <a:off x="610699" y="1695298"/>
            <a:ext cx="357774" cy="342900"/>
          </a:xfrm>
          <a:prstGeom prst="rect">
            <a:avLst/>
          </a:prstGeom>
          <a:noFill/>
          <a:ln/>
        </p:spPr>
        <p:txBody>
          <a:bodyPr wrap="none" lIns="0" tIns="0" rIns="0" bIns="0" rtlCol="0" anchor="ctr"/>
          <a:lstStyle/>
          <a:p>
            <a:pPr defTabSz="925880"/>
            <a:r>
              <a:rPr lang="en-US" sz="2000" b="1" dirty="0">
                <a:solidFill>
                  <a:srgbClr val="2F6980"/>
                </a:solidFill>
                <a:latin typeface="+mn-ea"/>
                <a:cs typeface="Calibri" pitchFamily="34" charset="-120"/>
              </a:rPr>
              <a:t>01</a:t>
            </a:r>
            <a:endParaRPr lang="en-US" sz="2000" dirty="0">
              <a:solidFill>
                <a:srgbClr val="000000"/>
              </a:solidFill>
              <a:latin typeface="+mn-ea"/>
            </a:endParaRPr>
          </a:p>
        </p:txBody>
      </p:sp>
      <p:sp>
        <p:nvSpPr>
          <p:cNvPr id="34" name="Text 9">
            <a:extLst>
              <a:ext uri="{FF2B5EF4-FFF2-40B4-BE49-F238E27FC236}">
                <a16:creationId xmlns:a16="http://schemas.microsoft.com/office/drawing/2014/main" id="{14D343A6-13CB-DDA4-240B-2F49AA5722D6}"/>
              </a:ext>
            </a:extLst>
          </p:cNvPr>
          <p:cNvSpPr txBox="1"/>
          <p:nvPr/>
        </p:nvSpPr>
        <p:spPr>
          <a:xfrm>
            <a:off x="1333989" y="1733703"/>
            <a:ext cx="2922298" cy="286207"/>
          </a:xfrm>
          <a:prstGeom prst="rect">
            <a:avLst/>
          </a:prstGeom>
          <a:noFill/>
          <a:ln/>
        </p:spPr>
        <p:txBody>
          <a:bodyPr wrap="none" lIns="0" tIns="0" rIns="0" bIns="0" rtlCol="0" anchor="ctr"/>
          <a:lstStyle/>
          <a:p>
            <a:pPr defTabSz="925880"/>
            <a:r>
              <a:rPr lang="en-US" sz="2000" b="1" dirty="0">
                <a:solidFill>
                  <a:srgbClr val="333333"/>
                </a:solidFill>
                <a:latin typeface="+mn-ea"/>
                <a:cs typeface="游ゴシック" pitchFamily="34" charset="-120"/>
              </a:rPr>
              <a:t>Role (役割)</a:t>
            </a:r>
            <a:endParaRPr lang="en-US" sz="2000" dirty="0">
              <a:solidFill>
                <a:srgbClr val="000000"/>
              </a:solidFill>
              <a:latin typeface="+mn-ea"/>
            </a:endParaRPr>
          </a:p>
        </p:txBody>
      </p:sp>
      <p:sp>
        <p:nvSpPr>
          <p:cNvPr id="36" name="Text 10">
            <a:extLst>
              <a:ext uri="{FF2B5EF4-FFF2-40B4-BE49-F238E27FC236}">
                <a16:creationId xmlns:a16="http://schemas.microsoft.com/office/drawing/2014/main" id="{C7A1A436-1C41-D0BE-17DC-68E61B25E6C7}"/>
              </a:ext>
            </a:extLst>
          </p:cNvPr>
          <p:cNvSpPr txBox="1"/>
          <p:nvPr/>
        </p:nvSpPr>
        <p:spPr>
          <a:xfrm>
            <a:off x="540052" y="2145182"/>
            <a:ext cx="4385595" cy="1665122"/>
          </a:xfrm>
          <a:prstGeom prst="rect">
            <a:avLst/>
          </a:prstGeom>
          <a:noFill/>
          <a:ln/>
        </p:spPr>
        <p:txBody>
          <a:bodyPr wrap="square" lIns="0" tIns="0" rIns="0" bIns="0" rtlCol="0" anchor="ctr"/>
          <a:lstStyle/>
          <a:p>
            <a:pPr defTabSz="925880">
              <a:lnSpc>
                <a:spcPts val="2160"/>
              </a:lnSpc>
            </a:pPr>
            <a:r>
              <a:rPr lang="en-US" sz="2000" dirty="0" err="1">
                <a:solidFill>
                  <a:srgbClr val="333333"/>
                </a:solidFill>
                <a:latin typeface="+mn-ea"/>
                <a:cs typeface="游ゴシック" pitchFamily="34" charset="-120"/>
              </a:rPr>
              <a:t>AIに「あなたは〇〇のプロです」と役割を与え、</a:t>
            </a:r>
            <a:r>
              <a:rPr lang="en-US" sz="2000" b="1" dirty="0" err="1">
                <a:solidFill>
                  <a:srgbClr val="2F6980"/>
                </a:solidFill>
                <a:latin typeface="+mn-ea"/>
                <a:cs typeface="游ゴシック" pitchFamily="34" charset="-120"/>
              </a:rPr>
              <a:t>視点と専門性を固定</a:t>
            </a:r>
            <a:r>
              <a:rPr lang="en-US" sz="2000" dirty="0" err="1">
                <a:solidFill>
                  <a:srgbClr val="333333"/>
                </a:solidFill>
                <a:latin typeface="+mn-ea"/>
                <a:cs typeface="游ゴシック" pitchFamily="34" charset="-120"/>
              </a:rPr>
              <a:t>します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38" name="Text 11">
            <a:extLst>
              <a:ext uri="{FF2B5EF4-FFF2-40B4-BE49-F238E27FC236}">
                <a16:creationId xmlns:a16="http://schemas.microsoft.com/office/drawing/2014/main" id="{391DF0B9-11D5-8276-97DC-4A3F291EEBE4}"/>
              </a:ext>
            </a:extLst>
          </p:cNvPr>
          <p:cNvSpPr txBox="1"/>
          <p:nvPr/>
        </p:nvSpPr>
        <p:spPr>
          <a:xfrm>
            <a:off x="5393274" y="1695298"/>
            <a:ext cx="357774" cy="342900"/>
          </a:xfrm>
          <a:prstGeom prst="rect">
            <a:avLst/>
          </a:prstGeom>
          <a:noFill/>
          <a:ln/>
        </p:spPr>
        <p:txBody>
          <a:bodyPr wrap="none" lIns="0" tIns="0" rIns="0" bIns="0" rtlCol="0" anchor="ctr"/>
          <a:lstStyle/>
          <a:p>
            <a:pPr defTabSz="925880"/>
            <a:r>
              <a:rPr lang="en-US" sz="2000" b="1" dirty="0">
                <a:solidFill>
                  <a:srgbClr val="2F6980"/>
                </a:solidFill>
                <a:latin typeface="+mn-ea"/>
                <a:cs typeface="Calibri" pitchFamily="34" charset="-120"/>
              </a:rPr>
              <a:t>02</a:t>
            </a:r>
            <a:endParaRPr lang="en-US" sz="2000" dirty="0">
              <a:solidFill>
                <a:srgbClr val="000000"/>
              </a:solidFill>
              <a:latin typeface="+mn-ea"/>
            </a:endParaRPr>
          </a:p>
        </p:txBody>
      </p:sp>
      <p:sp>
        <p:nvSpPr>
          <p:cNvPr id="40" name="Text 12">
            <a:extLst>
              <a:ext uri="{FF2B5EF4-FFF2-40B4-BE49-F238E27FC236}">
                <a16:creationId xmlns:a16="http://schemas.microsoft.com/office/drawing/2014/main" id="{EC0A3AA7-A738-8697-EA9E-5E49361C6997}"/>
              </a:ext>
            </a:extLst>
          </p:cNvPr>
          <p:cNvSpPr txBox="1"/>
          <p:nvPr/>
        </p:nvSpPr>
        <p:spPr>
          <a:xfrm>
            <a:off x="6117479" y="1733703"/>
            <a:ext cx="2922298" cy="286207"/>
          </a:xfrm>
          <a:prstGeom prst="rect">
            <a:avLst/>
          </a:prstGeom>
          <a:noFill/>
          <a:ln/>
        </p:spPr>
        <p:txBody>
          <a:bodyPr wrap="none" lIns="0" tIns="0" rIns="0" bIns="0" rtlCol="0" anchor="ctr"/>
          <a:lstStyle/>
          <a:p>
            <a:pPr defTabSz="925880"/>
            <a:r>
              <a:rPr lang="en-US" sz="2000" b="1" dirty="0">
                <a:solidFill>
                  <a:srgbClr val="333333"/>
                </a:solidFill>
                <a:latin typeface="+mn-ea"/>
                <a:cs typeface="游ゴシック" pitchFamily="34" charset="-120"/>
              </a:rPr>
              <a:t>Context (背景)</a:t>
            </a:r>
            <a:endParaRPr lang="en-US" sz="2000" dirty="0">
              <a:solidFill>
                <a:srgbClr val="000000"/>
              </a:solidFill>
              <a:latin typeface="+mn-ea"/>
            </a:endParaRPr>
          </a:p>
        </p:txBody>
      </p:sp>
      <p:sp>
        <p:nvSpPr>
          <p:cNvPr id="42" name="Text 13">
            <a:extLst>
              <a:ext uri="{FF2B5EF4-FFF2-40B4-BE49-F238E27FC236}">
                <a16:creationId xmlns:a16="http://schemas.microsoft.com/office/drawing/2014/main" id="{F98E0586-CE92-08D0-6EE8-04635B395C55}"/>
              </a:ext>
            </a:extLst>
          </p:cNvPr>
          <p:cNvSpPr txBox="1"/>
          <p:nvPr/>
        </p:nvSpPr>
        <p:spPr>
          <a:xfrm>
            <a:off x="5322627" y="2145182"/>
            <a:ext cx="4385595" cy="1665122"/>
          </a:xfrm>
          <a:prstGeom prst="rect">
            <a:avLst/>
          </a:prstGeom>
          <a:noFill/>
          <a:ln/>
        </p:spPr>
        <p:txBody>
          <a:bodyPr wrap="square" lIns="0" tIns="0" rIns="0" bIns="0" rtlCol="0" anchor="ctr"/>
          <a:lstStyle/>
          <a:p>
            <a:pPr defTabSz="925880">
              <a:lnSpc>
                <a:spcPts val="2160"/>
              </a:lnSpc>
            </a:pPr>
            <a:r>
              <a:rPr lang="en-US" sz="2000" dirty="0">
                <a:solidFill>
                  <a:srgbClr val="333333"/>
                </a:solidFill>
                <a:latin typeface="+mn-ea"/>
                <a:cs typeface="游ゴシック" pitchFamily="34" charset="-120"/>
              </a:rPr>
              <a:t>「なぜ依頼するのか」「誰向けか」という</a:t>
            </a:r>
            <a:endParaRPr lang="en-US" sz="2000" dirty="0">
              <a:solidFill>
                <a:srgbClr val="000000"/>
              </a:solidFill>
              <a:latin typeface="+mn-ea"/>
            </a:endParaRPr>
          </a:p>
          <a:p>
            <a:pPr defTabSz="925880">
              <a:lnSpc>
                <a:spcPts val="2160"/>
              </a:lnSpc>
            </a:pPr>
            <a:r>
              <a:rPr lang="en-US" sz="2000" b="1" dirty="0">
                <a:solidFill>
                  <a:srgbClr val="2F6980"/>
                </a:solidFill>
                <a:latin typeface="+mn-ea"/>
                <a:cs typeface="游ゴシック" pitchFamily="34" charset="-120"/>
              </a:rPr>
              <a:t>前提条件を共有し、文脈を合わせます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44" name="Text 14">
            <a:extLst>
              <a:ext uri="{FF2B5EF4-FFF2-40B4-BE49-F238E27FC236}">
                <a16:creationId xmlns:a16="http://schemas.microsoft.com/office/drawing/2014/main" id="{B3627628-063C-1F4E-026B-9254A0257893}"/>
              </a:ext>
            </a:extLst>
          </p:cNvPr>
          <p:cNvSpPr txBox="1"/>
          <p:nvPr/>
        </p:nvSpPr>
        <p:spPr>
          <a:xfrm>
            <a:off x="610699" y="4172407"/>
            <a:ext cx="357774" cy="342900"/>
          </a:xfrm>
          <a:prstGeom prst="rect">
            <a:avLst/>
          </a:prstGeom>
          <a:noFill/>
          <a:ln/>
        </p:spPr>
        <p:txBody>
          <a:bodyPr wrap="none" lIns="0" tIns="0" rIns="0" bIns="0" rtlCol="0" anchor="ctr"/>
          <a:lstStyle/>
          <a:p>
            <a:pPr defTabSz="925880"/>
            <a:r>
              <a:rPr lang="en-US" sz="2000" b="1" dirty="0">
                <a:solidFill>
                  <a:srgbClr val="B45309"/>
                </a:solidFill>
                <a:latin typeface="+mn-ea"/>
                <a:cs typeface="Calibri" pitchFamily="34" charset="-120"/>
              </a:rPr>
              <a:t>03</a:t>
            </a:r>
            <a:endParaRPr lang="en-US" sz="2000" dirty="0">
              <a:solidFill>
                <a:srgbClr val="000000"/>
              </a:solidFill>
              <a:latin typeface="+mn-ea"/>
            </a:endParaRPr>
          </a:p>
        </p:txBody>
      </p:sp>
      <p:sp>
        <p:nvSpPr>
          <p:cNvPr id="46" name="Text 15">
            <a:extLst>
              <a:ext uri="{FF2B5EF4-FFF2-40B4-BE49-F238E27FC236}">
                <a16:creationId xmlns:a16="http://schemas.microsoft.com/office/drawing/2014/main" id="{5D363781-52E9-A1AA-523E-4FBC7617E92D}"/>
              </a:ext>
            </a:extLst>
          </p:cNvPr>
          <p:cNvSpPr txBox="1"/>
          <p:nvPr/>
        </p:nvSpPr>
        <p:spPr>
          <a:xfrm>
            <a:off x="1333989" y="4209899"/>
            <a:ext cx="2922298" cy="286207"/>
          </a:xfrm>
          <a:prstGeom prst="rect">
            <a:avLst/>
          </a:prstGeom>
          <a:noFill/>
          <a:ln/>
        </p:spPr>
        <p:txBody>
          <a:bodyPr wrap="none" lIns="0" tIns="0" rIns="0" bIns="0" rtlCol="0" anchor="ctr"/>
          <a:lstStyle/>
          <a:p>
            <a:pPr defTabSz="925880"/>
            <a:r>
              <a:rPr lang="en-US" sz="2000" b="1" dirty="0">
                <a:solidFill>
                  <a:srgbClr val="333333"/>
                </a:solidFill>
                <a:latin typeface="+mn-ea"/>
                <a:cs typeface="游ゴシック" pitchFamily="34" charset="-120"/>
              </a:rPr>
              <a:t>Task (指示)</a:t>
            </a:r>
            <a:endParaRPr lang="en-US" sz="2000" dirty="0">
              <a:solidFill>
                <a:srgbClr val="000000"/>
              </a:solidFill>
              <a:latin typeface="+mn-ea"/>
            </a:endParaRPr>
          </a:p>
        </p:txBody>
      </p:sp>
      <p:sp>
        <p:nvSpPr>
          <p:cNvPr id="48" name="Text 16">
            <a:extLst>
              <a:ext uri="{FF2B5EF4-FFF2-40B4-BE49-F238E27FC236}">
                <a16:creationId xmlns:a16="http://schemas.microsoft.com/office/drawing/2014/main" id="{4F184D98-D057-DE4A-D754-CAFFFCDD2108}"/>
              </a:ext>
            </a:extLst>
          </p:cNvPr>
          <p:cNvSpPr txBox="1"/>
          <p:nvPr/>
        </p:nvSpPr>
        <p:spPr>
          <a:xfrm>
            <a:off x="540052" y="4621378"/>
            <a:ext cx="4385595" cy="1665122"/>
          </a:xfrm>
          <a:prstGeom prst="rect">
            <a:avLst/>
          </a:prstGeom>
          <a:noFill/>
          <a:ln/>
        </p:spPr>
        <p:txBody>
          <a:bodyPr wrap="square" lIns="0" tIns="0" rIns="0" bIns="0" rtlCol="0" anchor="ctr"/>
          <a:lstStyle/>
          <a:p>
            <a:pPr defTabSz="925880">
              <a:lnSpc>
                <a:spcPts val="2160"/>
              </a:lnSpc>
            </a:pPr>
            <a:r>
              <a:rPr lang="en-US" sz="2000" dirty="0">
                <a:solidFill>
                  <a:srgbClr val="333333"/>
                </a:solidFill>
                <a:latin typeface="+mn-ea"/>
                <a:cs typeface="游ゴシック" pitchFamily="34" charset="-120"/>
              </a:rPr>
              <a:t>「要約して」「比較して」など、</a:t>
            </a:r>
            <a:endParaRPr lang="en-US" sz="2000" dirty="0">
              <a:solidFill>
                <a:srgbClr val="000000"/>
              </a:solidFill>
              <a:latin typeface="+mn-ea"/>
            </a:endParaRPr>
          </a:p>
          <a:p>
            <a:pPr defTabSz="925880">
              <a:lnSpc>
                <a:spcPts val="2160"/>
              </a:lnSpc>
            </a:pPr>
            <a:r>
              <a:rPr lang="en-US" sz="2000" b="1" dirty="0">
                <a:solidFill>
                  <a:srgbClr val="B45309"/>
                </a:solidFill>
                <a:latin typeface="+mn-ea"/>
                <a:cs typeface="游ゴシック" pitchFamily="34" charset="-120"/>
              </a:rPr>
              <a:t>具体的なアクションを明確に定義</a:t>
            </a:r>
            <a:r>
              <a:rPr lang="en-US" sz="2000" dirty="0">
                <a:solidFill>
                  <a:srgbClr val="333333"/>
                </a:solidFill>
                <a:latin typeface="+mn-ea"/>
                <a:cs typeface="游ゴシック" pitchFamily="34" charset="-120"/>
              </a:rPr>
              <a:t>します。</a:t>
            </a:r>
            <a:endParaRPr lang="en-US" sz="2000" dirty="0">
              <a:solidFill>
                <a:srgbClr val="000000"/>
              </a:solidFill>
              <a:latin typeface="+mn-ea"/>
            </a:endParaRPr>
          </a:p>
        </p:txBody>
      </p:sp>
      <p:sp>
        <p:nvSpPr>
          <p:cNvPr id="50" name="Text 17">
            <a:extLst>
              <a:ext uri="{FF2B5EF4-FFF2-40B4-BE49-F238E27FC236}">
                <a16:creationId xmlns:a16="http://schemas.microsoft.com/office/drawing/2014/main" id="{769638D0-BAC7-4CD6-6ACE-CFBF74D3FD56}"/>
              </a:ext>
            </a:extLst>
          </p:cNvPr>
          <p:cNvSpPr txBox="1"/>
          <p:nvPr/>
        </p:nvSpPr>
        <p:spPr>
          <a:xfrm>
            <a:off x="5393274" y="4172407"/>
            <a:ext cx="357774" cy="342900"/>
          </a:xfrm>
          <a:prstGeom prst="rect">
            <a:avLst/>
          </a:prstGeom>
          <a:noFill/>
          <a:ln/>
        </p:spPr>
        <p:txBody>
          <a:bodyPr wrap="none" lIns="0" tIns="0" rIns="0" bIns="0" rtlCol="0" anchor="ctr"/>
          <a:lstStyle/>
          <a:p>
            <a:pPr defTabSz="925880"/>
            <a:r>
              <a:rPr lang="en-US" sz="2000" b="1" dirty="0">
                <a:solidFill>
                  <a:srgbClr val="B45309"/>
                </a:solidFill>
                <a:latin typeface="+mn-ea"/>
                <a:cs typeface="Calibri" pitchFamily="34" charset="-120"/>
              </a:rPr>
              <a:t>04</a:t>
            </a:r>
            <a:endParaRPr lang="en-US" sz="2000" dirty="0">
              <a:solidFill>
                <a:srgbClr val="000000"/>
              </a:solidFill>
              <a:latin typeface="+mn-ea"/>
            </a:endParaRPr>
          </a:p>
        </p:txBody>
      </p:sp>
      <p:sp>
        <p:nvSpPr>
          <p:cNvPr id="52" name="Text 18">
            <a:extLst>
              <a:ext uri="{FF2B5EF4-FFF2-40B4-BE49-F238E27FC236}">
                <a16:creationId xmlns:a16="http://schemas.microsoft.com/office/drawing/2014/main" id="{1CDE66C3-6ED0-30F7-04F9-BC9210FA49E7}"/>
              </a:ext>
            </a:extLst>
          </p:cNvPr>
          <p:cNvSpPr txBox="1"/>
          <p:nvPr/>
        </p:nvSpPr>
        <p:spPr>
          <a:xfrm>
            <a:off x="6117479" y="4209899"/>
            <a:ext cx="2922298" cy="286207"/>
          </a:xfrm>
          <a:prstGeom prst="rect">
            <a:avLst/>
          </a:prstGeom>
          <a:noFill/>
          <a:ln/>
        </p:spPr>
        <p:txBody>
          <a:bodyPr wrap="none" lIns="0" tIns="0" rIns="0" bIns="0" rtlCol="0" anchor="ctr"/>
          <a:lstStyle/>
          <a:p>
            <a:pPr defTabSz="925880"/>
            <a:r>
              <a:rPr lang="en-US" sz="2000" b="1" dirty="0">
                <a:solidFill>
                  <a:srgbClr val="333333"/>
                </a:solidFill>
                <a:latin typeface="+mn-ea"/>
                <a:cs typeface="游ゴシック" pitchFamily="34" charset="-120"/>
              </a:rPr>
              <a:t>Format (形式)</a:t>
            </a:r>
            <a:endParaRPr lang="en-US" sz="2000" dirty="0">
              <a:solidFill>
                <a:srgbClr val="000000"/>
              </a:solidFill>
              <a:latin typeface="+mn-ea"/>
            </a:endParaRPr>
          </a:p>
        </p:txBody>
      </p:sp>
      <p:sp>
        <p:nvSpPr>
          <p:cNvPr id="54" name="Text 19">
            <a:extLst>
              <a:ext uri="{FF2B5EF4-FFF2-40B4-BE49-F238E27FC236}">
                <a16:creationId xmlns:a16="http://schemas.microsoft.com/office/drawing/2014/main" id="{412560CC-BCFA-F30B-26E1-1D0FB4D9FE6F}"/>
              </a:ext>
            </a:extLst>
          </p:cNvPr>
          <p:cNvSpPr txBox="1"/>
          <p:nvPr/>
        </p:nvSpPr>
        <p:spPr>
          <a:xfrm>
            <a:off x="5322627" y="4621378"/>
            <a:ext cx="4385595" cy="1665122"/>
          </a:xfrm>
          <a:prstGeom prst="rect">
            <a:avLst/>
          </a:prstGeom>
          <a:noFill/>
          <a:ln/>
        </p:spPr>
        <p:txBody>
          <a:bodyPr wrap="square" lIns="0" tIns="0" rIns="0" bIns="0" rtlCol="0" anchor="ctr"/>
          <a:lstStyle/>
          <a:p>
            <a:pPr defTabSz="925880">
              <a:lnSpc>
                <a:spcPts val="2160"/>
              </a:lnSpc>
            </a:pPr>
            <a:r>
              <a:rPr lang="en-US" sz="2000" dirty="0">
                <a:solidFill>
                  <a:srgbClr val="333333"/>
                </a:solidFill>
                <a:latin typeface="+mn-ea"/>
                <a:cs typeface="游ゴシック" pitchFamily="34" charset="-120"/>
              </a:rPr>
              <a:t>表形式、箇条書き、文字数など、</a:t>
            </a:r>
            <a:endParaRPr lang="en-US" sz="2000" dirty="0">
              <a:solidFill>
                <a:srgbClr val="000000"/>
              </a:solidFill>
              <a:latin typeface="+mn-ea"/>
            </a:endParaRPr>
          </a:p>
          <a:p>
            <a:pPr defTabSz="925880">
              <a:lnSpc>
                <a:spcPts val="2160"/>
              </a:lnSpc>
            </a:pPr>
            <a:r>
              <a:rPr lang="en-US" sz="2000" b="1" dirty="0">
                <a:solidFill>
                  <a:srgbClr val="B45309"/>
                </a:solidFill>
                <a:latin typeface="+mn-ea"/>
                <a:cs typeface="游ゴシック" pitchFamily="34" charset="-120"/>
              </a:rPr>
              <a:t>出力のフォーマットを具体的に指定</a:t>
            </a:r>
            <a:r>
              <a:rPr lang="en-US" sz="2000" dirty="0">
                <a:solidFill>
                  <a:srgbClr val="333333"/>
                </a:solidFill>
                <a:latin typeface="+mn-ea"/>
                <a:cs typeface="游ゴシック" pitchFamily="34" charset="-120"/>
              </a:rPr>
              <a:t>します。</a:t>
            </a:r>
            <a:endParaRPr lang="en-US" sz="2000" dirty="0">
              <a:solidFill>
                <a:srgbClr val="000000"/>
              </a:solidFill>
              <a:latin typeface="+mn-ea"/>
            </a:endParaRPr>
          </a:p>
        </p:txBody>
      </p:sp>
    </p:spTree>
    <p:extLst>
      <p:ext uri="{BB962C8B-B14F-4D97-AF65-F5344CB8AC3E}">
        <p14:creationId xmlns:p14="http://schemas.microsoft.com/office/powerpoint/2010/main" val="3850322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86F3-178A-265C-7D76-550AAF442E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2D5DCE-20A3-A3A6-A6D2-EC2A2D8ECC8D}"/>
              </a:ext>
            </a:extLst>
          </p:cNvPr>
          <p:cNvSpPr>
            <a:spLocks noGrp="1"/>
          </p:cNvSpPr>
          <p:nvPr>
            <p:ph type="title"/>
          </p:nvPr>
        </p:nvSpPr>
        <p:spPr/>
        <p:txBody>
          <a:bodyPr>
            <a:normAutofit/>
          </a:bodyPr>
          <a:lstStyle/>
          <a:p>
            <a:r>
              <a:rPr lang="en-US" altLang="ja-JP" dirty="0">
                <a:latin typeface="+mn-ea"/>
                <a:ea typeface="+mn-ea"/>
              </a:rPr>
              <a:t>4-3.</a:t>
            </a:r>
            <a:r>
              <a:rPr lang="ja-JP" altLang="en-US" dirty="0">
                <a:latin typeface="+mn-ea"/>
                <a:ea typeface="+mn-ea"/>
              </a:rPr>
              <a:t> 悪いプロンプト </a:t>
            </a:r>
            <a:r>
              <a:rPr lang="en-US" altLang="ja-JP" dirty="0">
                <a:latin typeface="+mn-ea"/>
                <a:ea typeface="+mn-ea"/>
              </a:rPr>
              <a:t>vs </a:t>
            </a:r>
            <a:r>
              <a:rPr lang="ja-JP" altLang="en-US" dirty="0">
                <a:latin typeface="+mn-ea"/>
                <a:ea typeface="+mn-ea"/>
              </a:rPr>
              <a:t>良いプロンプト</a:t>
            </a:r>
          </a:p>
        </p:txBody>
      </p:sp>
      <p:sp>
        <p:nvSpPr>
          <p:cNvPr id="4" name="Shape 0">
            <a:extLst>
              <a:ext uri="{FF2B5EF4-FFF2-40B4-BE49-F238E27FC236}">
                <a16:creationId xmlns:a16="http://schemas.microsoft.com/office/drawing/2014/main" id="{EF5491FB-DF0F-592B-D11E-AB94F72FB7A6}"/>
              </a:ext>
            </a:extLst>
          </p:cNvPr>
          <p:cNvSpPr/>
          <p:nvPr/>
        </p:nvSpPr>
        <p:spPr>
          <a:xfrm>
            <a:off x="287830" y="1524306"/>
            <a:ext cx="4649423" cy="4762195"/>
          </a:xfrm>
          <a:prstGeom prst="roundRect">
            <a:avLst>
              <a:gd name="adj" fmla="val 806"/>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7" name="Shape 1">
            <a:extLst>
              <a:ext uri="{FF2B5EF4-FFF2-40B4-BE49-F238E27FC236}">
                <a16:creationId xmlns:a16="http://schemas.microsoft.com/office/drawing/2014/main" id="{7BF19087-211C-A684-CB09-CD8FC06584DE}"/>
              </a:ext>
            </a:extLst>
          </p:cNvPr>
          <p:cNvSpPr/>
          <p:nvPr/>
        </p:nvSpPr>
        <p:spPr>
          <a:xfrm>
            <a:off x="5070405" y="1524306"/>
            <a:ext cx="4649423" cy="4762195"/>
          </a:xfrm>
          <a:prstGeom prst="roundRect">
            <a:avLst>
              <a:gd name="adj" fmla="val 806"/>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0" name="Image 0" descr="gen-dedup-37dba5f1689f77e625cf3c51c33c21b3.png">
            <a:extLst>
              <a:ext uri="{FF2B5EF4-FFF2-40B4-BE49-F238E27FC236}">
                <a16:creationId xmlns:a16="http://schemas.microsoft.com/office/drawing/2014/main" id="{764C99DB-8D32-21A2-0F32-5DF6C16E0962}"/>
              </a:ext>
            </a:extLst>
          </p:cNvPr>
          <p:cNvPicPr>
            <a:picLocks noChangeAspect="1"/>
          </p:cNvPicPr>
          <p:nvPr/>
        </p:nvPicPr>
        <p:blipFill>
          <a:blip r:embed="rId2"/>
          <a:srcRect l="-38" r="-38"/>
          <a:stretch/>
        </p:blipFill>
        <p:spPr>
          <a:xfrm>
            <a:off x="287830" y="1524306"/>
            <a:ext cx="4649423" cy="418795"/>
          </a:xfrm>
          <a:prstGeom prst="rect">
            <a:avLst/>
          </a:prstGeom>
        </p:spPr>
      </p:pic>
      <p:sp>
        <p:nvSpPr>
          <p:cNvPr id="13" name="Shape 2">
            <a:extLst>
              <a:ext uri="{FF2B5EF4-FFF2-40B4-BE49-F238E27FC236}">
                <a16:creationId xmlns:a16="http://schemas.microsoft.com/office/drawing/2014/main" id="{07B5F365-2D7E-D8E2-0ADB-CFD500721FE8}"/>
              </a:ext>
            </a:extLst>
          </p:cNvPr>
          <p:cNvSpPr/>
          <p:nvPr/>
        </p:nvSpPr>
        <p:spPr>
          <a:xfrm>
            <a:off x="478025" y="2133296"/>
            <a:ext cx="4333965" cy="952805"/>
          </a:xfrm>
          <a:prstGeom prst="roundRect">
            <a:avLst>
              <a:gd name="adj" fmla="val 7965"/>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15" name="Shape 3">
            <a:extLst>
              <a:ext uri="{FF2B5EF4-FFF2-40B4-BE49-F238E27FC236}">
                <a16:creationId xmlns:a16="http://schemas.microsoft.com/office/drawing/2014/main" id="{5C90B69F-BB11-C279-DE9C-001830FB9495}"/>
              </a:ext>
            </a:extLst>
          </p:cNvPr>
          <p:cNvSpPr/>
          <p:nvPr/>
        </p:nvSpPr>
        <p:spPr>
          <a:xfrm>
            <a:off x="478025" y="3276295"/>
            <a:ext cx="4333965" cy="2857500"/>
          </a:xfrm>
          <a:prstGeom prst="roundRect">
            <a:avLst>
              <a:gd name="adj" fmla="val 2656"/>
            </a:avLst>
          </a:prstGeom>
          <a:solidFill>
            <a:srgbClr val="FEF2F2"/>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8" name="Image 1" descr="gen-dedup-c7a6819b913db764fa842acc60576079.png">
            <a:extLst>
              <a:ext uri="{FF2B5EF4-FFF2-40B4-BE49-F238E27FC236}">
                <a16:creationId xmlns:a16="http://schemas.microsoft.com/office/drawing/2014/main" id="{F8116F6F-2C75-9C36-ACA1-70A2C825C056}"/>
              </a:ext>
            </a:extLst>
          </p:cNvPr>
          <p:cNvPicPr>
            <a:picLocks noChangeAspect="1"/>
          </p:cNvPicPr>
          <p:nvPr/>
        </p:nvPicPr>
        <p:blipFill>
          <a:blip r:embed="rId3"/>
          <a:srcRect l="-38" r="-38"/>
          <a:stretch/>
        </p:blipFill>
        <p:spPr>
          <a:xfrm>
            <a:off x="5070405" y="1524306"/>
            <a:ext cx="4649423" cy="418795"/>
          </a:xfrm>
          <a:prstGeom prst="rect">
            <a:avLst/>
          </a:prstGeom>
        </p:spPr>
      </p:pic>
      <p:sp>
        <p:nvSpPr>
          <p:cNvPr id="21" name="Shape 4">
            <a:extLst>
              <a:ext uri="{FF2B5EF4-FFF2-40B4-BE49-F238E27FC236}">
                <a16:creationId xmlns:a16="http://schemas.microsoft.com/office/drawing/2014/main" id="{8072FC30-2108-94B7-0734-57D1D1BFE708}"/>
              </a:ext>
            </a:extLst>
          </p:cNvPr>
          <p:cNvSpPr/>
          <p:nvPr/>
        </p:nvSpPr>
        <p:spPr>
          <a:xfrm>
            <a:off x="5260601" y="2133295"/>
            <a:ext cx="4333965" cy="4000500"/>
          </a:xfrm>
          <a:prstGeom prst="roundRect">
            <a:avLst>
              <a:gd name="adj" fmla="val 1897"/>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23" name="Text 8">
            <a:extLst>
              <a:ext uri="{FF2B5EF4-FFF2-40B4-BE49-F238E27FC236}">
                <a16:creationId xmlns:a16="http://schemas.microsoft.com/office/drawing/2014/main" id="{4AF51F49-ED20-3DC6-4C6F-21E19E9FE6A8}"/>
              </a:ext>
            </a:extLst>
          </p:cNvPr>
          <p:cNvSpPr txBox="1"/>
          <p:nvPr/>
        </p:nvSpPr>
        <p:spPr>
          <a:xfrm>
            <a:off x="457995" y="1047902"/>
            <a:ext cx="9298847" cy="228600"/>
          </a:xfrm>
          <a:prstGeom prst="rect">
            <a:avLst/>
          </a:prstGeom>
          <a:noFill/>
          <a:ln/>
        </p:spPr>
        <p:txBody>
          <a:bodyPr wrap="none" lIns="0" tIns="0" rIns="0" bIns="0" rtlCol="0" anchor="ctr"/>
          <a:lstStyle/>
          <a:p>
            <a:pPr defTabSz="925880"/>
            <a:r>
              <a:rPr lang="en-US" sz="2000" dirty="0" err="1">
                <a:solidFill>
                  <a:srgbClr val="404040"/>
                </a:solidFill>
                <a:latin typeface="+mn-ea"/>
              </a:rPr>
              <a:t>同じテーマでも、プロンプトの書き方でAIの回答品質は劇的に変わる</a:t>
            </a:r>
            <a:endParaRPr lang="en-US" sz="2000" dirty="0">
              <a:solidFill>
                <a:srgbClr val="404040"/>
              </a:solidFill>
              <a:latin typeface="+mn-ea"/>
            </a:endParaRPr>
          </a:p>
        </p:txBody>
      </p:sp>
      <p:sp>
        <p:nvSpPr>
          <p:cNvPr id="27" name="Text 9">
            <a:extLst>
              <a:ext uri="{FF2B5EF4-FFF2-40B4-BE49-F238E27FC236}">
                <a16:creationId xmlns:a16="http://schemas.microsoft.com/office/drawing/2014/main" id="{AE7C9BD1-CDFD-46C2-E034-ABEADDB43A57}"/>
              </a:ext>
            </a:extLst>
          </p:cNvPr>
          <p:cNvSpPr txBox="1"/>
          <p:nvPr/>
        </p:nvSpPr>
        <p:spPr>
          <a:xfrm>
            <a:off x="478025" y="1524305"/>
            <a:ext cx="4334721" cy="419710"/>
          </a:xfrm>
          <a:prstGeom prst="rect">
            <a:avLst/>
          </a:prstGeom>
          <a:noFill/>
          <a:ln/>
        </p:spPr>
        <p:txBody>
          <a:bodyPr wrap="none" lIns="0" tIns="0" rIns="0" bIns="0" rtlCol="0" anchor="ctr"/>
          <a:lstStyle/>
          <a:p>
            <a:pPr defTabSz="925880"/>
            <a:r>
              <a:rPr lang="en-US" sz="2000" b="1" dirty="0">
                <a:solidFill>
                  <a:srgbClr val="FFFFFF"/>
                </a:solidFill>
                <a:latin typeface="+mn-ea"/>
                <a:cs typeface="游ゴシック" pitchFamily="34" charset="-120"/>
              </a:rPr>
              <a:t>❌ 悪いプロンプト</a:t>
            </a:r>
            <a:endParaRPr lang="en-US" sz="2000" dirty="0">
              <a:solidFill>
                <a:srgbClr val="000000"/>
              </a:solidFill>
              <a:latin typeface="+mn-ea"/>
            </a:endParaRPr>
          </a:p>
        </p:txBody>
      </p:sp>
      <p:sp>
        <p:nvSpPr>
          <p:cNvPr id="31" name="Text 10">
            <a:extLst>
              <a:ext uri="{FF2B5EF4-FFF2-40B4-BE49-F238E27FC236}">
                <a16:creationId xmlns:a16="http://schemas.microsoft.com/office/drawing/2014/main" id="{3361F857-8CD3-CFE1-41AA-A41BC70A04BB}"/>
              </a:ext>
            </a:extLst>
          </p:cNvPr>
          <p:cNvSpPr txBox="1"/>
          <p:nvPr/>
        </p:nvSpPr>
        <p:spPr>
          <a:xfrm>
            <a:off x="668220" y="2324405"/>
            <a:ext cx="4019262" cy="571500"/>
          </a:xfrm>
          <a:prstGeom prst="rect">
            <a:avLst/>
          </a:prstGeom>
          <a:noFill/>
          <a:ln/>
        </p:spPr>
        <p:txBody>
          <a:bodyPr wrap="square" lIns="0" tIns="0" rIns="0" bIns="0" rtlCol="0" anchor="ctr"/>
          <a:lstStyle/>
          <a:p>
            <a:pPr defTabSz="925880"/>
            <a:r>
              <a:rPr lang="en-US" sz="2000" i="1" dirty="0">
                <a:solidFill>
                  <a:srgbClr val="333333"/>
                </a:solidFill>
                <a:latin typeface="+mn-ea"/>
                <a:cs typeface="游ゴシック" pitchFamily="34" charset="-120"/>
              </a:rPr>
              <a:t>「AI研修の案内文を書いて」</a:t>
            </a:r>
            <a:endParaRPr lang="en-US" sz="2000" dirty="0">
              <a:solidFill>
                <a:srgbClr val="000000"/>
              </a:solidFill>
              <a:latin typeface="+mn-ea"/>
            </a:endParaRPr>
          </a:p>
        </p:txBody>
      </p:sp>
      <p:sp>
        <p:nvSpPr>
          <p:cNvPr id="35" name="Text 11">
            <a:extLst>
              <a:ext uri="{FF2B5EF4-FFF2-40B4-BE49-F238E27FC236}">
                <a16:creationId xmlns:a16="http://schemas.microsoft.com/office/drawing/2014/main" id="{6F7D80C0-A81A-86C3-273A-441D8C0E2F54}"/>
              </a:ext>
            </a:extLst>
          </p:cNvPr>
          <p:cNvSpPr txBox="1"/>
          <p:nvPr/>
        </p:nvSpPr>
        <p:spPr>
          <a:xfrm>
            <a:off x="668220" y="3429000"/>
            <a:ext cx="4019262" cy="228600"/>
          </a:xfrm>
          <a:prstGeom prst="rect">
            <a:avLst/>
          </a:prstGeom>
          <a:noFill/>
          <a:ln/>
        </p:spPr>
        <p:txBody>
          <a:bodyPr wrap="none" lIns="0" tIns="0" rIns="0" bIns="0" rtlCol="0" anchor="ctr"/>
          <a:lstStyle/>
          <a:p>
            <a:pPr defTabSz="925880"/>
            <a:r>
              <a:rPr lang="en-US" sz="2000" b="1" dirty="0">
                <a:solidFill>
                  <a:srgbClr val="FF0000"/>
                </a:solidFill>
                <a:latin typeface="+mn-ea"/>
                <a:cs typeface="游ゴシック" pitchFamily="34" charset="-120"/>
              </a:rPr>
              <a:t>[問題点]</a:t>
            </a:r>
            <a:endParaRPr lang="en-US" sz="2000" dirty="0">
              <a:solidFill>
                <a:srgbClr val="000000"/>
              </a:solidFill>
              <a:latin typeface="+mn-ea"/>
            </a:endParaRPr>
          </a:p>
        </p:txBody>
      </p:sp>
      <p:sp>
        <p:nvSpPr>
          <p:cNvPr id="39" name="Text 12">
            <a:extLst>
              <a:ext uri="{FF2B5EF4-FFF2-40B4-BE49-F238E27FC236}">
                <a16:creationId xmlns:a16="http://schemas.microsoft.com/office/drawing/2014/main" id="{6FD04B1D-78BB-E46B-2174-67589843F5B7}"/>
              </a:ext>
            </a:extLst>
          </p:cNvPr>
          <p:cNvSpPr txBox="1"/>
          <p:nvPr/>
        </p:nvSpPr>
        <p:spPr>
          <a:xfrm>
            <a:off x="668220" y="3847794"/>
            <a:ext cx="4019262" cy="2249426"/>
          </a:xfrm>
          <a:prstGeom prst="rect">
            <a:avLst/>
          </a:prstGeom>
          <a:noFill/>
          <a:ln/>
        </p:spPr>
        <p:txBody>
          <a:bodyPr wrap="square" lIns="0" tIns="0" rIns="0" bIns="0" rtlCol="0" anchor="t"/>
          <a:lstStyle/>
          <a:p>
            <a:pPr defTabSz="925880">
              <a:lnSpc>
                <a:spcPts val="2600"/>
              </a:lnSpc>
            </a:pPr>
            <a:r>
              <a:rPr lang="en-US" sz="2000" dirty="0">
                <a:solidFill>
                  <a:srgbClr val="333333"/>
                </a:solidFill>
                <a:latin typeface="+mn-ea"/>
                <a:cs typeface="游ゴシック" pitchFamily="34" charset="-120"/>
              </a:rPr>
              <a:t>・対象者が不明</a:t>
            </a:r>
            <a:endParaRPr lang="en-US" sz="2000" dirty="0">
              <a:solidFill>
                <a:srgbClr val="000000"/>
              </a:solidFill>
              <a:latin typeface="+mn-ea"/>
            </a:endParaRPr>
          </a:p>
          <a:p>
            <a:pPr defTabSz="925880">
              <a:lnSpc>
                <a:spcPts val="2600"/>
              </a:lnSpc>
            </a:pPr>
            <a:r>
              <a:rPr lang="en-US" sz="2000" dirty="0">
                <a:solidFill>
                  <a:srgbClr val="333333"/>
                </a:solidFill>
                <a:latin typeface="+mn-ea"/>
                <a:cs typeface="游ゴシック" pitchFamily="34" charset="-120"/>
              </a:rPr>
              <a:t>・研修の目的や日程がない</a:t>
            </a:r>
            <a:endParaRPr lang="en-US" sz="2000" dirty="0">
              <a:solidFill>
                <a:srgbClr val="000000"/>
              </a:solidFill>
              <a:latin typeface="+mn-ea"/>
            </a:endParaRPr>
          </a:p>
          <a:p>
            <a:pPr defTabSz="925880">
              <a:lnSpc>
                <a:spcPts val="2600"/>
              </a:lnSpc>
            </a:pPr>
            <a:r>
              <a:rPr lang="en-US" sz="2000" dirty="0">
                <a:solidFill>
                  <a:srgbClr val="333333"/>
                </a:solidFill>
                <a:latin typeface="+mn-ea"/>
                <a:cs typeface="游ゴシック" pitchFamily="34" charset="-120"/>
              </a:rPr>
              <a:t>・出力されるトーンがAI任せ</a:t>
            </a:r>
            <a:endParaRPr lang="en-US" sz="2000" dirty="0">
              <a:solidFill>
                <a:srgbClr val="000000"/>
              </a:solidFill>
              <a:latin typeface="+mn-ea"/>
            </a:endParaRPr>
          </a:p>
        </p:txBody>
      </p:sp>
      <p:sp>
        <p:nvSpPr>
          <p:cNvPr id="43" name="Text 13">
            <a:extLst>
              <a:ext uri="{FF2B5EF4-FFF2-40B4-BE49-F238E27FC236}">
                <a16:creationId xmlns:a16="http://schemas.microsoft.com/office/drawing/2014/main" id="{B84E2772-6B83-00BA-18AE-E05650D78CBC}"/>
              </a:ext>
            </a:extLst>
          </p:cNvPr>
          <p:cNvSpPr txBox="1"/>
          <p:nvPr/>
        </p:nvSpPr>
        <p:spPr>
          <a:xfrm>
            <a:off x="5260601" y="1524305"/>
            <a:ext cx="4334721" cy="419710"/>
          </a:xfrm>
          <a:prstGeom prst="rect">
            <a:avLst/>
          </a:prstGeom>
          <a:noFill/>
          <a:ln/>
        </p:spPr>
        <p:txBody>
          <a:bodyPr wrap="none" lIns="0" tIns="0" rIns="0" bIns="0" rtlCol="0" anchor="ctr"/>
          <a:lstStyle/>
          <a:p>
            <a:pPr defTabSz="925880"/>
            <a:r>
              <a:rPr lang="en-US" sz="2000" b="1" dirty="0">
                <a:solidFill>
                  <a:srgbClr val="FFFFFF"/>
                </a:solidFill>
                <a:latin typeface="+mn-ea"/>
                <a:cs typeface="游ゴシック" pitchFamily="34" charset="-120"/>
              </a:rPr>
              <a:t>✅ 良いプロンプト</a:t>
            </a:r>
            <a:endParaRPr lang="en-US" sz="2000" dirty="0">
              <a:solidFill>
                <a:srgbClr val="000000"/>
              </a:solidFill>
              <a:latin typeface="+mn-ea"/>
            </a:endParaRPr>
          </a:p>
        </p:txBody>
      </p:sp>
      <p:sp>
        <p:nvSpPr>
          <p:cNvPr id="47" name="Text 14">
            <a:extLst>
              <a:ext uri="{FF2B5EF4-FFF2-40B4-BE49-F238E27FC236}">
                <a16:creationId xmlns:a16="http://schemas.microsoft.com/office/drawing/2014/main" id="{D396182E-ECD3-336A-D9CE-BCBC41ED450B}"/>
              </a:ext>
            </a:extLst>
          </p:cNvPr>
          <p:cNvSpPr txBox="1"/>
          <p:nvPr/>
        </p:nvSpPr>
        <p:spPr>
          <a:xfrm>
            <a:off x="5451710" y="2266798"/>
            <a:ext cx="4019262" cy="3772814"/>
          </a:xfrm>
          <a:prstGeom prst="rect">
            <a:avLst/>
          </a:prstGeom>
          <a:noFill/>
          <a:ln/>
        </p:spPr>
        <p:txBody>
          <a:bodyPr wrap="square" lIns="0" tIns="0" rIns="0" bIns="0" rtlCol="0" anchor="t"/>
          <a:lstStyle/>
          <a:p>
            <a:pPr defTabSz="925880">
              <a:lnSpc>
                <a:spcPts val="2470"/>
              </a:lnSpc>
            </a:pPr>
            <a:r>
              <a:rPr lang="en-US" sz="2000" dirty="0">
                <a:solidFill>
                  <a:srgbClr val="333333"/>
                </a:solidFill>
                <a:latin typeface="+mn-ea"/>
                <a:cs typeface="游ゴシック" pitchFamily="34" charset="-120"/>
              </a:rPr>
              <a:t>「</a:t>
            </a:r>
            <a:r>
              <a:rPr lang="en-US" sz="2000" b="1" dirty="0">
                <a:solidFill>
                  <a:srgbClr val="2F6980"/>
                </a:solidFill>
                <a:latin typeface="+mn-ea"/>
                <a:cs typeface="游ゴシック" pitchFamily="34" charset="-120"/>
              </a:rPr>
              <a:t>あなたは人事部の育成担当です</a:t>
            </a:r>
            <a:r>
              <a:rPr lang="en-US" sz="2000" dirty="0">
                <a:solidFill>
                  <a:srgbClr val="333333"/>
                </a:solidFill>
                <a:latin typeface="+mn-ea"/>
                <a:cs typeface="游ゴシック" pitchFamily="34" charset="-120"/>
              </a:rPr>
              <a:t>。</a:t>
            </a:r>
            <a:endParaRPr lang="en-US" sz="2000" dirty="0">
              <a:solidFill>
                <a:srgbClr val="000000"/>
              </a:solidFill>
              <a:latin typeface="+mn-ea"/>
            </a:endParaRPr>
          </a:p>
          <a:p>
            <a:pPr defTabSz="925880">
              <a:lnSpc>
                <a:spcPts val="2470"/>
              </a:lnSpc>
            </a:pPr>
            <a:endParaRPr lang="en-US" sz="2000" dirty="0">
              <a:solidFill>
                <a:srgbClr val="000000"/>
              </a:solidFill>
              <a:latin typeface="+mn-ea"/>
            </a:endParaRPr>
          </a:p>
          <a:p>
            <a:pPr defTabSz="925880">
              <a:lnSpc>
                <a:spcPts val="2470"/>
              </a:lnSpc>
            </a:pPr>
            <a:r>
              <a:rPr lang="en-US" sz="2000" b="1" dirty="0">
                <a:solidFill>
                  <a:srgbClr val="B45309"/>
                </a:solidFill>
                <a:latin typeface="+mn-ea"/>
                <a:cs typeface="游ゴシック" pitchFamily="34" charset="-120"/>
              </a:rPr>
              <a:t>全社員向け</a:t>
            </a:r>
            <a:r>
              <a:rPr lang="en-US" sz="2000" dirty="0">
                <a:solidFill>
                  <a:srgbClr val="333333"/>
                </a:solidFill>
                <a:latin typeface="+mn-ea"/>
                <a:cs typeface="游ゴシック" pitchFamily="34" charset="-120"/>
              </a:rPr>
              <a:t>に、</a:t>
            </a:r>
            <a:r>
              <a:rPr lang="en-US" sz="2000" b="1" dirty="0">
                <a:solidFill>
                  <a:srgbClr val="B45309"/>
                </a:solidFill>
                <a:latin typeface="+mn-ea"/>
                <a:cs typeface="游ゴシック" pitchFamily="34" charset="-120"/>
              </a:rPr>
              <a:t>来月開催される『AIリテラシー研修』</a:t>
            </a:r>
            <a:r>
              <a:rPr lang="en-US" sz="2000" dirty="0">
                <a:solidFill>
                  <a:srgbClr val="333333"/>
                </a:solidFill>
                <a:latin typeface="+mn-ea"/>
                <a:cs typeface="游ゴシック" pitchFamily="34" charset="-120"/>
              </a:rPr>
              <a:t>の参加を促す</a:t>
            </a:r>
            <a:r>
              <a:rPr lang="en-US" sz="2000" b="1" dirty="0">
                <a:solidFill>
                  <a:srgbClr val="00B050"/>
                </a:solidFill>
                <a:latin typeface="+mn-ea"/>
                <a:cs typeface="游ゴシック" pitchFamily="34" charset="-120"/>
              </a:rPr>
              <a:t>案内メールを作成</a:t>
            </a:r>
            <a:r>
              <a:rPr lang="en-US" sz="2000" dirty="0">
                <a:solidFill>
                  <a:srgbClr val="333333"/>
                </a:solidFill>
                <a:latin typeface="+mn-ea"/>
                <a:cs typeface="游ゴシック" pitchFamily="34" charset="-120"/>
              </a:rPr>
              <a:t>してください。</a:t>
            </a:r>
            <a:endParaRPr lang="en-US" sz="2000" dirty="0">
              <a:solidFill>
                <a:srgbClr val="000000"/>
              </a:solidFill>
              <a:latin typeface="+mn-ea"/>
            </a:endParaRPr>
          </a:p>
          <a:p>
            <a:pPr defTabSz="925880">
              <a:lnSpc>
                <a:spcPts val="2470"/>
              </a:lnSpc>
            </a:pPr>
            <a:endParaRPr lang="en-US" sz="2000" dirty="0">
              <a:solidFill>
                <a:srgbClr val="000000"/>
              </a:solidFill>
              <a:latin typeface="+mn-ea"/>
            </a:endParaRPr>
          </a:p>
          <a:p>
            <a:pPr defTabSz="925880">
              <a:lnSpc>
                <a:spcPts val="2470"/>
              </a:lnSpc>
            </a:pPr>
            <a:r>
              <a:rPr lang="en-US" sz="2000" b="1" dirty="0">
                <a:solidFill>
                  <a:srgbClr val="E60012"/>
                </a:solidFill>
                <a:latin typeface="+mn-ea"/>
                <a:cs typeface="游ゴシック" pitchFamily="34" charset="-120"/>
              </a:rPr>
              <a:t>重要性が伝わる丁寧なトーンで、冒頭に箇条書きで日時を記載</a:t>
            </a:r>
            <a:r>
              <a:rPr lang="en-US" sz="2000" dirty="0">
                <a:solidFill>
                  <a:srgbClr val="333333"/>
                </a:solidFill>
                <a:latin typeface="+mn-ea"/>
                <a:cs typeface="游ゴシック" pitchFamily="34" charset="-120"/>
              </a:rPr>
              <a:t>してください。」</a:t>
            </a:r>
            <a:endParaRPr lang="en-US" sz="2000" dirty="0">
              <a:solidFill>
                <a:srgbClr val="000000"/>
              </a:solidFill>
              <a:latin typeface="+mn-ea"/>
            </a:endParaRPr>
          </a:p>
        </p:txBody>
      </p:sp>
    </p:spTree>
    <p:extLst>
      <p:ext uri="{BB962C8B-B14F-4D97-AF65-F5344CB8AC3E}">
        <p14:creationId xmlns:p14="http://schemas.microsoft.com/office/powerpoint/2010/main" val="1977970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1FDF-0AC0-25E3-F803-42E8A858EC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AE656C2-7E8C-AD55-6E89-B93C2FE82150}"/>
              </a:ext>
            </a:extLst>
          </p:cNvPr>
          <p:cNvSpPr>
            <a:spLocks noGrp="1"/>
          </p:cNvSpPr>
          <p:nvPr>
            <p:ph type="title"/>
          </p:nvPr>
        </p:nvSpPr>
        <p:spPr/>
        <p:txBody>
          <a:bodyPr>
            <a:normAutofit/>
          </a:bodyPr>
          <a:lstStyle/>
          <a:p>
            <a:r>
              <a:rPr lang="en-US" altLang="ja-JP" dirty="0">
                <a:latin typeface="+mn-ea"/>
                <a:ea typeface="+mn-ea"/>
              </a:rPr>
              <a:t>4-4.</a:t>
            </a:r>
            <a:r>
              <a:rPr lang="ja-JP" altLang="en-US" dirty="0">
                <a:latin typeface="+mn-ea"/>
                <a:ea typeface="+mn-ea"/>
              </a:rPr>
              <a:t> テクニック①：</a:t>
            </a:r>
            <a:r>
              <a:rPr lang="en-US" altLang="ja-JP" dirty="0">
                <a:latin typeface="+mn-ea"/>
                <a:ea typeface="+mn-ea"/>
              </a:rPr>
              <a:t>Role Prompting</a:t>
            </a:r>
            <a:r>
              <a:rPr lang="ja-JP" altLang="en-US" dirty="0">
                <a:latin typeface="+mn-ea"/>
                <a:ea typeface="+mn-ea"/>
              </a:rPr>
              <a:t>（役割の付与）</a:t>
            </a:r>
          </a:p>
        </p:txBody>
      </p:sp>
      <p:sp>
        <p:nvSpPr>
          <p:cNvPr id="23" name="Text 8">
            <a:extLst>
              <a:ext uri="{FF2B5EF4-FFF2-40B4-BE49-F238E27FC236}">
                <a16:creationId xmlns:a16="http://schemas.microsoft.com/office/drawing/2014/main" id="{679701F0-518A-B7DB-1299-2A31B205FDBC}"/>
              </a:ext>
            </a:extLst>
          </p:cNvPr>
          <p:cNvSpPr txBox="1"/>
          <p:nvPr/>
        </p:nvSpPr>
        <p:spPr>
          <a:xfrm>
            <a:off x="457995" y="1047902"/>
            <a:ext cx="9298847" cy="228600"/>
          </a:xfrm>
          <a:prstGeom prst="rect">
            <a:avLst/>
          </a:prstGeom>
          <a:noFill/>
          <a:ln/>
        </p:spPr>
        <p:txBody>
          <a:bodyPr wrap="none" lIns="0" tIns="0" rIns="0" bIns="0" rtlCol="0" anchor="ctr"/>
          <a:lstStyle/>
          <a:p>
            <a:pPr defTabSz="925880"/>
            <a:r>
              <a:rPr lang="en-US" altLang="ja-JP" sz="2000" dirty="0">
                <a:solidFill>
                  <a:srgbClr val="404040"/>
                </a:solidFill>
                <a:latin typeface="+mn-ea"/>
              </a:rPr>
              <a:t>AI</a:t>
            </a:r>
            <a:r>
              <a:rPr lang="ja-JP" altLang="en-US" sz="2000" dirty="0">
                <a:solidFill>
                  <a:srgbClr val="404040"/>
                </a:solidFill>
                <a:latin typeface="+mn-ea"/>
              </a:rPr>
              <a:t>に「ペルソナ」を憑依させるテクニック</a:t>
            </a:r>
            <a:endParaRPr lang="en-US" sz="2000" dirty="0">
              <a:solidFill>
                <a:srgbClr val="404040"/>
              </a:solidFill>
              <a:latin typeface="+mn-ea"/>
            </a:endParaRPr>
          </a:p>
        </p:txBody>
      </p:sp>
      <p:sp>
        <p:nvSpPr>
          <p:cNvPr id="5" name="Shape 0">
            <a:extLst>
              <a:ext uri="{FF2B5EF4-FFF2-40B4-BE49-F238E27FC236}">
                <a16:creationId xmlns:a16="http://schemas.microsoft.com/office/drawing/2014/main" id="{81220C32-5952-A0AF-4D66-357DA7987398}"/>
              </a:ext>
            </a:extLst>
          </p:cNvPr>
          <p:cNvSpPr/>
          <p:nvPr/>
        </p:nvSpPr>
        <p:spPr>
          <a:xfrm>
            <a:off x="382099" y="1524306"/>
            <a:ext cx="9221470" cy="1429207"/>
          </a:xfrm>
          <a:prstGeom prst="roundRect">
            <a:avLst>
              <a:gd name="adj" fmla="val 5310"/>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8" name="Shape 1">
            <a:extLst>
              <a:ext uri="{FF2B5EF4-FFF2-40B4-BE49-F238E27FC236}">
                <a16:creationId xmlns:a16="http://schemas.microsoft.com/office/drawing/2014/main" id="{FB9A9881-1877-22C2-3550-40D2DF1E1A22}"/>
              </a:ext>
            </a:extLst>
          </p:cNvPr>
          <p:cNvSpPr/>
          <p:nvPr/>
        </p:nvSpPr>
        <p:spPr>
          <a:xfrm>
            <a:off x="382099" y="3095244"/>
            <a:ext cx="9221470" cy="1619402"/>
          </a:xfrm>
          <a:prstGeom prst="roundRect">
            <a:avLst>
              <a:gd name="adj" fmla="val 4687"/>
            </a:avLst>
          </a:prstGeom>
          <a:solidFill>
            <a:srgbClr val="EFF6FF"/>
          </a:solidFill>
          <a:ln/>
        </p:spPr>
        <p:txBody>
          <a:bodyPr/>
          <a:lstStyle/>
          <a:p>
            <a:pPr defTabSz="925880"/>
            <a:endParaRPr lang="ja-JP" altLang="en-US" sz="2000">
              <a:solidFill>
                <a:srgbClr val="000000"/>
              </a:solidFill>
              <a:latin typeface="+mn-ea"/>
            </a:endParaRPr>
          </a:p>
        </p:txBody>
      </p:sp>
      <p:sp>
        <p:nvSpPr>
          <p:cNvPr id="11" name="Shape 2">
            <a:extLst>
              <a:ext uri="{FF2B5EF4-FFF2-40B4-BE49-F238E27FC236}">
                <a16:creationId xmlns:a16="http://schemas.microsoft.com/office/drawing/2014/main" id="{BF2F2246-CAA9-9AEE-6CD7-080B333A3E98}"/>
              </a:ext>
            </a:extLst>
          </p:cNvPr>
          <p:cNvSpPr/>
          <p:nvPr/>
        </p:nvSpPr>
        <p:spPr>
          <a:xfrm>
            <a:off x="382100" y="3095244"/>
            <a:ext cx="46476" cy="1619402"/>
          </a:xfrm>
          <a:prstGeom prst="roundRect">
            <a:avLst>
              <a:gd name="adj" fmla="val 131746"/>
            </a:avLst>
          </a:prstGeom>
          <a:solidFill>
            <a:srgbClr val="3B82F6"/>
          </a:solidFill>
          <a:ln w="12700">
            <a:solidFill>
              <a:srgbClr val="3B82F6">
                <a:alpha val="0"/>
              </a:srgbClr>
            </a:solidFill>
            <a:prstDash val="solid"/>
          </a:ln>
        </p:spPr>
        <p:txBody>
          <a:bodyPr/>
          <a:lstStyle/>
          <a:p>
            <a:pPr defTabSz="925880"/>
            <a:endParaRPr lang="ja-JP" altLang="en-US" sz="2000">
              <a:solidFill>
                <a:srgbClr val="000000"/>
              </a:solidFill>
              <a:latin typeface="+mn-ea"/>
            </a:endParaRPr>
          </a:p>
        </p:txBody>
      </p:sp>
      <p:pic>
        <p:nvPicPr>
          <p:cNvPr id="14" name="Image 0" descr="gen-dedup-90f884924de54ac812ad76606f67c408.png">
            <a:extLst>
              <a:ext uri="{FF2B5EF4-FFF2-40B4-BE49-F238E27FC236}">
                <a16:creationId xmlns:a16="http://schemas.microsoft.com/office/drawing/2014/main" id="{0817C54E-D21A-9D1A-4335-D7433A77FA70}"/>
              </a:ext>
            </a:extLst>
          </p:cNvPr>
          <p:cNvPicPr>
            <a:picLocks noChangeAspect="1"/>
          </p:cNvPicPr>
          <p:nvPr/>
        </p:nvPicPr>
        <p:blipFill>
          <a:blip r:embed="rId2"/>
          <a:srcRect l="-384" r="-384"/>
          <a:stretch/>
        </p:blipFill>
        <p:spPr>
          <a:xfrm>
            <a:off x="382100" y="1524306"/>
            <a:ext cx="46476" cy="1429207"/>
          </a:xfrm>
          <a:prstGeom prst="rect">
            <a:avLst/>
          </a:prstGeom>
        </p:spPr>
      </p:pic>
      <p:sp>
        <p:nvSpPr>
          <p:cNvPr id="17" name="Shape 4">
            <a:extLst>
              <a:ext uri="{FF2B5EF4-FFF2-40B4-BE49-F238E27FC236}">
                <a16:creationId xmlns:a16="http://schemas.microsoft.com/office/drawing/2014/main" id="{604979D1-2386-C5D6-B20E-90D091126E2C}"/>
              </a:ext>
            </a:extLst>
          </p:cNvPr>
          <p:cNvSpPr/>
          <p:nvPr/>
        </p:nvSpPr>
        <p:spPr>
          <a:xfrm>
            <a:off x="610700" y="5352898"/>
            <a:ext cx="8852611" cy="809244"/>
          </a:xfrm>
          <a:prstGeom prst="roundRect">
            <a:avLst>
              <a:gd name="adj" fmla="val 7119"/>
            </a:avLst>
          </a:prstGeom>
          <a:solidFill>
            <a:srgbClr val="FFFFFF"/>
          </a:solidFill>
          <a:ln w="12700">
            <a:solidFill>
              <a:srgbClr val="FFFFFF">
                <a:alpha val="0"/>
              </a:srgbClr>
            </a:solidFill>
            <a:prstDash val="solid"/>
          </a:ln>
        </p:spPr>
        <p:txBody>
          <a:bodyPr anchor="ctr"/>
          <a:lstStyle/>
          <a:p>
            <a:pPr defTabSz="925880"/>
            <a:endParaRPr lang="ja-JP" altLang="en-US" sz="2000">
              <a:solidFill>
                <a:srgbClr val="000000"/>
              </a:solidFill>
              <a:latin typeface="+mn-ea"/>
            </a:endParaRPr>
          </a:p>
        </p:txBody>
      </p:sp>
      <p:sp>
        <p:nvSpPr>
          <p:cNvPr id="20" name="Text 9">
            <a:extLst>
              <a:ext uri="{FF2B5EF4-FFF2-40B4-BE49-F238E27FC236}">
                <a16:creationId xmlns:a16="http://schemas.microsoft.com/office/drawing/2014/main" id="{FAD1BBEF-B67E-49CE-18A6-B432A0189BE1}"/>
              </a:ext>
            </a:extLst>
          </p:cNvPr>
          <p:cNvSpPr txBox="1"/>
          <p:nvPr/>
        </p:nvSpPr>
        <p:spPr>
          <a:xfrm>
            <a:off x="610700" y="1714501"/>
            <a:ext cx="9068025"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何をする？</a:t>
            </a:r>
            <a:endParaRPr lang="en-US" sz="2000" dirty="0">
              <a:solidFill>
                <a:srgbClr val="000000"/>
              </a:solidFill>
              <a:latin typeface="+mn-ea"/>
            </a:endParaRPr>
          </a:p>
        </p:txBody>
      </p:sp>
      <p:sp>
        <p:nvSpPr>
          <p:cNvPr id="24" name="Text 10">
            <a:extLst>
              <a:ext uri="{FF2B5EF4-FFF2-40B4-BE49-F238E27FC236}">
                <a16:creationId xmlns:a16="http://schemas.microsoft.com/office/drawing/2014/main" id="{C52930BC-9411-A735-F576-4EA6865CFF21}"/>
              </a:ext>
            </a:extLst>
          </p:cNvPr>
          <p:cNvSpPr txBox="1"/>
          <p:nvPr/>
        </p:nvSpPr>
        <p:spPr>
          <a:xfrm>
            <a:off x="610699" y="2016253"/>
            <a:ext cx="8914580" cy="898855"/>
          </a:xfrm>
          <a:prstGeom prst="rect">
            <a:avLst/>
          </a:prstGeom>
          <a:noFill/>
          <a:ln/>
        </p:spPr>
        <p:txBody>
          <a:bodyPr wrap="square" lIns="0" tIns="0" rIns="0" bIns="0" rtlCol="0" anchor="ctr"/>
          <a:lstStyle/>
          <a:p>
            <a:pPr defTabSz="925880">
              <a:lnSpc>
                <a:spcPts val="2210"/>
              </a:lnSpc>
            </a:pPr>
            <a:r>
              <a:rPr lang="en-US" sz="2000" b="1" dirty="0">
                <a:solidFill>
                  <a:srgbClr val="333333"/>
                </a:solidFill>
                <a:latin typeface="+mn-ea"/>
                <a:cs typeface="游ゴシック" pitchFamily="34" charset="-120"/>
              </a:rPr>
              <a:t>「あなたはプロのコンサルタントです」「あなたは新入社員のメンターです」</a:t>
            </a:r>
            <a:r>
              <a:rPr lang="en-US" sz="2000" dirty="0">
                <a:solidFill>
                  <a:srgbClr val="333333"/>
                </a:solidFill>
                <a:latin typeface="+mn-ea"/>
                <a:cs typeface="游ゴシック" pitchFamily="34" charset="-120"/>
              </a:rPr>
              <a:t>などと</a:t>
            </a:r>
            <a:endParaRPr lang="en-US" sz="2000" dirty="0">
              <a:solidFill>
                <a:srgbClr val="000000"/>
              </a:solidFill>
              <a:latin typeface="+mn-ea"/>
            </a:endParaRPr>
          </a:p>
          <a:p>
            <a:pPr defTabSz="925880">
              <a:lnSpc>
                <a:spcPts val="2210"/>
              </a:lnSpc>
            </a:pPr>
            <a:r>
              <a:rPr lang="en-US" sz="2000" dirty="0">
                <a:solidFill>
                  <a:srgbClr val="333333"/>
                </a:solidFill>
                <a:latin typeface="+mn-ea"/>
                <a:cs typeface="游ゴシック" pitchFamily="34" charset="-120"/>
              </a:rPr>
              <a:t>冒頭に宣言します。</a:t>
            </a:r>
            <a:endParaRPr lang="en-US" sz="2000" dirty="0">
              <a:solidFill>
                <a:srgbClr val="000000"/>
              </a:solidFill>
              <a:latin typeface="+mn-ea"/>
            </a:endParaRPr>
          </a:p>
        </p:txBody>
      </p:sp>
      <p:sp>
        <p:nvSpPr>
          <p:cNvPr id="26" name="Text 11">
            <a:extLst>
              <a:ext uri="{FF2B5EF4-FFF2-40B4-BE49-F238E27FC236}">
                <a16:creationId xmlns:a16="http://schemas.microsoft.com/office/drawing/2014/main" id="{A4AB4E64-69CD-5AB0-9D79-B6171FE32BF7}"/>
              </a:ext>
            </a:extLst>
          </p:cNvPr>
          <p:cNvSpPr txBox="1"/>
          <p:nvPr/>
        </p:nvSpPr>
        <p:spPr>
          <a:xfrm>
            <a:off x="610700" y="3286355"/>
            <a:ext cx="9068025" cy="286207"/>
          </a:xfrm>
          <a:prstGeom prst="rect">
            <a:avLst/>
          </a:prstGeom>
          <a:noFill/>
          <a:ln/>
        </p:spPr>
        <p:txBody>
          <a:bodyPr wrap="none" lIns="0" tIns="0" rIns="0" bIns="0" rtlCol="0" anchor="ctr"/>
          <a:lstStyle/>
          <a:p>
            <a:pPr defTabSz="925880"/>
            <a:r>
              <a:rPr lang="en-US" sz="2000" b="1" dirty="0">
                <a:solidFill>
                  <a:srgbClr val="3B82F6"/>
                </a:solidFill>
                <a:latin typeface="+mn-ea"/>
                <a:cs typeface="游ゴシック" pitchFamily="34" charset="-120"/>
              </a:rPr>
              <a:t>◆ なぜ効くのか？</a:t>
            </a:r>
            <a:endParaRPr lang="en-US" sz="2000" dirty="0">
              <a:solidFill>
                <a:srgbClr val="000000"/>
              </a:solidFill>
              <a:latin typeface="+mn-ea"/>
            </a:endParaRPr>
          </a:p>
        </p:txBody>
      </p:sp>
      <p:sp>
        <p:nvSpPr>
          <p:cNvPr id="29" name="Text 12">
            <a:extLst>
              <a:ext uri="{FF2B5EF4-FFF2-40B4-BE49-F238E27FC236}">
                <a16:creationId xmlns:a16="http://schemas.microsoft.com/office/drawing/2014/main" id="{3887D585-1E41-1B7B-7BE2-18E1526AFF1A}"/>
              </a:ext>
            </a:extLst>
          </p:cNvPr>
          <p:cNvSpPr txBox="1"/>
          <p:nvPr/>
        </p:nvSpPr>
        <p:spPr>
          <a:xfrm>
            <a:off x="610699" y="3617366"/>
            <a:ext cx="8914580" cy="1002182"/>
          </a:xfrm>
          <a:prstGeom prst="rect">
            <a:avLst/>
          </a:prstGeom>
          <a:noFill/>
          <a:ln/>
        </p:spPr>
        <p:txBody>
          <a:bodyPr wrap="square" lIns="0" tIns="0" rIns="0" bIns="0" rtlCol="0" anchor="ctr"/>
          <a:lstStyle/>
          <a:p>
            <a:pPr defTabSz="925880">
              <a:lnSpc>
                <a:spcPts val="2340"/>
              </a:lnSpc>
            </a:pPr>
            <a:r>
              <a:rPr lang="en-US" sz="2000" dirty="0" err="1">
                <a:solidFill>
                  <a:srgbClr val="333333"/>
                </a:solidFill>
                <a:latin typeface="+mn-ea"/>
                <a:cs typeface="游ゴシック" pitchFamily="34" charset="-120"/>
              </a:rPr>
              <a:t>役割を与えることで、LLMは</a:t>
            </a:r>
            <a:r>
              <a:rPr lang="en-US" sz="2000" b="1" dirty="0" err="1">
                <a:solidFill>
                  <a:srgbClr val="3B82F6"/>
                </a:solidFill>
                <a:latin typeface="+mn-ea"/>
                <a:cs typeface="游ゴシック" pitchFamily="34" charset="-120"/>
              </a:rPr>
              <a:t>そのペルソナに関連する言語空間から単語を予測</a:t>
            </a:r>
            <a:endParaRPr lang="en-US" sz="2000" b="1" dirty="0">
              <a:solidFill>
                <a:srgbClr val="3B82F6"/>
              </a:solidFill>
              <a:latin typeface="+mn-ea"/>
              <a:cs typeface="游ゴシック" pitchFamily="34" charset="-120"/>
            </a:endParaRPr>
          </a:p>
          <a:p>
            <a:pPr defTabSz="925880">
              <a:lnSpc>
                <a:spcPts val="2340"/>
              </a:lnSpc>
            </a:pPr>
            <a:r>
              <a:rPr lang="en-US" sz="2000" b="1" dirty="0" err="1">
                <a:solidFill>
                  <a:srgbClr val="3B82F6"/>
                </a:solidFill>
                <a:latin typeface="+mn-ea"/>
                <a:cs typeface="游ゴシック" pitchFamily="34" charset="-120"/>
              </a:rPr>
              <a:t>しやすくなり</a:t>
            </a:r>
            <a:r>
              <a:rPr lang="en-US" sz="2000" dirty="0" err="1">
                <a:solidFill>
                  <a:srgbClr val="333333"/>
                </a:solidFill>
                <a:latin typeface="+mn-ea"/>
                <a:cs typeface="游ゴシック" pitchFamily="34" charset="-120"/>
              </a:rPr>
              <a:t>、専門用語の適切な使用や、期待するトーンでの出力が可能になります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32" name="Text 13">
            <a:extLst>
              <a:ext uri="{FF2B5EF4-FFF2-40B4-BE49-F238E27FC236}">
                <a16:creationId xmlns:a16="http://schemas.microsoft.com/office/drawing/2014/main" id="{517682D9-FD18-9DE7-78A4-9B095B579ACC}"/>
              </a:ext>
            </a:extLst>
          </p:cNvPr>
          <p:cNvSpPr txBox="1"/>
          <p:nvPr/>
        </p:nvSpPr>
        <p:spPr>
          <a:xfrm>
            <a:off x="610700" y="5048402"/>
            <a:ext cx="9068025" cy="228600"/>
          </a:xfrm>
          <a:prstGeom prst="rect">
            <a:avLst/>
          </a:prstGeom>
          <a:noFill/>
          <a:ln/>
        </p:spPr>
        <p:txBody>
          <a:bodyPr wrap="none" lIns="0" tIns="0" rIns="0" bIns="0" rtlCol="0" anchor="ctr"/>
          <a:lstStyle/>
          <a:p>
            <a:pPr defTabSz="925880"/>
            <a:r>
              <a:rPr lang="en-US" sz="2000" b="1" dirty="0">
                <a:solidFill>
                  <a:srgbClr val="B45309"/>
                </a:solidFill>
                <a:latin typeface="+mn-ea"/>
                <a:cs typeface="游ゴシック" pitchFamily="34" charset="-120"/>
              </a:rPr>
              <a:t>💬 記述例</a:t>
            </a:r>
            <a:endParaRPr lang="en-US" sz="2000" dirty="0">
              <a:solidFill>
                <a:srgbClr val="000000"/>
              </a:solidFill>
              <a:latin typeface="+mn-ea"/>
            </a:endParaRPr>
          </a:p>
        </p:txBody>
      </p:sp>
      <p:sp>
        <p:nvSpPr>
          <p:cNvPr id="34" name="Text 14">
            <a:extLst>
              <a:ext uri="{FF2B5EF4-FFF2-40B4-BE49-F238E27FC236}">
                <a16:creationId xmlns:a16="http://schemas.microsoft.com/office/drawing/2014/main" id="{0C489655-F3F5-F3BF-8669-FA4666065364}"/>
              </a:ext>
            </a:extLst>
          </p:cNvPr>
          <p:cNvSpPr txBox="1"/>
          <p:nvPr/>
        </p:nvSpPr>
        <p:spPr>
          <a:xfrm>
            <a:off x="762490" y="5445252"/>
            <a:ext cx="8606951" cy="708660"/>
          </a:xfrm>
          <a:prstGeom prst="rect">
            <a:avLst/>
          </a:prstGeom>
          <a:noFill/>
          <a:ln/>
        </p:spPr>
        <p:txBody>
          <a:bodyPr wrap="square" lIns="0" tIns="0" rIns="0" bIns="0" rtlCol="0" anchor="t"/>
          <a:lstStyle/>
          <a:p>
            <a:pPr defTabSz="925880">
              <a:lnSpc>
                <a:spcPts val="2210"/>
              </a:lnSpc>
            </a:pPr>
            <a:r>
              <a:rPr lang="en-US" sz="2000" dirty="0">
                <a:solidFill>
                  <a:srgbClr val="333333"/>
                </a:solidFill>
                <a:latin typeface="+mn-ea"/>
                <a:cs typeface="游ゴシック" pitchFamily="34" charset="-120"/>
              </a:rPr>
              <a:t>「あなたは</a:t>
            </a:r>
            <a:r>
              <a:rPr lang="en-US" sz="2000" b="1" dirty="0">
                <a:solidFill>
                  <a:srgbClr val="E60012"/>
                </a:solidFill>
                <a:latin typeface="+mn-ea"/>
                <a:cs typeface="游ゴシック" pitchFamily="34" charset="-120"/>
              </a:rPr>
              <a:t>10年以上の経験を持つ人事コンサルタント</a:t>
            </a:r>
            <a:r>
              <a:rPr lang="en-US" sz="2000" dirty="0">
                <a:solidFill>
                  <a:srgbClr val="333333"/>
                </a:solidFill>
                <a:latin typeface="+mn-ea"/>
                <a:cs typeface="游ゴシック" pitchFamily="34" charset="-120"/>
              </a:rPr>
              <a:t>です。</a:t>
            </a:r>
            <a:endParaRPr lang="en-US" sz="2000" dirty="0">
              <a:solidFill>
                <a:srgbClr val="000000"/>
              </a:solidFill>
              <a:latin typeface="+mn-ea"/>
            </a:endParaRPr>
          </a:p>
          <a:p>
            <a:pPr defTabSz="925880">
              <a:lnSpc>
                <a:spcPts val="2210"/>
              </a:lnSpc>
            </a:pPr>
            <a:r>
              <a:rPr lang="en-US" sz="2000" dirty="0">
                <a:solidFill>
                  <a:srgbClr val="333333"/>
                </a:solidFill>
                <a:latin typeface="+mn-ea"/>
                <a:cs typeface="游ゴシック" pitchFamily="34" charset="-120"/>
              </a:rPr>
              <a:t>以下の課題について、実務的なアドバイスを3つ提示してください。」</a:t>
            </a:r>
            <a:endParaRPr lang="en-US" sz="2000" dirty="0">
              <a:solidFill>
                <a:srgbClr val="000000"/>
              </a:solidFill>
              <a:latin typeface="+mn-ea"/>
            </a:endParaRPr>
          </a:p>
        </p:txBody>
      </p:sp>
    </p:spTree>
    <p:extLst>
      <p:ext uri="{BB962C8B-B14F-4D97-AF65-F5344CB8AC3E}">
        <p14:creationId xmlns:p14="http://schemas.microsoft.com/office/powerpoint/2010/main" val="2217813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53EE-7CA3-0C54-D24E-E2C53D8E3BC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46CCDD-B7B9-38CC-96FA-2A0C0A91D7BC}"/>
              </a:ext>
            </a:extLst>
          </p:cNvPr>
          <p:cNvSpPr>
            <a:spLocks noGrp="1"/>
          </p:cNvSpPr>
          <p:nvPr>
            <p:ph type="title"/>
          </p:nvPr>
        </p:nvSpPr>
        <p:spPr/>
        <p:txBody>
          <a:bodyPr>
            <a:normAutofit/>
          </a:bodyPr>
          <a:lstStyle/>
          <a:p>
            <a:r>
              <a:rPr lang="en-US" altLang="ja-JP" dirty="0">
                <a:latin typeface="+mn-ea"/>
                <a:ea typeface="+mn-ea"/>
              </a:rPr>
              <a:t>4-5.</a:t>
            </a:r>
            <a:r>
              <a:rPr lang="ja-JP" altLang="en-US" dirty="0">
                <a:latin typeface="+mn-ea"/>
                <a:ea typeface="+mn-ea"/>
              </a:rPr>
              <a:t> テクニック②</a:t>
            </a:r>
            <a:r>
              <a:rPr lang="ja-JP" altLang="en-US" dirty="0">
                <a:latin typeface="+mn-ea"/>
              </a:rPr>
              <a:t> ：</a:t>
            </a:r>
            <a:r>
              <a:rPr lang="ja-JP" altLang="en-US" dirty="0">
                <a:latin typeface="+mn-ea"/>
                <a:ea typeface="+mn-ea"/>
              </a:rPr>
              <a:t>区切り文字の活用</a:t>
            </a:r>
          </a:p>
        </p:txBody>
      </p:sp>
      <p:sp>
        <p:nvSpPr>
          <p:cNvPr id="23" name="Text 8">
            <a:extLst>
              <a:ext uri="{FF2B5EF4-FFF2-40B4-BE49-F238E27FC236}">
                <a16:creationId xmlns:a16="http://schemas.microsoft.com/office/drawing/2014/main" id="{322391B9-FDB3-F54E-3318-62B26D0A64B6}"/>
              </a:ext>
            </a:extLst>
          </p:cNvPr>
          <p:cNvSpPr txBox="1"/>
          <p:nvPr/>
        </p:nvSpPr>
        <p:spPr>
          <a:xfrm>
            <a:off x="457995" y="1047902"/>
            <a:ext cx="9298847" cy="228600"/>
          </a:xfrm>
          <a:prstGeom prst="rect">
            <a:avLst/>
          </a:prstGeom>
          <a:noFill/>
          <a:ln/>
        </p:spPr>
        <p:txBody>
          <a:bodyPr wrap="none" lIns="0" tIns="0" rIns="0" bIns="0" rtlCol="0" anchor="ctr"/>
          <a:lstStyle/>
          <a:p>
            <a:pPr defTabSz="925880"/>
            <a:r>
              <a:rPr lang="ja-JP" altLang="en-US" sz="2000" dirty="0">
                <a:solidFill>
                  <a:srgbClr val="404040"/>
                </a:solidFill>
                <a:latin typeface="+mn-ea"/>
              </a:rPr>
              <a:t>指示文と参照データを明確に分離するテクニック</a:t>
            </a:r>
            <a:endParaRPr lang="en-US" sz="2000" dirty="0">
              <a:solidFill>
                <a:srgbClr val="404040"/>
              </a:solidFill>
              <a:latin typeface="+mn-ea"/>
            </a:endParaRPr>
          </a:p>
        </p:txBody>
      </p:sp>
      <p:sp>
        <p:nvSpPr>
          <p:cNvPr id="4" name="Shape 0">
            <a:extLst>
              <a:ext uri="{FF2B5EF4-FFF2-40B4-BE49-F238E27FC236}">
                <a16:creationId xmlns:a16="http://schemas.microsoft.com/office/drawing/2014/main" id="{BE81F7A9-9365-405C-257C-2D5AE59D38D3}"/>
              </a:ext>
            </a:extLst>
          </p:cNvPr>
          <p:cNvSpPr/>
          <p:nvPr/>
        </p:nvSpPr>
        <p:spPr>
          <a:xfrm>
            <a:off x="286564" y="1524305"/>
            <a:ext cx="9374742" cy="1238098"/>
          </a:xfrm>
          <a:prstGeom prst="roundRect">
            <a:avLst>
              <a:gd name="adj" fmla="val 6130"/>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7" name="Shape 1">
            <a:extLst>
              <a:ext uri="{FF2B5EF4-FFF2-40B4-BE49-F238E27FC236}">
                <a16:creationId xmlns:a16="http://schemas.microsoft.com/office/drawing/2014/main" id="{A46AA034-0B20-238C-5FB9-88874D5281BE}"/>
              </a:ext>
            </a:extLst>
          </p:cNvPr>
          <p:cNvSpPr/>
          <p:nvPr/>
        </p:nvSpPr>
        <p:spPr>
          <a:xfrm>
            <a:off x="286564" y="2905050"/>
            <a:ext cx="9374742" cy="1429207"/>
          </a:xfrm>
          <a:prstGeom prst="roundRect">
            <a:avLst>
              <a:gd name="adj" fmla="val 5310"/>
            </a:avLst>
          </a:prstGeom>
          <a:solidFill>
            <a:srgbClr val="EFF6FF"/>
          </a:solidFill>
          <a:ln/>
        </p:spPr>
        <p:txBody>
          <a:bodyPr/>
          <a:lstStyle/>
          <a:p>
            <a:pPr defTabSz="925880"/>
            <a:endParaRPr lang="ja-JP" altLang="en-US" sz="2000">
              <a:solidFill>
                <a:srgbClr val="000000"/>
              </a:solidFill>
              <a:latin typeface="+mn-ea"/>
            </a:endParaRPr>
          </a:p>
        </p:txBody>
      </p:sp>
      <p:sp>
        <p:nvSpPr>
          <p:cNvPr id="10" name="Shape 2">
            <a:extLst>
              <a:ext uri="{FF2B5EF4-FFF2-40B4-BE49-F238E27FC236}">
                <a16:creationId xmlns:a16="http://schemas.microsoft.com/office/drawing/2014/main" id="{ADE04E47-6C14-25BB-5361-0F65448E5A5E}"/>
              </a:ext>
            </a:extLst>
          </p:cNvPr>
          <p:cNvSpPr/>
          <p:nvPr/>
        </p:nvSpPr>
        <p:spPr>
          <a:xfrm>
            <a:off x="286564" y="2905050"/>
            <a:ext cx="46091" cy="1429207"/>
          </a:xfrm>
          <a:prstGeom prst="roundRect">
            <a:avLst>
              <a:gd name="adj" fmla="val 131746"/>
            </a:avLst>
          </a:prstGeom>
          <a:solidFill>
            <a:srgbClr val="3B82F6"/>
          </a:solidFill>
          <a:ln w="12700">
            <a:solidFill>
              <a:srgbClr val="3B82F6">
                <a:alpha val="0"/>
              </a:srgbClr>
            </a:solidFill>
            <a:prstDash val="solid"/>
          </a:ln>
        </p:spPr>
        <p:txBody>
          <a:bodyPr/>
          <a:lstStyle/>
          <a:p>
            <a:pPr defTabSz="925880"/>
            <a:endParaRPr lang="ja-JP" altLang="en-US" sz="2000">
              <a:solidFill>
                <a:srgbClr val="000000"/>
              </a:solidFill>
              <a:latin typeface="+mn-ea"/>
            </a:endParaRPr>
          </a:p>
        </p:txBody>
      </p:sp>
      <p:sp>
        <p:nvSpPr>
          <p:cNvPr id="13" name="Shape 3">
            <a:extLst>
              <a:ext uri="{FF2B5EF4-FFF2-40B4-BE49-F238E27FC236}">
                <a16:creationId xmlns:a16="http://schemas.microsoft.com/office/drawing/2014/main" id="{46F8F0AE-AEDB-DF4D-228C-3D146F2FED49}"/>
              </a:ext>
            </a:extLst>
          </p:cNvPr>
          <p:cNvSpPr/>
          <p:nvPr/>
        </p:nvSpPr>
        <p:spPr>
          <a:xfrm>
            <a:off x="286564" y="4476902"/>
            <a:ext cx="9374742" cy="1809598"/>
          </a:xfrm>
          <a:prstGeom prst="roundRect">
            <a:avLst>
              <a:gd name="adj" fmla="val 4194"/>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6" name="Image 0" descr="gen-dedup-9a7b5ff5ff2fd315620088992b236c26.png">
            <a:extLst>
              <a:ext uri="{FF2B5EF4-FFF2-40B4-BE49-F238E27FC236}">
                <a16:creationId xmlns:a16="http://schemas.microsoft.com/office/drawing/2014/main" id="{546924C9-048F-D22F-4FA6-5CC7BBE92439}"/>
              </a:ext>
            </a:extLst>
          </p:cNvPr>
          <p:cNvPicPr>
            <a:picLocks noChangeAspect="1"/>
          </p:cNvPicPr>
          <p:nvPr/>
        </p:nvPicPr>
        <p:blipFill>
          <a:blip r:embed="rId2"/>
          <a:srcRect l="-406" r="-406"/>
          <a:stretch/>
        </p:blipFill>
        <p:spPr>
          <a:xfrm>
            <a:off x="286564" y="1524305"/>
            <a:ext cx="46091" cy="1238098"/>
          </a:xfrm>
          <a:prstGeom prst="rect">
            <a:avLst/>
          </a:prstGeom>
        </p:spPr>
      </p:pic>
      <p:sp>
        <p:nvSpPr>
          <p:cNvPr id="19" name="Shape 4">
            <a:extLst>
              <a:ext uri="{FF2B5EF4-FFF2-40B4-BE49-F238E27FC236}">
                <a16:creationId xmlns:a16="http://schemas.microsoft.com/office/drawing/2014/main" id="{9DA1E545-5519-BBF1-B0AF-6BFF4198BF8B}"/>
              </a:ext>
            </a:extLst>
          </p:cNvPr>
          <p:cNvSpPr/>
          <p:nvPr/>
        </p:nvSpPr>
        <p:spPr>
          <a:xfrm>
            <a:off x="515163" y="4924044"/>
            <a:ext cx="8779242" cy="1238098"/>
          </a:xfrm>
          <a:prstGeom prst="roundRect">
            <a:avLst>
              <a:gd name="adj" fmla="val 4653"/>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22" name="Text 9">
            <a:extLst>
              <a:ext uri="{FF2B5EF4-FFF2-40B4-BE49-F238E27FC236}">
                <a16:creationId xmlns:a16="http://schemas.microsoft.com/office/drawing/2014/main" id="{A2F290C4-D769-9AD9-8225-D72D0CFCCFB7}"/>
              </a:ext>
            </a:extLst>
          </p:cNvPr>
          <p:cNvSpPr txBox="1"/>
          <p:nvPr/>
        </p:nvSpPr>
        <p:spPr>
          <a:xfrm>
            <a:off x="515164" y="1695299"/>
            <a:ext cx="8992870"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何をする？</a:t>
            </a:r>
            <a:endParaRPr lang="en-US" sz="2000" dirty="0">
              <a:solidFill>
                <a:srgbClr val="000000"/>
              </a:solidFill>
              <a:latin typeface="+mn-ea"/>
            </a:endParaRPr>
          </a:p>
        </p:txBody>
      </p:sp>
      <p:sp>
        <p:nvSpPr>
          <p:cNvPr id="27" name="Text 10">
            <a:extLst>
              <a:ext uri="{FF2B5EF4-FFF2-40B4-BE49-F238E27FC236}">
                <a16:creationId xmlns:a16="http://schemas.microsoft.com/office/drawing/2014/main" id="{CDB2F768-2613-0067-91FF-7FBBB4E09FCB}"/>
              </a:ext>
            </a:extLst>
          </p:cNvPr>
          <p:cNvSpPr txBox="1"/>
          <p:nvPr/>
        </p:nvSpPr>
        <p:spPr>
          <a:xfrm>
            <a:off x="515164" y="2038198"/>
            <a:ext cx="9062752" cy="667512"/>
          </a:xfrm>
          <a:prstGeom prst="rect">
            <a:avLst/>
          </a:prstGeom>
          <a:noFill/>
          <a:ln/>
        </p:spPr>
        <p:txBody>
          <a:bodyPr wrap="square" lIns="0" tIns="0" rIns="0" bIns="0" rtlCol="0" anchor="ctr"/>
          <a:lstStyle/>
          <a:p>
            <a:pPr defTabSz="925880"/>
            <a:r>
              <a:rPr lang="en-US" sz="2000" dirty="0" err="1">
                <a:solidFill>
                  <a:srgbClr val="333333"/>
                </a:solidFill>
                <a:latin typeface="+mn-ea"/>
                <a:cs typeface="游ゴシック" pitchFamily="34" charset="-120"/>
              </a:rPr>
              <a:t>プロンプト内に</a:t>
            </a:r>
            <a:r>
              <a:rPr lang="en-US" sz="2000" b="1" dirty="0">
                <a:solidFill>
                  <a:srgbClr val="E60012"/>
                </a:solidFill>
                <a:latin typeface="+mn-ea"/>
                <a:cs typeface="游ゴシック" pitchFamily="34" charset="-120"/>
              </a:rPr>
              <a:t>###</a:t>
            </a:r>
            <a:r>
              <a:rPr lang="en-US" sz="2000" dirty="0">
                <a:solidFill>
                  <a:srgbClr val="333333"/>
                </a:solidFill>
                <a:latin typeface="+mn-ea"/>
                <a:cs typeface="游ゴシック" pitchFamily="34" charset="-120"/>
              </a:rPr>
              <a:t>や</a:t>
            </a:r>
            <a:r>
              <a:rPr lang="en-US" sz="2000" b="1" dirty="0">
                <a:solidFill>
                  <a:srgbClr val="E60012"/>
                </a:solidFill>
                <a:latin typeface="+mn-ea"/>
                <a:cs typeface="游ゴシック" pitchFamily="34" charset="-120"/>
              </a:rPr>
              <a:t>---</a:t>
            </a:r>
            <a:r>
              <a:rPr lang="en-US" sz="2000" dirty="0">
                <a:solidFill>
                  <a:srgbClr val="333333"/>
                </a:solidFill>
                <a:latin typeface="+mn-ea"/>
                <a:cs typeface="游ゴシック" pitchFamily="34" charset="-120"/>
              </a:rPr>
              <a:t>、あるいは </a:t>
            </a:r>
            <a:r>
              <a:rPr lang="en-US" sz="2000" b="1" dirty="0">
                <a:solidFill>
                  <a:srgbClr val="E60012"/>
                </a:solidFill>
                <a:latin typeface="+mn-ea"/>
                <a:cs typeface="游ゴシック" pitchFamily="34" charset="-120"/>
              </a:rPr>
              <a:t>【指示】【データ】</a:t>
            </a:r>
            <a:r>
              <a:rPr lang="en-US" sz="2000" dirty="0">
                <a:solidFill>
                  <a:srgbClr val="333333"/>
                </a:solidFill>
                <a:latin typeface="+mn-ea"/>
                <a:cs typeface="游ゴシック" pitchFamily="34" charset="-120"/>
              </a:rPr>
              <a:t>のような記号を使って構造化します。</a:t>
            </a:r>
            <a:endParaRPr lang="en-US" sz="2000" dirty="0">
              <a:solidFill>
                <a:srgbClr val="000000"/>
              </a:solidFill>
              <a:latin typeface="+mn-ea"/>
            </a:endParaRPr>
          </a:p>
        </p:txBody>
      </p:sp>
      <p:sp>
        <p:nvSpPr>
          <p:cNvPr id="30" name="Text 11">
            <a:extLst>
              <a:ext uri="{FF2B5EF4-FFF2-40B4-BE49-F238E27FC236}">
                <a16:creationId xmlns:a16="http://schemas.microsoft.com/office/drawing/2014/main" id="{0A7461E6-44DD-4562-1C2A-99C7B993A715}"/>
              </a:ext>
            </a:extLst>
          </p:cNvPr>
          <p:cNvSpPr txBox="1"/>
          <p:nvPr/>
        </p:nvSpPr>
        <p:spPr>
          <a:xfrm>
            <a:off x="515164" y="3095245"/>
            <a:ext cx="8992870" cy="286207"/>
          </a:xfrm>
          <a:prstGeom prst="rect">
            <a:avLst/>
          </a:prstGeom>
          <a:noFill/>
          <a:ln/>
        </p:spPr>
        <p:txBody>
          <a:bodyPr wrap="none" lIns="0" tIns="0" rIns="0" bIns="0" rtlCol="0" anchor="ctr"/>
          <a:lstStyle/>
          <a:p>
            <a:pPr defTabSz="925880"/>
            <a:r>
              <a:rPr lang="en-US" sz="2000" b="1" dirty="0">
                <a:solidFill>
                  <a:srgbClr val="3B82F6"/>
                </a:solidFill>
                <a:latin typeface="+mn-ea"/>
                <a:cs typeface="游ゴシック" pitchFamily="34" charset="-120"/>
              </a:rPr>
              <a:t>◆ 効果</a:t>
            </a:r>
            <a:endParaRPr lang="en-US" sz="2000" dirty="0">
              <a:solidFill>
                <a:srgbClr val="000000"/>
              </a:solidFill>
              <a:latin typeface="+mn-ea"/>
            </a:endParaRPr>
          </a:p>
        </p:txBody>
      </p:sp>
      <p:sp>
        <p:nvSpPr>
          <p:cNvPr id="33" name="Text 12">
            <a:extLst>
              <a:ext uri="{FF2B5EF4-FFF2-40B4-BE49-F238E27FC236}">
                <a16:creationId xmlns:a16="http://schemas.microsoft.com/office/drawing/2014/main" id="{3E3D2EA7-EF03-32E1-670F-CAD16C301BA7}"/>
              </a:ext>
            </a:extLst>
          </p:cNvPr>
          <p:cNvSpPr txBox="1"/>
          <p:nvPr/>
        </p:nvSpPr>
        <p:spPr>
          <a:xfrm>
            <a:off x="515164" y="3427172"/>
            <a:ext cx="9062752" cy="811987"/>
          </a:xfrm>
          <a:prstGeom prst="rect">
            <a:avLst/>
          </a:prstGeom>
          <a:noFill/>
          <a:ln/>
        </p:spPr>
        <p:txBody>
          <a:bodyPr wrap="square" lIns="0" tIns="0" rIns="0" bIns="0" rtlCol="0" anchor="ctr"/>
          <a:lstStyle/>
          <a:p>
            <a:pPr defTabSz="925880">
              <a:lnSpc>
                <a:spcPts val="2340"/>
              </a:lnSpc>
            </a:pPr>
            <a:r>
              <a:rPr lang="en-US" sz="2000" dirty="0">
                <a:solidFill>
                  <a:srgbClr val="333333"/>
                </a:solidFill>
                <a:latin typeface="+mn-ea"/>
                <a:cs typeface="游ゴシック" pitchFamily="34" charset="-120"/>
              </a:rPr>
              <a:t>AIは</a:t>
            </a:r>
            <a:r>
              <a:rPr lang="en-US" sz="2000" b="1" dirty="0">
                <a:solidFill>
                  <a:srgbClr val="3B82F6"/>
                </a:solidFill>
                <a:latin typeface="+mn-ea"/>
                <a:cs typeface="游ゴシック" pitchFamily="34" charset="-120"/>
              </a:rPr>
              <a:t>「どこが命令で、どこが処理対象のテキストか」</a:t>
            </a:r>
            <a:r>
              <a:rPr lang="en-US" sz="2000" dirty="0">
                <a:solidFill>
                  <a:srgbClr val="333333"/>
                </a:solidFill>
                <a:latin typeface="+mn-ea"/>
                <a:cs typeface="游ゴシック" pitchFamily="34" charset="-120"/>
              </a:rPr>
              <a:t>を正確に認識し、</a:t>
            </a:r>
            <a:endParaRPr lang="en-US" sz="2000" dirty="0">
              <a:solidFill>
                <a:srgbClr val="000000"/>
              </a:solidFill>
              <a:latin typeface="+mn-ea"/>
            </a:endParaRPr>
          </a:p>
          <a:p>
            <a:pPr defTabSz="925880">
              <a:lnSpc>
                <a:spcPts val="2340"/>
              </a:lnSpc>
            </a:pPr>
            <a:r>
              <a:rPr lang="en-US" sz="2000" dirty="0">
                <a:solidFill>
                  <a:srgbClr val="333333"/>
                </a:solidFill>
                <a:latin typeface="+mn-ea"/>
                <a:cs typeface="游ゴシック" pitchFamily="34" charset="-120"/>
              </a:rPr>
              <a:t>意図しない解釈や</a:t>
            </a:r>
            <a:r>
              <a:rPr lang="en-US" sz="2000" b="1" dirty="0">
                <a:solidFill>
                  <a:srgbClr val="333333"/>
                </a:solidFill>
                <a:latin typeface="+mn-ea"/>
                <a:cs typeface="游ゴシック" pitchFamily="34" charset="-120"/>
              </a:rPr>
              <a:t>ハルシネーションを減らす</a:t>
            </a:r>
            <a:r>
              <a:rPr lang="en-US" sz="2000" dirty="0">
                <a:solidFill>
                  <a:srgbClr val="333333"/>
                </a:solidFill>
                <a:latin typeface="+mn-ea"/>
                <a:cs typeface="游ゴシック" pitchFamily="34" charset="-120"/>
              </a:rPr>
              <a:t>ことができます。</a:t>
            </a:r>
            <a:endParaRPr lang="en-US" sz="2000" dirty="0">
              <a:solidFill>
                <a:srgbClr val="000000"/>
              </a:solidFill>
              <a:latin typeface="+mn-ea"/>
            </a:endParaRPr>
          </a:p>
        </p:txBody>
      </p:sp>
      <p:sp>
        <p:nvSpPr>
          <p:cNvPr id="36" name="Text 13">
            <a:extLst>
              <a:ext uri="{FF2B5EF4-FFF2-40B4-BE49-F238E27FC236}">
                <a16:creationId xmlns:a16="http://schemas.microsoft.com/office/drawing/2014/main" id="{DBE2EF24-279D-F712-60B3-FD68A9C531C6}"/>
              </a:ext>
            </a:extLst>
          </p:cNvPr>
          <p:cNvSpPr txBox="1"/>
          <p:nvPr/>
        </p:nvSpPr>
        <p:spPr>
          <a:xfrm>
            <a:off x="515164" y="4619549"/>
            <a:ext cx="8992870" cy="228600"/>
          </a:xfrm>
          <a:prstGeom prst="rect">
            <a:avLst/>
          </a:prstGeom>
          <a:noFill/>
          <a:ln/>
        </p:spPr>
        <p:txBody>
          <a:bodyPr wrap="none" lIns="0" tIns="0" rIns="0" bIns="0" rtlCol="0" anchor="ctr"/>
          <a:lstStyle/>
          <a:p>
            <a:pPr defTabSz="925880"/>
            <a:r>
              <a:rPr lang="en-US" sz="2000" b="1" dirty="0">
                <a:solidFill>
                  <a:srgbClr val="B45309"/>
                </a:solidFill>
                <a:latin typeface="+mn-ea"/>
                <a:cs typeface="游ゴシック" pitchFamily="34" charset="-120"/>
              </a:rPr>
              <a:t>💬 記述例</a:t>
            </a:r>
            <a:endParaRPr lang="en-US" sz="2000" dirty="0">
              <a:solidFill>
                <a:srgbClr val="000000"/>
              </a:solidFill>
              <a:latin typeface="+mn-ea"/>
            </a:endParaRPr>
          </a:p>
        </p:txBody>
      </p:sp>
      <p:sp>
        <p:nvSpPr>
          <p:cNvPr id="38" name="Text 14">
            <a:extLst>
              <a:ext uri="{FF2B5EF4-FFF2-40B4-BE49-F238E27FC236}">
                <a16:creationId xmlns:a16="http://schemas.microsoft.com/office/drawing/2014/main" id="{70773C33-2C96-9FE1-82B4-37ACA4039C70}"/>
              </a:ext>
            </a:extLst>
          </p:cNvPr>
          <p:cNvSpPr txBox="1"/>
          <p:nvPr/>
        </p:nvSpPr>
        <p:spPr>
          <a:xfrm>
            <a:off x="666954" y="4990795"/>
            <a:ext cx="8750010" cy="1105510"/>
          </a:xfrm>
          <a:prstGeom prst="rect">
            <a:avLst/>
          </a:prstGeom>
          <a:noFill/>
          <a:ln/>
        </p:spPr>
        <p:txBody>
          <a:bodyPr wrap="square" lIns="0" tIns="0" rIns="0" bIns="0" rtlCol="0" anchor="t"/>
          <a:lstStyle/>
          <a:p>
            <a:pPr defTabSz="925880">
              <a:lnSpc>
                <a:spcPts val="2470"/>
              </a:lnSpc>
            </a:pPr>
            <a:r>
              <a:rPr lang="en-US" sz="2000" dirty="0" err="1">
                <a:solidFill>
                  <a:srgbClr val="333333"/>
                </a:solidFill>
                <a:latin typeface="+mn-ea"/>
              </a:rPr>
              <a:t>以下の</a:t>
            </a:r>
            <a:r>
              <a:rPr lang="en-US" sz="2000" dirty="0" err="1">
                <a:solidFill>
                  <a:srgbClr val="E42600"/>
                </a:solidFill>
                <a:latin typeface="+mn-ea"/>
              </a:rPr>
              <a:t>【テキスト】</a:t>
            </a:r>
            <a:r>
              <a:rPr lang="en-US" sz="2000" dirty="0" err="1">
                <a:solidFill>
                  <a:srgbClr val="333333"/>
                </a:solidFill>
                <a:latin typeface="+mn-ea"/>
              </a:rPr>
              <a:t>を要約してください</a:t>
            </a:r>
            <a:r>
              <a:rPr lang="en-US" sz="2000" dirty="0">
                <a:solidFill>
                  <a:srgbClr val="333333"/>
                </a:solidFill>
                <a:latin typeface="+mn-ea"/>
              </a:rPr>
              <a:t>。</a:t>
            </a:r>
          </a:p>
          <a:p>
            <a:pPr defTabSz="925880">
              <a:lnSpc>
                <a:spcPts val="2470"/>
              </a:lnSpc>
            </a:pPr>
            <a:endParaRPr lang="en-US" sz="2000" dirty="0">
              <a:solidFill>
                <a:srgbClr val="333333"/>
              </a:solidFill>
              <a:latin typeface="+mn-ea"/>
            </a:endParaRPr>
          </a:p>
          <a:p>
            <a:pPr defTabSz="925880">
              <a:lnSpc>
                <a:spcPts val="2470"/>
              </a:lnSpc>
            </a:pPr>
            <a:r>
              <a:rPr lang="en-US" sz="2000" dirty="0">
                <a:solidFill>
                  <a:srgbClr val="E42600"/>
                </a:solidFill>
                <a:latin typeface="+mn-ea"/>
              </a:rPr>
              <a:t>【</a:t>
            </a:r>
            <a:r>
              <a:rPr lang="en-US" sz="2000" dirty="0" err="1">
                <a:solidFill>
                  <a:srgbClr val="E42600"/>
                </a:solidFill>
                <a:latin typeface="+mn-ea"/>
              </a:rPr>
              <a:t>テキスト</a:t>
            </a:r>
            <a:r>
              <a:rPr lang="en-US" sz="2000" dirty="0">
                <a:solidFill>
                  <a:srgbClr val="E42600"/>
                </a:solidFill>
                <a:latin typeface="+mn-ea"/>
              </a:rPr>
              <a:t>】</a:t>
            </a:r>
          </a:p>
          <a:p>
            <a:pPr defTabSz="925880">
              <a:lnSpc>
                <a:spcPts val="2470"/>
              </a:lnSpc>
            </a:pPr>
            <a:r>
              <a:rPr lang="en-US" sz="2000" dirty="0">
                <a:solidFill>
                  <a:srgbClr val="333333"/>
                </a:solidFill>
                <a:latin typeface="+mn-ea"/>
              </a:rPr>
              <a:t>（</a:t>
            </a:r>
            <a:r>
              <a:rPr lang="en-US" sz="2000" dirty="0" err="1">
                <a:solidFill>
                  <a:srgbClr val="333333"/>
                </a:solidFill>
                <a:latin typeface="+mn-ea"/>
              </a:rPr>
              <a:t>ここに長文を貼り付ける</a:t>
            </a:r>
            <a:r>
              <a:rPr lang="en-US" sz="2000" dirty="0">
                <a:solidFill>
                  <a:srgbClr val="333333"/>
                </a:solidFill>
                <a:latin typeface="+mn-ea"/>
              </a:rPr>
              <a:t>）</a:t>
            </a:r>
          </a:p>
        </p:txBody>
      </p:sp>
    </p:spTree>
    <p:extLst>
      <p:ext uri="{BB962C8B-B14F-4D97-AF65-F5344CB8AC3E}">
        <p14:creationId xmlns:p14="http://schemas.microsoft.com/office/powerpoint/2010/main" val="3424685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266A-6F85-FACD-98C1-E8B6A6CE89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DBCD5-A6DD-1E90-3026-BD0ED436BC65}"/>
              </a:ext>
            </a:extLst>
          </p:cNvPr>
          <p:cNvSpPr>
            <a:spLocks noGrp="1"/>
          </p:cNvSpPr>
          <p:nvPr>
            <p:ph type="title"/>
          </p:nvPr>
        </p:nvSpPr>
        <p:spPr/>
        <p:txBody>
          <a:bodyPr>
            <a:normAutofit/>
          </a:bodyPr>
          <a:lstStyle/>
          <a:p>
            <a:r>
              <a:rPr lang="en-US" altLang="ja-JP" dirty="0">
                <a:latin typeface="+mn-ea"/>
                <a:ea typeface="+mn-ea"/>
              </a:rPr>
              <a:t>4-5.</a:t>
            </a:r>
            <a:r>
              <a:rPr lang="ja-JP" altLang="en-US" dirty="0">
                <a:latin typeface="+mn-ea"/>
                <a:ea typeface="+mn-ea"/>
              </a:rPr>
              <a:t> テクニック③</a:t>
            </a:r>
            <a:r>
              <a:rPr lang="ja-JP" altLang="en-US" dirty="0">
                <a:latin typeface="+mn-ea"/>
              </a:rPr>
              <a:t> ：</a:t>
            </a:r>
            <a:r>
              <a:rPr lang="en-US" altLang="ja-JP" dirty="0">
                <a:latin typeface="+mn-ea"/>
                <a:ea typeface="+mn-ea"/>
              </a:rPr>
              <a:t>Zero-shot vs Few-shot</a:t>
            </a:r>
            <a:endParaRPr lang="ja-JP" altLang="en-US" dirty="0">
              <a:latin typeface="+mn-ea"/>
              <a:ea typeface="+mn-ea"/>
            </a:endParaRPr>
          </a:p>
        </p:txBody>
      </p:sp>
      <p:sp>
        <p:nvSpPr>
          <p:cNvPr id="23" name="Text 8">
            <a:extLst>
              <a:ext uri="{FF2B5EF4-FFF2-40B4-BE49-F238E27FC236}">
                <a16:creationId xmlns:a16="http://schemas.microsoft.com/office/drawing/2014/main" id="{A37870DD-ED6A-816E-6156-CDE3972FB834}"/>
              </a:ext>
            </a:extLst>
          </p:cNvPr>
          <p:cNvSpPr txBox="1"/>
          <p:nvPr/>
        </p:nvSpPr>
        <p:spPr>
          <a:xfrm>
            <a:off x="457995" y="1047902"/>
            <a:ext cx="9298847" cy="228600"/>
          </a:xfrm>
          <a:prstGeom prst="rect">
            <a:avLst/>
          </a:prstGeom>
          <a:noFill/>
          <a:ln/>
        </p:spPr>
        <p:txBody>
          <a:bodyPr wrap="none" lIns="0" tIns="0" rIns="0" bIns="0" rtlCol="0" anchor="ctr"/>
          <a:lstStyle/>
          <a:p>
            <a:pPr defTabSz="925880"/>
            <a:r>
              <a:rPr lang="ja-JP" altLang="en-US" sz="2000" dirty="0">
                <a:solidFill>
                  <a:srgbClr val="404040"/>
                </a:solidFill>
                <a:latin typeface="+mn-ea"/>
              </a:rPr>
              <a:t>例示（解答例）を与えるか、与えないか ── 使い分けの</a:t>
            </a:r>
            <a:r>
              <a:rPr lang="en-US" altLang="ja-JP" sz="2000" dirty="0">
                <a:solidFill>
                  <a:srgbClr val="404040"/>
                </a:solidFill>
                <a:latin typeface="+mn-ea"/>
              </a:rPr>
              <a:t>2</a:t>
            </a:r>
            <a:r>
              <a:rPr lang="ja-JP" altLang="en-US" sz="2000" dirty="0">
                <a:solidFill>
                  <a:srgbClr val="404040"/>
                </a:solidFill>
                <a:latin typeface="+mn-ea"/>
              </a:rPr>
              <a:t>手法</a:t>
            </a:r>
            <a:endParaRPr lang="en-US" sz="2000" dirty="0">
              <a:solidFill>
                <a:srgbClr val="404040"/>
              </a:solidFill>
              <a:latin typeface="+mn-ea"/>
            </a:endParaRPr>
          </a:p>
        </p:txBody>
      </p:sp>
      <p:sp>
        <p:nvSpPr>
          <p:cNvPr id="5" name="Shape 0">
            <a:extLst>
              <a:ext uri="{FF2B5EF4-FFF2-40B4-BE49-F238E27FC236}">
                <a16:creationId xmlns:a16="http://schemas.microsoft.com/office/drawing/2014/main" id="{525D3CDF-55B5-3D7B-7244-64EC029BB7BE}"/>
              </a:ext>
            </a:extLst>
          </p:cNvPr>
          <p:cNvSpPr/>
          <p:nvPr/>
        </p:nvSpPr>
        <p:spPr>
          <a:xfrm>
            <a:off x="382100" y="1524306"/>
            <a:ext cx="4603874" cy="4762195"/>
          </a:xfrm>
          <a:prstGeom prst="roundRect">
            <a:avLst>
              <a:gd name="adj" fmla="val 806"/>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8" name="Shape 1">
            <a:extLst>
              <a:ext uri="{FF2B5EF4-FFF2-40B4-BE49-F238E27FC236}">
                <a16:creationId xmlns:a16="http://schemas.microsoft.com/office/drawing/2014/main" id="{29C79E76-22D6-305E-BDDE-6E61DD153C18}"/>
              </a:ext>
            </a:extLst>
          </p:cNvPr>
          <p:cNvSpPr/>
          <p:nvPr/>
        </p:nvSpPr>
        <p:spPr>
          <a:xfrm>
            <a:off x="5117536" y="1524306"/>
            <a:ext cx="4603874" cy="4762195"/>
          </a:xfrm>
          <a:prstGeom prst="roundRect">
            <a:avLst>
              <a:gd name="adj" fmla="val 806"/>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1" name="Image 0" descr="gen-dedup-d379cd69512c3911e0b5427400fa1b45.png">
            <a:extLst>
              <a:ext uri="{FF2B5EF4-FFF2-40B4-BE49-F238E27FC236}">
                <a16:creationId xmlns:a16="http://schemas.microsoft.com/office/drawing/2014/main" id="{4C164C3D-9BE5-C08A-9108-13C09623067A}"/>
              </a:ext>
            </a:extLst>
          </p:cNvPr>
          <p:cNvPicPr>
            <a:picLocks noChangeAspect="1"/>
          </p:cNvPicPr>
          <p:nvPr/>
        </p:nvPicPr>
        <p:blipFill>
          <a:blip r:embed="rId2"/>
          <a:srcRect l="-38" r="-38"/>
          <a:stretch/>
        </p:blipFill>
        <p:spPr>
          <a:xfrm>
            <a:off x="382100" y="1524306"/>
            <a:ext cx="4603874" cy="418795"/>
          </a:xfrm>
          <a:prstGeom prst="rect">
            <a:avLst/>
          </a:prstGeom>
        </p:spPr>
      </p:pic>
      <p:sp>
        <p:nvSpPr>
          <p:cNvPr id="14" name="Shape 2">
            <a:extLst>
              <a:ext uri="{FF2B5EF4-FFF2-40B4-BE49-F238E27FC236}">
                <a16:creationId xmlns:a16="http://schemas.microsoft.com/office/drawing/2014/main" id="{C04FADA8-B34A-D52A-C021-80CAAAA96FA9}"/>
              </a:ext>
            </a:extLst>
          </p:cNvPr>
          <p:cNvSpPr/>
          <p:nvPr/>
        </p:nvSpPr>
        <p:spPr>
          <a:xfrm>
            <a:off x="572295" y="4335307"/>
            <a:ext cx="4291506" cy="1619181"/>
          </a:xfrm>
          <a:prstGeom prst="roundRect">
            <a:avLst>
              <a:gd name="adj" fmla="val 2845"/>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17" name="Image 1" descr="gen-dedup-a4945c9226f26a639a307fe2330cae37.png">
            <a:extLst>
              <a:ext uri="{FF2B5EF4-FFF2-40B4-BE49-F238E27FC236}">
                <a16:creationId xmlns:a16="http://schemas.microsoft.com/office/drawing/2014/main" id="{ABC49532-0C2B-D22E-2232-A6BCB9BB227A}"/>
              </a:ext>
            </a:extLst>
          </p:cNvPr>
          <p:cNvPicPr>
            <a:picLocks noChangeAspect="1"/>
          </p:cNvPicPr>
          <p:nvPr/>
        </p:nvPicPr>
        <p:blipFill>
          <a:blip r:embed="rId3"/>
          <a:srcRect l="-38" r="-38"/>
          <a:stretch/>
        </p:blipFill>
        <p:spPr>
          <a:xfrm>
            <a:off x="5117536" y="1524306"/>
            <a:ext cx="4603874" cy="418795"/>
          </a:xfrm>
          <a:prstGeom prst="rect">
            <a:avLst/>
          </a:prstGeom>
        </p:spPr>
      </p:pic>
      <p:sp>
        <p:nvSpPr>
          <p:cNvPr id="20" name="Shape 3">
            <a:extLst>
              <a:ext uri="{FF2B5EF4-FFF2-40B4-BE49-F238E27FC236}">
                <a16:creationId xmlns:a16="http://schemas.microsoft.com/office/drawing/2014/main" id="{DD3A15B8-3A10-26E1-5827-BB2781B0434C}"/>
              </a:ext>
            </a:extLst>
          </p:cNvPr>
          <p:cNvSpPr/>
          <p:nvPr/>
        </p:nvSpPr>
        <p:spPr>
          <a:xfrm>
            <a:off x="5307732" y="4335307"/>
            <a:ext cx="4291506" cy="1619181"/>
          </a:xfrm>
          <a:prstGeom prst="roundRect">
            <a:avLst>
              <a:gd name="adj" fmla="val 2845"/>
            </a:avLst>
          </a:prstGeom>
          <a:solidFill>
            <a:srgbClr val="FFFFFF"/>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24" name="Text 8">
            <a:extLst>
              <a:ext uri="{FF2B5EF4-FFF2-40B4-BE49-F238E27FC236}">
                <a16:creationId xmlns:a16="http://schemas.microsoft.com/office/drawing/2014/main" id="{5F9457B1-5352-D75D-6708-EACB3134BF08}"/>
              </a:ext>
            </a:extLst>
          </p:cNvPr>
          <p:cNvSpPr txBox="1"/>
          <p:nvPr/>
        </p:nvSpPr>
        <p:spPr>
          <a:xfrm>
            <a:off x="572295" y="1524305"/>
            <a:ext cx="4292255" cy="419710"/>
          </a:xfrm>
          <a:prstGeom prst="rect">
            <a:avLst/>
          </a:prstGeom>
          <a:noFill/>
          <a:ln/>
        </p:spPr>
        <p:txBody>
          <a:bodyPr wrap="none" lIns="0" tIns="0" rIns="0" bIns="0" rtlCol="0" anchor="ctr"/>
          <a:lstStyle/>
          <a:p>
            <a:pPr defTabSz="925880"/>
            <a:r>
              <a:rPr lang="en-US" sz="2000" b="1" dirty="0">
                <a:solidFill>
                  <a:srgbClr val="FFFFFF"/>
                </a:solidFill>
                <a:latin typeface="+mn-ea"/>
                <a:cs typeface="游ゴシック" pitchFamily="34" charset="-120"/>
              </a:rPr>
              <a:t>Zero-shot Prompting</a:t>
            </a:r>
            <a:endParaRPr lang="en-US" sz="2000" dirty="0">
              <a:solidFill>
                <a:srgbClr val="000000"/>
              </a:solidFill>
              <a:latin typeface="+mn-ea"/>
            </a:endParaRPr>
          </a:p>
        </p:txBody>
      </p:sp>
      <p:sp>
        <p:nvSpPr>
          <p:cNvPr id="26" name="Text 9">
            <a:extLst>
              <a:ext uri="{FF2B5EF4-FFF2-40B4-BE49-F238E27FC236}">
                <a16:creationId xmlns:a16="http://schemas.microsoft.com/office/drawing/2014/main" id="{959EADC5-F710-A2EA-6CBE-6188AA12AF35}"/>
              </a:ext>
            </a:extLst>
          </p:cNvPr>
          <p:cNvSpPr txBox="1"/>
          <p:nvPr/>
        </p:nvSpPr>
        <p:spPr>
          <a:xfrm>
            <a:off x="572295" y="2133296"/>
            <a:ext cx="4292255" cy="952805"/>
          </a:xfrm>
          <a:prstGeom prst="rect">
            <a:avLst/>
          </a:prstGeom>
          <a:noFill/>
          <a:ln/>
        </p:spPr>
        <p:txBody>
          <a:bodyPr wrap="square" lIns="0" tIns="0" rIns="0" bIns="0" rtlCol="0" anchor="ctr"/>
          <a:lstStyle/>
          <a:p>
            <a:pPr defTabSz="925880"/>
            <a:r>
              <a:rPr lang="en-US" sz="2000" dirty="0">
                <a:solidFill>
                  <a:srgbClr val="333333"/>
                </a:solidFill>
                <a:latin typeface="+mn-ea"/>
                <a:cs typeface="游ゴシック" pitchFamily="34" charset="-120"/>
              </a:rPr>
              <a:t>AIに対して、</a:t>
            </a:r>
            <a:r>
              <a:rPr lang="en-US" sz="2000" b="1" dirty="0">
                <a:solidFill>
                  <a:srgbClr val="333333"/>
                </a:solidFill>
                <a:latin typeface="+mn-ea"/>
                <a:cs typeface="游ゴシック" pitchFamily="34" charset="-120"/>
              </a:rPr>
              <a:t>例示（解答例）を一つも与えずに直接タスクを指示する</a:t>
            </a:r>
            <a:r>
              <a:rPr lang="en-US" sz="2000" dirty="0">
                <a:solidFill>
                  <a:srgbClr val="333333"/>
                </a:solidFill>
                <a:latin typeface="+mn-ea"/>
                <a:cs typeface="游ゴシック" pitchFamily="34" charset="-120"/>
              </a:rPr>
              <a:t>方法です。</a:t>
            </a:r>
            <a:endParaRPr lang="en-US" sz="2000" dirty="0">
              <a:solidFill>
                <a:srgbClr val="000000"/>
              </a:solidFill>
              <a:latin typeface="+mn-ea"/>
            </a:endParaRPr>
          </a:p>
        </p:txBody>
      </p:sp>
      <p:sp>
        <p:nvSpPr>
          <p:cNvPr id="29" name="Text 10">
            <a:extLst>
              <a:ext uri="{FF2B5EF4-FFF2-40B4-BE49-F238E27FC236}">
                <a16:creationId xmlns:a16="http://schemas.microsoft.com/office/drawing/2014/main" id="{9347B33E-1FD9-1C76-E9B0-3EBC2321274D}"/>
              </a:ext>
            </a:extLst>
          </p:cNvPr>
          <p:cNvSpPr txBox="1"/>
          <p:nvPr/>
        </p:nvSpPr>
        <p:spPr>
          <a:xfrm>
            <a:off x="572295" y="4030811"/>
            <a:ext cx="4292255" cy="228600"/>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記述例</a:t>
            </a:r>
            <a:endParaRPr lang="en-US" sz="2000" dirty="0">
              <a:solidFill>
                <a:srgbClr val="000000"/>
              </a:solidFill>
              <a:latin typeface="+mn-ea"/>
            </a:endParaRPr>
          </a:p>
        </p:txBody>
      </p:sp>
      <p:sp>
        <p:nvSpPr>
          <p:cNvPr id="32" name="Text 11">
            <a:extLst>
              <a:ext uri="{FF2B5EF4-FFF2-40B4-BE49-F238E27FC236}">
                <a16:creationId xmlns:a16="http://schemas.microsoft.com/office/drawing/2014/main" id="{0ACE941A-C15D-2363-B7E2-2C3A99B26518}"/>
              </a:ext>
            </a:extLst>
          </p:cNvPr>
          <p:cNvSpPr txBox="1"/>
          <p:nvPr/>
        </p:nvSpPr>
        <p:spPr>
          <a:xfrm>
            <a:off x="762490" y="4434978"/>
            <a:ext cx="4057792" cy="1535918"/>
          </a:xfrm>
          <a:prstGeom prst="rect">
            <a:avLst/>
          </a:prstGeom>
          <a:noFill/>
          <a:ln/>
        </p:spPr>
        <p:txBody>
          <a:bodyPr wrap="square" lIns="0" tIns="0" rIns="0" bIns="0" rtlCol="0" anchor="t"/>
          <a:lstStyle/>
          <a:p>
            <a:pPr defTabSz="925880">
              <a:lnSpc>
                <a:spcPts val="2280"/>
              </a:lnSpc>
            </a:pPr>
            <a:r>
              <a:rPr lang="en-US" sz="2000" dirty="0">
                <a:solidFill>
                  <a:srgbClr val="333333"/>
                </a:solidFill>
                <a:latin typeface="+mn-ea"/>
                <a:cs typeface="Consolas" pitchFamily="34" charset="-120"/>
              </a:rPr>
              <a:t>以下のテキストを好意的か、</a:t>
            </a:r>
            <a:endParaRPr lang="en-US" sz="2000" dirty="0">
              <a:solidFill>
                <a:srgbClr val="000000"/>
              </a:solidFill>
              <a:latin typeface="+mn-ea"/>
            </a:endParaRPr>
          </a:p>
          <a:p>
            <a:pPr defTabSz="925880">
              <a:lnSpc>
                <a:spcPts val="2280"/>
              </a:lnSpc>
            </a:pPr>
            <a:r>
              <a:rPr lang="en-US" sz="2000" dirty="0">
                <a:solidFill>
                  <a:srgbClr val="333333"/>
                </a:solidFill>
                <a:latin typeface="+mn-ea"/>
                <a:cs typeface="Consolas" pitchFamily="34" charset="-120"/>
              </a:rPr>
              <a:t>否定的かに分類して。</a:t>
            </a:r>
            <a:endParaRPr lang="en-US" sz="2000" dirty="0">
              <a:solidFill>
                <a:srgbClr val="000000"/>
              </a:solidFill>
              <a:latin typeface="+mn-ea"/>
            </a:endParaRPr>
          </a:p>
          <a:p>
            <a:pPr defTabSz="925880">
              <a:lnSpc>
                <a:spcPts val="2280"/>
              </a:lnSpc>
            </a:pPr>
            <a:endParaRPr lang="en-US" sz="2000" dirty="0">
              <a:solidFill>
                <a:srgbClr val="000000"/>
              </a:solidFill>
              <a:latin typeface="+mn-ea"/>
            </a:endParaRPr>
          </a:p>
          <a:p>
            <a:pPr defTabSz="925880">
              <a:lnSpc>
                <a:spcPts val="2280"/>
              </a:lnSpc>
            </a:pPr>
            <a:r>
              <a:rPr lang="en-US" sz="2000" dirty="0">
                <a:solidFill>
                  <a:srgbClr val="333333"/>
                </a:solidFill>
                <a:latin typeface="+mn-ea"/>
                <a:cs typeface="Consolas" pitchFamily="34" charset="-120"/>
              </a:rPr>
              <a:t>テキスト：「対応が遅い」</a:t>
            </a:r>
            <a:endParaRPr lang="en-US" sz="2000" dirty="0">
              <a:solidFill>
                <a:srgbClr val="000000"/>
              </a:solidFill>
              <a:latin typeface="+mn-ea"/>
            </a:endParaRPr>
          </a:p>
        </p:txBody>
      </p:sp>
      <p:sp>
        <p:nvSpPr>
          <p:cNvPr id="35" name="Text 12">
            <a:extLst>
              <a:ext uri="{FF2B5EF4-FFF2-40B4-BE49-F238E27FC236}">
                <a16:creationId xmlns:a16="http://schemas.microsoft.com/office/drawing/2014/main" id="{70265EFF-A178-8F93-CD9E-1B399ECADBA8}"/>
              </a:ext>
            </a:extLst>
          </p:cNvPr>
          <p:cNvSpPr txBox="1"/>
          <p:nvPr/>
        </p:nvSpPr>
        <p:spPr>
          <a:xfrm>
            <a:off x="5307732" y="1524305"/>
            <a:ext cx="4292255" cy="419710"/>
          </a:xfrm>
          <a:prstGeom prst="rect">
            <a:avLst/>
          </a:prstGeom>
          <a:noFill/>
          <a:ln/>
        </p:spPr>
        <p:txBody>
          <a:bodyPr wrap="none" lIns="0" tIns="0" rIns="0" bIns="0" rtlCol="0" anchor="ctr"/>
          <a:lstStyle/>
          <a:p>
            <a:pPr defTabSz="925880"/>
            <a:r>
              <a:rPr lang="en-US" sz="2000" b="1" dirty="0">
                <a:solidFill>
                  <a:srgbClr val="FFFFFF"/>
                </a:solidFill>
                <a:latin typeface="+mn-ea"/>
                <a:cs typeface="游ゴシック" pitchFamily="34" charset="-120"/>
              </a:rPr>
              <a:t>Few-shot Prompting</a:t>
            </a:r>
            <a:endParaRPr lang="en-US" sz="2000" dirty="0">
              <a:solidFill>
                <a:srgbClr val="000000"/>
              </a:solidFill>
              <a:latin typeface="+mn-ea"/>
            </a:endParaRPr>
          </a:p>
        </p:txBody>
      </p:sp>
      <p:sp>
        <p:nvSpPr>
          <p:cNvPr id="39" name="Text 13">
            <a:extLst>
              <a:ext uri="{FF2B5EF4-FFF2-40B4-BE49-F238E27FC236}">
                <a16:creationId xmlns:a16="http://schemas.microsoft.com/office/drawing/2014/main" id="{6119ABF0-AD19-1F24-2F14-7E1E27E2C2B7}"/>
              </a:ext>
            </a:extLst>
          </p:cNvPr>
          <p:cNvSpPr txBox="1"/>
          <p:nvPr/>
        </p:nvSpPr>
        <p:spPr>
          <a:xfrm>
            <a:off x="5307732" y="2083918"/>
            <a:ext cx="4292255" cy="1002182"/>
          </a:xfrm>
          <a:prstGeom prst="rect">
            <a:avLst/>
          </a:prstGeom>
          <a:noFill/>
          <a:ln/>
        </p:spPr>
        <p:txBody>
          <a:bodyPr wrap="square" lIns="0" tIns="0" rIns="0" bIns="0" rtlCol="0" anchor="t"/>
          <a:lstStyle/>
          <a:p>
            <a:pPr defTabSz="925880">
              <a:lnSpc>
                <a:spcPts val="2340"/>
              </a:lnSpc>
            </a:pPr>
            <a:r>
              <a:rPr lang="en-US" sz="2000" dirty="0">
                <a:solidFill>
                  <a:srgbClr val="333333"/>
                </a:solidFill>
                <a:latin typeface="+mn-ea"/>
                <a:cs typeface="游ゴシック" pitchFamily="34" charset="-120"/>
              </a:rPr>
              <a:t>事前にいくつかの</a:t>
            </a:r>
            <a:r>
              <a:rPr lang="en-US" sz="2000" b="1" dirty="0">
                <a:solidFill>
                  <a:srgbClr val="333333"/>
                </a:solidFill>
                <a:latin typeface="+mn-ea"/>
                <a:cs typeface="游ゴシック" pitchFamily="34" charset="-120"/>
              </a:rPr>
              <a:t>「入力と出力の例」を提示する</a:t>
            </a:r>
            <a:r>
              <a:rPr lang="en-US" sz="2000" dirty="0">
                <a:solidFill>
                  <a:srgbClr val="333333"/>
                </a:solidFill>
                <a:latin typeface="+mn-ea"/>
                <a:cs typeface="游ゴシック" pitchFamily="34" charset="-120"/>
              </a:rPr>
              <a:t>方法。</a:t>
            </a:r>
            <a:endParaRPr lang="en-US" sz="2000" dirty="0">
              <a:solidFill>
                <a:srgbClr val="000000"/>
              </a:solidFill>
              <a:latin typeface="+mn-ea"/>
            </a:endParaRPr>
          </a:p>
          <a:p>
            <a:pPr defTabSz="925880">
              <a:lnSpc>
                <a:spcPts val="2340"/>
              </a:lnSpc>
            </a:pPr>
            <a:r>
              <a:rPr lang="en-US" sz="2000" b="1" dirty="0">
                <a:solidFill>
                  <a:srgbClr val="B45309"/>
                </a:solidFill>
                <a:latin typeface="+mn-ea"/>
                <a:cs typeface="游ゴシック" pitchFamily="34" charset="-120"/>
              </a:rPr>
              <a:t>フォーマットを厳密に守らせたい場合</a:t>
            </a:r>
            <a:r>
              <a:rPr lang="en-US" sz="2000" dirty="0">
                <a:solidFill>
                  <a:srgbClr val="333333"/>
                </a:solidFill>
                <a:latin typeface="+mn-ea"/>
                <a:cs typeface="游ゴシック" pitchFamily="34" charset="-120"/>
              </a:rPr>
              <a:t>に有効です。</a:t>
            </a:r>
            <a:endParaRPr lang="en-US" sz="2000" dirty="0">
              <a:solidFill>
                <a:srgbClr val="000000"/>
              </a:solidFill>
              <a:latin typeface="+mn-ea"/>
            </a:endParaRPr>
          </a:p>
        </p:txBody>
      </p:sp>
      <p:sp>
        <p:nvSpPr>
          <p:cNvPr id="41" name="Text 14">
            <a:extLst>
              <a:ext uri="{FF2B5EF4-FFF2-40B4-BE49-F238E27FC236}">
                <a16:creationId xmlns:a16="http://schemas.microsoft.com/office/drawing/2014/main" id="{7D03DFA7-07F0-140B-111F-032FF9CD5154}"/>
              </a:ext>
            </a:extLst>
          </p:cNvPr>
          <p:cNvSpPr txBox="1"/>
          <p:nvPr/>
        </p:nvSpPr>
        <p:spPr>
          <a:xfrm>
            <a:off x="5307732" y="4030811"/>
            <a:ext cx="4292255" cy="228600"/>
          </a:xfrm>
          <a:prstGeom prst="rect">
            <a:avLst/>
          </a:prstGeom>
          <a:noFill/>
          <a:ln/>
        </p:spPr>
        <p:txBody>
          <a:bodyPr wrap="none" lIns="0" tIns="0" rIns="0" bIns="0" rtlCol="0" anchor="ctr"/>
          <a:lstStyle/>
          <a:p>
            <a:pPr defTabSz="925880"/>
            <a:r>
              <a:rPr lang="en-US" sz="2000" b="1" dirty="0">
                <a:solidFill>
                  <a:srgbClr val="B45309"/>
                </a:solidFill>
                <a:latin typeface="+mn-ea"/>
                <a:cs typeface="游ゴシック" pitchFamily="34" charset="-120"/>
              </a:rPr>
              <a:t>💬 記述例</a:t>
            </a:r>
            <a:endParaRPr lang="en-US" sz="2000" dirty="0">
              <a:solidFill>
                <a:srgbClr val="000000"/>
              </a:solidFill>
              <a:latin typeface="+mn-ea"/>
            </a:endParaRPr>
          </a:p>
        </p:txBody>
      </p:sp>
      <p:sp>
        <p:nvSpPr>
          <p:cNvPr id="43" name="Text 15">
            <a:extLst>
              <a:ext uri="{FF2B5EF4-FFF2-40B4-BE49-F238E27FC236}">
                <a16:creationId xmlns:a16="http://schemas.microsoft.com/office/drawing/2014/main" id="{3DBBEB08-47E7-F2F8-7F6F-AD4EE36B3A7B}"/>
              </a:ext>
            </a:extLst>
          </p:cNvPr>
          <p:cNvSpPr txBox="1"/>
          <p:nvPr/>
        </p:nvSpPr>
        <p:spPr>
          <a:xfrm>
            <a:off x="5498841" y="4434978"/>
            <a:ext cx="4057792" cy="1535918"/>
          </a:xfrm>
          <a:prstGeom prst="rect">
            <a:avLst/>
          </a:prstGeom>
          <a:noFill/>
          <a:ln/>
        </p:spPr>
        <p:txBody>
          <a:bodyPr wrap="square" lIns="0" tIns="0" rIns="0" bIns="0" rtlCol="0" anchor="t"/>
          <a:lstStyle/>
          <a:p>
            <a:pPr defTabSz="925880">
              <a:lnSpc>
                <a:spcPts val="2280"/>
              </a:lnSpc>
            </a:pPr>
            <a:r>
              <a:rPr lang="en-US" sz="2000" dirty="0">
                <a:solidFill>
                  <a:srgbClr val="333333"/>
                </a:solidFill>
                <a:latin typeface="+mn-ea"/>
                <a:cs typeface="Consolas" pitchFamily="34" charset="-120"/>
              </a:rPr>
              <a:t>テキスト：最高でした </a:t>
            </a:r>
            <a:r>
              <a:rPr lang="en-US" sz="2000" b="1" dirty="0">
                <a:solidFill>
                  <a:srgbClr val="00B050"/>
                </a:solidFill>
                <a:latin typeface="+mn-ea"/>
                <a:cs typeface="Consolas" pitchFamily="34" charset="-120"/>
              </a:rPr>
              <a:t>-&gt; 好意的</a:t>
            </a:r>
            <a:endParaRPr lang="en-US" sz="2000" dirty="0">
              <a:solidFill>
                <a:srgbClr val="000000"/>
              </a:solidFill>
              <a:latin typeface="+mn-ea"/>
            </a:endParaRPr>
          </a:p>
          <a:p>
            <a:pPr defTabSz="925880">
              <a:lnSpc>
                <a:spcPts val="2280"/>
              </a:lnSpc>
            </a:pPr>
            <a:r>
              <a:rPr lang="en-US" sz="2000" dirty="0">
                <a:solidFill>
                  <a:srgbClr val="333333"/>
                </a:solidFill>
                <a:latin typeface="+mn-ea"/>
                <a:cs typeface="Consolas" pitchFamily="34" charset="-120"/>
              </a:rPr>
              <a:t>テキスト：最悪です </a:t>
            </a:r>
            <a:r>
              <a:rPr lang="en-US" sz="2000" b="1" dirty="0">
                <a:solidFill>
                  <a:srgbClr val="FF0000"/>
                </a:solidFill>
                <a:latin typeface="+mn-ea"/>
                <a:cs typeface="Consolas" pitchFamily="34" charset="-120"/>
              </a:rPr>
              <a:t>-&gt; 否定的</a:t>
            </a:r>
            <a:endParaRPr lang="en-US" sz="2000" dirty="0">
              <a:solidFill>
                <a:srgbClr val="000000"/>
              </a:solidFill>
              <a:latin typeface="+mn-ea"/>
            </a:endParaRPr>
          </a:p>
          <a:p>
            <a:pPr defTabSz="925880">
              <a:lnSpc>
                <a:spcPts val="2280"/>
              </a:lnSpc>
            </a:pPr>
            <a:r>
              <a:rPr lang="en-US" sz="2000" dirty="0">
                <a:solidFill>
                  <a:srgbClr val="333333"/>
                </a:solidFill>
                <a:latin typeface="+mn-ea"/>
                <a:cs typeface="Consolas" pitchFamily="34" charset="-120"/>
              </a:rPr>
              <a:t>テキスト：対応が遅い </a:t>
            </a:r>
            <a:r>
              <a:rPr lang="en-US" sz="2000" b="1" dirty="0">
                <a:solidFill>
                  <a:srgbClr val="333333"/>
                </a:solidFill>
                <a:latin typeface="+mn-ea"/>
                <a:cs typeface="Consolas" pitchFamily="34" charset="-120"/>
              </a:rPr>
              <a:t>-&gt;</a:t>
            </a:r>
            <a:endParaRPr lang="en-US" sz="2000" dirty="0">
              <a:solidFill>
                <a:srgbClr val="000000"/>
              </a:solidFill>
              <a:latin typeface="+mn-ea"/>
            </a:endParaRPr>
          </a:p>
        </p:txBody>
      </p:sp>
    </p:spTree>
    <p:extLst>
      <p:ext uri="{BB962C8B-B14F-4D97-AF65-F5344CB8AC3E}">
        <p14:creationId xmlns:p14="http://schemas.microsoft.com/office/powerpoint/2010/main" val="3273198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56B2-692F-0160-46C4-548E0BBE7D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4CC824-11AD-73FA-11C8-9B16CF00EEF4}"/>
              </a:ext>
            </a:extLst>
          </p:cNvPr>
          <p:cNvSpPr>
            <a:spLocks noGrp="1"/>
          </p:cNvSpPr>
          <p:nvPr>
            <p:ph type="title"/>
          </p:nvPr>
        </p:nvSpPr>
        <p:spPr/>
        <p:txBody>
          <a:bodyPr>
            <a:normAutofit/>
          </a:bodyPr>
          <a:lstStyle/>
          <a:p>
            <a:r>
              <a:rPr lang="en-US" altLang="ja-JP" dirty="0">
                <a:latin typeface="+mn-ea"/>
                <a:ea typeface="+mn-ea"/>
              </a:rPr>
              <a:t>4-5.</a:t>
            </a:r>
            <a:r>
              <a:rPr lang="ja-JP" altLang="en-US" dirty="0">
                <a:latin typeface="+mn-ea"/>
                <a:ea typeface="+mn-ea"/>
              </a:rPr>
              <a:t> テクニック④</a:t>
            </a:r>
            <a:r>
              <a:rPr lang="ja-JP" altLang="en-US" dirty="0">
                <a:latin typeface="+mn-ea"/>
              </a:rPr>
              <a:t> ：</a:t>
            </a:r>
            <a:r>
              <a:rPr lang="ja-JP" altLang="en-US" dirty="0">
                <a:latin typeface="+mn-ea"/>
                <a:ea typeface="+mn-ea"/>
              </a:rPr>
              <a:t> </a:t>
            </a:r>
            <a:r>
              <a:rPr lang="en-US" altLang="ja-JP" dirty="0">
                <a:latin typeface="+mn-ea"/>
                <a:ea typeface="+mn-ea"/>
              </a:rPr>
              <a:t>Chain of Thought</a:t>
            </a:r>
            <a:r>
              <a:rPr lang="ja-JP" altLang="en-US" dirty="0">
                <a:latin typeface="+mn-ea"/>
                <a:ea typeface="+mn-ea"/>
              </a:rPr>
              <a:t>（思考の連鎖）</a:t>
            </a:r>
          </a:p>
        </p:txBody>
      </p:sp>
      <p:sp>
        <p:nvSpPr>
          <p:cNvPr id="23" name="Text 8">
            <a:extLst>
              <a:ext uri="{FF2B5EF4-FFF2-40B4-BE49-F238E27FC236}">
                <a16:creationId xmlns:a16="http://schemas.microsoft.com/office/drawing/2014/main" id="{1F9FF9E4-18B8-5FB7-F495-8B9A0C6C3528}"/>
              </a:ext>
            </a:extLst>
          </p:cNvPr>
          <p:cNvSpPr txBox="1"/>
          <p:nvPr/>
        </p:nvSpPr>
        <p:spPr>
          <a:xfrm>
            <a:off x="457995" y="1047902"/>
            <a:ext cx="9298847" cy="228600"/>
          </a:xfrm>
          <a:prstGeom prst="rect">
            <a:avLst/>
          </a:prstGeom>
          <a:noFill/>
          <a:ln/>
        </p:spPr>
        <p:txBody>
          <a:bodyPr wrap="none" lIns="0" tIns="0" rIns="0" bIns="0" rtlCol="0" anchor="ctr"/>
          <a:lstStyle/>
          <a:p>
            <a:pPr defTabSz="925880"/>
            <a:r>
              <a:rPr lang="ja-JP" altLang="en-US" sz="2000" dirty="0">
                <a:solidFill>
                  <a:srgbClr val="404040"/>
                </a:solidFill>
                <a:latin typeface="+mn-ea"/>
              </a:rPr>
              <a:t>複雑な問題に「思考の途中過程」を書かせて精度を上げる手法</a:t>
            </a:r>
            <a:endParaRPr lang="en-US" sz="2000" dirty="0">
              <a:solidFill>
                <a:srgbClr val="404040"/>
              </a:solidFill>
              <a:latin typeface="+mn-ea"/>
            </a:endParaRPr>
          </a:p>
        </p:txBody>
      </p:sp>
      <p:sp>
        <p:nvSpPr>
          <p:cNvPr id="27" name="Shape 2">
            <a:extLst>
              <a:ext uri="{FF2B5EF4-FFF2-40B4-BE49-F238E27FC236}">
                <a16:creationId xmlns:a16="http://schemas.microsoft.com/office/drawing/2014/main" id="{429D64C1-523D-7F2B-B37D-C117C40BC715}"/>
              </a:ext>
            </a:extLst>
          </p:cNvPr>
          <p:cNvSpPr/>
          <p:nvPr/>
        </p:nvSpPr>
        <p:spPr>
          <a:xfrm>
            <a:off x="382100" y="1911097"/>
            <a:ext cx="9298847" cy="1524305"/>
          </a:xfrm>
          <a:prstGeom prst="roundRect">
            <a:avLst>
              <a:gd name="adj" fmla="val 4979"/>
            </a:avLst>
          </a:prstGeom>
          <a:solidFill>
            <a:srgbClr val="F9F9F9"/>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sp>
        <p:nvSpPr>
          <p:cNvPr id="30" name="Shape 3">
            <a:extLst>
              <a:ext uri="{FF2B5EF4-FFF2-40B4-BE49-F238E27FC236}">
                <a16:creationId xmlns:a16="http://schemas.microsoft.com/office/drawing/2014/main" id="{F894CF46-DB64-7F98-826D-CAB29E1DA865}"/>
              </a:ext>
            </a:extLst>
          </p:cNvPr>
          <p:cNvSpPr/>
          <p:nvPr/>
        </p:nvSpPr>
        <p:spPr>
          <a:xfrm>
            <a:off x="382100" y="3932891"/>
            <a:ext cx="9298847" cy="1714500"/>
          </a:xfrm>
          <a:prstGeom prst="roundRect">
            <a:avLst>
              <a:gd name="adj" fmla="val 4427"/>
            </a:avLst>
          </a:prstGeom>
          <a:solidFill>
            <a:srgbClr val="FFFAF0"/>
          </a:solidFill>
          <a:ln w="12700">
            <a:solidFill>
              <a:srgbClr val="FFFFFF">
                <a:alpha val="0"/>
              </a:srgbClr>
            </a:solidFill>
            <a:prstDash val="solid"/>
          </a:ln>
        </p:spPr>
        <p:txBody>
          <a:bodyPr/>
          <a:lstStyle/>
          <a:p>
            <a:pPr defTabSz="925880"/>
            <a:endParaRPr lang="ja-JP" altLang="en-US" sz="2000">
              <a:solidFill>
                <a:srgbClr val="000000"/>
              </a:solidFill>
              <a:latin typeface="+mn-ea"/>
            </a:endParaRPr>
          </a:p>
        </p:txBody>
      </p:sp>
      <p:pic>
        <p:nvPicPr>
          <p:cNvPr id="33" name="Image 0" descr="gen-dedup-786dcac3f1742db97e854a7b261cc6a4.png">
            <a:extLst>
              <a:ext uri="{FF2B5EF4-FFF2-40B4-BE49-F238E27FC236}">
                <a16:creationId xmlns:a16="http://schemas.microsoft.com/office/drawing/2014/main" id="{6C2A180C-9955-F41F-431C-D5F6BF08ED03}"/>
              </a:ext>
            </a:extLst>
          </p:cNvPr>
          <p:cNvPicPr>
            <a:picLocks noChangeAspect="1"/>
          </p:cNvPicPr>
          <p:nvPr/>
        </p:nvPicPr>
        <p:blipFill>
          <a:blip r:embed="rId2"/>
          <a:srcRect l="-390" r="-390"/>
          <a:stretch/>
        </p:blipFill>
        <p:spPr>
          <a:xfrm>
            <a:off x="382100" y="1911097"/>
            <a:ext cx="46866" cy="1524305"/>
          </a:xfrm>
          <a:prstGeom prst="rect">
            <a:avLst/>
          </a:prstGeom>
        </p:spPr>
      </p:pic>
      <p:sp>
        <p:nvSpPr>
          <p:cNvPr id="36" name="Text 10">
            <a:extLst>
              <a:ext uri="{FF2B5EF4-FFF2-40B4-BE49-F238E27FC236}">
                <a16:creationId xmlns:a16="http://schemas.microsoft.com/office/drawing/2014/main" id="{DEE1E80B-E467-C70C-F16C-ABBBA02D415A}"/>
              </a:ext>
            </a:extLst>
          </p:cNvPr>
          <p:cNvSpPr txBox="1"/>
          <p:nvPr/>
        </p:nvSpPr>
        <p:spPr>
          <a:xfrm>
            <a:off x="610700" y="2101292"/>
            <a:ext cx="9144114" cy="286207"/>
          </a:xfrm>
          <a:prstGeom prst="rect">
            <a:avLst/>
          </a:prstGeom>
          <a:noFill/>
          <a:ln/>
        </p:spPr>
        <p:txBody>
          <a:bodyPr wrap="none" lIns="0" tIns="0" rIns="0" bIns="0" rtlCol="0" anchor="ctr"/>
          <a:lstStyle/>
          <a:p>
            <a:pPr defTabSz="925880"/>
            <a:r>
              <a:rPr lang="en-US" sz="2000" b="1" dirty="0">
                <a:solidFill>
                  <a:srgbClr val="2F6980"/>
                </a:solidFill>
                <a:latin typeface="+mn-ea"/>
                <a:cs typeface="游ゴシック" pitchFamily="34" charset="-120"/>
              </a:rPr>
              <a:t>◆ どんな場面で効くか？</a:t>
            </a:r>
            <a:endParaRPr lang="en-US" sz="2000" dirty="0">
              <a:solidFill>
                <a:srgbClr val="000000"/>
              </a:solidFill>
              <a:latin typeface="+mn-ea"/>
            </a:endParaRPr>
          </a:p>
        </p:txBody>
      </p:sp>
      <p:sp>
        <p:nvSpPr>
          <p:cNvPr id="38" name="Text 11">
            <a:extLst>
              <a:ext uri="{FF2B5EF4-FFF2-40B4-BE49-F238E27FC236}">
                <a16:creationId xmlns:a16="http://schemas.microsoft.com/office/drawing/2014/main" id="{B06DE0DA-EFC1-A220-51FF-625C965C3711}"/>
              </a:ext>
            </a:extLst>
          </p:cNvPr>
          <p:cNvSpPr txBox="1"/>
          <p:nvPr/>
        </p:nvSpPr>
        <p:spPr>
          <a:xfrm>
            <a:off x="610699" y="2441449"/>
            <a:ext cx="8989382" cy="898855"/>
          </a:xfrm>
          <a:prstGeom prst="rect">
            <a:avLst/>
          </a:prstGeom>
          <a:noFill/>
          <a:ln/>
        </p:spPr>
        <p:txBody>
          <a:bodyPr wrap="square" lIns="0" tIns="0" rIns="0" bIns="0" rtlCol="0" anchor="ctr"/>
          <a:lstStyle/>
          <a:p>
            <a:pPr defTabSz="925880">
              <a:lnSpc>
                <a:spcPts val="2210"/>
              </a:lnSpc>
            </a:pPr>
            <a:r>
              <a:rPr lang="en-US" sz="2000" b="1" dirty="0">
                <a:solidFill>
                  <a:srgbClr val="333333"/>
                </a:solidFill>
                <a:latin typeface="+mn-ea"/>
                <a:cs typeface="游ゴシック" pitchFamily="34" charset="-120"/>
              </a:rPr>
              <a:t>複雑な論理パズル、計算問題、業務フローの設計</a:t>
            </a:r>
            <a:r>
              <a:rPr lang="en-US" sz="2000" dirty="0">
                <a:solidFill>
                  <a:srgbClr val="333333"/>
                </a:solidFill>
                <a:latin typeface="+mn-ea"/>
                <a:cs typeface="游ゴシック" pitchFamily="34" charset="-120"/>
              </a:rPr>
              <a:t>などの際、</a:t>
            </a:r>
            <a:endParaRPr lang="en-US" sz="2000" dirty="0">
              <a:solidFill>
                <a:srgbClr val="000000"/>
              </a:solidFill>
              <a:latin typeface="+mn-ea"/>
            </a:endParaRPr>
          </a:p>
          <a:p>
            <a:pPr defTabSz="925880">
              <a:lnSpc>
                <a:spcPts val="2210"/>
              </a:lnSpc>
            </a:pPr>
            <a:r>
              <a:rPr lang="en-US" sz="2000" dirty="0" err="1">
                <a:solidFill>
                  <a:srgbClr val="333333"/>
                </a:solidFill>
                <a:latin typeface="+mn-ea"/>
                <a:cs typeface="游ゴシック" pitchFamily="34" charset="-120"/>
              </a:rPr>
              <a:t>AIに思考の途中過程を出力させることで、</a:t>
            </a:r>
            <a:r>
              <a:rPr lang="en-US" sz="2000" b="1" dirty="0" err="1">
                <a:solidFill>
                  <a:srgbClr val="00B050"/>
                </a:solidFill>
                <a:latin typeface="+mn-ea"/>
                <a:cs typeface="游ゴシック" pitchFamily="34" charset="-120"/>
              </a:rPr>
              <a:t>最終的な回答の正確性が飛躍的に向上</a:t>
            </a:r>
            <a:endParaRPr lang="en-US" sz="2000" b="1" dirty="0">
              <a:solidFill>
                <a:srgbClr val="00B050"/>
              </a:solidFill>
              <a:latin typeface="+mn-ea"/>
              <a:cs typeface="游ゴシック" pitchFamily="34" charset="-120"/>
            </a:endParaRPr>
          </a:p>
          <a:p>
            <a:pPr defTabSz="925880">
              <a:lnSpc>
                <a:spcPts val="2210"/>
              </a:lnSpc>
            </a:pPr>
            <a:r>
              <a:rPr lang="en-US" sz="2000" dirty="0" err="1">
                <a:solidFill>
                  <a:srgbClr val="333333"/>
                </a:solidFill>
                <a:latin typeface="+mn-ea"/>
                <a:cs typeface="游ゴシック" pitchFamily="34" charset="-120"/>
              </a:rPr>
              <a:t>します</a:t>
            </a:r>
            <a:r>
              <a:rPr lang="en-US" sz="2000" dirty="0">
                <a:solidFill>
                  <a:srgbClr val="333333"/>
                </a:solidFill>
                <a:latin typeface="+mn-ea"/>
                <a:cs typeface="游ゴシック" pitchFamily="34" charset="-120"/>
              </a:rPr>
              <a:t>。</a:t>
            </a:r>
            <a:endParaRPr lang="en-US" sz="2000" dirty="0">
              <a:solidFill>
                <a:srgbClr val="000000"/>
              </a:solidFill>
              <a:latin typeface="+mn-ea"/>
            </a:endParaRPr>
          </a:p>
        </p:txBody>
      </p:sp>
      <p:sp>
        <p:nvSpPr>
          <p:cNvPr id="42" name="Text 12">
            <a:extLst>
              <a:ext uri="{FF2B5EF4-FFF2-40B4-BE49-F238E27FC236}">
                <a16:creationId xmlns:a16="http://schemas.microsoft.com/office/drawing/2014/main" id="{5C721D43-513B-3858-674E-B65714682B21}"/>
              </a:ext>
            </a:extLst>
          </p:cNvPr>
          <p:cNvSpPr txBox="1"/>
          <p:nvPr/>
        </p:nvSpPr>
        <p:spPr>
          <a:xfrm>
            <a:off x="610700" y="4104798"/>
            <a:ext cx="9144114" cy="228600"/>
          </a:xfrm>
          <a:prstGeom prst="rect">
            <a:avLst/>
          </a:prstGeom>
          <a:noFill/>
          <a:ln/>
        </p:spPr>
        <p:txBody>
          <a:bodyPr wrap="none" lIns="0" tIns="0" rIns="0" bIns="0" rtlCol="0" anchor="ctr"/>
          <a:lstStyle/>
          <a:p>
            <a:pPr defTabSz="925880"/>
            <a:r>
              <a:rPr lang="en-US" sz="2000" b="1" dirty="0">
                <a:solidFill>
                  <a:srgbClr val="B45309"/>
                </a:solidFill>
                <a:latin typeface="+mn-ea"/>
                <a:cs typeface="游ゴシック" pitchFamily="34" charset="-120"/>
              </a:rPr>
              <a:t>💡 実践のコツ</a:t>
            </a:r>
            <a:endParaRPr lang="en-US" sz="2000" dirty="0">
              <a:solidFill>
                <a:srgbClr val="000000"/>
              </a:solidFill>
              <a:latin typeface="+mn-ea"/>
            </a:endParaRPr>
          </a:p>
        </p:txBody>
      </p:sp>
      <p:sp>
        <p:nvSpPr>
          <p:cNvPr id="45" name="Text 13">
            <a:extLst>
              <a:ext uri="{FF2B5EF4-FFF2-40B4-BE49-F238E27FC236}">
                <a16:creationId xmlns:a16="http://schemas.microsoft.com/office/drawing/2014/main" id="{C3029417-B1DE-6779-4E4F-DF90292398DA}"/>
              </a:ext>
            </a:extLst>
          </p:cNvPr>
          <p:cNvSpPr txBox="1"/>
          <p:nvPr/>
        </p:nvSpPr>
        <p:spPr>
          <a:xfrm>
            <a:off x="610699" y="4359916"/>
            <a:ext cx="8989382" cy="1192378"/>
          </a:xfrm>
          <a:prstGeom prst="rect">
            <a:avLst/>
          </a:prstGeom>
          <a:noFill/>
          <a:ln/>
        </p:spPr>
        <p:txBody>
          <a:bodyPr wrap="square" lIns="0" tIns="0" rIns="0" bIns="0" rtlCol="0" anchor="ctr"/>
          <a:lstStyle/>
          <a:p>
            <a:pPr defTabSz="925880">
              <a:lnSpc>
                <a:spcPts val="2340"/>
              </a:lnSpc>
            </a:pPr>
            <a:r>
              <a:rPr lang="en-US" sz="2000" dirty="0">
                <a:solidFill>
                  <a:srgbClr val="333333"/>
                </a:solidFill>
                <a:latin typeface="+mn-ea"/>
                <a:cs typeface="游ゴシック" pitchFamily="34" charset="-120"/>
              </a:rPr>
              <a:t>いきなり答えを出させるのではなく、</a:t>
            </a:r>
            <a:endParaRPr lang="en-US" sz="2000" dirty="0">
              <a:solidFill>
                <a:srgbClr val="000000"/>
              </a:solidFill>
              <a:latin typeface="+mn-ea"/>
            </a:endParaRPr>
          </a:p>
          <a:p>
            <a:pPr defTabSz="925880">
              <a:lnSpc>
                <a:spcPts val="2340"/>
              </a:lnSpc>
            </a:pPr>
            <a:r>
              <a:rPr lang="en-US" sz="2000" dirty="0">
                <a:solidFill>
                  <a:srgbClr val="333333"/>
                </a:solidFill>
                <a:latin typeface="+mn-ea"/>
                <a:cs typeface="游ゴシック" pitchFamily="34" charset="-120"/>
              </a:rPr>
              <a:t>「</a:t>
            </a:r>
            <a:r>
              <a:rPr lang="en-US" sz="2000" b="1" dirty="0">
                <a:solidFill>
                  <a:srgbClr val="B45309"/>
                </a:solidFill>
                <a:latin typeface="+mn-ea"/>
                <a:cs typeface="游ゴシック" pitchFamily="34" charset="-120"/>
              </a:rPr>
              <a:t>まずAを考え、次にBを評価し、最後にCを出力して</a:t>
            </a:r>
            <a:r>
              <a:rPr lang="en-US" sz="2000" dirty="0">
                <a:solidFill>
                  <a:srgbClr val="333333"/>
                </a:solidFill>
                <a:latin typeface="+mn-ea"/>
                <a:cs typeface="游ゴシック" pitchFamily="34" charset="-120"/>
              </a:rPr>
              <a:t>」と</a:t>
            </a:r>
            <a:endParaRPr lang="en-US" sz="2000" dirty="0">
              <a:solidFill>
                <a:srgbClr val="000000"/>
              </a:solidFill>
              <a:latin typeface="+mn-ea"/>
            </a:endParaRPr>
          </a:p>
          <a:p>
            <a:pPr defTabSz="925880">
              <a:lnSpc>
                <a:spcPts val="2340"/>
              </a:lnSpc>
            </a:pPr>
            <a:r>
              <a:rPr lang="en-US" sz="2000" dirty="0">
                <a:solidFill>
                  <a:srgbClr val="333333"/>
                </a:solidFill>
                <a:latin typeface="+mn-ea"/>
                <a:cs typeface="游ゴシック" pitchFamily="34" charset="-120"/>
              </a:rPr>
              <a:t>プロセスを分解して指示します。</a:t>
            </a:r>
            <a:endParaRPr lang="en-US" sz="2000" dirty="0">
              <a:solidFill>
                <a:srgbClr val="000000"/>
              </a:solidFill>
              <a:latin typeface="+mn-ea"/>
            </a:endParaRPr>
          </a:p>
        </p:txBody>
      </p:sp>
    </p:spTree>
    <p:extLst>
      <p:ext uri="{BB962C8B-B14F-4D97-AF65-F5344CB8AC3E}">
        <p14:creationId xmlns:p14="http://schemas.microsoft.com/office/powerpoint/2010/main" val="2610422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pPr defTabSz="457166"/>
            <a:r>
              <a:rPr lang="en-US" altLang="ja-JP" spc="150" dirty="0">
                <a:solidFill>
                  <a:schemeClr val="accent2"/>
                </a:solidFill>
              </a:rPr>
              <a:t>05</a:t>
            </a:r>
            <a:endParaRPr lang="ja-JP" altLang="en-US" spc="150" dirty="0">
              <a:solidFill>
                <a:schemeClr val="accent2"/>
              </a:solidFill>
            </a:endParaRPr>
          </a:p>
        </p:txBody>
      </p:sp>
      <p:sp>
        <p:nvSpPr>
          <p:cNvPr id="6" name="テキスト プレースホルダー 5"/>
          <p:cNvSpPr>
            <a:spLocks noGrp="1"/>
          </p:cNvSpPr>
          <p:nvPr>
            <p:ph type="body" sz="quarter" idx="16"/>
          </p:nvPr>
        </p:nvSpPr>
        <p:spPr/>
        <p:txBody>
          <a:bodyPr/>
          <a:lstStyle/>
          <a:p>
            <a:r>
              <a:rPr lang="ja-JP" altLang="en-US" dirty="0">
                <a:latin typeface="+mj-ea"/>
                <a:ea typeface="+mj-ea"/>
              </a:rPr>
              <a:t>ハンズオン（</a:t>
            </a:r>
            <a:r>
              <a:rPr lang="en-US" altLang="ja-JP" dirty="0" err="1">
                <a:latin typeface="+mj-ea"/>
                <a:ea typeface="+mj-ea"/>
              </a:rPr>
              <a:t>ChatGPT</a:t>
            </a:r>
            <a:r>
              <a:rPr lang="ja-JP" altLang="en-US" dirty="0">
                <a:latin typeface="+mj-ea"/>
                <a:ea typeface="+mj-ea"/>
              </a:rPr>
              <a:t>）</a:t>
            </a:r>
          </a:p>
        </p:txBody>
      </p:sp>
    </p:spTree>
    <p:extLst>
      <p:ext uri="{BB962C8B-B14F-4D97-AF65-F5344CB8AC3E}">
        <p14:creationId xmlns:p14="http://schemas.microsoft.com/office/powerpoint/2010/main" val="3869397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A2A65-56A8-D822-4911-0650DA207F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BBC018-B91A-466C-D959-BB93C1BDC60A}"/>
              </a:ext>
            </a:extLst>
          </p:cNvPr>
          <p:cNvSpPr>
            <a:spLocks noGrp="1"/>
          </p:cNvSpPr>
          <p:nvPr>
            <p:ph type="title"/>
          </p:nvPr>
        </p:nvSpPr>
        <p:spPr/>
        <p:txBody>
          <a:bodyPr>
            <a:normAutofit/>
          </a:bodyPr>
          <a:lstStyle/>
          <a:p>
            <a:r>
              <a:rPr lang="en-US" altLang="ja-JP" dirty="0">
                <a:latin typeface="+mn-ea"/>
                <a:ea typeface="+mn-ea"/>
              </a:rPr>
              <a:t>5-1.</a:t>
            </a:r>
            <a:r>
              <a:rPr lang="ja-JP" altLang="en-US" dirty="0">
                <a:latin typeface="+mn-ea"/>
                <a:ea typeface="+mn-ea"/>
              </a:rPr>
              <a:t> </a:t>
            </a:r>
            <a:r>
              <a:rPr lang="en-US" altLang="ja-JP" dirty="0">
                <a:latin typeface="+mn-ea"/>
                <a:ea typeface="+mn-ea"/>
              </a:rPr>
              <a:t>ChatGPT</a:t>
            </a:r>
            <a:r>
              <a:rPr lang="ja-JP" altLang="en-US" dirty="0">
                <a:latin typeface="+mn-ea"/>
                <a:ea typeface="+mn-ea"/>
              </a:rPr>
              <a:t>の使い方（一般チャット）</a:t>
            </a:r>
          </a:p>
        </p:txBody>
      </p:sp>
      <p:pic>
        <p:nvPicPr>
          <p:cNvPr id="18" name="図 17">
            <a:extLst>
              <a:ext uri="{FF2B5EF4-FFF2-40B4-BE49-F238E27FC236}">
                <a16:creationId xmlns:a16="http://schemas.microsoft.com/office/drawing/2014/main" id="{0C0C9264-2E16-F357-D2E1-8371D0CCF8FE}"/>
              </a:ext>
            </a:extLst>
          </p:cNvPr>
          <p:cNvPicPr>
            <a:picLocks noChangeAspect="1"/>
          </p:cNvPicPr>
          <p:nvPr/>
        </p:nvPicPr>
        <p:blipFill>
          <a:blip r:embed="rId2"/>
          <a:stretch>
            <a:fillRect/>
          </a:stretch>
        </p:blipFill>
        <p:spPr>
          <a:xfrm>
            <a:off x="678739" y="1171553"/>
            <a:ext cx="8550111" cy="4648791"/>
          </a:xfrm>
          <a:prstGeom prst="rect">
            <a:avLst/>
          </a:prstGeom>
        </p:spPr>
      </p:pic>
    </p:spTree>
    <p:extLst>
      <p:ext uri="{BB962C8B-B14F-4D97-AF65-F5344CB8AC3E}">
        <p14:creationId xmlns:p14="http://schemas.microsoft.com/office/powerpoint/2010/main" val="20036749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983B5-0849-7F70-9AFF-E6DEB45AE2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5A18FE-E4CF-C5C8-CC11-61602C8577A5}"/>
              </a:ext>
            </a:extLst>
          </p:cNvPr>
          <p:cNvSpPr>
            <a:spLocks noGrp="1"/>
          </p:cNvSpPr>
          <p:nvPr>
            <p:ph type="title"/>
          </p:nvPr>
        </p:nvSpPr>
        <p:spPr/>
        <p:txBody>
          <a:bodyPr>
            <a:normAutofit/>
          </a:bodyPr>
          <a:lstStyle/>
          <a:p>
            <a:r>
              <a:rPr lang="en-US" altLang="ja-JP" dirty="0">
                <a:latin typeface="+mn-ea"/>
                <a:ea typeface="+mn-ea"/>
              </a:rPr>
              <a:t>5-2. </a:t>
            </a:r>
            <a:r>
              <a:rPr lang="ja-JP" altLang="en-US" dirty="0">
                <a:latin typeface="+mn-ea"/>
                <a:ea typeface="+mn-ea"/>
              </a:rPr>
              <a:t>例①：顧客提案向けの企画提案書を作りたい</a:t>
            </a:r>
          </a:p>
        </p:txBody>
      </p:sp>
      <p:sp>
        <p:nvSpPr>
          <p:cNvPr id="4" name="Text 8">
            <a:extLst>
              <a:ext uri="{FF2B5EF4-FFF2-40B4-BE49-F238E27FC236}">
                <a16:creationId xmlns:a16="http://schemas.microsoft.com/office/drawing/2014/main" id="{BEF8947A-040D-F2A5-03FD-B17832C7C984}"/>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プロンプトを作って入れてみましょう。</a:t>
            </a:r>
          </a:p>
          <a:p>
            <a:pPr defTabSz="925880"/>
            <a:r>
              <a:rPr lang="ja-JP" altLang="en-US" sz="2000" dirty="0">
                <a:solidFill>
                  <a:srgbClr val="404040"/>
                </a:solidFill>
                <a:latin typeface="+mn-ea"/>
              </a:rPr>
              <a:t>その後、チーム内でどのような結果が出たか話し合ってみましょう。</a:t>
            </a:r>
          </a:p>
          <a:p>
            <a:pPr defTabSz="925880"/>
            <a:endParaRPr lang="ja-JP" altLang="en-US" sz="2000" dirty="0">
              <a:solidFill>
                <a:srgbClr val="404040"/>
              </a:solidFill>
              <a:latin typeface="+mn-ea"/>
            </a:endParaRPr>
          </a:p>
          <a:p>
            <a:pPr defTabSz="925880"/>
            <a:r>
              <a:rPr lang="ja-JP" altLang="en-US" sz="2000" dirty="0">
                <a:solidFill>
                  <a:srgbClr val="404040"/>
                </a:solidFill>
                <a:latin typeface="+mn-ea"/>
              </a:rPr>
              <a:t>＜背景＞</a:t>
            </a:r>
          </a:p>
          <a:p>
            <a:pPr defTabSz="925880"/>
            <a:r>
              <a:rPr lang="ja-JP" altLang="en-US" sz="2000" dirty="0">
                <a:solidFill>
                  <a:srgbClr val="404040"/>
                </a:solidFill>
                <a:latin typeface="+mn-ea"/>
              </a:rPr>
              <a:t>顧客より１１６コールセンタの応対管理システムの刷新に向けた</a:t>
            </a:r>
            <a:endParaRPr lang="en-US" altLang="ja-JP" sz="2000" dirty="0">
              <a:solidFill>
                <a:srgbClr val="404040"/>
              </a:solidFill>
              <a:latin typeface="+mn-ea"/>
            </a:endParaRPr>
          </a:p>
          <a:p>
            <a:pPr defTabSz="925880"/>
            <a:r>
              <a:rPr lang="ja-JP" altLang="en-US" sz="2000" dirty="0">
                <a:solidFill>
                  <a:srgbClr val="404040"/>
                </a:solidFill>
                <a:latin typeface="+mn-ea"/>
              </a:rPr>
              <a:t>提案依頼を受けたので、提案書を検討したい。</a:t>
            </a:r>
          </a:p>
        </p:txBody>
      </p:sp>
    </p:spTree>
    <p:extLst>
      <p:ext uri="{BB962C8B-B14F-4D97-AF65-F5344CB8AC3E}">
        <p14:creationId xmlns:p14="http://schemas.microsoft.com/office/powerpoint/2010/main" val="530344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BE67-9B5E-3AF7-673D-8F3287611E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215911-842D-C794-0A68-780F65D6845F}"/>
              </a:ext>
            </a:extLst>
          </p:cNvPr>
          <p:cNvSpPr>
            <a:spLocks noGrp="1"/>
          </p:cNvSpPr>
          <p:nvPr>
            <p:ph type="title"/>
          </p:nvPr>
        </p:nvSpPr>
        <p:spPr/>
        <p:txBody>
          <a:bodyPr>
            <a:normAutofit/>
          </a:bodyPr>
          <a:lstStyle/>
          <a:p>
            <a:r>
              <a:rPr lang="en-US" altLang="ja-JP" dirty="0">
                <a:latin typeface="+mn-ea"/>
                <a:ea typeface="+mn-ea"/>
              </a:rPr>
              <a:t>5-3.</a:t>
            </a:r>
            <a:r>
              <a:rPr lang="ja-JP" altLang="en-US" dirty="0">
                <a:latin typeface="+mn-ea"/>
                <a:ea typeface="+mn-ea"/>
              </a:rPr>
              <a:t> 例①：顧客提案向けの企画提案書を作りたい </a:t>
            </a:r>
            <a:r>
              <a:rPr lang="en-US" altLang="ja-JP" dirty="0">
                <a:latin typeface="+mn-ea"/>
                <a:ea typeface="+mn-ea"/>
              </a:rPr>
              <a:t>- </a:t>
            </a:r>
            <a:r>
              <a:rPr lang="ja-JP" altLang="en-US" dirty="0">
                <a:latin typeface="+mn-ea"/>
                <a:ea typeface="+mn-ea"/>
              </a:rPr>
              <a:t>プロンプト例</a:t>
            </a:r>
          </a:p>
        </p:txBody>
      </p:sp>
      <p:sp>
        <p:nvSpPr>
          <p:cNvPr id="4" name="Text 8">
            <a:extLst>
              <a:ext uri="{FF2B5EF4-FFF2-40B4-BE49-F238E27FC236}">
                <a16:creationId xmlns:a16="http://schemas.microsoft.com/office/drawing/2014/main" id="{6E8AFE21-3611-F788-A6BF-280E03B39F5C}"/>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1600" dirty="0">
                <a:solidFill>
                  <a:srgbClr val="404040"/>
                </a:solidFill>
                <a:latin typeface="+mn-ea"/>
              </a:rPr>
              <a:t>＜プロンプト例＞</a:t>
            </a:r>
          </a:p>
          <a:p>
            <a:pPr defTabSz="925880"/>
            <a:r>
              <a:rPr lang="en-US" altLang="ja-JP" sz="1600" dirty="0">
                <a:solidFill>
                  <a:srgbClr val="404040"/>
                </a:solidFill>
                <a:latin typeface="+mn-ea"/>
              </a:rPr>
              <a:t>NTT</a:t>
            </a:r>
            <a:r>
              <a:rPr lang="ja-JP" altLang="en-US" sz="1600" dirty="0">
                <a:solidFill>
                  <a:srgbClr val="404040"/>
                </a:solidFill>
                <a:latin typeface="+mn-ea"/>
              </a:rPr>
              <a:t>東日本様より、</a:t>
            </a:r>
            <a:r>
              <a:rPr lang="en-US" altLang="ja-JP" sz="1600" dirty="0">
                <a:solidFill>
                  <a:srgbClr val="404040"/>
                </a:solidFill>
                <a:latin typeface="+mn-ea"/>
              </a:rPr>
              <a:t>116</a:t>
            </a:r>
            <a:r>
              <a:rPr lang="ja-JP" altLang="en-US" sz="1600" dirty="0">
                <a:solidFill>
                  <a:srgbClr val="404040"/>
                </a:solidFill>
                <a:latin typeface="+mn-ea"/>
              </a:rPr>
              <a:t>コールセンタの応対管理システムの刷新に向けた相談を受けています。</a:t>
            </a:r>
          </a:p>
          <a:p>
            <a:pPr defTabSz="925880"/>
            <a:r>
              <a:rPr lang="ja-JP" altLang="en-US" sz="1600" dirty="0">
                <a:solidFill>
                  <a:srgbClr val="404040"/>
                </a:solidFill>
                <a:latin typeface="+mn-ea"/>
              </a:rPr>
              <a:t>私はコールセンタ業務についてそこまで詳しくないので、最新の動向を調査したうえで、</a:t>
            </a:r>
            <a:endParaRPr lang="en-US" altLang="ja-JP" sz="1600" dirty="0">
              <a:solidFill>
                <a:srgbClr val="404040"/>
              </a:solidFill>
              <a:latin typeface="+mn-ea"/>
            </a:endParaRPr>
          </a:p>
          <a:p>
            <a:pPr defTabSz="925880"/>
            <a:r>
              <a:rPr lang="en-US" altLang="ja-JP" sz="1600" dirty="0">
                <a:solidFill>
                  <a:srgbClr val="404040"/>
                </a:solidFill>
                <a:latin typeface="+mn-ea"/>
              </a:rPr>
              <a:t>116</a:t>
            </a:r>
            <a:r>
              <a:rPr lang="ja-JP" altLang="en-US" sz="1600" dirty="0">
                <a:solidFill>
                  <a:srgbClr val="404040"/>
                </a:solidFill>
                <a:latin typeface="+mn-ea"/>
              </a:rPr>
              <a:t>コールセンタ特有の問題などを推測しつつ、刷新に資する提案の骨子</a:t>
            </a:r>
            <a:endParaRPr lang="en-US" altLang="ja-JP" sz="1600" dirty="0">
              <a:solidFill>
                <a:srgbClr val="404040"/>
              </a:solidFill>
              <a:latin typeface="+mn-ea"/>
            </a:endParaRPr>
          </a:p>
          <a:p>
            <a:pPr defTabSz="925880"/>
            <a:r>
              <a:rPr lang="ja-JP" altLang="en-US" sz="1600" dirty="0">
                <a:solidFill>
                  <a:srgbClr val="404040"/>
                </a:solidFill>
                <a:latin typeface="+mn-ea"/>
              </a:rPr>
              <a:t>（それなりにディテールも議論できるレベル）を作成したいです。</a:t>
            </a:r>
          </a:p>
          <a:p>
            <a:pPr defTabSz="925880"/>
            <a:endParaRPr lang="ja-JP" altLang="en-US" sz="1600" dirty="0">
              <a:solidFill>
                <a:srgbClr val="404040"/>
              </a:solidFill>
              <a:latin typeface="+mn-ea"/>
            </a:endParaRPr>
          </a:p>
          <a:p>
            <a:pPr defTabSz="925880"/>
            <a:r>
              <a:rPr lang="en-US" altLang="ja-JP" sz="1600" dirty="0">
                <a:solidFill>
                  <a:srgbClr val="404040"/>
                </a:solidFill>
                <a:latin typeface="+mn-ea"/>
              </a:rPr>
              <a:t># </a:t>
            </a:r>
            <a:r>
              <a:rPr lang="ja-JP" altLang="en-US" sz="1600" dirty="0">
                <a:solidFill>
                  <a:srgbClr val="404040"/>
                </a:solidFill>
                <a:latin typeface="+mn-ea"/>
              </a:rPr>
              <a:t>背景</a:t>
            </a:r>
          </a:p>
          <a:p>
            <a:pPr defTabSz="925880"/>
            <a:r>
              <a:rPr lang="ja-JP" altLang="en-US" sz="1600" dirty="0">
                <a:solidFill>
                  <a:srgbClr val="404040"/>
                </a:solidFill>
                <a:latin typeface="+mn-ea"/>
              </a:rPr>
              <a:t>私は</a:t>
            </a:r>
            <a:r>
              <a:rPr lang="en-US" altLang="ja-JP" sz="1600" dirty="0">
                <a:solidFill>
                  <a:srgbClr val="404040"/>
                </a:solidFill>
                <a:latin typeface="+mn-ea"/>
              </a:rPr>
              <a:t>NTT</a:t>
            </a:r>
            <a:r>
              <a:rPr lang="ja-JP" altLang="en-US" sz="1600" dirty="0">
                <a:solidFill>
                  <a:srgbClr val="404040"/>
                </a:solidFill>
                <a:latin typeface="+mn-ea"/>
              </a:rPr>
              <a:t>データのデジタルソサエティ事業部の部長です。</a:t>
            </a:r>
          </a:p>
          <a:p>
            <a:pPr defTabSz="925880"/>
            <a:r>
              <a:rPr lang="ja-JP" altLang="en-US" sz="1600" dirty="0">
                <a:solidFill>
                  <a:srgbClr val="404040"/>
                </a:solidFill>
                <a:latin typeface="+mn-ea"/>
              </a:rPr>
              <a:t>過去、</a:t>
            </a:r>
            <a:r>
              <a:rPr lang="en-US" altLang="ja-JP" sz="1600" dirty="0">
                <a:solidFill>
                  <a:srgbClr val="404040"/>
                </a:solidFill>
                <a:latin typeface="+mn-ea"/>
              </a:rPr>
              <a:t>116</a:t>
            </a:r>
            <a:r>
              <a:rPr lang="ja-JP" altLang="en-US" sz="1600" dirty="0">
                <a:solidFill>
                  <a:srgbClr val="404040"/>
                </a:solidFill>
                <a:latin typeface="+mn-ea"/>
              </a:rPr>
              <a:t>コールセンターの応対管理システムの開発責任者でしたが、基本は現場の課長に任せていたため、</a:t>
            </a:r>
            <a:endParaRPr lang="en-US" altLang="ja-JP" sz="1600" dirty="0">
              <a:solidFill>
                <a:srgbClr val="404040"/>
              </a:solidFill>
              <a:latin typeface="+mn-ea"/>
            </a:endParaRPr>
          </a:p>
          <a:p>
            <a:pPr defTabSz="925880"/>
            <a:r>
              <a:rPr lang="ja-JP" altLang="en-US" sz="1600" dirty="0">
                <a:solidFill>
                  <a:srgbClr val="404040"/>
                </a:solidFill>
                <a:latin typeface="+mn-ea"/>
              </a:rPr>
              <a:t>業務には明るくありません。</a:t>
            </a:r>
          </a:p>
          <a:p>
            <a:pPr defTabSz="925880"/>
            <a:r>
              <a:rPr lang="ja-JP" altLang="en-US" sz="1600" dirty="0">
                <a:solidFill>
                  <a:srgbClr val="404040"/>
                </a:solidFill>
                <a:latin typeface="+mn-ea"/>
              </a:rPr>
              <a:t>今回、顧客が私の</a:t>
            </a:r>
            <a:r>
              <a:rPr lang="en-US" altLang="ja-JP" sz="1600" dirty="0">
                <a:solidFill>
                  <a:srgbClr val="404040"/>
                </a:solidFill>
                <a:latin typeface="+mn-ea"/>
              </a:rPr>
              <a:t>AI</a:t>
            </a:r>
            <a:r>
              <a:rPr lang="ja-JP" altLang="en-US" sz="1600" dirty="0">
                <a:solidFill>
                  <a:srgbClr val="404040"/>
                </a:solidFill>
                <a:latin typeface="+mn-ea"/>
              </a:rPr>
              <a:t>ネイティブ開発に関する記事を読まれ、既製品ではない、新しいコールセンターを作るために、</a:t>
            </a:r>
            <a:endParaRPr lang="en-US" altLang="ja-JP" sz="1600" dirty="0">
              <a:solidFill>
                <a:srgbClr val="404040"/>
              </a:solidFill>
              <a:latin typeface="+mn-ea"/>
            </a:endParaRPr>
          </a:p>
          <a:p>
            <a:pPr defTabSz="925880"/>
            <a:r>
              <a:rPr lang="ja-JP" altLang="en-US" sz="1600" dirty="0">
                <a:solidFill>
                  <a:srgbClr val="404040"/>
                </a:solidFill>
                <a:latin typeface="+mn-ea"/>
              </a:rPr>
              <a:t>色々と議論をしたいという依頼から始まっています。</a:t>
            </a:r>
          </a:p>
          <a:p>
            <a:pPr defTabSz="925880"/>
            <a:endParaRPr lang="en-US" altLang="ja-JP" sz="1600" dirty="0">
              <a:solidFill>
                <a:srgbClr val="404040"/>
              </a:solidFill>
              <a:latin typeface="+mn-ea"/>
            </a:endParaRPr>
          </a:p>
          <a:p>
            <a:pPr defTabSz="925880"/>
            <a:r>
              <a:rPr lang="en-US" altLang="ja-JP" sz="1600" dirty="0">
                <a:solidFill>
                  <a:srgbClr val="404040"/>
                </a:solidFill>
                <a:latin typeface="+mn-ea"/>
              </a:rPr>
              <a:t># </a:t>
            </a:r>
            <a:r>
              <a:rPr lang="ja-JP" altLang="en-US" sz="1600" dirty="0">
                <a:solidFill>
                  <a:srgbClr val="404040"/>
                </a:solidFill>
                <a:latin typeface="+mn-ea"/>
              </a:rPr>
              <a:t>状況</a:t>
            </a:r>
          </a:p>
          <a:p>
            <a:pPr defTabSz="925880"/>
            <a:r>
              <a:rPr lang="ja-JP" altLang="en-US" sz="1600" dirty="0">
                <a:solidFill>
                  <a:srgbClr val="404040"/>
                </a:solidFill>
                <a:latin typeface="+mn-ea"/>
              </a:rPr>
              <a:t>まだ議論は開始できていません。来週、顧客と３年ぶりの打ち合わせを実施する予定です。</a:t>
            </a:r>
          </a:p>
          <a:p>
            <a:pPr defTabSz="925880"/>
            <a:r>
              <a:rPr lang="ja-JP" altLang="en-US" sz="1600" dirty="0">
                <a:solidFill>
                  <a:srgbClr val="404040"/>
                </a:solidFill>
                <a:latin typeface="+mn-ea"/>
              </a:rPr>
              <a:t>先方は、コールセンター事業向けシステムの</a:t>
            </a:r>
            <a:r>
              <a:rPr lang="en-US" altLang="ja-JP" sz="1600" dirty="0">
                <a:solidFill>
                  <a:srgbClr val="404040"/>
                </a:solidFill>
                <a:latin typeface="+mn-ea"/>
              </a:rPr>
              <a:t>NTT</a:t>
            </a:r>
            <a:r>
              <a:rPr lang="ja-JP" altLang="en-US" sz="1600" dirty="0">
                <a:solidFill>
                  <a:srgbClr val="404040"/>
                </a:solidFill>
                <a:latin typeface="+mn-ea"/>
              </a:rPr>
              <a:t>東日本側の</a:t>
            </a:r>
            <a:r>
              <a:rPr lang="en-US" altLang="ja-JP" sz="1600" dirty="0">
                <a:solidFill>
                  <a:srgbClr val="404040"/>
                </a:solidFill>
                <a:latin typeface="+mn-ea"/>
              </a:rPr>
              <a:t>IT</a:t>
            </a:r>
            <a:r>
              <a:rPr lang="ja-JP" altLang="en-US" sz="1600" dirty="0">
                <a:solidFill>
                  <a:srgbClr val="404040"/>
                </a:solidFill>
                <a:latin typeface="+mn-ea"/>
              </a:rPr>
              <a:t>部門の責任者（部門長、部長）となります。</a:t>
            </a:r>
          </a:p>
          <a:p>
            <a:pPr defTabSz="925880"/>
            <a:endParaRPr lang="en-US" altLang="ja-JP" sz="1600" dirty="0">
              <a:solidFill>
                <a:srgbClr val="404040"/>
              </a:solidFill>
              <a:latin typeface="+mn-ea"/>
            </a:endParaRPr>
          </a:p>
          <a:p>
            <a:pPr defTabSz="925880"/>
            <a:r>
              <a:rPr lang="en-US" altLang="ja-JP" sz="1600" dirty="0">
                <a:solidFill>
                  <a:srgbClr val="404040"/>
                </a:solidFill>
                <a:latin typeface="+mn-ea"/>
              </a:rPr>
              <a:t># </a:t>
            </a:r>
            <a:r>
              <a:rPr lang="ja-JP" altLang="en-US" sz="1600" dirty="0">
                <a:solidFill>
                  <a:srgbClr val="404040"/>
                </a:solidFill>
                <a:latin typeface="+mn-ea"/>
              </a:rPr>
              <a:t>今回の依頼</a:t>
            </a:r>
          </a:p>
          <a:p>
            <a:pPr defTabSz="925880"/>
            <a:r>
              <a:rPr lang="en-US" altLang="ja-JP" sz="1600" dirty="0">
                <a:solidFill>
                  <a:srgbClr val="404040"/>
                </a:solidFill>
                <a:latin typeface="+mn-ea"/>
              </a:rPr>
              <a:t>116</a:t>
            </a:r>
            <a:r>
              <a:rPr lang="ja-JP" altLang="en-US" sz="1600" dirty="0">
                <a:solidFill>
                  <a:srgbClr val="404040"/>
                </a:solidFill>
                <a:latin typeface="+mn-ea"/>
              </a:rPr>
              <a:t>コールセンターシステムの抜本的な刷新に向けた初回打ち合わせ用のたたき台資料を作成するにあたり、</a:t>
            </a:r>
            <a:endParaRPr lang="en-US" altLang="ja-JP" sz="1600" dirty="0">
              <a:solidFill>
                <a:srgbClr val="404040"/>
              </a:solidFill>
              <a:latin typeface="+mn-ea"/>
            </a:endParaRPr>
          </a:p>
          <a:p>
            <a:pPr defTabSz="925880"/>
            <a:r>
              <a:rPr lang="ja-JP" altLang="en-US" sz="1600" dirty="0">
                <a:solidFill>
                  <a:srgbClr val="404040"/>
                </a:solidFill>
                <a:latin typeface="+mn-ea"/>
              </a:rPr>
              <a:t>まずは、私自身がしっかりと検討を行えるようにするための各種情報の整理と、資料の骨子を作成してください。</a:t>
            </a:r>
          </a:p>
          <a:p>
            <a:pPr defTabSz="925880"/>
            <a:endParaRPr lang="ja-JP" altLang="en-US" sz="1600" dirty="0">
              <a:solidFill>
                <a:srgbClr val="404040"/>
              </a:solidFill>
              <a:latin typeface="+mn-ea"/>
            </a:endParaRPr>
          </a:p>
        </p:txBody>
      </p:sp>
    </p:spTree>
    <p:extLst>
      <p:ext uri="{BB962C8B-B14F-4D97-AF65-F5344CB8AC3E}">
        <p14:creationId xmlns:p14="http://schemas.microsoft.com/office/powerpoint/2010/main" val="1819915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CF1A4-A063-88C0-3056-52A431319B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C7A380-C874-B61A-4646-92BA269B3E55}"/>
              </a:ext>
            </a:extLst>
          </p:cNvPr>
          <p:cNvSpPr>
            <a:spLocks noGrp="1"/>
          </p:cNvSpPr>
          <p:nvPr>
            <p:ph type="title"/>
          </p:nvPr>
        </p:nvSpPr>
        <p:spPr/>
        <p:txBody>
          <a:bodyPr>
            <a:normAutofit/>
          </a:bodyPr>
          <a:lstStyle/>
          <a:p>
            <a:r>
              <a:rPr lang="en-US" altLang="ja-JP" dirty="0">
                <a:latin typeface="+mn-ea"/>
                <a:ea typeface="+mn-ea"/>
              </a:rPr>
              <a:t>5-4.</a:t>
            </a:r>
            <a:r>
              <a:rPr lang="ja-JP" altLang="en-US" dirty="0">
                <a:latin typeface="+mn-ea"/>
                <a:ea typeface="+mn-ea"/>
              </a:rPr>
              <a:t> 例①：顧客提案向けの企画提案書を作りたい </a:t>
            </a:r>
            <a:r>
              <a:rPr lang="en-US" altLang="ja-JP" dirty="0">
                <a:latin typeface="+mn-ea"/>
                <a:ea typeface="+mn-ea"/>
              </a:rPr>
              <a:t>- </a:t>
            </a:r>
            <a:r>
              <a:rPr lang="ja-JP" altLang="en-US" dirty="0">
                <a:latin typeface="+mn-ea"/>
                <a:ea typeface="+mn-ea"/>
              </a:rPr>
              <a:t>実行例</a:t>
            </a:r>
          </a:p>
        </p:txBody>
      </p:sp>
      <p:pic>
        <p:nvPicPr>
          <p:cNvPr id="5" name="図 4">
            <a:extLst>
              <a:ext uri="{FF2B5EF4-FFF2-40B4-BE49-F238E27FC236}">
                <a16:creationId xmlns:a16="http://schemas.microsoft.com/office/drawing/2014/main" id="{D4F203EC-237B-5C5A-C265-758C3ABF2874}"/>
              </a:ext>
            </a:extLst>
          </p:cNvPr>
          <p:cNvPicPr>
            <a:picLocks noChangeAspect="1"/>
          </p:cNvPicPr>
          <p:nvPr/>
        </p:nvPicPr>
        <p:blipFill>
          <a:blip r:embed="rId2"/>
          <a:stretch>
            <a:fillRect/>
          </a:stretch>
        </p:blipFill>
        <p:spPr>
          <a:xfrm>
            <a:off x="805544" y="1445737"/>
            <a:ext cx="8659433" cy="4439270"/>
          </a:xfrm>
          <a:prstGeom prst="rect">
            <a:avLst/>
          </a:prstGeom>
        </p:spPr>
      </p:pic>
    </p:spTree>
    <p:extLst>
      <p:ext uri="{BB962C8B-B14F-4D97-AF65-F5344CB8AC3E}">
        <p14:creationId xmlns:p14="http://schemas.microsoft.com/office/powerpoint/2010/main" val="3113462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5DDE7-DB8D-BFC1-3E24-D5B1148029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8819A2E-078D-EE7B-52C5-2EF0A4D405FB}"/>
              </a:ext>
            </a:extLst>
          </p:cNvPr>
          <p:cNvSpPr>
            <a:spLocks noGrp="1"/>
          </p:cNvSpPr>
          <p:nvPr>
            <p:ph type="title"/>
          </p:nvPr>
        </p:nvSpPr>
        <p:spPr/>
        <p:txBody>
          <a:bodyPr>
            <a:normAutofit/>
          </a:bodyPr>
          <a:lstStyle/>
          <a:p>
            <a:r>
              <a:rPr lang="en-US" altLang="ja-JP" dirty="0">
                <a:latin typeface="+mn-ea"/>
                <a:ea typeface="+mn-ea"/>
              </a:rPr>
              <a:t>5-5. </a:t>
            </a:r>
            <a:r>
              <a:rPr lang="ja-JP" altLang="en-US" dirty="0">
                <a:latin typeface="+mn-ea"/>
                <a:ea typeface="+mn-ea"/>
              </a:rPr>
              <a:t>例②：</a:t>
            </a:r>
            <a:r>
              <a:rPr lang="en-US" altLang="ja-JP" dirty="0">
                <a:latin typeface="+mn-ea"/>
                <a:ea typeface="+mn-ea"/>
              </a:rPr>
              <a:t>100</a:t>
            </a:r>
            <a:r>
              <a:rPr lang="ja-JP" altLang="en-US" dirty="0">
                <a:latin typeface="+mn-ea"/>
                <a:ea typeface="+mn-ea"/>
              </a:rPr>
              <a:t>本ノックを作ってみる</a:t>
            </a:r>
          </a:p>
        </p:txBody>
      </p:sp>
      <p:sp>
        <p:nvSpPr>
          <p:cNvPr id="4" name="Text 8">
            <a:extLst>
              <a:ext uri="{FF2B5EF4-FFF2-40B4-BE49-F238E27FC236}">
                <a16:creationId xmlns:a16="http://schemas.microsoft.com/office/drawing/2014/main" id="{0C8D31E3-A6E3-14C8-897A-E9538B4B05CD}"/>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プロンプトを作って入れてみましょう。</a:t>
            </a:r>
          </a:p>
          <a:p>
            <a:pPr defTabSz="925880"/>
            <a:r>
              <a:rPr lang="ja-JP" altLang="en-US" sz="2000" dirty="0">
                <a:solidFill>
                  <a:srgbClr val="404040"/>
                </a:solidFill>
                <a:latin typeface="+mn-ea"/>
              </a:rPr>
              <a:t>その後、チーム内でどのような結果が出たか話し合ってみましょう。</a:t>
            </a:r>
          </a:p>
          <a:p>
            <a:pPr defTabSz="925880"/>
            <a:endParaRPr lang="ja-JP" altLang="en-US" sz="2000" dirty="0">
              <a:solidFill>
                <a:srgbClr val="404040"/>
              </a:solidFill>
              <a:latin typeface="+mn-ea"/>
            </a:endParaRPr>
          </a:p>
          <a:p>
            <a:pPr defTabSz="925880"/>
            <a:r>
              <a:rPr lang="ja-JP" altLang="en-US" sz="2000" dirty="0">
                <a:solidFill>
                  <a:srgbClr val="404040"/>
                </a:solidFill>
                <a:latin typeface="+mn-ea"/>
              </a:rPr>
              <a:t>＜背景＞</a:t>
            </a:r>
          </a:p>
          <a:p>
            <a:pPr defTabSz="925880"/>
            <a:r>
              <a:rPr lang="en-US" altLang="ja-JP" sz="2000" dirty="0">
                <a:solidFill>
                  <a:srgbClr val="404040"/>
                </a:solidFill>
                <a:latin typeface="+mn-ea"/>
              </a:rPr>
              <a:t>Kotlin</a:t>
            </a:r>
            <a:r>
              <a:rPr lang="ja-JP" altLang="en-US" sz="2000" dirty="0">
                <a:solidFill>
                  <a:srgbClr val="404040"/>
                </a:solidFill>
                <a:latin typeface="+mn-ea"/>
              </a:rPr>
              <a:t>という言語が流行りらしいから、これを使ってプログラミングの勉強をしたい。</a:t>
            </a:r>
          </a:p>
        </p:txBody>
      </p:sp>
    </p:spTree>
    <p:extLst>
      <p:ext uri="{BB962C8B-B14F-4D97-AF65-F5344CB8AC3E}">
        <p14:creationId xmlns:p14="http://schemas.microsoft.com/office/powerpoint/2010/main" val="2202282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B53E1-FDC2-2FD1-9019-6F1AEBF18B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9E6FEA-A50E-E6C7-FD16-B91AEA1C9210}"/>
              </a:ext>
            </a:extLst>
          </p:cNvPr>
          <p:cNvSpPr>
            <a:spLocks noGrp="1"/>
          </p:cNvSpPr>
          <p:nvPr>
            <p:ph type="title"/>
          </p:nvPr>
        </p:nvSpPr>
        <p:spPr/>
        <p:txBody>
          <a:bodyPr>
            <a:normAutofit/>
          </a:bodyPr>
          <a:lstStyle/>
          <a:p>
            <a:r>
              <a:rPr lang="en-US" altLang="ja-JP" dirty="0">
                <a:latin typeface="+mn-ea"/>
                <a:ea typeface="+mn-ea"/>
              </a:rPr>
              <a:t>5-6.</a:t>
            </a:r>
            <a:r>
              <a:rPr lang="ja-JP" altLang="en-US" dirty="0">
                <a:latin typeface="+mn-ea"/>
                <a:ea typeface="+mn-ea"/>
              </a:rPr>
              <a:t> 例②：</a:t>
            </a:r>
            <a:r>
              <a:rPr lang="en-US" altLang="ja-JP" dirty="0">
                <a:latin typeface="+mn-ea"/>
                <a:ea typeface="+mn-ea"/>
              </a:rPr>
              <a:t>100</a:t>
            </a:r>
            <a:r>
              <a:rPr lang="ja-JP" altLang="en-US" dirty="0">
                <a:latin typeface="+mn-ea"/>
                <a:ea typeface="+mn-ea"/>
              </a:rPr>
              <a:t>本ノックを作ってみる </a:t>
            </a:r>
            <a:r>
              <a:rPr lang="en-US" altLang="ja-JP" dirty="0">
                <a:latin typeface="+mn-ea"/>
                <a:ea typeface="+mn-ea"/>
              </a:rPr>
              <a:t>-</a:t>
            </a:r>
            <a:r>
              <a:rPr lang="ja-JP" altLang="en-US" dirty="0">
                <a:latin typeface="+mn-ea"/>
                <a:ea typeface="+mn-ea"/>
              </a:rPr>
              <a:t>プロンプト例</a:t>
            </a:r>
          </a:p>
        </p:txBody>
      </p:sp>
      <p:sp>
        <p:nvSpPr>
          <p:cNvPr id="4" name="Text 8">
            <a:extLst>
              <a:ext uri="{FF2B5EF4-FFF2-40B4-BE49-F238E27FC236}">
                <a16:creationId xmlns:a16="http://schemas.microsoft.com/office/drawing/2014/main" id="{65412AD5-FE41-1FF6-ACE6-3588B3AFAF8F}"/>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＜プロンプト例＞</a:t>
            </a:r>
          </a:p>
          <a:p>
            <a:pPr defTabSz="925880"/>
            <a:r>
              <a:rPr lang="en-US" altLang="ja-JP" sz="2000" dirty="0" err="1">
                <a:solidFill>
                  <a:srgbClr val="404040"/>
                </a:solidFill>
                <a:latin typeface="+mn-ea"/>
              </a:rPr>
              <a:t>kotlin</a:t>
            </a:r>
            <a:r>
              <a:rPr lang="ja-JP" altLang="en-US" sz="2000" dirty="0">
                <a:solidFill>
                  <a:srgbClr val="404040"/>
                </a:solidFill>
                <a:latin typeface="+mn-ea"/>
              </a:rPr>
              <a:t>初学者学習用の</a:t>
            </a:r>
            <a:r>
              <a:rPr lang="en-US" altLang="ja-JP" sz="2000" dirty="0">
                <a:solidFill>
                  <a:srgbClr val="404040"/>
                </a:solidFill>
                <a:latin typeface="+mn-ea"/>
              </a:rPr>
              <a:t>100</a:t>
            </a:r>
            <a:r>
              <a:rPr lang="ja-JP" altLang="en-US" sz="2000" dirty="0">
                <a:solidFill>
                  <a:srgbClr val="404040"/>
                </a:solidFill>
                <a:latin typeface="+mn-ea"/>
              </a:rPr>
              <a:t>本ノックを作りたい。</a:t>
            </a:r>
          </a:p>
          <a:p>
            <a:pPr defTabSz="925880"/>
            <a:r>
              <a:rPr lang="ja-JP" altLang="en-US" sz="2000" dirty="0">
                <a:solidFill>
                  <a:srgbClr val="404040"/>
                </a:solidFill>
                <a:latin typeface="+mn-ea"/>
              </a:rPr>
              <a:t>それぞれに関して、明確なゴールが分かるようにしてほしい。特にゴールが抽象的だと、</a:t>
            </a:r>
            <a:endParaRPr lang="en-US" altLang="ja-JP" sz="2000" dirty="0">
              <a:solidFill>
                <a:srgbClr val="404040"/>
              </a:solidFill>
              <a:latin typeface="+mn-ea"/>
            </a:endParaRPr>
          </a:p>
          <a:p>
            <a:pPr defTabSz="925880"/>
            <a:r>
              <a:rPr lang="ja-JP" altLang="en-US" sz="2000" dirty="0">
                <a:solidFill>
                  <a:srgbClr val="404040"/>
                </a:solidFill>
                <a:latin typeface="+mn-ea"/>
              </a:rPr>
              <a:t>分かりづらいので、しっかりと説明文を作るように。</a:t>
            </a:r>
          </a:p>
          <a:p>
            <a:pPr defTabSz="925880"/>
            <a:r>
              <a:rPr lang="ja-JP" altLang="en-US" sz="2000" dirty="0">
                <a:solidFill>
                  <a:srgbClr val="404040"/>
                </a:solidFill>
                <a:latin typeface="+mn-ea"/>
              </a:rPr>
              <a:t>また、遊び心を加えたいので、触ってて楽しくなるような</a:t>
            </a:r>
            <a:r>
              <a:rPr lang="en-US" altLang="ja-JP" sz="2000" dirty="0">
                <a:solidFill>
                  <a:srgbClr val="404040"/>
                </a:solidFill>
                <a:latin typeface="+mn-ea"/>
              </a:rPr>
              <a:t>100</a:t>
            </a:r>
            <a:r>
              <a:rPr lang="ja-JP" altLang="en-US" sz="2000" dirty="0">
                <a:solidFill>
                  <a:srgbClr val="404040"/>
                </a:solidFill>
                <a:latin typeface="+mn-ea"/>
              </a:rPr>
              <a:t>本ノックをお願いしたい。</a:t>
            </a:r>
          </a:p>
          <a:p>
            <a:pPr defTabSz="925880"/>
            <a:endParaRPr lang="en-US" altLang="ja-JP" sz="2000" dirty="0">
              <a:solidFill>
                <a:srgbClr val="404040"/>
              </a:solidFill>
              <a:latin typeface="+mn-ea"/>
            </a:endParaRPr>
          </a:p>
          <a:p>
            <a:pPr defTabSz="925880"/>
            <a:r>
              <a:rPr lang="en-US" altLang="ja-JP" sz="2000" dirty="0">
                <a:solidFill>
                  <a:srgbClr val="404040"/>
                </a:solidFill>
                <a:latin typeface="+mn-ea"/>
              </a:rPr>
              <a:t>100</a:t>
            </a:r>
            <a:r>
              <a:rPr lang="ja-JP" altLang="en-US" sz="2000" dirty="0">
                <a:solidFill>
                  <a:srgbClr val="404040"/>
                </a:solidFill>
                <a:latin typeface="+mn-ea"/>
              </a:rPr>
              <a:t>本ノックを楽しく学習できるよう、</a:t>
            </a:r>
            <a:r>
              <a:rPr lang="en-US" altLang="ja-JP" sz="2000" dirty="0">
                <a:solidFill>
                  <a:srgbClr val="404040"/>
                </a:solidFill>
                <a:latin typeface="+mn-ea"/>
              </a:rPr>
              <a:t>canvas</a:t>
            </a:r>
            <a:r>
              <a:rPr lang="ja-JP" altLang="en-US" sz="2000" dirty="0">
                <a:solidFill>
                  <a:srgbClr val="404040"/>
                </a:solidFill>
                <a:latin typeface="+mn-ea"/>
              </a:rPr>
              <a:t>で動く簡単な</a:t>
            </a:r>
            <a:r>
              <a:rPr lang="en-US" altLang="ja-JP" sz="2000" dirty="0">
                <a:solidFill>
                  <a:srgbClr val="404040"/>
                </a:solidFill>
                <a:latin typeface="+mn-ea"/>
              </a:rPr>
              <a:t>WEB</a:t>
            </a:r>
            <a:r>
              <a:rPr lang="ja-JP" altLang="en-US" sz="2000" dirty="0">
                <a:solidFill>
                  <a:srgbClr val="404040"/>
                </a:solidFill>
                <a:latin typeface="+mn-ea"/>
              </a:rPr>
              <a:t>アプリとして作って。</a:t>
            </a:r>
          </a:p>
        </p:txBody>
      </p:sp>
    </p:spTree>
    <p:extLst>
      <p:ext uri="{BB962C8B-B14F-4D97-AF65-F5344CB8AC3E}">
        <p14:creationId xmlns:p14="http://schemas.microsoft.com/office/powerpoint/2010/main" val="3211455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F58C-7566-9D33-B84E-649CEF9FAD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F1F723-1102-928E-DF12-DDC09A255454}"/>
              </a:ext>
            </a:extLst>
          </p:cNvPr>
          <p:cNvSpPr>
            <a:spLocks noGrp="1"/>
          </p:cNvSpPr>
          <p:nvPr>
            <p:ph type="title"/>
          </p:nvPr>
        </p:nvSpPr>
        <p:spPr/>
        <p:txBody>
          <a:bodyPr>
            <a:normAutofit/>
          </a:bodyPr>
          <a:lstStyle/>
          <a:p>
            <a:r>
              <a:rPr lang="en-US" altLang="ja-JP" dirty="0">
                <a:latin typeface="+mn-ea"/>
                <a:ea typeface="+mn-ea"/>
              </a:rPr>
              <a:t>5-7. </a:t>
            </a:r>
            <a:r>
              <a:rPr lang="ja-JP" altLang="en-US" dirty="0">
                <a:latin typeface="+mn-ea"/>
                <a:ea typeface="+mn-ea"/>
              </a:rPr>
              <a:t>例②：例②：</a:t>
            </a:r>
            <a:r>
              <a:rPr lang="en-US" altLang="ja-JP" dirty="0">
                <a:latin typeface="+mn-ea"/>
                <a:ea typeface="+mn-ea"/>
              </a:rPr>
              <a:t>100</a:t>
            </a:r>
            <a:r>
              <a:rPr lang="ja-JP" altLang="en-US" dirty="0">
                <a:latin typeface="+mn-ea"/>
                <a:ea typeface="+mn-ea"/>
              </a:rPr>
              <a:t>本ノックを作ってみる </a:t>
            </a:r>
            <a:r>
              <a:rPr lang="en-US" altLang="ja-JP" dirty="0">
                <a:latin typeface="+mn-ea"/>
                <a:ea typeface="+mn-ea"/>
              </a:rPr>
              <a:t>- </a:t>
            </a:r>
            <a:r>
              <a:rPr lang="ja-JP" altLang="en-US" dirty="0">
                <a:latin typeface="+mn-ea"/>
                <a:ea typeface="+mn-ea"/>
              </a:rPr>
              <a:t>実行結果①</a:t>
            </a:r>
          </a:p>
        </p:txBody>
      </p:sp>
      <p:pic>
        <p:nvPicPr>
          <p:cNvPr id="4" name="図 3">
            <a:extLst>
              <a:ext uri="{FF2B5EF4-FFF2-40B4-BE49-F238E27FC236}">
                <a16:creationId xmlns:a16="http://schemas.microsoft.com/office/drawing/2014/main" id="{FAC1354A-1211-1C58-2E54-A811B2C594AA}"/>
              </a:ext>
            </a:extLst>
          </p:cNvPr>
          <p:cNvPicPr>
            <a:picLocks noChangeAspect="1"/>
          </p:cNvPicPr>
          <p:nvPr/>
        </p:nvPicPr>
        <p:blipFill>
          <a:blip r:embed="rId2"/>
          <a:stretch>
            <a:fillRect/>
          </a:stretch>
        </p:blipFill>
        <p:spPr>
          <a:xfrm>
            <a:off x="822497" y="1480008"/>
            <a:ext cx="8212672" cy="4233664"/>
          </a:xfrm>
          <a:prstGeom prst="rect">
            <a:avLst/>
          </a:prstGeom>
        </p:spPr>
      </p:pic>
    </p:spTree>
    <p:extLst>
      <p:ext uri="{BB962C8B-B14F-4D97-AF65-F5344CB8AC3E}">
        <p14:creationId xmlns:p14="http://schemas.microsoft.com/office/powerpoint/2010/main" val="40410416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84206-8244-5EF7-ABEC-6C65215C0E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F24379-4B95-D1C3-042B-6062FF91B3A5}"/>
              </a:ext>
            </a:extLst>
          </p:cNvPr>
          <p:cNvSpPr>
            <a:spLocks noGrp="1"/>
          </p:cNvSpPr>
          <p:nvPr>
            <p:ph type="title"/>
          </p:nvPr>
        </p:nvSpPr>
        <p:spPr/>
        <p:txBody>
          <a:bodyPr>
            <a:normAutofit/>
          </a:bodyPr>
          <a:lstStyle/>
          <a:p>
            <a:r>
              <a:rPr lang="en-US" altLang="ja-JP" dirty="0">
                <a:latin typeface="+mn-ea"/>
                <a:ea typeface="+mn-ea"/>
              </a:rPr>
              <a:t>5-8.</a:t>
            </a:r>
            <a:r>
              <a:rPr lang="ja-JP" altLang="en-US" dirty="0">
                <a:latin typeface="+mn-ea"/>
                <a:ea typeface="+mn-ea"/>
              </a:rPr>
              <a:t> 例②：</a:t>
            </a:r>
            <a:r>
              <a:rPr lang="en-US" altLang="ja-JP" dirty="0">
                <a:latin typeface="+mn-ea"/>
                <a:ea typeface="+mn-ea"/>
              </a:rPr>
              <a:t>100</a:t>
            </a:r>
            <a:r>
              <a:rPr lang="ja-JP" altLang="en-US" dirty="0">
                <a:latin typeface="+mn-ea"/>
                <a:ea typeface="+mn-ea"/>
              </a:rPr>
              <a:t>本ノックを作ってみる </a:t>
            </a:r>
            <a:r>
              <a:rPr lang="en-US" altLang="ja-JP" dirty="0">
                <a:latin typeface="+mn-ea"/>
                <a:ea typeface="+mn-ea"/>
              </a:rPr>
              <a:t>- </a:t>
            </a:r>
            <a:r>
              <a:rPr lang="ja-JP" altLang="en-US" dirty="0">
                <a:latin typeface="+mn-ea"/>
                <a:ea typeface="+mn-ea"/>
              </a:rPr>
              <a:t>実行結果②</a:t>
            </a:r>
          </a:p>
        </p:txBody>
      </p:sp>
      <p:pic>
        <p:nvPicPr>
          <p:cNvPr id="4" name="図 3">
            <a:extLst>
              <a:ext uri="{FF2B5EF4-FFF2-40B4-BE49-F238E27FC236}">
                <a16:creationId xmlns:a16="http://schemas.microsoft.com/office/drawing/2014/main" id="{0A08243F-904A-41EA-74F2-280306DD4140}"/>
              </a:ext>
            </a:extLst>
          </p:cNvPr>
          <p:cNvPicPr>
            <a:picLocks noChangeAspect="1"/>
          </p:cNvPicPr>
          <p:nvPr/>
        </p:nvPicPr>
        <p:blipFill>
          <a:blip r:embed="rId2"/>
          <a:stretch>
            <a:fillRect/>
          </a:stretch>
        </p:blipFill>
        <p:spPr>
          <a:xfrm>
            <a:off x="553719" y="1348034"/>
            <a:ext cx="8800150" cy="4450817"/>
          </a:xfrm>
          <a:prstGeom prst="rect">
            <a:avLst/>
          </a:prstGeom>
        </p:spPr>
      </p:pic>
    </p:spTree>
    <p:extLst>
      <p:ext uri="{BB962C8B-B14F-4D97-AF65-F5344CB8AC3E}">
        <p14:creationId xmlns:p14="http://schemas.microsoft.com/office/powerpoint/2010/main" val="15290053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D5A80-BFFB-55BC-D696-619A659E17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9A635C-EB0B-E909-F56D-7F35E58515CD}"/>
              </a:ext>
            </a:extLst>
          </p:cNvPr>
          <p:cNvSpPr>
            <a:spLocks noGrp="1"/>
          </p:cNvSpPr>
          <p:nvPr>
            <p:ph type="title"/>
          </p:nvPr>
        </p:nvSpPr>
        <p:spPr/>
        <p:txBody>
          <a:bodyPr>
            <a:normAutofit/>
          </a:bodyPr>
          <a:lstStyle/>
          <a:p>
            <a:r>
              <a:rPr lang="en-US" altLang="ja-JP" dirty="0">
                <a:latin typeface="+mn-ea"/>
                <a:ea typeface="+mn-ea"/>
              </a:rPr>
              <a:t>5-9.</a:t>
            </a:r>
            <a:r>
              <a:rPr lang="ja-JP" altLang="en-US" dirty="0">
                <a:latin typeface="+mn-ea"/>
                <a:ea typeface="+mn-ea"/>
              </a:rPr>
              <a:t> 例②：</a:t>
            </a:r>
            <a:r>
              <a:rPr lang="en-US" altLang="ja-JP" dirty="0">
                <a:latin typeface="+mn-ea"/>
                <a:ea typeface="+mn-ea"/>
              </a:rPr>
              <a:t>100</a:t>
            </a:r>
            <a:r>
              <a:rPr lang="ja-JP" altLang="en-US" dirty="0">
                <a:latin typeface="+mn-ea"/>
                <a:ea typeface="+mn-ea"/>
              </a:rPr>
              <a:t>本ノックを作ってみる </a:t>
            </a:r>
            <a:r>
              <a:rPr lang="en-US" altLang="ja-JP" dirty="0">
                <a:latin typeface="+mn-ea"/>
                <a:ea typeface="+mn-ea"/>
              </a:rPr>
              <a:t>- </a:t>
            </a:r>
            <a:r>
              <a:rPr lang="ja-JP" altLang="en-US" dirty="0">
                <a:latin typeface="+mn-ea"/>
                <a:ea typeface="+mn-ea"/>
              </a:rPr>
              <a:t>実行結果③</a:t>
            </a:r>
          </a:p>
        </p:txBody>
      </p:sp>
      <p:pic>
        <p:nvPicPr>
          <p:cNvPr id="5" name="図 4">
            <a:extLst>
              <a:ext uri="{FF2B5EF4-FFF2-40B4-BE49-F238E27FC236}">
                <a16:creationId xmlns:a16="http://schemas.microsoft.com/office/drawing/2014/main" id="{6767EBAB-31AD-321D-9D48-D5B97A2CDE71}"/>
              </a:ext>
            </a:extLst>
          </p:cNvPr>
          <p:cNvPicPr>
            <a:picLocks noChangeAspect="1"/>
          </p:cNvPicPr>
          <p:nvPr/>
        </p:nvPicPr>
        <p:blipFill>
          <a:blip r:embed="rId2"/>
          <a:stretch>
            <a:fillRect/>
          </a:stretch>
        </p:blipFill>
        <p:spPr>
          <a:xfrm>
            <a:off x="478818" y="1498862"/>
            <a:ext cx="8949952" cy="4524097"/>
          </a:xfrm>
          <a:prstGeom prst="rect">
            <a:avLst/>
          </a:prstGeom>
        </p:spPr>
      </p:pic>
    </p:spTree>
    <p:extLst>
      <p:ext uri="{BB962C8B-B14F-4D97-AF65-F5344CB8AC3E}">
        <p14:creationId xmlns:p14="http://schemas.microsoft.com/office/powerpoint/2010/main" val="3165845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CE195-7CE7-0D74-C676-332155DF89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959AA7-5799-0403-F9C1-0BFE957DBD3C}"/>
              </a:ext>
            </a:extLst>
          </p:cNvPr>
          <p:cNvSpPr>
            <a:spLocks noGrp="1"/>
          </p:cNvSpPr>
          <p:nvPr>
            <p:ph type="title"/>
          </p:nvPr>
        </p:nvSpPr>
        <p:spPr/>
        <p:txBody>
          <a:bodyPr>
            <a:normAutofit/>
          </a:bodyPr>
          <a:lstStyle/>
          <a:p>
            <a:r>
              <a:rPr lang="en-US" altLang="ja-JP" dirty="0">
                <a:latin typeface="+mn-ea"/>
                <a:ea typeface="+mn-ea"/>
              </a:rPr>
              <a:t>5-10. ChatGPT </a:t>
            </a:r>
            <a:r>
              <a:rPr lang="ja-JP" altLang="en-US" dirty="0">
                <a:latin typeface="+mn-ea"/>
                <a:ea typeface="+mn-ea"/>
              </a:rPr>
              <a:t>まとめ</a:t>
            </a:r>
          </a:p>
        </p:txBody>
      </p:sp>
      <p:sp>
        <p:nvSpPr>
          <p:cNvPr id="4" name="Text 8">
            <a:extLst>
              <a:ext uri="{FF2B5EF4-FFF2-40B4-BE49-F238E27FC236}">
                <a16:creationId xmlns:a16="http://schemas.microsoft.com/office/drawing/2014/main" id="{D1CC06D1-9AC6-185F-A2D5-B9F20698F270}"/>
              </a:ext>
            </a:extLst>
          </p:cNvPr>
          <p:cNvSpPr txBox="1"/>
          <p:nvPr/>
        </p:nvSpPr>
        <p:spPr>
          <a:xfrm>
            <a:off x="457995" y="1047902"/>
            <a:ext cx="9298847" cy="228600"/>
          </a:xfrm>
          <a:prstGeom prst="rect">
            <a:avLst/>
          </a:prstGeom>
          <a:noFill/>
          <a:ln/>
        </p:spPr>
        <p:txBody>
          <a:bodyPr wrap="none" lIns="0" tIns="0" rIns="0" bIns="0" rtlCol="0" anchor="t"/>
          <a:lstStyle/>
          <a:p>
            <a:pPr defTabSz="925880"/>
            <a:r>
              <a:rPr lang="en-US" altLang="ja-JP" sz="2000" dirty="0">
                <a:solidFill>
                  <a:srgbClr val="404040"/>
                </a:solidFill>
                <a:latin typeface="+mn-ea"/>
              </a:rPr>
              <a:t>ChatGPT </a:t>
            </a:r>
            <a:r>
              <a:rPr lang="ja-JP" altLang="en-US" sz="2000" dirty="0">
                <a:solidFill>
                  <a:srgbClr val="404040"/>
                </a:solidFill>
                <a:latin typeface="+mn-ea"/>
              </a:rPr>
              <a:t>は、調べものを行うだけでなく、様々な用途で利用することができます。</a:t>
            </a:r>
          </a:p>
          <a:p>
            <a:pPr defTabSz="925880"/>
            <a:r>
              <a:rPr lang="ja-JP" altLang="en-US" sz="2000" dirty="0">
                <a:solidFill>
                  <a:srgbClr val="404040"/>
                </a:solidFill>
                <a:latin typeface="+mn-ea"/>
              </a:rPr>
              <a:t>本日紹介したのは一例ですので、ぜひみなさんも、自分なりの使い方を開拓してみてください。</a:t>
            </a:r>
          </a:p>
        </p:txBody>
      </p:sp>
    </p:spTree>
    <p:extLst>
      <p:ext uri="{BB962C8B-B14F-4D97-AF65-F5344CB8AC3E}">
        <p14:creationId xmlns:p14="http://schemas.microsoft.com/office/powerpoint/2010/main" val="1449294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pPr defTabSz="457166"/>
            <a:r>
              <a:rPr lang="en-US" altLang="ja-JP" spc="150" dirty="0">
                <a:solidFill>
                  <a:schemeClr val="accent2"/>
                </a:solidFill>
              </a:rPr>
              <a:t>06</a:t>
            </a:r>
            <a:endParaRPr lang="ja-JP" altLang="en-US" spc="150" dirty="0">
              <a:solidFill>
                <a:schemeClr val="accent2"/>
              </a:solidFill>
            </a:endParaRPr>
          </a:p>
        </p:txBody>
      </p:sp>
      <p:sp>
        <p:nvSpPr>
          <p:cNvPr id="6" name="テキスト プレースホルダー 5"/>
          <p:cNvSpPr>
            <a:spLocks noGrp="1"/>
          </p:cNvSpPr>
          <p:nvPr>
            <p:ph type="body" sz="quarter" idx="16"/>
          </p:nvPr>
        </p:nvSpPr>
        <p:spPr/>
        <p:txBody>
          <a:bodyPr/>
          <a:lstStyle/>
          <a:p>
            <a:r>
              <a:rPr lang="ja-JP" altLang="en-US" dirty="0">
                <a:latin typeface="+mj-ea"/>
                <a:ea typeface="+mj-ea"/>
              </a:rPr>
              <a:t>ハンズオン</a:t>
            </a:r>
            <a:br>
              <a:rPr lang="en-US" altLang="ja-JP" dirty="0">
                <a:latin typeface="+mj-ea"/>
                <a:ea typeface="+mj-ea"/>
              </a:rPr>
            </a:br>
            <a:r>
              <a:rPr lang="ja-JP" altLang="en-US" dirty="0">
                <a:latin typeface="+mj-ea"/>
                <a:ea typeface="+mj-ea"/>
              </a:rPr>
              <a:t>（</a:t>
            </a:r>
            <a:r>
              <a:rPr lang="en-US" altLang="ja-JP" dirty="0">
                <a:latin typeface="+mj-ea"/>
                <a:ea typeface="+mj-ea"/>
              </a:rPr>
              <a:t>GitHub Copilot</a:t>
            </a:r>
            <a:r>
              <a:rPr lang="ja-JP" altLang="en-US" dirty="0">
                <a:latin typeface="+mj-ea"/>
                <a:ea typeface="+mj-ea"/>
              </a:rPr>
              <a:t>）</a:t>
            </a:r>
          </a:p>
        </p:txBody>
      </p:sp>
    </p:spTree>
    <p:extLst>
      <p:ext uri="{BB962C8B-B14F-4D97-AF65-F5344CB8AC3E}">
        <p14:creationId xmlns:p14="http://schemas.microsoft.com/office/powerpoint/2010/main" val="1957700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A54C-2EE6-9A91-D7ED-DE77B86872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FC2312-3861-783E-0048-5A137F62E0BB}"/>
              </a:ext>
            </a:extLst>
          </p:cNvPr>
          <p:cNvSpPr>
            <a:spLocks noGrp="1"/>
          </p:cNvSpPr>
          <p:nvPr>
            <p:ph type="title"/>
          </p:nvPr>
        </p:nvSpPr>
        <p:spPr/>
        <p:txBody>
          <a:bodyPr>
            <a:normAutofit/>
          </a:bodyPr>
          <a:lstStyle/>
          <a:p>
            <a:r>
              <a:rPr lang="en-US" altLang="ja-JP" dirty="0">
                <a:latin typeface="+mn-ea"/>
                <a:ea typeface="+mn-ea"/>
              </a:rPr>
              <a:t>6-1.</a:t>
            </a:r>
            <a:r>
              <a:rPr lang="ja-JP" altLang="en-US" dirty="0">
                <a:latin typeface="+mn-ea"/>
                <a:ea typeface="+mn-ea"/>
              </a:rPr>
              <a:t> </a:t>
            </a:r>
            <a:r>
              <a:rPr lang="en-US" altLang="ja-JP" dirty="0">
                <a:latin typeface="+mn-ea"/>
                <a:ea typeface="+mn-ea"/>
              </a:rPr>
              <a:t>Visual Studio Code </a:t>
            </a:r>
            <a:r>
              <a:rPr lang="ja-JP" altLang="en-US" dirty="0">
                <a:latin typeface="+mn-ea"/>
                <a:ea typeface="+mn-ea"/>
              </a:rPr>
              <a:t>を開く</a:t>
            </a:r>
          </a:p>
        </p:txBody>
      </p:sp>
      <p:pic>
        <p:nvPicPr>
          <p:cNvPr id="4" name="図 3">
            <a:extLst>
              <a:ext uri="{FF2B5EF4-FFF2-40B4-BE49-F238E27FC236}">
                <a16:creationId xmlns:a16="http://schemas.microsoft.com/office/drawing/2014/main" id="{55D98C09-22D2-DD90-7BB9-B4504AC05C05}"/>
              </a:ext>
            </a:extLst>
          </p:cNvPr>
          <p:cNvPicPr>
            <a:picLocks noChangeAspect="1"/>
          </p:cNvPicPr>
          <p:nvPr/>
        </p:nvPicPr>
        <p:blipFill>
          <a:blip r:embed="rId2"/>
          <a:stretch>
            <a:fillRect/>
          </a:stretch>
        </p:blipFill>
        <p:spPr>
          <a:xfrm>
            <a:off x="915489" y="1070836"/>
            <a:ext cx="8074661" cy="5367315"/>
          </a:xfrm>
          <a:prstGeom prst="rect">
            <a:avLst/>
          </a:prstGeom>
        </p:spPr>
      </p:pic>
      <p:sp>
        <p:nvSpPr>
          <p:cNvPr id="6" name="正方形/長方形 5">
            <a:extLst>
              <a:ext uri="{FF2B5EF4-FFF2-40B4-BE49-F238E27FC236}">
                <a16:creationId xmlns:a16="http://schemas.microsoft.com/office/drawing/2014/main" id="{BA42FE47-0D56-F2CA-4F21-ACAA7795208C}"/>
              </a:ext>
            </a:extLst>
          </p:cNvPr>
          <p:cNvSpPr/>
          <p:nvPr/>
        </p:nvSpPr>
        <p:spPr>
          <a:xfrm>
            <a:off x="8028877" y="6193262"/>
            <a:ext cx="584200" cy="329938"/>
          </a:xfrm>
          <a:prstGeom prst="rect">
            <a:avLst/>
          </a:prstGeom>
          <a:noFill/>
          <a:ln w="76200">
            <a:solidFill>
              <a:srgbClr val="FF0000"/>
            </a:solidFill>
          </a:ln>
        </p:spPr>
        <p:txBody>
          <a:bodyPr rtlCol="0" anchor="ctr">
            <a:noAutofit/>
          </a:bodyPr>
          <a:lstStyle/>
          <a:p>
            <a:pPr algn="ctr" defTabSz="925880"/>
            <a:endParaRPr lang="ja-JP" altLang="en-US" sz="4000" dirty="0">
              <a:solidFill>
                <a:srgbClr val="1F497D"/>
              </a:solidFill>
              <a:latin typeface="+mn-ea"/>
              <a:cs typeface="ＭＳ Ｐゴシック" panose="020B0600070205080204" pitchFamily="50" charset="-128"/>
            </a:endParaRPr>
          </a:p>
        </p:txBody>
      </p:sp>
      <p:sp>
        <p:nvSpPr>
          <p:cNvPr id="8" name="吹き出し: 角を丸めた四角形 7">
            <a:extLst>
              <a:ext uri="{FF2B5EF4-FFF2-40B4-BE49-F238E27FC236}">
                <a16:creationId xmlns:a16="http://schemas.microsoft.com/office/drawing/2014/main" id="{0E1F4F68-F446-8AA6-B04E-92A56E81E6E5}"/>
              </a:ext>
            </a:extLst>
          </p:cNvPr>
          <p:cNvSpPr/>
          <p:nvPr/>
        </p:nvSpPr>
        <p:spPr>
          <a:xfrm>
            <a:off x="5343100" y="4459810"/>
            <a:ext cx="3731570" cy="1257300"/>
          </a:xfrm>
          <a:prstGeom prst="wedgeRoundRectCallout">
            <a:avLst>
              <a:gd name="adj1" fmla="val 28672"/>
              <a:gd name="adj2" fmla="val 85806"/>
              <a:gd name="adj3" fmla="val 16667"/>
            </a:avLst>
          </a:prstGeom>
          <a:solidFill>
            <a:schemeClr val="accent4"/>
          </a:solidFill>
          <a:ln w="3175">
            <a:solidFill>
              <a:schemeClr val="tx1"/>
            </a:solidFill>
          </a:ln>
        </p:spPr>
        <p:txBody>
          <a:bodyPr rtlCol="0" anchor="ctr">
            <a:noAutofit/>
          </a:bodyPr>
          <a:lstStyle/>
          <a:p>
            <a:pPr algn="ctr" defTabSz="925880"/>
            <a:r>
              <a:rPr lang="en-US" altLang="ja-JP" sz="2000" dirty="0">
                <a:solidFill>
                  <a:srgbClr val="1F497D"/>
                </a:solidFill>
                <a:latin typeface="+mn-ea"/>
                <a:cs typeface="ＭＳ Ｐゴシック" panose="020B0600070205080204" pitchFamily="50" charset="-128"/>
              </a:rPr>
              <a:t>GitHub copilot </a:t>
            </a:r>
            <a:r>
              <a:rPr lang="ja-JP" altLang="en-US" sz="2000" dirty="0">
                <a:solidFill>
                  <a:srgbClr val="1F497D"/>
                </a:solidFill>
                <a:latin typeface="+mn-ea"/>
                <a:cs typeface="ＭＳ Ｐゴシック" panose="020B0600070205080204" pitchFamily="50" charset="-128"/>
              </a:rPr>
              <a:t>が動作している</a:t>
            </a:r>
          </a:p>
        </p:txBody>
      </p:sp>
    </p:spTree>
    <p:extLst>
      <p:ext uri="{BB962C8B-B14F-4D97-AF65-F5344CB8AC3E}">
        <p14:creationId xmlns:p14="http://schemas.microsoft.com/office/powerpoint/2010/main" val="3786697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4D28-6DED-3BE6-D129-28E87625DA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0064D2-930C-AE5E-87D8-21965E849122}"/>
              </a:ext>
            </a:extLst>
          </p:cNvPr>
          <p:cNvSpPr>
            <a:spLocks noGrp="1"/>
          </p:cNvSpPr>
          <p:nvPr>
            <p:ph type="title"/>
          </p:nvPr>
        </p:nvSpPr>
        <p:spPr/>
        <p:txBody>
          <a:bodyPr>
            <a:normAutofit/>
          </a:bodyPr>
          <a:lstStyle/>
          <a:p>
            <a:r>
              <a:rPr lang="en-US" altLang="ja-JP" dirty="0">
                <a:latin typeface="+mn-ea"/>
                <a:ea typeface="+mn-ea"/>
              </a:rPr>
              <a:t>6-2.</a:t>
            </a:r>
            <a:r>
              <a:rPr lang="ja-JP" altLang="en-US" dirty="0">
                <a:latin typeface="+mn-ea"/>
                <a:ea typeface="+mn-ea"/>
              </a:rPr>
              <a:t> コード補完機能</a:t>
            </a:r>
          </a:p>
        </p:txBody>
      </p:sp>
      <p:sp>
        <p:nvSpPr>
          <p:cNvPr id="5" name="テキスト プレースホルダー 2">
            <a:extLst>
              <a:ext uri="{FF2B5EF4-FFF2-40B4-BE49-F238E27FC236}">
                <a16:creationId xmlns:a16="http://schemas.microsoft.com/office/drawing/2014/main" id="{D61AD23E-91A9-A302-48FA-C933CAE690C3}"/>
              </a:ext>
            </a:extLst>
          </p:cNvPr>
          <p:cNvSpPr txBox="1">
            <a:spLocks/>
          </p:cNvSpPr>
          <p:nvPr/>
        </p:nvSpPr>
        <p:spPr>
          <a:xfrm>
            <a:off x="6175108" y="5499158"/>
            <a:ext cx="2702760" cy="28385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defRPr/>
            </a:pPr>
            <a:r>
              <a:rPr lang="ja-JP" altLang="en-US" dirty="0">
                <a:solidFill>
                  <a:prstClr val="black"/>
                </a:solidFill>
                <a:latin typeface="+mn-ea"/>
                <a:ea typeface="+mn-ea"/>
              </a:rPr>
              <a:t>コメントからソースコードを生成する例</a:t>
            </a:r>
            <a:endParaRPr lang="en-US" altLang="ja-JP" dirty="0">
              <a:solidFill>
                <a:prstClr val="black"/>
              </a:solidFill>
              <a:latin typeface="+mn-ea"/>
              <a:ea typeface="+mn-ea"/>
            </a:endParaRPr>
          </a:p>
        </p:txBody>
      </p:sp>
      <p:pic>
        <p:nvPicPr>
          <p:cNvPr id="9" name="図 8">
            <a:extLst>
              <a:ext uri="{FF2B5EF4-FFF2-40B4-BE49-F238E27FC236}">
                <a16:creationId xmlns:a16="http://schemas.microsoft.com/office/drawing/2014/main" id="{D1EC34BA-8043-8F90-D0AD-856E7CA84743}"/>
              </a:ext>
            </a:extLst>
          </p:cNvPr>
          <p:cNvPicPr>
            <a:picLocks noChangeAspect="1"/>
          </p:cNvPicPr>
          <p:nvPr/>
        </p:nvPicPr>
        <p:blipFill>
          <a:blip r:embed="rId2"/>
          <a:stretch>
            <a:fillRect/>
          </a:stretch>
        </p:blipFill>
        <p:spPr>
          <a:xfrm>
            <a:off x="5635535" y="1399755"/>
            <a:ext cx="3968034" cy="4058491"/>
          </a:xfrm>
          <a:prstGeom prst="rect">
            <a:avLst/>
          </a:prstGeom>
        </p:spPr>
      </p:pic>
      <p:sp>
        <p:nvSpPr>
          <p:cNvPr id="11" name="正方形/長方形 10">
            <a:extLst>
              <a:ext uri="{FF2B5EF4-FFF2-40B4-BE49-F238E27FC236}">
                <a16:creationId xmlns:a16="http://schemas.microsoft.com/office/drawing/2014/main" id="{30959389-B6EC-09B2-EE81-F11A134376F2}"/>
              </a:ext>
            </a:extLst>
          </p:cNvPr>
          <p:cNvSpPr/>
          <p:nvPr/>
        </p:nvSpPr>
        <p:spPr>
          <a:xfrm>
            <a:off x="5684521" y="1945805"/>
            <a:ext cx="3898909" cy="34879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ja-JP" altLang="en-US">
              <a:solidFill>
                <a:prstClr val="white"/>
              </a:solidFill>
              <a:latin typeface="+mn-ea"/>
            </a:endParaRPr>
          </a:p>
        </p:txBody>
      </p:sp>
      <p:sp>
        <p:nvSpPr>
          <p:cNvPr id="13" name="Text 8">
            <a:extLst>
              <a:ext uri="{FF2B5EF4-FFF2-40B4-BE49-F238E27FC236}">
                <a16:creationId xmlns:a16="http://schemas.microsoft.com/office/drawing/2014/main" id="{0A02F363-1205-08C6-DFCC-4E457E453667}"/>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■ソースコードの提案</a:t>
            </a:r>
          </a:p>
          <a:p>
            <a:pPr defTabSz="925880"/>
            <a:endParaRPr lang="en-US" altLang="ja-JP" sz="2000" dirty="0">
              <a:solidFill>
                <a:srgbClr val="404040"/>
              </a:solidFill>
              <a:latin typeface="+mn-ea"/>
            </a:endParaRPr>
          </a:p>
          <a:p>
            <a:pPr defTabSz="925880"/>
            <a:r>
              <a:rPr lang="ja-JP" altLang="en-US" sz="2000" dirty="0">
                <a:solidFill>
                  <a:srgbClr val="404040"/>
                </a:solidFill>
                <a:latin typeface="+mn-ea"/>
              </a:rPr>
              <a:t>　</a:t>
            </a:r>
            <a:r>
              <a:rPr lang="en-US" altLang="ja-JP" sz="2000" dirty="0">
                <a:solidFill>
                  <a:srgbClr val="404040"/>
                </a:solidFill>
                <a:latin typeface="+mn-ea"/>
              </a:rPr>
              <a:t>GitHub Copilot</a:t>
            </a:r>
            <a:r>
              <a:rPr lang="ja-JP" altLang="en-US" sz="2000" dirty="0">
                <a:solidFill>
                  <a:srgbClr val="404040"/>
                </a:solidFill>
                <a:latin typeface="+mn-ea"/>
              </a:rPr>
              <a:t>にはユーザが書こうとする</a:t>
            </a:r>
            <a:endParaRPr lang="en-US" altLang="ja-JP" sz="2000" dirty="0">
              <a:solidFill>
                <a:srgbClr val="404040"/>
              </a:solidFill>
              <a:latin typeface="+mn-ea"/>
            </a:endParaRPr>
          </a:p>
          <a:p>
            <a:pPr defTabSz="925880"/>
            <a:r>
              <a:rPr lang="ja-JP" altLang="en-US" sz="2000" dirty="0">
                <a:solidFill>
                  <a:srgbClr val="404040"/>
                </a:solidFill>
                <a:latin typeface="+mn-ea"/>
              </a:rPr>
              <a:t>　ソースコードを自動で補完する機能がある。</a:t>
            </a:r>
          </a:p>
          <a:p>
            <a:pPr defTabSz="925880"/>
            <a:endParaRPr lang="en-US" altLang="ja-JP" sz="2000" dirty="0">
              <a:solidFill>
                <a:srgbClr val="404040"/>
              </a:solidFill>
              <a:latin typeface="+mn-ea"/>
            </a:endParaRPr>
          </a:p>
          <a:p>
            <a:pPr defTabSz="925880"/>
            <a:r>
              <a:rPr lang="ja-JP" altLang="en-US" sz="2000" dirty="0">
                <a:solidFill>
                  <a:srgbClr val="404040"/>
                </a:solidFill>
                <a:latin typeface="+mn-ea"/>
              </a:rPr>
              <a:t>　・ コメントや関数の宣言を記載するだけで</a:t>
            </a:r>
            <a:endParaRPr lang="en-US" altLang="ja-JP" sz="2000" dirty="0">
              <a:solidFill>
                <a:srgbClr val="404040"/>
              </a:solidFill>
              <a:latin typeface="+mn-ea"/>
            </a:endParaRPr>
          </a:p>
          <a:p>
            <a:pPr defTabSz="925880"/>
            <a:r>
              <a:rPr lang="ja-JP" altLang="en-US" sz="2000" dirty="0">
                <a:solidFill>
                  <a:srgbClr val="404040"/>
                </a:solidFill>
                <a:latin typeface="+mn-ea"/>
              </a:rPr>
              <a:t>　　記載に合ったソースコードを提案してくれる。</a:t>
            </a:r>
          </a:p>
          <a:p>
            <a:pPr defTabSz="925880"/>
            <a:endParaRPr lang="en-US" altLang="ja-JP" sz="2000" dirty="0">
              <a:solidFill>
                <a:srgbClr val="404040"/>
              </a:solidFill>
              <a:latin typeface="+mn-ea"/>
            </a:endParaRPr>
          </a:p>
          <a:p>
            <a:pPr defTabSz="925880"/>
            <a:r>
              <a:rPr lang="ja-JP" altLang="en-US" sz="2000" dirty="0">
                <a:solidFill>
                  <a:srgbClr val="404040"/>
                </a:solidFill>
                <a:latin typeface="+mn-ea"/>
              </a:rPr>
              <a:t>  ・ 途中まで書いたソースコードから続きの</a:t>
            </a:r>
            <a:endParaRPr lang="en-US" altLang="ja-JP" sz="2000" dirty="0">
              <a:solidFill>
                <a:srgbClr val="404040"/>
              </a:solidFill>
              <a:latin typeface="+mn-ea"/>
            </a:endParaRPr>
          </a:p>
          <a:p>
            <a:pPr defTabSz="925880"/>
            <a:r>
              <a:rPr lang="ja-JP" altLang="en-US" sz="2000" dirty="0">
                <a:solidFill>
                  <a:srgbClr val="404040"/>
                </a:solidFill>
                <a:latin typeface="+mn-ea"/>
              </a:rPr>
              <a:t>　　 ソースコードを提案してもらうことも可能。</a:t>
            </a:r>
          </a:p>
        </p:txBody>
      </p:sp>
    </p:spTree>
    <p:extLst>
      <p:ext uri="{BB962C8B-B14F-4D97-AF65-F5344CB8AC3E}">
        <p14:creationId xmlns:p14="http://schemas.microsoft.com/office/powerpoint/2010/main" val="30811229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246-076A-6AB8-1EBB-3370DE786F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7BA8D1-48E1-15DE-A9CC-DC314A11BFE7}"/>
              </a:ext>
            </a:extLst>
          </p:cNvPr>
          <p:cNvSpPr>
            <a:spLocks noGrp="1"/>
          </p:cNvSpPr>
          <p:nvPr>
            <p:ph type="title"/>
          </p:nvPr>
        </p:nvSpPr>
        <p:spPr/>
        <p:txBody>
          <a:bodyPr>
            <a:normAutofit/>
          </a:bodyPr>
          <a:lstStyle/>
          <a:p>
            <a:r>
              <a:rPr lang="en-US" altLang="ja-JP" dirty="0">
                <a:latin typeface="+mn-ea"/>
                <a:ea typeface="+mn-ea"/>
              </a:rPr>
              <a:t>6-3.</a:t>
            </a:r>
            <a:r>
              <a:rPr lang="ja-JP" altLang="en-US" dirty="0">
                <a:latin typeface="+mn-ea"/>
                <a:ea typeface="+mn-ea"/>
              </a:rPr>
              <a:t> チャット機能</a:t>
            </a:r>
          </a:p>
        </p:txBody>
      </p:sp>
      <p:sp>
        <p:nvSpPr>
          <p:cNvPr id="13" name="Text 8">
            <a:extLst>
              <a:ext uri="{FF2B5EF4-FFF2-40B4-BE49-F238E27FC236}">
                <a16:creationId xmlns:a16="http://schemas.microsoft.com/office/drawing/2014/main" id="{85B9C9AD-2CEB-9A5B-A4DE-CAC73350414D}"/>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■チャットモード</a:t>
            </a:r>
          </a:p>
          <a:p>
            <a:pPr defTabSz="925880"/>
            <a:r>
              <a:rPr lang="ja-JP" altLang="en-US" sz="2000" dirty="0">
                <a:solidFill>
                  <a:srgbClr val="404040"/>
                </a:solidFill>
                <a:latin typeface="+mn-ea"/>
              </a:rPr>
              <a:t>　</a:t>
            </a:r>
            <a:r>
              <a:rPr lang="en-US" altLang="ja-JP" sz="2000" dirty="0">
                <a:solidFill>
                  <a:srgbClr val="404040"/>
                </a:solidFill>
                <a:latin typeface="+mn-ea"/>
              </a:rPr>
              <a:t>GitHub Copilot</a:t>
            </a:r>
            <a:r>
              <a:rPr lang="ja-JP" altLang="en-US" sz="2000" dirty="0">
                <a:solidFill>
                  <a:srgbClr val="404040"/>
                </a:solidFill>
                <a:latin typeface="+mn-ea"/>
              </a:rPr>
              <a:t>には</a:t>
            </a:r>
            <a:r>
              <a:rPr lang="en-US" altLang="ja-JP" sz="2000" dirty="0">
                <a:solidFill>
                  <a:srgbClr val="404040"/>
                </a:solidFill>
                <a:latin typeface="+mn-ea"/>
              </a:rPr>
              <a:t>4</a:t>
            </a:r>
            <a:r>
              <a:rPr lang="ja-JP" altLang="en-US" sz="2000" dirty="0">
                <a:solidFill>
                  <a:srgbClr val="404040"/>
                </a:solidFill>
                <a:latin typeface="+mn-ea"/>
              </a:rPr>
              <a:t>つエージェント設定があり、それぞれ以下のとおり使い分けを行う。</a:t>
            </a:r>
          </a:p>
          <a:p>
            <a:pPr defTabSz="925880"/>
            <a:endParaRPr lang="ja-JP" altLang="en-US" sz="2000" dirty="0">
              <a:solidFill>
                <a:srgbClr val="404040"/>
              </a:solidFill>
              <a:latin typeface="+mn-ea"/>
            </a:endParaRPr>
          </a:p>
        </p:txBody>
      </p:sp>
      <p:graphicFrame>
        <p:nvGraphicFramePr>
          <p:cNvPr id="4" name="表 3">
            <a:extLst>
              <a:ext uri="{FF2B5EF4-FFF2-40B4-BE49-F238E27FC236}">
                <a16:creationId xmlns:a16="http://schemas.microsoft.com/office/drawing/2014/main" id="{C9229932-6F11-33E8-E476-3AFDCC204124}"/>
              </a:ext>
            </a:extLst>
          </p:cNvPr>
          <p:cNvGraphicFramePr>
            <a:graphicFrameLocks noGrp="1"/>
          </p:cNvGraphicFramePr>
          <p:nvPr>
            <p:extLst>
              <p:ext uri="{D42A27DB-BD31-4B8C-83A1-F6EECF244321}">
                <p14:modId xmlns:p14="http://schemas.microsoft.com/office/powerpoint/2010/main" val="647261020"/>
              </p:ext>
            </p:extLst>
          </p:nvPr>
        </p:nvGraphicFramePr>
        <p:xfrm>
          <a:off x="381432" y="2244294"/>
          <a:ext cx="9294828" cy="3803192"/>
        </p:xfrm>
        <a:graphic>
          <a:graphicData uri="http://schemas.openxmlformats.org/drawingml/2006/table">
            <a:tbl>
              <a:tblPr firstRow="1" bandRow="1">
                <a:tableStyleId>{5C22544A-7EE6-4342-B048-85BDC9FD1C3A}</a:tableStyleId>
              </a:tblPr>
              <a:tblGrid>
                <a:gridCol w="580733">
                  <a:extLst>
                    <a:ext uri="{9D8B030D-6E8A-4147-A177-3AD203B41FA5}">
                      <a16:colId xmlns:a16="http://schemas.microsoft.com/office/drawing/2014/main" val="2685506249"/>
                    </a:ext>
                  </a:extLst>
                </a:gridCol>
                <a:gridCol w="873457">
                  <a:extLst>
                    <a:ext uri="{9D8B030D-6E8A-4147-A177-3AD203B41FA5}">
                      <a16:colId xmlns:a16="http://schemas.microsoft.com/office/drawing/2014/main" val="2119717142"/>
                    </a:ext>
                  </a:extLst>
                </a:gridCol>
                <a:gridCol w="3022979">
                  <a:extLst>
                    <a:ext uri="{9D8B030D-6E8A-4147-A177-3AD203B41FA5}">
                      <a16:colId xmlns:a16="http://schemas.microsoft.com/office/drawing/2014/main" val="3120822675"/>
                    </a:ext>
                  </a:extLst>
                </a:gridCol>
                <a:gridCol w="4817659">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800" b="1" kern="1200" dirty="0">
                          <a:solidFill>
                            <a:schemeClr val="bg1"/>
                          </a:solidFill>
                        </a:rPr>
                        <a:t>No.</a:t>
                      </a:r>
                      <a:endParaRPr kumimoji="1" lang="ja-JP" altLang="en-US" sz="18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rPr>
                        <a:t>１</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67253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Tree>
    <p:extLst>
      <p:ext uri="{BB962C8B-B14F-4D97-AF65-F5344CB8AC3E}">
        <p14:creationId xmlns:p14="http://schemas.microsoft.com/office/powerpoint/2010/main" val="127572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B13D2-BD7E-52FF-4D57-FAA9F1A387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4BD2D5-96DA-0443-8B29-9DC99AA29FC7}"/>
              </a:ext>
            </a:extLst>
          </p:cNvPr>
          <p:cNvSpPr>
            <a:spLocks noGrp="1"/>
          </p:cNvSpPr>
          <p:nvPr>
            <p:ph type="title"/>
          </p:nvPr>
        </p:nvSpPr>
        <p:spPr/>
        <p:txBody>
          <a:bodyPr>
            <a:normAutofit/>
          </a:bodyPr>
          <a:lstStyle/>
          <a:p>
            <a:r>
              <a:rPr lang="en-US" altLang="ja-JP" dirty="0">
                <a:latin typeface="+mn-ea"/>
                <a:ea typeface="+mn-ea"/>
              </a:rPr>
              <a:t>6-4.</a:t>
            </a:r>
            <a:r>
              <a:rPr lang="ja-JP" altLang="en-US" dirty="0">
                <a:latin typeface="+mn-ea"/>
                <a:ea typeface="+mn-ea"/>
              </a:rPr>
              <a:t> チャット機能 </a:t>
            </a:r>
            <a:r>
              <a:rPr lang="en-US" altLang="ja-JP" dirty="0">
                <a:latin typeface="+mn-ea"/>
                <a:ea typeface="+mn-ea"/>
              </a:rPr>
              <a:t>– </a:t>
            </a:r>
            <a:r>
              <a:rPr lang="ja-JP" altLang="en-US" dirty="0">
                <a:latin typeface="+mn-ea"/>
                <a:ea typeface="+mn-ea"/>
              </a:rPr>
              <a:t>コマンド</a:t>
            </a:r>
          </a:p>
        </p:txBody>
      </p:sp>
      <p:sp>
        <p:nvSpPr>
          <p:cNvPr id="13" name="Text 8">
            <a:extLst>
              <a:ext uri="{FF2B5EF4-FFF2-40B4-BE49-F238E27FC236}">
                <a16:creationId xmlns:a16="http://schemas.microsoft.com/office/drawing/2014/main" id="{CA252860-DCE2-0C12-A7AA-0866B9D1099E}"/>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■コマンド機能</a:t>
            </a:r>
          </a:p>
          <a:p>
            <a:pPr defTabSz="925880"/>
            <a:r>
              <a:rPr lang="ja-JP" altLang="en-US" sz="2000" dirty="0">
                <a:solidFill>
                  <a:srgbClr val="404040"/>
                </a:solidFill>
                <a:latin typeface="+mn-ea"/>
              </a:rPr>
              <a:t>　チャット内ではコマンドを使用することで特定の指示を出すこともできる。</a:t>
            </a:r>
          </a:p>
          <a:p>
            <a:pPr defTabSz="925880"/>
            <a:endParaRPr lang="ja-JP" altLang="en-US" sz="2000" dirty="0">
              <a:solidFill>
                <a:srgbClr val="404040"/>
              </a:solidFill>
              <a:latin typeface="+mn-ea"/>
            </a:endParaRPr>
          </a:p>
          <a:p>
            <a:pPr defTabSz="925880"/>
            <a:r>
              <a:rPr lang="ja-JP" altLang="en-US" sz="2000" dirty="0">
                <a:solidFill>
                  <a:srgbClr val="404040"/>
                </a:solidFill>
                <a:latin typeface="+mn-ea"/>
              </a:rPr>
              <a:t>　基本的なコマンドは以下のとおり。</a:t>
            </a:r>
          </a:p>
          <a:p>
            <a:pPr defTabSz="925880"/>
            <a:r>
              <a:rPr lang="ja-JP" altLang="en-US" sz="2000" dirty="0">
                <a:solidFill>
                  <a:srgbClr val="404040"/>
                </a:solidFill>
                <a:latin typeface="+mn-ea"/>
              </a:rPr>
              <a:t>　</a:t>
            </a:r>
            <a:r>
              <a:rPr lang="en-US" altLang="ja-JP" sz="2000" dirty="0">
                <a:solidFill>
                  <a:srgbClr val="404040"/>
                </a:solidFill>
                <a:latin typeface="+mn-ea"/>
              </a:rPr>
              <a:t>/explain		</a:t>
            </a:r>
            <a:r>
              <a:rPr lang="ja-JP" altLang="en-US" sz="2000" dirty="0">
                <a:solidFill>
                  <a:srgbClr val="404040"/>
                </a:solidFill>
                <a:latin typeface="+mn-ea"/>
              </a:rPr>
              <a:t>：指定範囲の処理の説明を行う</a:t>
            </a:r>
          </a:p>
          <a:p>
            <a:pPr defTabSz="925880"/>
            <a:r>
              <a:rPr lang="ja-JP" altLang="en-US" sz="2000" dirty="0">
                <a:solidFill>
                  <a:srgbClr val="404040"/>
                </a:solidFill>
                <a:latin typeface="+mn-ea"/>
              </a:rPr>
              <a:t>　</a:t>
            </a:r>
            <a:r>
              <a:rPr lang="en-US" altLang="ja-JP" sz="2000" dirty="0">
                <a:solidFill>
                  <a:srgbClr val="404040"/>
                </a:solidFill>
                <a:latin typeface="+mn-ea"/>
              </a:rPr>
              <a:t>/fix		 	</a:t>
            </a:r>
            <a:r>
              <a:rPr lang="ja-JP" altLang="en-US" sz="2000" dirty="0">
                <a:solidFill>
                  <a:srgbClr val="404040"/>
                </a:solidFill>
                <a:latin typeface="+mn-ea"/>
              </a:rPr>
              <a:t>：指定範囲の修正案を提示する</a:t>
            </a:r>
          </a:p>
          <a:p>
            <a:pPr defTabSz="925880"/>
            <a:r>
              <a:rPr lang="ja-JP" altLang="en-US" sz="2000" dirty="0">
                <a:solidFill>
                  <a:srgbClr val="404040"/>
                </a:solidFill>
                <a:latin typeface="+mn-ea"/>
              </a:rPr>
              <a:t>　</a:t>
            </a:r>
            <a:r>
              <a:rPr lang="en-US" altLang="ja-JP" sz="2000" dirty="0">
                <a:solidFill>
                  <a:srgbClr val="404040"/>
                </a:solidFill>
                <a:latin typeface="+mn-ea"/>
              </a:rPr>
              <a:t>/tests			</a:t>
            </a:r>
            <a:r>
              <a:rPr lang="ja-JP" altLang="en-US" sz="2000" dirty="0">
                <a:solidFill>
                  <a:srgbClr val="404040"/>
                </a:solidFill>
                <a:latin typeface="+mn-ea"/>
              </a:rPr>
              <a:t>：指定範囲のテストコードを提示する等</a:t>
            </a:r>
          </a:p>
          <a:p>
            <a:pPr defTabSz="925880"/>
            <a:r>
              <a:rPr lang="ja-JP" altLang="en-US" sz="2000" dirty="0">
                <a:solidFill>
                  <a:srgbClr val="404040"/>
                </a:solidFill>
                <a:latin typeface="+mn-ea"/>
              </a:rPr>
              <a:t>　</a:t>
            </a:r>
            <a:r>
              <a:rPr lang="en-US" altLang="ja-JP" sz="2000" dirty="0">
                <a:solidFill>
                  <a:srgbClr val="404040"/>
                </a:solidFill>
                <a:latin typeface="+mn-ea"/>
              </a:rPr>
              <a:t>/{</a:t>
            </a:r>
            <a:r>
              <a:rPr lang="ja-JP" altLang="en-US" sz="2000" dirty="0">
                <a:solidFill>
                  <a:srgbClr val="404040"/>
                </a:solidFill>
                <a:latin typeface="+mn-ea"/>
              </a:rPr>
              <a:t>プロンプトファイル名</a:t>
            </a:r>
            <a:r>
              <a:rPr lang="en-US" altLang="ja-JP" sz="2000" dirty="0">
                <a:solidFill>
                  <a:srgbClr val="404040"/>
                </a:solidFill>
                <a:latin typeface="+mn-ea"/>
              </a:rPr>
              <a:t>}	</a:t>
            </a:r>
            <a:r>
              <a:rPr lang="ja-JP" altLang="en-US" sz="2000" dirty="0">
                <a:solidFill>
                  <a:srgbClr val="404040"/>
                </a:solidFill>
                <a:latin typeface="+mn-ea"/>
              </a:rPr>
              <a:t>：指定するプロンプトファイルの実行を行う</a:t>
            </a:r>
          </a:p>
        </p:txBody>
      </p:sp>
      <p:pic>
        <p:nvPicPr>
          <p:cNvPr id="4" name="図 3">
            <a:extLst>
              <a:ext uri="{FF2B5EF4-FFF2-40B4-BE49-F238E27FC236}">
                <a16:creationId xmlns:a16="http://schemas.microsoft.com/office/drawing/2014/main" id="{7D17E6F4-66E8-21E8-A24C-256071A62D45}"/>
              </a:ext>
            </a:extLst>
          </p:cNvPr>
          <p:cNvPicPr>
            <a:picLocks noChangeAspect="1"/>
          </p:cNvPicPr>
          <p:nvPr/>
        </p:nvPicPr>
        <p:blipFill>
          <a:blip r:embed="rId2"/>
          <a:stretch>
            <a:fillRect/>
          </a:stretch>
        </p:blipFill>
        <p:spPr>
          <a:xfrm>
            <a:off x="4675699" y="3865267"/>
            <a:ext cx="4927870" cy="2116119"/>
          </a:xfrm>
          <a:prstGeom prst="rect">
            <a:avLst/>
          </a:prstGeom>
        </p:spPr>
      </p:pic>
    </p:spTree>
    <p:extLst>
      <p:ext uri="{BB962C8B-B14F-4D97-AF65-F5344CB8AC3E}">
        <p14:creationId xmlns:p14="http://schemas.microsoft.com/office/powerpoint/2010/main" val="12950701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C601-D22A-3C3B-447C-9BC7441A44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7606FC-A7EF-07B4-09BE-5C62759E0A98}"/>
              </a:ext>
            </a:extLst>
          </p:cNvPr>
          <p:cNvSpPr>
            <a:spLocks noGrp="1"/>
          </p:cNvSpPr>
          <p:nvPr>
            <p:ph type="title"/>
          </p:nvPr>
        </p:nvSpPr>
        <p:spPr/>
        <p:txBody>
          <a:bodyPr>
            <a:normAutofit/>
          </a:bodyPr>
          <a:lstStyle/>
          <a:p>
            <a:r>
              <a:rPr lang="en-US" altLang="ja-JP" dirty="0">
                <a:latin typeface="+mn-ea"/>
                <a:ea typeface="+mn-ea"/>
              </a:rPr>
              <a:t>6-5.</a:t>
            </a:r>
            <a:r>
              <a:rPr lang="ja-JP" altLang="en-US" dirty="0">
                <a:latin typeface="+mn-ea"/>
                <a:ea typeface="+mn-ea"/>
              </a:rPr>
              <a:t> 簡単なアプリやゲームを作ってみましょう</a:t>
            </a:r>
          </a:p>
        </p:txBody>
      </p:sp>
      <p:sp>
        <p:nvSpPr>
          <p:cNvPr id="5" name="Text 8">
            <a:extLst>
              <a:ext uri="{FF2B5EF4-FFF2-40B4-BE49-F238E27FC236}">
                <a16:creationId xmlns:a16="http://schemas.microsoft.com/office/drawing/2014/main" id="{F5C0B608-0B9B-5C99-088B-1193B62CCD20}"/>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先ほどの研修内容を活かして、簡単なアプリやゲームを作ってみましょう。</a:t>
            </a:r>
          </a:p>
        </p:txBody>
      </p:sp>
    </p:spTree>
    <p:extLst>
      <p:ext uri="{BB962C8B-B14F-4D97-AF65-F5344CB8AC3E}">
        <p14:creationId xmlns:p14="http://schemas.microsoft.com/office/powerpoint/2010/main" val="321866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B676-E951-9AAE-DEBF-39BF5A7731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5C3AE9-29AC-1695-BC55-783E74BB58BF}"/>
              </a:ext>
            </a:extLst>
          </p:cNvPr>
          <p:cNvSpPr>
            <a:spLocks noGrp="1"/>
          </p:cNvSpPr>
          <p:nvPr>
            <p:ph type="title"/>
          </p:nvPr>
        </p:nvSpPr>
        <p:spPr/>
        <p:txBody>
          <a:bodyPr>
            <a:normAutofit/>
          </a:bodyPr>
          <a:lstStyle/>
          <a:p>
            <a:r>
              <a:rPr lang="en-US" altLang="ja-JP" dirty="0">
                <a:latin typeface="+mn-ea"/>
                <a:ea typeface="+mn-ea"/>
              </a:rPr>
              <a:t>6-6.</a:t>
            </a:r>
            <a:r>
              <a:rPr lang="ja-JP" altLang="en-US" dirty="0">
                <a:latin typeface="+mn-ea"/>
                <a:ea typeface="+mn-ea"/>
              </a:rPr>
              <a:t> 例①：高級志向テトリス</a:t>
            </a:r>
          </a:p>
        </p:txBody>
      </p:sp>
      <p:pic>
        <p:nvPicPr>
          <p:cNvPr id="4" name="図 3">
            <a:extLst>
              <a:ext uri="{FF2B5EF4-FFF2-40B4-BE49-F238E27FC236}">
                <a16:creationId xmlns:a16="http://schemas.microsoft.com/office/drawing/2014/main" id="{20D36F2A-EF24-B10A-EC0A-1D3A1BEC8F5E}"/>
              </a:ext>
            </a:extLst>
          </p:cNvPr>
          <p:cNvPicPr>
            <a:picLocks noChangeAspect="1"/>
          </p:cNvPicPr>
          <p:nvPr/>
        </p:nvPicPr>
        <p:blipFill>
          <a:blip r:embed="rId2"/>
          <a:stretch>
            <a:fillRect/>
          </a:stretch>
        </p:blipFill>
        <p:spPr>
          <a:xfrm>
            <a:off x="1359900" y="968253"/>
            <a:ext cx="7569575" cy="5456114"/>
          </a:xfrm>
          <a:prstGeom prst="rect">
            <a:avLst/>
          </a:prstGeom>
        </p:spPr>
      </p:pic>
    </p:spTree>
    <p:extLst>
      <p:ext uri="{BB962C8B-B14F-4D97-AF65-F5344CB8AC3E}">
        <p14:creationId xmlns:p14="http://schemas.microsoft.com/office/powerpoint/2010/main" val="4271151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81F5B-3FC0-EC5E-53D6-6E95D72C6E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8DE0A0-61DB-322E-8C98-A7C3C5DDEEA6}"/>
              </a:ext>
            </a:extLst>
          </p:cNvPr>
          <p:cNvSpPr>
            <a:spLocks noGrp="1"/>
          </p:cNvSpPr>
          <p:nvPr>
            <p:ph type="title"/>
          </p:nvPr>
        </p:nvSpPr>
        <p:spPr/>
        <p:txBody>
          <a:bodyPr>
            <a:normAutofit/>
          </a:bodyPr>
          <a:lstStyle/>
          <a:p>
            <a:r>
              <a:rPr lang="en-US" altLang="ja-JP" dirty="0">
                <a:latin typeface="+mn-ea"/>
                <a:ea typeface="+mn-ea"/>
              </a:rPr>
              <a:t>6-7.</a:t>
            </a:r>
            <a:r>
              <a:rPr lang="ja-JP" altLang="en-US" dirty="0">
                <a:latin typeface="+mn-ea"/>
                <a:ea typeface="+mn-ea"/>
              </a:rPr>
              <a:t> 例②：わくわく！にっぽんダーツの旅</a:t>
            </a:r>
          </a:p>
        </p:txBody>
      </p:sp>
      <p:pic>
        <p:nvPicPr>
          <p:cNvPr id="4" name="図 3">
            <a:extLst>
              <a:ext uri="{FF2B5EF4-FFF2-40B4-BE49-F238E27FC236}">
                <a16:creationId xmlns:a16="http://schemas.microsoft.com/office/drawing/2014/main" id="{A5417440-92C0-A29E-ECBB-DCCF4C4BCDF6}"/>
              </a:ext>
            </a:extLst>
          </p:cNvPr>
          <p:cNvPicPr>
            <a:picLocks noChangeAspect="1"/>
          </p:cNvPicPr>
          <p:nvPr/>
        </p:nvPicPr>
        <p:blipFill>
          <a:blip r:embed="rId2"/>
          <a:stretch>
            <a:fillRect/>
          </a:stretch>
        </p:blipFill>
        <p:spPr>
          <a:xfrm>
            <a:off x="865353" y="1310325"/>
            <a:ext cx="7914484" cy="4694448"/>
          </a:xfrm>
          <a:prstGeom prst="rect">
            <a:avLst/>
          </a:prstGeom>
        </p:spPr>
      </p:pic>
    </p:spTree>
    <p:extLst>
      <p:ext uri="{BB962C8B-B14F-4D97-AF65-F5344CB8AC3E}">
        <p14:creationId xmlns:p14="http://schemas.microsoft.com/office/powerpoint/2010/main" val="1978255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ABD46-E89D-4227-B230-E7CB93611C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50FC68-D209-56D3-F680-AB66FA1E4D57}"/>
              </a:ext>
            </a:extLst>
          </p:cNvPr>
          <p:cNvSpPr>
            <a:spLocks noGrp="1"/>
          </p:cNvSpPr>
          <p:nvPr>
            <p:ph type="title"/>
          </p:nvPr>
        </p:nvSpPr>
        <p:spPr/>
        <p:txBody>
          <a:bodyPr>
            <a:normAutofit/>
          </a:bodyPr>
          <a:lstStyle/>
          <a:p>
            <a:r>
              <a:rPr lang="en-US" altLang="ja-JP" dirty="0">
                <a:latin typeface="+mn-ea"/>
                <a:ea typeface="+mn-ea"/>
              </a:rPr>
              <a:t>6-8.</a:t>
            </a:r>
            <a:r>
              <a:rPr lang="ja-JP" altLang="en-US" dirty="0">
                <a:latin typeface="+mn-ea"/>
                <a:ea typeface="+mn-ea"/>
              </a:rPr>
              <a:t> 例③：タスク管理ツール</a:t>
            </a:r>
          </a:p>
        </p:txBody>
      </p:sp>
      <p:pic>
        <p:nvPicPr>
          <p:cNvPr id="4" name="図 3">
            <a:extLst>
              <a:ext uri="{FF2B5EF4-FFF2-40B4-BE49-F238E27FC236}">
                <a16:creationId xmlns:a16="http://schemas.microsoft.com/office/drawing/2014/main" id="{6CD5B40C-0738-FC56-42BE-602374506747}"/>
              </a:ext>
            </a:extLst>
          </p:cNvPr>
          <p:cNvPicPr>
            <a:picLocks noChangeAspect="1"/>
          </p:cNvPicPr>
          <p:nvPr/>
        </p:nvPicPr>
        <p:blipFill>
          <a:blip r:embed="rId2"/>
          <a:stretch>
            <a:fillRect/>
          </a:stretch>
        </p:blipFill>
        <p:spPr>
          <a:xfrm>
            <a:off x="593897" y="1231257"/>
            <a:ext cx="8719794" cy="4395487"/>
          </a:xfrm>
          <a:prstGeom prst="rect">
            <a:avLst/>
          </a:prstGeom>
        </p:spPr>
      </p:pic>
    </p:spTree>
    <p:extLst>
      <p:ext uri="{BB962C8B-B14F-4D97-AF65-F5344CB8AC3E}">
        <p14:creationId xmlns:p14="http://schemas.microsoft.com/office/powerpoint/2010/main" val="26461154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258C-4C44-B1BB-2D7D-69405DC6FF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0746743-3DA7-F04F-6899-DC07D3C3AD99}"/>
              </a:ext>
            </a:extLst>
          </p:cNvPr>
          <p:cNvSpPr>
            <a:spLocks noGrp="1"/>
          </p:cNvSpPr>
          <p:nvPr>
            <p:ph type="title"/>
          </p:nvPr>
        </p:nvSpPr>
        <p:spPr/>
        <p:txBody>
          <a:bodyPr>
            <a:normAutofit/>
          </a:bodyPr>
          <a:lstStyle/>
          <a:p>
            <a:r>
              <a:rPr lang="en-US" altLang="ja-JP" dirty="0">
                <a:latin typeface="+mn-ea"/>
                <a:ea typeface="+mn-ea"/>
              </a:rPr>
              <a:t>6-9.</a:t>
            </a:r>
            <a:r>
              <a:rPr lang="ja-JP" altLang="en-US" dirty="0">
                <a:latin typeface="+mn-ea"/>
                <a:ea typeface="+mn-ea"/>
              </a:rPr>
              <a:t> ディレクトリ作成とファイル配置</a:t>
            </a:r>
          </a:p>
        </p:txBody>
      </p:sp>
      <p:sp>
        <p:nvSpPr>
          <p:cNvPr id="4" name="Text 8">
            <a:extLst>
              <a:ext uri="{FF2B5EF4-FFF2-40B4-BE49-F238E27FC236}">
                <a16:creationId xmlns:a16="http://schemas.microsoft.com/office/drawing/2014/main" id="{942E1E94-747A-6C0E-6B0B-1C313F762B9C}"/>
              </a:ext>
            </a:extLst>
          </p:cNvPr>
          <p:cNvSpPr txBox="1"/>
          <p:nvPr/>
        </p:nvSpPr>
        <p:spPr>
          <a:xfrm>
            <a:off x="457995" y="1047902"/>
            <a:ext cx="9298847" cy="228600"/>
          </a:xfrm>
          <a:prstGeom prst="rect">
            <a:avLst/>
          </a:prstGeom>
          <a:noFill/>
          <a:ln/>
        </p:spPr>
        <p:txBody>
          <a:bodyPr wrap="none" lIns="0" tIns="0" rIns="0" bIns="0" rtlCol="0" anchor="t"/>
          <a:lstStyle/>
          <a:p>
            <a:pPr defTabSz="925880"/>
            <a:r>
              <a:rPr lang="en-US" altLang="ja-JP" sz="2000" dirty="0">
                <a:solidFill>
                  <a:srgbClr val="404040"/>
                </a:solidFill>
                <a:latin typeface="+mn-ea"/>
              </a:rPr>
              <a:t>1. </a:t>
            </a:r>
            <a:r>
              <a:rPr lang="ja-JP" altLang="en-US" sz="2000" dirty="0">
                <a:solidFill>
                  <a:srgbClr val="404040"/>
                </a:solidFill>
                <a:latin typeface="+mn-ea"/>
              </a:rPr>
              <a:t>マイドキュメントの下に作業用</a:t>
            </a:r>
            <a:endParaRPr lang="en-US" altLang="ja-JP" sz="2000" dirty="0">
              <a:solidFill>
                <a:srgbClr val="404040"/>
              </a:solidFill>
              <a:latin typeface="+mn-ea"/>
            </a:endParaRPr>
          </a:p>
          <a:p>
            <a:pPr defTabSz="925880"/>
            <a:r>
              <a:rPr lang="ja-JP" altLang="en-US" sz="2000" dirty="0">
                <a:solidFill>
                  <a:srgbClr val="404040"/>
                </a:solidFill>
                <a:latin typeface="+mn-ea"/>
              </a:rPr>
              <a:t>　　ディレクトリを作ってください。</a:t>
            </a:r>
            <a:endParaRPr lang="en-US" altLang="ja-JP" sz="2000" dirty="0">
              <a:solidFill>
                <a:srgbClr val="404040"/>
              </a:solidFill>
              <a:latin typeface="+mn-ea"/>
            </a:endParaRPr>
          </a:p>
          <a:p>
            <a:pPr defTabSz="925880"/>
            <a:r>
              <a:rPr lang="ja-JP" altLang="en-US" sz="2000" dirty="0">
                <a:solidFill>
                  <a:srgbClr val="404040"/>
                </a:solidFill>
                <a:latin typeface="+mn-ea"/>
              </a:rPr>
              <a:t>　　名前は何でも良いです。</a:t>
            </a:r>
          </a:p>
          <a:p>
            <a:pPr defTabSz="925880"/>
            <a:endParaRPr lang="en-US" altLang="ja-JP" sz="2000" dirty="0">
              <a:solidFill>
                <a:srgbClr val="404040"/>
              </a:solidFill>
              <a:latin typeface="+mn-ea"/>
            </a:endParaRPr>
          </a:p>
          <a:p>
            <a:pPr defTabSz="925880"/>
            <a:r>
              <a:rPr lang="en-US" altLang="ja-JP" sz="2000" dirty="0">
                <a:solidFill>
                  <a:srgbClr val="404040"/>
                </a:solidFill>
                <a:latin typeface="+mn-ea"/>
              </a:rPr>
              <a:t>2. ChatGPT</a:t>
            </a:r>
            <a:r>
              <a:rPr lang="ja-JP" altLang="en-US" sz="2000" dirty="0">
                <a:solidFill>
                  <a:srgbClr val="404040"/>
                </a:solidFill>
                <a:latin typeface="+mn-ea"/>
              </a:rPr>
              <a:t>で作成したファイルを</a:t>
            </a:r>
            <a:endParaRPr lang="en-US" altLang="ja-JP" sz="2000" dirty="0">
              <a:solidFill>
                <a:srgbClr val="404040"/>
              </a:solidFill>
              <a:latin typeface="+mn-ea"/>
            </a:endParaRPr>
          </a:p>
          <a:p>
            <a:pPr defTabSz="925880"/>
            <a:r>
              <a:rPr lang="ja-JP" altLang="en-US" sz="2000" dirty="0">
                <a:solidFill>
                  <a:srgbClr val="404040"/>
                </a:solidFill>
                <a:latin typeface="+mn-ea"/>
              </a:rPr>
              <a:t>　　そのディレクトリに配置してください。</a:t>
            </a:r>
          </a:p>
          <a:p>
            <a:pPr defTabSz="925880"/>
            <a:r>
              <a:rPr lang="ja-JP" altLang="en-US" sz="2000" dirty="0">
                <a:solidFill>
                  <a:srgbClr val="404040"/>
                </a:solidFill>
                <a:latin typeface="+mn-ea"/>
              </a:rPr>
              <a:t>　（</a:t>
            </a:r>
            <a:r>
              <a:rPr lang="en-US" altLang="ja-JP" sz="2000" dirty="0">
                <a:solidFill>
                  <a:srgbClr val="404040"/>
                </a:solidFill>
                <a:latin typeface="+mn-ea"/>
              </a:rPr>
              <a:t>zip</a:t>
            </a:r>
            <a:r>
              <a:rPr lang="ja-JP" altLang="en-US" sz="2000" dirty="0">
                <a:solidFill>
                  <a:srgbClr val="404040"/>
                </a:solidFill>
                <a:latin typeface="+mn-ea"/>
              </a:rPr>
              <a:t>ファイルの場合は展開して</a:t>
            </a:r>
            <a:endParaRPr lang="en-US" altLang="ja-JP" sz="2000" dirty="0">
              <a:solidFill>
                <a:srgbClr val="404040"/>
              </a:solidFill>
              <a:latin typeface="+mn-ea"/>
            </a:endParaRPr>
          </a:p>
          <a:p>
            <a:pPr defTabSz="925880"/>
            <a:r>
              <a:rPr lang="ja-JP" altLang="en-US" sz="2000" dirty="0">
                <a:solidFill>
                  <a:srgbClr val="404040"/>
                </a:solidFill>
                <a:latin typeface="+mn-ea"/>
              </a:rPr>
              <a:t>　　 中身を配置）</a:t>
            </a:r>
          </a:p>
          <a:p>
            <a:pPr defTabSz="925880"/>
            <a:endParaRPr lang="en-US" altLang="ja-JP" sz="2000" dirty="0">
              <a:solidFill>
                <a:srgbClr val="404040"/>
              </a:solidFill>
              <a:latin typeface="+mn-ea"/>
            </a:endParaRPr>
          </a:p>
          <a:p>
            <a:pPr defTabSz="925880"/>
            <a:r>
              <a:rPr lang="en-US" altLang="ja-JP" sz="2000" dirty="0">
                <a:solidFill>
                  <a:srgbClr val="404040"/>
                </a:solidFill>
                <a:latin typeface="+mn-ea"/>
              </a:rPr>
              <a:t>3. </a:t>
            </a:r>
            <a:r>
              <a:rPr lang="ja-JP" altLang="en-US" sz="2000" dirty="0">
                <a:solidFill>
                  <a:srgbClr val="404040"/>
                </a:solidFill>
                <a:latin typeface="+mn-ea"/>
              </a:rPr>
              <a:t>そのディレクトリを、</a:t>
            </a:r>
            <a:r>
              <a:rPr lang="en-US" altLang="ja-JP" sz="2000" dirty="0">
                <a:solidFill>
                  <a:srgbClr val="404040"/>
                </a:solidFill>
                <a:latin typeface="+mn-ea"/>
              </a:rPr>
              <a:t>VS Code</a:t>
            </a:r>
            <a:r>
              <a:rPr lang="ja-JP" altLang="en-US" sz="2000" dirty="0">
                <a:solidFill>
                  <a:srgbClr val="404040"/>
                </a:solidFill>
                <a:latin typeface="+mn-ea"/>
              </a:rPr>
              <a:t>で</a:t>
            </a:r>
            <a:endParaRPr lang="en-US" altLang="ja-JP" sz="2000" dirty="0">
              <a:solidFill>
                <a:srgbClr val="404040"/>
              </a:solidFill>
              <a:latin typeface="+mn-ea"/>
            </a:endParaRPr>
          </a:p>
          <a:p>
            <a:pPr defTabSz="925880"/>
            <a:r>
              <a:rPr lang="ja-JP" altLang="en-US" sz="2000" dirty="0">
                <a:solidFill>
                  <a:srgbClr val="404040"/>
                </a:solidFill>
                <a:latin typeface="+mn-ea"/>
              </a:rPr>
              <a:t>　　開いてください。</a:t>
            </a:r>
          </a:p>
          <a:p>
            <a:pPr defTabSz="925880"/>
            <a:r>
              <a:rPr lang="ja-JP" altLang="en-US" sz="2000" dirty="0">
                <a:solidFill>
                  <a:srgbClr val="404040"/>
                </a:solidFill>
                <a:latin typeface="+mn-ea"/>
              </a:rPr>
              <a:t>　（</a:t>
            </a:r>
            <a:r>
              <a:rPr lang="en-US" altLang="ja-JP" sz="2000" dirty="0">
                <a:solidFill>
                  <a:srgbClr val="404040"/>
                </a:solidFill>
                <a:latin typeface="+mn-ea"/>
              </a:rPr>
              <a:t>VS Code</a:t>
            </a:r>
            <a:r>
              <a:rPr lang="ja-JP" altLang="en-US" sz="2000" dirty="0">
                <a:solidFill>
                  <a:srgbClr val="404040"/>
                </a:solidFill>
                <a:latin typeface="+mn-ea"/>
              </a:rPr>
              <a:t>を立ち上げて、</a:t>
            </a:r>
            <a:endParaRPr lang="en-US" altLang="ja-JP" sz="2000" dirty="0">
              <a:solidFill>
                <a:srgbClr val="404040"/>
              </a:solidFill>
              <a:latin typeface="+mn-ea"/>
            </a:endParaRPr>
          </a:p>
          <a:p>
            <a:pPr defTabSz="925880"/>
            <a:r>
              <a:rPr lang="ja-JP" altLang="en-US" sz="2000" dirty="0">
                <a:solidFill>
                  <a:srgbClr val="404040"/>
                </a:solidFill>
                <a:latin typeface="+mn-ea"/>
              </a:rPr>
              <a:t>　　「</a:t>
            </a:r>
            <a:r>
              <a:rPr lang="en-US" altLang="ja-JP" sz="2000" dirty="0">
                <a:solidFill>
                  <a:srgbClr val="404040"/>
                </a:solidFill>
                <a:latin typeface="+mn-ea"/>
              </a:rPr>
              <a:t>File → New Window</a:t>
            </a:r>
            <a:r>
              <a:rPr lang="ja-JP" altLang="en-US" sz="2000" dirty="0">
                <a:solidFill>
                  <a:srgbClr val="404040"/>
                </a:solidFill>
                <a:latin typeface="+mn-ea"/>
              </a:rPr>
              <a:t>」、</a:t>
            </a:r>
            <a:endParaRPr lang="en-US" altLang="ja-JP" sz="2000" dirty="0">
              <a:solidFill>
                <a:srgbClr val="404040"/>
              </a:solidFill>
              <a:latin typeface="+mn-ea"/>
            </a:endParaRPr>
          </a:p>
          <a:p>
            <a:pPr defTabSz="925880"/>
            <a:r>
              <a:rPr lang="ja-JP" altLang="en-US" sz="2000" dirty="0">
                <a:solidFill>
                  <a:srgbClr val="404040"/>
                </a:solidFill>
                <a:latin typeface="+mn-ea"/>
              </a:rPr>
              <a:t>　　ディレクトリを新しく開いた</a:t>
            </a:r>
            <a:endParaRPr lang="en-US" altLang="ja-JP" sz="2000" dirty="0">
              <a:solidFill>
                <a:srgbClr val="404040"/>
              </a:solidFill>
              <a:latin typeface="+mn-ea"/>
            </a:endParaRPr>
          </a:p>
          <a:p>
            <a:pPr defTabSz="925880"/>
            <a:r>
              <a:rPr lang="ja-JP" altLang="en-US" sz="2000" dirty="0">
                <a:solidFill>
                  <a:srgbClr val="404040"/>
                </a:solidFill>
                <a:latin typeface="+mn-ea"/>
              </a:rPr>
              <a:t>　　ウィンドウにドラッグ＆ドロップ）</a:t>
            </a:r>
          </a:p>
        </p:txBody>
      </p:sp>
      <p:pic>
        <p:nvPicPr>
          <p:cNvPr id="6" name="図 5">
            <a:extLst>
              <a:ext uri="{FF2B5EF4-FFF2-40B4-BE49-F238E27FC236}">
                <a16:creationId xmlns:a16="http://schemas.microsoft.com/office/drawing/2014/main" id="{4A6F05E2-4875-B8E7-94AE-B37E7B0CD24F}"/>
              </a:ext>
            </a:extLst>
          </p:cNvPr>
          <p:cNvPicPr>
            <a:picLocks noChangeAspect="1"/>
          </p:cNvPicPr>
          <p:nvPr/>
        </p:nvPicPr>
        <p:blipFill>
          <a:blip r:embed="rId2"/>
          <a:stretch>
            <a:fillRect/>
          </a:stretch>
        </p:blipFill>
        <p:spPr>
          <a:xfrm>
            <a:off x="4229232" y="1712794"/>
            <a:ext cx="5525555" cy="3716016"/>
          </a:xfrm>
          <a:prstGeom prst="rect">
            <a:avLst/>
          </a:prstGeom>
        </p:spPr>
      </p:pic>
    </p:spTree>
    <p:extLst>
      <p:ext uri="{BB962C8B-B14F-4D97-AF65-F5344CB8AC3E}">
        <p14:creationId xmlns:p14="http://schemas.microsoft.com/office/powerpoint/2010/main" val="31180671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246-076A-6AB8-1EBB-3370DE786F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7BA8D1-48E1-15DE-A9CC-DC314A11BFE7}"/>
              </a:ext>
            </a:extLst>
          </p:cNvPr>
          <p:cNvSpPr>
            <a:spLocks noGrp="1"/>
          </p:cNvSpPr>
          <p:nvPr>
            <p:ph type="title"/>
          </p:nvPr>
        </p:nvSpPr>
        <p:spPr/>
        <p:txBody>
          <a:bodyPr>
            <a:normAutofit/>
          </a:bodyPr>
          <a:lstStyle/>
          <a:p>
            <a:r>
              <a:rPr lang="en-US" altLang="ja-JP" dirty="0">
                <a:latin typeface="+mn-ea"/>
                <a:ea typeface="+mn-ea"/>
              </a:rPr>
              <a:t>6-10.</a:t>
            </a:r>
            <a:r>
              <a:rPr lang="ja-JP" altLang="en-US" dirty="0">
                <a:latin typeface="+mn-ea"/>
                <a:ea typeface="+mn-ea"/>
              </a:rPr>
              <a:t> チャット機能 </a:t>
            </a:r>
            <a:r>
              <a:rPr lang="en-US" altLang="ja-JP" dirty="0">
                <a:latin typeface="+mn-ea"/>
                <a:ea typeface="+mn-ea"/>
              </a:rPr>
              <a:t>– Ask</a:t>
            </a:r>
            <a:r>
              <a:rPr lang="ja-JP" altLang="en-US" dirty="0">
                <a:latin typeface="+mn-ea"/>
                <a:ea typeface="+mn-ea"/>
              </a:rPr>
              <a:t>モード</a:t>
            </a:r>
          </a:p>
        </p:txBody>
      </p:sp>
      <p:sp>
        <p:nvSpPr>
          <p:cNvPr id="13" name="Text 8">
            <a:extLst>
              <a:ext uri="{FF2B5EF4-FFF2-40B4-BE49-F238E27FC236}">
                <a16:creationId xmlns:a16="http://schemas.microsoft.com/office/drawing/2014/main" id="{85B9C9AD-2CEB-9A5B-A4DE-CAC73350414D}"/>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■チャットモード</a:t>
            </a:r>
          </a:p>
          <a:p>
            <a:pPr defTabSz="925880"/>
            <a:r>
              <a:rPr lang="ja-JP" altLang="en-US" sz="2000" dirty="0">
                <a:solidFill>
                  <a:srgbClr val="404040"/>
                </a:solidFill>
                <a:latin typeface="+mn-ea"/>
              </a:rPr>
              <a:t>　</a:t>
            </a:r>
            <a:r>
              <a:rPr lang="en-US" altLang="ja-JP" sz="2000" dirty="0">
                <a:solidFill>
                  <a:srgbClr val="404040"/>
                </a:solidFill>
                <a:latin typeface="+mn-ea"/>
              </a:rPr>
              <a:t>GitHub Copilot</a:t>
            </a:r>
            <a:r>
              <a:rPr lang="ja-JP" altLang="en-US" sz="2000" dirty="0">
                <a:solidFill>
                  <a:srgbClr val="404040"/>
                </a:solidFill>
                <a:latin typeface="+mn-ea"/>
              </a:rPr>
              <a:t>には</a:t>
            </a:r>
            <a:r>
              <a:rPr lang="en-US" altLang="ja-JP" sz="2000" dirty="0">
                <a:solidFill>
                  <a:srgbClr val="404040"/>
                </a:solidFill>
                <a:latin typeface="+mn-ea"/>
              </a:rPr>
              <a:t>4</a:t>
            </a:r>
            <a:r>
              <a:rPr lang="ja-JP" altLang="en-US" sz="2000" dirty="0">
                <a:solidFill>
                  <a:srgbClr val="404040"/>
                </a:solidFill>
                <a:latin typeface="+mn-ea"/>
              </a:rPr>
              <a:t>つエージェント設定があり、それぞれ以下のとおり使い分けを行う。</a:t>
            </a:r>
          </a:p>
          <a:p>
            <a:pPr defTabSz="925880"/>
            <a:endParaRPr lang="ja-JP" altLang="en-US" sz="2000" dirty="0">
              <a:solidFill>
                <a:srgbClr val="404040"/>
              </a:solidFill>
              <a:latin typeface="+mn-ea"/>
            </a:endParaRPr>
          </a:p>
        </p:txBody>
      </p:sp>
      <p:graphicFrame>
        <p:nvGraphicFramePr>
          <p:cNvPr id="4" name="表 3">
            <a:extLst>
              <a:ext uri="{FF2B5EF4-FFF2-40B4-BE49-F238E27FC236}">
                <a16:creationId xmlns:a16="http://schemas.microsoft.com/office/drawing/2014/main" id="{C9229932-6F11-33E8-E476-3AFDCC204124}"/>
              </a:ext>
            </a:extLst>
          </p:cNvPr>
          <p:cNvGraphicFramePr>
            <a:graphicFrameLocks noGrp="1"/>
          </p:cNvGraphicFramePr>
          <p:nvPr/>
        </p:nvGraphicFramePr>
        <p:xfrm>
          <a:off x="381432" y="2244294"/>
          <a:ext cx="9294828" cy="3803192"/>
        </p:xfrm>
        <a:graphic>
          <a:graphicData uri="http://schemas.openxmlformats.org/drawingml/2006/table">
            <a:tbl>
              <a:tblPr firstRow="1" bandRow="1">
                <a:tableStyleId>{5C22544A-7EE6-4342-B048-85BDC9FD1C3A}</a:tableStyleId>
              </a:tblPr>
              <a:tblGrid>
                <a:gridCol w="580733">
                  <a:extLst>
                    <a:ext uri="{9D8B030D-6E8A-4147-A177-3AD203B41FA5}">
                      <a16:colId xmlns:a16="http://schemas.microsoft.com/office/drawing/2014/main" val="2685506249"/>
                    </a:ext>
                  </a:extLst>
                </a:gridCol>
                <a:gridCol w="873457">
                  <a:extLst>
                    <a:ext uri="{9D8B030D-6E8A-4147-A177-3AD203B41FA5}">
                      <a16:colId xmlns:a16="http://schemas.microsoft.com/office/drawing/2014/main" val="2119717142"/>
                    </a:ext>
                  </a:extLst>
                </a:gridCol>
                <a:gridCol w="3022979">
                  <a:extLst>
                    <a:ext uri="{9D8B030D-6E8A-4147-A177-3AD203B41FA5}">
                      <a16:colId xmlns:a16="http://schemas.microsoft.com/office/drawing/2014/main" val="3120822675"/>
                    </a:ext>
                  </a:extLst>
                </a:gridCol>
                <a:gridCol w="4817659">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800" b="1" kern="1200" dirty="0">
                          <a:solidFill>
                            <a:schemeClr val="bg1"/>
                          </a:solidFill>
                        </a:rPr>
                        <a:t>No.</a:t>
                      </a:r>
                      <a:endParaRPr kumimoji="1" lang="ja-JP" altLang="en-US" sz="18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rPr>
                        <a:t>１</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67253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5" name="正方形/長方形 4">
            <a:extLst>
              <a:ext uri="{FF2B5EF4-FFF2-40B4-BE49-F238E27FC236}">
                <a16:creationId xmlns:a16="http://schemas.microsoft.com/office/drawing/2014/main" id="{018F9359-B945-A346-C121-011F04F8CE76}"/>
              </a:ext>
            </a:extLst>
          </p:cNvPr>
          <p:cNvSpPr/>
          <p:nvPr/>
        </p:nvSpPr>
        <p:spPr>
          <a:xfrm>
            <a:off x="381430" y="2717319"/>
            <a:ext cx="9294829" cy="85783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Tree>
    <p:extLst>
      <p:ext uri="{BB962C8B-B14F-4D97-AF65-F5344CB8AC3E}">
        <p14:creationId xmlns:p14="http://schemas.microsoft.com/office/powerpoint/2010/main" val="36218742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10CC-D957-4E9A-9FA5-ACDF30FEE3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6A7112-2BFD-6E91-303E-C0DD3CA05606}"/>
              </a:ext>
            </a:extLst>
          </p:cNvPr>
          <p:cNvSpPr>
            <a:spLocks noGrp="1"/>
          </p:cNvSpPr>
          <p:nvPr>
            <p:ph type="title"/>
          </p:nvPr>
        </p:nvSpPr>
        <p:spPr/>
        <p:txBody>
          <a:bodyPr>
            <a:normAutofit/>
          </a:bodyPr>
          <a:lstStyle/>
          <a:p>
            <a:r>
              <a:rPr lang="en-US" altLang="ja-JP" dirty="0">
                <a:latin typeface="+mn-ea"/>
                <a:ea typeface="+mn-ea"/>
              </a:rPr>
              <a:t>6-11. Ask</a:t>
            </a:r>
            <a:r>
              <a:rPr lang="ja-JP" altLang="en-US" dirty="0">
                <a:latin typeface="+mn-ea"/>
                <a:ea typeface="+mn-ea"/>
              </a:rPr>
              <a:t>モードについて</a:t>
            </a:r>
          </a:p>
        </p:txBody>
      </p:sp>
      <p:pic>
        <p:nvPicPr>
          <p:cNvPr id="4" name="図 3">
            <a:extLst>
              <a:ext uri="{FF2B5EF4-FFF2-40B4-BE49-F238E27FC236}">
                <a16:creationId xmlns:a16="http://schemas.microsoft.com/office/drawing/2014/main" id="{5DDF8C59-415C-D293-69DF-8A97DF02DCEF}"/>
              </a:ext>
            </a:extLst>
          </p:cNvPr>
          <p:cNvPicPr>
            <a:picLocks noChangeAspect="1"/>
          </p:cNvPicPr>
          <p:nvPr/>
        </p:nvPicPr>
        <p:blipFill>
          <a:blip r:embed="rId2"/>
          <a:stretch>
            <a:fillRect/>
          </a:stretch>
        </p:blipFill>
        <p:spPr>
          <a:xfrm>
            <a:off x="3753134" y="1472340"/>
            <a:ext cx="6073662" cy="4081216"/>
          </a:xfrm>
          <a:prstGeom prst="rect">
            <a:avLst/>
          </a:prstGeom>
        </p:spPr>
      </p:pic>
      <p:sp>
        <p:nvSpPr>
          <p:cNvPr id="6" name="正方形/長方形 5">
            <a:extLst>
              <a:ext uri="{FF2B5EF4-FFF2-40B4-BE49-F238E27FC236}">
                <a16:creationId xmlns:a16="http://schemas.microsoft.com/office/drawing/2014/main" id="{F4A16836-65C5-B172-ECBF-BD8419C3F3C8}"/>
              </a:ext>
            </a:extLst>
          </p:cNvPr>
          <p:cNvSpPr/>
          <p:nvPr/>
        </p:nvSpPr>
        <p:spPr>
          <a:xfrm>
            <a:off x="7693066" y="1304446"/>
            <a:ext cx="288268" cy="26665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
        <p:nvSpPr>
          <p:cNvPr id="8" name="正方形/長方形 7">
            <a:extLst>
              <a:ext uri="{FF2B5EF4-FFF2-40B4-BE49-F238E27FC236}">
                <a16:creationId xmlns:a16="http://schemas.microsoft.com/office/drawing/2014/main" id="{7EE037DB-5B22-9D47-6432-5F7E0AF3C93F}"/>
              </a:ext>
            </a:extLst>
          </p:cNvPr>
          <p:cNvSpPr/>
          <p:nvPr/>
        </p:nvSpPr>
        <p:spPr>
          <a:xfrm>
            <a:off x="7270431" y="5073073"/>
            <a:ext cx="288268" cy="266655"/>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
        <p:nvSpPr>
          <p:cNvPr id="10" name="Text 8">
            <a:extLst>
              <a:ext uri="{FF2B5EF4-FFF2-40B4-BE49-F238E27FC236}">
                <a16:creationId xmlns:a16="http://schemas.microsoft.com/office/drawing/2014/main" id="{8B059348-031E-5CD5-AFBB-8F12813CD698}"/>
              </a:ext>
            </a:extLst>
          </p:cNvPr>
          <p:cNvSpPr txBox="1"/>
          <p:nvPr/>
        </p:nvSpPr>
        <p:spPr>
          <a:xfrm>
            <a:off x="457995" y="1047902"/>
            <a:ext cx="9298847" cy="228600"/>
          </a:xfrm>
          <a:prstGeom prst="rect">
            <a:avLst/>
          </a:prstGeom>
          <a:noFill/>
          <a:ln/>
        </p:spPr>
        <p:txBody>
          <a:bodyPr wrap="none" lIns="0" tIns="0" rIns="0" bIns="0" rtlCol="0" anchor="t"/>
          <a:lstStyle/>
          <a:p>
            <a:pPr defTabSz="925880"/>
            <a:r>
              <a:rPr lang="en-US" altLang="ja-JP" sz="2000" dirty="0">
                <a:solidFill>
                  <a:srgbClr val="404040"/>
                </a:solidFill>
                <a:latin typeface="+mn-ea"/>
              </a:rPr>
              <a:t>1.GitHub Copilot</a:t>
            </a:r>
            <a:r>
              <a:rPr lang="ja-JP" altLang="en-US" sz="2000" dirty="0">
                <a:solidFill>
                  <a:srgbClr val="404040"/>
                </a:solidFill>
                <a:latin typeface="+mn-ea"/>
              </a:rPr>
              <a:t>の</a:t>
            </a:r>
            <a:endParaRPr lang="en-US" altLang="ja-JP" sz="2000" dirty="0">
              <a:solidFill>
                <a:srgbClr val="404040"/>
              </a:solidFill>
              <a:latin typeface="+mn-ea"/>
            </a:endParaRPr>
          </a:p>
          <a:p>
            <a:pPr defTabSz="925880"/>
            <a:r>
              <a:rPr lang="en-US" altLang="ja-JP" sz="2000" dirty="0">
                <a:solidFill>
                  <a:srgbClr val="404040"/>
                </a:solidFill>
                <a:latin typeface="+mn-ea"/>
              </a:rPr>
              <a:t>   </a:t>
            </a:r>
            <a:r>
              <a:rPr lang="ja-JP" altLang="en-US" sz="2000" dirty="0">
                <a:solidFill>
                  <a:srgbClr val="404040"/>
                </a:solidFill>
                <a:latin typeface="+mn-ea"/>
              </a:rPr>
              <a:t>チャットウィンドウを</a:t>
            </a:r>
            <a:endParaRPr lang="en-US" altLang="ja-JP" sz="2000" dirty="0">
              <a:solidFill>
                <a:srgbClr val="404040"/>
              </a:solidFill>
              <a:latin typeface="+mn-ea"/>
            </a:endParaRPr>
          </a:p>
          <a:p>
            <a:pPr defTabSz="925880"/>
            <a:r>
              <a:rPr lang="en-US" altLang="ja-JP" sz="2000" dirty="0">
                <a:solidFill>
                  <a:srgbClr val="404040"/>
                </a:solidFill>
                <a:latin typeface="+mn-ea"/>
              </a:rPr>
              <a:t>   </a:t>
            </a:r>
            <a:r>
              <a:rPr lang="ja-JP" altLang="en-US" sz="2000" dirty="0">
                <a:solidFill>
                  <a:srgbClr val="404040"/>
                </a:solidFill>
                <a:latin typeface="+mn-ea"/>
              </a:rPr>
              <a:t>開いてください。</a:t>
            </a:r>
          </a:p>
          <a:p>
            <a:pPr defTabSz="925880"/>
            <a:r>
              <a:rPr lang="en-US" altLang="ja-JP" sz="2000" dirty="0">
                <a:solidFill>
                  <a:srgbClr val="404040"/>
                </a:solidFill>
                <a:latin typeface="+mn-ea"/>
              </a:rPr>
              <a:t>2.</a:t>
            </a:r>
            <a:r>
              <a:rPr lang="ja-JP" altLang="en-US" sz="2000" dirty="0">
                <a:solidFill>
                  <a:srgbClr val="404040"/>
                </a:solidFill>
                <a:latin typeface="+mn-ea"/>
              </a:rPr>
              <a:t>モードを「</a:t>
            </a:r>
            <a:r>
              <a:rPr lang="en-US" altLang="ja-JP" sz="2000" dirty="0">
                <a:solidFill>
                  <a:srgbClr val="404040"/>
                </a:solidFill>
                <a:latin typeface="+mn-ea"/>
              </a:rPr>
              <a:t>Ask</a:t>
            </a:r>
            <a:r>
              <a:rPr lang="ja-JP" altLang="en-US" sz="2000" dirty="0">
                <a:solidFill>
                  <a:srgbClr val="404040"/>
                </a:solidFill>
                <a:latin typeface="+mn-ea"/>
              </a:rPr>
              <a:t>」に変更します。</a:t>
            </a:r>
          </a:p>
          <a:p>
            <a:pPr defTabSz="925880"/>
            <a:r>
              <a:rPr lang="en-US" altLang="ja-JP" sz="2000" dirty="0">
                <a:solidFill>
                  <a:srgbClr val="404040"/>
                </a:solidFill>
                <a:latin typeface="+mn-ea"/>
              </a:rPr>
              <a:t>3.</a:t>
            </a:r>
            <a:r>
              <a:rPr lang="ja-JP" altLang="en-US" sz="2000" dirty="0">
                <a:solidFill>
                  <a:srgbClr val="404040"/>
                </a:solidFill>
                <a:latin typeface="+mn-ea"/>
              </a:rPr>
              <a:t>以下のプロンプトを入れて</a:t>
            </a:r>
            <a:endParaRPr lang="en-US" altLang="ja-JP" sz="2000" dirty="0">
              <a:solidFill>
                <a:srgbClr val="404040"/>
              </a:solidFill>
              <a:latin typeface="+mn-ea"/>
            </a:endParaRPr>
          </a:p>
          <a:p>
            <a:pPr defTabSz="925880"/>
            <a:r>
              <a:rPr lang="en-US" altLang="ja-JP" sz="2000" dirty="0">
                <a:solidFill>
                  <a:srgbClr val="404040"/>
                </a:solidFill>
                <a:latin typeface="+mn-ea"/>
              </a:rPr>
              <a:t>   </a:t>
            </a:r>
            <a:r>
              <a:rPr lang="ja-JP" altLang="en-US" sz="2000" dirty="0">
                <a:solidFill>
                  <a:srgbClr val="404040"/>
                </a:solidFill>
                <a:latin typeface="+mn-ea"/>
              </a:rPr>
              <a:t>みてください。</a:t>
            </a:r>
            <a:endParaRPr lang="en-US" altLang="ja-JP" sz="2000" dirty="0">
              <a:solidFill>
                <a:srgbClr val="404040"/>
              </a:solidFill>
              <a:latin typeface="+mn-ea"/>
            </a:endParaRPr>
          </a:p>
          <a:p>
            <a:pPr defTabSz="925880"/>
            <a:r>
              <a:rPr lang="ja-JP" altLang="en-US" sz="2000" dirty="0">
                <a:solidFill>
                  <a:srgbClr val="404040"/>
                </a:solidFill>
                <a:latin typeface="+mn-ea"/>
              </a:rPr>
              <a:t>　（多少間違えても大丈夫）</a:t>
            </a:r>
          </a:p>
          <a:p>
            <a:pPr defTabSz="925880"/>
            <a:r>
              <a:rPr lang="ja-JP" altLang="en-US" sz="2000" dirty="0">
                <a:solidFill>
                  <a:srgbClr val="404040"/>
                </a:solidFill>
                <a:latin typeface="+mn-ea"/>
              </a:rPr>
              <a:t>　</a:t>
            </a:r>
            <a:r>
              <a:rPr lang="en-US" altLang="ja-JP" sz="2000" dirty="0">
                <a:solidFill>
                  <a:srgbClr val="404040"/>
                </a:solidFill>
                <a:latin typeface="+mn-ea"/>
              </a:rPr>
              <a:t>※ </a:t>
            </a:r>
            <a:r>
              <a:rPr lang="ja-JP" altLang="en-US" sz="2000" dirty="0">
                <a:solidFill>
                  <a:srgbClr val="404040"/>
                </a:solidFill>
                <a:latin typeface="+mn-ea"/>
              </a:rPr>
              <a:t>何か出たら</a:t>
            </a:r>
            <a:r>
              <a:rPr lang="en-US" altLang="ja-JP" sz="2000" dirty="0">
                <a:solidFill>
                  <a:srgbClr val="404040"/>
                </a:solidFill>
                <a:latin typeface="+mn-ea"/>
              </a:rPr>
              <a:t>Allow</a:t>
            </a:r>
            <a:r>
              <a:rPr lang="ja-JP" altLang="en-US" sz="2000" dirty="0">
                <a:solidFill>
                  <a:srgbClr val="404040"/>
                </a:solidFill>
                <a:latin typeface="+mn-ea"/>
              </a:rPr>
              <a:t>で。</a:t>
            </a:r>
          </a:p>
          <a:p>
            <a:pPr defTabSz="925880"/>
            <a:endParaRPr lang="en-US" altLang="ja-JP" sz="2000" dirty="0">
              <a:solidFill>
                <a:srgbClr val="404040"/>
              </a:solidFill>
              <a:latin typeface="+mn-ea"/>
            </a:endParaRPr>
          </a:p>
          <a:p>
            <a:pPr defTabSz="925880"/>
            <a:r>
              <a:rPr lang="ja-JP" altLang="en-US" sz="2000" dirty="0">
                <a:solidFill>
                  <a:srgbClr val="404040"/>
                </a:solidFill>
                <a:latin typeface="+mn-ea"/>
              </a:rPr>
              <a:t>①プロンプト１：</a:t>
            </a:r>
          </a:p>
          <a:p>
            <a:pPr defTabSz="925880"/>
            <a:r>
              <a:rPr lang="ja-JP" altLang="en-US" sz="2000" dirty="0">
                <a:solidFill>
                  <a:srgbClr val="404040"/>
                </a:solidFill>
                <a:latin typeface="+mn-ea"/>
              </a:rPr>
              <a:t>このディレクトリはどのような</a:t>
            </a:r>
            <a:endParaRPr lang="en-US" altLang="ja-JP" sz="2000" dirty="0">
              <a:solidFill>
                <a:srgbClr val="404040"/>
              </a:solidFill>
              <a:latin typeface="+mn-ea"/>
            </a:endParaRPr>
          </a:p>
          <a:p>
            <a:pPr defTabSz="925880"/>
            <a:r>
              <a:rPr lang="ja-JP" altLang="en-US" sz="2000" dirty="0">
                <a:solidFill>
                  <a:srgbClr val="404040"/>
                </a:solidFill>
                <a:latin typeface="+mn-ea"/>
              </a:rPr>
              <a:t>ディレクトリですか？</a:t>
            </a:r>
          </a:p>
          <a:p>
            <a:pPr defTabSz="925880"/>
            <a:r>
              <a:rPr lang="ja-JP" altLang="en-US" sz="2000" dirty="0">
                <a:solidFill>
                  <a:srgbClr val="404040"/>
                </a:solidFill>
                <a:latin typeface="+mn-ea"/>
              </a:rPr>
              <a:t>②プロンプト２：</a:t>
            </a:r>
          </a:p>
          <a:p>
            <a:pPr defTabSz="925880"/>
            <a:r>
              <a:rPr lang="ja-JP" altLang="en-US" sz="2000" dirty="0">
                <a:solidFill>
                  <a:srgbClr val="404040"/>
                </a:solidFill>
                <a:latin typeface="+mn-ea"/>
              </a:rPr>
              <a:t>詳細に解説してください。</a:t>
            </a:r>
          </a:p>
          <a:p>
            <a:pPr defTabSz="925880"/>
            <a:r>
              <a:rPr lang="ja-JP" altLang="en-US" sz="2000" dirty="0">
                <a:solidFill>
                  <a:srgbClr val="404040"/>
                </a:solidFill>
                <a:latin typeface="+mn-ea"/>
              </a:rPr>
              <a:t>③プロンプト３：</a:t>
            </a:r>
          </a:p>
          <a:p>
            <a:pPr defTabSz="925880"/>
            <a:r>
              <a:rPr lang="ja-JP" altLang="en-US" sz="2000" dirty="0">
                <a:solidFill>
                  <a:srgbClr val="404040"/>
                </a:solidFill>
                <a:latin typeface="+mn-ea"/>
              </a:rPr>
              <a:t>批判的思考でレビューしてください。</a:t>
            </a:r>
          </a:p>
        </p:txBody>
      </p:sp>
    </p:spTree>
    <p:extLst>
      <p:ext uri="{BB962C8B-B14F-4D97-AF65-F5344CB8AC3E}">
        <p14:creationId xmlns:p14="http://schemas.microsoft.com/office/powerpoint/2010/main" val="3356324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F158-E7D9-D1F8-CBD6-2CB7A3E62B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14814E-F247-6996-5E4B-8A5C0D3242CE}"/>
              </a:ext>
            </a:extLst>
          </p:cNvPr>
          <p:cNvSpPr>
            <a:spLocks noGrp="1"/>
          </p:cNvSpPr>
          <p:nvPr>
            <p:ph type="title"/>
          </p:nvPr>
        </p:nvSpPr>
        <p:spPr/>
        <p:txBody>
          <a:bodyPr>
            <a:normAutofit/>
          </a:bodyPr>
          <a:lstStyle/>
          <a:p>
            <a:r>
              <a:rPr lang="en-US" altLang="ja-JP" dirty="0">
                <a:latin typeface="+mn-ea"/>
                <a:ea typeface="+mn-ea"/>
              </a:rPr>
              <a:t>6-12.</a:t>
            </a:r>
            <a:r>
              <a:rPr lang="ja-JP" altLang="en-US" dirty="0">
                <a:latin typeface="+mn-ea"/>
                <a:ea typeface="+mn-ea"/>
              </a:rPr>
              <a:t> 実行例①</a:t>
            </a:r>
          </a:p>
        </p:txBody>
      </p:sp>
      <p:pic>
        <p:nvPicPr>
          <p:cNvPr id="4" name="図 3">
            <a:extLst>
              <a:ext uri="{FF2B5EF4-FFF2-40B4-BE49-F238E27FC236}">
                <a16:creationId xmlns:a16="http://schemas.microsoft.com/office/drawing/2014/main" id="{397A2B96-A48A-DD34-5826-3BAFA064244C}"/>
              </a:ext>
            </a:extLst>
          </p:cNvPr>
          <p:cNvPicPr>
            <a:picLocks noChangeAspect="1"/>
          </p:cNvPicPr>
          <p:nvPr/>
        </p:nvPicPr>
        <p:blipFill>
          <a:blip r:embed="rId2"/>
          <a:stretch>
            <a:fillRect/>
          </a:stretch>
        </p:blipFill>
        <p:spPr>
          <a:xfrm>
            <a:off x="1204600" y="1052513"/>
            <a:ext cx="7498388" cy="5198882"/>
          </a:xfrm>
          <a:prstGeom prst="rect">
            <a:avLst/>
          </a:prstGeom>
        </p:spPr>
      </p:pic>
    </p:spTree>
    <p:extLst>
      <p:ext uri="{BB962C8B-B14F-4D97-AF65-F5344CB8AC3E}">
        <p14:creationId xmlns:p14="http://schemas.microsoft.com/office/powerpoint/2010/main" val="35615022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1DF31-E714-11B8-2B68-F815423F23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DFAE2E-CD59-18D8-AEB4-2C7BBE23DB4D}"/>
              </a:ext>
            </a:extLst>
          </p:cNvPr>
          <p:cNvSpPr>
            <a:spLocks noGrp="1"/>
          </p:cNvSpPr>
          <p:nvPr>
            <p:ph type="title"/>
          </p:nvPr>
        </p:nvSpPr>
        <p:spPr/>
        <p:txBody>
          <a:bodyPr>
            <a:normAutofit/>
          </a:bodyPr>
          <a:lstStyle/>
          <a:p>
            <a:r>
              <a:rPr lang="en-US" altLang="ja-JP" dirty="0">
                <a:latin typeface="+mn-ea"/>
                <a:ea typeface="+mn-ea"/>
              </a:rPr>
              <a:t>6-13.</a:t>
            </a:r>
            <a:r>
              <a:rPr lang="ja-JP" altLang="en-US" dirty="0">
                <a:latin typeface="+mn-ea"/>
                <a:ea typeface="+mn-ea"/>
              </a:rPr>
              <a:t> 実行例②</a:t>
            </a:r>
          </a:p>
        </p:txBody>
      </p:sp>
      <p:pic>
        <p:nvPicPr>
          <p:cNvPr id="4" name="図 3">
            <a:extLst>
              <a:ext uri="{FF2B5EF4-FFF2-40B4-BE49-F238E27FC236}">
                <a16:creationId xmlns:a16="http://schemas.microsoft.com/office/drawing/2014/main" id="{078B78FC-8EBD-0D36-9AB8-6DF84CC8F568}"/>
              </a:ext>
            </a:extLst>
          </p:cNvPr>
          <p:cNvPicPr>
            <a:picLocks noChangeAspect="1"/>
          </p:cNvPicPr>
          <p:nvPr/>
        </p:nvPicPr>
        <p:blipFill>
          <a:blip r:embed="rId2"/>
          <a:stretch>
            <a:fillRect/>
          </a:stretch>
        </p:blipFill>
        <p:spPr>
          <a:xfrm>
            <a:off x="302070" y="1800520"/>
            <a:ext cx="2998337" cy="3586506"/>
          </a:xfrm>
          <a:prstGeom prst="rect">
            <a:avLst/>
          </a:prstGeom>
        </p:spPr>
      </p:pic>
      <p:pic>
        <p:nvPicPr>
          <p:cNvPr id="6" name="図 5">
            <a:extLst>
              <a:ext uri="{FF2B5EF4-FFF2-40B4-BE49-F238E27FC236}">
                <a16:creationId xmlns:a16="http://schemas.microsoft.com/office/drawing/2014/main" id="{AC0D9C88-F9B7-D05E-F7AF-B5A877EE5338}"/>
              </a:ext>
            </a:extLst>
          </p:cNvPr>
          <p:cNvPicPr>
            <a:picLocks noChangeAspect="1"/>
          </p:cNvPicPr>
          <p:nvPr/>
        </p:nvPicPr>
        <p:blipFill>
          <a:blip r:embed="rId3"/>
          <a:stretch>
            <a:fillRect/>
          </a:stretch>
        </p:blipFill>
        <p:spPr>
          <a:xfrm>
            <a:off x="3415433" y="1800520"/>
            <a:ext cx="3122695" cy="3586506"/>
          </a:xfrm>
          <a:prstGeom prst="rect">
            <a:avLst/>
          </a:prstGeom>
        </p:spPr>
      </p:pic>
      <p:pic>
        <p:nvPicPr>
          <p:cNvPr id="8" name="図 7">
            <a:extLst>
              <a:ext uri="{FF2B5EF4-FFF2-40B4-BE49-F238E27FC236}">
                <a16:creationId xmlns:a16="http://schemas.microsoft.com/office/drawing/2014/main" id="{360F3369-19A8-4637-7D98-8C54C0BF7D06}"/>
              </a:ext>
            </a:extLst>
          </p:cNvPr>
          <p:cNvPicPr>
            <a:picLocks noChangeAspect="1"/>
          </p:cNvPicPr>
          <p:nvPr/>
        </p:nvPicPr>
        <p:blipFill>
          <a:blip r:embed="rId4"/>
          <a:stretch>
            <a:fillRect/>
          </a:stretch>
        </p:blipFill>
        <p:spPr>
          <a:xfrm>
            <a:off x="6704251" y="1800520"/>
            <a:ext cx="3082889" cy="3586506"/>
          </a:xfrm>
          <a:prstGeom prst="rect">
            <a:avLst/>
          </a:prstGeom>
        </p:spPr>
      </p:pic>
    </p:spTree>
    <p:extLst>
      <p:ext uri="{BB962C8B-B14F-4D97-AF65-F5344CB8AC3E}">
        <p14:creationId xmlns:p14="http://schemas.microsoft.com/office/powerpoint/2010/main" val="24866309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2E4C3-59BB-6001-4083-81D4924CF4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FB223C-A0FC-DE67-0841-1D8C1CCE845E}"/>
              </a:ext>
            </a:extLst>
          </p:cNvPr>
          <p:cNvSpPr>
            <a:spLocks noGrp="1"/>
          </p:cNvSpPr>
          <p:nvPr>
            <p:ph type="title"/>
          </p:nvPr>
        </p:nvSpPr>
        <p:spPr/>
        <p:txBody>
          <a:bodyPr>
            <a:normAutofit/>
          </a:bodyPr>
          <a:lstStyle/>
          <a:p>
            <a:r>
              <a:rPr lang="en-US" altLang="ja-JP" dirty="0">
                <a:latin typeface="+mn-ea"/>
                <a:ea typeface="+mn-ea"/>
              </a:rPr>
              <a:t>6-14.</a:t>
            </a:r>
            <a:r>
              <a:rPr lang="ja-JP" altLang="en-US" dirty="0">
                <a:latin typeface="+mn-ea"/>
                <a:ea typeface="+mn-ea"/>
              </a:rPr>
              <a:t> 実行例③</a:t>
            </a:r>
          </a:p>
        </p:txBody>
      </p:sp>
      <p:pic>
        <p:nvPicPr>
          <p:cNvPr id="4" name="図 3">
            <a:extLst>
              <a:ext uri="{FF2B5EF4-FFF2-40B4-BE49-F238E27FC236}">
                <a16:creationId xmlns:a16="http://schemas.microsoft.com/office/drawing/2014/main" id="{E9B1D026-FF64-D41E-8BD4-128857086407}"/>
              </a:ext>
            </a:extLst>
          </p:cNvPr>
          <p:cNvPicPr>
            <a:picLocks noChangeAspect="1"/>
          </p:cNvPicPr>
          <p:nvPr/>
        </p:nvPicPr>
        <p:blipFill>
          <a:blip r:embed="rId2"/>
          <a:stretch>
            <a:fillRect/>
          </a:stretch>
        </p:blipFill>
        <p:spPr>
          <a:xfrm>
            <a:off x="247632" y="1176600"/>
            <a:ext cx="4706162" cy="5060689"/>
          </a:xfrm>
          <a:prstGeom prst="rect">
            <a:avLst/>
          </a:prstGeom>
        </p:spPr>
      </p:pic>
      <p:pic>
        <p:nvPicPr>
          <p:cNvPr id="6" name="図 5">
            <a:extLst>
              <a:ext uri="{FF2B5EF4-FFF2-40B4-BE49-F238E27FC236}">
                <a16:creationId xmlns:a16="http://schemas.microsoft.com/office/drawing/2014/main" id="{B69034EC-BA1C-5E7B-30DE-A76C7D5FA296}"/>
              </a:ext>
            </a:extLst>
          </p:cNvPr>
          <p:cNvPicPr>
            <a:picLocks noChangeAspect="1"/>
          </p:cNvPicPr>
          <p:nvPr/>
        </p:nvPicPr>
        <p:blipFill>
          <a:blip r:embed="rId3"/>
          <a:stretch>
            <a:fillRect/>
          </a:stretch>
        </p:blipFill>
        <p:spPr>
          <a:xfrm>
            <a:off x="5287344" y="1176600"/>
            <a:ext cx="4483074" cy="5060689"/>
          </a:xfrm>
          <a:prstGeom prst="rect">
            <a:avLst/>
          </a:prstGeom>
        </p:spPr>
      </p:pic>
    </p:spTree>
    <p:extLst>
      <p:ext uri="{BB962C8B-B14F-4D97-AF65-F5344CB8AC3E}">
        <p14:creationId xmlns:p14="http://schemas.microsoft.com/office/powerpoint/2010/main" val="11293379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E224D-89F3-3914-11EB-DF1B72B2C2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C830E2-5540-8AB1-DE3A-530FE2191D76}"/>
              </a:ext>
            </a:extLst>
          </p:cNvPr>
          <p:cNvSpPr>
            <a:spLocks noGrp="1"/>
          </p:cNvSpPr>
          <p:nvPr>
            <p:ph type="title"/>
          </p:nvPr>
        </p:nvSpPr>
        <p:spPr/>
        <p:txBody>
          <a:bodyPr>
            <a:normAutofit/>
          </a:bodyPr>
          <a:lstStyle/>
          <a:p>
            <a:r>
              <a:rPr lang="en-US" altLang="ja-JP" dirty="0">
                <a:latin typeface="+mn-ea"/>
                <a:ea typeface="+mn-ea"/>
              </a:rPr>
              <a:t>6-15.</a:t>
            </a:r>
            <a:r>
              <a:rPr lang="ja-JP" altLang="en-US" dirty="0">
                <a:latin typeface="+mn-ea"/>
                <a:ea typeface="+mn-ea"/>
              </a:rPr>
              <a:t> </a:t>
            </a:r>
            <a:r>
              <a:rPr lang="en-US" altLang="ja-JP" dirty="0">
                <a:latin typeface="+mn-ea"/>
                <a:ea typeface="+mn-ea"/>
              </a:rPr>
              <a:t>Ask</a:t>
            </a:r>
            <a:r>
              <a:rPr lang="ja-JP" altLang="en-US" dirty="0">
                <a:latin typeface="+mn-ea"/>
                <a:ea typeface="+mn-ea"/>
              </a:rPr>
              <a:t>モードまとめ</a:t>
            </a:r>
          </a:p>
        </p:txBody>
      </p:sp>
      <p:sp>
        <p:nvSpPr>
          <p:cNvPr id="4" name="Text 8">
            <a:extLst>
              <a:ext uri="{FF2B5EF4-FFF2-40B4-BE49-F238E27FC236}">
                <a16:creationId xmlns:a16="http://schemas.microsoft.com/office/drawing/2014/main" id="{26AD110F-B755-23CB-9312-F717DE13711B}"/>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このように、</a:t>
            </a:r>
            <a:r>
              <a:rPr lang="en-US" altLang="ja-JP" sz="2000" dirty="0">
                <a:solidFill>
                  <a:srgbClr val="404040"/>
                </a:solidFill>
                <a:latin typeface="+mn-ea"/>
              </a:rPr>
              <a:t>Ask</a:t>
            </a:r>
            <a:r>
              <a:rPr lang="ja-JP" altLang="en-US" sz="2000" dirty="0">
                <a:solidFill>
                  <a:srgbClr val="404040"/>
                </a:solidFill>
                <a:latin typeface="+mn-ea"/>
              </a:rPr>
              <a:t>モードでは、実際のファイル編集などを伴わずに、</a:t>
            </a:r>
            <a:endParaRPr lang="en-US" altLang="ja-JP" sz="2000" dirty="0">
              <a:solidFill>
                <a:srgbClr val="404040"/>
              </a:solidFill>
              <a:latin typeface="+mn-ea"/>
            </a:endParaRPr>
          </a:p>
          <a:p>
            <a:pPr defTabSz="925880"/>
            <a:r>
              <a:rPr lang="ja-JP" altLang="en-US" sz="2000" dirty="0">
                <a:solidFill>
                  <a:srgbClr val="404040"/>
                </a:solidFill>
                <a:latin typeface="+mn-ea"/>
              </a:rPr>
              <a:t>安全に内容の確認や分析を行うことができます。</a:t>
            </a:r>
          </a:p>
          <a:p>
            <a:pPr defTabSz="925880"/>
            <a:r>
              <a:rPr lang="ja-JP" altLang="en-US" sz="2000" dirty="0">
                <a:solidFill>
                  <a:srgbClr val="404040"/>
                </a:solidFill>
                <a:latin typeface="+mn-ea"/>
              </a:rPr>
              <a:t>資料の内容確認や、レビューなどに活用してください。</a:t>
            </a:r>
          </a:p>
        </p:txBody>
      </p:sp>
    </p:spTree>
    <p:extLst>
      <p:ext uri="{BB962C8B-B14F-4D97-AF65-F5344CB8AC3E}">
        <p14:creationId xmlns:p14="http://schemas.microsoft.com/office/powerpoint/2010/main" val="5387324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246-076A-6AB8-1EBB-3370DE786F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7BA8D1-48E1-15DE-A9CC-DC314A11BFE7}"/>
              </a:ext>
            </a:extLst>
          </p:cNvPr>
          <p:cNvSpPr>
            <a:spLocks noGrp="1"/>
          </p:cNvSpPr>
          <p:nvPr>
            <p:ph type="title"/>
          </p:nvPr>
        </p:nvSpPr>
        <p:spPr/>
        <p:txBody>
          <a:bodyPr>
            <a:normAutofit/>
          </a:bodyPr>
          <a:lstStyle/>
          <a:p>
            <a:r>
              <a:rPr lang="en-US" altLang="ja-JP" dirty="0">
                <a:latin typeface="+mn-ea"/>
                <a:ea typeface="+mn-ea"/>
              </a:rPr>
              <a:t>6-16.</a:t>
            </a:r>
            <a:r>
              <a:rPr lang="ja-JP" altLang="en-US" dirty="0">
                <a:latin typeface="+mn-ea"/>
                <a:ea typeface="+mn-ea"/>
              </a:rPr>
              <a:t> チャット機能 </a:t>
            </a:r>
            <a:r>
              <a:rPr lang="en-US" altLang="ja-JP" dirty="0">
                <a:latin typeface="+mn-ea"/>
                <a:ea typeface="+mn-ea"/>
              </a:rPr>
              <a:t>- Agent</a:t>
            </a:r>
            <a:r>
              <a:rPr lang="ja-JP" altLang="en-US" dirty="0">
                <a:latin typeface="+mn-ea"/>
                <a:ea typeface="+mn-ea"/>
              </a:rPr>
              <a:t>モード</a:t>
            </a:r>
          </a:p>
        </p:txBody>
      </p:sp>
      <p:sp>
        <p:nvSpPr>
          <p:cNvPr id="13" name="Text 8">
            <a:extLst>
              <a:ext uri="{FF2B5EF4-FFF2-40B4-BE49-F238E27FC236}">
                <a16:creationId xmlns:a16="http://schemas.microsoft.com/office/drawing/2014/main" id="{85B9C9AD-2CEB-9A5B-A4DE-CAC73350414D}"/>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■チャットモード</a:t>
            </a:r>
          </a:p>
          <a:p>
            <a:pPr defTabSz="925880"/>
            <a:r>
              <a:rPr lang="ja-JP" altLang="en-US" sz="2000" dirty="0">
                <a:solidFill>
                  <a:srgbClr val="404040"/>
                </a:solidFill>
                <a:latin typeface="+mn-ea"/>
              </a:rPr>
              <a:t>　</a:t>
            </a:r>
            <a:r>
              <a:rPr lang="en-US" altLang="ja-JP" sz="2000" dirty="0">
                <a:solidFill>
                  <a:srgbClr val="404040"/>
                </a:solidFill>
                <a:latin typeface="+mn-ea"/>
              </a:rPr>
              <a:t>GitHub Copilot</a:t>
            </a:r>
            <a:r>
              <a:rPr lang="ja-JP" altLang="en-US" sz="2000" dirty="0">
                <a:solidFill>
                  <a:srgbClr val="404040"/>
                </a:solidFill>
                <a:latin typeface="+mn-ea"/>
              </a:rPr>
              <a:t>には</a:t>
            </a:r>
            <a:r>
              <a:rPr lang="en-US" altLang="ja-JP" sz="2000" dirty="0">
                <a:solidFill>
                  <a:srgbClr val="404040"/>
                </a:solidFill>
                <a:latin typeface="+mn-ea"/>
              </a:rPr>
              <a:t>4</a:t>
            </a:r>
            <a:r>
              <a:rPr lang="ja-JP" altLang="en-US" sz="2000" dirty="0">
                <a:solidFill>
                  <a:srgbClr val="404040"/>
                </a:solidFill>
                <a:latin typeface="+mn-ea"/>
              </a:rPr>
              <a:t>つエージェント設定があり、それぞれ以下のとおり使い分けを行う。</a:t>
            </a:r>
          </a:p>
          <a:p>
            <a:pPr defTabSz="925880"/>
            <a:endParaRPr lang="ja-JP" altLang="en-US" sz="2000" dirty="0">
              <a:solidFill>
                <a:srgbClr val="404040"/>
              </a:solidFill>
              <a:latin typeface="+mn-ea"/>
            </a:endParaRPr>
          </a:p>
        </p:txBody>
      </p:sp>
      <p:graphicFrame>
        <p:nvGraphicFramePr>
          <p:cNvPr id="4" name="表 3">
            <a:extLst>
              <a:ext uri="{FF2B5EF4-FFF2-40B4-BE49-F238E27FC236}">
                <a16:creationId xmlns:a16="http://schemas.microsoft.com/office/drawing/2014/main" id="{C9229932-6F11-33E8-E476-3AFDCC204124}"/>
              </a:ext>
            </a:extLst>
          </p:cNvPr>
          <p:cNvGraphicFramePr>
            <a:graphicFrameLocks noGrp="1"/>
          </p:cNvGraphicFramePr>
          <p:nvPr/>
        </p:nvGraphicFramePr>
        <p:xfrm>
          <a:off x="381432" y="2244294"/>
          <a:ext cx="9294828" cy="3803192"/>
        </p:xfrm>
        <a:graphic>
          <a:graphicData uri="http://schemas.openxmlformats.org/drawingml/2006/table">
            <a:tbl>
              <a:tblPr firstRow="1" bandRow="1">
                <a:tableStyleId>{5C22544A-7EE6-4342-B048-85BDC9FD1C3A}</a:tableStyleId>
              </a:tblPr>
              <a:tblGrid>
                <a:gridCol w="580733">
                  <a:extLst>
                    <a:ext uri="{9D8B030D-6E8A-4147-A177-3AD203B41FA5}">
                      <a16:colId xmlns:a16="http://schemas.microsoft.com/office/drawing/2014/main" val="2685506249"/>
                    </a:ext>
                  </a:extLst>
                </a:gridCol>
                <a:gridCol w="873457">
                  <a:extLst>
                    <a:ext uri="{9D8B030D-6E8A-4147-A177-3AD203B41FA5}">
                      <a16:colId xmlns:a16="http://schemas.microsoft.com/office/drawing/2014/main" val="2119717142"/>
                    </a:ext>
                  </a:extLst>
                </a:gridCol>
                <a:gridCol w="3022979">
                  <a:extLst>
                    <a:ext uri="{9D8B030D-6E8A-4147-A177-3AD203B41FA5}">
                      <a16:colId xmlns:a16="http://schemas.microsoft.com/office/drawing/2014/main" val="3120822675"/>
                    </a:ext>
                  </a:extLst>
                </a:gridCol>
                <a:gridCol w="4817659">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800" b="1" kern="1200" dirty="0">
                          <a:solidFill>
                            <a:schemeClr val="bg1"/>
                          </a:solidFill>
                        </a:rPr>
                        <a:t>No.</a:t>
                      </a:r>
                      <a:endParaRPr kumimoji="1" lang="ja-JP" altLang="en-US" sz="18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rPr>
                        <a:t>１</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67253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5" name="正方形/長方形 4">
            <a:extLst>
              <a:ext uri="{FF2B5EF4-FFF2-40B4-BE49-F238E27FC236}">
                <a16:creationId xmlns:a16="http://schemas.microsoft.com/office/drawing/2014/main" id="{018F9359-B945-A346-C121-011F04F8CE76}"/>
              </a:ext>
            </a:extLst>
          </p:cNvPr>
          <p:cNvSpPr/>
          <p:nvPr/>
        </p:nvSpPr>
        <p:spPr>
          <a:xfrm>
            <a:off x="381430" y="4407691"/>
            <a:ext cx="9294829" cy="7798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Tree>
    <p:extLst>
      <p:ext uri="{BB962C8B-B14F-4D97-AF65-F5344CB8AC3E}">
        <p14:creationId xmlns:p14="http://schemas.microsoft.com/office/powerpoint/2010/main" val="38065063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7BFC-3BC3-C952-5E1B-475E0816404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197D36-FAF2-754A-F23E-ED48DAB653E0}"/>
              </a:ext>
            </a:extLst>
          </p:cNvPr>
          <p:cNvSpPr>
            <a:spLocks noGrp="1"/>
          </p:cNvSpPr>
          <p:nvPr>
            <p:ph type="title"/>
          </p:nvPr>
        </p:nvSpPr>
        <p:spPr/>
        <p:txBody>
          <a:bodyPr>
            <a:normAutofit/>
          </a:bodyPr>
          <a:lstStyle/>
          <a:p>
            <a:r>
              <a:rPr lang="en-US" altLang="ja-JP" dirty="0">
                <a:latin typeface="+mn-ea"/>
                <a:ea typeface="+mn-ea"/>
              </a:rPr>
              <a:t>6-17.</a:t>
            </a:r>
            <a:r>
              <a:rPr lang="ja-JP" altLang="en-US" dirty="0">
                <a:latin typeface="+mn-ea"/>
                <a:ea typeface="+mn-ea"/>
              </a:rPr>
              <a:t> </a:t>
            </a:r>
            <a:r>
              <a:rPr lang="en-US" altLang="ja-JP" dirty="0">
                <a:latin typeface="+mn-ea"/>
                <a:ea typeface="+mn-ea"/>
              </a:rPr>
              <a:t>Agent</a:t>
            </a:r>
            <a:r>
              <a:rPr lang="ja-JP" altLang="en-US" dirty="0">
                <a:latin typeface="+mn-ea"/>
                <a:ea typeface="+mn-ea"/>
              </a:rPr>
              <a:t>モード</a:t>
            </a:r>
          </a:p>
        </p:txBody>
      </p:sp>
      <p:sp>
        <p:nvSpPr>
          <p:cNvPr id="4" name="Text 8">
            <a:extLst>
              <a:ext uri="{FF2B5EF4-FFF2-40B4-BE49-F238E27FC236}">
                <a16:creationId xmlns:a16="http://schemas.microsoft.com/office/drawing/2014/main" id="{57225DDC-F7FB-DEF5-F67A-874A1259F68B}"/>
              </a:ext>
            </a:extLst>
          </p:cNvPr>
          <p:cNvSpPr txBox="1"/>
          <p:nvPr/>
        </p:nvSpPr>
        <p:spPr>
          <a:xfrm>
            <a:off x="457995" y="1047902"/>
            <a:ext cx="9298847" cy="228600"/>
          </a:xfrm>
          <a:prstGeom prst="rect">
            <a:avLst/>
          </a:prstGeom>
          <a:noFill/>
          <a:ln/>
        </p:spPr>
        <p:txBody>
          <a:bodyPr wrap="none" lIns="0" tIns="0" rIns="0" bIns="0" rtlCol="0" anchor="t"/>
          <a:lstStyle/>
          <a:p>
            <a:pPr defTabSz="925880"/>
            <a:r>
              <a:rPr lang="en-US" altLang="ja-JP" sz="2000" dirty="0">
                <a:solidFill>
                  <a:srgbClr val="404040"/>
                </a:solidFill>
                <a:latin typeface="+mn-ea"/>
              </a:rPr>
              <a:t>Agent</a:t>
            </a:r>
            <a:r>
              <a:rPr lang="ja-JP" altLang="en-US" sz="2000" dirty="0">
                <a:solidFill>
                  <a:srgbClr val="404040"/>
                </a:solidFill>
                <a:latin typeface="+mn-ea"/>
              </a:rPr>
              <a:t>モードを使って、</a:t>
            </a:r>
            <a:r>
              <a:rPr lang="en-US" altLang="ja-JP" sz="2000" dirty="0">
                <a:solidFill>
                  <a:srgbClr val="404040"/>
                </a:solidFill>
                <a:latin typeface="+mn-ea"/>
              </a:rPr>
              <a:t>README</a:t>
            </a:r>
            <a:r>
              <a:rPr lang="ja-JP" altLang="en-US" sz="2000" dirty="0">
                <a:solidFill>
                  <a:srgbClr val="404040"/>
                </a:solidFill>
                <a:latin typeface="+mn-ea"/>
              </a:rPr>
              <a:t>ファイルを作成してみましょう。</a:t>
            </a:r>
          </a:p>
          <a:p>
            <a:pPr defTabSz="925880"/>
            <a:r>
              <a:rPr lang="ja-JP" altLang="en-US" sz="2000" dirty="0">
                <a:solidFill>
                  <a:srgbClr val="404040"/>
                </a:solidFill>
                <a:latin typeface="+mn-ea"/>
              </a:rPr>
              <a:t>先ほど、</a:t>
            </a:r>
            <a:r>
              <a:rPr lang="en-US" altLang="ja-JP" sz="2000" dirty="0">
                <a:solidFill>
                  <a:srgbClr val="404040"/>
                </a:solidFill>
                <a:latin typeface="+mn-ea"/>
              </a:rPr>
              <a:t>Ask</a:t>
            </a:r>
            <a:r>
              <a:rPr lang="ja-JP" altLang="en-US" sz="2000" dirty="0">
                <a:solidFill>
                  <a:srgbClr val="404040"/>
                </a:solidFill>
                <a:latin typeface="+mn-ea"/>
              </a:rPr>
              <a:t>モードを選んだ場所で、</a:t>
            </a:r>
            <a:r>
              <a:rPr lang="en-US" altLang="ja-JP" sz="2000" dirty="0">
                <a:solidFill>
                  <a:srgbClr val="404040"/>
                </a:solidFill>
                <a:latin typeface="+mn-ea"/>
              </a:rPr>
              <a:t>Agent</a:t>
            </a:r>
            <a:r>
              <a:rPr lang="ja-JP" altLang="en-US" sz="2000" dirty="0">
                <a:solidFill>
                  <a:srgbClr val="404040"/>
                </a:solidFill>
                <a:latin typeface="+mn-ea"/>
              </a:rPr>
              <a:t>モードを選んでください。</a:t>
            </a:r>
          </a:p>
          <a:p>
            <a:pPr defTabSz="925880"/>
            <a:r>
              <a:rPr lang="ja-JP" altLang="en-US" sz="2000" dirty="0">
                <a:solidFill>
                  <a:srgbClr val="404040"/>
                </a:solidFill>
                <a:latin typeface="+mn-ea"/>
              </a:rPr>
              <a:t>そのうえで、プロンプトを入力してください。</a:t>
            </a:r>
          </a:p>
          <a:p>
            <a:pPr defTabSz="925880"/>
            <a:endParaRPr lang="ja-JP" altLang="en-US" sz="2000" dirty="0">
              <a:solidFill>
                <a:srgbClr val="404040"/>
              </a:solidFill>
              <a:latin typeface="+mn-ea"/>
            </a:endParaRPr>
          </a:p>
          <a:p>
            <a:pPr defTabSz="925880"/>
            <a:r>
              <a:rPr lang="ja-JP" altLang="en-US" sz="2000" dirty="0">
                <a:solidFill>
                  <a:srgbClr val="404040"/>
                </a:solidFill>
                <a:latin typeface="+mn-ea"/>
              </a:rPr>
              <a:t>サンプルの例の場合だと、以下のようになります。</a:t>
            </a:r>
          </a:p>
          <a:p>
            <a:pPr defTabSz="925880"/>
            <a:endParaRPr lang="ja-JP" altLang="en-US" sz="2000" dirty="0">
              <a:solidFill>
                <a:srgbClr val="404040"/>
              </a:solidFill>
              <a:latin typeface="+mn-ea"/>
            </a:endParaRPr>
          </a:p>
          <a:p>
            <a:pPr defTabSz="925880"/>
            <a:r>
              <a:rPr lang="ja-JP" altLang="en-US" sz="2000" dirty="0">
                <a:solidFill>
                  <a:srgbClr val="404040"/>
                </a:solidFill>
                <a:latin typeface="+mn-ea"/>
              </a:rPr>
              <a:t>このゲームの</a:t>
            </a:r>
            <a:r>
              <a:rPr lang="en-US" altLang="ja-JP" sz="2000" dirty="0">
                <a:solidFill>
                  <a:srgbClr val="404040"/>
                </a:solidFill>
                <a:latin typeface="+mn-ea"/>
              </a:rPr>
              <a:t>README.md</a:t>
            </a:r>
            <a:r>
              <a:rPr lang="ja-JP" altLang="en-US" sz="2000" dirty="0">
                <a:solidFill>
                  <a:srgbClr val="404040"/>
                </a:solidFill>
                <a:latin typeface="+mn-ea"/>
              </a:rPr>
              <a:t>を作成してください。</a:t>
            </a:r>
          </a:p>
          <a:p>
            <a:pPr defTabSz="925880"/>
            <a:r>
              <a:rPr lang="ja-JP" altLang="en-US" sz="2000" dirty="0">
                <a:solidFill>
                  <a:srgbClr val="404040"/>
                </a:solidFill>
                <a:latin typeface="+mn-ea"/>
              </a:rPr>
              <a:t>利用者が使ってみたくなるような</a:t>
            </a:r>
            <a:r>
              <a:rPr lang="en-US" altLang="ja-JP" sz="2000" dirty="0">
                <a:solidFill>
                  <a:srgbClr val="404040"/>
                </a:solidFill>
                <a:latin typeface="+mn-ea"/>
              </a:rPr>
              <a:t>README.md</a:t>
            </a:r>
            <a:r>
              <a:rPr lang="ja-JP" altLang="en-US" sz="2000" dirty="0">
                <a:solidFill>
                  <a:srgbClr val="404040"/>
                </a:solidFill>
                <a:latin typeface="+mn-ea"/>
              </a:rPr>
              <a:t>にしてください。</a:t>
            </a:r>
          </a:p>
        </p:txBody>
      </p:sp>
    </p:spTree>
    <p:extLst>
      <p:ext uri="{BB962C8B-B14F-4D97-AF65-F5344CB8AC3E}">
        <p14:creationId xmlns:p14="http://schemas.microsoft.com/office/powerpoint/2010/main" val="37762043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6DA9-AC20-BA1E-374E-33497D1260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E3BFB6-0140-7186-18D4-62037C928ABD}"/>
              </a:ext>
            </a:extLst>
          </p:cNvPr>
          <p:cNvSpPr>
            <a:spLocks noGrp="1"/>
          </p:cNvSpPr>
          <p:nvPr>
            <p:ph type="title"/>
          </p:nvPr>
        </p:nvSpPr>
        <p:spPr/>
        <p:txBody>
          <a:bodyPr>
            <a:normAutofit/>
          </a:bodyPr>
          <a:lstStyle/>
          <a:p>
            <a:r>
              <a:rPr lang="en-US" altLang="ja-JP" dirty="0">
                <a:latin typeface="+mn-ea"/>
                <a:ea typeface="+mn-ea"/>
              </a:rPr>
              <a:t>6-18.</a:t>
            </a:r>
            <a:r>
              <a:rPr lang="ja-JP" altLang="en-US" dirty="0">
                <a:latin typeface="+mn-ea"/>
                <a:ea typeface="+mn-ea"/>
              </a:rPr>
              <a:t> 実行例</a:t>
            </a:r>
          </a:p>
        </p:txBody>
      </p:sp>
      <p:pic>
        <p:nvPicPr>
          <p:cNvPr id="4" name="図 3">
            <a:extLst>
              <a:ext uri="{FF2B5EF4-FFF2-40B4-BE49-F238E27FC236}">
                <a16:creationId xmlns:a16="http://schemas.microsoft.com/office/drawing/2014/main" id="{71084F3D-862B-717B-0F1F-53A3583D3338}"/>
              </a:ext>
            </a:extLst>
          </p:cNvPr>
          <p:cNvPicPr>
            <a:picLocks noChangeAspect="1"/>
          </p:cNvPicPr>
          <p:nvPr/>
        </p:nvPicPr>
        <p:blipFill>
          <a:blip r:embed="rId2"/>
          <a:stretch>
            <a:fillRect/>
          </a:stretch>
        </p:blipFill>
        <p:spPr>
          <a:xfrm>
            <a:off x="302069" y="1348034"/>
            <a:ext cx="3719332" cy="4694809"/>
          </a:xfrm>
          <a:prstGeom prst="rect">
            <a:avLst/>
          </a:prstGeom>
        </p:spPr>
      </p:pic>
      <p:pic>
        <p:nvPicPr>
          <p:cNvPr id="6" name="図 5">
            <a:extLst>
              <a:ext uri="{FF2B5EF4-FFF2-40B4-BE49-F238E27FC236}">
                <a16:creationId xmlns:a16="http://schemas.microsoft.com/office/drawing/2014/main" id="{87A299DD-FE14-6854-2F68-6CCFCEFEC121}"/>
              </a:ext>
            </a:extLst>
          </p:cNvPr>
          <p:cNvPicPr>
            <a:picLocks noChangeAspect="1"/>
          </p:cNvPicPr>
          <p:nvPr/>
        </p:nvPicPr>
        <p:blipFill>
          <a:blip r:embed="rId3"/>
          <a:stretch>
            <a:fillRect/>
          </a:stretch>
        </p:blipFill>
        <p:spPr>
          <a:xfrm>
            <a:off x="4240332" y="1348034"/>
            <a:ext cx="5492325" cy="4694809"/>
          </a:xfrm>
          <a:prstGeom prst="rect">
            <a:avLst/>
          </a:prstGeom>
        </p:spPr>
      </p:pic>
    </p:spTree>
    <p:extLst>
      <p:ext uri="{BB962C8B-B14F-4D97-AF65-F5344CB8AC3E}">
        <p14:creationId xmlns:p14="http://schemas.microsoft.com/office/powerpoint/2010/main" val="38834677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3BA0E-B96A-1049-493E-50630F74E0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738715-8E0E-07AD-E677-5ED55C7DA5AA}"/>
              </a:ext>
            </a:extLst>
          </p:cNvPr>
          <p:cNvSpPr>
            <a:spLocks noGrp="1"/>
          </p:cNvSpPr>
          <p:nvPr>
            <p:ph type="title"/>
          </p:nvPr>
        </p:nvSpPr>
        <p:spPr/>
        <p:txBody>
          <a:bodyPr>
            <a:normAutofit/>
          </a:bodyPr>
          <a:lstStyle/>
          <a:p>
            <a:r>
              <a:rPr lang="en-US" altLang="ja-JP" dirty="0">
                <a:latin typeface="+mn-ea"/>
                <a:ea typeface="+mn-ea"/>
              </a:rPr>
              <a:t>6-19.</a:t>
            </a:r>
            <a:r>
              <a:rPr lang="ja-JP" altLang="en-US" dirty="0">
                <a:latin typeface="+mn-ea"/>
                <a:ea typeface="+mn-ea"/>
              </a:rPr>
              <a:t> </a:t>
            </a:r>
            <a:r>
              <a:rPr lang="en-US" altLang="ja-JP" dirty="0">
                <a:latin typeface="+mn-ea"/>
                <a:ea typeface="+mn-ea"/>
              </a:rPr>
              <a:t>README</a:t>
            </a:r>
            <a:r>
              <a:rPr lang="ja-JP" altLang="en-US" dirty="0">
                <a:latin typeface="+mn-ea"/>
                <a:ea typeface="+mn-ea"/>
              </a:rPr>
              <a:t>の内容を確認しましょう①</a:t>
            </a:r>
          </a:p>
        </p:txBody>
      </p:sp>
      <p:sp>
        <p:nvSpPr>
          <p:cNvPr id="4" name="Text 8">
            <a:extLst>
              <a:ext uri="{FF2B5EF4-FFF2-40B4-BE49-F238E27FC236}">
                <a16:creationId xmlns:a16="http://schemas.microsoft.com/office/drawing/2014/main" id="{3B4FE2C9-DB37-6D33-A016-41C62AB0D5DA}"/>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①をクリック　→　②開いたタブを右クリック　→　③「</a:t>
            </a:r>
            <a:r>
              <a:rPr lang="en-US" altLang="ja-JP" sz="2000" dirty="0">
                <a:solidFill>
                  <a:srgbClr val="404040"/>
                </a:solidFill>
                <a:latin typeface="+mn-ea"/>
              </a:rPr>
              <a:t>Move into New Window</a:t>
            </a:r>
            <a:r>
              <a:rPr lang="ja-JP" altLang="en-US" sz="2000" dirty="0">
                <a:solidFill>
                  <a:srgbClr val="404040"/>
                </a:solidFill>
                <a:latin typeface="+mn-ea"/>
              </a:rPr>
              <a:t>」を選択</a:t>
            </a:r>
          </a:p>
        </p:txBody>
      </p:sp>
      <p:pic>
        <p:nvPicPr>
          <p:cNvPr id="24" name="図 23">
            <a:extLst>
              <a:ext uri="{FF2B5EF4-FFF2-40B4-BE49-F238E27FC236}">
                <a16:creationId xmlns:a16="http://schemas.microsoft.com/office/drawing/2014/main" id="{AC668B24-FFCD-2677-BDB6-B5CD3C763B16}"/>
              </a:ext>
            </a:extLst>
          </p:cNvPr>
          <p:cNvPicPr>
            <a:picLocks noChangeAspect="1"/>
          </p:cNvPicPr>
          <p:nvPr/>
        </p:nvPicPr>
        <p:blipFill>
          <a:blip r:embed="rId2"/>
          <a:stretch>
            <a:fillRect/>
          </a:stretch>
        </p:blipFill>
        <p:spPr>
          <a:xfrm>
            <a:off x="466727" y="1737652"/>
            <a:ext cx="8832915" cy="3850479"/>
          </a:xfrm>
          <a:prstGeom prst="rect">
            <a:avLst/>
          </a:prstGeom>
        </p:spPr>
      </p:pic>
    </p:spTree>
    <p:extLst>
      <p:ext uri="{BB962C8B-B14F-4D97-AF65-F5344CB8AC3E}">
        <p14:creationId xmlns:p14="http://schemas.microsoft.com/office/powerpoint/2010/main" val="21882620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86F20-E17F-7409-5F15-0817B813CD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1331D2-0448-55CE-8863-616BD5BBBCC6}"/>
              </a:ext>
            </a:extLst>
          </p:cNvPr>
          <p:cNvSpPr>
            <a:spLocks noGrp="1"/>
          </p:cNvSpPr>
          <p:nvPr>
            <p:ph type="title"/>
          </p:nvPr>
        </p:nvSpPr>
        <p:spPr/>
        <p:txBody>
          <a:bodyPr>
            <a:normAutofit/>
          </a:bodyPr>
          <a:lstStyle/>
          <a:p>
            <a:r>
              <a:rPr lang="en-US" altLang="ja-JP" dirty="0">
                <a:latin typeface="+mn-ea"/>
                <a:ea typeface="+mn-ea"/>
              </a:rPr>
              <a:t>6-20.</a:t>
            </a:r>
            <a:r>
              <a:rPr lang="ja-JP" altLang="en-US" dirty="0">
                <a:latin typeface="+mn-ea"/>
                <a:ea typeface="+mn-ea"/>
              </a:rPr>
              <a:t> </a:t>
            </a:r>
            <a:r>
              <a:rPr lang="en-US" altLang="ja-JP" dirty="0">
                <a:latin typeface="+mn-ea"/>
                <a:ea typeface="+mn-ea"/>
              </a:rPr>
              <a:t>README</a:t>
            </a:r>
            <a:r>
              <a:rPr lang="ja-JP" altLang="en-US" dirty="0">
                <a:latin typeface="+mn-ea"/>
                <a:ea typeface="+mn-ea"/>
              </a:rPr>
              <a:t>の内容を確認しましょう②</a:t>
            </a:r>
          </a:p>
        </p:txBody>
      </p:sp>
      <p:sp>
        <p:nvSpPr>
          <p:cNvPr id="4" name="Text 8">
            <a:extLst>
              <a:ext uri="{FF2B5EF4-FFF2-40B4-BE49-F238E27FC236}">
                <a16:creationId xmlns:a16="http://schemas.microsoft.com/office/drawing/2014/main" id="{ACB70219-D1C6-5BC6-5853-4E0D8EFEEB9B}"/>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000000"/>
                </a:solidFill>
                <a:latin typeface="+mn-ea"/>
              </a:rPr>
              <a:t>出てきた結果が問題なさそうなら、「</a:t>
            </a:r>
            <a:r>
              <a:rPr lang="en-US" altLang="ja-JP" sz="2000" dirty="0">
                <a:solidFill>
                  <a:srgbClr val="000000"/>
                </a:solidFill>
                <a:latin typeface="+mn-ea"/>
              </a:rPr>
              <a:t>Keep</a:t>
            </a:r>
            <a:r>
              <a:rPr lang="ja-JP" altLang="en-US" sz="2000" dirty="0">
                <a:solidFill>
                  <a:srgbClr val="000000"/>
                </a:solidFill>
                <a:latin typeface="+mn-ea"/>
              </a:rPr>
              <a:t>」を選択して保存。</a:t>
            </a:r>
            <a:endParaRPr lang="en-US" altLang="ja-JP" sz="2000" dirty="0">
              <a:solidFill>
                <a:srgbClr val="000000"/>
              </a:solidFill>
              <a:latin typeface="+mn-ea"/>
            </a:endParaRPr>
          </a:p>
          <a:p>
            <a:pPr defTabSz="925880"/>
            <a:r>
              <a:rPr lang="ja-JP" altLang="en-US" sz="2000" dirty="0">
                <a:solidFill>
                  <a:srgbClr val="000000"/>
                </a:solidFill>
                <a:latin typeface="+mn-ea"/>
              </a:rPr>
              <a:t>気に入らなければ、「</a:t>
            </a:r>
            <a:r>
              <a:rPr lang="en-US" altLang="ja-JP" sz="2000" dirty="0">
                <a:solidFill>
                  <a:srgbClr val="000000"/>
                </a:solidFill>
                <a:latin typeface="+mn-ea"/>
              </a:rPr>
              <a:t>Undo</a:t>
            </a:r>
            <a:r>
              <a:rPr lang="ja-JP" altLang="en-US" sz="2000" dirty="0">
                <a:solidFill>
                  <a:srgbClr val="000000"/>
                </a:solidFill>
                <a:latin typeface="+mn-ea"/>
              </a:rPr>
              <a:t>」で戻す。</a:t>
            </a:r>
          </a:p>
        </p:txBody>
      </p:sp>
      <p:pic>
        <p:nvPicPr>
          <p:cNvPr id="6" name="図 5">
            <a:extLst>
              <a:ext uri="{FF2B5EF4-FFF2-40B4-BE49-F238E27FC236}">
                <a16:creationId xmlns:a16="http://schemas.microsoft.com/office/drawing/2014/main" id="{6477B8DA-0ECB-3F51-3360-7B4A1E317834}"/>
              </a:ext>
            </a:extLst>
          </p:cNvPr>
          <p:cNvPicPr>
            <a:picLocks noChangeAspect="1"/>
          </p:cNvPicPr>
          <p:nvPr/>
        </p:nvPicPr>
        <p:blipFill>
          <a:blip r:embed="rId2"/>
          <a:stretch>
            <a:fillRect/>
          </a:stretch>
        </p:blipFill>
        <p:spPr>
          <a:xfrm>
            <a:off x="632391" y="1871816"/>
            <a:ext cx="8819069" cy="1599106"/>
          </a:xfrm>
          <a:prstGeom prst="rect">
            <a:avLst/>
          </a:prstGeom>
        </p:spPr>
      </p:pic>
      <p:sp>
        <p:nvSpPr>
          <p:cNvPr id="8" name="正方形/長方形 7">
            <a:extLst>
              <a:ext uri="{FF2B5EF4-FFF2-40B4-BE49-F238E27FC236}">
                <a16:creationId xmlns:a16="http://schemas.microsoft.com/office/drawing/2014/main" id="{941C3884-F351-9796-BAFE-45B5C1B2D27C}"/>
              </a:ext>
            </a:extLst>
          </p:cNvPr>
          <p:cNvSpPr/>
          <p:nvPr/>
        </p:nvSpPr>
        <p:spPr>
          <a:xfrm>
            <a:off x="7252640" y="2152142"/>
            <a:ext cx="1185838" cy="3479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pic>
        <p:nvPicPr>
          <p:cNvPr id="10" name="図 9">
            <a:extLst>
              <a:ext uri="{FF2B5EF4-FFF2-40B4-BE49-F238E27FC236}">
                <a16:creationId xmlns:a16="http://schemas.microsoft.com/office/drawing/2014/main" id="{039BB182-75DA-2701-AB34-11AEB6A6DF1A}"/>
              </a:ext>
            </a:extLst>
          </p:cNvPr>
          <p:cNvPicPr>
            <a:picLocks noChangeAspect="1"/>
          </p:cNvPicPr>
          <p:nvPr/>
        </p:nvPicPr>
        <p:blipFill>
          <a:blip r:embed="rId3"/>
          <a:stretch>
            <a:fillRect/>
          </a:stretch>
        </p:blipFill>
        <p:spPr>
          <a:xfrm>
            <a:off x="632390" y="4095360"/>
            <a:ext cx="4210638" cy="1714739"/>
          </a:xfrm>
          <a:prstGeom prst="rect">
            <a:avLst/>
          </a:prstGeom>
        </p:spPr>
      </p:pic>
      <p:sp>
        <p:nvSpPr>
          <p:cNvPr id="12" name="正方形/長方形 11">
            <a:extLst>
              <a:ext uri="{FF2B5EF4-FFF2-40B4-BE49-F238E27FC236}">
                <a16:creationId xmlns:a16="http://schemas.microsoft.com/office/drawing/2014/main" id="{2EA92663-85CC-2204-CAFA-8E3D2CAC9560}"/>
              </a:ext>
            </a:extLst>
          </p:cNvPr>
          <p:cNvSpPr/>
          <p:nvPr/>
        </p:nvSpPr>
        <p:spPr>
          <a:xfrm>
            <a:off x="3505765" y="4188466"/>
            <a:ext cx="1337264" cy="27622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Tree>
    <p:extLst>
      <p:ext uri="{BB962C8B-B14F-4D97-AF65-F5344CB8AC3E}">
        <p14:creationId xmlns:p14="http://schemas.microsoft.com/office/powerpoint/2010/main" val="21720581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B583C-9ED5-E4D0-0F15-EB833C55D4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6AE1E4-ACBE-9961-9031-4D51746E691B}"/>
              </a:ext>
            </a:extLst>
          </p:cNvPr>
          <p:cNvSpPr>
            <a:spLocks noGrp="1"/>
          </p:cNvSpPr>
          <p:nvPr>
            <p:ph type="title"/>
          </p:nvPr>
        </p:nvSpPr>
        <p:spPr/>
        <p:txBody>
          <a:bodyPr>
            <a:normAutofit/>
          </a:bodyPr>
          <a:lstStyle/>
          <a:p>
            <a:r>
              <a:rPr lang="en-US" altLang="ja-JP" dirty="0">
                <a:latin typeface="+mn-ea"/>
                <a:ea typeface="+mn-ea"/>
              </a:rPr>
              <a:t>6-21.</a:t>
            </a:r>
            <a:r>
              <a:rPr lang="ja-JP" altLang="en-US" dirty="0">
                <a:latin typeface="+mn-ea"/>
                <a:ea typeface="+mn-ea"/>
              </a:rPr>
              <a:t> </a:t>
            </a:r>
            <a:r>
              <a:rPr lang="en-US" altLang="ja-JP" dirty="0">
                <a:latin typeface="+mn-ea"/>
                <a:ea typeface="+mn-ea"/>
              </a:rPr>
              <a:t>Change</a:t>
            </a:r>
            <a:r>
              <a:rPr lang="ja-JP" altLang="en-US" dirty="0">
                <a:latin typeface="+mn-ea"/>
                <a:ea typeface="+mn-ea"/>
              </a:rPr>
              <a:t>ログを作ってみましょう</a:t>
            </a:r>
          </a:p>
        </p:txBody>
      </p:sp>
      <p:pic>
        <p:nvPicPr>
          <p:cNvPr id="4" name="図 3">
            <a:extLst>
              <a:ext uri="{FF2B5EF4-FFF2-40B4-BE49-F238E27FC236}">
                <a16:creationId xmlns:a16="http://schemas.microsoft.com/office/drawing/2014/main" id="{18316095-2F08-389E-1943-38EB78BDCD76}"/>
              </a:ext>
            </a:extLst>
          </p:cNvPr>
          <p:cNvPicPr>
            <a:picLocks noChangeAspect="1"/>
          </p:cNvPicPr>
          <p:nvPr/>
        </p:nvPicPr>
        <p:blipFill>
          <a:blip r:embed="rId2"/>
          <a:stretch>
            <a:fillRect/>
          </a:stretch>
        </p:blipFill>
        <p:spPr>
          <a:xfrm>
            <a:off x="4953794" y="1781666"/>
            <a:ext cx="4766426" cy="3574820"/>
          </a:xfrm>
          <a:prstGeom prst="rect">
            <a:avLst/>
          </a:prstGeom>
        </p:spPr>
      </p:pic>
      <p:sp>
        <p:nvSpPr>
          <p:cNvPr id="6" name="Text 8">
            <a:extLst>
              <a:ext uri="{FF2B5EF4-FFF2-40B4-BE49-F238E27FC236}">
                <a16:creationId xmlns:a16="http://schemas.microsoft.com/office/drawing/2014/main" id="{189964BE-48FA-1DBF-BC56-D50089E28402}"/>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000000"/>
                </a:solidFill>
                <a:latin typeface="+mn-ea"/>
              </a:rPr>
              <a:t>同じように、チェンジログを作ってみてください。</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ja-JP" altLang="en-US" sz="2000" dirty="0">
                <a:solidFill>
                  <a:srgbClr val="000000"/>
                </a:solidFill>
                <a:latin typeface="+mn-ea"/>
              </a:rPr>
              <a:t>プロンプト例）</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ja-JP" altLang="en-US" sz="2000" dirty="0">
                <a:solidFill>
                  <a:srgbClr val="000000"/>
                </a:solidFill>
                <a:latin typeface="+mn-ea"/>
              </a:rPr>
              <a:t>バージョン</a:t>
            </a:r>
            <a:r>
              <a:rPr lang="en-US" altLang="ja-JP" sz="2000" dirty="0">
                <a:solidFill>
                  <a:srgbClr val="000000"/>
                </a:solidFill>
                <a:latin typeface="+mn-ea"/>
              </a:rPr>
              <a:t>1.0.0</a:t>
            </a:r>
            <a:r>
              <a:rPr lang="ja-JP" altLang="en-US" sz="2000" dirty="0">
                <a:solidFill>
                  <a:srgbClr val="000000"/>
                </a:solidFill>
                <a:latin typeface="+mn-ea"/>
              </a:rPr>
              <a:t>として、</a:t>
            </a:r>
            <a:endParaRPr lang="en-US" altLang="ja-JP" sz="2000" dirty="0">
              <a:solidFill>
                <a:srgbClr val="000000"/>
              </a:solidFill>
              <a:latin typeface="+mn-ea"/>
            </a:endParaRPr>
          </a:p>
          <a:p>
            <a:pPr defTabSz="925880"/>
            <a:r>
              <a:rPr lang="en-US" altLang="ja-JP" sz="2000" dirty="0">
                <a:solidFill>
                  <a:srgbClr val="000000"/>
                </a:solidFill>
                <a:latin typeface="+mn-ea"/>
              </a:rPr>
              <a:t>changelog.md</a:t>
            </a:r>
            <a:r>
              <a:rPr lang="ja-JP" altLang="en-US" sz="2000" dirty="0">
                <a:solidFill>
                  <a:srgbClr val="000000"/>
                </a:solidFill>
                <a:latin typeface="+mn-ea"/>
              </a:rPr>
              <a:t>を作成してください。</a:t>
            </a:r>
          </a:p>
        </p:txBody>
      </p:sp>
    </p:spTree>
    <p:extLst>
      <p:ext uri="{BB962C8B-B14F-4D97-AF65-F5344CB8AC3E}">
        <p14:creationId xmlns:p14="http://schemas.microsoft.com/office/powerpoint/2010/main" val="10330905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7246-076A-6AB8-1EBB-3370DE786F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7BA8D1-48E1-15DE-A9CC-DC314A11BFE7}"/>
              </a:ext>
            </a:extLst>
          </p:cNvPr>
          <p:cNvSpPr>
            <a:spLocks noGrp="1"/>
          </p:cNvSpPr>
          <p:nvPr>
            <p:ph type="title"/>
          </p:nvPr>
        </p:nvSpPr>
        <p:spPr/>
        <p:txBody>
          <a:bodyPr>
            <a:normAutofit/>
          </a:bodyPr>
          <a:lstStyle/>
          <a:p>
            <a:r>
              <a:rPr lang="en-US" altLang="ja-JP" dirty="0">
                <a:latin typeface="+mn-ea"/>
                <a:ea typeface="+mn-ea"/>
              </a:rPr>
              <a:t>6-21.</a:t>
            </a:r>
            <a:r>
              <a:rPr lang="ja-JP" altLang="en-US" dirty="0">
                <a:latin typeface="+mn-ea"/>
                <a:ea typeface="+mn-ea"/>
              </a:rPr>
              <a:t> チャット機能 </a:t>
            </a:r>
            <a:r>
              <a:rPr lang="en-US" altLang="ja-JP" dirty="0">
                <a:latin typeface="+mn-ea"/>
                <a:ea typeface="+mn-ea"/>
              </a:rPr>
              <a:t>– Plan</a:t>
            </a:r>
            <a:r>
              <a:rPr lang="ja-JP" altLang="en-US" dirty="0">
                <a:latin typeface="+mn-ea"/>
                <a:ea typeface="+mn-ea"/>
              </a:rPr>
              <a:t>モード</a:t>
            </a:r>
          </a:p>
        </p:txBody>
      </p:sp>
      <p:sp>
        <p:nvSpPr>
          <p:cNvPr id="13" name="Text 8">
            <a:extLst>
              <a:ext uri="{FF2B5EF4-FFF2-40B4-BE49-F238E27FC236}">
                <a16:creationId xmlns:a16="http://schemas.microsoft.com/office/drawing/2014/main" id="{85B9C9AD-2CEB-9A5B-A4DE-CAC73350414D}"/>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404040"/>
                </a:solidFill>
                <a:latin typeface="+mn-ea"/>
              </a:rPr>
              <a:t>■チャットモード</a:t>
            </a:r>
          </a:p>
          <a:p>
            <a:pPr defTabSz="925880"/>
            <a:r>
              <a:rPr lang="ja-JP" altLang="en-US" sz="2000" dirty="0">
                <a:solidFill>
                  <a:srgbClr val="404040"/>
                </a:solidFill>
                <a:latin typeface="+mn-ea"/>
              </a:rPr>
              <a:t>　</a:t>
            </a:r>
            <a:r>
              <a:rPr lang="en-US" altLang="ja-JP" sz="2000" dirty="0">
                <a:solidFill>
                  <a:srgbClr val="404040"/>
                </a:solidFill>
                <a:latin typeface="+mn-ea"/>
              </a:rPr>
              <a:t>GitHub Copilot</a:t>
            </a:r>
            <a:r>
              <a:rPr lang="ja-JP" altLang="en-US" sz="2000" dirty="0">
                <a:solidFill>
                  <a:srgbClr val="404040"/>
                </a:solidFill>
                <a:latin typeface="+mn-ea"/>
              </a:rPr>
              <a:t>には</a:t>
            </a:r>
            <a:r>
              <a:rPr lang="en-US" altLang="ja-JP" sz="2000" dirty="0">
                <a:solidFill>
                  <a:srgbClr val="404040"/>
                </a:solidFill>
                <a:latin typeface="+mn-ea"/>
              </a:rPr>
              <a:t>4</a:t>
            </a:r>
            <a:r>
              <a:rPr lang="ja-JP" altLang="en-US" sz="2000" dirty="0">
                <a:solidFill>
                  <a:srgbClr val="404040"/>
                </a:solidFill>
                <a:latin typeface="+mn-ea"/>
              </a:rPr>
              <a:t>つエージェント設定があり、それぞれ以下のとおり使い分けを行う。</a:t>
            </a:r>
          </a:p>
          <a:p>
            <a:pPr defTabSz="925880"/>
            <a:endParaRPr lang="ja-JP" altLang="en-US" sz="2000" dirty="0">
              <a:solidFill>
                <a:srgbClr val="404040"/>
              </a:solidFill>
              <a:latin typeface="+mn-ea"/>
            </a:endParaRPr>
          </a:p>
        </p:txBody>
      </p:sp>
      <p:graphicFrame>
        <p:nvGraphicFramePr>
          <p:cNvPr id="4" name="表 3">
            <a:extLst>
              <a:ext uri="{FF2B5EF4-FFF2-40B4-BE49-F238E27FC236}">
                <a16:creationId xmlns:a16="http://schemas.microsoft.com/office/drawing/2014/main" id="{C9229932-6F11-33E8-E476-3AFDCC204124}"/>
              </a:ext>
            </a:extLst>
          </p:cNvPr>
          <p:cNvGraphicFramePr>
            <a:graphicFrameLocks noGrp="1"/>
          </p:cNvGraphicFramePr>
          <p:nvPr/>
        </p:nvGraphicFramePr>
        <p:xfrm>
          <a:off x="381432" y="2244294"/>
          <a:ext cx="9294828" cy="3803192"/>
        </p:xfrm>
        <a:graphic>
          <a:graphicData uri="http://schemas.openxmlformats.org/drawingml/2006/table">
            <a:tbl>
              <a:tblPr firstRow="1" bandRow="1">
                <a:tableStyleId>{5C22544A-7EE6-4342-B048-85BDC9FD1C3A}</a:tableStyleId>
              </a:tblPr>
              <a:tblGrid>
                <a:gridCol w="580733">
                  <a:extLst>
                    <a:ext uri="{9D8B030D-6E8A-4147-A177-3AD203B41FA5}">
                      <a16:colId xmlns:a16="http://schemas.microsoft.com/office/drawing/2014/main" val="2685506249"/>
                    </a:ext>
                  </a:extLst>
                </a:gridCol>
                <a:gridCol w="873457">
                  <a:extLst>
                    <a:ext uri="{9D8B030D-6E8A-4147-A177-3AD203B41FA5}">
                      <a16:colId xmlns:a16="http://schemas.microsoft.com/office/drawing/2014/main" val="2119717142"/>
                    </a:ext>
                  </a:extLst>
                </a:gridCol>
                <a:gridCol w="3022979">
                  <a:extLst>
                    <a:ext uri="{9D8B030D-6E8A-4147-A177-3AD203B41FA5}">
                      <a16:colId xmlns:a16="http://schemas.microsoft.com/office/drawing/2014/main" val="3120822675"/>
                    </a:ext>
                  </a:extLst>
                </a:gridCol>
                <a:gridCol w="4817659">
                  <a:extLst>
                    <a:ext uri="{9D8B030D-6E8A-4147-A177-3AD203B41FA5}">
                      <a16:colId xmlns:a16="http://schemas.microsoft.com/office/drawing/2014/main" val="3966480306"/>
                    </a:ext>
                  </a:extLst>
                </a:gridCol>
              </a:tblGrid>
              <a:tr h="501298">
                <a:tc>
                  <a:txBody>
                    <a:bodyPr/>
                    <a:lstStyle/>
                    <a:p>
                      <a:pPr marL="0" algn="ctr" defTabSz="914400" rtl="0" eaLnBrk="1" latinLnBrk="0" hangingPunct="1"/>
                      <a:r>
                        <a:rPr kumimoji="1" lang="en-US" altLang="ja-JP" sz="1800" b="1" kern="1200" dirty="0">
                          <a:solidFill>
                            <a:schemeClr val="bg1"/>
                          </a:solidFill>
                        </a:rPr>
                        <a:t>No.</a:t>
                      </a:r>
                      <a:endParaRPr kumimoji="1" lang="ja-JP" altLang="en-US" sz="1800" b="1" kern="1200" dirty="0">
                        <a:solidFill>
                          <a:schemeClr val="bg1"/>
                        </a:solidFill>
                        <a:latin typeface="Meiryo UI"/>
                        <a:ea typeface="Meiryo UI"/>
                        <a:cs typeface="+mn-cs"/>
                      </a:endParaRP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モード</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概要説明</a:t>
                      </a:r>
                    </a:p>
                  </a:txBody>
                  <a:tcPr/>
                </a:tc>
                <a:tc>
                  <a:txBody>
                    <a:bodyPr/>
                    <a:lstStyle/>
                    <a:p>
                      <a:pPr marL="0" algn="ctr" defTabSz="914400" rtl="0" eaLnBrk="1" latinLnBrk="0" hangingPunct="1"/>
                      <a:r>
                        <a:rPr kumimoji="1" lang="ja-JP" altLang="en-US" sz="1800" b="1" kern="1200" dirty="0">
                          <a:solidFill>
                            <a:schemeClr val="bg1"/>
                          </a:solidFill>
                          <a:latin typeface="Meiryo UI"/>
                          <a:ea typeface="Meiryo UI"/>
                          <a:cs typeface="+mn-cs"/>
                        </a:rPr>
                        <a:t>備考</a:t>
                      </a:r>
                    </a:p>
                  </a:txBody>
                  <a:tcPr/>
                </a:tc>
                <a:extLst>
                  <a:ext uri="{0D108BD9-81ED-4DB2-BD59-A6C34878D82A}">
                    <a16:rowId xmlns:a16="http://schemas.microsoft.com/office/drawing/2014/main" val="3481334053"/>
                  </a:ext>
                </a:extLst>
              </a:tr>
              <a:tr h="765527">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rPr>
                        <a:t>１</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Ask</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入力された質問に回答する。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ファイル編集は行わない。</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「この関数は何をしている？」</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pandas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Polars</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の違いを処理速度とメモリ使用量の観点で教えて」</a:t>
                      </a:r>
                    </a:p>
                  </a:txBody>
                  <a:tcPr/>
                </a:tc>
                <a:extLst>
                  <a:ext uri="{0D108BD9-81ED-4DB2-BD59-A6C34878D82A}">
                    <a16:rowId xmlns:a16="http://schemas.microsoft.com/office/drawing/2014/main" val="1399545113"/>
                  </a:ext>
                </a:extLst>
              </a:tr>
              <a:tr h="67253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2</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plan</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実装前に 計画・方針・手順を立てる モード。仕様整理、タスク分解、設計案作成などに向いている。</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「この機能追加の作業タスクを分解してリスト化して」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「認証機能を導入するための設計案を作って。」</a:t>
                      </a:r>
                    </a:p>
                  </a:txBody>
                  <a:tcPr/>
                </a:tc>
                <a:extLst>
                  <a:ext uri="{0D108BD9-81ED-4DB2-BD59-A6C34878D82A}">
                    <a16:rowId xmlns:a16="http://schemas.microsoft.com/office/drawing/2014/main" val="3484899344"/>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3</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プロジェクト全体を考慮し、ファイル選定からコード・ドキュメント修正まで一括で行う。</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「フリマアプリを作りたいから要件定義書を作って」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「要件定義書を読んで開発スケジュールを立てて」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「ビルドエラーを解消して」</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49639977"/>
                  </a:ext>
                </a:extLst>
              </a:tr>
              <a:tr h="827987">
                <a:tc>
                  <a:txBody>
                    <a:bodyPr/>
                    <a:lstStyle/>
                    <a:p>
                      <a:pPr marL="0" algn="ctr" defTabSz="914400" rtl="0" eaLnBrk="1" latinLnBrk="0" hangingPunct="1"/>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4</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ctr"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endParaRPr kumimoji="1" lang="ja-JP" altLang="en-US" sz="1600" b="0" kern="1200" dirty="0">
                        <a:solidFill>
                          <a:schemeClr val="tx1"/>
                        </a:solidFill>
                        <a:latin typeface="Meiryo UI" panose="020B0604030504040204" pitchFamily="50" charset="-128"/>
                        <a:ea typeface="Meiryo UI" panose="020B0604030504040204" pitchFamily="50" charset="-128"/>
                        <a:cs typeface="+mn-cs"/>
                      </a:endParaRPr>
                    </a:p>
                  </a:txBody>
                  <a:tcPr/>
                </a:tc>
                <a:tc>
                  <a:txBody>
                    <a:bodyPr/>
                    <a:lstStyle/>
                    <a:p>
                      <a:pPr marL="0" algn="l" defTabSz="914400" rtl="0" eaLnBrk="1" latinLnBrk="0" hangingPunct="1"/>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ユーザの独自のワークフロー、コーディング規則、ユースケースに合わせてユーザが定義した</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Agent</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a:t>
                      </a:r>
                    </a:p>
                  </a:txBody>
                  <a:tcPr/>
                </a:tc>
                <a:tc>
                  <a:txBody>
                    <a:bodyPr/>
                    <a:lstStyle/>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エージェントの動作と専門知識を定義するカスタム命令</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p>
                      <a:pPr marL="285750" indent="-285750" algn="l" defTabSz="914400" rtl="0" eaLnBrk="1" latinLnBrk="0" hangingPunct="1">
                        <a:buFont typeface="Arial" panose="020B0604020202020204" pitchFamily="34" charset="0"/>
                        <a:buChar char="•"/>
                      </a:pP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カスタムエージェントは</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xxxx.agent.md</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という</a:t>
                      </a:r>
                      <a:r>
                        <a:rPr kumimoji="1" lang="en-US" altLang="ja-JP" sz="1600" b="0" kern="1200" dirty="0">
                          <a:solidFill>
                            <a:schemeClr val="tx1"/>
                          </a:solidFill>
                          <a:latin typeface="Meiryo UI" panose="020B0604030504040204" pitchFamily="50" charset="-128"/>
                          <a:ea typeface="Meiryo UI" panose="020B0604030504040204" pitchFamily="50" charset="-128"/>
                          <a:cs typeface="+mn-cs"/>
                        </a:rPr>
                        <a:t>Markdown</a:t>
                      </a:r>
                      <a:r>
                        <a:rPr kumimoji="1" lang="ja-JP" altLang="en-US" sz="1600" b="0" kern="1200" dirty="0">
                          <a:solidFill>
                            <a:schemeClr val="tx1"/>
                          </a:solidFill>
                          <a:latin typeface="Meiryo UI" panose="020B0604030504040204" pitchFamily="50" charset="-128"/>
                          <a:ea typeface="Meiryo UI" panose="020B0604030504040204" pitchFamily="50" charset="-128"/>
                          <a:cs typeface="+mn-cs"/>
                        </a:rPr>
                        <a:t>ファイルで定義</a:t>
                      </a:r>
                      <a:endParaRPr kumimoji="1" lang="en-US" altLang="ja-JP" sz="1600" b="0" kern="1200" dirty="0">
                        <a:solidFill>
                          <a:schemeClr val="tx1"/>
                        </a:solidFill>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927893952"/>
                  </a:ext>
                </a:extLst>
              </a:tr>
            </a:tbl>
          </a:graphicData>
        </a:graphic>
      </p:graphicFrame>
      <p:sp>
        <p:nvSpPr>
          <p:cNvPr id="5" name="正方形/長方形 4">
            <a:extLst>
              <a:ext uri="{FF2B5EF4-FFF2-40B4-BE49-F238E27FC236}">
                <a16:creationId xmlns:a16="http://schemas.microsoft.com/office/drawing/2014/main" id="{018F9359-B945-A346-C121-011F04F8CE76}"/>
              </a:ext>
            </a:extLst>
          </p:cNvPr>
          <p:cNvSpPr/>
          <p:nvPr/>
        </p:nvSpPr>
        <p:spPr>
          <a:xfrm>
            <a:off x="381430" y="3548418"/>
            <a:ext cx="9294829" cy="8519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Tree>
    <p:extLst>
      <p:ext uri="{BB962C8B-B14F-4D97-AF65-F5344CB8AC3E}">
        <p14:creationId xmlns:p14="http://schemas.microsoft.com/office/powerpoint/2010/main" val="32404203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1DB7-D462-43EA-F0E5-2151B6C7A23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73248F-139E-1FBC-4D76-3D385FE88B3D}"/>
              </a:ext>
            </a:extLst>
          </p:cNvPr>
          <p:cNvSpPr>
            <a:spLocks noGrp="1"/>
          </p:cNvSpPr>
          <p:nvPr>
            <p:ph type="title"/>
          </p:nvPr>
        </p:nvSpPr>
        <p:spPr/>
        <p:txBody>
          <a:bodyPr>
            <a:normAutofit/>
          </a:bodyPr>
          <a:lstStyle/>
          <a:p>
            <a:r>
              <a:rPr lang="en-US" altLang="ja-JP" dirty="0">
                <a:latin typeface="+mn-ea"/>
                <a:ea typeface="+mn-ea"/>
              </a:rPr>
              <a:t>6-23.</a:t>
            </a:r>
            <a:r>
              <a:rPr lang="ja-JP" altLang="en-US" dirty="0">
                <a:latin typeface="+mn-ea"/>
                <a:ea typeface="+mn-ea"/>
              </a:rPr>
              <a:t> </a:t>
            </a:r>
            <a:r>
              <a:rPr lang="en-US" altLang="ja-JP" dirty="0">
                <a:latin typeface="+mn-ea"/>
                <a:ea typeface="+mn-ea"/>
              </a:rPr>
              <a:t>Plan</a:t>
            </a:r>
            <a:r>
              <a:rPr lang="ja-JP" altLang="en-US" dirty="0">
                <a:latin typeface="+mn-ea"/>
                <a:ea typeface="+mn-ea"/>
              </a:rPr>
              <a:t>モードで機能追加してみましょう</a:t>
            </a:r>
          </a:p>
        </p:txBody>
      </p:sp>
      <p:sp>
        <p:nvSpPr>
          <p:cNvPr id="4" name="Text 8">
            <a:extLst>
              <a:ext uri="{FF2B5EF4-FFF2-40B4-BE49-F238E27FC236}">
                <a16:creationId xmlns:a16="http://schemas.microsoft.com/office/drawing/2014/main" id="{15512FC0-CD3A-284F-EBEC-C37916CC5E60}"/>
              </a:ext>
            </a:extLst>
          </p:cNvPr>
          <p:cNvSpPr txBox="1"/>
          <p:nvPr/>
        </p:nvSpPr>
        <p:spPr>
          <a:xfrm>
            <a:off x="457995" y="1047902"/>
            <a:ext cx="9298847" cy="228600"/>
          </a:xfrm>
          <a:prstGeom prst="rect">
            <a:avLst/>
          </a:prstGeom>
          <a:noFill/>
          <a:ln/>
        </p:spPr>
        <p:txBody>
          <a:bodyPr wrap="none" lIns="0" tIns="0" rIns="0" bIns="0" rtlCol="0" anchor="t"/>
          <a:lstStyle/>
          <a:p>
            <a:pPr defTabSz="925880"/>
            <a:r>
              <a:rPr lang="en-US" altLang="ja-JP" sz="2000" dirty="0">
                <a:solidFill>
                  <a:srgbClr val="000000"/>
                </a:solidFill>
                <a:latin typeface="+mn-ea"/>
              </a:rPr>
              <a:t>Plan</a:t>
            </a:r>
            <a:r>
              <a:rPr lang="ja-JP" altLang="en-US" sz="2000" dirty="0">
                <a:solidFill>
                  <a:srgbClr val="000000"/>
                </a:solidFill>
                <a:latin typeface="+mn-ea"/>
              </a:rPr>
              <a:t>モードを使って、作成したアプリやゲームに新しい機能を追加する計画を立ててみましょう。</a:t>
            </a:r>
          </a:p>
          <a:p>
            <a:pPr defTabSz="925880"/>
            <a:r>
              <a:rPr lang="ja-JP" altLang="en-US" sz="2000" dirty="0">
                <a:solidFill>
                  <a:srgbClr val="000000"/>
                </a:solidFill>
                <a:latin typeface="+mn-ea"/>
              </a:rPr>
              <a:t>先ほど、</a:t>
            </a:r>
            <a:r>
              <a:rPr lang="en-US" altLang="ja-JP" sz="2000" dirty="0">
                <a:solidFill>
                  <a:srgbClr val="000000"/>
                </a:solidFill>
                <a:latin typeface="+mn-ea"/>
              </a:rPr>
              <a:t>Ask</a:t>
            </a:r>
            <a:r>
              <a:rPr lang="ja-JP" altLang="en-US" sz="2000" dirty="0">
                <a:solidFill>
                  <a:srgbClr val="000000"/>
                </a:solidFill>
                <a:latin typeface="+mn-ea"/>
              </a:rPr>
              <a:t>モードを選んだ場所で、</a:t>
            </a:r>
            <a:r>
              <a:rPr lang="en-US" altLang="ja-JP" sz="2000" dirty="0">
                <a:solidFill>
                  <a:srgbClr val="000000"/>
                </a:solidFill>
                <a:latin typeface="+mn-ea"/>
              </a:rPr>
              <a:t>Plan</a:t>
            </a:r>
            <a:r>
              <a:rPr lang="ja-JP" altLang="en-US" sz="2000" dirty="0">
                <a:solidFill>
                  <a:srgbClr val="000000"/>
                </a:solidFill>
                <a:latin typeface="+mn-ea"/>
              </a:rPr>
              <a:t>モードを選んでください。</a:t>
            </a:r>
          </a:p>
          <a:p>
            <a:pPr defTabSz="925880"/>
            <a:r>
              <a:rPr lang="ja-JP" altLang="en-US" sz="2000" dirty="0">
                <a:solidFill>
                  <a:srgbClr val="000000"/>
                </a:solidFill>
                <a:latin typeface="+mn-ea"/>
              </a:rPr>
              <a:t>そのうえで、プロンプトを入力してください。</a:t>
            </a:r>
          </a:p>
          <a:p>
            <a:pPr defTabSz="925880"/>
            <a:endParaRPr lang="ja-JP" altLang="en-US" sz="2000" dirty="0">
              <a:solidFill>
                <a:srgbClr val="000000"/>
              </a:solidFill>
              <a:latin typeface="+mn-ea"/>
            </a:endParaRPr>
          </a:p>
          <a:p>
            <a:pPr defTabSz="925880"/>
            <a:r>
              <a:rPr lang="ja-JP" altLang="en-US" sz="2000" dirty="0">
                <a:solidFill>
                  <a:srgbClr val="000000"/>
                </a:solidFill>
                <a:latin typeface="+mn-ea"/>
              </a:rPr>
              <a:t>サンプルの例の場合だと、以下のようになります。</a:t>
            </a:r>
          </a:p>
          <a:p>
            <a:pPr defTabSz="925880"/>
            <a:endParaRPr lang="ja-JP" altLang="en-US" sz="2000" dirty="0">
              <a:solidFill>
                <a:srgbClr val="000000"/>
              </a:solidFill>
              <a:latin typeface="+mn-ea"/>
            </a:endParaRPr>
          </a:p>
          <a:p>
            <a:pPr defTabSz="925880"/>
            <a:r>
              <a:rPr lang="ja-JP" altLang="en-US" sz="2000" dirty="0">
                <a:solidFill>
                  <a:srgbClr val="000000"/>
                </a:solidFill>
                <a:latin typeface="+mn-ea"/>
              </a:rPr>
              <a:t>現在、ストリートビューが確実に表示されるよう、スポットを定義してそこに誘導しています。</a:t>
            </a:r>
          </a:p>
          <a:p>
            <a:pPr defTabSz="925880"/>
            <a:r>
              <a:rPr lang="ja-JP" altLang="en-US" sz="2000" dirty="0">
                <a:solidFill>
                  <a:srgbClr val="000000"/>
                </a:solidFill>
                <a:latin typeface="+mn-ea"/>
              </a:rPr>
              <a:t>ですが、それだと楽しみが減ってしまうため、スポット選択だけでなく、</a:t>
            </a:r>
            <a:endParaRPr lang="en-US" altLang="ja-JP" sz="2000" dirty="0">
              <a:solidFill>
                <a:srgbClr val="000000"/>
              </a:solidFill>
              <a:latin typeface="+mn-ea"/>
            </a:endParaRPr>
          </a:p>
          <a:p>
            <a:pPr defTabSz="925880"/>
            <a:r>
              <a:rPr lang="ja-JP" altLang="en-US" sz="2000" dirty="0">
                <a:solidFill>
                  <a:srgbClr val="000000"/>
                </a:solidFill>
                <a:latin typeface="+mn-ea"/>
              </a:rPr>
              <a:t>完全にランダムな場所を選べるモードを追加し、</a:t>
            </a:r>
            <a:endParaRPr lang="en-US" altLang="ja-JP" sz="2000" dirty="0">
              <a:solidFill>
                <a:srgbClr val="000000"/>
              </a:solidFill>
              <a:latin typeface="+mn-ea"/>
            </a:endParaRPr>
          </a:p>
          <a:p>
            <a:pPr defTabSz="925880"/>
            <a:r>
              <a:rPr lang="ja-JP" altLang="en-US" sz="2000" dirty="0">
                <a:solidFill>
                  <a:srgbClr val="000000"/>
                </a:solidFill>
                <a:latin typeface="+mn-ea"/>
              </a:rPr>
              <a:t>仮に存在しない場合は、別の場所を探すように誘導したいです。</a:t>
            </a:r>
          </a:p>
          <a:p>
            <a:pPr defTabSz="925880"/>
            <a:r>
              <a:rPr lang="ja-JP" altLang="en-US" sz="2000" dirty="0">
                <a:solidFill>
                  <a:srgbClr val="000000"/>
                </a:solidFill>
                <a:latin typeface="+mn-ea"/>
              </a:rPr>
              <a:t>まず、どのような修正が必要かを検討したうえで、作業プランを作成してください。</a:t>
            </a:r>
          </a:p>
          <a:p>
            <a:pPr defTabSz="925880"/>
            <a:r>
              <a:rPr lang="ja-JP" altLang="en-US" sz="2000" dirty="0">
                <a:solidFill>
                  <a:srgbClr val="000000"/>
                </a:solidFill>
                <a:latin typeface="+mn-ea"/>
              </a:rPr>
              <a:t>なお、</a:t>
            </a:r>
            <a:r>
              <a:rPr lang="en-US" altLang="ja-JP" sz="2000" dirty="0">
                <a:solidFill>
                  <a:srgbClr val="000000"/>
                </a:solidFill>
                <a:latin typeface="+mn-ea"/>
              </a:rPr>
              <a:t>README</a:t>
            </a:r>
            <a:r>
              <a:rPr lang="ja-JP" altLang="en-US" sz="2000" dirty="0">
                <a:solidFill>
                  <a:srgbClr val="000000"/>
                </a:solidFill>
                <a:latin typeface="+mn-ea"/>
              </a:rPr>
              <a:t>や</a:t>
            </a:r>
            <a:r>
              <a:rPr lang="en-US" altLang="ja-JP" sz="2000" dirty="0">
                <a:solidFill>
                  <a:srgbClr val="000000"/>
                </a:solidFill>
                <a:latin typeface="+mn-ea"/>
              </a:rPr>
              <a:t>CHANGELOG</a:t>
            </a:r>
            <a:r>
              <a:rPr lang="ja-JP" altLang="en-US" sz="2000" dirty="0">
                <a:solidFill>
                  <a:srgbClr val="000000"/>
                </a:solidFill>
                <a:latin typeface="+mn-ea"/>
              </a:rPr>
              <a:t>への修正も計画に含めてください。</a:t>
            </a:r>
          </a:p>
          <a:p>
            <a:pPr defTabSz="925880"/>
            <a:endParaRPr lang="ja-JP" altLang="en-US" sz="2000" dirty="0">
              <a:solidFill>
                <a:srgbClr val="000000"/>
              </a:solidFill>
              <a:latin typeface="+mn-ea"/>
            </a:endParaRPr>
          </a:p>
        </p:txBody>
      </p:sp>
    </p:spTree>
    <p:extLst>
      <p:ext uri="{BB962C8B-B14F-4D97-AF65-F5344CB8AC3E}">
        <p14:creationId xmlns:p14="http://schemas.microsoft.com/office/powerpoint/2010/main" val="40476907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92D0-975E-A894-EB50-4EC955C37D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D43EE1-2F05-1B1D-F126-0406D95E4703}"/>
              </a:ext>
            </a:extLst>
          </p:cNvPr>
          <p:cNvSpPr>
            <a:spLocks noGrp="1"/>
          </p:cNvSpPr>
          <p:nvPr>
            <p:ph type="title"/>
          </p:nvPr>
        </p:nvSpPr>
        <p:spPr/>
        <p:txBody>
          <a:bodyPr>
            <a:normAutofit/>
          </a:bodyPr>
          <a:lstStyle/>
          <a:p>
            <a:r>
              <a:rPr lang="en-US" altLang="ja-JP" dirty="0">
                <a:latin typeface="+mn-ea"/>
                <a:ea typeface="+mn-ea"/>
              </a:rPr>
              <a:t>6-24.</a:t>
            </a:r>
            <a:r>
              <a:rPr lang="ja-JP" altLang="en-US" dirty="0">
                <a:latin typeface="+mn-ea"/>
                <a:ea typeface="+mn-ea"/>
              </a:rPr>
              <a:t> 実行例①</a:t>
            </a:r>
          </a:p>
        </p:txBody>
      </p:sp>
      <p:pic>
        <p:nvPicPr>
          <p:cNvPr id="4" name="図 3">
            <a:extLst>
              <a:ext uri="{FF2B5EF4-FFF2-40B4-BE49-F238E27FC236}">
                <a16:creationId xmlns:a16="http://schemas.microsoft.com/office/drawing/2014/main" id="{82CA330D-953B-904E-9C37-4319A933525D}"/>
              </a:ext>
            </a:extLst>
          </p:cNvPr>
          <p:cNvPicPr>
            <a:picLocks noChangeAspect="1"/>
          </p:cNvPicPr>
          <p:nvPr/>
        </p:nvPicPr>
        <p:blipFill>
          <a:blip r:embed="rId2"/>
          <a:stretch>
            <a:fillRect/>
          </a:stretch>
        </p:blipFill>
        <p:spPr>
          <a:xfrm>
            <a:off x="794" y="1150768"/>
            <a:ext cx="9906000" cy="4556464"/>
          </a:xfrm>
          <a:prstGeom prst="rect">
            <a:avLst/>
          </a:prstGeom>
        </p:spPr>
      </p:pic>
    </p:spTree>
    <p:extLst>
      <p:ext uri="{BB962C8B-B14F-4D97-AF65-F5344CB8AC3E}">
        <p14:creationId xmlns:p14="http://schemas.microsoft.com/office/powerpoint/2010/main" val="26346548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A3AC-24D9-18C9-D031-72D61F4191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10F07F-A2FC-C718-C5A5-E846B680ED2A}"/>
              </a:ext>
            </a:extLst>
          </p:cNvPr>
          <p:cNvSpPr>
            <a:spLocks noGrp="1"/>
          </p:cNvSpPr>
          <p:nvPr>
            <p:ph type="title"/>
          </p:nvPr>
        </p:nvSpPr>
        <p:spPr/>
        <p:txBody>
          <a:bodyPr>
            <a:normAutofit/>
          </a:bodyPr>
          <a:lstStyle/>
          <a:p>
            <a:r>
              <a:rPr lang="en-US" altLang="ja-JP" dirty="0">
                <a:latin typeface="+mn-ea"/>
                <a:ea typeface="+mn-ea"/>
              </a:rPr>
              <a:t>6-25.</a:t>
            </a:r>
            <a:r>
              <a:rPr lang="ja-JP" altLang="en-US" dirty="0">
                <a:latin typeface="+mn-ea"/>
                <a:ea typeface="+mn-ea"/>
              </a:rPr>
              <a:t> 実行例②</a:t>
            </a:r>
          </a:p>
        </p:txBody>
      </p:sp>
      <p:sp>
        <p:nvSpPr>
          <p:cNvPr id="4" name="Text 8">
            <a:extLst>
              <a:ext uri="{FF2B5EF4-FFF2-40B4-BE49-F238E27FC236}">
                <a16:creationId xmlns:a16="http://schemas.microsoft.com/office/drawing/2014/main" id="{4428915F-32EA-7B55-5153-D2C387C4C986}"/>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000000"/>
                </a:solidFill>
                <a:latin typeface="+mn-ea"/>
              </a:rPr>
              <a:t>「</a:t>
            </a:r>
            <a:r>
              <a:rPr lang="en-US" altLang="ja-JP" sz="2000" dirty="0">
                <a:solidFill>
                  <a:srgbClr val="000000"/>
                </a:solidFill>
                <a:latin typeface="+mn-ea"/>
              </a:rPr>
              <a:t>Start Implementation</a:t>
            </a:r>
            <a:r>
              <a:rPr lang="ja-JP" altLang="en-US" sz="2000" dirty="0">
                <a:solidFill>
                  <a:srgbClr val="000000"/>
                </a:solidFill>
                <a:latin typeface="+mn-ea"/>
              </a:rPr>
              <a:t>」を押すと、策定された計画通りに作業が開始されます。</a:t>
            </a:r>
          </a:p>
        </p:txBody>
      </p:sp>
      <p:pic>
        <p:nvPicPr>
          <p:cNvPr id="8" name="図 7">
            <a:extLst>
              <a:ext uri="{FF2B5EF4-FFF2-40B4-BE49-F238E27FC236}">
                <a16:creationId xmlns:a16="http://schemas.microsoft.com/office/drawing/2014/main" id="{09F726E0-EA37-D003-55AB-B6CE2B34C338}"/>
              </a:ext>
            </a:extLst>
          </p:cNvPr>
          <p:cNvPicPr>
            <a:picLocks noChangeAspect="1"/>
          </p:cNvPicPr>
          <p:nvPr/>
        </p:nvPicPr>
        <p:blipFill>
          <a:blip r:embed="rId2"/>
          <a:stretch>
            <a:fillRect/>
          </a:stretch>
        </p:blipFill>
        <p:spPr>
          <a:xfrm>
            <a:off x="794" y="1671320"/>
            <a:ext cx="9906000" cy="3515360"/>
          </a:xfrm>
          <a:prstGeom prst="rect">
            <a:avLst/>
          </a:prstGeom>
        </p:spPr>
      </p:pic>
    </p:spTree>
    <p:extLst>
      <p:ext uri="{BB962C8B-B14F-4D97-AF65-F5344CB8AC3E}">
        <p14:creationId xmlns:p14="http://schemas.microsoft.com/office/powerpoint/2010/main" val="11266367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2E9E6-6A8C-81B2-C2AA-2C2C737FFD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593437-D9B5-C706-9341-9216C2269E4F}"/>
              </a:ext>
            </a:extLst>
          </p:cNvPr>
          <p:cNvSpPr>
            <a:spLocks noGrp="1"/>
          </p:cNvSpPr>
          <p:nvPr>
            <p:ph type="title"/>
          </p:nvPr>
        </p:nvSpPr>
        <p:spPr/>
        <p:txBody>
          <a:bodyPr>
            <a:normAutofit/>
          </a:bodyPr>
          <a:lstStyle/>
          <a:p>
            <a:r>
              <a:rPr lang="en-US" altLang="ja-JP" dirty="0">
                <a:latin typeface="+mn-ea"/>
                <a:ea typeface="+mn-ea"/>
              </a:rPr>
              <a:t>6-26.</a:t>
            </a:r>
            <a:r>
              <a:rPr lang="ja-JP" altLang="en-US" dirty="0">
                <a:latin typeface="+mn-ea"/>
                <a:ea typeface="+mn-ea"/>
              </a:rPr>
              <a:t> 実行例③</a:t>
            </a:r>
          </a:p>
        </p:txBody>
      </p:sp>
      <p:pic>
        <p:nvPicPr>
          <p:cNvPr id="4" name="図 3">
            <a:extLst>
              <a:ext uri="{FF2B5EF4-FFF2-40B4-BE49-F238E27FC236}">
                <a16:creationId xmlns:a16="http://schemas.microsoft.com/office/drawing/2014/main" id="{A2AA0911-B52C-BFE5-0CEF-F3BE6D670488}"/>
              </a:ext>
            </a:extLst>
          </p:cNvPr>
          <p:cNvPicPr>
            <a:picLocks noChangeAspect="1"/>
          </p:cNvPicPr>
          <p:nvPr/>
        </p:nvPicPr>
        <p:blipFill>
          <a:blip r:embed="rId2"/>
          <a:stretch>
            <a:fillRect/>
          </a:stretch>
        </p:blipFill>
        <p:spPr>
          <a:xfrm>
            <a:off x="690582" y="1444546"/>
            <a:ext cx="8526424" cy="1984454"/>
          </a:xfrm>
          <a:prstGeom prst="rect">
            <a:avLst/>
          </a:prstGeom>
        </p:spPr>
      </p:pic>
      <p:sp>
        <p:nvSpPr>
          <p:cNvPr id="6" name="テキスト ボックス 5">
            <a:extLst>
              <a:ext uri="{FF2B5EF4-FFF2-40B4-BE49-F238E27FC236}">
                <a16:creationId xmlns:a16="http://schemas.microsoft.com/office/drawing/2014/main" id="{CDF6C28D-7738-4AA7-D859-DE0948BAD5DD}"/>
              </a:ext>
            </a:extLst>
          </p:cNvPr>
          <p:cNvSpPr txBox="1"/>
          <p:nvPr/>
        </p:nvSpPr>
        <p:spPr>
          <a:xfrm>
            <a:off x="690583" y="3517900"/>
            <a:ext cx="7323287" cy="1015663"/>
          </a:xfrm>
          <a:prstGeom prst="rect">
            <a:avLst/>
          </a:prstGeom>
          <a:noFill/>
        </p:spPr>
        <p:txBody>
          <a:bodyPr wrap="none" rtlCol="0">
            <a:spAutoFit/>
          </a:bodyPr>
          <a:lstStyle/>
          <a:p>
            <a:pPr defTabSz="925880"/>
            <a:r>
              <a:rPr lang="en-US" altLang="ja-JP" sz="2000" dirty="0">
                <a:solidFill>
                  <a:srgbClr val="000000"/>
                </a:solidFill>
                <a:latin typeface="+mn-ea"/>
              </a:rPr>
              <a:t>CHNGELOG.md </a:t>
            </a:r>
            <a:r>
              <a:rPr lang="ja-JP" altLang="en-US" sz="2000" dirty="0">
                <a:solidFill>
                  <a:srgbClr val="000000"/>
                </a:solidFill>
                <a:latin typeface="+mn-ea"/>
              </a:rPr>
              <a:t>に対して、</a:t>
            </a:r>
            <a:r>
              <a:rPr lang="en-US" altLang="ja-JP" sz="2000" dirty="0">
                <a:solidFill>
                  <a:srgbClr val="000000"/>
                </a:solidFill>
                <a:latin typeface="+mn-ea"/>
              </a:rPr>
              <a:t>18</a:t>
            </a:r>
            <a:r>
              <a:rPr lang="ja-JP" altLang="en-US" sz="2000" dirty="0">
                <a:solidFill>
                  <a:srgbClr val="000000"/>
                </a:solidFill>
                <a:latin typeface="+mn-ea"/>
              </a:rPr>
              <a:t>行追加して、</a:t>
            </a:r>
            <a:r>
              <a:rPr lang="en-US" altLang="ja-JP" sz="2000" dirty="0">
                <a:solidFill>
                  <a:srgbClr val="000000"/>
                </a:solidFill>
                <a:latin typeface="+mn-ea"/>
              </a:rPr>
              <a:t>0</a:t>
            </a:r>
            <a:r>
              <a:rPr lang="ja-JP" altLang="en-US" sz="2000" dirty="0">
                <a:solidFill>
                  <a:srgbClr val="000000"/>
                </a:solidFill>
                <a:latin typeface="+mn-ea"/>
              </a:rPr>
              <a:t>行削除した。</a:t>
            </a:r>
            <a:endParaRPr lang="en-US" altLang="ja-JP" sz="2000" dirty="0">
              <a:solidFill>
                <a:srgbClr val="000000"/>
              </a:solidFill>
              <a:latin typeface="+mn-ea"/>
            </a:endParaRPr>
          </a:p>
          <a:p>
            <a:pPr defTabSz="925880"/>
            <a:r>
              <a:rPr lang="en-US" altLang="ja-JP" sz="2000" dirty="0">
                <a:solidFill>
                  <a:srgbClr val="000000"/>
                </a:solidFill>
                <a:latin typeface="+mn-ea"/>
              </a:rPr>
              <a:t>Kids_darts_japan.html</a:t>
            </a:r>
            <a:r>
              <a:rPr lang="ja-JP" altLang="en-US" sz="2000" dirty="0">
                <a:solidFill>
                  <a:srgbClr val="000000"/>
                </a:solidFill>
                <a:latin typeface="+mn-ea"/>
              </a:rPr>
              <a:t>に対して、</a:t>
            </a:r>
            <a:r>
              <a:rPr lang="en-US" altLang="ja-JP" sz="2000" dirty="0">
                <a:solidFill>
                  <a:srgbClr val="000000"/>
                </a:solidFill>
                <a:latin typeface="+mn-ea"/>
              </a:rPr>
              <a:t>58</a:t>
            </a:r>
            <a:r>
              <a:rPr lang="ja-JP" altLang="en-US" sz="2000" dirty="0">
                <a:solidFill>
                  <a:srgbClr val="000000"/>
                </a:solidFill>
                <a:latin typeface="+mn-ea"/>
              </a:rPr>
              <a:t>行追加して、</a:t>
            </a:r>
            <a:r>
              <a:rPr lang="en-US" altLang="ja-JP" sz="2000" dirty="0">
                <a:solidFill>
                  <a:srgbClr val="000000"/>
                </a:solidFill>
                <a:latin typeface="+mn-ea"/>
              </a:rPr>
              <a:t>10</a:t>
            </a:r>
            <a:r>
              <a:rPr lang="ja-JP" altLang="en-US" sz="2000" dirty="0">
                <a:solidFill>
                  <a:srgbClr val="000000"/>
                </a:solidFill>
                <a:latin typeface="+mn-ea"/>
              </a:rPr>
              <a:t>行削除した。</a:t>
            </a:r>
            <a:endParaRPr lang="en-US" altLang="ja-JP" sz="2000" dirty="0">
              <a:solidFill>
                <a:srgbClr val="000000"/>
              </a:solidFill>
              <a:latin typeface="+mn-ea"/>
            </a:endParaRPr>
          </a:p>
          <a:p>
            <a:pPr defTabSz="925880"/>
            <a:r>
              <a:rPr lang="en-US" altLang="ja-JP" sz="2000" dirty="0">
                <a:solidFill>
                  <a:srgbClr val="000000"/>
                </a:solidFill>
                <a:latin typeface="+mn-ea"/>
              </a:rPr>
              <a:t>README.md</a:t>
            </a:r>
            <a:r>
              <a:rPr lang="ja-JP" altLang="en-US" sz="2000" dirty="0">
                <a:solidFill>
                  <a:srgbClr val="000000"/>
                </a:solidFill>
                <a:latin typeface="+mn-ea"/>
              </a:rPr>
              <a:t>に対して、</a:t>
            </a:r>
            <a:r>
              <a:rPr lang="en-US" altLang="ja-JP" sz="2000" dirty="0">
                <a:solidFill>
                  <a:srgbClr val="000000"/>
                </a:solidFill>
                <a:latin typeface="+mn-ea"/>
              </a:rPr>
              <a:t>4</a:t>
            </a:r>
            <a:r>
              <a:rPr lang="ja-JP" altLang="en-US" sz="2000" dirty="0">
                <a:solidFill>
                  <a:srgbClr val="000000"/>
                </a:solidFill>
                <a:latin typeface="+mn-ea"/>
              </a:rPr>
              <a:t>行追加して、</a:t>
            </a:r>
            <a:r>
              <a:rPr lang="en-US" altLang="ja-JP" sz="2000" dirty="0">
                <a:solidFill>
                  <a:srgbClr val="000000"/>
                </a:solidFill>
                <a:latin typeface="+mn-ea"/>
              </a:rPr>
              <a:t>0</a:t>
            </a:r>
            <a:r>
              <a:rPr lang="ja-JP" altLang="en-US" sz="2000" dirty="0">
                <a:solidFill>
                  <a:srgbClr val="000000"/>
                </a:solidFill>
                <a:latin typeface="+mn-ea"/>
              </a:rPr>
              <a:t>行削除した。</a:t>
            </a:r>
          </a:p>
        </p:txBody>
      </p:sp>
      <p:sp>
        <p:nvSpPr>
          <p:cNvPr id="3" name="テキスト ボックス 2">
            <a:extLst>
              <a:ext uri="{FF2B5EF4-FFF2-40B4-BE49-F238E27FC236}">
                <a16:creationId xmlns:a16="http://schemas.microsoft.com/office/drawing/2014/main" id="{F408C8D3-5AFA-5E86-6AF3-7639E9CB3EE0}"/>
              </a:ext>
            </a:extLst>
          </p:cNvPr>
          <p:cNvSpPr txBox="1"/>
          <p:nvPr/>
        </p:nvSpPr>
        <p:spPr>
          <a:xfrm>
            <a:off x="1970116" y="532015"/>
            <a:ext cx="0" cy="0"/>
          </a:xfrm>
          <a:prstGeom prst="rect">
            <a:avLst/>
          </a:prstGeom>
          <a:noFill/>
        </p:spPr>
        <p:txBody>
          <a:bodyPr wrap="none" lIns="0" rIns="0" rtlCol="0">
            <a:noAutofit/>
          </a:bodyPr>
          <a:lstStyle/>
          <a:p>
            <a:pPr algn="l" defTabSz="288000"/>
            <a:endParaRPr kumimoji="1" lang="ja-JP" altLang="en-US" dirty="0">
              <a:latin typeface="+mn-ea"/>
            </a:endParaRPr>
          </a:p>
        </p:txBody>
      </p:sp>
    </p:spTree>
    <p:extLst>
      <p:ext uri="{BB962C8B-B14F-4D97-AF65-F5344CB8AC3E}">
        <p14:creationId xmlns:p14="http://schemas.microsoft.com/office/powerpoint/2010/main" val="605755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308B-C375-630E-3335-AD3BE0CFE5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B36C21-81A4-59C8-1E7A-E490687B3759}"/>
              </a:ext>
            </a:extLst>
          </p:cNvPr>
          <p:cNvSpPr>
            <a:spLocks noGrp="1"/>
          </p:cNvSpPr>
          <p:nvPr>
            <p:ph type="title"/>
          </p:nvPr>
        </p:nvSpPr>
        <p:spPr/>
        <p:txBody>
          <a:bodyPr>
            <a:normAutofit/>
          </a:bodyPr>
          <a:lstStyle/>
          <a:p>
            <a:r>
              <a:rPr lang="en-US" altLang="ja-JP" dirty="0">
                <a:latin typeface="+mn-ea"/>
                <a:ea typeface="+mn-ea"/>
              </a:rPr>
              <a:t>6-27.</a:t>
            </a:r>
            <a:r>
              <a:rPr lang="ja-JP" altLang="en-US" dirty="0">
                <a:latin typeface="+mn-ea"/>
                <a:ea typeface="+mn-ea"/>
              </a:rPr>
              <a:t> 実行結果①</a:t>
            </a:r>
          </a:p>
        </p:txBody>
      </p:sp>
      <p:pic>
        <p:nvPicPr>
          <p:cNvPr id="4" name="図 3">
            <a:extLst>
              <a:ext uri="{FF2B5EF4-FFF2-40B4-BE49-F238E27FC236}">
                <a16:creationId xmlns:a16="http://schemas.microsoft.com/office/drawing/2014/main" id="{C6197DE0-7AAF-EBA8-F96B-36F472E34326}"/>
              </a:ext>
            </a:extLst>
          </p:cNvPr>
          <p:cNvPicPr>
            <a:picLocks noChangeAspect="1"/>
          </p:cNvPicPr>
          <p:nvPr/>
        </p:nvPicPr>
        <p:blipFill>
          <a:blip r:embed="rId2"/>
          <a:stretch>
            <a:fillRect/>
          </a:stretch>
        </p:blipFill>
        <p:spPr>
          <a:xfrm>
            <a:off x="976996" y="1458230"/>
            <a:ext cx="7953597" cy="4739370"/>
          </a:xfrm>
          <a:prstGeom prst="rect">
            <a:avLst/>
          </a:prstGeom>
        </p:spPr>
      </p:pic>
      <p:sp>
        <p:nvSpPr>
          <p:cNvPr id="6" name="正方形/長方形 5">
            <a:extLst>
              <a:ext uri="{FF2B5EF4-FFF2-40B4-BE49-F238E27FC236}">
                <a16:creationId xmlns:a16="http://schemas.microsoft.com/office/drawing/2014/main" id="{BFD09518-DEF5-3AA1-45BF-D1C19D8A784F}"/>
              </a:ext>
            </a:extLst>
          </p:cNvPr>
          <p:cNvSpPr/>
          <p:nvPr/>
        </p:nvSpPr>
        <p:spPr>
          <a:xfrm>
            <a:off x="1941549" y="5780480"/>
            <a:ext cx="773510" cy="4171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25880"/>
            <a:endParaRPr lang="ja-JP" altLang="en-US" sz="1822">
              <a:solidFill>
                <a:srgbClr val="FFFFFF"/>
              </a:solidFill>
              <a:latin typeface="+mn-ea"/>
            </a:endParaRPr>
          </a:p>
        </p:txBody>
      </p:sp>
    </p:spTree>
    <p:extLst>
      <p:ext uri="{BB962C8B-B14F-4D97-AF65-F5344CB8AC3E}">
        <p14:creationId xmlns:p14="http://schemas.microsoft.com/office/powerpoint/2010/main" val="13598319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DDD6D-2B8A-9811-E9FD-F7CE1324A00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71AC03-D595-859C-30A9-FCFE9ACB76E5}"/>
              </a:ext>
            </a:extLst>
          </p:cNvPr>
          <p:cNvSpPr>
            <a:spLocks noGrp="1"/>
          </p:cNvSpPr>
          <p:nvPr>
            <p:ph type="title"/>
          </p:nvPr>
        </p:nvSpPr>
        <p:spPr/>
        <p:txBody>
          <a:bodyPr>
            <a:normAutofit/>
          </a:bodyPr>
          <a:lstStyle/>
          <a:p>
            <a:r>
              <a:rPr lang="en-US" altLang="ja-JP" dirty="0">
                <a:latin typeface="+mn-ea"/>
                <a:ea typeface="+mn-ea"/>
              </a:rPr>
              <a:t>6-28.</a:t>
            </a:r>
            <a:r>
              <a:rPr lang="ja-JP" altLang="en-US" dirty="0">
                <a:latin typeface="+mn-ea"/>
                <a:ea typeface="+mn-ea"/>
              </a:rPr>
              <a:t> 実行結果②</a:t>
            </a:r>
          </a:p>
        </p:txBody>
      </p:sp>
      <p:pic>
        <p:nvPicPr>
          <p:cNvPr id="4" name="図 3">
            <a:extLst>
              <a:ext uri="{FF2B5EF4-FFF2-40B4-BE49-F238E27FC236}">
                <a16:creationId xmlns:a16="http://schemas.microsoft.com/office/drawing/2014/main" id="{11D46657-8B22-05BC-4D6C-7BD2446B3094}"/>
              </a:ext>
            </a:extLst>
          </p:cNvPr>
          <p:cNvPicPr>
            <a:picLocks noChangeAspect="1"/>
          </p:cNvPicPr>
          <p:nvPr/>
        </p:nvPicPr>
        <p:blipFill>
          <a:blip r:embed="rId2"/>
          <a:stretch>
            <a:fillRect/>
          </a:stretch>
        </p:blipFill>
        <p:spPr>
          <a:xfrm>
            <a:off x="794" y="1286760"/>
            <a:ext cx="9906000" cy="4284481"/>
          </a:xfrm>
          <a:prstGeom prst="rect">
            <a:avLst/>
          </a:prstGeom>
        </p:spPr>
      </p:pic>
    </p:spTree>
    <p:extLst>
      <p:ext uri="{BB962C8B-B14F-4D97-AF65-F5344CB8AC3E}">
        <p14:creationId xmlns:p14="http://schemas.microsoft.com/office/powerpoint/2010/main" val="41860992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6C810-1C12-823B-4FBA-ACE4638EB3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A03BC5-BE92-BADB-9044-E5B7E9541A72}"/>
              </a:ext>
            </a:extLst>
          </p:cNvPr>
          <p:cNvSpPr>
            <a:spLocks noGrp="1"/>
          </p:cNvSpPr>
          <p:nvPr>
            <p:ph type="title"/>
          </p:nvPr>
        </p:nvSpPr>
        <p:spPr/>
        <p:txBody>
          <a:bodyPr>
            <a:normAutofit/>
          </a:bodyPr>
          <a:lstStyle/>
          <a:p>
            <a:r>
              <a:rPr lang="en-US" altLang="ja-JP" dirty="0">
                <a:latin typeface="+mn-ea"/>
                <a:ea typeface="+mn-ea"/>
              </a:rPr>
              <a:t>6-29.</a:t>
            </a:r>
            <a:r>
              <a:rPr lang="ja-JP" altLang="en-US" dirty="0">
                <a:latin typeface="+mn-ea"/>
                <a:ea typeface="+mn-ea"/>
              </a:rPr>
              <a:t> </a:t>
            </a:r>
            <a:r>
              <a:rPr lang="en-US" altLang="ja-JP" dirty="0">
                <a:latin typeface="+mn-ea"/>
                <a:ea typeface="+mn-ea"/>
              </a:rPr>
              <a:t>Plan</a:t>
            </a:r>
            <a:r>
              <a:rPr lang="ja-JP" altLang="en-US" dirty="0">
                <a:latin typeface="+mn-ea"/>
                <a:ea typeface="+mn-ea"/>
              </a:rPr>
              <a:t>モード＆</a:t>
            </a:r>
            <a:r>
              <a:rPr lang="en-US" altLang="ja-JP" dirty="0">
                <a:latin typeface="+mn-ea"/>
                <a:ea typeface="+mn-ea"/>
              </a:rPr>
              <a:t>Agent</a:t>
            </a:r>
            <a:r>
              <a:rPr lang="ja-JP" altLang="en-US" dirty="0">
                <a:latin typeface="+mn-ea"/>
                <a:ea typeface="+mn-ea"/>
              </a:rPr>
              <a:t>モードまとめ</a:t>
            </a:r>
          </a:p>
        </p:txBody>
      </p:sp>
      <p:sp>
        <p:nvSpPr>
          <p:cNvPr id="4" name="Text 8">
            <a:extLst>
              <a:ext uri="{FF2B5EF4-FFF2-40B4-BE49-F238E27FC236}">
                <a16:creationId xmlns:a16="http://schemas.microsoft.com/office/drawing/2014/main" id="{57913AB9-96D2-8593-7919-B5D43FDF26C6}"/>
              </a:ext>
            </a:extLst>
          </p:cNvPr>
          <p:cNvSpPr txBox="1"/>
          <p:nvPr/>
        </p:nvSpPr>
        <p:spPr>
          <a:xfrm>
            <a:off x="457995" y="1047902"/>
            <a:ext cx="9298847" cy="228600"/>
          </a:xfrm>
          <a:prstGeom prst="rect">
            <a:avLst/>
          </a:prstGeom>
          <a:noFill/>
          <a:ln/>
        </p:spPr>
        <p:txBody>
          <a:bodyPr wrap="none" lIns="0" tIns="0" rIns="0" bIns="0" rtlCol="0" anchor="t"/>
          <a:lstStyle/>
          <a:p>
            <a:pPr defTabSz="925880"/>
            <a:r>
              <a:rPr lang="ja-JP" altLang="en-US" sz="2000" dirty="0">
                <a:solidFill>
                  <a:srgbClr val="000000"/>
                </a:solidFill>
                <a:latin typeface="+mn-ea"/>
              </a:rPr>
              <a:t>基本的には、</a:t>
            </a:r>
            <a:r>
              <a:rPr lang="en-US" altLang="ja-JP" sz="2000" dirty="0">
                <a:solidFill>
                  <a:srgbClr val="000000"/>
                </a:solidFill>
                <a:latin typeface="+mn-ea"/>
              </a:rPr>
              <a:t>Plan</a:t>
            </a:r>
            <a:r>
              <a:rPr lang="ja-JP" altLang="en-US" sz="2000" dirty="0">
                <a:solidFill>
                  <a:srgbClr val="000000"/>
                </a:solidFill>
                <a:latin typeface="+mn-ea"/>
              </a:rPr>
              <a:t>モードで計画を立て、その内容を確認したうえで</a:t>
            </a:r>
            <a:endParaRPr lang="en-US" altLang="ja-JP" sz="2000" dirty="0">
              <a:solidFill>
                <a:srgbClr val="000000"/>
              </a:solidFill>
              <a:latin typeface="+mn-ea"/>
            </a:endParaRPr>
          </a:p>
          <a:p>
            <a:pPr defTabSz="925880"/>
            <a:r>
              <a:rPr lang="en-US" altLang="ja-JP" sz="2000" dirty="0">
                <a:solidFill>
                  <a:srgbClr val="000000"/>
                </a:solidFill>
                <a:latin typeface="+mn-ea"/>
              </a:rPr>
              <a:t>Agent</a:t>
            </a:r>
            <a:r>
              <a:rPr lang="ja-JP" altLang="en-US" sz="2000" dirty="0">
                <a:solidFill>
                  <a:srgbClr val="000000"/>
                </a:solidFill>
                <a:latin typeface="+mn-ea"/>
              </a:rPr>
              <a:t>モードで実行する流れになります。</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en-US" altLang="ja-JP" sz="2000" dirty="0">
                <a:solidFill>
                  <a:srgbClr val="000000"/>
                </a:solidFill>
                <a:latin typeface="+mn-ea"/>
              </a:rPr>
              <a:t>Plan</a:t>
            </a:r>
            <a:r>
              <a:rPr lang="ja-JP" altLang="en-US" sz="2000" dirty="0">
                <a:solidFill>
                  <a:srgbClr val="000000"/>
                </a:solidFill>
                <a:latin typeface="+mn-ea"/>
              </a:rPr>
              <a:t>モードの中に期待するタスクが含まれていない場合は、プロンプトが良くないので、</a:t>
            </a:r>
            <a:endParaRPr lang="en-US" altLang="ja-JP" sz="2000" dirty="0">
              <a:solidFill>
                <a:srgbClr val="000000"/>
              </a:solidFill>
              <a:latin typeface="+mn-ea"/>
            </a:endParaRPr>
          </a:p>
          <a:p>
            <a:pPr defTabSz="925880"/>
            <a:r>
              <a:rPr lang="en-US" altLang="ja-JP" sz="2000" dirty="0">
                <a:solidFill>
                  <a:srgbClr val="000000"/>
                </a:solidFill>
                <a:latin typeface="+mn-ea"/>
              </a:rPr>
              <a:t>Plan</a:t>
            </a:r>
            <a:r>
              <a:rPr lang="ja-JP" altLang="en-US" sz="2000" dirty="0">
                <a:solidFill>
                  <a:srgbClr val="000000"/>
                </a:solidFill>
                <a:latin typeface="+mn-ea"/>
              </a:rPr>
              <a:t>モードで追加指示を行うか、前のプロンプトを修正して再実行してください。</a:t>
            </a:r>
            <a:endParaRPr lang="en-US" altLang="ja-JP" sz="2000" dirty="0">
              <a:solidFill>
                <a:srgbClr val="000000"/>
              </a:solidFill>
              <a:latin typeface="+mn-ea"/>
            </a:endParaRPr>
          </a:p>
          <a:p>
            <a:pPr defTabSz="925880"/>
            <a:endParaRPr lang="en-US" altLang="ja-JP" sz="2000" dirty="0">
              <a:solidFill>
                <a:srgbClr val="000000"/>
              </a:solidFill>
              <a:latin typeface="+mn-ea"/>
            </a:endParaRPr>
          </a:p>
          <a:p>
            <a:pPr defTabSz="925880"/>
            <a:r>
              <a:rPr lang="ja-JP" altLang="en-US" sz="2000" dirty="0">
                <a:solidFill>
                  <a:srgbClr val="000000"/>
                </a:solidFill>
                <a:latin typeface="+mn-ea"/>
              </a:rPr>
              <a:t>必要なタスクが全て含まれているのを確認出来たら、「</a:t>
            </a:r>
            <a:r>
              <a:rPr lang="en-US" altLang="ja-JP" sz="2000" dirty="0">
                <a:solidFill>
                  <a:srgbClr val="000000"/>
                </a:solidFill>
                <a:latin typeface="+mn-ea"/>
              </a:rPr>
              <a:t>Start Implementation</a:t>
            </a:r>
            <a:r>
              <a:rPr lang="ja-JP" altLang="en-US" sz="2000" dirty="0">
                <a:solidFill>
                  <a:srgbClr val="000000"/>
                </a:solidFill>
                <a:latin typeface="+mn-ea"/>
              </a:rPr>
              <a:t>」を押すか、</a:t>
            </a:r>
            <a:endParaRPr lang="en-US" altLang="ja-JP" sz="2000" dirty="0">
              <a:solidFill>
                <a:srgbClr val="000000"/>
              </a:solidFill>
              <a:latin typeface="+mn-ea"/>
            </a:endParaRPr>
          </a:p>
          <a:p>
            <a:pPr defTabSz="925880"/>
            <a:r>
              <a:rPr lang="ja-JP" altLang="en-US" sz="2000" dirty="0">
                <a:solidFill>
                  <a:srgbClr val="000000"/>
                </a:solidFill>
                <a:latin typeface="+mn-ea"/>
              </a:rPr>
              <a:t>手動で</a:t>
            </a:r>
            <a:r>
              <a:rPr lang="en-US" altLang="ja-JP" sz="2000" dirty="0">
                <a:solidFill>
                  <a:srgbClr val="000000"/>
                </a:solidFill>
                <a:latin typeface="+mn-ea"/>
              </a:rPr>
              <a:t>Agent Mode</a:t>
            </a:r>
            <a:r>
              <a:rPr lang="ja-JP" altLang="en-US" sz="2000" dirty="0">
                <a:solidFill>
                  <a:srgbClr val="000000"/>
                </a:solidFill>
                <a:latin typeface="+mn-ea"/>
              </a:rPr>
              <a:t>へと変更したのち、追加プロンプトとともに「作業開始」と指示してください。</a:t>
            </a:r>
          </a:p>
        </p:txBody>
      </p:sp>
    </p:spTree>
    <p:extLst>
      <p:ext uri="{BB962C8B-B14F-4D97-AF65-F5344CB8AC3E}">
        <p14:creationId xmlns:p14="http://schemas.microsoft.com/office/powerpoint/2010/main" val="1700159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00044"/>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F3F7B900-8735-4D23-968A-7260731FC4BC}" vid="{26760686-5DF5-4B05-9EAE-D02E9B624954}"/>
    </a:ext>
  </a:extLst>
</a:theme>
</file>

<file path=ppt/theme/theme2.xml><?xml version="1.0" encoding="utf-8"?>
<a:theme xmlns:a="http://schemas.openxmlformats.org/drawingml/2006/main" name="中扉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F3F7B900-8735-4D23-968A-7260731FC4BC}" vid="{45E787C2-CE18-4D59-BD55-0B65837A492C}"/>
    </a:ext>
  </a:extLst>
</a:theme>
</file>

<file path=ppt/theme/theme3.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F3F7B900-8735-4D23-968A-7260731FC4BC}" vid="{ED9091C0-43A2-4907-BF07-765A9683F498}"/>
    </a:ext>
  </a:extLst>
</a:theme>
</file>

<file path=ppt/theme/theme4.xml><?xml version="1.0" encoding="utf-8"?>
<a:theme xmlns:a="http://schemas.openxmlformats.org/drawingml/2006/main" name="裏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1" id="{F3F7B900-8735-4D23-968A-7260731FC4BC}" vid="{0A4289EE-1D20-493D-A4EA-EF455002F293}"/>
    </a:ext>
  </a:extLst>
</a:theme>
</file>

<file path=ppt/theme/theme5.xml><?xml version="1.0" encoding="utf-8"?>
<a:theme xmlns:a="http://schemas.openxmlformats.org/drawingml/2006/main" name="1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0622_NTT_DATA_Corporate_Template_1609_JP4" id="{81C4B475-FAD7-274A-8EDE-D6556404C4B5}" vid="{3A288B00-138B-724C-BB5B-3510F14405B4}"/>
    </a:ext>
  </a:extLst>
</a:theme>
</file>

<file path=ppt/theme/theme6.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D7B78CF469602478DA8442A13533468" ma:contentTypeVersion="3" ma:contentTypeDescription="新しいドキュメントを作成します。" ma:contentTypeScope="" ma:versionID="1f196b256ef7ccf7d692b1aaacfe112d">
  <xsd:schema xmlns:xsd="http://www.w3.org/2001/XMLSchema" xmlns:xs="http://www.w3.org/2001/XMLSchema" xmlns:p="http://schemas.microsoft.com/office/2006/metadata/properties" xmlns:ns2="21c280f7-d7f8-452e-9595-cb4b3b723e8b" targetNamespace="http://schemas.microsoft.com/office/2006/metadata/properties" ma:root="true" ma:fieldsID="1d544a961dae494f46317996cb02cfd0" ns2:_="">
    <xsd:import namespace="21c280f7-d7f8-452e-9595-cb4b3b723e8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c280f7-d7f8-452e-9595-cb4b3b723e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731403-C028-4FFC-AF98-52AAB8D35BC9}">
  <ds:schemaRefs>
    <ds:schemaRef ds:uri="http://schemas.microsoft.com/sharepoint/v3/contenttype/forms"/>
  </ds:schemaRefs>
</ds:datastoreItem>
</file>

<file path=customXml/itemProps2.xml><?xml version="1.0" encoding="utf-8"?>
<ds:datastoreItem xmlns:ds="http://schemas.openxmlformats.org/officeDocument/2006/customXml" ds:itemID="{A09F09D8-D3A2-4B0E-B0A6-4E3EC246F07E}">
  <ds:schemaRefs>
    <ds:schemaRef ds:uri="http://schemas.microsoft.com/office/infopath/2007/PartnerControls"/>
    <ds:schemaRef ds:uri="21c280f7-d7f8-452e-9595-cb4b3b723e8b"/>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www.w3.org/XML/1998/namespace"/>
    <ds:schemaRef ds:uri="http://purl.org/dc/terms/"/>
    <ds:schemaRef ds:uri="http://purl.org/dc/elements/1.1/"/>
    <ds:schemaRef ds:uri="0c7460e9-5fd9-4827-a24b-2074f3d7dba9"/>
    <ds:schemaRef ds:uri="358fcc0b-9a28-48ae-84b8-c335f14b2d20"/>
  </ds:schemaRefs>
</ds:datastoreItem>
</file>

<file path=customXml/itemProps3.xml><?xml version="1.0" encoding="utf-8"?>
<ds:datastoreItem xmlns:ds="http://schemas.openxmlformats.org/officeDocument/2006/customXml" ds:itemID="{AA5D142C-8734-4927-A6CA-A7A366310FB9}"/>
</file>

<file path=docProps/app.xml><?xml version="1.0" encoding="utf-8"?>
<Properties xmlns="http://schemas.openxmlformats.org/officeDocument/2006/extended-properties" xmlns:vt="http://schemas.openxmlformats.org/officeDocument/2006/docPropsVTypes">
  <Template>NTT_DATA_Presentation_Template_A4_J</Template>
  <TotalTime>229</TotalTime>
  <Words>6319</Words>
  <Application>Microsoft Office PowerPoint</Application>
  <PresentationFormat>ユーザー設定</PresentationFormat>
  <Paragraphs>720</Paragraphs>
  <Slides>78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5</vt:i4>
      </vt:variant>
      <vt:variant>
        <vt:lpstr>スライド タイトル</vt:lpstr>
      </vt:variant>
      <vt:variant>
        <vt:i4>78</vt:i4>
      </vt:variant>
    </vt:vector>
  </HeadingPairs>
  <TitlesOfParts>
    <vt:vector size="86" baseType="lpstr">
      <vt:lpstr>Meiryo UI</vt:lpstr>
      <vt:lpstr>Arial</vt:lpstr>
      <vt:lpstr>Noto Sans</vt:lpstr>
      <vt:lpstr>表紙_Light</vt:lpstr>
      <vt:lpstr>中扉_Light</vt:lpstr>
      <vt:lpstr>表紙_Dark</vt:lpstr>
      <vt:lpstr>裏表紙_Dark</vt:lpstr>
      <vt:lpstr>1_コンテンツ_Light</vt:lpstr>
      <vt:lpstr>PowerPoint プレゼンテーション</vt:lpstr>
      <vt:lpstr>目次</vt:lpstr>
      <vt:lpstr>01</vt:lpstr>
      <vt:lpstr>1-1. 研修概要</vt:lpstr>
      <vt:lpstr>1-2. 背景・目的</vt:lpstr>
      <vt:lpstr>1-3. 研修ゴールと獲得可能な経験背景・目的</vt:lpstr>
      <vt:lpstr>02</vt:lpstr>
      <vt:lpstr>2-1. 生成AI（Generative AI）とは？</vt:lpstr>
      <vt:lpstr>2-2. 従来型AIと生成AIの比較</vt:lpstr>
      <vt:lpstr>2-3. LLM（大規模言語モデル）の仕組み</vt:lpstr>
      <vt:lpstr>2-4. 生成AIの「苦手なこと」（弱み）</vt:lpstr>
      <vt:lpstr>2-5. 生成AIを使う心得８条</vt:lpstr>
      <vt:lpstr>03</vt:lpstr>
      <vt:lpstr>3-1. 本モジュールで学ぶこと①</vt:lpstr>
      <vt:lpstr>3-2. NTTデータのAI戦略：Quality Growthとは</vt:lpstr>
      <vt:lpstr>3-3. なぜ今、AIが重要なのか</vt:lpstr>
      <vt:lpstr>3-4. 生成AIの進化：今、どこにいるか</vt:lpstr>
      <vt:lpstr>3-5. 本モジュールで学ぶこと②</vt:lpstr>
      <vt:lpstr>3-6. エージェントAI（Agentic AI）とは何か</vt:lpstr>
      <vt:lpstr>3-7. エージェントの処理</vt:lpstr>
      <vt:lpstr>3-8. 本モジュールで学ぶこと③</vt:lpstr>
      <vt:lpstr>3-9. NTTデータが描く未来：Smart AI Agent®</vt:lpstr>
      <vt:lpstr>3-10. AIの強みを生かした業務変革の進め方</vt:lpstr>
      <vt:lpstr>3-11. AIの強みを生かすポイント：人とAIとの役割分担</vt:lpstr>
      <vt:lpstr>3-12. AIの強みを生かすポイント：プロセス自体をAI前提で再設計</vt:lpstr>
      <vt:lpstr>3-13. JALカード様 -  AIバーチャル顧客を活用したマーケティング高度化</vt:lpstr>
      <vt:lpstr>3-14. 大手メディアサービス会社 - AI-BPOによるオペレーション変革</vt:lpstr>
      <vt:lpstr>Appendix：りそな様 - AI CoEと生成AI人財育成アカデミーの推進</vt:lpstr>
      <vt:lpstr>04</vt:lpstr>
      <vt:lpstr>4-1. プロンプトとは?</vt:lpstr>
      <vt:lpstr>4-2. プロンプトを構成する4つの要素</vt:lpstr>
      <vt:lpstr>4-3. 悪いプロンプト vs 良いプロンプト</vt:lpstr>
      <vt:lpstr>4-4. テクニック①：Role Prompting（役割の付与）</vt:lpstr>
      <vt:lpstr>4-5. テクニック② ：区切り文字の活用</vt:lpstr>
      <vt:lpstr>4-5. テクニック③ ：Zero-shot vs Few-shot</vt:lpstr>
      <vt:lpstr>4-5. テクニック④ ： Chain of Thought（思考の連鎖）</vt:lpstr>
      <vt:lpstr>05</vt:lpstr>
      <vt:lpstr>5-1. ChatGPTの使い方（一般チャット）</vt:lpstr>
      <vt:lpstr>5-2. 例①：顧客提案向けの企画提案書を作りたい</vt:lpstr>
      <vt:lpstr>5-3. 例①：顧客提案向けの企画提案書を作りたい - プロンプト例</vt:lpstr>
      <vt:lpstr>5-4. 例①：顧客提案向けの企画提案書を作りたい - 実行例</vt:lpstr>
      <vt:lpstr>5-5. 例②：100本ノックを作ってみる</vt:lpstr>
      <vt:lpstr>5-6. 例②：100本ノックを作ってみる -プロンプト例</vt:lpstr>
      <vt:lpstr>5-7. 例②：例②：100本ノックを作ってみる - 実行結果①</vt:lpstr>
      <vt:lpstr>5-8. 例②：100本ノックを作ってみる - 実行結果②</vt:lpstr>
      <vt:lpstr>5-9. 例②：100本ノックを作ってみる - 実行結果③</vt:lpstr>
      <vt:lpstr>5-10. ChatGPT まとめ</vt:lpstr>
      <vt:lpstr>06</vt:lpstr>
      <vt:lpstr>6-1. Visual Studio Code を開く</vt:lpstr>
      <vt:lpstr>6-2. コード補完機能</vt:lpstr>
      <vt:lpstr>6-3. チャット機能</vt:lpstr>
      <vt:lpstr>6-4. チャット機能 – コマンド</vt:lpstr>
      <vt:lpstr>6-5. 簡単なアプリやゲームを作ってみましょう</vt:lpstr>
      <vt:lpstr>6-6. 例①：高級志向テトリス</vt:lpstr>
      <vt:lpstr>6-7. 例②：わくわく！にっぽんダーツの旅</vt:lpstr>
      <vt:lpstr>6-8. 例③：タスク管理ツール</vt:lpstr>
      <vt:lpstr>6-9. ディレクトリ作成とファイル配置</vt:lpstr>
      <vt:lpstr>6-10. チャット機能 – Askモード</vt:lpstr>
      <vt:lpstr>6-11. Askモードについて</vt:lpstr>
      <vt:lpstr>6-12. 実行例①</vt:lpstr>
      <vt:lpstr>6-13. 実行例②</vt:lpstr>
      <vt:lpstr>6-14. 実行例③</vt:lpstr>
      <vt:lpstr>6-15. Askモードまとめ</vt:lpstr>
      <vt:lpstr>6-16. チャット機能 - Agentモード</vt:lpstr>
      <vt:lpstr>6-17. Agentモード</vt:lpstr>
      <vt:lpstr>6-18. 実行例</vt:lpstr>
      <vt:lpstr>6-19. READMEの内容を確認しましょう①</vt:lpstr>
      <vt:lpstr>6-20. READMEの内容を確認しましょう②</vt:lpstr>
      <vt:lpstr>6-21. Changeログを作ってみましょう</vt:lpstr>
      <vt:lpstr>6-21. チャット機能 – Planモード</vt:lpstr>
      <vt:lpstr>6-23. Planモードで機能追加してみましょう</vt:lpstr>
      <vt:lpstr>6-24. 実行例①</vt:lpstr>
      <vt:lpstr>6-25. 実行例②</vt:lpstr>
      <vt:lpstr>6-26. 実行例③</vt:lpstr>
      <vt:lpstr>6-27. 実行結果①</vt:lpstr>
      <vt:lpstr>6-28. 実行結果②</vt:lpstr>
      <vt:lpstr>6-29. Planモード＆Agentモードまとめ</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GMC 小林 美樹/Kobayashi, Miki (NTT DATA)</dc:creator>
  <cp:lastModifiedBy>小幡 勇希/OBATA, YUUKI (nttdata-univ)</cp:lastModifiedBy>
  <cp:revision>43</cp:revision>
  <dcterms:created xsi:type="dcterms:W3CDTF">2026-04-20T02:08:24Z</dcterms:created>
  <dcterms:modified xsi:type="dcterms:W3CDTF">2026-08-24T09:42:32Z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0x010100ED7B78CF469602478DA8442A13533468</vt:lpwstr>
  </property>
  <property fmtid="{D5CDD505-2E9C-101B-9397-08002B2CF9AE}" pid="3" name="MediaServiceImageTags">
    <vt:lpwstr/>
  </property>
  <property fmtid="{D5CDD505-2E9C-101B-9397-08002B2CF9AE}" pid="4" name="Order">
    <vt:lpwstr>3300.00000000000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